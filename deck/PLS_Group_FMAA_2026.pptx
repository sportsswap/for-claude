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Realised price per tonne, actual then base case (US$/t)</a:t>
            </a:r>
          </a:p>
        </c:rich>
      </c:tx>
      <c:layout/>
      <c:overlay val="0"/>
    </c:title>
    <c:autoTitleDeleted val="0"/>
    <c:plotArea>
      <c:layout/>
      <c:barChart>
        <c:barDir val="col"/>
        <c:grouping val="clustered"/>
        <c:varyColors val="0"/>
        <c:ser>
          <c:idx val="0"/>
          <c:order val="0"/>
          <c:tx>
            <c:strRef>
              <c:f>Sheet1!$B$1</c:f>
              <c:strCache>
                <c:ptCount val="1"/>
                <c:pt idx="0">
                  <c:v>Realised price (US$/t)</c:v>
                </c:pt>
              </c:strCache>
            </c:strRef>
          </c:tx>
          <c:spPr>
            <a:solidFill>
              <a:srgbClr val="1C3A5E"/>
            </a:solidFill>
            <a:effectLst/>
          </c:spPr>
          <c:invertIfNegative val="0"/>
          <c:dLbls>
            <c:numFmt formatCode="#,##0" sourceLinked="0"/>
            <c:txPr>
              <a:bodyPr/>
              <a:lstStyle/>
              <a:p>
                <a:pPr>
                  <a:defRPr b="0" i="0" strike="noStrike" sz="850" u="none">
                    <a:solidFill>
                      <a:srgbClr val="5F718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FY24A</c:v>
                  </c:pt>
                  <c:pt idx="1">
                    <c:v>FY25A</c:v>
                  </c:pt>
                  <c:pt idx="2">
                    <c:v>FY26A</c:v>
                  </c:pt>
                  <c:pt idx="3">
                    <c:v>FY27F</c:v>
                  </c:pt>
                  <c:pt idx="4">
                    <c:v>FY28F</c:v>
                  </c:pt>
                  <c:pt idx="5">
                    <c:v>FY29F</c:v>
                  </c:pt>
                  <c:pt idx="6">
                    <c:v>FY30F</c:v>
                  </c:pt>
                </c:lvl>
              </c:multiLvlStrCache>
            </c:multiLvlStrRef>
          </c:cat>
          <c:val>
            <c:numRef>
              <c:f>Sheet1!$B$2:$B$8</c:f>
              <c:numCache>
                <c:formatCode>General</c:formatCode>
                <c:ptCount val="7"/>
                <c:pt idx="0">
                  <c:v>1116</c:v>
                </c:pt>
                <c:pt idx="1">
                  <c:v>688</c:v>
                </c:pt>
                <c:pt idx="2">
                  <c:v>1488</c:v>
                </c:pt>
                <c:pt idx="3">
                  <c:v>1700</c:v>
                </c:pt>
                <c:pt idx="4">
                  <c:v>1780</c:v>
                </c:pt>
                <c:pt idx="5">
                  <c:v>1850</c:v>
                </c:pt>
                <c:pt idx="6">
                  <c:v>1800</c:v>
                </c:pt>
              </c:numCache>
            </c:numRef>
          </c:val>
        </c:ser>
        <c:dLbls>
          <c:numFmt formatCode="#,##0" sourceLinked="0"/>
          <c:txPr>
            <a:bodyPr/>
            <a:lstStyle/>
            <a:p>
              <a:pPr>
                <a:defRPr b="0" i="0" strike="noStrike" sz="850" u="none">
                  <a:solidFill>
                    <a:srgbClr val="5F7183"/>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20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Where the tonnes sit on the cost curve (US$/t of SC6 concentrate)</a:t>
            </a:r>
          </a:p>
        </c:rich>
      </c:tx>
      <c:layout/>
      <c:overlay val="0"/>
    </c:title>
    <c:autoTitleDeleted val="0"/>
    <c:plotArea>
      <c:layout/>
      <c:barChart>
        <c:barDir val="col"/>
        <c:grouping val="clustered"/>
        <c:varyColors val="0"/>
        <c:ser>
          <c:idx val="0"/>
          <c:order val="0"/>
          <c:tx>
            <c:strRef>
              <c:f>Sheet1!$B$1</c:f>
              <c:strCache>
                <c:ptCount val="1"/>
                <c:pt idx="0">
                  <c:v>Cash cost, US$/t SC6</c:v>
                </c:pt>
              </c:strCache>
            </c:strRef>
          </c:tx>
          <c:spPr>
            <a:solidFill>
              <a:srgbClr val="1C3A5E"/>
            </a:solidFill>
            <a:effectLst/>
          </c:spPr>
          <c:invertIfNegative val="0"/>
          <c:dLbls>
            <c:numFmt formatCode="#,##0" sourceLinked="0"/>
            <c:txPr>
              <a:bodyPr/>
              <a:lstStyle/>
              <a:p>
                <a:pPr>
                  <a:defRPr b="0" i="0" strike="noStrike" sz="9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1C3A5E"/>
              </a:solidFill>
              <a:effectLst/>
            </c:spPr>
          </c:dPt>
          <c:dPt>
            <c:idx val="1"/>
            <c:invertIfNegative val="0"/>
            <c:bubble3D val="0"/>
            <c:spPr>
              <a:solidFill>
                <a:srgbClr val="0E7C6B"/>
              </a:solidFill>
              <a:effectLst/>
            </c:spPr>
          </c:dPt>
          <c:dPt>
            <c:idx val="2"/>
            <c:invertIfNegative val="0"/>
            <c:bubble3D val="0"/>
            <c:spPr>
              <a:solidFill>
                <a:srgbClr val="5F7183"/>
              </a:solidFill>
              <a:effectLst/>
            </c:spPr>
          </c:dPt>
          <c:dPt>
            <c:idx val="3"/>
            <c:invertIfNegative val="0"/>
            <c:bubble3D val="0"/>
            <c:spPr>
              <a:solidFill>
                <a:srgbClr val="5F7183"/>
              </a:solidFill>
              <a:effectLst/>
            </c:spPr>
          </c:dPt>
          <c:dPt>
            <c:idx val="4"/>
            <c:invertIfNegative val="0"/>
            <c:bubble3D val="0"/>
            <c:spPr>
              <a:solidFill>
                <a:srgbClr val="A3282C"/>
              </a:solidFill>
              <a:effectLst/>
            </c:spPr>
          </c:dPt>
          <c:cat>
            <c:multiLvlStrRef>
              <c:f>Sheet1!$A$2:$A$6</c:f>
              <c:multiLvlStrCache>
                <c:ptCount val="5"/>
                <c:lvl>
                  <c:pt idx="0">
                    <c:v>Greenbushes</c:v>
                  </c:pt>
                  <c:pt idx="1">
                    <c:v>PLS Pilgangoora</c:v>
                  </c:pt>
                  <c:pt idx="2">
                    <c:v>23% of world
supply above</c:v>
                  </c:pt>
                  <c:pt idx="3">
                    <c:v>African hard rock
(indicative)</c:v>
                  </c:pt>
                  <c:pt idx="4">
                    <c:v>Chinese lepidolite
(90th percentile)</c:v>
                  </c:pt>
                </c:lvl>
              </c:multiLvlStrCache>
            </c:multiLvlStrRef>
          </c:cat>
          <c:val>
            <c:numRef>
              <c:f>Sheet1!$B$2:$B$6</c:f>
              <c:numCache>
                <c:formatCode>General</c:formatCode>
                <c:ptCount val="5"/>
                <c:pt idx="0">
                  <c:v>220</c:v>
                </c:pt>
                <c:pt idx="1">
                  <c:v>425</c:v>
                </c:pt>
                <c:pt idx="2">
                  <c:v>787</c:v>
                </c:pt>
                <c:pt idx="3">
                  <c:v>900</c:v>
                </c:pt>
                <c:pt idx="4">
                  <c:v>1100</c:v>
                </c:pt>
              </c:numCache>
            </c:numRef>
          </c:val>
        </c:ser>
        <c:dLbls>
          <c:numFmt formatCode="#,##0" sourceLinked="0"/>
          <c:txPr>
            <a:bodyPr/>
            <a:lstStyle/>
            <a:p>
              <a:pPr>
                <a:defRPr b="0" i="0" strike="noStrike" sz="900" u="none">
                  <a:solidFill>
                    <a:srgbClr val="5F7183"/>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2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130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920240"/>
            <a:ext cx="10515600" cy="77724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PLS GROUP LIMITED</a:t>
            </a:r>
            <a:endParaRPr lang="en-US" sz="4600" dirty="0"/>
          </a:p>
        </p:txBody>
      </p:sp>
      <p:sp>
        <p:nvSpPr>
          <p:cNvPr id="3" name="Text 1"/>
          <p:cNvSpPr txBox="1"/>
          <p:nvPr/>
        </p:nvSpPr>
        <p:spPr>
          <a:xfrm>
            <a:off x="411480" y="2724912"/>
            <a:ext cx="10515600" cy="365760"/>
          </a:xfrm>
          <a:prstGeom prst="rect">
            <a:avLst/>
          </a:prstGeom>
          <a:noFill/>
          <a:ln/>
        </p:spPr>
        <p:txBody>
          <a:bodyPr wrap="square" lIns="0" tIns="0" rIns="0" bIns="0" rtlCol="0" anchor="ctr"/>
          <a:lstStyle/>
          <a:p>
            <a:pPr indent="0" marL="0">
              <a:buNone/>
            </a:pPr>
            <a:r>
              <a:rPr lang="en-US" sz="1400" dirty="0">
                <a:solidFill>
                  <a:srgbClr val="0E7C6B"/>
                </a:solidFill>
                <a:latin typeface="Calibri" pitchFamily="34" charset="0"/>
                <a:ea typeface="Calibri" pitchFamily="34" charset="-122"/>
                <a:cs typeface="Calibri" pitchFamily="34" charset="-120"/>
              </a:rPr>
              <a:t>ASX: PLS   |   Spodumene concentrate   |   Pilgangoora, Western Australia</a:t>
            </a:r>
            <a:endParaRPr lang="en-US" sz="1400" dirty="0"/>
          </a:p>
        </p:txBody>
      </p:sp>
      <p:sp>
        <p:nvSpPr>
          <p:cNvPr id="4" name="Text 2"/>
          <p:cNvSpPr txBox="1"/>
          <p:nvPr/>
        </p:nvSpPr>
        <p:spPr>
          <a:xfrm>
            <a:off x="411480" y="3310128"/>
            <a:ext cx="7589520" cy="1051560"/>
          </a:xfrm>
          <a:prstGeom prst="rect">
            <a:avLst/>
          </a:prstGeom>
          <a:noFill/>
          <a:ln/>
        </p:spPr>
        <p:txBody>
          <a:bodyPr wrap="square" lIns="0" tIns="0" rIns="0" bIns="0" rtlCol="0" anchor="t"/>
          <a:lstStyle/>
          <a:p>
            <a:pPr indent="0" marL="0">
              <a:lnSpc>
                <a:spcPct val="115000"/>
              </a:lnSpc>
              <a:buNone/>
            </a:pPr>
            <a:r>
              <a:rPr lang="en-US" sz="1700" i="1" dirty="0">
                <a:solidFill>
                  <a:srgbClr val="C9D8E6"/>
                </a:solidFill>
                <a:latin typeface="Cambria" pitchFamily="34" charset="0"/>
                <a:ea typeface="Cambria" pitchFamily="34" charset="-122"/>
                <a:cs typeface="Cambria" pitchFamily="34" charset="-120"/>
              </a:rPr>
              <a:t>The market is paying for a lithium miner.</a:t>
            </a:r>
            <a:endParaRPr lang="en-US" sz="1700" dirty="0"/>
          </a:p>
          <a:p>
            <a:pPr indent="0" marL="0">
              <a:lnSpc>
                <a:spcPct val="115000"/>
              </a:lnSpc>
              <a:buNone/>
            </a:pPr>
            <a:r>
              <a:rPr lang="en-US" sz="1700" i="1" dirty="0">
                <a:solidFill>
                  <a:srgbClr val="C9D8E6"/>
                </a:solidFill>
                <a:latin typeface="Cambria" pitchFamily="34" charset="0"/>
                <a:ea typeface="Cambria" pitchFamily="34" charset="-122"/>
                <a:cs typeface="Cambria" pitchFamily="34" charset="-120"/>
              </a:rPr>
              <a:t>We are paying for the only one of the six that can sell a tonne the others cannot.</a:t>
            </a:r>
            <a:endParaRPr lang="en-US" sz="1700" dirty="0"/>
          </a:p>
        </p:txBody>
      </p:sp>
      <p:sp>
        <p:nvSpPr>
          <p:cNvPr id="5" name="Shape 3"/>
          <p:cNvSpPr/>
          <p:nvPr/>
        </p:nvSpPr>
        <p:spPr>
          <a:xfrm>
            <a:off x="8275320" y="3310128"/>
            <a:ext cx="3502152" cy="1481328"/>
          </a:xfrm>
          <a:prstGeom prst="rect">
            <a:avLst/>
          </a:prstGeom>
          <a:solidFill>
            <a:srgbClr val="0E7C6B"/>
          </a:solidFill>
          <a:ln/>
        </p:spPr>
      </p:sp>
      <p:sp>
        <p:nvSpPr>
          <p:cNvPr id="6" name="Text 4"/>
          <p:cNvSpPr txBox="1"/>
          <p:nvPr/>
        </p:nvSpPr>
        <p:spPr>
          <a:xfrm>
            <a:off x="8275320" y="3401568"/>
            <a:ext cx="3502152"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BUY</a:t>
            </a:r>
            <a:endParaRPr lang="en-US" sz="3400" dirty="0"/>
          </a:p>
        </p:txBody>
      </p:sp>
      <p:sp>
        <p:nvSpPr>
          <p:cNvPr id="7" name="Text 5"/>
          <p:cNvSpPr txBox="1"/>
          <p:nvPr/>
        </p:nvSpPr>
        <p:spPr>
          <a:xfrm>
            <a:off x="8275320" y="3950208"/>
            <a:ext cx="350215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12-month target  A$6.12</a:t>
            </a:r>
            <a:endParaRPr lang="en-US" sz="1300" dirty="0"/>
          </a:p>
        </p:txBody>
      </p:sp>
      <p:sp>
        <p:nvSpPr>
          <p:cNvPr id="8" name="Text 6"/>
          <p:cNvSpPr txBox="1"/>
          <p:nvPr/>
        </p:nvSpPr>
        <p:spPr>
          <a:xfrm>
            <a:off x="8275320" y="4224528"/>
            <a:ext cx="3502152" cy="530352"/>
          </a:xfrm>
          <a:prstGeom prst="rect">
            <a:avLst/>
          </a:prstGeom>
          <a:noFill/>
          <a:ln/>
        </p:spPr>
        <p:txBody>
          <a:bodyPr wrap="square" lIns="0" tIns="0" rIns="0" bIns="0" rtlCol="0" anchor="t"/>
          <a:lstStyle/>
          <a:p>
            <a:pPr algn="ctr" indent="0" marL="0">
              <a:lnSpc>
                <a:spcPct val="110000"/>
              </a:lnSpc>
              <a:buNone/>
            </a:pPr>
            <a:r>
              <a:rPr lang="en-US" sz="1000" dirty="0">
                <a:solidFill>
                  <a:srgbClr val="DDF0EB"/>
                </a:solidFill>
                <a:latin typeface="Calibri" pitchFamily="34" charset="0"/>
                <a:ea typeface="Calibri" pitchFamily="34" charset="-122"/>
                <a:cs typeface="Calibri" pitchFamily="34" charset="-120"/>
              </a:rPr>
              <a:t>Last close A$5.48   |   +11.7%</a:t>
            </a:r>
            <a:endParaRPr lang="en-US" sz="1000" dirty="0"/>
          </a:p>
          <a:p>
            <a:pPr algn="ctr" indent="0" marL="0">
              <a:lnSpc>
                <a:spcPct val="110000"/>
              </a:lnSpc>
              <a:buNone/>
            </a:pPr>
            <a:r>
              <a:rPr lang="en-US" sz="1000" dirty="0">
                <a:solidFill>
                  <a:srgbClr val="DDF0EB"/>
                </a:solidFill>
                <a:latin typeface="Calibri" pitchFamily="34" charset="0"/>
                <a:ea typeface="Calibri" pitchFamily="34" charset="-122"/>
                <a:cs typeface="Calibri" pitchFamily="34" charset="-120"/>
              </a:rPr>
              <a:t>Total return 13.4% vs benchmark 5.90%</a:t>
            </a:r>
            <a:endParaRPr lang="en-US" sz="1000" dirty="0"/>
          </a:p>
        </p:txBody>
      </p:sp>
      <p:sp>
        <p:nvSpPr>
          <p:cNvPr id="9" name="Text 7"/>
          <p:cNvSpPr txBox="1"/>
          <p:nvPr/>
        </p:nvSpPr>
        <p:spPr>
          <a:xfrm>
            <a:off x="411480" y="5669280"/>
            <a:ext cx="7315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FMAA Asset Management  |  Shared Value Coverage Team</a:t>
            </a:r>
            <a:endParaRPr lang="en-US" sz="1100" dirty="0"/>
          </a:p>
        </p:txBody>
      </p:sp>
      <p:sp>
        <p:nvSpPr>
          <p:cNvPr id="10" name="Text 8"/>
          <p:cNvSpPr txBox="1"/>
          <p:nvPr/>
        </p:nvSpPr>
        <p:spPr>
          <a:xfrm>
            <a:off x="411480" y="5943600"/>
            <a:ext cx="7315200" cy="548640"/>
          </a:xfrm>
          <a:prstGeom prst="rect">
            <a:avLst/>
          </a:prstGeom>
          <a:noFill/>
          <a:ln/>
        </p:spPr>
        <p:txBody>
          <a:bodyPr wrap="square" lIns="0" tIns="0" rIns="0" bIns="0" rtlCol="0" anchor="t"/>
          <a:lstStyle/>
          <a:p>
            <a:pPr indent="0" marL="0">
              <a:lnSpc>
                <a:spcPct val="115000"/>
              </a:lnSpc>
              <a:buNone/>
            </a:pPr>
            <a:r>
              <a:rPr lang="en-US" sz="950" dirty="0">
                <a:solidFill>
                  <a:srgbClr val="8FA8BE"/>
                </a:solidFill>
                <a:latin typeface="Calibri" pitchFamily="34" charset="0"/>
                <a:ea typeface="Calibri" pitchFamily="34" charset="-122"/>
                <a:cs typeface="Calibri" pitchFamily="34" charset="-120"/>
              </a:rPr>
              <a:t>Shared Value Project x FMAA  |  Investing for the Future Case Competition 2026</a:t>
            </a:r>
            <a:endParaRPr lang="en-US" sz="950" dirty="0"/>
          </a:p>
          <a:p>
            <a:pPr indent="0" marL="0">
              <a:lnSpc>
                <a:spcPct val="115000"/>
              </a:lnSpc>
              <a:buNone/>
            </a:pPr>
            <a:r>
              <a:rPr lang="en-US" sz="950" dirty="0">
                <a:solidFill>
                  <a:srgbClr val="8FA8BE"/>
                </a:solidFill>
                <a:latin typeface="Calibri" pitchFamily="34" charset="0"/>
                <a:ea typeface="Calibri" pitchFamily="34" charset="-122"/>
                <a:cs typeface="Calibri" pitchFamily="34" charset="-120"/>
              </a:rPr>
              <a:t>Valuation date 5 September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Executive summary</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Two thirds of the upside we see is the shared-value position the market has not priced. That is the entire recommendation.</a:t>
            </a:r>
            <a:endParaRPr lang="en-US" sz="1200" dirty="0"/>
          </a:p>
        </p:txBody>
      </p:sp>
      <p:sp>
        <p:nvSpPr>
          <p:cNvPr id="13" name="Shape 11"/>
          <p:cNvSpPr/>
          <p:nvPr/>
        </p:nvSpPr>
        <p:spPr>
          <a:xfrm>
            <a:off x="411480" y="1627632"/>
            <a:ext cx="3639312" cy="1847088"/>
          </a:xfrm>
          <a:prstGeom prst="rect">
            <a:avLst/>
          </a:prstGeom>
          <a:solidFill>
            <a:srgbClr val="F7F9FB"/>
          </a:solidFill>
          <a:ln w="9525">
            <a:solidFill>
              <a:srgbClr val="D3DCE5"/>
            </a:solidFill>
            <a:prstDash val="solid"/>
          </a:ln>
        </p:spPr>
      </p:sp>
      <p:sp>
        <p:nvSpPr>
          <p:cNvPr id="14" name="Text 12"/>
          <p:cNvSpPr txBox="1"/>
          <p:nvPr/>
        </p:nvSpPr>
        <p:spPr>
          <a:xfrm>
            <a:off x="576072" y="1737360"/>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01</a:t>
            </a:r>
            <a:endParaRPr lang="en-US" sz="1000" dirty="0"/>
          </a:p>
        </p:txBody>
      </p:sp>
      <p:sp>
        <p:nvSpPr>
          <p:cNvPr id="15" name="Text 13"/>
          <p:cNvSpPr txBox="1"/>
          <p:nvPr/>
        </p:nvSpPr>
        <p:spPr>
          <a:xfrm>
            <a:off x="1033272" y="1737360"/>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asset</a:t>
            </a:r>
            <a:endParaRPr lang="en-US" sz="1050" dirty="0"/>
          </a:p>
        </p:txBody>
      </p:sp>
      <p:sp>
        <p:nvSpPr>
          <p:cNvPr id="16" name="Text 14"/>
          <p:cNvSpPr txBox="1"/>
          <p:nvPr/>
        </p:nvSpPr>
        <p:spPr>
          <a:xfrm>
            <a:off x="576072" y="2011680"/>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A$569/t</a:t>
            </a:r>
            <a:endParaRPr lang="en-US" sz="2600" dirty="0"/>
          </a:p>
        </p:txBody>
      </p:sp>
      <p:sp>
        <p:nvSpPr>
          <p:cNvPr id="17" name="Text 15"/>
          <p:cNvSpPr txBox="1"/>
          <p:nvPr/>
        </p:nvSpPr>
        <p:spPr>
          <a:xfrm>
            <a:off x="576072" y="252374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FY26 unit cost, FOB</a:t>
            </a:r>
            <a:endParaRPr lang="en-US" sz="900" dirty="0"/>
          </a:p>
        </p:txBody>
      </p:sp>
      <p:sp>
        <p:nvSpPr>
          <p:cNvPr id="18" name="Text 16"/>
          <p:cNvSpPr txBox="1"/>
          <p:nvPr/>
        </p:nvSpPr>
        <p:spPr>
          <a:xfrm>
            <a:off x="576072" y="2761488"/>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Pilgangoora produced 879.5kt in FY26, up 17%, at a 59% EBITDA margin. Costs fell 9% while volumes rose.</a:t>
            </a:r>
            <a:endParaRPr lang="en-US" sz="920" dirty="0"/>
          </a:p>
        </p:txBody>
      </p:sp>
      <p:sp>
        <p:nvSpPr>
          <p:cNvPr id="19" name="Shape 17"/>
          <p:cNvSpPr/>
          <p:nvPr/>
        </p:nvSpPr>
        <p:spPr>
          <a:xfrm>
            <a:off x="4215384" y="1627632"/>
            <a:ext cx="3639312" cy="1847088"/>
          </a:xfrm>
          <a:prstGeom prst="rect">
            <a:avLst/>
          </a:prstGeom>
          <a:solidFill>
            <a:srgbClr val="F7F9FB"/>
          </a:solidFill>
          <a:ln w="9525">
            <a:solidFill>
              <a:srgbClr val="D3DCE5"/>
            </a:solidFill>
            <a:prstDash val="solid"/>
          </a:ln>
        </p:spPr>
      </p:sp>
      <p:sp>
        <p:nvSpPr>
          <p:cNvPr id="20" name="Text 18"/>
          <p:cNvSpPr txBox="1"/>
          <p:nvPr/>
        </p:nvSpPr>
        <p:spPr>
          <a:xfrm>
            <a:off x="4379976" y="1737360"/>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02</a:t>
            </a:r>
            <a:endParaRPr lang="en-US" sz="1000" dirty="0"/>
          </a:p>
        </p:txBody>
      </p:sp>
      <p:sp>
        <p:nvSpPr>
          <p:cNvPr id="21" name="Text 19"/>
          <p:cNvSpPr txBox="1"/>
          <p:nvPr/>
        </p:nvSpPr>
        <p:spPr>
          <a:xfrm>
            <a:off x="4837176" y="1737360"/>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balance sheet</a:t>
            </a:r>
            <a:endParaRPr lang="en-US" sz="1050" dirty="0"/>
          </a:p>
        </p:txBody>
      </p:sp>
      <p:sp>
        <p:nvSpPr>
          <p:cNvPr id="22" name="Text 20"/>
          <p:cNvSpPr txBox="1"/>
          <p:nvPr/>
        </p:nvSpPr>
        <p:spPr>
          <a:xfrm>
            <a:off x="4379976" y="2011680"/>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A$2.29bn</a:t>
            </a:r>
            <a:endParaRPr lang="en-US" sz="2600" dirty="0"/>
          </a:p>
        </p:txBody>
      </p:sp>
      <p:sp>
        <p:nvSpPr>
          <p:cNvPr id="23" name="Text 21"/>
          <p:cNvSpPr txBox="1"/>
          <p:nvPr/>
        </p:nvSpPr>
        <p:spPr>
          <a:xfrm>
            <a:off x="4379976" y="252374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Cash at 30 June 2026</a:t>
            </a:r>
            <a:endParaRPr lang="en-US" sz="900" dirty="0"/>
          </a:p>
        </p:txBody>
      </p:sp>
      <p:sp>
        <p:nvSpPr>
          <p:cNvPr id="24" name="Text 22"/>
          <p:cNvSpPr txBox="1"/>
          <p:nvPr/>
        </p:nvSpPr>
        <p:spPr>
          <a:xfrm>
            <a:off x="4379976" y="2761488"/>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Net cash of A$1.46bn, an inaugural US$600m bond, and a dividend reinstated at 5cps fully franked.</a:t>
            </a:r>
            <a:endParaRPr lang="en-US" sz="920" dirty="0"/>
          </a:p>
        </p:txBody>
      </p:sp>
      <p:sp>
        <p:nvSpPr>
          <p:cNvPr id="25" name="Shape 23"/>
          <p:cNvSpPr/>
          <p:nvPr/>
        </p:nvSpPr>
        <p:spPr>
          <a:xfrm>
            <a:off x="8019288" y="1627632"/>
            <a:ext cx="3639312" cy="1847088"/>
          </a:xfrm>
          <a:prstGeom prst="rect">
            <a:avLst/>
          </a:prstGeom>
          <a:solidFill>
            <a:srgbClr val="F7F9FB"/>
          </a:solidFill>
          <a:ln w="9525">
            <a:solidFill>
              <a:srgbClr val="D3DCE5"/>
            </a:solidFill>
            <a:prstDash val="solid"/>
          </a:ln>
        </p:spPr>
      </p:sp>
      <p:sp>
        <p:nvSpPr>
          <p:cNvPr id="26" name="Text 24"/>
          <p:cNvSpPr txBox="1"/>
          <p:nvPr/>
        </p:nvSpPr>
        <p:spPr>
          <a:xfrm>
            <a:off x="8183880" y="1737360"/>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03</a:t>
            </a:r>
            <a:endParaRPr lang="en-US" sz="1000" dirty="0"/>
          </a:p>
        </p:txBody>
      </p:sp>
      <p:sp>
        <p:nvSpPr>
          <p:cNvPr id="27" name="Text 25"/>
          <p:cNvSpPr txBox="1"/>
          <p:nvPr/>
        </p:nvSpPr>
        <p:spPr>
          <a:xfrm>
            <a:off x="8641080" y="1737360"/>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growth</a:t>
            </a:r>
            <a:endParaRPr lang="en-US" sz="1050" dirty="0"/>
          </a:p>
        </p:txBody>
      </p:sp>
      <p:sp>
        <p:nvSpPr>
          <p:cNvPr id="28" name="Text 26"/>
          <p:cNvSpPr txBox="1"/>
          <p:nvPr/>
        </p:nvSpPr>
        <p:spPr>
          <a:xfrm>
            <a:off x="8183880" y="2011680"/>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&gt;2 Mtpa</a:t>
            </a:r>
            <a:endParaRPr lang="en-US" sz="2600" dirty="0"/>
          </a:p>
        </p:txBody>
      </p:sp>
      <p:sp>
        <p:nvSpPr>
          <p:cNvPr id="29" name="Text 27"/>
          <p:cNvSpPr txBox="1"/>
          <p:nvPr/>
        </p:nvSpPr>
        <p:spPr>
          <a:xfrm>
            <a:off x="8183880" y="252374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P2000 doubles Pilgangoora</a:t>
            </a:r>
            <a:endParaRPr lang="en-US" sz="900" dirty="0"/>
          </a:p>
        </p:txBody>
      </p:sp>
      <p:sp>
        <p:nvSpPr>
          <p:cNvPr id="30" name="Text 28"/>
          <p:cNvSpPr txBox="1"/>
          <p:nvPr/>
        </p:nvSpPr>
        <p:spPr>
          <a:xfrm>
            <a:off x="8183880" y="2761488"/>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PFS puts the increment at A$2.6bn NPV and a 55% IRR. A$175m of pre-FID capital is already approved.</a:t>
            </a:r>
            <a:endParaRPr lang="en-US" sz="920" dirty="0"/>
          </a:p>
        </p:txBody>
      </p:sp>
      <p:sp>
        <p:nvSpPr>
          <p:cNvPr id="31" name="Shape 29"/>
          <p:cNvSpPr/>
          <p:nvPr/>
        </p:nvSpPr>
        <p:spPr>
          <a:xfrm>
            <a:off x="411480" y="3657600"/>
            <a:ext cx="3639312" cy="1847088"/>
          </a:xfrm>
          <a:prstGeom prst="rect">
            <a:avLst/>
          </a:prstGeom>
          <a:solidFill>
            <a:srgbClr val="F7F9FB"/>
          </a:solidFill>
          <a:ln w="9525">
            <a:solidFill>
              <a:srgbClr val="D3DCE5"/>
            </a:solidFill>
            <a:prstDash val="solid"/>
          </a:ln>
        </p:spPr>
      </p:sp>
      <p:sp>
        <p:nvSpPr>
          <p:cNvPr id="32" name="Text 30"/>
          <p:cNvSpPr txBox="1"/>
          <p:nvPr/>
        </p:nvSpPr>
        <p:spPr>
          <a:xfrm>
            <a:off x="576072" y="376732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04</a:t>
            </a:r>
            <a:endParaRPr lang="en-US" sz="1000" dirty="0"/>
          </a:p>
        </p:txBody>
      </p:sp>
      <p:sp>
        <p:nvSpPr>
          <p:cNvPr id="33" name="Text 31"/>
          <p:cNvSpPr txBox="1"/>
          <p:nvPr/>
        </p:nvSpPr>
        <p:spPr>
          <a:xfrm>
            <a:off x="1033272" y="376732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shared value</a:t>
            </a:r>
            <a:endParaRPr lang="en-US" sz="1050" dirty="0"/>
          </a:p>
        </p:txBody>
      </p:sp>
      <p:sp>
        <p:nvSpPr>
          <p:cNvPr id="34" name="Text 32"/>
          <p:cNvSpPr txBox="1"/>
          <p:nvPr/>
        </p:nvSpPr>
        <p:spPr>
          <a:xfrm>
            <a:off x="576072" y="4041648"/>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A$0.43</a:t>
            </a:r>
            <a:endParaRPr lang="en-US" sz="2600" dirty="0"/>
          </a:p>
        </p:txBody>
      </p:sp>
      <p:sp>
        <p:nvSpPr>
          <p:cNvPr id="35" name="Text 33"/>
          <p:cNvSpPr txBox="1"/>
          <p:nvPr/>
        </p:nvSpPr>
        <p:spPr>
          <a:xfrm>
            <a:off x="576072" y="4553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per share, inside the target</a:t>
            </a:r>
            <a:endParaRPr lang="en-US" sz="900" dirty="0"/>
          </a:p>
        </p:txBody>
      </p:sp>
      <p:sp>
        <p:nvSpPr>
          <p:cNvPr id="36" name="Text 34"/>
          <p:cNvSpPr txBox="1"/>
          <p:nvPr/>
        </p:nvSpPr>
        <p:spPr>
          <a:xfrm>
            <a:off x="576072" y="4791456"/>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Equal to 67% of the A$0.64 of upside. A further A$0.32 sits outside it, unpriced.</a:t>
            </a:r>
            <a:endParaRPr lang="en-US" sz="920" dirty="0"/>
          </a:p>
        </p:txBody>
      </p:sp>
      <p:sp>
        <p:nvSpPr>
          <p:cNvPr id="37" name="Shape 35"/>
          <p:cNvSpPr/>
          <p:nvPr/>
        </p:nvSpPr>
        <p:spPr>
          <a:xfrm>
            <a:off x="4215384" y="3657600"/>
            <a:ext cx="3639312" cy="1847088"/>
          </a:xfrm>
          <a:prstGeom prst="rect">
            <a:avLst/>
          </a:prstGeom>
          <a:solidFill>
            <a:srgbClr val="F7F9FB"/>
          </a:solidFill>
          <a:ln w="9525">
            <a:solidFill>
              <a:srgbClr val="D3DCE5"/>
            </a:solidFill>
            <a:prstDash val="solid"/>
          </a:ln>
        </p:spPr>
      </p:sp>
      <p:sp>
        <p:nvSpPr>
          <p:cNvPr id="38" name="Text 36"/>
          <p:cNvSpPr txBox="1"/>
          <p:nvPr/>
        </p:nvSpPr>
        <p:spPr>
          <a:xfrm>
            <a:off x="4379976" y="376732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05</a:t>
            </a:r>
            <a:endParaRPr lang="en-US" sz="1000" dirty="0"/>
          </a:p>
        </p:txBody>
      </p:sp>
      <p:sp>
        <p:nvSpPr>
          <p:cNvPr id="39" name="Text 37"/>
          <p:cNvSpPr txBox="1"/>
          <p:nvPr/>
        </p:nvSpPr>
        <p:spPr>
          <a:xfrm>
            <a:off x="4837176" y="376732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valuation</a:t>
            </a:r>
            <a:endParaRPr lang="en-US" sz="1050" dirty="0"/>
          </a:p>
        </p:txBody>
      </p:sp>
      <p:sp>
        <p:nvSpPr>
          <p:cNvPr id="40" name="Text 38"/>
          <p:cNvSpPr txBox="1"/>
          <p:nvPr/>
        </p:nvSpPr>
        <p:spPr>
          <a:xfrm>
            <a:off x="4379976" y="4041648"/>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A$6.12</a:t>
            </a:r>
            <a:endParaRPr lang="en-US" sz="2600" dirty="0"/>
          </a:p>
        </p:txBody>
      </p:sp>
      <p:sp>
        <p:nvSpPr>
          <p:cNvPr id="41" name="Text 39"/>
          <p:cNvSpPr txBox="1"/>
          <p:nvPr/>
        </p:nvSpPr>
        <p:spPr>
          <a:xfrm>
            <a:off x="4379976" y="4553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12-month target</a:t>
            </a:r>
            <a:endParaRPr lang="en-US" sz="900" dirty="0"/>
          </a:p>
        </p:txBody>
      </p:sp>
      <p:sp>
        <p:nvSpPr>
          <p:cNvPr id="42" name="Text 40"/>
          <p:cNvSpPr txBox="1"/>
          <p:nvPr/>
        </p:nvSpPr>
        <p:spPr>
          <a:xfrm>
            <a:off x="4379976" y="4791456"/>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60% base-case DCF at an 8.88% WACC, 40% trading comparables. Bear A$2.26, bull A$8.93.</a:t>
            </a:r>
            <a:endParaRPr lang="en-US" sz="920" dirty="0"/>
          </a:p>
        </p:txBody>
      </p:sp>
      <p:sp>
        <p:nvSpPr>
          <p:cNvPr id="43" name="Shape 41"/>
          <p:cNvSpPr/>
          <p:nvPr/>
        </p:nvSpPr>
        <p:spPr>
          <a:xfrm>
            <a:off x="8019288" y="3657600"/>
            <a:ext cx="3639312" cy="1847088"/>
          </a:xfrm>
          <a:prstGeom prst="rect">
            <a:avLst/>
          </a:prstGeom>
          <a:solidFill>
            <a:srgbClr val="F7F9FB"/>
          </a:solidFill>
          <a:ln w="9525">
            <a:solidFill>
              <a:srgbClr val="D3DCE5"/>
            </a:solidFill>
            <a:prstDash val="solid"/>
          </a:ln>
        </p:spPr>
      </p:sp>
      <p:sp>
        <p:nvSpPr>
          <p:cNvPr id="44" name="Text 42"/>
          <p:cNvSpPr txBox="1"/>
          <p:nvPr/>
        </p:nvSpPr>
        <p:spPr>
          <a:xfrm>
            <a:off x="8183880" y="376732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06</a:t>
            </a:r>
            <a:endParaRPr lang="en-US" sz="1000" dirty="0"/>
          </a:p>
        </p:txBody>
      </p:sp>
      <p:sp>
        <p:nvSpPr>
          <p:cNvPr id="45" name="Text 43"/>
          <p:cNvSpPr txBox="1"/>
          <p:nvPr/>
        </p:nvSpPr>
        <p:spPr>
          <a:xfrm>
            <a:off x="8641080" y="376732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mandate</a:t>
            </a:r>
            <a:endParaRPr lang="en-US" sz="1050" dirty="0"/>
          </a:p>
        </p:txBody>
      </p:sp>
      <p:sp>
        <p:nvSpPr>
          <p:cNvPr id="46" name="Text 44"/>
          <p:cNvSpPr txBox="1"/>
          <p:nvPr/>
        </p:nvSpPr>
        <p:spPr>
          <a:xfrm>
            <a:off x="8183880" y="4041648"/>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13.4%</a:t>
            </a:r>
            <a:endParaRPr lang="en-US" sz="2600" dirty="0"/>
          </a:p>
        </p:txBody>
      </p:sp>
      <p:sp>
        <p:nvSpPr>
          <p:cNvPr id="47" name="Text 45"/>
          <p:cNvSpPr txBox="1"/>
          <p:nvPr/>
        </p:nvSpPr>
        <p:spPr>
          <a:xfrm>
            <a:off x="8183880" y="4553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expected total return</a:t>
            </a:r>
            <a:endParaRPr lang="en-US" sz="900" dirty="0"/>
          </a:p>
        </p:txBody>
      </p:sp>
      <p:sp>
        <p:nvSpPr>
          <p:cNvPr id="48" name="Text 46"/>
          <p:cNvSpPr txBox="1"/>
          <p:nvPr/>
        </p:nvSpPr>
        <p:spPr>
          <a:xfrm>
            <a:off x="8183880" y="4791456"/>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+11.7% price and a 1.7% yield, against a benchmark that returned 5.90%. Outperformance of 7.5%.</a:t>
            </a:r>
            <a:endParaRPr lang="en-US" sz="920" dirty="0"/>
          </a:p>
        </p:txBody>
      </p:sp>
      <p:sp>
        <p:nvSpPr>
          <p:cNvPr id="49" name="Text 4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PLS Group FY26 results (24 August 2026); P2000 Pre-Feasibility Study (June 2024); team valuation model. Spodumene concentrate is the lithium-bearing rock concentrate PLS ships; SC6 denotes a 6% Li2O grade.</a:t>
            </a:r>
            <a:endParaRPr lang="en-US" sz="750" dirty="0"/>
          </a:p>
        </p:txBody>
      </p:sp>
      <p:sp>
        <p:nvSpPr>
          <p:cNvPr id="50" name="Text 4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Why PLS, and not the other five</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For four of the six, ESG spend defends an existing cash flow. For PLS the societal need is the demand, and carbon intensity decides market access.</a:t>
            </a:r>
            <a:endParaRPr lang="en-US" sz="1200" dirty="0"/>
          </a:p>
        </p:txBody>
      </p:sp>
      <p:sp>
        <p:nvSpPr>
          <p:cNvPr id="13" name="Shape 11"/>
          <p:cNvSpPr/>
          <p:nvPr/>
        </p:nvSpPr>
        <p:spPr>
          <a:xfrm>
            <a:off x="411480" y="1627632"/>
            <a:ext cx="1691640" cy="292608"/>
          </a:xfrm>
          <a:prstGeom prst="rect">
            <a:avLst/>
          </a:prstGeom>
          <a:solidFill>
            <a:srgbClr val="10233A"/>
          </a:solidFill>
          <a:ln/>
        </p:spPr>
      </p:sp>
      <p:sp>
        <p:nvSpPr>
          <p:cNvPr id="14" name="Text 12"/>
          <p:cNvSpPr txBox="1"/>
          <p:nvPr/>
        </p:nvSpPr>
        <p:spPr>
          <a:xfrm>
            <a:off x="475488" y="1627632"/>
            <a:ext cx="1563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15" name="Shape 13"/>
          <p:cNvSpPr/>
          <p:nvPr/>
        </p:nvSpPr>
        <p:spPr>
          <a:xfrm>
            <a:off x="2103120" y="1627632"/>
            <a:ext cx="2148840" cy="292608"/>
          </a:xfrm>
          <a:prstGeom prst="rect">
            <a:avLst/>
          </a:prstGeom>
          <a:solidFill>
            <a:srgbClr val="10233A"/>
          </a:solidFill>
          <a:ln/>
        </p:spPr>
      </p:sp>
      <p:sp>
        <p:nvSpPr>
          <p:cNvPr id="16" name="Text 14"/>
          <p:cNvSpPr txBox="1"/>
          <p:nvPr/>
        </p:nvSpPr>
        <p:spPr>
          <a:xfrm>
            <a:off x="216712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Primary exposure</a:t>
            </a:r>
            <a:endParaRPr lang="en-US" sz="900" dirty="0"/>
          </a:p>
        </p:txBody>
      </p:sp>
      <p:sp>
        <p:nvSpPr>
          <p:cNvPr id="17" name="Shape 15"/>
          <p:cNvSpPr/>
          <p:nvPr/>
        </p:nvSpPr>
        <p:spPr>
          <a:xfrm>
            <a:off x="4251960" y="1627632"/>
            <a:ext cx="4160520" cy="292608"/>
          </a:xfrm>
          <a:prstGeom prst="rect">
            <a:avLst/>
          </a:prstGeom>
          <a:solidFill>
            <a:srgbClr val="10233A"/>
          </a:solidFill>
          <a:ln/>
        </p:spPr>
      </p:sp>
      <p:sp>
        <p:nvSpPr>
          <p:cNvPr id="18" name="Text 16"/>
          <p:cNvSpPr txBox="1"/>
          <p:nvPr/>
        </p:nvSpPr>
        <p:spPr>
          <a:xfrm>
            <a:off x="4315968" y="1627632"/>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ESG works in the business</a:t>
            </a:r>
            <a:endParaRPr lang="en-US" sz="900" dirty="0"/>
          </a:p>
        </p:txBody>
      </p:sp>
      <p:sp>
        <p:nvSpPr>
          <p:cNvPr id="19" name="Shape 17"/>
          <p:cNvSpPr/>
          <p:nvPr/>
        </p:nvSpPr>
        <p:spPr>
          <a:xfrm>
            <a:off x="8412480" y="1627632"/>
            <a:ext cx="1600200" cy="292608"/>
          </a:xfrm>
          <a:prstGeom prst="rect">
            <a:avLst/>
          </a:prstGeom>
          <a:solidFill>
            <a:srgbClr val="10233A"/>
          </a:solidFill>
          <a:ln/>
        </p:spPr>
      </p:sp>
      <p:sp>
        <p:nvSpPr>
          <p:cNvPr id="20" name="Text 18"/>
          <p:cNvSpPr txBox="1"/>
          <p:nvPr/>
        </p:nvSpPr>
        <p:spPr>
          <a:xfrm>
            <a:off x="8476488" y="1627632"/>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Effect on value</a:t>
            </a:r>
            <a:endParaRPr lang="en-US" sz="900" dirty="0"/>
          </a:p>
        </p:txBody>
      </p:sp>
      <p:sp>
        <p:nvSpPr>
          <p:cNvPr id="21" name="Shape 19"/>
          <p:cNvSpPr/>
          <p:nvPr/>
        </p:nvSpPr>
        <p:spPr>
          <a:xfrm>
            <a:off x="10012680" y="1627632"/>
            <a:ext cx="1005840" cy="292608"/>
          </a:xfrm>
          <a:prstGeom prst="rect">
            <a:avLst/>
          </a:prstGeom>
          <a:solidFill>
            <a:srgbClr val="10233A"/>
          </a:solidFill>
          <a:ln/>
        </p:spPr>
      </p:sp>
      <p:sp>
        <p:nvSpPr>
          <p:cNvPr id="22" name="Text 20"/>
          <p:cNvSpPr txBox="1"/>
          <p:nvPr/>
        </p:nvSpPr>
        <p:spPr>
          <a:xfrm>
            <a:off x="10076688" y="1627632"/>
            <a:ext cx="877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EV/EBITDA</a:t>
            </a:r>
            <a:endParaRPr lang="en-US" sz="900" dirty="0"/>
          </a:p>
        </p:txBody>
      </p:sp>
      <p:sp>
        <p:nvSpPr>
          <p:cNvPr id="23" name="Shape 21"/>
          <p:cNvSpPr/>
          <p:nvPr/>
        </p:nvSpPr>
        <p:spPr>
          <a:xfrm>
            <a:off x="11018520" y="1627632"/>
            <a:ext cx="768096" cy="292608"/>
          </a:xfrm>
          <a:prstGeom prst="rect">
            <a:avLst/>
          </a:prstGeom>
          <a:solidFill>
            <a:srgbClr val="10233A"/>
          </a:solidFill>
          <a:ln/>
        </p:spPr>
      </p:sp>
      <p:sp>
        <p:nvSpPr>
          <p:cNvPr id="24" name="Text 22"/>
          <p:cNvSpPr txBox="1"/>
          <p:nvPr/>
        </p:nvSpPr>
        <p:spPr>
          <a:xfrm>
            <a:off x="11082528" y="1627632"/>
            <a:ext cx="6400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Net debt</a:t>
            </a:r>
            <a:endParaRPr lang="en-US" sz="900" dirty="0"/>
          </a:p>
        </p:txBody>
      </p:sp>
      <p:sp>
        <p:nvSpPr>
          <p:cNvPr id="25" name="Shape 23"/>
          <p:cNvSpPr/>
          <p:nvPr/>
        </p:nvSpPr>
        <p:spPr>
          <a:xfrm>
            <a:off x="411480" y="1920240"/>
            <a:ext cx="1691640" cy="475488"/>
          </a:xfrm>
          <a:prstGeom prst="rect">
            <a:avLst/>
          </a:prstGeom>
          <a:solidFill>
            <a:srgbClr val="FFFFFF"/>
          </a:solidFill>
          <a:ln w="6350">
            <a:solidFill>
              <a:srgbClr val="D3DCE5"/>
            </a:solidFill>
            <a:prstDash val="solid"/>
          </a:ln>
        </p:spPr>
      </p:sp>
      <p:sp>
        <p:nvSpPr>
          <p:cNvPr id="26" name="Text 24"/>
          <p:cNvSpPr txBox="1"/>
          <p:nvPr/>
        </p:nvSpPr>
        <p:spPr>
          <a:xfrm>
            <a:off x="475488" y="1920240"/>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BHP Group</a:t>
            </a:r>
            <a:endParaRPr lang="en-US" sz="880" dirty="0"/>
          </a:p>
        </p:txBody>
      </p:sp>
      <p:sp>
        <p:nvSpPr>
          <p:cNvPr id="27" name="Shape 25"/>
          <p:cNvSpPr/>
          <p:nvPr/>
        </p:nvSpPr>
        <p:spPr>
          <a:xfrm>
            <a:off x="2103120" y="1920240"/>
            <a:ext cx="2148840" cy="475488"/>
          </a:xfrm>
          <a:prstGeom prst="rect">
            <a:avLst/>
          </a:prstGeom>
          <a:solidFill>
            <a:srgbClr val="FFFFFF"/>
          </a:solidFill>
          <a:ln w="6350">
            <a:solidFill>
              <a:srgbClr val="D3DCE5"/>
            </a:solidFill>
            <a:prstDash val="solid"/>
          </a:ln>
        </p:spPr>
      </p:sp>
      <p:sp>
        <p:nvSpPr>
          <p:cNvPr id="28" name="Text 26"/>
          <p:cNvSpPr txBox="1"/>
          <p:nvPr/>
        </p:nvSpPr>
        <p:spPr>
          <a:xfrm>
            <a:off x="2167128" y="1920240"/>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copper, coal</a:t>
            </a:r>
            <a:endParaRPr lang="en-US" sz="880" dirty="0"/>
          </a:p>
        </p:txBody>
      </p:sp>
      <p:sp>
        <p:nvSpPr>
          <p:cNvPr id="29" name="Shape 27"/>
          <p:cNvSpPr/>
          <p:nvPr/>
        </p:nvSpPr>
        <p:spPr>
          <a:xfrm>
            <a:off x="4251960" y="1920240"/>
            <a:ext cx="4160520" cy="475488"/>
          </a:xfrm>
          <a:prstGeom prst="rect">
            <a:avLst/>
          </a:prstGeom>
          <a:solidFill>
            <a:srgbClr val="FFFFFF"/>
          </a:solidFill>
          <a:ln w="6350">
            <a:solidFill>
              <a:srgbClr val="D3DCE5"/>
            </a:solidFill>
            <a:prstDash val="solid"/>
          </a:ln>
        </p:spPr>
      </p:sp>
      <p:sp>
        <p:nvSpPr>
          <p:cNvPr id="30" name="Text 28"/>
          <p:cNvSpPr txBox="1"/>
          <p:nvPr/>
        </p:nvSpPr>
        <p:spPr>
          <a:xfrm>
            <a:off x="4315968" y="1920240"/>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Scope 1 and 2 abatement on long-life bulk assets. Spend protects a licence to operate.</a:t>
            </a:r>
            <a:endParaRPr lang="en-US" sz="880" dirty="0"/>
          </a:p>
        </p:txBody>
      </p:sp>
      <p:sp>
        <p:nvSpPr>
          <p:cNvPr id="31" name="Shape 29"/>
          <p:cNvSpPr/>
          <p:nvPr/>
        </p:nvSpPr>
        <p:spPr>
          <a:xfrm>
            <a:off x="8412480" y="1920240"/>
            <a:ext cx="1600200" cy="475488"/>
          </a:xfrm>
          <a:prstGeom prst="rect">
            <a:avLst/>
          </a:prstGeom>
          <a:solidFill>
            <a:srgbClr val="FFFFFF"/>
          </a:solidFill>
          <a:ln w="6350">
            <a:solidFill>
              <a:srgbClr val="D3DCE5"/>
            </a:solidFill>
            <a:prstDash val="solid"/>
          </a:ln>
        </p:spPr>
      </p:sp>
      <p:sp>
        <p:nvSpPr>
          <p:cNvPr id="32" name="Text 30"/>
          <p:cNvSpPr txBox="1"/>
          <p:nvPr/>
        </p:nvSpPr>
        <p:spPr>
          <a:xfrm>
            <a:off x="8476488" y="1920240"/>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33" name="Shape 31"/>
          <p:cNvSpPr/>
          <p:nvPr/>
        </p:nvSpPr>
        <p:spPr>
          <a:xfrm>
            <a:off x="10012680" y="1920240"/>
            <a:ext cx="1005840" cy="475488"/>
          </a:xfrm>
          <a:prstGeom prst="rect">
            <a:avLst/>
          </a:prstGeom>
          <a:solidFill>
            <a:srgbClr val="FFFFFF"/>
          </a:solidFill>
          <a:ln w="6350">
            <a:solidFill>
              <a:srgbClr val="D3DCE5"/>
            </a:solidFill>
            <a:prstDash val="solid"/>
          </a:ln>
        </p:spPr>
      </p:sp>
      <p:sp>
        <p:nvSpPr>
          <p:cNvPr id="34" name="Text 32"/>
          <p:cNvSpPr txBox="1"/>
          <p:nvPr/>
        </p:nvSpPr>
        <p:spPr>
          <a:xfrm>
            <a:off x="10076688" y="1920240"/>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n/a</a:t>
            </a:r>
            <a:endParaRPr lang="en-US" sz="880" dirty="0"/>
          </a:p>
        </p:txBody>
      </p:sp>
      <p:sp>
        <p:nvSpPr>
          <p:cNvPr id="35" name="Shape 33"/>
          <p:cNvSpPr/>
          <p:nvPr/>
        </p:nvSpPr>
        <p:spPr>
          <a:xfrm>
            <a:off x="11018520" y="1920240"/>
            <a:ext cx="768096" cy="475488"/>
          </a:xfrm>
          <a:prstGeom prst="rect">
            <a:avLst/>
          </a:prstGeom>
          <a:solidFill>
            <a:srgbClr val="FFFFFF"/>
          </a:solidFill>
          <a:ln w="6350">
            <a:solidFill>
              <a:srgbClr val="D3DCE5"/>
            </a:solidFill>
            <a:prstDash val="solid"/>
          </a:ln>
        </p:spPr>
      </p:sp>
      <p:sp>
        <p:nvSpPr>
          <p:cNvPr id="36" name="Text 34"/>
          <p:cNvSpPr txBox="1"/>
          <p:nvPr/>
        </p:nvSpPr>
        <p:spPr>
          <a:xfrm>
            <a:off x="11082528" y="1920240"/>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US$8.7bn</a:t>
            </a:r>
            <a:endParaRPr lang="en-US" sz="880" dirty="0"/>
          </a:p>
        </p:txBody>
      </p:sp>
      <p:sp>
        <p:nvSpPr>
          <p:cNvPr id="37" name="Shape 35"/>
          <p:cNvSpPr/>
          <p:nvPr/>
        </p:nvSpPr>
        <p:spPr>
          <a:xfrm>
            <a:off x="411480" y="2395728"/>
            <a:ext cx="1691640" cy="475488"/>
          </a:xfrm>
          <a:prstGeom prst="rect">
            <a:avLst/>
          </a:prstGeom>
          <a:solidFill>
            <a:srgbClr val="F7F9FB"/>
          </a:solidFill>
          <a:ln w="6350">
            <a:solidFill>
              <a:srgbClr val="D3DCE5"/>
            </a:solidFill>
            <a:prstDash val="solid"/>
          </a:ln>
        </p:spPr>
      </p:sp>
      <p:sp>
        <p:nvSpPr>
          <p:cNvPr id="38" name="Text 36"/>
          <p:cNvSpPr txBox="1"/>
          <p:nvPr/>
        </p:nvSpPr>
        <p:spPr>
          <a:xfrm>
            <a:off x="475488" y="2395728"/>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Rio Tinto</a:t>
            </a:r>
            <a:endParaRPr lang="en-US" sz="880" dirty="0"/>
          </a:p>
        </p:txBody>
      </p:sp>
      <p:sp>
        <p:nvSpPr>
          <p:cNvPr id="39" name="Shape 37"/>
          <p:cNvSpPr/>
          <p:nvPr/>
        </p:nvSpPr>
        <p:spPr>
          <a:xfrm>
            <a:off x="2103120" y="2395728"/>
            <a:ext cx="2148840" cy="475488"/>
          </a:xfrm>
          <a:prstGeom prst="rect">
            <a:avLst/>
          </a:prstGeom>
          <a:solidFill>
            <a:srgbClr val="F7F9FB"/>
          </a:solidFill>
          <a:ln w="6350">
            <a:solidFill>
              <a:srgbClr val="D3DCE5"/>
            </a:solidFill>
            <a:prstDash val="solid"/>
          </a:ln>
        </p:spPr>
      </p:sp>
      <p:sp>
        <p:nvSpPr>
          <p:cNvPr id="40" name="Text 38"/>
          <p:cNvSpPr txBox="1"/>
          <p:nvPr/>
        </p:nvSpPr>
        <p:spPr>
          <a:xfrm>
            <a:off x="2167128" y="2395728"/>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aluminium, lithium</a:t>
            </a:r>
            <a:endParaRPr lang="en-US" sz="880" dirty="0"/>
          </a:p>
        </p:txBody>
      </p:sp>
      <p:sp>
        <p:nvSpPr>
          <p:cNvPr id="41" name="Shape 39"/>
          <p:cNvSpPr/>
          <p:nvPr/>
        </p:nvSpPr>
        <p:spPr>
          <a:xfrm>
            <a:off x="4251960" y="2395728"/>
            <a:ext cx="4160520" cy="475488"/>
          </a:xfrm>
          <a:prstGeom prst="rect">
            <a:avLst/>
          </a:prstGeom>
          <a:solidFill>
            <a:srgbClr val="F7F9FB"/>
          </a:solidFill>
          <a:ln w="6350">
            <a:solidFill>
              <a:srgbClr val="D3DCE5"/>
            </a:solidFill>
            <a:prstDash val="solid"/>
          </a:ln>
        </p:spPr>
      </p:sp>
      <p:sp>
        <p:nvSpPr>
          <p:cNvPr id="42" name="Text 40"/>
          <p:cNvSpPr txBox="1"/>
          <p:nvPr/>
        </p:nvSpPr>
        <p:spPr>
          <a:xfrm>
            <a:off x="4315968" y="2395728"/>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Same, plus a lithium arm bought at the top of the cycle for US$6.7bn.</a:t>
            </a:r>
            <a:endParaRPr lang="en-US" sz="880" dirty="0"/>
          </a:p>
        </p:txBody>
      </p:sp>
      <p:sp>
        <p:nvSpPr>
          <p:cNvPr id="43" name="Shape 41"/>
          <p:cNvSpPr/>
          <p:nvPr/>
        </p:nvSpPr>
        <p:spPr>
          <a:xfrm>
            <a:off x="8412480" y="2395728"/>
            <a:ext cx="1600200" cy="475488"/>
          </a:xfrm>
          <a:prstGeom prst="rect">
            <a:avLst/>
          </a:prstGeom>
          <a:solidFill>
            <a:srgbClr val="F7F9FB"/>
          </a:solidFill>
          <a:ln w="6350">
            <a:solidFill>
              <a:srgbClr val="D3DCE5"/>
            </a:solidFill>
            <a:prstDash val="solid"/>
          </a:ln>
        </p:spPr>
      </p:sp>
      <p:sp>
        <p:nvSpPr>
          <p:cNvPr id="44" name="Text 42"/>
          <p:cNvSpPr txBox="1"/>
          <p:nvPr/>
        </p:nvSpPr>
        <p:spPr>
          <a:xfrm>
            <a:off x="8476488" y="2395728"/>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45" name="Shape 43"/>
          <p:cNvSpPr/>
          <p:nvPr/>
        </p:nvSpPr>
        <p:spPr>
          <a:xfrm>
            <a:off x="10012680" y="2395728"/>
            <a:ext cx="1005840" cy="475488"/>
          </a:xfrm>
          <a:prstGeom prst="rect">
            <a:avLst/>
          </a:prstGeom>
          <a:solidFill>
            <a:srgbClr val="F7F9FB"/>
          </a:solidFill>
          <a:ln w="6350">
            <a:solidFill>
              <a:srgbClr val="D3DCE5"/>
            </a:solidFill>
            <a:prstDash val="solid"/>
          </a:ln>
        </p:spPr>
      </p:sp>
      <p:sp>
        <p:nvSpPr>
          <p:cNvPr id="46" name="Text 44"/>
          <p:cNvSpPr txBox="1"/>
          <p:nvPr/>
        </p:nvSpPr>
        <p:spPr>
          <a:xfrm>
            <a:off x="10076688" y="2395728"/>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7.8x</a:t>
            </a:r>
            <a:endParaRPr lang="en-US" sz="880" dirty="0"/>
          </a:p>
        </p:txBody>
      </p:sp>
      <p:sp>
        <p:nvSpPr>
          <p:cNvPr id="47" name="Shape 45"/>
          <p:cNvSpPr/>
          <p:nvPr/>
        </p:nvSpPr>
        <p:spPr>
          <a:xfrm>
            <a:off x="11018520" y="2395728"/>
            <a:ext cx="768096" cy="475488"/>
          </a:xfrm>
          <a:prstGeom prst="rect">
            <a:avLst/>
          </a:prstGeom>
          <a:solidFill>
            <a:srgbClr val="F7F9FB"/>
          </a:solidFill>
          <a:ln w="6350">
            <a:solidFill>
              <a:srgbClr val="D3DCE5"/>
            </a:solidFill>
            <a:prstDash val="solid"/>
          </a:ln>
        </p:spPr>
      </p:sp>
      <p:sp>
        <p:nvSpPr>
          <p:cNvPr id="48" name="Text 46"/>
          <p:cNvSpPr txBox="1"/>
          <p:nvPr/>
        </p:nvSpPr>
        <p:spPr>
          <a:xfrm>
            <a:off x="11082528" y="2395728"/>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US$14.1bn</a:t>
            </a:r>
            <a:endParaRPr lang="en-US" sz="880" dirty="0"/>
          </a:p>
        </p:txBody>
      </p:sp>
      <p:sp>
        <p:nvSpPr>
          <p:cNvPr id="49" name="Shape 47"/>
          <p:cNvSpPr/>
          <p:nvPr/>
        </p:nvSpPr>
        <p:spPr>
          <a:xfrm>
            <a:off x="411480" y="2871216"/>
            <a:ext cx="1691640" cy="475488"/>
          </a:xfrm>
          <a:prstGeom prst="rect">
            <a:avLst/>
          </a:prstGeom>
          <a:solidFill>
            <a:srgbClr val="FFFFFF"/>
          </a:solidFill>
          <a:ln w="6350">
            <a:solidFill>
              <a:srgbClr val="D3DCE5"/>
            </a:solidFill>
            <a:prstDash val="solid"/>
          </a:ln>
        </p:spPr>
      </p:sp>
      <p:sp>
        <p:nvSpPr>
          <p:cNvPr id="50" name="Text 48"/>
          <p:cNvSpPr txBox="1"/>
          <p:nvPr/>
        </p:nvSpPr>
        <p:spPr>
          <a:xfrm>
            <a:off x="475488" y="2871216"/>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Fortescue</a:t>
            </a:r>
            <a:endParaRPr lang="en-US" sz="880" dirty="0"/>
          </a:p>
        </p:txBody>
      </p:sp>
      <p:sp>
        <p:nvSpPr>
          <p:cNvPr id="51" name="Shape 49"/>
          <p:cNvSpPr/>
          <p:nvPr/>
        </p:nvSpPr>
        <p:spPr>
          <a:xfrm>
            <a:off x="2103120" y="2871216"/>
            <a:ext cx="2148840" cy="475488"/>
          </a:xfrm>
          <a:prstGeom prst="rect">
            <a:avLst/>
          </a:prstGeom>
          <a:solidFill>
            <a:srgbClr val="FFFFFF"/>
          </a:solidFill>
          <a:ln w="6350">
            <a:solidFill>
              <a:srgbClr val="D3DCE5"/>
            </a:solidFill>
            <a:prstDash val="solid"/>
          </a:ln>
        </p:spPr>
      </p:sp>
      <p:sp>
        <p:nvSpPr>
          <p:cNvPr id="52" name="Text 50"/>
          <p:cNvSpPr txBox="1"/>
          <p:nvPr/>
        </p:nvSpPr>
        <p:spPr>
          <a:xfrm>
            <a:off x="2167128" y="2871216"/>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green energy</a:t>
            </a:r>
            <a:endParaRPr lang="en-US" sz="880" dirty="0"/>
          </a:p>
        </p:txBody>
      </p:sp>
      <p:sp>
        <p:nvSpPr>
          <p:cNvPr id="53" name="Shape 51"/>
          <p:cNvSpPr/>
          <p:nvPr/>
        </p:nvSpPr>
        <p:spPr>
          <a:xfrm>
            <a:off x="4251960" y="2871216"/>
            <a:ext cx="4160520" cy="475488"/>
          </a:xfrm>
          <a:prstGeom prst="rect">
            <a:avLst/>
          </a:prstGeom>
          <a:solidFill>
            <a:srgbClr val="FFFFFF"/>
          </a:solidFill>
          <a:ln w="6350">
            <a:solidFill>
              <a:srgbClr val="D3DCE5"/>
            </a:solidFill>
            <a:prstDash val="solid"/>
          </a:ln>
        </p:spPr>
      </p:sp>
      <p:sp>
        <p:nvSpPr>
          <p:cNvPr id="54" name="Text 52"/>
          <p:cNvSpPr txBox="1"/>
          <p:nvPr/>
        </p:nvSpPr>
        <p:spPr>
          <a:xfrm>
            <a:off x="4315968" y="2871216"/>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Green hydrogen ambition sits beside the iron ore business rather than inside it.</a:t>
            </a:r>
            <a:endParaRPr lang="en-US" sz="880" dirty="0"/>
          </a:p>
        </p:txBody>
      </p:sp>
      <p:sp>
        <p:nvSpPr>
          <p:cNvPr id="55" name="Shape 53"/>
          <p:cNvSpPr/>
          <p:nvPr/>
        </p:nvSpPr>
        <p:spPr>
          <a:xfrm>
            <a:off x="8412480" y="2871216"/>
            <a:ext cx="1600200" cy="475488"/>
          </a:xfrm>
          <a:prstGeom prst="rect">
            <a:avLst/>
          </a:prstGeom>
          <a:solidFill>
            <a:srgbClr val="FFFFFF"/>
          </a:solidFill>
          <a:ln w="6350">
            <a:solidFill>
              <a:srgbClr val="D3DCE5"/>
            </a:solidFill>
            <a:prstDash val="solid"/>
          </a:ln>
        </p:spPr>
      </p:sp>
      <p:sp>
        <p:nvSpPr>
          <p:cNvPr id="56" name="Text 54"/>
          <p:cNvSpPr txBox="1"/>
          <p:nvPr/>
        </p:nvSpPr>
        <p:spPr>
          <a:xfrm>
            <a:off x="8476488" y="2871216"/>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Adjacent</a:t>
            </a:r>
            <a:endParaRPr lang="en-US" sz="880" dirty="0"/>
          </a:p>
        </p:txBody>
      </p:sp>
      <p:sp>
        <p:nvSpPr>
          <p:cNvPr id="57" name="Shape 55"/>
          <p:cNvSpPr/>
          <p:nvPr/>
        </p:nvSpPr>
        <p:spPr>
          <a:xfrm>
            <a:off x="10012680" y="2871216"/>
            <a:ext cx="1005840" cy="475488"/>
          </a:xfrm>
          <a:prstGeom prst="rect">
            <a:avLst/>
          </a:prstGeom>
          <a:solidFill>
            <a:srgbClr val="FFFFFF"/>
          </a:solidFill>
          <a:ln w="6350">
            <a:solidFill>
              <a:srgbClr val="D3DCE5"/>
            </a:solidFill>
            <a:prstDash val="solid"/>
          </a:ln>
        </p:spPr>
      </p:sp>
      <p:sp>
        <p:nvSpPr>
          <p:cNvPr id="58" name="Text 56"/>
          <p:cNvSpPr txBox="1"/>
          <p:nvPr/>
        </p:nvSpPr>
        <p:spPr>
          <a:xfrm>
            <a:off x="10076688" y="2871216"/>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5.6x</a:t>
            </a:r>
            <a:endParaRPr lang="en-US" sz="880" dirty="0"/>
          </a:p>
        </p:txBody>
      </p:sp>
      <p:sp>
        <p:nvSpPr>
          <p:cNvPr id="59" name="Shape 57"/>
          <p:cNvSpPr/>
          <p:nvPr/>
        </p:nvSpPr>
        <p:spPr>
          <a:xfrm>
            <a:off x="11018520" y="2871216"/>
            <a:ext cx="768096" cy="475488"/>
          </a:xfrm>
          <a:prstGeom prst="rect">
            <a:avLst/>
          </a:prstGeom>
          <a:solidFill>
            <a:srgbClr val="FFFFFF"/>
          </a:solidFill>
          <a:ln w="6350">
            <a:solidFill>
              <a:srgbClr val="D3DCE5"/>
            </a:solidFill>
            <a:prstDash val="solid"/>
          </a:ln>
        </p:spPr>
      </p:sp>
      <p:sp>
        <p:nvSpPr>
          <p:cNvPr id="60" name="Text 58"/>
          <p:cNvSpPr txBox="1"/>
          <p:nvPr/>
        </p:nvSpPr>
        <p:spPr>
          <a:xfrm>
            <a:off x="11082528" y="2871216"/>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US$0.9bn</a:t>
            </a:r>
            <a:endParaRPr lang="en-US" sz="880" dirty="0"/>
          </a:p>
        </p:txBody>
      </p:sp>
      <p:sp>
        <p:nvSpPr>
          <p:cNvPr id="61" name="Shape 59"/>
          <p:cNvSpPr/>
          <p:nvPr/>
        </p:nvSpPr>
        <p:spPr>
          <a:xfrm>
            <a:off x="411480" y="3346704"/>
            <a:ext cx="1691640" cy="475488"/>
          </a:xfrm>
          <a:prstGeom prst="rect">
            <a:avLst/>
          </a:prstGeom>
          <a:solidFill>
            <a:srgbClr val="F7F9FB"/>
          </a:solidFill>
          <a:ln w="6350">
            <a:solidFill>
              <a:srgbClr val="D3DCE5"/>
            </a:solidFill>
            <a:prstDash val="solid"/>
          </a:ln>
        </p:spPr>
      </p:sp>
      <p:sp>
        <p:nvSpPr>
          <p:cNvPr id="62" name="Text 60"/>
          <p:cNvSpPr txBox="1"/>
          <p:nvPr/>
        </p:nvSpPr>
        <p:spPr>
          <a:xfrm>
            <a:off x="475488" y="3346704"/>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South32</a:t>
            </a:r>
            <a:endParaRPr lang="en-US" sz="880" dirty="0"/>
          </a:p>
        </p:txBody>
      </p:sp>
      <p:sp>
        <p:nvSpPr>
          <p:cNvPr id="63" name="Shape 61"/>
          <p:cNvSpPr/>
          <p:nvPr/>
        </p:nvSpPr>
        <p:spPr>
          <a:xfrm>
            <a:off x="2103120" y="3346704"/>
            <a:ext cx="2148840" cy="475488"/>
          </a:xfrm>
          <a:prstGeom prst="rect">
            <a:avLst/>
          </a:prstGeom>
          <a:solidFill>
            <a:srgbClr val="F7F9FB"/>
          </a:solidFill>
          <a:ln w="6350">
            <a:solidFill>
              <a:srgbClr val="D3DCE5"/>
            </a:solidFill>
            <a:prstDash val="solid"/>
          </a:ln>
        </p:spPr>
      </p:sp>
      <p:sp>
        <p:nvSpPr>
          <p:cNvPr id="64" name="Text 62"/>
          <p:cNvSpPr txBox="1"/>
          <p:nvPr/>
        </p:nvSpPr>
        <p:spPr>
          <a:xfrm>
            <a:off x="2167128" y="3346704"/>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Alumina, base metals</a:t>
            </a:r>
            <a:endParaRPr lang="en-US" sz="880" dirty="0"/>
          </a:p>
        </p:txBody>
      </p:sp>
      <p:sp>
        <p:nvSpPr>
          <p:cNvPr id="65" name="Shape 63"/>
          <p:cNvSpPr/>
          <p:nvPr/>
        </p:nvSpPr>
        <p:spPr>
          <a:xfrm>
            <a:off x="4251960" y="3346704"/>
            <a:ext cx="4160520" cy="475488"/>
          </a:xfrm>
          <a:prstGeom prst="rect">
            <a:avLst/>
          </a:prstGeom>
          <a:solidFill>
            <a:srgbClr val="F7F9FB"/>
          </a:solidFill>
          <a:ln w="6350">
            <a:solidFill>
              <a:srgbClr val="D3DCE5"/>
            </a:solidFill>
            <a:prstDash val="solid"/>
          </a:ln>
        </p:spPr>
      </p:sp>
      <p:sp>
        <p:nvSpPr>
          <p:cNvPr id="66" name="Text 64"/>
          <p:cNvSpPr txBox="1"/>
          <p:nvPr/>
        </p:nvSpPr>
        <p:spPr>
          <a:xfrm>
            <a:off x="4315968" y="3346704"/>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Genuine transition-metal exposure, but ESG is still a cost of operating.</a:t>
            </a:r>
            <a:endParaRPr lang="en-US" sz="880" dirty="0"/>
          </a:p>
        </p:txBody>
      </p:sp>
      <p:sp>
        <p:nvSpPr>
          <p:cNvPr id="67" name="Shape 65"/>
          <p:cNvSpPr/>
          <p:nvPr/>
        </p:nvSpPr>
        <p:spPr>
          <a:xfrm>
            <a:off x="8412480" y="3346704"/>
            <a:ext cx="1600200" cy="475488"/>
          </a:xfrm>
          <a:prstGeom prst="rect">
            <a:avLst/>
          </a:prstGeom>
          <a:solidFill>
            <a:srgbClr val="F7F9FB"/>
          </a:solidFill>
          <a:ln w="6350">
            <a:solidFill>
              <a:srgbClr val="D3DCE5"/>
            </a:solidFill>
            <a:prstDash val="solid"/>
          </a:ln>
        </p:spPr>
      </p:sp>
      <p:sp>
        <p:nvSpPr>
          <p:cNvPr id="68" name="Text 66"/>
          <p:cNvSpPr txBox="1"/>
          <p:nvPr/>
        </p:nvSpPr>
        <p:spPr>
          <a:xfrm>
            <a:off x="8476488" y="3346704"/>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69" name="Shape 67"/>
          <p:cNvSpPr/>
          <p:nvPr/>
        </p:nvSpPr>
        <p:spPr>
          <a:xfrm>
            <a:off x="10012680" y="3346704"/>
            <a:ext cx="1005840" cy="475488"/>
          </a:xfrm>
          <a:prstGeom prst="rect">
            <a:avLst/>
          </a:prstGeom>
          <a:solidFill>
            <a:srgbClr val="F7F9FB"/>
          </a:solidFill>
          <a:ln w="6350">
            <a:solidFill>
              <a:srgbClr val="D3DCE5"/>
            </a:solidFill>
            <a:prstDash val="solid"/>
          </a:ln>
        </p:spPr>
      </p:sp>
      <p:sp>
        <p:nvSpPr>
          <p:cNvPr id="70" name="Text 68"/>
          <p:cNvSpPr txBox="1"/>
          <p:nvPr/>
        </p:nvSpPr>
        <p:spPr>
          <a:xfrm>
            <a:off x="10076688" y="3346704"/>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8.5x</a:t>
            </a:r>
            <a:endParaRPr lang="en-US" sz="880" dirty="0"/>
          </a:p>
        </p:txBody>
      </p:sp>
      <p:sp>
        <p:nvSpPr>
          <p:cNvPr id="71" name="Shape 69"/>
          <p:cNvSpPr/>
          <p:nvPr/>
        </p:nvSpPr>
        <p:spPr>
          <a:xfrm>
            <a:off x="11018520" y="3346704"/>
            <a:ext cx="768096" cy="475488"/>
          </a:xfrm>
          <a:prstGeom prst="rect">
            <a:avLst/>
          </a:prstGeom>
          <a:solidFill>
            <a:srgbClr val="F7F9FB"/>
          </a:solidFill>
          <a:ln w="6350">
            <a:solidFill>
              <a:srgbClr val="D3DCE5"/>
            </a:solidFill>
            <a:prstDash val="solid"/>
          </a:ln>
        </p:spPr>
      </p:sp>
      <p:sp>
        <p:nvSpPr>
          <p:cNvPr id="72" name="Text 70"/>
          <p:cNvSpPr txBox="1"/>
          <p:nvPr/>
        </p:nvSpPr>
        <p:spPr>
          <a:xfrm>
            <a:off x="11082528" y="3346704"/>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net cash</a:t>
            </a:r>
            <a:endParaRPr lang="en-US" sz="880" dirty="0"/>
          </a:p>
        </p:txBody>
      </p:sp>
      <p:sp>
        <p:nvSpPr>
          <p:cNvPr id="73" name="Shape 71"/>
          <p:cNvSpPr/>
          <p:nvPr/>
        </p:nvSpPr>
        <p:spPr>
          <a:xfrm>
            <a:off x="411480" y="3822192"/>
            <a:ext cx="1691640" cy="475488"/>
          </a:xfrm>
          <a:prstGeom prst="rect">
            <a:avLst/>
          </a:prstGeom>
          <a:solidFill>
            <a:srgbClr val="FFFFFF"/>
          </a:solidFill>
          <a:ln w="6350">
            <a:solidFill>
              <a:srgbClr val="D3DCE5"/>
            </a:solidFill>
            <a:prstDash val="solid"/>
          </a:ln>
        </p:spPr>
      </p:sp>
      <p:sp>
        <p:nvSpPr>
          <p:cNvPr id="74" name="Text 72"/>
          <p:cNvSpPr txBox="1"/>
          <p:nvPr/>
        </p:nvSpPr>
        <p:spPr>
          <a:xfrm>
            <a:off x="475488" y="3822192"/>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Mineral Resources</a:t>
            </a:r>
            <a:endParaRPr lang="en-US" sz="880" dirty="0"/>
          </a:p>
        </p:txBody>
      </p:sp>
      <p:sp>
        <p:nvSpPr>
          <p:cNvPr id="75" name="Shape 73"/>
          <p:cNvSpPr/>
          <p:nvPr/>
        </p:nvSpPr>
        <p:spPr>
          <a:xfrm>
            <a:off x="2103120" y="3822192"/>
            <a:ext cx="2148840" cy="475488"/>
          </a:xfrm>
          <a:prstGeom prst="rect">
            <a:avLst/>
          </a:prstGeom>
          <a:solidFill>
            <a:srgbClr val="FFFFFF"/>
          </a:solidFill>
          <a:ln w="6350">
            <a:solidFill>
              <a:srgbClr val="D3DCE5"/>
            </a:solidFill>
            <a:prstDash val="solid"/>
          </a:ln>
        </p:spPr>
      </p:sp>
      <p:sp>
        <p:nvSpPr>
          <p:cNvPr id="76" name="Text 74"/>
          <p:cNvSpPr txBox="1"/>
          <p:nvPr/>
        </p:nvSpPr>
        <p:spPr>
          <a:xfrm>
            <a:off x="2167128" y="3822192"/>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Lithium, iron ore, services</a:t>
            </a:r>
            <a:endParaRPr lang="en-US" sz="880" dirty="0"/>
          </a:p>
        </p:txBody>
      </p:sp>
      <p:sp>
        <p:nvSpPr>
          <p:cNvPr id="77" name="Shape 75"/>
          <p:cNvSpPr/>
          <p:nvPr/>
        </p:nvSpPr>
        <p:spPr>
          <a:xfrm>
            <a:off x="4251960" y="3822192"/>
            <a:ext cx="4160520" cy="475488"/>
          </a:xfrm>
          <a:prstGeom prst="rect">
            <a:avLst/>
          </a:prstGeom>
          <a:solidFill>
            <a:srgbClr val="FFFFFF"/>
          </a:solidFill>
          <a:ln w="6350">
            <a:solidFill>
              <a:srgbClr val="D3DCE5"/>
            </a:solidFill>
            <a:prstDash val="solid"/>
          </a:ln>
        </p:spPr>
      </p:sp>
      <p:sp>
        <p:nvSpPr>
          <p:cNvPr id="78" name="Text 76"/>
          <p:cNvSpPr txBox="1"/>
          <p:nvPr/>
        </p:nvSpPr>
        <p:spPr>
          <a:xfrm>
            <a:off x="4315968" y="3822192"/>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Lithium exposure diluted by services and iron ore, and constrained by gearing.</a:t>
            </a:r>
            <a:endParaRPr lang="en-US" sz="880" dirty="0"/>
          </a:p>
        </p:txBody>
      </p:sp>
      <p:sp>
        <p:nvSpPr>
          <p:cNvPr id="79" name="Shape 77"/>
          <p:cNvSpPr/>
          <p:nvPr/>
        </p:nvSpPr>
        <p:spPr>
          <a:xfrm>
            <a:off x="8412480" y="3822192"/>
            <a:ext cx="1600200" cy="475488"/>
          </a:xfrm>
          <a:prstGeom prst="rect">
            <a:avLst/>
          </a:prstGeom>
          <a:solidFill>
            <a:srgbClr val="FFFFFF"/>
          </a:solidFill>
          <a:ln w="6350">
            <a:solidFill>
              <a:srgbClr val="D3DCE5"/>
            </a:solidFill>
            <a:prstDash val="solid"/>
          </a:ln>
        </p:spPr>
      </p:sp>
      <p:sp>
        <p:nvSpPr>
          <p:cNvPr id="80" name="Text 78"/>
          <p:cNvSpPr txBox="1"/>
          <p:nvPr/>
        </p:nvSpPr>
        <p:spPr>
          <a:xfrm>
            <a:off x="8476488" y="3822192"/>
            <a:ext cx="1472184" cy="475488"/>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Diluted</a:t>
            </a:r>
            <a:endParaRPr lang="en-US" sz="880" dirty="0"/>
          </a:p>
        </p:txBody>
      </p:sp>
      <p:sp>
        <p:nvSpPr>
          <p:cNvPr id="81" name="Shape 79"/>
          <p:cNvSpPr/>
          <p:nvPr/>
        </p:nvSpPr>
        <p:spPr>
          <a:xfrm>
            <a:off x="10012680" y="3822192"/>
            <a:ext cx="1005840" cy="475488"/>
          </a:xfrm>
          <a:prstGeom prst="rect">
            <a:avLst/>
          </a:prstGeom>
          <a:solidFill>
            <a:srgbClr val="FFFFFF"/>
          </a:solidFill>
          <a:ln w="6350">
            <a:solidFill>
              <a:srgbClr val="D3DCE5"/>
            </a:solidFill>
            <a:prstDash val="solid"/>
          </a:ln>
        </p:spPr>
      </p:sp>
      <p:sp>
        <p:nvSpPr>
          <p:cNvPr id="82" name="Text 80"/>
          <p:cNvSpPr txBox="1"/>
          <p:nvPr/>
        </p:nvSpPr>
        <p:spPr>
          <a:xfrm>
            <a:off x="10076688" y="3822192"/>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7.8x</a:t>
            </a:r>
            <a:endParaRPr lang="en-US" sz="880" dirty="0"/>
          </a:p>
        </p:txBody>
      </p:sp>
      <p:sp>
        <p:nvSpPr>
          <p:cNvPr id="83" name="Shape 81"/>
          <p:cNvSpPr/>
          <p:nvPr/>
        </p:nvSpPr>
        <p:spPr>
          <a:xfrm>
            <a:off x="11018520" y="3822192"/>
            <a:ext cx="768096" cy="475488"/>
          </a:xfrm>
          <a:prstGeom prst="rect">
            <a:avLst/>
          </a:prstGeom>
          <a:solidFill>
            <a:srgbClr val="FFFFFF"/>
          </a:solidFill>
          <a:ln w="6350">
            <a:solidFill>
              <a:srgbClr val="D3DCE5"/>
            </a:solidFill>
            <a:prstDash val="solid"/>
          </a:ln>
        </p:spPr>
      </p:sp>
      <p:sp>
        <p:nvSpPr>
          <p:cNvPr id="84" name="Text 82"/>
          <p:cNvSpPr txBox="1"/>
          <p:nvPr/>
        </p:nvSpPr>
        <p:spPr>
          <a:xfrm>
            <a:off x="11082528" y="3822192"/>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US$4.3bn</a:t>
            </a:r>
            <a:endParaRPr lang="en-US" sz="880" dirty="0"/>
          </a:p>
        </p:txBody>
      </p:sp>
      <p:sp>
        <p:nvSpPr>
          <p:cNvPr id="85" name="Shape 83"/>
          <p:cNvSpPr/>
          <p:nvPr/>
        </p:nvSpPr>
        <p:spPr>
          <a:xfrm>
            <a:off x="411480" y="4297680"/>
            <a:ext cx="1691640" cy="475488"/>
          </a:xfrm>
          <a:prstGeom prst="rect">
            <a:avLst/>
          </a:prstGeom>
          <a:solidFill>
            <a:srgbClr val="D6EBE7"/>
          </a:solidFill>
          <a:ln w="6350">
            <a:solidFill>
              <a:srgbClr val="D3DCE5"/>
            </a:solidFill>
            <a:prstDash val="solid"/>
          </a:ln>
        </p:spPr>
      </p:sp>
      <p:sp>
        <p:nvSpPr>
          <p:cNvPr id="86" name="Text 84"/>
          <p:cNvSpPr txBox="1"/>
          <p:nvPr/>
        </p:nvSpPr>
        <p:spPr>
          <a:xfrm>
            <a:off x="475488" y="4297680"/>
            <a:ext cx="1563624" cy="475488"/>
          </a:xfrm>
          <a:prstGeom prst="rect">
            <a:avLst/>
          </a:prstGeom>
          <a:noFill/>
          <a:ln/>
        </p:spPr>
        <p:txBody>
          <a:bodyPr wrap="square" lIns="0" tIns="0" rIns="0" bIns="0" rtlCol="0" anchor="ctr"/>
          <a:lstStyle/>
          <a:p>
            <a:pPr algn="l" indent="0" marL="0">
              <a:buNone/>
            </a:pPr>
            <a:r>
              <a:rPr lang="en-US" sz="880" b="1" dirty="0">
                <a:solidFill>
                  <a:srgbClr val="0E7C6B"/>
                </a:solidFill>
                <a:latin typeface="Calibri" pitchFamily="34" charset="0"/>
                <a:ea typeface="Calibri" pitchFamily="34" charset="-122"/>
                <a:cs typeface="Calibri" pitchFamily="34" charset="-120"/>
              </a:rPr>
              <a:t>PLS Group</a:t>
            </a:r>
            <a:endParaRPr lang="en-US" sz="880" dirty="0"/>
          </a:p>
        </p:txBody>
      </p:sp>
      <p:sp>
        <p:nvSpPr>
          <p:cNvPr id="87" name="Shape 85"/>
          <p:cNvSpPr/>
          <p:nvPr/>
        </p:nvSpPr>
        <p:spPr>
          <a:xfrm>
            <a:off x="2103120" y="4297680"/>
            <a:ext cx="2148840" cy="475488"/>
          </a:xfrm>
          <a:prstGeom prst="rect">
            <a:avLst/>
          </a:prstGeom>
          <a:solidFill>
            <a:srgbClr val="D6EBE7"/>
          </a:solidFill>
          <a:ln w="6350">
            <a:solidFill>
              <a:srgbClr val="D3DCE5"/>
            </a:solidFill>
            <a:prstDash val="solid"/>
          </a:ln>
        </p:spPr>
      </p:sp>
      <p:sp>
        <p:nvSpPr>
          <p:cNvPr id="88" name="Text 86"/>
          <p:cNvSpPr txBox="1"/>
          <p:nvPr/>
        </p:nvSpPr>
        <p:spPr>
          <a:xfrm>
            <a:off x="2167128" y="4297680"/>
            <a:ext cx="2020824" cy="475488"/>
          </a:xfrm>
          <a:prstGeom prst="rect">
            <a:avLst/>
          </a:prstGeom>
          <a:noFill/>
          <a:ln/>
        </p:spPr>
        <p:txBody>
          <a:bodyPr wrap="square" lIns="0" tIns="0" rIns="0" bIns="0" rtlCol="0" anchor="ctr"/>
          <a:lstStyle/>
          <a:p>
            <a:pPr algn="l" indent="0" marL="0">
              <a:buNone/>
            </a:pPr>
            <a:r>
              <a:rPr lang="en-US" sz="880" dirty="0">
                <a:solidFill>
                  <a:srgbClr val="0E7C6B"/>
                </a:solidFill>
                <a:latin typeface="Calibri" pitchFamily="34" charset="0"/>
                <a:ea typeface="Calibri" pitchFamily="34" charset="-122"/>
                <a:cs typeface="Calibri" pitchFamily="34" charset="-120"/>
              </a:rPr>
              <a:t>Lithium, pure play</a:t>
            </a:r>
            <a:endParaRPr lang="en-US" sz="880" dirty="0"/>
          </a:p>
        </p:txBody>
      </p:sp>
      <p:sp>
        <p:nvSpPr>
          <p:cNvPr id="89" name="Shape 87"/>
          <p:cNvSpPr/>
          <p:nvPr/>
        </p:nvSpPr>
        <p:spPr>
          <a:xfrm>
            <a:off x="4251960" y="4297680"/>
            <a:ext cx="4160520" cy="475488"/>
          </a:xfrm>
          <a:prstGeom prst="rect">
            <a:avLst/>
          </a:prstGeom>
          <a:solidFill>
            <a:srgbClr val="D6EBE7"/>
          </a:solidFill>
          <a:ln w="6350">
            <a:solidFill>
              <a:srgbClr val="D3DCE5"/>
            </a:solidFill>
            <a:prstDash val="solid"/>
          </a:ln>
        </p:spPr>
      </p:sp>
      <p:sp>
        <p:nvSpPr>
          <p:cNvPr id="90" name="Text 88"/>
          <p:cNvSpPr txBox="1"/>
          <p:nvPr/>
        </p:nvSpPr>
        <p:spPr>
          <a:xfrm>
            <a:off x="4315968" y="4297680"/>
            <a:ext cx="4032504" cy="475488"/>
          </a:xfrm>
          <a:prstGeom prst="rect">
            <a:avLst/>
          </a:prstGeom>
          <a:noFill/>
          <a:ln/>
        </p:spPr>
        <p:txBody>
          <a:bodyPr wrap="square" lIns="0" tIns="0" rIns="0" bIns="0" rtlCol="0" anchor="ctr"/>
          <a:lstStyle/>
          <a:p>
            <a:pPr algn="l" indent="0" marL="0">
              <a:buNone/>
            </a:pPr>
            <a:r>
              <a:rPr lang="en-US" sz="880" dirty="0">
                <a:solidFill>
                  <a:srgbClr val="10233A"/>
                </a:solidFill>
                <a:latin typeface="Calibri" pitchFamily="34" charset="0"/>
                <a:ea typeface="Calibri" pitchFamily="34" charset="-122"/>
                <a:cs typeface="Calibri" pitchFamily="34" charset="-120"/>
              </a:rPr>
              <a:t>The product IS the transition, and the carbon intensity of the tonne decides which market will take it.</a:t>
            </a:r>
            <a:endParaRPr lang="en-US" sz="880" dirty="0"/>
          </a:p>
        </p:txBody>
      </p:sp>
      <p:sp>
        <p:nvSpPr>
          <p:cNvPr id="91" name="Shape 89"/>
          <p:cNvSpPr/>
          <p:nvPr/>
        </p:nvSpPr>
        <p:spPr>
          <a:xfrm>
            <a:off x="8412480" y="4297680"/>
            <a:ext cx="1600200" cy="475488"/>
          </a:xfrm>
          <a:prstGeom prst="rect">
            <a:avLst/>
          </a:prstGeom>
          <a:solidFill>
            <a:srgbClr val="D6EBE7"/>
          </a:solidFill>
          <a:ln w="6350">
            <a:solidFill>
              <a:srgbClr val="D3DCE5"/>
            </a:solidFill>
            <a:prstDash val="solid"/>
          </a:ln>
        </p:spPr>
      </p:sp>
      <p:sp>
        <p:nvSpPr>
          <p:cNvPr id="92" name="Text 90"/>
          <p:cNvSpPr txBox="1"/>
          <p:nvPr/>
        </p:nvSpPr>
        <p:spPr>
          <a:xfrm>
            <a:off x="8476488" y="4297680"/>
            <a:ext cx="1472184" cy="475488"/>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Offensive</a:t>
            </a:r>
            <a:endParaRPr lang="en-US" sz="880" dirty="0"/>
          </a:p>
        </p:txBody>
      </p:sp>
      <p:sp>
        <p:nvSpPr>
          <p:cNvPr id="93" name="Shape 91"/>
          <p:cNvSpPr/>
          <p:nvPr/>
        </p:nvSpPr>
        <p:spPr>
          <a:xfrm>
            <a:off x="10012680" y="4297680"/>
            <a:ext cx="1005840" cy="475488"/>
          </a:xfrm>
          <a:prstGeom prst="rect">
            <a:avLst/>
          </a:prstGeom>
          <a:solidFill>
            <a:srgbClr val="D6EBE7"/>
          </a:solidFill>
          <a:ln w="6350">
            <a:solidFill>
              <a:srgbClr val="D3DCE5"/>
            </a:solidFill>
            <a:prstDash val="solid"/>
          </a:ln>
        </p:spPr>
      </p:sp>
      <p:sp>
        <p:nvSpPr>
          <p:cNvPr id="94" name="Text 92"/>
          <p:cNvSpPr txBox="1"/>
          <p:nvPr/>
        </p:nvSpPr>
        <p:spPr>
          <a:xfrm>
            <a:off x="10076688" y="4297680"/>
            <a:ext cx="877824" cy="475488"/>
          </a:xfrm>
          <a:prstGeom prst="rect">
            <a:avLst/>
          </a:prstGeom>
          <a:noFill/>
          <a:ln/>
        </p:spPr>
        <p:txBody>
          <a:bodyPr wrap="square" lIns="0" tIns="0" rIns="0" bIns="0" rtlCol="0" anchor="ctr"/>
          <a:lstStyle/>
          <a:p>
            <a:pPr algn="ctr" indent="0" marL="0">
              <a:buNone/>
            </a:pPr>
            <a:r>
              <a:rPr lang="en-US" sz="880" dirty="0">
                <a:solidFill>
                  <a:srgbClr val="10233A"/>
                </a:solidFill>
                <a:latin typeface="Calibri" pitchFamily="34" charset="0"/>
                <a:ea typeface="Calibri" pitchFamily="34" charset="-122"/>
                <a:cs typeface="Calibri" pitchFamily="34" charset="-120"/>
              </a:rPr>
              <a:t>26.8x</a:t>
            </a:r>
            <a:endParaRPr lang="en-US" sz="880" dirty="0"/>
          </a:p>
        </p:txBody>
      </p:sp>
      <p:sp>
        <p:nvSpPr>
          <p:cNvPr id="95" name="Shape 93"/>
          <p:cNvSpPr/>
          <p:nvPr/>
        </p:nvSpPr>
        <p:spPr>
          <a:xfrm>
            <a:off x="11018520" y="4297680"/>
            <a:ext cx="768096" cy="475488"/>
          </a:xfrm>
          <a:prstGeom prst="rect">
            <a:avLst/>
          </a:prstGeom>
          <a:solidFill>
            <a:srgbClr val="D6EBE7"/>
          </a:solidFill>
          <a:ln w="6350">
            <a:solidFill>
              <a:srgbClr val="D3DCE5"/>
            </a:solidFill>
            <a:prstDash val="solid"/>
          </a:ln>
        </p:spPr>
      </p:sp>
      <p:sp>
        <p:nvSpPr>
          <p:cNvPr id="96" name="Text 94"/>
          <p:cNvSpPr txBox="1"/>
          <p:nvPr/>
        </p:nvSpPr>
        <p:spPr>
          <a:xfrm>
            <a:off x="11082528" y="4297680"/>
            <a:ext cx="640080" cy="475488"/>
          </a:xfrm>
          <a:prstGeom prst="rect">
            <a:avLst/>
          </a:prstGeom>
          <a:noFill/>
          <a:ln/>
        </p:spPr>
        <p:txBody>
          <a:bodyPr wrap="square" lIns="0" tIns="0" rIns="0" bIns="0" rtlCol="0" anchor="ctr"/>
          <a:lstStyle/>
          <a:p>
            <a:pPr algn="ctr" indent="0" marL="0">
              <a:buNone/>
            </a:pPr>
            <a:r>
              <a:rPr lang="en-US" sz="880" dirty="0">
                <a:solidFill>
                  <a:srgbClr val="0E7C6B"/>
                </a:solidFill>
                <a:latin typeface="Calibri" pitchFamily="34" charset="0"/>
                <a:ea typeface="Calibri" pitchFamily="34" charset="-122"/>
                <a:cs typeface="Calibri" pitchFamily="34" charset="-120"/>
              </a:rPr>
              <a:t>net cash</a:t>
            </a:r>
            <a:endParaRPr lang="en-US" sz="880" dirty="0"/>
          </a:p>
        </p:txBody>
      </p:sp>
      <p:sp>
        <p:nvSpPr>
          <p:cNvPr id="97" name="Shape 95"/>
          <p:cNvSpPr/>
          <p:nvPr/>
        </p:nvSpPr>
        <p:spPr>
          <a:xfrm>
            <a:off x="411480" y="4736592"/>
            <a:ext cx="5577840" cy="1463040"/>
          </a:xfrm>
          <a:prstGeom prst="rect">
            <a:avLst/>
          </a:prstGeom>
          <a:solidFill>
            <a:srgbClr val="F7F9FB"/>
          </a:solidFill>
          <a:ln w="9525">
            <a:solidFill>
              <a:srgbClr val="D3DCE5"/>
            </a:solidFill>
            <a:prstDash val="solid"/>
          </a:ln>
        </p:spPr>
      </p:sp>
      <p:sp>
        <p:nvSpPr>
          <p:cNvPr id="98" name="Text 96"/>
          <p:cNvSpPr txBox="1"/>
          <p:nvPr/>
        </p:nvSpPr>
        <p:spPr>
          <a:xfrm>
            <a:off x="576072" y="486460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screen this case actually asks for</a:t>
            </a:r>
            <a:endParaRPr lang="en-US" sz="1150" dirty="0"/>
          </a:p>
        </p:txBody>
      </p:sp>
      <p:sp>
        <p:nvSpPr>
          <p:cNvPr id="99" name="Text 97"/>
          <p:cNvSpPr txBox="1"/>
          <p:nvPr/>
        </p:nvSpPr>
        <p:spPr>
          <a:xfrm>
            <a:off x="576072" y="5193792"/>
            <a:ext cx="5248656" cy="914400"/>
          </a:xfrm>
          <a:prstGeom prst="rect">
            <a:avLst/>
          </a:prstGeom>
          <a:noFill/>
          <a:ln/>
        </p:spPr>
        <p:txBody>
          <a:bodyPr wrap="square" lIns="0" tIns="0" rIns="0" bIns="0" rtlCol="0" anchor="t"/>
          <a:lstStyle/>
          <a:p>
            <a:pPr indent="0" marL="0">
              <a:lnSpc>
                <a:spcPct val="105000"/>
              </a:lnSpc>
              <a:buNone/>
            </a:pPr>
            <a:r>
              <a:rPr lang="en-US" sz="950" dirty="0">
                <a:solidFill>
                  <a:srgbClr val="1B2733"/>
                </a:solidFill>
                <a:latin typeface="Calibri" pitchFamily="34" charset="0"/>
                <a:ea typeface="Calibri" pitchFamily="34" charset="-122"/>
                <a:cs typeface="Calibri" pitchFamily="34" charset="-120"/>
              </a:rPr>
              <a:t>Porter and Kramer's test is whether solving a societal problem creates a new pool of value. Four of these six use ESG to protect cash flows they already have. That is competent risk management, and it is not shared value. Only PLS sits in a market where the environmental outcome is the reason the customer exists.</a:t>
            </a:r>
            <a:endParaRPr lang="en-US" sz="950" dirty="0"/>
          </a:p>
        </p:txBody>
      </p:sp>
      <p:sp>
        <p:nvSpPr>
          <p:cNvPr id="100" name="Shape 98"/>
          <p:cNvSpPr/>
          <p:nvPr/>
        </p:nvSpPr>
        <p:spPr>
          <a:xfrm>
            <a:off x="6172200" y="4736592"/>
            <a:ext cx="5614416" cy="1463040"/>
          </a:xfrm>
          <a:prstGeom prst="rect">
            <a:avLst/>
          </a:prstGeom>
          <a:solidFill>
            <a:srgbClr val="FBEBD9"/>
          </a:solidFill>
          <a:ln w="9525">
            <a:solidFill>
              <a:srgbClr val="E8C9A3"/>
            </a:solidFill>
            <a:prstDash val="solid"/>
          </a:ln>
        </p:spPr>
      </p:sp>
      <p:sp>
        <p:nvSpPr>
          <p:cNvPr id="101" name="Text 99"/>
          <p:cNvSpPr txBox="1"/>
          <p:nvPr/>
        </p:nvSpPr>
        <p:spPr>
          <a:xfrm>
            <a:off x="6336792" y="4864608"/>
            <a:ext cx="528523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caveat</a:t>
            </a:r>
            <a:endParaRPr lang="en-US" sz="1150" dirty="0"/>
          </a:p>
        </p:txBody>
      </p:sp>
      <p:sp>
        <p:nvSpPr>
          <p:cNvPr id="102" name="Text 100"/>
          <p:cNvSpPr txBox="1"/>
          <p:nvPr/>
        </p:nvSpPr>
        <p:spPr>
          <a:xfrm>
            <a:off x="6336792" y="5193792"/>
            <a:ext cx="5285232" cy="914400"/>
          </a:xfrm>
          <a:prstGeom prst="rect">
            <a:avLst/>
          </a:prstGeom>
          <a:noFill/>
          <a:ln/>
        </p:spPr>
        <p:txBody>
          <a:bodyPr wrap="square" lIns="0" tIns="0" rIns="0" bIns="0" rtlCol="0" anchor="t"/>
          <a:lstStyle/>
          <a:p>
            <a:pPr indent="0" marL="0">
              <a:lnSpc>
                <a:spcPct val="105000"/>
              </a:lnSpc>
              <a:buNone/>
            </a:pPr>
            <a:r>
              <a:rPr lang="en-US" sz="950" dirty="0">
                <a:solidFill>
                  <a:srgbClr val="1B2733"/>
                </a:solidFill>
                <a:latin typeface="Calibri" pitchFamily="34" charset="0"/>
                <a:ea typeface="Calibri" pitchFamily="34" charset="-122"/>
                <a:cs typeface="Calibri" pitchFamily="34" charset="-120"/>
              </a:rPr>
              <a:t>PLS is also the riskiest of the six: one commodity, one principal asset, and a price that has moved by a factor of three in two years. A shared-value mandate does not suspend that. It is why our bear case is severe and why we size the downstream prize outside the target rather than inside it.</a:t>
            </a:r>
            <a:endParaRPr lang="en-US" sz="950" dirty="0"/>
          </a:p>
        </p:txBody>
      </p:sp>
      <p:sp>
        <p:nvSpPr>
          <p:cNvPr id="103" name="Text 10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FY26 results; data-vendor multiples, August 2026 (providers disagree materially on EV/EBITDA across this peer set - see appendix). PLS's 26.8x is trailing FY26 and falls to roughly 9x on FY27 estimates as the earnings recovery annualises.</a:t>
            </a:r>
            <a:endParaRPr lang="en-US" sz="750" dirty="0"/>
          </a:p>
        </p:txBody>
      </p:sp>
      <p:sp>
        <p:nvSpPr>
          <p:cNvPr id="104" name="Text 10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01</a:t>
            </a:r>
            <a:endParaRPr lang="en-US" sz="8800" dirty="0"/>
          </a:p>
        </p:txBody>
      </p:sp>
      <p:sp>
        <p:nvSpPr>
          <p:cNvPr id="3" name="Text 1"/>
          <p:cNvSpPr txBox="1"/>
          <p:nvPr/>
        </p:nvSpPr>
        <p:spPr>
          <a:xfrm>
            <a:off x="2148840" y="2103120"/>
            <a:ext cx="841248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Company and industry</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What PLS is, what the last financial year proved, and what has actually changed in the lithium market.</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03  Company overview     04  The cycle has turned, with a saw-tooth     05  What changed structurally     06  The cost curve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PLS came out of the downturn stronger than it went in</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Record volumes, a 59% margin, A$2.29bn of cash and a reinstated dividend - achieved while the lithium price was still recovering.</a:t>
            </a:r>
            <a:endParaRPr lang="en-US" sz="1200" dirty="0"/>
          </a:p>
        </p:txBody>
      </p:sp>
      <p:sp>
        <p:nvSpPr>
          <p:cNvPr id="13" name="Text 11"/>
          <p:cNvSpPr txBox="1"/>
          <p:nvPr/>
        </p:nvSpPr>
        <p:spPr>
          <a:xfrm>
            <a:off x="411480" y="1673352"/>
            <a:ext cx="2697480" cy="566928"/>
          </a:xfrm>
          <a:prstGeom prst="rect">
            <a:avLst/>
          </a:prstGeom>
          <a:noFill/>
          <a:ln/>
        </p:spPr>
        <p:txBody>
          <a:bodyPr wrap="square" lIns="0" tIns="0" rIns="0" bIns="0" rtlCol="0" anchor="b"/>
          <a:lstStyle/>
          <a:p>
            <a:pPr algn="l" indent="0" marL="0">
              <a:buNone/>
            </a:pPr>
            <a:r>
              <a:rPr lang="en-US" sz="2700" b="1" dirty="0">
                <a:solidFill>
                  <a:srgbClr val="10233A"/>
                </a:solidFill>
                <a:latin typeface="Cambria" pitchFamily="34" charset="0"/>
                <a:ea typeface="Cambria" pitchFamily="34" charset="-122"/>
                <a:cs typeface="Cambria" pitchFamily="34" charset="-120"/>
              </a:rPr>
              <a:t>879.5kt</a:t>
            </a:r>
            <a:endParaRPr lang="en-US" sz="2700" dirty="0"/>
          </a:p>
        </p:txBody>
      </p:sp>
      <p:sp>
        <p:nvSpPr>
          <p:cNvPr id="14" name="Text 12"/>
          <p:cNvSpPr txBox="1"/>
          <p:nvPr/>
        </p:nvSpPr>
        <p:spPr>
          <a:xfrm>
            <a:off x="41148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Spodumene produced, FY26</a:t>
            </a:r>
            <a:endParaRPr lang="en-US" sz="1000" dirty="0"/>
          </a:p>
        </p:txBody>
      </p:sp>
      <p:sp>
        <p:nvSpPr>
          <p:cNvPr id="15" name="Text 13"/>
          <p:cNvSpPr txBox="1"/>
          <p:nvPr/>
        </p:nvSpPr>
        <p:spPr>
          <a:xfrm>
            <a:off x="41148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Up 17%. Beat guidance by about 10kt.</a:t>
            </a:r>
            <a:endParaRPr lang="en-US" sz="850" dirty="0"/>
          </a:p>
        </p:txBody>
      </p:sp>
      <p:sp>
        <p:nvSpPr>
          <p:cNvPr id="16" name="Text 14"/>
          <p:cNvSpPr txBox="1"/>
          <p:nvPr/>
        </p:nvSpPr>
        <p:spPr>
          <a:xfrm>
            <a:off x="3291840" y="1673352"/>
            <a:ext cx="2697480" cy="566928"/>
          </a:xfrm>
          <a:prstGeom prst="rect">
            <a:avLst/>
          </a:prstGeom>
          <a:noFill/>
          <a:ln/>
        </p:spPr>
        <p:txBody>
          <a:bodyPr wrap="square" lIns="0" tIns="0" rIns="0" bIns="0" rtlCol="0" anchor="b"/>
          <a:lstStyle/>
          <a:p>
            <a:pPr algn="l" indent="0" marL="0">
              <a:buNone/>
            </a:pPr>
            <a:r>
              <a:rPr lang="en-US" sz="2700" b="1" dirty="0">
                <a:solidFill>
                  <a:srgbClr val="10233A"/>
                </a:solidFill>
                <a:latin typeface="Cambria" pitchFamily="34" charset="0"/>
                <a:ea typeface="Cambria" pitchFamily="34" charset="-122"/>
                <a:cs typeface="Cambria" pitchFamily="34" charset="-120"/>
              </a:rPr>
              <a:t>A$1,934m</a:t>
            </a:r>
            <a:endParaRPr lang="en-US" sz="2700" dirty="0"/>
          </a:p>
        </p:txBody>
      </p:sp>
      <p:sp>
        <p:nvSpPr>
          <p:cNvPr id="17" name="Text 15"/>
          <p:cNvSpPr txBox="1"/>
          <p:nvPr/>
        </p:nvSpPr>
        <p:spPr>
          <a:xfrm>
            <a:off x="329184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Revenue, FY26</a:t>
            </a:r>
            <a:endParaRPr lang="en-US" sz="1000" dirty="0"/>
          </a:p>
        </p:txBody>
      </p:sp>
      <p:sp>
        <p:nvSpPr>
          <p:cNvPr id="18" name="Text 16"/>
          <p:cNvSpPr txBox="1"/>
          <p:nvPr/>
        </p:nvSpPr>
        <p:spPr>
          <a:xfrm>
            <a:off x="329184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Up 152% on FY25's A$769m.</a:t>
            </a:r>
            <a:endParaRPr lang="en-US" sz="850" dirty="0"/>
          </a:p>
        </p:txBody>
      </p:sp>
      <p:sp>
        <p:nvSpPr>
          <p:cNvPr id="19" name="Text 17"/>
          <p:cNvSpPr txBox="1"/>
          <p:nvPr/>
        </p:nvSpPr>
        <p:spPr>
          <a:xfrm>
            <a:off x="6172200" y="1673352"/>
            <a:ext cx="2697480" cy="566928"/>
          </a:xfrm>
          <a:prstGeom prst="rect">
            <a:avLst/>
          </a:prstGeom>
          <a:noFill/>
          <a:ln/>
        </p:spPr>
        <p:txBody>
          <a:bodyPr wrap="square" lIns="0" tIns="0" rIns="0" bIns="0" rtlCol="0" anchor="b"/>
          <a:lstStyle/>
          <a:p>
            <a:pPr algn="l" indent="0" marL="0">
              <a:buNone/>
            </a:pPr>
            <a:r>
              <a:rPr lang="en-US" sz="2700" b="1" dirty="0">
                <a:solidFill>
                  <a:srgbClr val="0E7C6B"/>
                </a:solidFill>
                <a:latin typeface="Cambria" pitchFamily="34" charset="0"/>
                <a:ea typeface="Cambria" pitchFamily="34" charset="-122"/>
                <a:cs typeface="Cambria" pitchFamily="34" charset="-120"/>
              </a:rPr>
              <a:t>A$1,137m</a:t>
            </a:r>
            <a:endParaRPr lang="en-US" sz="2700" dirty="0"/>
          </a:p>
        </p:txBody>
      </p:sp>
      <p:sp>
        <p:nvSpPr>
          <p:cNvPr id="20" name="Text 18"/>
          <p:cNvSpPr txBox="1"/>
          <p:nvPr/>
        </p:nvSpPr>
        <p:spPr>
          <a:xfrm>
            <a:off x="617220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Underlying EBITDA</a:t>
            </a:r>
            <a:endParaRPr lang="en-US" sz="1000" dirty="0"/>
          </a:p>
        </p:txBody>
      </p:sp>
      <p:sp>
        <p:nvSpPr>
          <p:cNvPr id="21" name="Text 19"/>
          <p:cNvSpPr txBox="1"/>
          <p:nvPr/>
        </p:nvSpPr>
        <p:spPr>
          <a:xfrm>
            <a:off x="617220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 59% margin, against A$97m in FY25.</a:t>
            </a:r>
            <a:endParaRPr lang="en-US" sz="850" dirty="0"/>
          </a:p>
        </p:txBody>
      </p:sp>
      <p:sp>
        <p:nvSpPr>
          <p:cNvPr id="22" name="Text 20"/>
          <p:cNvSpPr txBox="1"/>
          <p:nvPr/>
        </p:nvSpPr>
        <p:spPr>
          <a:xfrm>
            <a:off x="9052560" y="1673352"/>
            <a:ext cx="2697480" cy="566928"/>
          </a:xfrm>
          <a:prstGeom prst="rect">
            <a:avLst/>
          </a:prstGeom>
          <a:noFill/>
          <a:ln/>
        </p:spPr>
        <p:txBody>
          <a:bodyPr wrap="square" lIns="0" tIns="0" rIns="0" bIns="0" rtlCol="0" anchor="b"/>
          <a:lstStyle/>
          <a:p>
            <a:pPr algn="l" indent="0" marL="0">
              <a:buNone/>
            </a:pPr>
            <a:r>
              <a:rPr lang="en-US" sz="2700" b="1" dirty="0">
                <a:solidFill>
                  <a:srgbClr val="0E7C6B"/>
                </a:solidFill>
                <a:latin typeface="Cambria" pitchFamily="34" charset="0"/>
                <a:ea typeface="Cambria" pitchFamily="34" charset="-122"/>
                <a:cs typeface="Cambria" pitchFamily="34" charset="-120"/>
              </a:rPr>
              <a:t>A$569/t</a:t>
            </a:r>
            <a:endParaRPr lang="en-US" sz="2700" dirty="0"/>
          </a:p>
        </p:txBody>
      </p:sp>
      <p:sp>
        <p:nvSpPr>
          <p:cNvPr id="23" name="Text 21"/>
          <p:cNvSpPr txBox="1"/>
          <p:nvPr/>
        </p:nvSpPr>
        <p:spPr>
          <a:xfrm>
            <a:off x="905256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Unit cost, FOB</a:t>
            </a:r>
            <a:endParaRPr lang="en-US" sz="1000" dirty="0"/>
          </a:p>
        </p:txBody>
      </p:sp>
      <p:sp>
        <p:nvSpPr>
          <p:cNvPr id="24" name="Text 22"/>
          <p:cNvSpPr txBox="1"/>
          <p:nvPr/>
        </p:nvSpPr>
        <p:spPr>
          <a:xfrm>
            <a:off x="905256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Down 9% while volumes rose 17%.</a:t>
            </a:r>
            <a:endParaRPr lang="en-US" sz="850" dirty="0"/>
          </a:p>
        </p:txBody>
      </p:sp>
      <p:graphicFrame>
        <p:nvGraphicFramePr>
          <p:cNvPr id="25" name="Chart 0" descr=""/>
          <p:cNvGraphicFramePr/>
          <p:nvPr/>
        </p:nvGraphicFramePr>
        <p:xfrm>
          <a:off x="411480" y="2816352"/>
          <a:ext cx="5532120" cy="3017520"/>
        </p:xfrm>
        <a:graphic xmlns:a="http://schemas.openxmlformats.org/drawingml/2006/main">
          <a:graphicData uri="http://schemas.openxmlformats.org/drawingml/2006/chart">
            <c:chart xmlns:c="http://schemas.openxmlformats.org/drawingml/2006/chart" r:id="rId1"/>
          </a:graphicData>
        </a:graphic>
      </p:graphicFrame>
      <p:sp>
        <p:nvSpPr>
          <p:cNvPr id="26" name="Shape 23"/>
          <p:cNvSpPr/>
          <p:nvPr/>
        </p:nvSpPr>
        <p:spPr>
          <a:xfrm>
            <a:off x="6153912" y="2816352"/>
            <a:ext cx="5632704" cy="1225296"/>
          </a:xfrm>
          <a:prstGeom prst="rect">
            <a:avLst/>
          </a:prstGeom>
          <a:solidFill>
            <a:srgbClr val="D6EBE7"/>
          </a:solidFill>
          <a:ln w="9525">
            <a:solidFill>
              <a:srgbClr val="AFD3CC"/>
            </a:solidFill>
            <a:prstDash val="solid"/>
          </a:ln>
        </p:spPr>
      </p:sp>
      <p:sp>
        <p:nvSpPr>
          <p:cNvPr id="27" name="Text 24"/>
          <p:cNvSpPr txBox="1"/>
          <p:nvPr/>
        </p:nvSpPr>
        <p:spPr>
          <a:xfrm>
            <a:off x="6318504" y="2944368"/>
            <a:ext cx="5321808"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number that matters most is not the average</a:t>
            </a:r>
            <a:endParaRPr lang="en-US" sz="1150" dirty="0"/>
          </a:p>
        </p:txBody>
      </p:sp>
      <p:sp>
        <p:nvSpPr>
          <p:cNvPr id="28" name="Text 25"/>
          <p:cNvSpPr txBox="1"/>
          <p:nvPr/>
        </p:nvSpPr>
        <p:spPr>
          <a:xfrm>
            <a:off x="6336792" y="3383280"/>
            <a:ext cx="5266944" cy="548640"/>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20" dirty="0">
                <a:solidFill>
                  <a:srgbClr val="1B2733"/>
                </a:solidFill>
                <a:latin typeface="Calibri" pitchFamily="34" charset="0"/>
                <a:ea typeface="Calibri" pitchFamily="34" charset="-122"/>
                <a:cs typeface="Calibri" pitchFamily="34" charset="-120"/>
              </a:rPr>
              <a:t>The June-2026 quarter realised US$2,107/t on actual grade, against a full-year average of US$1,488/t.</a:t>
            </a:r>
            <a:endParaRPr lang="en-US" sz="920" dirty="0"/>
          </a:p>
          <a:p>
            <a:pPr marL="342900" indent="-342900">
              <a:lnSpc>
                <a:spcPct val="100000"/>
              </a:lnSpc>
              <a:spcAft>
                <a:spcPts val="500"/>
              </a:spcAft>
              <a:buSzPct val="100000"/>
              <a:buChar char="▪"/>
            </a:pPr>
            <a:r>
              <a:rPr lang="en-US" sz="920" dirty="0">
                <a:solidFill>
                  <a:srgbClr val="1B2733"/>
                </a:solidFill>
                <a:latin typeface="Calibri" pitchFamily="34" charset="0"/>
                <a:ea typeface="Calibri" pitchFamily="34" charset="-122"/>
                <a:cs typeface="Calibri" pitchFamily="34" charset="-120"/>
              </a:rPr>
              <a:t>PLS exited FY26 earning roughly 40% more per tonne than it averaged across it. FY27 annualises that.</a:t>
            </a:r>
            <a:endParaRPr lang="en-US" sz="920" dirty="0"/>
          </a:p>
        </p:txBody>
      </p:sp>
      <p:sp>
        <p:nvSpPr>
          <p:cNvPr id="29" name="Shape 26"/>
          <p:cNvSpPr/>
          <p:nvPr/>
        </p:nvSpPr>
        <p:spPr>
          <a:xfrm>
            <a:off x="6153912" y="4206240"/>
            <a:ext cx="1481328" cy="292608"/>
          </a:xfrm>
          <a:prstGeom prst="rect">
            <a:avLst/>
          </a:prstGeom>
          <a:solidFill>
            <a:srgbClr val="10233A"/>
          </a:solidFill>
          <a:ln/>
        </p:spPr>
      </p:sp>
      <p:sp>
        <p:nvSpPr>
          <p:cNvPr id="30" name="Text 27"/>
          <p:cNvSpPr txBox="1"/>
          <p:nvPr/>
        </p:nvSpPr>
        <p:spPr>
          <a:xfrm>
            <a:off x="6217920" y="4206240"/>
            <a:ext cx="1353312" cy="292608"/>
          </a:xfrm>
          <a:prstGeom prst="rect">
            <a:avLst/>
          </a:prstGeom>
          <a:noFill/>
          <a:ln/>
        </p:spPr>
        <p:txBody>
          <a:bodyPr wrap="square" lIns="0" tIns="0" rIns="0" bIns="0" rtlCol="0" anchor="ctr"/>
          <a:lstStyle/>
          <a:p>
            <a:pPr algn="l" indent="0" marL="0">
              <a:buNone/>
            </a:pPr>
            <a:endParaRPr lang="en-US" sz="840" dirty="0"/>
          </a:p>
        </p:txBody>
      </p:sp>
      <p:sp>
        <p:nvSpPr>
          <p:cNvPr id="31" name="Shape 28"/>
          <p:cNvSpPr/>
          <p:nvPr/>
        </p:nvSpPr>
        <p:spPr>
          <a:xfrm>
            <a:off x="7635240" y="4206240"/>
            <a:ext cx="1097280" cy="292608"/>
          </a:xfrm>
          <a:prstGeom prst="rect">
            <a:avLst/>
          </a:prstGeom>
          <a:solidFill>
            <a:srgbClr val="10233A"/>
          </a:solidFill>
          <a:ln/>
        </p:spPr>
      </p:sp>
      <p:sp>
        <p:nvSpPr>
          <p:cNvPr id="32" name="Text 29"/>
          <p:cNvSpPr txBox="1"/>
          <p:nvPr/>
        </p:nvSpPr>
        <p:spPr>
          <a:xfrm>
            <a:off x="7699248" y="4206240"/>
            <a:ext cx="96926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FY26 actual</a:t>
            </a:r>
            <a:endParaRPr lang="en-US" sz="840" dirty="0"/>
          </a:p>
        </p:txBody>
      </p:sp>
      <p:sp>
        <p:nvSpPr>
          <p:cNvPr id="33" name="Shape 30"/>
          <p:cNvSpPr/>
          <p:nvPr/>
        </p:nvSpPr>
        <p:spPr>
          <a:xfrm>
            <a:off x="8732520" y="4206240"/>
            <a:ext cx="1444752" cy="292608"/>
          </a:xfrm>
          <a:prstGeom prst="rect">
            <a:avLst/>
          </a:prstGeom>
          <a:solidFill>
            <a:srgbClr val="10233A"/>
          </a:solidFill>
          <a:ln/>
        </p:spPr>
      </p:sp>
      <p:sp>
        <p:nvSpPr>
          <p:cNvPr id="34" name="Text 31"/>
          <p:cNvSpPr txBox="1"/>
          <p:nvPr/>
        </p:nvSpPr>
        <p:spPr>
          <a:xfrm>
            <a:off x="8796528" y="4206240"/>
            <a:ext cx="1316736"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FY27 guidance</a:t>
            </a:r>
            <a:endParaRPr lang="en-US" sz="840" dirty="0"/>
          </a:p>
        </p:txBody>
      </p:sp>
      <p:sp>
        <p:nvSpPr>
          <p:cNvPr id="35" name="Shape 32"/>
          <p:cNvSpPr/>
          <p:nvPr/>
        </p:nvSpPr>
        <p:spPr>
          <a:xfrm>
            <a:off x="10177272" y="4206240"/>
            <a:ext cx="1609344" cy="292608"/>
          </a:xfrm>
          <a:prstGeom prst="rect">
            <a:avLst/>
          </a:prstGeom>
          <a:solidFill>
            <a:srgbClr val="10233A"/>
          </a:solidFill>
          <a:ln/>
        </p:spPr>
      </p:sp>
      <p:sp>
        <p:nvSpPr>
          <p:cNvPr id="36" name="Text 33"/>
          <p:cNvSpPr txBox="1"/>
          <p:nvPr/>
        </p:nvSpPr>
        <p:spPr>
          <a:xfrm>
            <a:off x="10241280" y="4206240"/>
            <a:ext cx="1481328"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Driver</a:t>
            </a:r>
            <a:endParaRPr lang="en-US" sz="840" dirty="0"/>
          </a:p>
        </p:txBody>
      </p:sp>
      <p:sp>
        <p:nvSpPr>
          <p:cNvPr id="37" name="Shape 34"/>
          <p:cNvSpPr/>
          <p:nvPr/>
        </p:nvSpPr>
        <p:spPr>
          <a:xfrm>
            <a:off x="6153912" y="4498848"/>
            <a:ext cx="1481328" cy="384048"/>
          </a:xfrm>
          <a:prstGeom prst="rect">
            <a:avLst/>
          </a:prstGeom>
          <a:solidFill>
            <a:srgbClr val="FFFFFF"/>
          </a:solidFill>
          <a:ln w="6350">
            <a:solidFill>
              <a:srgbClr val="D3DCE5"/>
            </a:solidFill>
            <a:prstDash val="solid"/>
          </a:ln>
        </p:spPr>
      </p:sp>
      <p:sp>
        <p:nvSpPr>
          <p:cNvPr id="38" name="Text 35"/>
          <p:cNvSpPr txBox="1"/>
          <p:nvPr/>
        </p:nvSpPr>
        <p:spPr>
          <a:xfrm>
            <a:off x="6217920" y="4498848"/>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Production</a:t>
            </a:r>
            <a:endParaRPr lang="en-US" sz="840" dirty="0"/>
          </a:p>
        </p:txBody>
      </p:sp>
      <p:sp>
        <p:nvSpPr>
          <p:cNvPr id="39" name="Shape 36"/>
          <p:cNvSpPr/>
          <p:nvPr/>
        </p:nvSpPr>
        <p:spPr>
          <a:xfrm>
            <a:off x="7635240" y="4498848"/>
            <a:ext cx="1097280" cy="384048"/>
          </a:xfrm>
          <a:prstGeom prst="rect">
            <a:avLst/>
          </a:prstGeom>
          <a:solidFill>
            <a:srgbClr val="FFFFFF"/>
          </a:solidFill>
          <a:ln w="6350">
            <a:solidFill>
              <a:srgbClr val="D3DCE5"/>
            </a:solidFill>
            <a:prstDash val="solid"/>
          </a:ln>
        </p:spPr>
      </p:sp>
      <p:sp>
        <p:nvSpPr>
          <p:cNvPr id="40" name="Text 37"/>
          <p:cNvSpPr txBox="1"/>
          <p:nvPr/>
        </p:nvSpPr>
        <p:spPr>
          <a:xfrm>
            <a:off x="7699248" y="4498848"/>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879.5kt</a:t>
            </a:r>
            <a:endParaRPr lang="en-US" sz="840" dirty="0"/>
          </a:p>
        </p:txBody>
      </p:sp>
      <p:sp>
        <p:nvSpPr>
          <p:cNvPr id="41" name="Shape 38"/>
          <p:cNvSpPr/>
          <p:nvPr/>
        </p:nvSpPr>
        <p:spPr>
          <a:xfrm>
            <a:off x="8732520" y="4498848"/>
            <a:ext cx="1444752" cy="384048"/>
          </a:xfrm>
          <a:prstGeom prst="rect">
            <a:avLst/>
          </a:prstGeom>
          <a:solidFill>
            <a:srgbClr val="FFFFFF"/>
          </a:solidFill>
          <a:ln w="6350">
            <a:solidFill>
              <a:srgbClr val="D3DCE5"/>
            </a:solidFill>
            <a:prstDash val="solid"/>
          </a:ln>
        </p:spPr>
      </p:sp>
      <p:sp>
        <p:nvSpPr>
          <p:cNvPr id="42" name="Text 39"/>
          <p:cNvSpPr txBox="1"/>
          <p:nvPr/>
        </p:nvSpPr>
        <p:spPr>
          <a:xfrm>
            <a:off x="8796528" y="4498848"/>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1,030-1,100kt</a:t>
            </a:r>
            <a:endParaRPr lang="en-US" sz="840" dirty="0"/>
          </a:p>
        </p:txBody>
      </p:sp>
      <p:sp>
        <p:nvSpPr>
          <p:cNvPr id="43" name="Shape 40"/>
          <p:cNvSpPr/>
          <p:nvPr/>
        </p:nvSpPr>
        <p:spPr>
          <a:xfrm>
            <a:off x="10177272" y="4498848"/>
            <a:ext cx="1609344" cy="384048"/>
          </a:xfrm>
          <a:prstGeom prst="rect">
            <a:avLst/>
          </a:prstGeom>
          <a:solidFill>
            <a:srgbClr val="FFFFFF"/>
          </a:solidFill>
          <a:ln w="6350">
            <a:solidFill>
              <a:srgbClr val="D3DCE5"/>
            </a:solidFill>
            <a:prstDash val="solid"/>
          </a:ln>
        </p:spPr>
      </p:sp>
      <p:sp>
        <p:nvSpPr>
          <p:cNvPr id="44" name="Text 41"/>
          <p:cNvSpPr txBox="1"/>
          <p:nvPr/>
        </p:nvSpPr>
        <p:spPr>
          <a:xfrm>
            <a:off x="10241280" y="4498848"/>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Ngungaju restart</a:t>
            </a:r>
            <a:endParaRPr lang="en-US" sz="840" dirty="0"/>
          </a:p>
        </p:txBody>
      </p:sp>
      <p:sp>
        <p:nvSpPr>
          <p:cNvPr id="45" name="Shape 42"/>
          <p:cNvSpPr/>
          <p:nvPr/>
        </p:nvSpPr>
        <p:spPr>
          <a:xfrm>
            <a:off x="6153912" y="4882896"/>
            <a:ext cx="1481328" cy="384048"/>
          </a:xfrm>
          <a:prstGeom prst="rect">
            <a:avLst/>
          </a:prstGeom>
          <a:solidFill>
            <a:srgbClr val="F7F9FB"/>
          </a:solidFill>
          <a:ln w="6350">
            <a:solidFill>
              <a:srgbClr val="D3DCE5"/>
            </a:solidFill>
            <a:prstDash val="solid"/>
          </a:ln>
        </p:spPr>
      </p:sp>
      <p:sp>
        <p:nvSpPr>
          <p:cNvPr id="46" name="Text 43"/>
          <p:cNvSpPr txBox="1"/>
          <p:nvPr/>
        </p:nvSpPr>
        <p:spPr>
          <a:xfrm>
            <a:off x="6217920" y="4882896"/>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Unit cost, FOB</a:t>
            </a:r>
            <a:endParaRPr lang="en-US" sz="840" dirty="0"/>
          </a:p>
        </p:txBody>
      </p:sp>
      <p:sp>
        <p:nvSpPr>
          <p:cNvPr id="47" name="Shape 44"/>
          <p:cNvSpPr/>
          <p:nvPr/>
        </p:nvSpPr>
        <p:spPr>
          <a:xfrm>
            <a:off x="7635240" y="4882896"/>
            <a:ext cx="1097280" cy="384048"/>
          </a:xfrm>
          <a:prstGeom prst="rect">
            <a:avLst/>
          </a:prstGeom>
          <a:solidFill>
            <a:srgbClr val="F7F9FB"/>
          </a:solidFill>
          <a:ln w="6350">
            <a:solidFill>
              <a:srgbClr val="D3DCE5"/>
            </a:solidFill>
            <a:prstDash val="solid"/>
          </a:ln>
        </p:spPr>
      </p:sp>
      <p:sp>
        <p:nvSpPr>
          <p:cNvPr id="48" name="Text 45"/>
          <p:cNvSpPr txBox="1"/>
          <p:nvPr/>
        </p:nvSpPr>
        <p:spPr>
          <a:xfrm>
            <a:off x="7699248" y="4882896"/>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A$569/t</a:t>
            </a:r>
            <a:endParaRPr lang="en-US" sz="840" dirty="0"/>
          </a:p>
        </p:txBody>
      </p:sp>
      <p:sp>
        <p:nvSpPr>
          <p:cNvPr id="49" name="Shape 46"/>
          <p:cNvSpPr/>
          <p:nvPr/>
        </p:nvSpPr>
        <p:spPr>
          <a:xfrm>
            <a:off x="8732520" y="4882896"/>
            <a:ext cx="1444752" cy="384048"/>
          </a:xfrm>
          <a:prstGeom prst="rect">
            <a:avLst/>
          </a:prstGeom>
          <a:solidFill>
            <a:srgbClr val="F7F9FB"/>
          </a:solidFill>
          <a:ln w="6350">
            <a:solidFill>
              <a:srgbClr val="D3DCE5"/>
            </a:solidFill>
            <a:prstDash val="solid"/>
          </a:ln>
        </p:spPr>
      </p:sp>
      <p:sp>
        <p:nvSpPr>
          <p:cNvPr id="50" name="Text 47"/>
          <p:cNvSpPr txBox="1"/>
          <p:nvPr/>
        </p:nvSpPr>
        <p:spPr>
          <a:xfrm>
            <a:off x="8796528" y="4882896"/>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A$575-625/t</a:t>
            </a:r>
            <a:endParaRPr lang="en-US" sz="840" dirty="0"/>
          </a:p>
        </p:txBody>
      </p:sp>
      <p:sp>
        <p:nvSpPr>
          <p:cNvPr id="51" name="Shape 48"/>
          <p:cNvSpPr/>
          <p:nvPr/>
        </p:nvSpPr>
        <p:spPr>
          <a:xfrm>
            <a:off x="10177272" y="4882896"/>
            <a:ext cx="1609344" cy="384048"/>
          </a:xfrm>
          <a:prstGeom prst="rect">
            <a:avLst/>
          </a:prstGeom>
          <a:solidFill>
            <a:srgbClr val="F7F9FB"/>
          </a:solidFill>
          <a:ln w="6350">
            <a:solidFill>
              <a:srgbClr val="D3DCE5"/>
            </a:solidFill>
            <a:prstDash val="solid"/>
          </a:ln>
        </p:spPr>
      </p:sp>
      <p:sp>
        <p:nvSpPr>
          <p:cNvPr id="52" name="Text 49"/>
          <p:cNvSpPr txBox="1"/>
          <p:nvPr/>
        </p:nvSpPr>
        <p:spPr>
          <a:xfrm>
            <a:off x="10241280" y="4882896"/>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Ngungaju mix effect</a:t>
            </a:r>
            <a:endParaRPr lang="en-US" sz="840" dirty="0"/>
          </a:p>
        </p:txBody>
      </p:sp>
      <p:sp>
        <p:nvSpPr>
          <p:cNvPr id="53" name="Shape 50"/>
          <p:cNvSpPr/>
          <p:nvPr/>
        </p:nvSpPr>
        <p:spPr>
          <a:xfrm>
            <a:off x="6153912" y="5266944"/>
            <a:ext cx="1481328" cy="384048"/>
          </a:xfrm>
          <a:prstGeom prst="rect">
            <a:avLst/>
          </a:prstGeom>
          <a:solidFill>
            <a:srgbClr val="FFFFFF"/>
          </a:solidFill>
          <a:ln w="6350">
            <a:solidFill>
              <a:srgbClr val="D3DCE5"/>
            </a:solidFill>
            <a:prstDash val="solid"/>
          </a:ln>
        </p:spPr>
      </p:sp>
      <p:sp>
        <p:nvSpPr>
          <p:cNvPr id="54" name="Text 51"/>
          <p:cNvSpPr txBox="1"/>
          <p:nvPr/>
        </p:nvSpPr>
        <p:spPr>
          <a:xfrm>
            <a:off x="6217920" y="5266944"/>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Capital expenditure</a:t>
            </a:r>
            <a:endParaRPr lang="en-US" sz="840" dirty="0"/>
          </a:p>
        </p:txBody>
      </p:sp>
      <p:sp>
        <p:nvSpPr>
          <p:cNvPr id="55" name="Shape 52"/>
          <p:cNvSpPr/>
          <p:nvPr/>
        </p:nvSpPr>
        <p:spPr>
          <a:xfrm>
            <a:off x="7635240" y="5266944"/>
            <a:ext cx="1097280" cy="384048"/>
          </a:xfrm>
          <a:prstGeom prst="rect">
            <a:avLst/>
          </a:prstGeom>
          <a:solidFill>
            <a:srgbClr val="FFFFFF"/>
          </a:solidFill>
          <a:ln w="6350">
            <a:solidFill>
              <a:srgbClr val="D3DCE5"/>
            </a:solidFill>
            <a:prstDash val="solid"/>
          </a:ln>
        </p:spPr>
      </p:sp>
      <p:sp>
        <p:nvSpPr>
          <p:cNvPr id="56" name="Text 53"/>
          <p:cNvSpPr txBox="1"/>
          <p:nvPr/>
        </p:nvSpPr>
        <p:spPr>
          <a:xfrm>
            <a:off x="7699248" y="5266944"/>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A$328m</a:t>
            </a:r>
            <a:endParaRPr lang="en-US" sz="840" dirty="0"/>
          </a:p>
        </p:txBody>
      </p:sp>
      <p:sp>
        <p:nvSpPr>
          <p:cNvPr id="57" name="Shape 54"/>
          <p:cNvSpPr/>
          <p:nvPr/>
        </p:nvSpPr>
        <p:spPr>
          <a:xfrm>
            <a:off x="8732520" y="5266944"/>
            <a:ext cx="1444752" cy="384048"/>
          </a:xfrm>
          <a:prstGeom prst="rect">
            <a:avLst/>
          </a:prstGeom>
          <a:solidFill>
            <a:srgbClr val="FFFFFF"/>
          </a:solidFill>
          <a:ln w="6350">
            <a:solidFill>
              <a:srgbClr val="D3DCE5"/>
            </a:solidFill>
            <a:prstDash val="solid"/>
          </a:ln>
        </p:spPr>
      </p:sp>
      <p:sp>
        <p:nvSpPr>
          <p:cNvPr id="58" name="Text 55"/>
          <p:cNvSpPr txBox="1"/>
          <p:nvPr/>
        </p:nvSpPr>
        <p:spPr>
          <a:xfrm>
            <a:off x="8796528" y="5266944"/>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A$620-685m</a:t>
            </a:r>
            <a:endParaRPr lang="en-US" sz="840" dirty="0"/>
          </a:p>
        </p:txBody>
      </p:sp>
      <p:sp>
        <p:nvSpPr>
          <p:cNvPr id="59" name="Shape 56"/>
          <p:cNvSpPr/>
          <p:nvPr/>
        </p:nvSpPr>
        <p:spPr>
          <a:xfrm>
            <a:off x="10177272" y="5266944"/>
            <a:ext cx="1609344" cy="384048"/>
          </a:xfrm>
          <a:prstGeom prst="rect">
            <a:avLst/>
          </a:prstGeom>
          <a:solidFill>
            <a:srgbClr val="FFFFFF"/>
          </a:solidFill>
          <a:ln w="6350">
            <a:solidFill>
              <a:srgbClr val="D3DCE5"/>
            </a:solidFill>
            <a:prstDash val="solid"/>
          </a:ln>
        </p:spPr>
      </p:sp>
      <p:sp>
        <p:nvSpPr>
          <p:cNvPr id="60" name="Text 57"/>
          <p:cNvSpPr txBox="1"/>
          <p:nvPr/>
        </p:nvSpPr>
        <p:spPr>
          <a:xfrm>
            <a:off x="10241280" y="5266944"/>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Includes A$175m P2000 pre-FID</a:t>
            </a:r>
            <a:endParaRPr lang="en-US" sz="840" dirty="0"/>
          </a:p>
        </p:txBody>
      </p:sp>
      <p:sp>
        <p:nvSpPr>
          <p:cNvPr id="61" name="Shape 58"/>
          <p:cNvSpPr/>
          <p:nvPr/>
        </p:nvSpPr>
        <p:spPr>
          <a:xfrm>
            <a:off x="6153912" y="5650992"/>
            <a:ext cx="1481328" cy="384048"/>
          </a:xfrm>
          <a:prstGeom prst="rect">
            <a:avLst/>
          </a:prstGeom>
          <a:solidFill>
            <a:srgbClr val="F7F9FB"/>
          </a:solidFill>
          <a:ln w="6350">
            <a:solidFill>
              <a:srgbClr val="D3DCE5"/>
            </a:solidFill>
            <a:prstDash val="solid"/>
          </a:ln>
        </p:spPr>
      </p:sp>
      <p:sp>
        <p:nvSpPr>
          <p:cNvPr id="62" name="Text 59"/>
          <p:cNvSpPr txBox="1"/>
          <p:nvPr/>
        </p:nvSpPr>
        <p:spPr>
          <a:xfrm>
            <a:off x="6217920" y="5650992"/>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Dividend</a:t>
            </a:r>
            <a:endParaRPr lang="en-US" sz="840" dirty="0"/>
          </a:p>
        </p:txBody>
      </p:sp>
      <p:sp>
        <p:nvSpPr>
          <p:cNvPr id="63" name="Shape 60"/>
          <p:cNvSpPr/>
          <p:nvPr/>
        </p:nvSpPr>
        <p:spPr>
          <a:xfrm>
            <a:off x="7635240" y="5650992"/>
            <a:ext cx="1097280" cy="384048"/>
          </a:xfrm>
          <a:prstGeom prst="rect">
            <a:avLst/>
          </a:prstGeom>
          <a:solidFill>
            <a:srgbClr val="F7F9FB"/>
          </a:solidFill>
          <a:ln w="6350">
            <a:solidFill>
              <a:srgbClr val="D3DCE5"/>
            </a:solidFill>
            <a:prstDash val="solid"/>
          </a:ln>
        </p:spPr>
      </p:sp>
      <p:sp>
        <p:nvSpPr>
          <p:cNvPr id="64" name="Text 61"/>
          <p:cNvSpPr txBox="1"/>
          <p:nvPr/>
        </p:nvSpPr>
        <p:spPr>
          <a:xfrm>
            <a:off x="7699248" y="5650992"/>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5.0cps franked</a:t>
            </a:r>
            <a:endParaRPr lang="en-US" sz="840" dirty="0"/>
          </a:p>
        </p:txBody>
      </p:sp>
      <p:sp>
        <p:nvSpPr>
          <p:cNvPr id="65" name="Shape 62"/>
          <p:cNvSpPr/>
          <p:nvPr/>
        </p:nvSpPr>
        <p:spPr>
          <a:xfrm>
            <a:off x="8732520" y="5650992"/>
            <a:ext cx="1444752" cy="384048"/>
          </a:xfrm>
          <a:prstGeom prst="rect">
            <a:avLst/>
          </a:prstGeom>
          <a:solidFill>
            <a:srgbClr val="F7F9FB"/>
          </a:solidFill>
          <a:ln w="6350">
            <a:solidFill>
              <a:srgbClr val="D3DCE5"/>
            </a:solidFill>
            <a:prstDash val="solid"/>
          </a:ln>
        </p:spPr>
      </p:sp>
      <p:sp>
        <p:nvSpPr>
          <p:cNvPr id="66" name="Text 63"/>
          <p:cNvSpPr txBox="1"/>
          <p:nvPr/>
        </p:nvSpPr>
        <p:spPr>
          <a:xfrm>
            <a:off x="8796528" y="5650992"/>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20-30% of free cash flow</a:t>
            </a:r>
            <a:endParaRPr lang="en-US" sz="840" dirty="0"/>
          </a:p>
        </p:txBody>
      </p:sp>
      <p:sp>
        <p:nvSpPr>
          <p:cNvPr id="67" name="Shape 64"/>
          <p:cNvSpPr/>
          <p:nvPr/>
        </p:nvSpPr>
        <p:spPr>
          <a:xfrm>
            <a:off x="10177272" y="5650992"/>
            <a:ext cx="1609344" cy="384048"/>
          </a:xfrm>
          <a:prstGeom prst="rect">
            <a:avLst/>
          </a:prstGeom>
          <a:solidFill>
            <a:srgbClr val="F7F9FB"/>
          </a:solidFill>
          <a:ln w="6350">
            <a:solidFill>
              <a:srgbClr val="D3DCE5"/>
            </a:solidFill>
            <a:prstDash val="solid"/>
          </a:ln>
        </p:spPr>
      </p:sp>
      <p:sp>
        <p:nvSpPr>
          <p:cNvPr id="68" name="Text 65"/>
          <p:cNvSpPr txBox="1"/>
          <p:nvPr/>
        </p:nvSpPr>
        <p:spPr>
          <a:xfrm>
            <a:off x="10241280" y="5650992"/>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Reinstated Aug 2026</a:t>
            </a:r>
            <a:endParaRPr lang="en-US" sz="840" dirty="0"/>
          </a:p>
        </p:txBody>
      </p:sp>
      <p:sp>
        <p:nvSpPr>
          <p:cNvPr id="69" name="Shape 66"/>
          <p:cNvSpPr/>
          <p:nvPr/>
        </p:nvSpPr>
        <p:spPr>
          <a:xfrm>
            <a:off x="6153912" y="6144768"/>
            <a:ext cx="5632704" cy="676656"/>
          </a:xfrm>
          <a:prstGeom prst="rect">
            <a:avLst/>
          </a:prstGeom>
          <a:solidFill>
            <a:srgbClr val="EEF2F6"/>
          </a:solidFill>
          <a:ln w="9525">
            <a:solidFill>
              <a:srgbClr val="D3DCE5"/>
            </a:solidFill>
            <a:prstDash val="solid"/>
          </a:ln>
        </p:spPr>
      </p:sp>
      <p:sp>
        <p:nvSpPr>
          <p:cNvPr id="70" name="Text 67"/>
          <p:cNvSpPr txBox="1"/>
          <p:nvPr/>
        </p:nvSpPr>
        <p:spPr>
          <a:xfrm>
            <a:off x="6318504" y="6272784"/>
            <a:ext cx="5303520" cy="457200"/>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 17-25% volume step-up in FY27 at a unit cost only 1-10% higher. The extra Ngungaju tonnes cost more than the Pilgan average and are still well down the global curve.</a:t>
            </a:r>
            <a:endParaRPr lang="en-US" sz="880" dirty="0"/>
          </a:p>
        </p:txBody>
      </p:sp>
      <p:sp>
        <p:nvSpPr>
          <p:cNvPr id="71" name="Text 6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PLS Group FY26 results, 24 August 2026; June-2026 quarterly activities report. Realised price is on actual product grade (about SC5.2), which sits below the SC6 benchmark. FOB means free on board, i.e. the cost to get product onto the ship, excluding freight.</a:t>
            </a:r>
            <a:endParaRPr lang="en-US" sz="750" dirty="0"/>
          </a:p>
        </p:txBody>
      </p:sp>
      <p:sp>
        <p:nvSpPr>
          <p:cNvPr id="72" name="Text 6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200" b="1" dirty="0">
                <a:solidFill>
                  <a:srgbClr val="10233A"/>
                </a:solidFill>
                <a:latin typeface="Cambria" pitchFamily="34" charset="0"/>
                <a:ea typeface="Cambria" pitchFamily="34" charset="-122"/>
                <a:cs typeface="Cambria" pitchFamily="34" charset="-120"/>
              </a:rPr>
              <a:t>The cycle has turned, but it is a saw-tooth, not a straight line</a:t>
            </a:r>
            <a:endParaRPr lang="en-US" sz="22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Prices tripled off the 2025 trough and then fell hard in August as idled mines restarted. Credible forecasters disagree about what happens next, and we say so.</a:t>
            </a:r>
            <a:endParaRPr lang="en-US" sz="1200" dirty="0"/>
          </a:p>
        </p:txBody>
      </p:sp>
      <p:sp>
        <p:nvSpPr>
          <p:cNvPr id="13" name="Shape 11"/>
          <p:cNvSpPr/>
          <p:nvPr/>
        </p:nvSpPr>
        <p:spPr>
          <a:xfrm>
            <a:off x="411480" y="1627632"/>
            <a:ext cx="5532120" cy="1243584"/>
          </a:xfrm>
          <a:prstGeom prst="rect">
            <a:avLst/>
          </a:prstGeom>
          <a:solidFill>
            <a:srgbClr val="F7F9FB"/>
          </a:solidFill>
          <a:ln w="9525">
            <a:solidFill>
              <a:srgbClr val="D3DCE5"/>
            </a:solidFill>
            <a:prstDash val="solid"/>
          </a:ln>
        </p:spPr>
      </p:sp>
      <p:sp>
        <p:nvSpPr>
          <p:cNvPr id="14" name="Text 12"/>
          <p:cNvSpPr txBox="1"/>
          <p:nvPr/>
        </p:nvSpPr>
        <p:spPr>
          <a:xfrm>
            <a:off x="576072" y="1755648"/>
            <a:ext cx="52029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has happened</a:t>
            </a:r>
            <a:endParaRPr lang="en-US" sz="1150" dirty="0"/>
          </a:p>
        </p:txBody>
      </p:sp>
      <p:sp>
        <p:nvSpPr>
          <p:cNvPr id="15" name="Text 13"/>
          <p:cNvSpPr txBox="1"/>
          <p:nvPr/>
        </p:nvSpPr>
        <p:spPr>
          <a:xfrm>
            <a:off x="576072" y="2084832"/>
            <a:ext cx="5202936"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Spodumene bottomed near US$600-750/t in 2025 and reached roughly US$2,038-2,200/t by August 2026. PLS's own realised price tripled over the same window. Then, in a single week in August, the Platts SpodIX benchmark fell US$270/t as Mineral Resources' Bald Hill, Core Lithium's Finniss and CATL's Jianxiawo all moved to restart.</a:t>
            </a:r>
            <a:endParaRPr lang="en-US" sz="940" dirty="0"/>
          </a:p>
        </p:txBody>
      </p:sp>
      <p:sp>
        <p:nvSpPr>
          <p:cNvPr id="16" name="Shape 14"/>
          <p:cNvSpPr/>
          <p:nvPr/>
        </p:nvSpPr>
        <p:spPr>
          <a:xfrm>
            <a:off x="6153912" y="1627632"/>
            <a:ext cx="5632704" cy="1243584"/>
          </a:xfrm>
          <a:prstGeom prst="rect">
            <a:avLst/>
          </a:prstGeom>
          <a:solidFill>
            <a:srgbClr val="FBEBD9"/>
          </a:solidFill>
          <a:ln w="9525">
            <a:solidFill>
              <a:srgbClr val="E8C9A3"/>
            </a:solidFill>
            <a:prstDash val="solid"/>
          </a:ln>
        </p:spPr>
      </p:sp>
      <p:sp>
        <p:nvSpPr>
          <p:cNvPr id="17" name="Text 15"/>
          <p:cNvSpPr txBox="1"/>
          <p:nvPr/>
        </p:nvSpPr>
        <p:spPr>
          <a:xfrm>
            <a:off x="6318504" y="1755648"/>
            <a:ext cx="5303520"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do not forecast a straight line</a:t>
            </a:r>
            <a:endParaRPr lang="en-US" sz="1150" dirty="0"/>
          </a:p>
        </p:txBody>
      </p:sp>
      <p:sp>
        <p:nvSpPr>
          <p:cNvPr id="18" name="Text 16"/>
          <p:cNvSpPr txBox="1"/>
          <p:nvPr/>
        </p:nvSpPr>
        <p:spPr>
          <a:xfrm>
            <a:off x="6318504" y="2084832"/>
            <a:ext cx="5303520"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base case assumes PLS realises US$1,700/t in FY27 - about 11% below what current spot implies and 19% below the June-2026 quarter exit rate. We would rather be early and conservative on price than build a recommendation that needs the spike to hold.</a:t>
            </a:r>
            <a:endParaRPr lang="en-US" sz="940" dirty="0"/>
          </a:p>
        </p:txBody>
      </p:sp>
      <p:sp>
        <p:nvSpPr>
          <p:cNvPr id="19" name="Shape 17"/>
          <p:cNvSpPr/>
          <p:nvPr/>
        </p:nvSpPr>
        <p:spPr>
          <a:xfrm>
            <a:off x="411480" y="3054096"/>
            <a:ext cx="2103120" cy="292608"/>
          </a:xfrm>
          <a:prstGeom prst="rect">
            <a:avLst/>
          </a:prstGeom>
          <a:solidFill>
            <a:srgbClr val="10233A"/>
          </a:solidFill>
          <a:ln/>
        </p:spPr>
      </p:sp>
      <p:sp>
        <p:nvSpPr>
          <p:cNvPr id="20" name="Text 18"/>
          <p:cNvSpPr txBox="1"/>
          <p:nvPr/>
        </p:nvSpPr>
        <p:spPr>
          <a:xfrm>
            <a:off x="475488" y="3054096"/>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Forecaster</a:t>
            </a:r>
            <a:endParaRPr lang="en-US" sz="900" dirty="0"/>
          </a:p>
        </p:txBody>
      </p:sp>
      <p:sp>
        <p:nvSpPr>
          <p:cNvPr id="21" name="Shape 19"/>
          <p:cNvSpPr/>
          <p:nvPr/>
        </p:nvSpPr>
        <p:spPr>
          <a:xfrm>
            <a:off x="2514600" y="3054096"/>
            <a:ext cx="2148840" cy="292608"/>
          </a:xfrm>
          <a:prstGeom prst="rect">
            <a:avLst/>
          </a:prstGeom>
          <a:solidFill>
            <a:srgbClr val="10233A"/>
          </a:solidFill>
          <a:ln/>
        </p:spPr>
      </p:sp>
      <p:sp>
        <p:nvSpPr>
          <p:cNvPr id="22" name="Text 20"/>
          <p:cNvSpPr txBox="1"/>
          <p:nvPr/>
        </p:nvSpPr>
        <p:spPr>
          <a:xfrm>
            <a:off x="2578608" y="3054096"/>
            <a:ext cx="2020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Call on the 2026 balance</a:t>
            </a:r>
            <a:endParaRPr lang="en-US" sz="900" dirty="0"/>
          </a:p>
        </p:txBody>
      </p:sp>
      <p:sp>
        <p:nvSpPr>
          <p:cNvPr id="23" name="Shape 21"/>
          <p:cNvSpPr/>
          <p:nvPr/>
        </p:nvSpPr>
        <p:spPr>
          <a:xfrm>
            <a:off x="4663440" y="3054096"/>
            <a:ext cx="7123176" cy="292608"/>
          </a:xfrm>
          <a:prstGeom prst="rect">
            <a:avLst/>
          </a:prstGeom>
          <a:solidFill>
            <a:srgbClr val="10233A"/>
          </a:solidFill>
          <a:ln/>
        </p:spPr>
      </p:sp>
      <p:sp>
        <p:nvSpPr>
          <p:cNvPr id="24" name="Text 22"/>
          <p:cNvSpPr txBox="1"/>
          <p:nvPr/>
        </p:nvSpPr>
        <p:spPr>
          <a:xfrm>
            <a:off x="4727448" y="3054096"/>
            <a:ext cx="69951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they say</a:t>
            </a:r>
            <a:endParaRPr lang="en-US" sz="900" dirty="0"/>
          </a:p>
        </p:txBody>
      </p:sp>
      <p:sp>
        <p:nvSpPr>
          <p:cNvPr id="25" name="Shape 23"/>
          <p:cNvSpPr/>
          <p:nvPr/>
        </p:nvSpPr>
        <p:spPr>
          <a:xfrm>
            <a:off x="411480" y="3346704"/>
            <a:ext cx="2103120" cy="365760"/>
          </a:xfrm>
          <a:prstGeom prst="rect">
            <a:avLst/>
          </a:prstGeom>
          <a:solidFill>
            <a:srgbClr val="FFFFFF"/>
          </a:solidFill>
          <a:ln w="6350">
            <a:solidFill>
              <a:srgbClr val="D3DCE5"/>
            </a:solidFill>
            <a:prstDash val="solid"/>
          </a:ln>
        </p:spPr>
      </p:sp>
      <p:sp>
        <p:nvSpPr>
          <p:cNvPr id="26" name="Text 24"/>
          <p:cNvSpPr txBox="1"/>
          <p:nvPr/>
        </p:nvSpPr>
        <p:spPr>
          <a:xfrm>
            <a:off x="475488" y="334670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Fastmarkets</a:t>
            </a:r>
            <a:endParaRPr lang="en-US" sz="880" dirty="0"/>
          </a:p>
        </p:txBody>
      </p:sp>
      <p:sp>
        <p:nvSpPr>
          <p:cNvPr id="27" name="Shape 25"/>
          <p:cNvSpPr/>
          <p:nvPr/>
        </p:nvSpPr>
        <p:spPr>
          <a:xfrm>
            <a:off x="2514600" y="3346704"/>
            <a:ext cx="2148840" cy="365760"/>
          </a:xfrm>
          <a:prstGeom prst="rect">
            <a:avLst/>
          </a:prstGeom>
          <a:solidFill>
            <a:srgbClr val="FFFFFF"/>
          </a:solidFill>
          <a:ln w="6350">
            <a:solidFill>
              <a:srgbClr val="D3DCE5"/>
            </a:solidFill>
            <a:prstDash val="solid"/>
          </a:ln>
        </p:spPr>
      </p:sp>
      <p:sp>
        <p:nvSpPr>
          <p:cNvPr id="28" name="Text 26"/>
          <p:cNvSpPr txBox="1"/>
          <p:nvPr/>
        </p:nvSpPr>
        <p:spPr>
          <a:xfrm>
            <a:off x="2578608" y="3346704"/>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29" name="Shape 27"/>
          <p:cNvSpPr/>
          <p:nvPr/>
        </p:nvSpPr>
        <p:spPr>
          <a:xfrm>
            <a:off x="4663440" y="3346704"/>
            <a:ext cx="7123176" cy="365760"/>
          </a:xfrm>
          <a:prstGeom prst="rect">
            <a:avLst/>
          </a:prstGeom>
          <a:solidFill>
            <a:srgbClr val="FFFFFF"/>
          </a:solidFill>
          <a:ln w="6350">
            <a:solidFill>
              <a:srgbClr val="D3DCE5"/>
            </a:solidFill>
            <a:prstDash val="solid"/>
          </a:ln>
        </p:spPr>
      </p:sp>
      <p:sp>
        <p:nvSpPr>
          <p:cNvPr id="30" name="Text 28"/>
          <p:cNvSpPr txBox="1"/>
          <p:nvPr/>
        </p:nvSpPr>
        <p:spPr>
          <a:xfrm>
            <a:off x="4727448" y="334670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Flips from a 2025 surplus to a 1.5kt LCE deficit; raised its 2027 carbonate forecast from US$22.65/kg to US$31.40/kg.</a:t>
            </a:r>
            <a:endParaRPr lang="en-US" sz="880" dirty="0"/>
          </a:p>
        </p:txBody>
      </p:sp>
      <p:sp>
        <p:nvSpPr>
          <p:cNvPr id="31" name="Shape 29"/>
          <p:cNvSpPr/>
          <p:nvPr/>
        </p:nvSpPr>
        <p:spPr>
          <a:xfrm>
            <a:off x="411480" y="3712464"/>
            <a:ext cx="2103120" cy="365760"/>
          </a:xfrm>
          <a:prstGeom prst="rect">
            <a:avLst/>
          </a:prstGeom>
          <a:solidFill>
            <a:srgbClr val="F7F9FB"/>
          </a:solidFill>
          <a:ln w="6350">
            <a:solidFill>
              <a:srgbClr val="D3DCE5"/>
            </a:solidFill>
            <a:prstDash val="solid"/>
          </a:ln>
        </p:spPr>
      </p:sp>
      <p:sp>
        <p:nvSpPr>
          <p:cNvPr id="32" name="Text 30"/>
          <p:cNvSpPr txBox="1"/>
          <p:nvPr/>
        </p:nvSpPr>
        <p:spPr>
          <a:xfrm>
            <a:off x="475488" y="371246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Morgan Stanley</a:t>
            </a:r>
            <a:endParaRPr lang="en-US" sz="880" dirty="0"/>
          </a:p>
        </p:txBody>
      </p:sp>
      <p:sp>
        <p:nvSpPr>
          <p:cNvPr id="33" name="Shape 31"/>
          <p:cNvSpPr/>
          <p:nvPr/>
        </p:nvSpPr>
        <p:spPr>
          <a:xfrm>
            <a:off x="2514600" y="3712464"/>
            <a:ext cx="2148840" cy="365760"/>
          </a:xfrm>
          <a:prstGeom prst="rect">
            <a:avLst/>
          </a:prstGeom>
          <a:solidFill>
            <a:srgbClr val="F7F9FB"/>
          </a:solidFill>
          <a:ln w="6350">
            <a:solidFill>
              <a:srgbClr val="D3DCE5"/>
            </a:solidFill>
            <a:prstDash val="solid"/>
          </a:ln>
        </p:spPr>
      </p:sp>
      <p:sp>
        <p:nvSpPr>
          <p:cNvPr id="34" name="Text 32"/>
          <p:cNvSpPr txBox="1"/>
          <p:nvPr/>
        </p:nvSpPr>
        <p:spPr>
          <a:xfrm>
            <a:off x="2578608" y="3712464"/>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35" name="Shape 33"/>
          <p:cNvSpPr/>
          <p:nvPr/>
        </p:nvSpPr>
        <p:spPr>
          <a:xfrm>
            <a:off x="4663440" y="3712464"/>
            <a:ext cx="7123176" cy="365760"/>
          </a:xfrm>
          <a:prstGeom prst="rect">
            <a:avLst/>
          </a:prstGeom>
          <a:solidFill>
            <a:srgbClr val="F7F9FB"/>
          </a:solidFill>
          <a:ln w="6350">
            <a:solidFill>
              <a:srgbClr val="D3DCE5"/>
            </a:solidFill>
            <a:prstDash val="solid"/>
          </a:ln>
        </p:spPr>
      </p:sp>
      <p:sp>
        <p:nvSpPr>
          <p:cNvPr id="36" name="Text 34"/>
          <p:cNvSpPr txBox="1"/>
          <p:nvPr/>
        </p:nvSpPr>
        <p:spPr>
          <a:xfrm>
            <a:off x="4727448" y="371246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Calls an 80kt LCE deficit in 2026.</a:t>
            </a:r>
            <a:endParaRPr lang="en-US" sz="880" dirty="0"/>
          </a:p>
        </p:txBody>
      </p:sp>
      <p:sp>
        <p:nvSpPr>
          <p:cNvPr id="37" name="Shape 35"/>
          <p:cNvSpPr/>
          <p:nvPr/>
        </p:nvSpPr>
        <p:spPr>
          <a:xfrm>
            <a:off x="411480" y="4078224"/>
            <a:ext cx="2103120" cy="365760"/>
          </a:xfrm>
          <a:prstGeom prst="rect">
            <a:avLst/>
          </a:prstGeom>
          <a:solidFill>
            <a:srgbClr val="FFFFFF"/>
          </a:solidFill>
          <a:ln w="6350">
            <a:solidFill>
              <a:srgbClr val="D3DCE5"/>
            </a:solidFill>
            <a:prstDash val="solid"/>
          </a:ln>
        </p:spPr>
      </p:sp>
      <p:sp>
        <p:nvSpPr>
          <p:cNvPr id="38" name="Text 36"/>
          <p:cNvSpPr txBox="1"/>
          <p:nvPr/>
        </p:nvSpPr>
        <p:spPr>
          <a:xfrm>
            <a:off x="475488" y="407822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UBS</a:t>
            </a:r>
            <a:endParaRPr lang="en-US" sz="880" dirty="0"/>
          </a:p>
        </p:txBody>
      </p:sp>
      <p:sp>
        <p:nvSpPr>
          <p:cNvPr id="39" name="Shape 37"/>
          <p:cNvSpPr/>
          <p:nvPr/>
        </p:nvSpPr>
        <p:spPr>
          <a:xfrm>
            <a:off x="2514600" y="4078224"/>
            <a:ext cx="2148840" cy="365760"/>
          </a:xfrm>
          <a:prstGeom prst="rect">
            <a:avLst/>
          </a:prstGeom>
          <a:solidFill>
            <a:srgbClr val="FFFFFF"/>
          </a:solidFill>
          <a:ln w="6350">
            <a:solidFill>
              <a:srgbClr val="D3DCE5"/>
            </a:solidFill>
            <a:prstDash val="solid"/>
          </a:ln>
        </p:spPr>
      </p:sp>
      <p:sp>
        <p:nvSpPr>
          <p:cNvPr id="40" name="Text 38"/>
          <p:cNvSpPr txBox="1"/>
          <p:nvPr/>
        </p:nvSpPr>
        <p:spPr>
          <a:xfrm>
            <a:off x="2578608" y="4078224"/>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41" name="Shape 39"/>
          <p:cNvSpPr/>
          <p:nvPr/>
        </p:nvSpPr>
        <p:spPr>
          <a:xfrm>
            <a:off x="4663440" y="4078224"/>
            <a:ext cx="7123176" cy="365760"/>
          </a:xfrm>
          <a:prstGeom prst="rect">
            <a:avLst/>
          </a:prstGeom>
          <a:solidFill>
            <a:srgbClr val="FFFFFF"/>
          </a:solidFill>
          <a:ln w="6350">
            <a:solidFill>
              <a:srgbClr val="D3DCE5"/>
            </a:solidFill>
            <a:prstDash val="solid"/>
          </a:ln>
        </p:spPr>
      </p:sp>
      <p:sp>
        <p:nvSpPr>
          <p:cNvPr id="42" name="Text 40"/>
          <p:cNvSpPr txBox="1"/>
          <p:nvPr/>
        </p:nvSpPr>
        <p:spPr>
          <a:xfrm>
            <a:off x="4727448" y="407822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Calls a 22kt LCE deficit in 2026.</a:t>
            </a:r>
            <a:endParaRPr lang="en-US" sz="880" dirty="0"/>
          </a:p>
        </p:txBody>
      </p:sp>
      <p:sp>
        <p:nvSpPr>
          <p:cNvPr id="43" name="Shape 41"/>
          <p:cNvSpPr/>
          <p:nvPr/>
        </p:nvSpPr>
        <p:spPr>
          <a:xfrm>
            <a:off x="411480" y="4443984"/>
            <a:ext cx="2103120" cy="365760"/>
          </a:xfrm>
          <a:prstGeom prst="rect">
            <a:avLst/>
          </a:prstGeom>
          <a:solidFill>
            <a:srgbClr val="F7F9FB"/>
          </a:solidFill>
          <a:ln w="6350">
            <a:solidFill>
              <a:srgbClr val="D3DCE5"/>
            </a:solidFill>
            <a:prstDash val="solid"/>
          </a:ln>
        </p:spPr>
      </p:sp>
      <p:sp>
        <p:nvSpPr>
          <p:cNvPr id="44" name="Text 42"/>
          <p:cNvSpPr txBox="1"/>
          <p:nvPr/>
        </p:nvSpPr>
        <p:spPr>
          <a:xfrm>
            <a:off x="475488" y="444398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Macquarie</a:t>
            </a:r>
            <a:endParaRPr lang="en-US" sz="880" dirty="0"/>
          </a:p>
        </p:txBody>
      </p:sp>
      <p:sp>
        <p:nvSpPr>
          <p:cNvPr id="45" name="Shape 43"/>
          <p:cNvSpPr/>
          <p:nvPr/>
        </p:nvSpPr>
        <p:spPr>
          <a:xfrm>
            <a:off x="2514600" y="4443984"/>
            <a:ext cx="2148840" cy="365760"/>
          </a:xfrm>
          <a:prstGeom prst="rect">
            <a:avLst/>
          </a:prstGeom>
          <a:solidFill>
            <a:srgbClr val="F7F9FB"/>
          </a:solidFill>
          <a:ln w="6350">
            <a:solidFill>
              <a:srgbClr val="D3DCE5"/>
            </a:solidFill>
            <a:prstDash val="solid"/>
          </a:ln>
        </p:spPr>
      </p:sp>
      <p:sp>
        <p:nvSpPr>
          <p:cNvPr id="46" name="Text 44"/>
          <p:cNvSpPr txBox="1"/>
          <p:nvPr/>
        </p:nvSpPr>
        <p:spPr>
          <a:xfrm>
            <a:off x="2578608" y="4443984"/>
            <a:ext cx="202082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Narrowing</a:t>
            </a:r>
            <a:endParaRPr lang="en-US" sz="880" dirty="0"/>
          </a:p>
        </p:txBody>
      </p:sp>
      <p:sp>
        <p:nvSpPr>
          <p:cNvPr id="47" name="Shape 45"/>
          <p:cNvSpPr/>
          <p:nvPr/>
        </p:nvSpPr>
        <p:spPr>
          <a:xfrm>
            <a:off x="4663440" y="4443984"/>
            <a:ext cx="7123176" cy="365760"/>
          </a:xfrm>
          <a:prstGeom prst="rect">
            <a:avLst/>
          </a:prstGeom>
          <a:solidFill>
            <a:srgbClr val="F7F9FB"/>
          </a:solidFill>
          <a:ln w="6350">
            <a:solidFill>
              <a:srgbClr val="D3DCE5"/>
            </a:solidFill>
            <a:prstDash val="solid"/>
          </a:ln>
        </p:spPr>
      </p:sp>
      <p:sp>
        <p:nvSpPr>
          <p:cNvPr id="48" name="Text 46"/>
          <p:cNvSpPr txBox="1"/>
          <p:nvPr/>
        </p:nvSpPr>
        <p:spPr>
          <a:xfrm>
            <a:off x="4727448" y="444398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2025 was the peak surplus year at 120kt; narrows to roughly balance (+1kt) by 2028.</a:t>
            </a:r>
            <a:endParaRPr lang="en-US" sz="880" dirty="0"/>
          </a:p>
        </p:txBody>
      </p:sp>
      <p:sp>
        <p:nvSpPr>
          <p:cNvPr id="49" name="Shape 47"/>
          <p:cNvSpPr/>
          <p:nvPr/>
        </p:nvSpPr>
        <p:spPr>
          <a:xfrm>
            <a:off x="411480" y="4809744"/>
            <a:ext cx="2103120" cy="365760"/>
          </a:xfrm>
          <a:prstGeom prst="rect">
            <a:avLst/>
          </a:prstGeom>
          <a:solidFill>
            <a:srgbClr val="FFFFFF"/>
          </a:solidFill>
          <a:ln w="6350">
            <a:solidFill>
              <a:srgbClr val="D3DCE5"/>
            </a:solidFill>
            <a:prstDash val="solid"/>
          </a:ln>
        </p:spPr>
      </p:sp>
      <p:sp>
        <p:nvSpPr>
          <p:cNvPr id="50" name="Text 48"/>
          <p:cNvSpPr txBox="1"/>
          <p:nvPr/>
        </p:nvSpPr>
        <p:spPr>
          <a:xfrm>
            <a:off x="475488" y="480974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Wood Mackenzie</a:t>
            </a:r>
            <a:endParaRPr lang="en-US" sz="880" dirty="0"/>
          </a:p>
        </p:txBody>
      </p:sp>
      <p:sp>
        <p:nvSpPr>
          <p:cNvPr id="51" name="Shape 49"/>
          <p:cNvSpPr/>
          <p:nvPr/>
        </p:nvSpPr>
        <p:spPr>
          <a:xfrm>
            <a:off x="2514600" y="4809744"/>
            <a:ext cx="2148840" cy="365760"/>
          </a:xfrm>
          <a:prstGeom prst="rect">
            <a:avLst/>
          </a:prstGeom>
          <a:solidFill>
            <a:srgbClr val="FFFFFF"/>
          </a:solidFill>
          <a:ln w="6350">
            <a:solidFill>
              <a:srgbClr val="D3DCE5"/>
            </a:solidFill>
            <a:prstDash val="solid"/>
          </a:ln>
        </p:spPr>
      </p:sp>
      <p:sp>
        <p:nvSpPr>
          <p:cNvPr id="52" name="Text 50"/>
          <p:cNvSpPr txBox="1"/>
          <p:nvPr/>
        </p:nvSpPr>
        <p:spPr>
          <a:xfrm>
            <a:off x="2578608" y="4809744"/>
            <a:ext cx="2020824" cy="365760"/>
          </a:xfrm>
          <a:prstGeom prst="rect">
            <a:avLst/>
          </a:prstGeom>
          <a:noFill/>
          <a:ln/>
        </p:spPr>
        <p:txBody>
          <a:bodyPr wrap="square" lIns="0" tIns="0" rIns="0" bIns="0" rtlCol="0" anchor="ctr"/>
          <a:lstStyle/>
          <a:p>
            <a:pPr algn="ctr" indent="0" marL="0">
              <a:buNone/>
            </a:pPr>
            <a:r>
              <a:rPr lang="en-US" sz="880" b="1" dirty="0">
                <a:solidFill>
                  <a:srgbClr val="A3282C"/>
                </a:solidFill>
                <a:latin typeface="Calibri" pitchFamily="34" charset="0"/>
                <a:ea typeface="Calibri" pitchFamily="34" charset="-122"/>
                <a:cs typeface="Calibri" pitchFamily="34" charset="-120"/>
              </a:rPr>
              <a:t>Surplus</a:t>
            </a:r>
            <a:endParaRPr lang="en-US" sz="880" dirty="0"/>
          </a:p>
        </p:txBody>
      </p:sp>
      <p:sp>
        <p:nvSpPr>
          <p:cNvPr id="53" name="Shape 51"/>
          <p:cNvSpPr/>
          <p:nvPr/>
        </p:nvSpPr>
        <p:spPr>
          <a:xfrm>
            <a:off x="4663440" y="4809744"/>
            <a:ext cx="7123176" cy="365760"/>
          </a:xfrm>
          <a:prstGeom prst="rect">
            <a:avLst/>
          </a:prstGeom>
          <a:solidFill>
            <a:srgbClr val="FFFFFF"/>
          </a:solidFill>
          <a:ln w="6350">
            <a:solidFill>
              <a:srgbClr val="D3DCE5"/>
            </a:solidFill>
            <a:prstDash val="solid"/>
          </a:ln>
        </p:spPr>
      </p:sp>
      <p:sp>
        <p:nvSpPr>
          <p:cNvPr id="54" name="Text 52"/>
          <p:cNvSpPr txBox="1"/>
          <p:nvPr/>
        </p:nvSpPr>
        <p:spPr>
          <a:xfrm>
            <a:off x="4727448" y="480974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Base case keeps lithium chemicals in surplus through 2026-27, with a deficit not arriving until the early 2030s.</a:t>
            </a:r>
            <a:endParaRPr lang="en-US" sz="880" dirty="0"/>
          </a:p>
        </p:txBody>
      </p:sp>
      <p:sp>
        <p:nvSpPr>
          <p:cNvPr id="55" name="Shape 53"/>
          <p:cNvSpPr/>
          <p:nvPr/>
        </p:nvSpPr>
        <p:spPr>
          <a:xfrm>
            <a:off x="411480" y="5175504"/>
            <a:ext cx="2103120" cy="365760"/>
          </a:xfrm>
          <a:prstGeom prst="rect">
            <a:avLst/>
          </a:prstGeom>
          <a:solidFill>
            <a:srgbClr val="F7F9FB"/>
          </a:solidFill>
          <a:ln w="6350">
            <a:solidFill>
              <a:srgbClr val="D3DCE5"/>
            </a:solidFill>
            <a:prstDash val="solid"/>
          </a:ln>
        </p:spPr>
      </p:sp>
      <p:sp>
        <p:nvSpPr>
          <p:cNvPr id="56" name="Text 54"/>
          <p:cNvSpPr txBox="1"/>
          <p:nvPr/>
        </p:nvSpPr>
        <p:spPr>
          <a:xfrm>
            <a:off x="475488" y="517550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IEA</a:t>
            </a:r>
            <a:endParaRPr lang="en-US" sz="880" dirty="0"/>
          </a:p>
        </p:txBody>
      </p:sp>
      <p:sp>
        <p:nvSpPr>
          <p:cNvPr id="57" name="Shape 55"/>
          <p:cNvSpPr/>
          <p:nvPr/>
        </p:nvSpPr>
        <p:spPr>
          <a:xfrm>
            <a:off x="2514600" y="5175504"/>
            <a:ext cx="2148840" cy="365760"/>
          </a:xfrm>
          <a:prstGeom prst="rect">
            <a:avLst/>
          </a:prstGeom>
          <a:solidFill>
            <a:srgbClr val="F7F9FB"/>
          </a:solidFill>
          <a:ln w="6350">
            <a:solidFill>
              <a:srgbClr val="D3DCE5"/>
            </a:solidFill>
            <a:prstDash val="solid"/>
          </a:ln>
        </p:spPr>
      </p:sp>
      <p:sp>
        <p:nvSpPr>
          <p:cNvPr id="58" name="Text 56"/>
          <p:cNvSpPr txBox="1"/>
          <p:nvPr/>
        </p:nvSpPr>
        <p:spPr>
          <a:xfrm>
            <a:off x="2578608" y="5175504"/>
            <a:ext cx="202082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Long-run shortfall</a:t>
            </a:r>
            <a:endParaRPr lang="en-US" sz="880" dirty="0"/>
          </a:p>
        </p:txBody>
      </p:sp>
      <p:sp>
        <p:nvSpPr>
          <p:cNvPr id="59" name="Shape 57"/>
          <p:cNvSpPr/>
          <p:nvPr/>
        </p:nvSpPr>
        <p:spPr>
          <a:xfrm>
            <a:off x="4663440" y="5175504"/>
            <a:ext cx="7123176" cy="365760"/>
          </a:xfrm>
          <a:prstGeom prst="rect">
            <a:avLst/>
          </a:prstGeom>
          <a:solidFill>
            <a:srgbClr val="F7F9FB"/>
          </a:solidFill>
          <a:ln w="6350">
            <a:solidFill>
              <a:srgbClr val="D3DCE5"/>
            </a:solidFill>
            <a:prstDash val="solid"/>
          </a:ln>
        </p:spPr>
      </p:sp>
      <p:sp>
        <p:nvSpPr>
          <p:cNvPr id="60" name="Text 58"/>
          <p:cNvSpPr txBox="1"/>
          <p:nvPr/>
        </p:nvSpPr>
        <p:spPr>
          <a:xfrm>
            <a:off x="4727448" y="517550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Under its STEPS scenario, announced projects fall about 40% short of 2035 demand.</a:t>
            </a:r>
            <a:endParaRPr lang="en-US" sz="880" dirty="0"/>
          </a:p>
        </p:txBody>
      </p:sp>
      <p:sp>
        <p:nvSpPr>
          <p:cNvPr id="61" name="Shape 59"/>
          <p:cNvSpPr/>
          <p:nvPr/>
        </p:nvSpPr>
        <p:spPr>
          <a:xfrm>
            <a:off x="411480" y="5614416"/>
            <a:ext cx="11375136" cy="713232"/>
          </a:xfrm>
          <a:prstGeom prst="rect">
            <a:avLst/>
          </a:prstGeom>
          <a:solidFill>
            <a:srgbClr val="EEF2F6"/>
          </a:solidFill>
          <a:ln w="9525">
            <a:solidFill>
              <a:srgbClr val="D3DCE5"/>
            </a:solidFill>
            <a:prstDash val="solid"/>
          </a:ln>
        </p:spPr>
      </p:sp>
      <p:sp>
        <p:nvSpPr>
          <p:cNvPr id="62" name="Text 60"/>
          <p:cNvSpPr txBox="1"/>
          <p:nvPr/>
        </p:nvSpPr>
        <p:spPr>
          <a:xfrm>
            <a:off x="576072" y="5742432"/>
            <a:ext cx="11045952" cy="49377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We have not smoothed this into one house view, because the disagreement is the point. Wood Mackenzie is the credible dissenter and we carry its view as our bear case rather than ignoring it. What every forecaster on this page agrees on is that 2025 was the peak surplus year.</a:t>
            </a:r>
            <a:endParaRPr lang="en-US" sz="940" dirty="0"/>
          </a:p>
        </p:txBody>
      </p:sp>
      <p:sp>
        <p:nvSpPr>
          <p:cNvPr id="63" name="Text 6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Platts SpodIX assessments, August 2026; Benchmark Mineral Intelligence, 12 August 2026; Fastmarkets; Morgan Stanley; UBS; Macquarie; Wood Mackenzie Lithium Energy Transition Outlook, 3 March 2026; IEA Global Critical Minerals Outlook 2026. LCE means lithium carbonate equivalent.</a:t>
            </a:r>
            <a:endParaRPr lang="en-US" sz="750" dirty="0"/>
          </a:p>
        </p:txBody>
      </p:sp>
      <p:sp>
        <p:nvSpPr>
          <p:cNvPr id="64" name="Text 6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Two sovereign supply shocks and a second demand pillar</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Whatever the next quarterly price print does, the shape of this market changed in 2026 - and none of it depends on electric vehicle subsidies.</a:t>
            </a:r>
            <a:endParaRPr lang="en-US" sz="1200" dirty="0"/>
          </a:p>
        </p:txBody>
      </p:sp>
      <p:sp>
        <p:nvSpPr>
          <p:cNvPr id="13" name="Shape 11"/>
          <p:cNvSpPr/>
          <p:nvPr/>
        </p:nvSpPr>
        <p:spPr>
          <a:xfrm>
            <a:off x="411480" y="1627632"/>
            <a:ext cx="3675888" cy="2103120"/>
          </a:xfrm>
          <a:prstGeom prst="rect">
            <a:avLst/>
          </a:prstGeom>
          <a:solidFill>
            <a:srgbClr val="F7F9FB"/>
          </a:solidFill>
          <a:ln w="9525">
            <a:solidFill>
              <a:srgbClr val="D3DCE5"/>
            </a:solidFill>
            <a:prstDash val="solid"/>
          </a:ln>
        </p:spPr>
      </p:sp>
      <p:sp>
        <p:nvSpPr>
          <p:cNvPr id="14" name="Shape 12"/>
          <p:cNvSpPr/>
          <p:nvPr/>
        </p:nvSpPr>
        <p:spPr>
          <a:xfrm>
            <a:off x="557784" y="1773936"/>
            <a:ext cx="310896" cy="310896"/>
          </a:xfrm>
          <a:prstGeom prst="ellipse">
            <a:avLst/>
          </a:prstGeom>
          <a:solidFill>
            <a:srgbClr val="10233A"/>
          </a:solidFill>
          <a:ln/>
        </p:spPr>
      </p:sp>
      <p:sp>
        <p:nvSpPr>
          <p:cNvPr id="15" name="Text 13"/>
          <p:cNvSpPr txBox="1"/>
          <p:nvPr/>
        </p:nvSpPr>
        <p:spPr>
          <a:xfrm>
            <a:off x="557784"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6" name="Text 14"/>
          <p:cNvSpPr txBox="1"/>
          <p:nvPr/>
        </p:nvSpPr>
        <p:spPr>
          <a:xfrm>
            <a:off x="960120"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China removed its own largest mine, twice</a:t>
            </a:r>
            <a:endParaRPr lang="en-US" sz="1150" dirty="0"/>
          </a:p>
        </p:txBody>
      </p:sp>
      <p:sp>
        <p:nvSpPr>
          <p:cNvPr id="17" name="Text 15"/>
          <p:cNvSpPr txBox="1"/>
          <p:nvPr/>
        </p:nvSpPr>
        <p:spPr>
          <a:xfrm>
            <a:off x="594360" y="2194560"/>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CATL's Jianxiawo mine, about 150ktpa LCE and the largest lithium operation in China, was suspended in August 2025, restarted in mid-2026 and re-suspended in August 2026.</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Benchmark cut its 2026 estimate for the site from 62.5kt to 32kt LCE. The regulatory review may not conclude until 2027.</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 further 108ktpa LCE of Jiangxi capacity sits under the same licence scrutiny.</a:t>
            </a:r>
            <a:endParaRPr lang="en-US" sz="880" dirty="0"/>
          </a:p>
        </p:txBody>
      </p:sp>
      <p:sp>
        <p:nvSpPr>
          <p:cNvPr id="18" name="Shape 16"/>
          <p:cNvSpPr/>
          <p:nvPr/>
        </p:nvSpPr>
        <p:spPr>
          <a:xfrm>
            <a:off x="4261104" y="1627632"/>
            <a:ext cx="3675888" cy="2103120"/>
          </a:xfrm>
          <a:prstGeom prst="rect">
            <a:avLst/>
          </a:prstGeom>
          <a:solidFill>
            <a:srgbClr val="F7F9FB"/>
          </a:solidFill>
          <a:ln w="9525">
            <a:solidFill>
              <a:srgbClr val="D3DCE5"/>
            </a:solidFill>
            <a:prstDash val="solid"/>
          </a:ln>
        </p:spPr>
      </p:sp>
      <p:sp>
        <p:nvSpPr>
          <p:cNvPr id="19" name="Shape 17"/>
          <p:cNvSpPr/>
          <p:nvPr/>
        </p:nvSpPr>
        <p:spPr>
          <a:xfrm>
            <a:off x="4407408" y="1773936"/>
            <a:ext cx="310896" cy="310896"/>
          </a:xfrm>
          <a:prstGeom prst="ellipse">
            <a:avLst/>
          </a:prstGeom>
          <a:solidFill>
            <a:srgbClr val="10233A"/>
          </a:solidFill>
          <a:ln/>
        </p:spPr>
      </p:sp>
      <p:sp>
        <p:nvSpPr>
          <p:cNvPr id="20" name="Text 18"/>
          <p:cNvSpPr txBox="1"/>
          <p:nvPr/>
        </p:nvSpPr>
        <p:spPr>
          <a:xfrm>
            <a:off x="4407408"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1" name="Text 19"/>
          <p:cNvSpPr txBox="1"/>
          <p:nvPr/>
        </p:nvSpPr>
        <p:spPr>
          <a:xfrm>
            <a:off x="4809744"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Zimbabwe closed the door early</a:t>
            </a:r>
            <a:endParaRPr lang="en-US" sz="1150" dirty="0"/>
          </a:p>
        </p:txBody>
      </p:sp>
      <p:sp>
        <p:nvSpPr>
          <p:cNvPr id="22" name="Text 20"/>
          <p:cNvSpPr txBox="1"/>
          <p:nvPr/>
        </p:nvSpPr>
        <p:spPr>
          <a:xfrm>
            <a:off x="4443984" y="2194560"/>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All raw mineral and concentrate exports were banned from 25 February 2026.</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market had expected concentrate exports to stay legal until January 2027, so this arrived nearly a year early.</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Two unrelated, sovereign-driven disruptions inside twelve months is a more robust supply argument than either alone.</a:t>
            </a:r>
            <a:endParaRPr lang="en-US" sz="880" dirty="0"/>
          </a:p>
        </p:txBody>
      </p:sp>
      <p:sp>
        <p:nvSpPr>
          <p:cNvPr id="23" name="Shape 21"/>
          <p:cNvSpPr/>
          <p:nvPr/>
        </p:nvSpPr>
        <p:spPr>
          <a:xfrm>
            <a:off x="8110728" y="1627632"/>
            <a:ext cx="3675888" cy="2103120"/>
          </a:xfrm>
          <a:prstGeom prst="rect">
            <a:avLst/>
          </a:prstGeom>
          <a:solidFill>
            <a:srgbClr val="F7F9FB"/>
          </a:solidFill>
          <a:ln w="9525">
            <a:solidFill>
              <a:srgbClr val="D3DCE5"/>
            </a:solidFill>
            <a:prstDash val="solid"/>
          </a:ln>
        </p:spPr>
      </p:sp>
      <p:sp>
        <p:nvSpPr>
          <p:cNvPr id="24" name="Shape 22"/>
          <p:cNvSpPr/>
          <p:nvPr/>
        </p:nvSpPr>
        <p:spPr>
          <a:xfrm>
            <a:off x="8257032" y="1773936"/>
            <a:ext cx="310896" cy="310896"/>
          </a:xfrm>
          <a:prstGeom prst="ellipse">
            <a:avLst/>
          </a:prstGeom>
          <a:solidFill>
            <a:srgbClr val="0E7C6B"/>
          </a:solidFill>
          <a:ln/>
        </p:spPr>
      </p:sp>
      <p:sp>
        <p:nvSpPr>
          <p:cNvPr id="25" name="Text 23"/>
          <p:cNvSpPr txBox="1"/>
          <p:nvPr/>
        </p:nvSpPr>
        <p:spPr>
          <a:xfrm>
            <a:off x="8257032"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6" name="Text 24"/>
          <p:cNvSpPr txBox="1"/>
          <p:nvPr/>
        </p:nvSpPr>
        <p:spPr>
          <a:xfrm>
            <a:off x="8659368" y="1755648"/>
            <a:ext cx="2980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Storage became a demand pillar of its own</a:t>
            </a:r>
            <a:endParaRPr lang="en-US" sz="1150" dirty="0"/>
          </a:p>
        </p:txBody>
      </p:sp>
      <p:sp>
        <p:nvSpPr>
          <p:cNvPr id="27" name="Text 25"/>
          <p:cNvSpPr txBox="1"/>
          <p:nvPr/>
        </p:nvSpPr>
        <p:spPr>
          <a:xfrm>
            <a:off x="8293608" y="2194560"/>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Battery storage installations grew about 51% in 2025, on top of 26% growth in electric-vehicle battery demand.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Storage went from roughly 23% of lithium demand in 2025 to about 31% in 2026, pulled by datacentre power demand.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This leg is structurally independent of the vehicle-subsidy cycle now working against the market in the United States.</a:t>
            </a:r>
            <a:endParaRPr lang="en-US" sz="880" dirty="0"/>
          </a:p>
        </p:txBody>
      </p:sp>
      <p:sp>
        <p:nvSpPr>
          <p:cNvPr id="28" name="Shape 26"/>
          <p:cNvSpPr/>
          <p:nvPr/>
        </p:nvSpPr>
        <p:spPr>
          <a:xfrm>
            <a:off x="411480" y="3895344"/>
            <a:ext cx="5532120" cy="1536192"/>
          </a:xfrm>
          <a:prstGeom prst="rect">
            <a:avLst/>
          </a:prstGeom>
          <a:solidFill>
            <a:srgbClr val="D6EBE7"/>
          </a:solidFill>
          <a:ln w="9525">
            <a:solidFill>
              <a:srgbClr val="AFD3CC"/>
            </a:solidFill>
            <a:prstDash val="solid"/>
          </a:ln>
        </p:spPr>
      </p:sp>
      <p:sp>
        <p:nvSpPr>
          <p:cNvPr id="29" name="Text 27"/>
          <p:cNvSpPr txBox="1"/>
          <p:nvPr/>
        </p:nvSpPr>
        <p:spPr>
          <a:xfrm>
            <a:off x="576072" y="4023360"/>
            <a:ext cx="520293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the third one matters most</a:t>
            </a:r>
            <a:endParaRPr lang="en-US" sz="1150" dirty="0"/>
          </a:p>
        </p:txBody>
      </p:sp>
      <p:sp>
        <p:nvSpPr>
          <p:cNvPr id="30" name="Text 28"/>
          <p:cNvSpPr txBox="1"/>
          <p:nvPr/>
        </p:nvSpPr>
        <p:spPr>
          <a:xfrm>
            <a:off x="576072" y="4352544"/>
            <a:ext cx="5202936"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team in this competition will note that lithium demand grows with electric vehicles. That argument is exposed to a single policy variable, and that variable has turned hostile in the United States. Grid storage is not. It is pulled by electricity demand and by datacentre buildout, and it grew fast enough in 2026 to keep global lithium demand rising 17-30% through the US policy reversal rather than in spite of it.</a:t>
            </a:r>
            <a:endParaRPr lang="en-US" sz="940" dirty="0"/>
          </a:p>
        </p:txBody>
      </p:sp>
      <p:sp>
        <p:nvSpPr>
          <p:cNvPr id="31" name="Shape 29"/>
          <p:cNvSpPr/>
          <p:nvPr/>
        </p:nvSpPr>
        <p:spPr>
          <a:xfrm>
            <a:off x="6153912" y="3895344"/>
            <a:ext cx="5632704" cy="1536192"/>
          </a:xfrm>
          <a:prstGeom prst="rect">
            <a:avLst/>
          </a:prstGeom>
          <a:solidFill>
            <a:srgbClr val="F7F9FB"/>
          </a:solidFill>
          <a:ln w="9525">
            <a:solidFill>
              <a:srgbClr val="D3DCE5"/>
            </a:solidFill>
            <a:prstDash val="solid"/>
          </a:ln>
        </p:spPr>
      </p:sp>
      <p:sp>
        <p:nvSpPr>
          <p:cNvPr id="32" name="Text 30"/>
          <p:cNvSpPr txBox="1"/>
          <p:nvPr/>
        </p:nvSpPr>
        <p:spPr>
          <a:xfrm>
            <a:off x="6318504" y="4023360"/>
            <a:ext cx="5303520"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And what it takes to supply it</a:t>
            </a:r>
            <a:endParaRPr lang="en-US" sz="1150" dirty="0"/>
          </a:p>
        </p:txBody>
      </p:sp>
      <p:sp>
        <p:nvSpPr>
          <p:cNvPr id="33" name="Text 31"/>
          <p:cNvSpPr txBox="1"/>
          <p:nvPr/>
        </p:nvSpPr>
        <p:spPr>
          <a:xfrm>
            <a:off x="6318504" y="4352544"/>
            <a:ext cx="5303520"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Benchmark Mineral Intelligence puts the greenfield incentive price - the level at which genuinely new supply gets funded - sustainably above US$20,000-25,000/t LCE, and estimates that more than 300 new projects are needed by 2035. Our base case long-run price of about US$1,750/t realised sits below the level that incentive analysis implies. If Benchmark is right, we are being too cautious, not too aggressive.</a:t>
            </a:r>
            <a:endParaRPr lang="en-US" sz="940" dirty="0"/>
          </a:p>
        </p:txBody>
      </p:sp>
      <p:sp>
        <p:nvSpPr>
          <p:cNvPr id="34" name="Text 3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Benchmark Mineral Intelligence; Government of Zimbabwe export ban, 25 February 2026; Rho Motion and industry installation data; Reuters analyst poll (2026 demand growth of 17-30%).</a:t>
            </a:r>
            <a:endParaRPr lang="en-US" sz="750" dirty="0"/>
          </a:p>
        </p:txBody>
      </p:sp>
      <p:sp>
        <p:nvSpPr>
          <p:cNvPr id="35" name="Text 3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Pilgangoora earns cash at prices that shut a quarter of world supply</a:t>
            </a:r>
            <a:endParaRPr lang="en-US" sz="20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This is why swing tonnes come off before PLS's do, and why the balance sheet compounds through a downturn instead of surviving it.</a:t>
            </a:r>
            <a:endParaRPr lang="en-US" sz="1200" dirty="0"/>
          </a:p>
        </p:txBody>
      </p:sp>
      <p:graphicFrame>
        <p:nvGraphicFramePr>
          <p:cNvPr id="13" name="Chart 0" descr=""/>
          <p:cNvGraphicFramePr/>
          <p:nvPr/>
        </p:nvGraphicFramePr>
        <p:xfrm>
          <a:off x="411480" y="1627632"/>
          <a:ext cx="6492240" cy="3127248"/>
        </p:xfrm>
        <a:graphic xmlns:a="http://schemas.openxmlformats.org/drawingml/2006/main">
          <a:graphicData uri="http://schemas.openxmlformats.org/drawingml/2006/chart">
            <c:chart xmlns:c="http://schemas.openxmlformats.org/drawingml/2006/chart" r:id="rId1"/>
          </a:graphicData>
        </a:graphic>
      </p:graphicFrame>
      <p:sp>
        <p:nvSpPr>
          <p:cNvPr id="14" name="Shape 11"/>
          <p:cNvSpPr/>
          <p:nvPr/>
        </p:nvSpPr>
        <p:spPr>
          <a:xfrm>
            <a:off x="7104888" y="1627632"/>
            <a:ext cx="4681728" cy="1536192"/>
          </a:xfrm>
          <a:prstGeom prst="rect">
            <a:avLst/>
          </a:prstGeom>
          <a:solidFill>
            <a:srgbClr val="D6EBE7"/>
          </a:solidFill>
          <a:ln w="9525">
            <a:solidFill>
              <a:srgbClr val="AFD3CC"/>
            </a:solidFill>
            <a:prstDash val="solid"/>
          </a:ln>
        </p:spPr>
      </p:sp>
      <p:sp>
        <p:nvSpPr>
          <p:cNvPr id="15" name="Text 12"/>
          <p:cNvSpPr txBox="1"/>
          <p:nvPr/>
        </p:nvSpPr>
        <p:spPr>
          <a:xfrm>
            <a:off x="7269480" y="1755648"/>
            <a:ext cx="4370832"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Read it against our own bear case</a:t>
            </a:r>
            <a:endParaRPr lang="en-US" sz="1150" dirty="0"/>
          </a:p>
        </p:txBody>
      </p:sp>
      <p:sp>
        <p:nvSpPr>
          <p:cNvPr id="16" name="Text 13"/>
          <p:cNvSpPr txBox="1"/>
          <p:nvPr/>
        </p:nvSpPr>
        <p:spPr>
          <a:xfrm>
            <a:off x="7287768" y="2194560"/>
            <a:ext cx="4315968" cy="859536"/>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Our bear case assumes a realised price equal to roughly US$1,145/t on an SC6 basis.</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At that price the top decile of world supply is under water and PLS still earns about US$720/t of cash margin.</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That is the mechanism behind the phrase swing supply: the marginal tonne leaves the market before the low-cost tonne does.</a:t>
            </a:r>
            <a:endParaRPr lang="en-US" sz="900" dirty="0"/>
          </a:p>
        </p:txBody>
      </p:sp>
      <p:sp>
        <p:nvSpPr>
          <p:cNvPr id="17" name="Shape 14"/>
          <p:cNvSpPr/>
          <p:nvPr/>
        </p:nvSpPr>
        <p:spPr>
          <a:xfrm>
            <a:off x="7104888" y="3328416"/>
            <a:ext cx="4681728" cy="1426464"/>
          </a:xfrm>
          <a:prstGeom prst="rect">
            <a:avLst/>
          </a:prstGeom>
          <a:solidFill>
            <a:srgbClr val="F7F9FB"/>
          </a:solidFill>
          <a:ln w="9525">
            <a:solidFill>
              <a:srgbClr val="D3DCE5"/>
            </a:solidFill>
            <a:prstDash val="solid"/>
          </a:ln>
        </p:spPr>
      </p:sp>
      <p:sp>
        <p:nvSpPr>
          <p:cNvPr id="18" name="Text 15"/>
          <p:cNvSpPr txBox="1"/>
          <p:nvPr/>
        </p:nvSpPr>
        <p:spPr>
          <a:xfrm>
            <a:off x="7269480" y="3456432"/>
            <a:ext cx="4352544"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assumption most teams will get wrong</a:t>
            </a:r>
            <a:endParaRPr lang="en-US" sz="1150" dirty="0"/>
          </a:p>
        </p:txBody>
      </p:sp>
      <p:sp>
        <p:nvSpPr>
          <p:cNvPr id="19" name="Text 16"/>
          <p:cNvSpPr txBox="1"/>
          <p:nvPr/>
        </p:nvSpPr>
        <p:spPr>
          <a:xfrm>
            <a:off x="7269480" y="3785616"/>
            <a:ext cx="4352544" cy="8778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Brine is no longer automatically the cheap end of this industry. S&amp;P Global puts weighted Argentine brine all-in sustaining cost at US$7,223/t LCE in 2026, inflated by Argentine cost pressure, which is at or above much of the hard-rock curve. The old "brine beats rock" shorthand no longer describes the cost curve.</a:t>
            </a:r>
            <a:endParaRPr lang="en-US" sz="920" dirty="0"/>
          </a:p>
        </p:txBody>
      </p:sp>
      <p:sp>
        <p:nvSpPr>
          <p:cNvPr id="20" name="Shape 17"/>
          <p:cNvSpPr/>
          <p:nvPr/>
        </p:nvSpPr>
        <p:spPr>
          <a:xfrm>
            <a:off x="411480" y="4901184"/>
            <a:ext cx="11375136" cy="640080"/>
          </a:xfrm>
          <a:prstGeom prst="rect">
            <a:avLst/>
          </a:prstGeom>
          <a:solidFill>
            <a:srgbClr val="EEF2F6"/>
          </a:solidFill>
          <a:ln w="9525">
            <a:solidFill>
              <a:srgbClr val="D3DCE5"/>
            </a:solidFill>
            <a:prstDash val="solid"/>
          </a:ln>
        </p:spPr>
      </p:sp>
      <p:sp>
        <p:nvSpPr>
          <p:cNvPr id="21" name="Text 18"/>
          <p:cNvSpPr txBox="1"/>
          <p:nvPr/>
        </p:nvSpPr>
        <p:spPr>
          <a:xfrm>
            <a:off x="576072" y="5029200"/>
            <a:ext cx="11045952" cy="42062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Basis note. PLS reports A$569/t FOB on its own product grade of about SC5.2. Converted to an SC6 basis and translated at 0.65 AUD/USD, that is roughly US$425/t - the figure shown above. We have made the conversion explicit rather than comparing grades that are not alike.</a:t>
            </a:r>
            <a:endParaRPr lang="en-US" sz="880" dirty="0"/>
          </a:p>
        </p:txBody>
      </p:sp>
      <p:sp>
        <p:nvSpPr>
          <p:cNvPr id="22" name="Text 1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Market Intelligence Mine Cost Outlook, January 2026; CRU Group (lepidolite cost distribution); PLS Group FY26 results. Greenbushes is operated by Talison, a Tianqi, Albemarle and IGO joint venture.</a:t>
            </a:r>
            <a:endParaRPr lang="en-US" sz="750" dirty="0"/>
          </a:p>
        </p:txBody>
      </p:sp>
      <p:sp>
        <p:nvSpPr>
          <p:cNvPr id="23" name="Text 2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02</a:t>
            </a:r>
            <a:endParaRPr lang="en-US" sz="8800" dirty="0"/>
          </a:p>
        </p:txBody>
      </p:sp>
      <p:sp>
        <p:nvSpPr>
          <p:cNvPr id="3" name="Text 1"/>
          <p:cNvSpPr txBox="1"/>
          <p:nvPr/>
        </p:nvSpPr>
        <p:spPr>
          <a:xfrm>
            <a:off x="2148840" y="2103120"/>
            <a:ext cx="841248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The shared value case</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Porter and Kramer describe three levels of shared value. Most miners only ever reach the second one.</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07  The framework     08  Level one: market access     09  Level two: productivity     10  The critical eye     11  The value bridge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200" b="1" dirty="0">
                <a:solidFill>
                  <a:srgbClr val="10233A"/>
                </a:solidFill>
                <a:latin typeface="Cambria" pitchFamily="34" charset="0"/>
                <a:ea typeface="Cambria" pitchFamily="34" charset="-122"/>
                <a:cs typeface="Cambria" pitchFamily="34" charset="-120"/>
              </a:rPr>
              <a:t>Three levels of shared value, and where mining actually sits</a:t>
            </a:r>
            <a:endParaRPr lang="en-US" sz="22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Cutting cost while cutting emissions is real, but it is the middle level and every competent operator gets there. The first level is where advantage is created.</a:t>
            </a:r>
            <a:endParaRPr lang="en-US" sz="1200" dirty="0"/>
          </a:p>
        </p:txBody>
      </p:sp>
      <p:sp>
        <p:nvSpPr>
          <p:cNvPr id="13" name="Shape 11"/>
          <p:cNvSpPr/>
          <p:nvPr/>
        </p:nvSpPr>
        <p:spPr>
          <a:xfrm>
            <a:off x="411480" y="4005072"/>
            <a:ext cx="11375136" cy="1097280"/>
          </a:xfrm>
          <a:prstGeom prst="rect">
            <a:avLst/>
          </a:prstGeom>
          <a:solidFill>
            <a:srgbClr val="F7F9FB"/>
          </a:solidFill>
          <a:ln w="9525">
            <a:solidFill>
              <a:srgbClr val="D3DCE5"/>
            </a:solidFill>
            <a:prstDash val="solid"/>
          </a:ln>
        </p:spPr>
      </p:sp>
      <p:sp>
        <p:nvSpPr>
          <p:cNvPr id="14" name="Text 12"/>
          <p:cNvSpPr txBox="1"/>
          <p:nvPr/>
        </p:nvSpPr>
        <p:spPr>
          <a:xfrm>
            <a:off x="594360" y="4133088"/>
            <a:ext cx="868680" cy="310896"/>
          </a:xfrm>
          <a:prstGeom prst="rect">
            <a:avLst/>
          </a:prstGeom>
          <a:noFill/>
          <a:ln/>
        </p:spPr>
        <p:txBody>
          <a:bodyPr wrap="square" lIns="0" tIns="0" rIns="0" bIns="0" rtlCol="0" anchor="ctr"/>
          <a:lstStyle/>
          <a:p>
            <a:pPr indent="0" marL="0">
              <a:buNone/>
            </a:pPr>
            <a:r>
              <a:rPr lang="en-US" sz="1100" b="1" dirty="0">
                <a:solidFill>
                  <a:srgbClr val="5F7183"/>
                </a:solidFill>
                <a:latin typeface="Calibri" pitchFamily="34" charset="0"/>
                <a:ea typeface="Calibri" pitchFamily="34" charset="-122"/>
                <a:cs typeface="Calibri" pitchFamily="34" charset="-120"/>
              </a:rPr>
              <a:t>Level 3</a:t>
            </a:r>
            <a:endParaRPr lang="en-US" sz="1100" dirty="0"/>
          </a:p>
        </p:txBody>
      </p:sp>
      <p:sp>
        <p:nvSpPr>
          <p:cNvPr id="15" name="Text 13"/>
          <p:cNvSpPr txBox="1"/>
          <p:nvPr/>
        </p:nvSpPr>
        <p:spPr>
          <a:xfrm>
            <a:off x="1490472" y="4114800"/>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Enabling local cluster development</a:t>
            </a:r>
            <a:endParaRPr lang="en-US" sz="1300" dirty="0"/>
          </a:p>
        </p:txBody>
      </p:sp>
      <p:sp>
        <p:nvSpPr>
          <p:cNvPr id="16" name="Text 14"/>
          <p:cNvSpPr txBox="1"/>
          <p:nvPr/>
        </p:nvSpPr>
        <p:spPr>
          <a:xfrm>
            <a:off x="1490472" y="4425696"/>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Build the suppliers, skills and institutions the business depends on.</a:t>
            </a:r>
            <a:endParaRPr lang="en-US" sz="900" dirty="0"/>
          </a:p>
        </p:txBody>
      </p:sp>
      <p:sp>
        <p:nvSpPr>
          <p:cNvPr id="17" name="Text 15"/>
          <p:cNvSpPr txBox="1"/>
          <p:nvPr/>
        </p:nvSpPr>
        <p:spPr>
          <a:xfrm>
            <a:off x="5788152" y="4133088"/>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Traditional Owner agreements and Pilbara local content; in Brazil, the Salinas development including a flour-factory revitalisation supporting around 300 direct and indirect jobs.</a:t>
            </a:r>
            <a:endParaRPr lang="en-US" sz="900" dirty="0"/>
          </a:p>
        </p:txBody>
      </p:sp>
      <p:sp>
        <p:nvSpPr>
          <p:cNvPr id="18" name="Text 16"/>
          <p:cNvSpPr txBox="1"/>
          <p:nvPr/>
        </p:nvSpPr>
        <p:spPr>
          <a:xfrm>
            <a:off x="9939528" y="4133088"/>
            <a:ext cx="1691640" cy="859536"/>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Makes the growth executable</a:t>
            </a:r>
            <a:endParaRPr lang="en-US" sz="950" dirty="0"/>
          </a:p>
        </p:txBody>
      </p:sp>
      <p:sp>
        <p:nvSpPr>
          <p:cNvPr id="19" name="Shape 17"/>
          <p:cNvSpPr/>
          <p:nvPr/>
        </p:nvSpPr>
        <p:spPr>
          <a:xfrm>
            <a:off x="411480" y="2816352"/>
            <a:ext cx="11375136" cy="1097280"/>
          </a:xfrm>
          <a:prstGeom prst="rect">
            <a:avLst/>
          </a:prstGeom>
          <a:solidFill>
            <a:srgbClr val="F7F9FB"/>
          </a:solidFill>
          <a:ln w="9525">
            <a:solidFill>
              <a:srgbClr val="D3DCE5"/>
            </a:solidFill>
            <a:prstDash val="solid"/>
          </a:ln>
        </p:spPr>
      </p:sp>
      <p:sp>
        <p:nvSpPr>
          <p:cNvPr id="20" name="Text 18"/>
          <p:cNvSpPr txBox="1"/>
          <p:nvPr/>
        </p:nvSpPr>
        <p:spPr>
          <a:xfrm>
            <a:off x="594360" y="2944368"/>
            <a:ext cx="868680" cy="310896"/>
          </a:xfrm>
          <a:prstGeom prst="rect">
            <a:avLst/>
          </a:prstGeom>
          <a:noFill/>
          <a:ln/>
        </p:spPr>
        <p:txBody>
          <a:bodyPr wrap="square" lIns="0" tIns="0" rIns="0" bIns="0" rtlCol="0" anchor="ctr"/>
          <a:lstStyle/>
          <a:p>
            <a:pPr indent="0" marL="0">
              <a:buNone/>
            </a:pPr>
            <a:r>
              <a:rPr lang="en-US" sz="1100" b="1" dirty="0">
                <a:solidFill>
                  <a:srgbClr val="1C3A5E"/>
                </a:solidFill>
                <a:latin typeface="Calibri" pitchFamily="34" charset="0"/>
                <a:ea typeface="Calibri" pitchFamily="34" charset="-122"/>
                <a:cs typeface="Calibri" pitchFamily="34" charset="-120"/>
              </a:rPr>
              <a:t>Level 2</a:t>
            </a:r>
            <a:endParaRPr lang="en-US" sz="1100" dirty="0"/>
          </a:p>
        </p:txBody>
      </p:sp>
      <p:sp>
        <p:nvSpPr>
          <p:cNvPr id="21" name="Text 19"/>
          <p:cNvSpPr txBox="1"/>
          <p:nvPr/>
        </p:nvSpPr>
        <p:spPr>
          <a:xfrm>
            <a:off x="1490472" y="2926080"/>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Redefining productivity in the value chain</a:t>
            </a:r>
            <a:endParaRPr lang="en-US" sz="1300" dirty="0"/>
          </a:p>
        </p:txBody>
      </p:sp>
      <p:sp>
        <p:nvSpPr>
          <p:cNvPr id="22" name="Text 20"/>
          <p:cNvSpPr txBox="1"/>
          <p:nvPr/>
        </p:nvSpPr>
        <p:spPr>
          <a:xfrm>
            <a:off x="1490472" y="3236976"/>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Solve an environmental problem in a way that lowers cost.</a:t>
            </a:r>
            <a:endParaRPr lang="en-US" sz="900" dirty="0"/>
          </a:p>
        </p:txBody>
      </p:sp>
      <p:sp>
        <p:nvSpPr>
          <p:cNvPr id="23" name="Text 21"/>
          <p:cNvSpPr txBox="1"/>
          <p:nvPr/>
        </p:nvSpPr>
        <p:spPr>
          <a:xfrm>
            <a:off x="5788152" y="2944368"/>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sensor-based ore sorting rejects waste before the energy-intensive stages, so cost per tonne and energy per tonne fall together. Gas and solar displace diesel generation.</a:t>
            </a:r>
            <a:endParaRPr lang="en-US" sz="900" dirty="0"/>
          </a:p>
        </p:txBody>
      </p:sp>
      <p:sp>
        <p:nvSpPr>
          <p:cNvPr id="24" name="Text 22"/>
          <p:cNvSpPr txBox="1"/>
          <p:nvPr/>
        </p:nvSpPr>
        <p:spPr>
          <a:xfrm>
            <a:off x="9939528" y="2944368"/>
            <a:ext cx="1691640" cy="859536"/>
          </a:xfrm>
          <a:prstGeom prst="rect">
            <a:avLst/>
          </a:prstGeom>
          <a:noFill/>
          <a:ln/>
        </p:spPr>
        <p:txBody>
          <a:bodyPr wrap="square" lIns="0" tIns="0" rIns="0" bIns="0" rtlCol="0" anchor="ctr"/>
          <a:lstStyle/>
          <a:p>
            <a:pPr algn="r" indent="0" marL="0">
              <a:buNone/>
            </a:pPr>
            <a:r>
              <a:rPr lang="en-US" sz="950" b="1" dirty="0">
                <a:solidFill>
                  <a:srgbClr val="1C3A5E"/>
                </a:solidFill>
                <a:latin typeface="Calibri" pitchFamily="34" charset="0"/>
                <a:ea typeface="Calibri" pitchFamily="34" charset="-122"/>
                <a:cs typeface="Calibri" pitchFamily="34" charset="-120"/>
              </a:rPr>
              <a:t>Real, and roughly A$48/t</a:t>
            </a:r>
            <a:endParaRPr lang="en-US" sz="950" dirty="0"/>
          </a:p>
        </p:txBody>
      </p:sp>
      <p:sp>
        <p:nvSpPr>
          <p:cNvPr id="25" name="Shape 23"/>
          <p:cNvSpPr/>
          <p:nvPr/>
        </p:nvSpPr>
        <p:spPr>
          <a:xfrm>
            <a:off x="411480" y="1627632"/>
            <a:ext cx="11375136" cy="1097280"/>
          </a:xfrm>
          <a:prstGeom prst="rect">
            <a:avLst/>
          </a:prstGeom>
          <a:solidFill>
            <a:srgbClr val="D6EBE7"/>
          </a:solidFill>
          <a:ln w="9525">
            <a:solidFill>
              <a:srgbClr val="AFD3CC"/>
            </a:solidFill>
            <a:prstDash val="solid"/>
          </a:ln>
        </p:spPr>
      </p:sp>
      <p:sp>
        <p:nvSpPr>
          <p:cNvPr id="26" name="Text 24"/>
          <p:cNvSpPr txBox="1"/>
          <p:nvPr/>
        </p:nvSpPr>
        <p:spPr>
          <a:xfrm>
            <a:off x="594360" y="1755648"/>
            <a:ext cx="868680" cy="310896"/>
          </a:xfrm>
          <a:prstGeom prst="rect">
            <a:avLst/>
          </a:prstGeom>
          <a:noFill/>
          <a:ln/>
        </p:spPr>
        <p:txBody>
          <a:bodyPr wrap="square" lIns="0" tIns="0" rIns="0" bIns="0" rtlCol="0" anchor="ctr"/>
          <a:lstStyle/>
          <a:p>
            <a:pPr indent="0" marL="0">
              <a:buNone/>
            </a:pPr>
            <a:r>
              <a:rPr lang="en-US" sz="1100" b="1" dirty="0">
                <a:solidFill>
                  <a:srgbClr val="0E7C6B"/>
                </a:solidFill>
                <a:latin typeface="Calibri" pitchFamily="34" charset="0"/>
                <a:ea typeface="Calibri" pitchFamily="34" charset="-122"/>
                <a:cs typeface="Calibri" pitchFamily="34" charset="-120"/>
              </a:rPr>
              <a:t>Level 1</a:t>
            </a:r>
            <a:endParaRPr lang="en-US" sz="1100" dirty="0"/>
          </a:p>
        </p:txBody>
      </p:sp>
      <p:sp>
        <p:nvSpPr>
          <p:cNvPr id="27" name="Text 25"/>
          <p:cNvSpPr txBox="1"/>
          <p:nvPr/>
        </p:nvSpPr>
        <p:spPr>
          <a:xfrm>
            <a:off x="1490472" y="1737360"/>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Reconceiving products and markets</a:t>
            </a:r>
            <a:endParaRPr lang="en-US" sz="1300" dirty="0"/>
          </a:p>
        </p:txBody>
      </p:sp>
      <p:sp>
        <p:nvSpPr>
          <p:cNvPr id="28" name="Text 26"/>
          <p:cNvSpPr txBox="1"/>
          <p:nvPr/>
        </p:nvSpPr>
        <p:spPr>
          <a:xfrm>
            <a:off x="1490472" y="2048256"/>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Serve an unmet societal need in a way that opens a market that did not exist.</a:t>
            </a:r>
            <a:endParaRPr lang="en-US" sz="900" dirty="0"/>
          </a:p>
        </p:txBody>
      </p:sp>
      <p:sp>
        <p:nvSpPr>
          <p:cNvPr id="29" name="Text 27"/>
          <p:cNvSpPr txBox="1"/>
          <p:nvPr/>
        </p:nvSpPr>
        <p:spPr>
          <a:xfrm>
            <a:off x="5788152" y="1755648"/>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electric calcination and a Korean conversion joint venture produce a low-carbon, traceable, non-China unit at the moment carbon intensity is becoming a condition of sale.</a:t>
            </a:r>
            <a:endParaRPr lang="en-US" sz="900" dirty="0"/>
          </a:p>
        </p:txBody>
      </p:sp>
      <p:sp>
        <p:nvSpPr>
          <p:cNvPr id="30" name="Text 28"/>
          <p:cNvSpPr txBox="1"/>
          <p:nvPr/>
        </p:nvSpPr>
        <p:spPr>
          <a:xfrm>
            <a:off x="9939528" y="1755648"/>
            <a:ext cx="1691640" cy="859536"/>
          </a:xfrm>
          <a:prstGeom prst="rect">
            <a:avLst/>
          </a:prstGeom>
          <a:noFill/>
          <a:ln/>
        </p:spPr>
        <p:txBody>
          <a:bodyPr wrap="square" lIns="0" tIns="0" rIns="0" bIns="0" rtlCol="0" anchor="ctr"/>
          <a:lstStyle/>
          <a:p>
            <a:pPr algn="r" indent="0" marL="0">
              <a:buNone/>
            </a:pPr>
            <a:r>
              <a:rPr lang="en-US" sz="950" b="1" dirty="0">
                <a:solidFill>
                  <a:srgbClr val="0E7C6B"/>
                </a:solidFill>
                <a:latin typeface="Calibri" pitchFamily="34" charset="0"/>
                <a:ea typeface="Calibri" pitchFamily="34" charset="-122"/>
                <a:cs typeface="Calibri" pitchFamily="34" charset="-120"/>
              </a:rPr>
              <a:t>Where the advantage is</a:t>
            </a:r>
            <a:endParaRPr lang="en-US" sz="950" dirty="0"/>
          </a:p>
        </p:txBody>
      </p:sp>
      <p:sp>
        <p:nvSpPr>
          <p:cNvPr id="31" name="Text 2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Framework: Michael Porter and Mark Kramer, 'Creating Shared Value', Harvard Business Review, 2011. Company evidence per PLS disclosures; see appendix for the full evidence table and our confidence rating on each item.</a:t>
            </a:r>
            <a:endParaRPr lang="en-US" sz="750" dirty="0"/>
          </a:p>
        </p:txBody>
      </p:sp>
      <p:sp>
        <p:nvSpPr>
          <p:cNvPr id="32" name="Text 3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Carbon intensity is becoming a condition of sale</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tonne that cannot be declared cannot be sold into the highest-value chains at any price. PLS is building tonnes that can be.</a:t>
            </a:r>
            <a:endParaRPr lang="en-US" sz="1200" dirty="0"/>
          </a:p>
        </p:txBody>
      </p:sp>
      <p:sp>
        <p:nvSpPr>
          <p:cNvPr id="13" name="Shape 11"/>
          <p:cNvSpPr/>
          <p:nvPr/>
        </p:nvSpPr>
        <p:spPr>
          <a:xfrm>
            <a:off x="411480" y="1627632"/>
            <a:ext cx="2688336" cy="1810512"/>
          </a:xfrm>
          <a:prstGeom prst="rect">
            <a:avLst/>
          </a:prstGeom>
          <a:solidFill>
            <a:srgbClr val="D6EBE7"/>
          </a:solidFill>
          <a:ln w="9525">
            <a:solidFill>
              <a:srgbClr val="AFD3CC"/>
            </a:solidFill>
            <a:prstDash val="solid"/>
          </a:ln>
        </p:spPr>
      </p:sp>
      <p:sp>
        <p:nvSpPr>
          <p:cNvPr id="14" name="Text 12"/>
          <p:cNvSpPr txBox="1"/>
          <p:nvPr/>
        </p:nvSpPr>
        <p:spPr>
          <a:xfrm>
            <a:off x="557784" y="1737360"/>
            <a:ext cx="27432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1</a:t>
            </a:r>
            <a:endParaRPr lang="en-US" sz="1000" dirty="0"/>
          </a:p>
        </p:txBody>
      </p:sp>
      <p:sp>
        <p:nvSpPr>
          <p:cNvPr id="15" name="Text 13"/>
          <p:cNvSpPr txBox="1"/>
          <p:nvPr/>
        </p:nvSpPr>
        <p:spPr>
          <a:xfrm>
            <a:off x="55778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Electric calcination</a:t>
            </a:r>
            <a:endParaRPr lang="en-US" sz="1100" dirty="0"/>
          </a:p>
        </p:txBody>
      </p:sp>
      <p:sp>
        <p:nvSpPr>
          <p:cNvPr id="16" name="Text 14"/>
          <p:cNvSpPr txBox="1"/>
          <p:nvPr/>
        </p:nvSpPr>
        <p:spPr>
          <a:xfrm>
            <a:off x="55778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Calix technology, 100% PLS owned. Opened 5 June 2026; first lithium phosphate guided for the September 2026 quarter. Cuts calcination emissions by more than 80%.</a:t>
            </a:r>
            <a:endParaRPr lang="en-US" sz="850" dirty="0"/>
          </a:p>
        </p:txBody>
      </p:sp>
      <p:sp>
        <p:nvSpPr>
          <p:cNvPr id="17" name="Text 15"/>
          <p:cNvSpPr txBox="1"/>
          <p:nvPr/>
        </p:nvSpPr>
        <p:spPr>
          <a:xfrm>
            <a:off x="3099816" y="2313432"/>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18" name="Shape 16"/>
          <p:cNvSpPr/>
          <p:nvPr/>
        </p:nvSpPr>
        <p:spPr>
          <a:xfrm>
            <a:off x="3291840" y="1627632"/>
            <a:ext cx="2688336" cy="1810512"/>
          </a:xfrm>
          <a:prstGeom prst="rect">
            <a:avLst/>
          </a:prstGeom>
          <a:solidFill>
            <a:srgbClr val="F7F9FB"/>
          </a:solidFill>
          <a:ln w="9525">
            <a:solidFill>
              <a:srgbClr val="D3DCE5"/>
            </a:solidFill>
            <a:prstDash val="solid"/>
          </a:ln>
        </p:spPr>
      </p:sp>
      <p:sp>
        <p:nvSpPr>
          <p:cNvPr id="19" name="Text 17"/>
          <p:cNvSpPr txBox="1"/>
          <p:nvPr/>
        </p:nvSpPr>
        <p:spPr>
          <a:xfrm>
            <a:off x="3438144" y="1737360"/>
            <a:ext cx="274320" cy="2560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2</a:t>
            </a:r>
            <a:endParaRPr lang="en-US" sz="1000" dirty="0"/>
          </a:p>
        </p:txBody>
      </p:sp>
      <p:sp>
        <p:nvSpPr>
          <p:cNvPr id="20" name="Text 18"/>
          <p:cNvSpPr txBox="1"/>
          <p:nvPr/>
        </p:nvSpPr>
        <p:spPr>
          <a:xfrm>
            <a:off x="343814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A declarable unit</a:t>
            </a:r>
            <a:endParaRPr lang="en-US" sz="1100" dirty="0"/>
          </a:p>
        </p:txBody>
      </p:sp>
      <p:sp>
        <p:nvSpPr>
          <p:cNvPr id="21" name="Text 19"/>
          <p:cNvSpPr txBox="1"/>
          <p:nvPr/>
        </p:nvSpPr>
        <p:spPr>
          <a:xfrm>
            <a:off x="343814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Calcination is the most energy-intensive step in the chain. Removing its emissions is what makes a low carbon footprint declarable rather than merely claimed.</a:t>
            </a:r>
            <a:endParaRPr lang="en-US" sz="850" dirty="0"/>
          </a:p>
        </p:txBody>
      </p:sp>
      <p:sp>
        <p:nvSpPr>
          <p:cNvPr id="22" name="Text 20"/>
          <p:cNvSpPr txBox="1"/>
          <p:nvPr/>
        </p:nvSpPr>
        <p:spPr>
          <a:xfrm>
            <a:off x="5980176" y="2313432"/>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23" name="Shape 21"/>
          <p:cNvSpPr/>
          <p:nvPr/>
        </p:nvSpPr>
        <p:spPr>
          <a:xfrm>
            <a:off x="6172200" y="1627632"/>
            <a:ext cx="2688336" cy="1810512"/>
          </a:xfrm>
          <a:prstGeom prst="rect">
            <a:avLst/>
          </a:prstGeom>
          <a:solidFill>
            <a:srgbClr val="F7F9FB"/>
          </a:solidFill>
          <a:ln w="9525">
            <a:solidFill>
              <a:srgbClr val="D3DCE5"/>
            </a:solidFill>
            <a:prstDash val="solid"/>
          </a:ln>
        </p:spPr>
      </p:sp>
      <p:sp>
        <p:nvSpPr>
          <p:cNvPr id="24" name="Text 22"/>
          <p:cNvSpPr txBox="1"/>
          <p:nvPr/>
        </p:nvSpPr>
        <p:spPr>
          <a:xfrm>
            <a:off x="6318504" y="1737360"/>
            <a:ext cx="274320" cy="2560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3</a:t>
            </a:r>
            <a:endParaRPr lang="en-US" sz="1000" dirty="0"/>
          </a:p>
        </p:txBody>
      </p:sp>
      <p:sp>
        <p:nvSpPr>
          <p:cNvPr id="25" name="Text 23"/>
          <p:cNvSpPr txBox="1"/>
          <p:nvPr/>
        </p:nvSpPr>
        <p:spPr>
          <a:xfrm>
            <a:off x="631850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Qualification</a:t>
            </a:r>
            <a:endParaRPr lang="en-US" sz="1100" dirty="0"/>
          </a:p>
        </p:txBody>
      </p:sp>
      <p:sp>
        <p:nvSpPr>
          <p:cNvPr id="26" name="Text 24"/>
          <p:cNvSpPr txBox="1"/>
          <p:nvPr/>
        </p:nvSpPr>
        <p:spPr>
          <a:xfrm>
            <a:off x="631850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EU Battery Regulation requires a carbon footprint declaration and, from 2027, a battery passport. US foreign-entity-of-concern rules restrict China-linked chains. Korean and Japanese cell makers qualify suppliers on provenance.</a:t>
            </a:r>
            <a:endParaRPr lang="en-US" sz="850" dirty="0"/>
          </a:p>
        </p:txBody>
      </p:sp>
      <p:sp>
        <p:nvSpPr>
          <p:cNvPr id="27" name="Text 25"/>
          <p:cNvSpPr txBox="1"/>
          <p:nvPr/>
        </p:nvSpPr>
        <p:spPr>
          <a:xfrm>
            <a:off x="8860536" y="2313432"/>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28" name="Shape 26"/>
          <p:cNvSpPr/>
          <p:nvPr/>
        </p:nvSpPr>
        <p:spPr>
          <a:xfrm>
            <a:off x="9052560" y="1627632"/>
            <a:ext cx="2688336" cy="1810512"/>
          </a:xfrm>
          <a:prstGeom prst="rect">
            <a:avLst/>
          </a:prstGeom>
          <a:solidFill>
            <a:srgbClr val="D6EBE7"/>
          </a:solidFill>
          <a:ln w="9525">
            <a:solidFill>
              <a:srgbClr val="AFD3CC"/>
            </a:solidFill>
            <a:prstDash val="solid"/>
          </a:ln>
        </p:spPr>
      </p:sp>
      <p:sp>
        <p:nvSpPr>
          <p:cNvPr id="29" name="Text 27"/>
          <p:cNvSpPr txBox="1"/>
          <p:nvPr/>
        </p:nvSpPr>
        <p:spPr>
          <a:xfrm>
            <a:off x="9198864" y="1737360"/>
            <a:ext cx="27432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4</a:t>
            </a:r>
            <a:endParaRPr lang="en-US" sz="1000" dirty="0"/>
          </a:p>
        </p:txBody>
      </p:sp>
      <p:sp>
        <p:nvSpPr>
          <p:cNvPr id="30" name="Text 28"/>
          <p:cNvSpPr txBox="1"/>
          <p:nvPr/>
        </p:nvSpPr>
        <p:spPr>
          <a:xfrm>
            <a:off x="919886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A market others cannot enter</a:t>
            </a:r>
            <a:endParaRPr lang="en-US" sz="1100" dirty="0"/>
          </a:p>
        </p:txBody>
      </p:sp>
      <p:sp>
        <p:nvSpPr>
          <p:cNvPr id="31" name="Text 29"/>
          <p:cNvSpPr txBox="1"/>
          <p:nvPr/>
        </p:nvSpPr>
        <p:spPr>
          <a:xfrm>
            <a:off x="919886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PLS supplies an 18%-owned Korean hydroxide joint venture at Gwangyang, with an option to lift that stake to 30% - a non-China conversion route into the customers who need one.</a:t>
            </a:r>
            <a:endParaRPr lang="en-US" sz="850" dirty="0"/>
          </a:p>
        </p:txBody>
      </p:sp>
      <p:sp>
        <p:nvSpPr>
          <p:cNvPr id="32" name="Shape 30"/>
          <p:cNvSpPr/>
          <p:nvPr/>
        </p:nvSpPr>
        <p:spPr>
          <a:xfrm>
            <a:off x="411480" y="3602736"/>
            <a:ext cx="5532120" cy="1700784"/>
          </a:xfrm>
          <a:prstGeom prst="rect">
            <a:avLst/>
          </a:prstGeom>
          <a:solidFill>
            <a:srgbClr val="FBEBD9"/>
          </a:solidFill>
          <a:ln w="9525">
            <a:solidFill>
              <a:srgbClr val="E8C9A3"/>
            </a:solidFill>
            <a:prstDash val="solid"/>
          </a:ln>
        </p:spPr>
      </p:sp>
      <p:sp>
        <p:nvSpPr>
          <p:cNvPr id="33" name="Text 31"/>
          <p:cNvSpPr txBox="1"/>
          <p:nvPr/>
        </p:nvSpPr>
        <p:spPr>
          <a:xfrm>
            <a:off x="576072" y="3730752"/>
            <a:ext cx="520293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still carry this at zero in the target</a:t>
            </a:r>
            <a:endParaRPr lang="en-US" sz="1150" dirty="0"/>
          </a:p>
        </p:txBody>
      </p:sp>
      <p:sp>
        <p:nvSpPr>
          <p:cNvPr id="34" name="Text 32"/>
          <p:cNvSpPr txBox="1"/>
          <p:nvPr/>
        </p:nvSpPr>
        <p:spPr>
          <a:xfrm>
            <a:off x="576072" y="4059936"/>
            <a:ext cx="5202936"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mid-stream plant has not produced yet. The joint venture is still ramping. And we searched PLS's disclosed contracts for a carbon-linked price premium and could not find one. Sizing a prize is not the same as booking it, so none of this is in the A$6.12 target. It is quantified on the next page and held outside.</a:t>
            </a:r>
            <a:endParaRPr lang="en-US" sz="940" dirty="0"/>
          </a:p>
        </p:txBody>
      </p:sp>
      <p:sp>
        <p:nvSpPr>
          <p:cNvPr id="35" name="Shape 33"/>
          <p:cNvSpPr/>
          <p:nvPr/>
        </p:nvSpPr>
        <p:spPr>
          <a:xfrm>
            <a:off x="6153912" y="3602736"/>
            <a:ext cx="5632704" cy="1700784"/>
          </a:xfrm>
          <a:prstGeom prst="rect">
            <a:avLst/>
          </a:prstGeom>
          <a:solidFill>
            <a:srgbClr val="D6EBE7"/>
          </a:solidFill>
          <a:ln w="9525">
            <a:solidFill>
              <a:srgbClr val="AFD3CC"/>
            </a:solidFill>
            <a:prstDash val="solid"/>
          </a:ln>
        </p:spPr>
      </p:sp>
      <p:sp>
        <p:nvSpPr>
          <p:cNvPr id="36" name="Text 34"/>
          <p:cNvSpPr txBox="1"/>
          <p:nvPr/>
        </p:nvSpPr>
        <p:spPr>
          <a:xfrm>
            <a:off x="6318504" y="3730752"/>
            <a:ext cx="5303520"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it is still the thesis</a:t>
            </a:r>
            <a:endParaRPr lang="en-US" sz="1150" dirty="0"/>
          </a:p>
        </p:txBody>
      </p:sp>
      <p:sp>
        <p:nvSpPr>
          <p:cNvPr id="37" name="Text 35"/>
          <p:cNvSpPr txBox="1"/>
          <p:nvPr/>
        </p:nvSpPr>
        <p:spPr>
          <a:xfrm>
            <a:off x="6318504" y="4059936"/>
            <a:ext cx="5303520"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other lever in this deck lowers a cost that a competitor can also lower. This one changes which customers PLS is allowed to serve. That is Porter and Kramer's first level, it is the only lever on offer across these six companies that creates a market rather than defends a margin, and it is the reason we are recommending a lithium producer rather than a diversified major.</a:t>
            </a:r>
            <a:endParaRPr lang="en-US" sz="940" dirty="0"/>
          </a:p>
        </p:txBody>
      </p:sp>
      <p:sp>
        <p:nvSpPr>
          <p:cNvPr id="38" name="Text 3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and Calix announcements (plant opened 5 June 2026, ARENA-supported); POSCO Pilbara Lithium Solution disclosures; EU Regulation 2023/1542 on batteries and waste batteries; US Inflation Reduction Act foreign-entity-of-concern provisions. The &gt;80% figure is the reduction in calcination emissions specifically, not in PLS's total footprint.</a:t>
            </a:r>
            <a:endParaRPr lang="en-US" sz="750" dirty="0"/>
          </a:p>
        </p:txBody>
      </p:sp>
      <p:sp>
        <p:nvSpPr>
          <p:cNvPr id="39" name="Text 3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Productivity: real money, honestly labelled</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These two levers are worth about A$48/t. They are also things a good operator would do without an ESG label, and we would rather say so than be caught pretending otherwise.</a:t>
            </a:r>
            <a:endParaRPr lang="en-US" sz="1200" dirty="0"/>
          </a:p>
        </p:txBody>
      </p:sp>
      <p:sp>
        <p:nvSpPr>
          <p:cNvPr id="13" name="Shape 11"/>
          <p:cNvSpPr/>
          <p:nvPr/>
        </p:nvSpPr>
        <p:spPr>
          <a:xfrm>
            <a:off x="411480" y="1627632"/>
            <a:ext cx="5532120" cy="2103120"/>
          </a:xfrm>
          <a:prstGeom prst="rect">
            <a:avLst/>
          </a:prstGeom>
          <a:solidFill>
            <a:srgbClr val="F7F9FB"/>
          </a:solidFill>
          <a:ln w="9525">
            <a:solidFill>
              <a:srgbClr val="D3DCE5"/>
            </a:solidFill>
            <a:prstDash val="solid"/>
          </a:ln>
        </p:spPr>
      </p:sp>
      <p:sp>
        <p:nvSpPr>
          <p:cNvPr id="14" name="Text 12"/>
          <p:cNvSpPr txBox="1"/>
          <p:nvPr/>
        </p:nvSpPr>
        <p:spPr>
          <a:xfrm>
            <a:off x="576072" y="1755648"/>
            <a:ext cx="52029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Lever 1  |  Sensor-based ore sorting</a:t>
            </a:r>
            <a:endParaRPr lang="en-US" sz="1150" dirty="0"/>
          </a:p>
        </p:txBody>
      </p:sp>
      <p:sp>
        <p:nvSpPr>
          <p:cNvPr id="15" name="Text 13"/>
          <p:cNvSpPr txBox="1"/>
          <p:nvPr/>
        </p:nvSpPr>
        <p:spPr>
          <a:xfrm>
            <a:off x="576072" y="2084832"/>
            <a:ext cx="5202936"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A$103m P680 project installed a TOMRA sensor-based sorter, described by the supplier as the largest in lithium at over 1,000 tonnes per hour, commissioned in August 2024. It rejects barren rock before the crushing and flotation stages, so fewer tonnes are milled for the same lithium output.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How we get to A$30/t.  FY26 unit costs fell A$58/t, from A$627 to A$569. Volumes rose 17% over the same period, so roughly half of that fall is fixed-cost dilution on higher throughput. We attribute the remaining half - about A$29/t, which we round to A$30/t - to ore sorting and the associated processing improvements. This is our estimate, not a company disclosure.</a:t>
            </a:r>
            <a:endParaRPr lang="en-US" sz="920" dirty="0"/>
          </a:p>
        </p:txBody>
      </p:sp>
      <p:sp>
        <p:nvSpPr>
          <p:cNvPr id="16" name="Shape 14"/>
          <p:cNvSpPr/>
          <p:nvPr/>
        </p:nvSpPr>
        <p:spPr>
          <a:xfrm>
            <a:off x="6153912" y="1627632"/>
            <a:ext cx="5632704" cy="2103120"/>
          </a:xfrm>
          <a:prstGeom prst="rect">
            <a:avLst/>
          </a:prstGeom>
          <a:solidFill>
            <a:srgbClr val="F7F9FB"/>
          </a:solidFill>
          <a:ln w="9525">
            <a:solidFill>
              <a:srgbClr val="D3DCE5"/>
            </a:solidFill>
            <a:prstDash val="solid"/>
          </a:ln>
        </p:spPr>
      </p:sp>
      <p:sp>
        <p:nvSpPr>
          <p:cNvPr id="17" name="Text 15"/>
          <p:cNvSpPr txBox="1"/>
          <p:nvPr/>
        </p:nvSpPr>
        <p:spPr>
          <a:xfrm>
            <a:off x="6318504" y="1755648"/>
            <a:ext cx="5303520"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Lever 2  |  Power</a:t>
            </a:r>
            <a:endParaRPr lang="en-US" sz="1150" dirty="0"/>
          </a:p>
        </p:txBody>
      </p:sp>
      <p:sp>
        <p:nvSpPr>
          <p:cNvPr id="18" name="Text 16"/>
          <p:cNvSpPr txBox="1"/>
          <p:nvPr/>
        </p:nvSpPr>
        <p:spPr>
          <a:xfrm>
            <a:off x="6318504" y="2084832"/>
            <a:ext cx="5303520"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Pilgangoora runs on its own generation rather than the state grid. Eight new gas gensets and LNG storage have displaced diesel, with battery storage planned to firm future solar. The company targets roughly 48% lower power emissions intensity by 2027, and up to 80% by 2030 if regional wind becomes available.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How we get to A$18/t.  Power is typically 15-20% of hard-rock processing cost, so call it about A$95/t of the A$569/t base. A diesel-to-gas-and-solar switch of the scale described would cut that by roughly a fifth, or about A$19/t, which we round down to A$18/t. Again, our estimate. PLS does not disclose a power cost per tonne.</a:t>
            </a:r>
            <a:endParaRPr lang="en-US" sz="920" dirty="0"/>
          </a:p>
        </p:txBody>
      </p:sp>
      <p:sp>
        <p:nvSpPr>
          <p:cNvPr id="19" name="Shape 17"/>
          <p:cNvSpPr/>
          <p:nvPr/>
        </p:nvSpPr>
        <p:spPr>
          <a:xfrm>
            <a:off x="411480" y="3895344"/>
            <a:ext cx="3931920" cy="292608"/>
          </a:xfrm>
          <a:prstGeom prst="rect">
            <a:avLst/>
          </a:prstGeom>
          <a:solidFill>
            <a:srgbClr val="10233A"/>
          </a:solidFill>
          <a:ln/>
        </p:spPr>
      </p:sp>
      <p:sp>
        <p:nvSpPr>
          <p:cNvPr id="20" name="Text 18"/>
          <p:cNvSpPr txBox="1"/>
          <p:nvPr/>
        </p:nvSpPr>
        <p:spPr>
          <a:xfrm>
            <a:off x="475488" y="3895344"/>
            <a:ext cx="3803904" cy="292608"/>
          </a:xfrm>
          <a:prstGeom prst="rect">
            <a:avLst/>
          </a:prstGeom>
          <a:noFill/>
          <a:ln/>
        </p:spPr>
        <p:txBody>
          <a:bodyPr wrap="square" lIns="0" tIns="0" rIns="0" bIns="0" rtlCol="0" anchor="ctr"/>
          <a:lstStyle/>
          <a:p>
            <a:pPr algn="l" indent="0" marL="0">
              <a:buNone/>
            </a:pPr>
            <a:endParaRPr lang="en-US" sz="840" dirty="0"/>
          </a:p>
        </p:txBody>
      </p:sp>
      <p:sp>
        <p:nvSpPr>
          <p:cNvPr id="21" name="Shape 19"/>
          <p:cNvSpPr/>
          <p:nvPr/>
        </p:nvSpPr>
        <p:spPr>
          <a:xfrm>
            <a:off x="4343400" y="3895344"/>
            <a:ext cx="1143000" cy="292608"/>
          </a:xfrm>
          <a:prstGeom prst="rect">
            <a:avLst/>
          </a:prstGeom>
          <a:solidFill>
            <a:srgbClr val="10233A"/>
          </a:solidFill>
          <a:ln/>
        </p:spPr>
      </p:sp>
      <p:sp>
        <p:nvSpPr>
          <p:cNvPr id="22" name="Text 20"/>
          <p:cNvSpPr txBox="1"/>
          <p:nvPr/>
        </p:nvSpPr>
        <p:spPr>
          <a:xfrm>
            <a:off x="4407408" y="3895344"/>
            <a:ext cx="101498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A$/t</a:t>
            </a:r>
            <a:endParaRPr lang="en-US" sz="840" dirty="0"/>
          </a:p>
        </p:txBody>
      </p:sp>
      <p:sp>
        <p:nvSpPr>
          <p:cNvPr id="23" name="Shape 21"/>
          <p:cNvSpPr/>
          <p:nvPr/>
        </p:nvSpPr>
        <p:spPr>
          <a:xfrm>
            <a:off x="5486400" y="3895344"/>
            <a:ext cx="2788920" cy="292608"/>
          </a:xfrm>
          <a:prstGeom prst="rect">
            <a:avLst/>
          </a:prstGeom>
          <a:solidFill>
            <a:srgbClr val="10233A"/>
          </a:solidFill>
          <a:ln/>
        </p:spPr>
      </p:sp>
      <p:sp>
        <p:nvSpPr>
          <p:cNvPr id="24" name="Text 22"/>
          <p:cNvSpPr txBox="1"/>
          <p:nvPr/>
        </p:nvSpPr>
        <p:spPr>
          <a:xfrm>
            <a:off x="5550408" y="3895344"/>
            <a:ext cx="266090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PV at A$20.5m per A$1/t (A$m)</a:t>
            </a:r>
            <a:endParaRPr lang="en-US" sz="840" dirty="0"/>
          </a:p>
        </p:txBody>
      </p:sp>
      <p:sp>
        <p:nvSpPr>
          <p:cNvPr id="25" name="Shape 23"/>
          <p:cNvSpPr/>
          <p:nvPr/>
        </p:nvSpPr>
        <p:spPr>
          <a:xfrm>
            <a:off x="8275320" y="3895344"/>
            <a:ext cx="1188720" cy="292608"/>
          </a:xfrm>
          <a:prstGeom prst="rect">
            <a:avLst/>
          </a:prstGeom>
          <a:solidFill>
            <a:srgbClr val="10233A"/>
          </a:solidFill>
          <a:ln/>
        </p:spPr>
      </p:sp>
      <p:sp>
        <p:nvSpPr>
          <p:cNvPr id="26" name="Text 24"/>
          <p:cNvSpPr txBox="1"/>
          <p:nvPr/>
        </p:nvSpPr>
        <p:spPr>
          <a:xfrm>
            <a:off x="8339328" y="3895344"/>
            <a:ext cx="106070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A$/share</a:t>
            </a:r>
            <a:endParaRPr lang="en-US" sz="840" dirty="0"/>
          </a:p>
        </p:txBody>
      </p:sp>
      <p:sp>
        <p:nvSpPr>
          <p:cNvPr id="27" name="Shape 25"/>
          <p:cNvSpPr/>
          <p:nvPr/>
        </p:nvSpPr>
        <p:spPr>
          <a:xfrm>
            <a:off x="9464040" y="3895344"/>
            <a:ext cx="2322576" cy="292608"/>
          </a:xfrm>
          <a:prstGeom prst="rect">
            <a:avLst/>
          </a:prstGeom>
          <a:solidFill>
            <a:srgbClr val="10233A"/>
          </a:solidFill>
          <a:ln/>
        </p:spPr>
      </p:sp>
      <p:sp>
        <p:nvSpPr>
          <p:cNvPr id="28" name="Text 26"/>
          <p:cNvSpPr txBox="1"/>
          <p:nvPr/>
        </p:nvSpPr>
        <p:spPr>
          <a:xfrm>
            <a:off x="9528048" y="3895344"/>
            <a:ext cx="2194560"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Evidence</a:t>
            </a:r>
            <a:endParaRPr lang="en-US" sz="840" dirty="0"/>
          </a:p>
        </p:txBody>
      </p:sp>
      <p:sp>
        <p:nvSpPr>
          <p:cNvPr id="29" name="Shape 27"/>
          <p:cNvSpPr/>
          <p:nvPr/>
        </p:nvSpPr>
        <p:spPr>
          <a:xfrm>
            <a:off x="411480" y="4187952"/>
            <a:ext cx="3931920" cy="274320"/>
          </a:xfrm>
          <a:prstGeom prst="rect">
            <a:avLst/>
          </a:prstGeom>
          <a:solidFill>
            <a:srgbClr val="FFFFFF"/>
          </a:solidFill>
          <a:ln w="6350">
            <a:solidFill>
              <a:srgbClr val="D3DCE5"/>
            </a:solidFill>
            <a:prstDash val="solid"/>
          </a:ln>
        </p:spPr>
      </p:sp>
      <p:sp>
        <p:nvSpPr>
          <p:cNvPr id="30" name="Text 28"/>
          <p:cNvSpPr txBox="1"/>
          <p:nvPr/>
        </p:nvSpPr>
        <p:spPr>
          <a:xfrm>
            <a:off x="475488" y="4187952"/>
            <a:ext cx="3803904" cy="274320"/>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Sensor-based ore sorting</a:t>
            </a:r>
            <a:endParaRPr lang="en-US" sz="900" dirty="0"/>
          </a:p>
        </p:txBody>
      </p:sp>
      <p:sp>
        <p:nvSpPr>
          <p:cNvPr id="31" name="Shape 29"/>
          <p:cNvSpPr/>
          <p:nvPr/>
        </p:nvSpPr>
        <p:spPr>
          <a:xfrm>
            <a:off x="4343400" y="4187952"/>
            <a:ext cx="1143000" cy="274320"/>
          </a:xfrm>
          <a:prstGeom prst="rect">
            <a:avLst/>
          </a:prstGeom>
          <a:solidFill>
            <a:srgbClr val="FFFFFF"/>
          </a:solidFill>
          <a:ln w="6350">
            <a:solidFill>
              <a:srgbClr val="D3DCE5"/>
            </a:solidFill>
            <a:prstDash val="solid"/>
          </a:ln>
        </p:spPr>
      </p:sp>
      <p:sp>
        <p:nvSpPr>
          <p:cNvPr id="32" name="Text 30"/>
          <p:cNvSpPr txBox="1"/>
          <p:nvPr/>
        </p:nvSpPr>
        <p:spPr>
          <a:xfrm>
            <a:off x="4407408" y="4187952"/>
            <a:ext cx="101498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30</a:t>
            </a:r>
            <a:endParaRPr lang="en-US" sz="900" dirty="0"/>
          </a:p>
        </p:txBody>
      </p:sp>
      <p:sp>
        <p:nvSpPr>
          <p:cNvPr id="33" name="Shape 31"/>
          <p:cNvSpPr/>
          <p:nvPr/>
        </p:nvSpPr>
        <p:spPr>
          <a:xfrm>
            <a:off x="5486400" y="4187952"/>
            <a:ext cx="2788920" cy="274320"/>
          </a:xfrm>
          <a:prstGeom prst="rect">
            <a:avLst/>
          </a:prstGeom>
          <a:solidFill>
            <a:srgbClr val="FFFFFF"/>
          </a:solidFill>
          <a:ln w="6350">
            <a:solidFill>
              <a:srgbClr val="D3DCE5"/>
            </a:solidFill>
            <a:prstDash val="solid"/>
          </a:ln>
        </p:spPr>
      </p:sp>
      <p:sp>
        <p:nvSpPr>
          <p:cNvPr id="34" name="Text 32"/>
          <p:cNvSpPr txBox="1"/>
          <p:nvPr/>
        </p:nvSpPr>
        <p:spPr>
          <a:xfrm>
            <a:off x="5550408" y="4187952"/>
            <a:ext cx="26609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614</a:t>
            </a:r>
            <a:endParaRPr lang="en-US" sz="900" dirty="0"/>
          </a:p>
        </p:txBody>
      </p:sp>
      <p:sp>
        <p:nvSpPr>
          <p:cNvPr id="35" name="Shape 33"/>
          <p:cNvSpPr/>
          <p:nvPr/>
        </p:nvSpPr>
        <p:spPr>
          <a:xfrm>
            <a:off x="8275320" y="4187952"/>
            <a:ext cx="1188720" cy="274320"/>
          </a:xfrm>
          <a:prstGeom prst="rect">
            <a:avLst/>
          </a:prstGeom>
          <a:solidFill>
            <a:srgbClr val="FFFFFF"/>
          </a:solidFill>
          <a:ln w="6350">
            <a:solidFill>
              <a:srgbClr val="D3DCE5"/>
            </a:solidFill>
            <a:prstDash val="solid"/>
          </a:ln>
        </p:spPr>
      </p:sp>
      <p:sp>
        <p:nvSpPr>
          <p:cNvPr id="36" name="Text 34"/>
          <p:cNvSpPr txBox="1"/>
          <p:nvPr/>
        </p:nvSpPr>
        <p:spPr>
          <a:xfrm>
            <a:off x="8339328" y="4187952"/>
            <a:ext cx="10607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0.19</a:t>
            </a:r>
            <a:endParaRPr lang="en-US" sz="900" dirty="0"/>
          </a:p>
        </p:txBody>
      </p:sp>
      <p:sp>
        <p:nvSpPr>
          <p:cNvPr id="37" name="Shape 35"/>
          <p:cNvSpPr/>
          <p:nvPr/>
        </p:nvSpPr>
        <p:spPr>
          <a:xfrm>
            <a:off x="9464040" y="4187952"/>
            <a:ext cx="2322576" cy="274320"/>
          </a:xfrm>
          <a:prstGeom prst="rect">
            <a:avLst/>
          </a:prstGeom>
          <a:solidFill>
            <a:srgbClr val="FFFFFF"/>
          </a:solidFill>
          <a:ln w="6350">
            <a:solidFill>
              <a:srgbClr val="D3DCE5"/>
            </a:solidFill>
            <a:prstDash val="solid"/>
          </a:ln>
        </p:spPr>
      </p:sp>
      <p:sp>
        <p:nvSpPr>
          <p:cNvPr id="38" name="Text 36"/>
          <p:cNvSpPr txBox="1"/>
          <p:nvPr/>
        </p:nvSpPr>
        <p:spPr>
          <a:xfrm>
            <a:off x="9528048" y="4187952"/>
            <a:ext cx="2194560" cy="274320"/>
          </a:xfrm>
          <a:prstGeom prst="rect">
            <a:avLst/>
          </a:prstGeom>
          <a:noFill/>
          <a:ln/>
        </p:spPr>
        <p:txBody>
          <a:bodyPr wrap="square" lIns="0" tIns="0" rIns="0" bIns="0" rtlCol="0" anchor="ctr"/>
          <a:lstStyle/>
          <a:p>
            <a:pPr algn="ctr" indent="0" marL="0">
              <a:buNone/>
            </a:pPr>
            <a:r>
              <a:rPr lang="en-US" sz="900" b="1" dirty="0">
                <a:solidFill>
                  <a:srgbClr val="0E7C6B"/>
                </a:solidFill>
                <a:latin typeface="Calibri" pitchFamily="34" charset="0"/>
                <a:ea typeface="Calibri" pitchFamily="34" charset="-122"/>
                <a:cs typeface="Calibri" pitchFamily="34" charset="-120"/>
              </a:rPr>
              <a:t>Strong</a:t>
            </a:r>
            <a:endParaRPr lang="en-US" sz="900" dirty="0"/>
          </a:p>
        </p:txBody>
      </p:sp>
      <p:sp>
        <p:nvSpPr>
          <p:cNvPr id="39" name="Shape 37"/>
          <p:cNvSpPr/>
          <p:nvPr/>
        </p:nvSpPr>
        <p:spPr>
          <a:xfrm>
            <a:off x="411480" y="4462272"/>
            <a:ext cx="3931920" cy="274320"/>
          </a:xfrm>
          <a:prstGeom prst="rect">
            <a:avLst/>
          </a:prstGeom>
          <a:solidFill>
            <a:srgbClr val="F7F9FB"/>
          </a:solidFill>
          <a:ln w="6350">
            <a:solidFill>
              <a:srgbClr val="D3DCE5"/>
            </a:solidFill>
            <a:prstDash val="solid"/>
          </a:ln>
        </p:spPr>
      </p:sp>
      <p:sp>
        <p:nvSpPr>
          <p:cNvPr id="40" name="Text 38"/>
          <p:cNvSpPr txBox="1"/>
          <p:nvPr/>
        </p:nvSpPr>
        <p:spPr>
          <a:xfrm>
            <a:off x="475488" y="4462272"/>
            <a:ext cx="3803904" cy="274320"/>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Power: gas, solar and storage</a:t>
            </a:r>
            <a:endParaRPr lang="en-US" sz="900" dirty="0"/>
          </a:p>
        </p:txBody>
      </p:sp>
      <p:sp>
        <p:nvSpPr>
          <p:cNvPr id="41" name="Shape 39"/>
          <p:cNvSpPr/>
          <p:nvPr/>
        </p:nvSpPr>
        <p:spPr>
          <a:xfrm>
            <a:off x="4343400" y="4462272"/>
            <a:ext cx="1143000" cy="274320"/>
          </a:xfrm>
          <a:prstGeom prst="rect">
            <a:avLst/>
          </a:prstGeom>
          <a:solidFill>
            <a:srgbClr val="F7F9FB"/>
          </a:solidFill>
          <a:ln w="6350">
            <a:solidFill>
              <a:srgbClr val="D3DCE5"/>
            </a:solidFill>
            <a:prstDash val="solid"/>
          </a:ln>
        </p:spPr>
      </p:sp>
      <p:sp>
        <p:nvSpPr>
          <p:cNvPr id="42" name="Text 40"/>
          <p:cNvSpPr txBox="1"/>
          <p:nvPr/>
        </p:nvSpPr>
        <p:spPr>
          <a:xfrm>
            <a:off x="4407408" y="4462272"/>
            <a:ext cx="101498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18</a:t>
            </a:r>
            <a:endParaRPr lang="en-US" sz="900" dirty="0"/>
          </a:p>
        </p:txBody>
      </p:sp>
      <p:sp>
        <p:nvSpPr>
          <p:cNvPr id="43" name="Shape 41"/>
          <p:cNvSpPr/>
          <p:nvPr/>
        </p:nvSpPr>
        <p:spPr>
          <a:xfrm>
            <a:off x="5486400" y="4462272"/>
            <a:ext cx="2788920" cy="274320"/>
          </a:xfrm>
          <a:prstGeom prst="rect">
            <a:avLst/>
          </a:prstGeom>
          <a:solidFill>
            <a:srgbClr val="F7F9FB"/>
          </a:solidFill>
          <a:ln w="6350">
            <a:solidFill>
              <a:srgbClr val="D3DCE5"/>
            </a:solidFill>
            <a:prstDash val="solid"/>
          </a:ln>
        </p:spPr>
      </p:sp>
      <p:sp>
        <p:nvSpPr>
          <p:cNvPr id="44" name="Text 42"/>
          <p:cNvSpPr txBox="1"/>
          <p:nvPr/>
        </p:nvSpPr>
        <p:spPr>
          <a:xfrm>
            <a:off x="5550408" y="4462272"/>
            <a:ext cx="26609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368</a:t>
            </a:r>
            <a:endParaRPr lang="en-US" sz="900" dirty="0"/>
          </a:p>
        </p:txBody>
      </p:sp>
      <p:sp>
        <p:nvSpPr>
          <p:cNvPr id="45" name="Shape 43"/>
          <p:cNvSpPr/>
          <p:nvPr/>
        </p:nvSpPr>
        <p:spPr>
          <a:xfrm>
            <a:off x="8275320" y="4462272"/>
            <a:ext cx="1188720" cy="274320"/>
          </a:xfrm>
          <a:prstGeom prst="rect">
            <a:avLst/>
          </a:prstGeom>
          <a:solidFill>
            <a:srgbClr val="F7F9FB"/>
          </a:solidFill>
          <a:ln w="6350">
            <a:solidFill>
              <a:srgbClr val="D3DCE5"/>
            </a:solidFill>
            <a:prstDash val="solid"/>
          </a:ln>
        </p:spPr>
      </p:sp>
      <p:sp>
        <p:nvSpPr>
          <p:cNvPr id="46" name="Text 44"/>
          <p:cNvSpPr txBox="1"/>
          <p:nvPr/>
        </p:nvSpPr>
        <p:spPr>
          <a:xfrm>
            <a:off x="8339328" y="4462272"/>
            <a:ext cx="10607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0.11</a:t>
            </a:r>
            <a:endParaRPr lang="en-US" sz="900" dirty="0"/>
          </a:p>
        </p:txBody>
      </p:sp>
      <p:sp>
        <p:nvSpPr>
          <p:cNvPr id="47" name="Shape 45"/>
          <p:cNvSpPr/>
          <p:nvPr/>
        </p:nvSpPr>
        <p:spPr>
          <a:xfrm>
            <a:off x="9464040" y="4462272"/>
            <a:ext cx="2322576" cy="274320"/>
          </a:xfrm>
          <a:prstGeom prst="rect">
            <a:avLst/>
          </a:prstGeom>
          <a:solidFill>
            <a:srgbClr val="F7F9FB"/>
          </a:solidFill>
          <a:ln w="6350">
            <a:solidFill>
              <a:srgbClr val="D3DCE5"/>
            </a:solidFill>
            <a:prstDash val="solid"/>
          </a:ln>
        </p:spPr>
      </p:sp>
      <p:sp>
        <p:nvSpPr>
          <p:cNvPr id="48" name="Text 46"/>
          <p:cNvSpPr txBox="1"/>
          <p:nvPr/>
        </p:nvSpPr>
        <p:spPr>
          <a:xfrm>
            <a:off x="9528048" y="4462272"/>
            <a:ext cx="2194560" cy="274320"/>
          </a:xfrm>
          <a:prstGeom prst="rect">
            <a:avLst/>
          </a:prstGeom>
          <a:noFill/>
          <a:ln/>
        </p:spPr>
        <p:txBody>
          <a:bodyPr wrap="square" lIns="0" tIns="0" rIns="0" bIns="0" rtlCol="0" anchor="ctr"/>
          <a:lstStyle/>
          <a:p>
            <a:pPr algn="ctr" indent="0" marL="0">
              <a:buNone/>
            </a:pPr>
            <a:r>
              <a:rPr lang="en-US" sz="900" b="1" dirty="0">
                <a:solidFill>
                  <a:srgbClr val="C2610A"/>
                </a:solidFill>
                <a:latin typeface="Calibri" pitchFamily="34" charset="0"/>
                <a:ea typeface="Calibri" pitchFamily="34" charset="-122"/>
                <a:cs typeface="Calibri" pitchFamily="34" charset="-120"/>
              </a:rPr>
              <a:t>Moderate</a:t>
            </a:r>
            <a:endParaRPr lang="en-US" sz="900" dirty="0"/>
          </a:p>
        </p:txBody>
      </p:sp>
      <p:sp>
        <p:nvSpPr>
          <p:cNvPr id="49" name="Shape 47"/>
          <p:cNvSpPr/>
          <p:nvPr/>
        </p:nvSpPr>
        <p:spPr>
          <a:xfrm>
            <a:off x="411480" y="4736592"/>
            <a:ext cx="3931920" cy="274320"/>
          </a:xfrm>
          <a:prstGeom prst="rect">
            <a:avLst/>
          </a:prstGeom>
          <a:solidFill>
            <a:srgbClr val="D6EBE7"/>
          </a:solidFill>
          <a:ln w="6350">
            <a:solidFill>
              <a:srgbClr val="D3DCE5"/>
            </a:solidFill>
            <a:prstDash val="solid"/>
          </a:ln>
        </p:spPr>
      </p:sp>
      <p:sp>
        <p:nvSpPr>
          <p:cNvPr id="50" name="Text 48"/>
          <p:cNvSpPr txBox="1"/>
          <p:nvPr/>
        </p:nvSpPr>
        <p:spPr>
          <a:xfrm>
            <a:off x="475488" y="4736592"/>
            <a:ext cx="3803904" cy="274320"/>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Total productivity levers</a:t>
            </a:r>
            <a:endParaRPr lang="en-US" sz="900" dirty="0"/>
          </a:p>
        </p:txBody>
      </p:sp>
      <p:sp>
        <p:nvSpPr>
          <p:cNvPr id="51" name="Shape 49"/>
          <p:cNvSpPr/>
          <p:nvPr/>
        </p:nvSpPr>
        <p:spPr>
          <a:xfrm>
            <a:off x="4343400" y="4736592"/>
            <a:ext cx="1143000" cy="274320"/>
          </a:xfrm>
          <a:prstGeom prst="rect">
            <a:avLst/>
          </a:prstGeom>
          <a:solidFill>
            <a:srgbClr val="D6EBE7"/>
          </a:solidFill>
          <a:ln w="6350">
            <a:solidFill>
              <a:srgbClr val="D3DCE5"/>
            </a:solidFill>
            <a:prstDash val="solid"/>
          </a:ln>
        </p:spPr>
      </p:sp>
      <p:sp>
        <p:nvSpPr>
          <p:cNvPr id="52" name="Text 50"/>
          <p:cNvSpPr txBox="1"/>
          <p:nvPr/>
        </p:nvSpPr>
        <p:spPr>
          <a:xfrm>
            <a:off x="4407408" y="4736592"/>
            <a:ext cx="1014984" cy="274320"/>
          </a:xfrm>
          <a:prstGeom prst="rect">
            <a:avLst/>
          </a:prstGeom>
          <a:noFill/>
          <a:ln/>
        </p:spPr>
        <p:txBody>
          <a:bodyPr wrap="square" lIns="0" tIns="0" rIns="0" bIns="0" rtlCol="0" anchor="ctr"/>
          <a:lstStyle/>
          <a:p>
            <a:pPr algn="ctr" indent="0" marL="0">
              <a:buNone/>
            </a:pPr>
            <a:r>
              <a:rPr lang="en-US" sz="900" b="1" dirty="0">
                <a:solidFill>
                  <a:srgbClr val="1B2733"/>
                </a:solidFill>
                <a:latin typeface="Calibri" pitchFamily="34" charset="0"/>
                <a:ea typeface="Calibri" pitchFamily="34" charset="-122"/>
                <a:cs typeface="Calibri" pitchFamily="34" charset="-120"/>
              </a:rPr>
              <a:t>48</a:t>
            </a:r>
            <a:endParaRPr lang="en-US" sz="900" dirty="0"/>
          </a:p>
        </p:txBody>
      </p:sp>
      <p:sp>
        <p:nvSpPr>
          <p:cNvPr id="53" name="Shape 51"/>
          <p:cNvSpPr/>
          <p:nvPr/>
        </p:nvSpPr>
        <p:spPr>
          <a:xfrm>
            <a:off x="5486400" y="4736592"/>
            <a:ext cx="2788920" cy="274320"/>
          </a:xfrm>
          <a:prstGeom prst="rect">
            <a:avLst/>
          </a:prstGeom>
          <a:solidFill>
            <a:srgbClr val="D6EBE7"/>
          </a:solidFill>
          <a:ln w="6350">
            <a:solidFill>
              <a:srgbClr val="D3DCE5"/>
            </a:solidFill>
            <a:prstDash val="solid"/>
          </a:ln>
        </p:spPr>
      </p:sp>
      <p:sp>
        <p:nvSpPr>
          <p:cNvPr id="54" name="Text 52"/>
          <p:cNvSpPr txBox="1"/>
          <p:nvPr/>
        </p:nvSpPr>
        <p:spPr>
          <a:xfrm>
            <a:off x="5550408" y="4736592"/>
            <a:ext cx="2660904" cy="274320"/>
          </a:xfrm>
          <a:prstGeom prst="rect">
            <a:avLst/>
          </a:prstGeom>
          <a:noFill/>
          <a:ln/>
        </p:spPr>
        <p:txBody>
          <a:bodyPr wrap="square" lIns="0" tIns="0" rIns="0" bIns="0" rtlCol="0" anchor="ctr"/>
          <a:lstStyle/>
          <a:p>
            <a:pPr algn="ctr" indent="0" marL="0">
              <a:buNone/>
            </a:pPr>
            <a:r>
              <a:rPr lang="en-US" sz="900" b="1" dirty="0">
                <a:solidFill>
                  <a:srgbClr val="1B2733"/>
                </a:solidFill>
                <a:latin typeface="Calibri" pitchFamily="34" charset="0"/>
                <a:ea typeface="Calibri" pitchFamily="34" charset="-122"/>
                <a:cs typeface="Calibri" pitchFamily="34" charset="-120"/>
              </a:rPr>
              <a:t>982</a:t>
            </a:r>
            <a:endParaRPr lang="en-US" sz="900" dirty="0"/>
          </a:p>
        </p:txBody>
      </p:sp>
      <p:sp>
        <p:nvSpPr>
          <p:cNvPr id="55" name="Shape 53"/>
          <p:cNvSpPr/>
          <p:nvPr/>
        </p:nvSpPr>
        <p:spPr>
          <a:xfrm>
            <a:off x="8275320" y="4736592"/>
            <a:ext cx="1188720" cy="274320"/>
          </a:xfrm>
          <a:prstGeom prst="rect">
            <a:avLst/>
          </a:prstGeom>
          <a:solidFill>
            <a:srgbClr val="D6EBE7"/>
          </a:solidFill>
          <a:ln w="6350">
            <a:solidFill>
              <a:srgbClr val="D3DCE5"/>
            </a:solidFill>
            <a:prstDash val="solid"/>
          </a:ln>
        </p:spPr>
      </p:sp>
      <p:sp>
        <p:nvSpPr>
          <p:cNvPr id="56" name="Text 54"/>
          <p:cNvSpPr txBox="1"/>
          <p:nvPr/>
        </p:nvSpPr>
        <p:spPr>
          <a:xfrm>
            <a:off x="8339328" y="4736592"/>
            <a:ext cx="1060704" cy="274320"/>
          </a:xfrm>
          <a:prstGeom prst="rect">
            <a:avLst/>
          </a:prstGeom>
          <a:noFill/>
          <a:ln/>
        </p:spPr>
        <p:txBody>
          <a:bodyPr wrap="square" lIns="0" tIns="0" rIns="0" bIns="0" rtlCol="0" anchor="ctr"/>
          <a:lstStyle/>
          <a:p>
            <a:pPr algn="ctr" indent="0" marL="0">
              <a:buNone/>
            </a:pPr>
            <a:r>
              <a:rPr lang="en-US" sz="900" b="1" dirty="0">
                <a:solidFill>
                  <a:srgbClr val="0E7C6B"/>
                </a:solidFill>
                <a:latin typeface="Calibri" pitchFamily="34" charset="0"/>
                <a:ea typeface="Calibri" pitchFamily="34" charset="-122"/>
                <a:cs typeface="Calibri" pitchFamily="34" charset="-120"/>
              </a:rPr>
              <a:t>0.31</a:t>
            </a:r>
            <a:endParaRPr lang="en-US" sz="900" dirty="0"/>
          </a:p>
        </p:txBody>
      </p:sp>
      <p:sp>
        <p:nvSpPr>
          <p:cNvPr id="57" name="Shape 55"/>
          <p:cNvSpPr/>
          <p:nvPr/>
        </p:nvSpPr>
        <p:spPr>
          <a:xfrm>
            <a:off x="9464040" y="4736592"/>
            <a:ext cx="2322576" cy="274320"/>
          </a:xfrm>
          <a:prstGeom prst="rect">
            <a:avLst/>
          </a:prstGeom>
          <a:solidFill>
            <a:srgbClr val="D6EBE7"/>
          </a:solidFill>
          <a:ln w="6350">
            <a:solidFill>
              <a:srgbClr val="D3DCE5"/>
            </a:solidFill>
            <a:prstDash val="solid"/>
          </a:ln>
        </p:spPr>
      </p:sp>
      <p:sp>
        <p:nvSpPr>
          <p:cNvPr id="58" name="Text 56"/>
          <p:cNvSpPr txBox="1"/>
          <p:nvPr/>
        </p:nvSpPr>
        <p:spPr>
          <a:xfrm>
            <a:off x="9528048" y="4736592"/>
            <a:ext cx="2194560" cy="274320"/>
          </a:xfrm>
          <a:prstGeom prst="rect">
            <a:avLst/>
          </a:prstGeom>
          <a:noFill/>
          <a:ln/>
        </p:spPr>
        <p:txBody>
          <a:bodyPr wrap="square" lIns="0" tIns="0" rIns="0" bIns="0" rtlCol="0" anchor="ctr"/>
          <a:lstStyle/>
          <a:p>
            <a:pPr algn="ctr" indent="0" marL="0">
              <a:buNone/>
            </a:pPr>
            <a:endParaRPr lang="en-US" sz="900" dirty="0"/>
          </a:p>
        </p:txBody>
      </p:sp>
      <p:sp>
        <p:nvSpPr>
          <p:cNvPr id="59" name="Shape 57"/>
          <p:cNvSpPr/>
          <p:nvPr/>
        </p:nvSpPr>
        <p:spPr>
          <a:xfrm>
            <a:off x="411480" y="5010912"/>
            <a:ext cx="11375136" cy="566928"/>
          </a:xfrm>
          <a:prstGeom prst="rect">
            <a:avLst/>
          </a:prstGeom>
          <a:solidFill>
            <a:srgbClr val="EEF2F6"/>
          </a:solidFill>
          <a:ln w="9525">
            <a:solidFill>
              <a:srgbClr val="D3DCE5"/>
            </a:solidFill>
            <a:prstDash val="solid"/>
          </a:ln>
        </p:spPr>
      </p:sp>
      <p:sp>
        <p:nvSpPr>
          <p:cNvPr id="60" name="Text 58"/>
          <p:cNvSpPr txBox="1"/>
          <p:nvPr/>
        </p:nvSpPr>
        <p:spPr>
          <a:xfrm>
            <a:off x="576072" y="5138928"/>
            <a:ext cx="11045952" cy="347472"/>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The coefficient is from the model: one dollar per tonne of sustained unit margin, across the base-case volume profile, after tax and discounting, is worth A$20.5m of equity value.</a:t>
            </a:r>
            <a:endParaRPr lang="en-US" sz="880" dirty="0"/>
          </a:p>
        </p:txBody>
      </p:sp>
      <p:sp>
        <p:nvSpPr>
          <p:cNvPr id="61" name="Text 5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TOMRA Mining and Global Mining Review (sorter commissioned August 2024, &gt;1,000 t/h, described as the largest in lithium); PLS FY26 results (unit cost A$627/t to A$569/t); PLS power strategy disclosures. The A$30/t and A$18/t figures are the team's estimates with the arithmetic shown above, not company-disclosed savings.</a:t>
            </a:r>
            <a:endParaRPr lang="en-US" sz="750" dirty="0"/>
          </a:p>
        </p:txBody>
      </p:sp>
      <p:sp>
        <p:nvSpPr>
          <p:cNvPr id="62" name="Text 6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What we found when we went looking for the gaps</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case asks for a critical eye. Here is where PLS's shared-value story is thinner than its reporting suggests, and what we would put to management.</a:t>
            </a:r>
            <a:endParaRPr lang="en-US" sz="1200" dirty="0"/>
          </a:p>
        </p:txBody>
      </p:sp>
      <p:sp>
        <p:nvSpPr>
          <p:cNvPr id="13" name="Shape 11"/>
          <p:cNvSpPr/>
          <p:nvPr/>
        </p:nvSpPr>
        <p:spPr>
          <a:xfrm>
            <a:off x="411480" y="1627632"/>
            <a:ext cx="2331720" cy="292608"/>
          </a:xfrm>
          <a:prstGeom prst="rect">
            <a:avLst/>
          </a:prstGeom>
          <a:solidFill>
            <a:srgbClr val="10233A"/>
          </a:solidFill>
          <a:ln/>
        </p:spPr>
      </p:sp>
      <p:sp>
        <p:nvSpPr>
          <p:cNvPr id="14" name="Text 12"/>
          <p:cNvSpPr txBox="1"/>
          <p:nvPr/>
        </p:nvSpPr>
        <p:spPr>
          <a:xfrm>
            <a:off x="47548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looked for</a:t>
            </a:r>
            <a:endParaRPr lang="en-US" sz="900" dirty="0"/>
          </a:p>
        </p:txBody>
      </p:sp>
      <p:sp>
        <p:nvSpPr>
          <p:cNvPr id="15" name="Shape 13"/>
          <p:cNvSpPr/>
          <p:nvPr/>
        </p:nvSpPr>
        <p:spPr>
          <a:xfrm>
            <a:off x="2743200" y="1627632"/>
            <a:ext cx="4617720" cy="292608"/>
          </a:xfrm>
          <a:prstGeom prst="rect">
            <a:avLst/>
          </a:prstGeom>
          <a:solidFill>
            <a:srgbClr val="10233A"/>
          </a:solidFill>
          <a:ln/>
        </p:spPr>
      </p:sp>
      <p:sp>
        <p:nvSpPr>
          <p:cNvPr id="16" name="Text 14"/>
          <p:cNvSpPr txBox="1"/>
          <p:nvPr/>
        </p:nvSpPr>
        <p:spPr>
          <a:xfrm>
            <a:off x="2807208" y="1627632"/>
            <a:ext cx="4489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7" name="Shape 15"/>
          <p:cNvSpPr/>
          <p:nvPr/>
        </p:nvSpPr>
        <p:spPr>
          <a:xfrm>
            <a:off x="7360920" y="1627632"/>
            <a:ext cx="3017520" cy="292608"/>
          </a:xfrm>
          <a:prstGeom prst="rect">
            <a:avLst/>
          </a:prstGeom>
          <a:solidFill>
            <a:srgbClr val="10233A"/>
          </a:solidFill>
          <a:ln/>
        </p:spPr>
      </p:sp>
      <p:sp>
        <p:nvSpPr>
          <p:cNvPr id="18" name="Text 16"/>
          <p:cNvSpPr txBox="1"/>
          <p:nvPr/>
        </p:nvSpPr>
        <p:spPr>
          <a:xfrm>
            <a:off x="7424928" y="1627632"/>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matters to the investment case</a:t>
            </a:r>
            <a:endParaRPr lang="en-US" sz="900" dirty="0"/>
          </a:p>
        </p:txBody>
      </p:sp>
      <p:sp>
        <p:nvSpPr>
          <p:cNvPr id="19" name="Shape 17"/>
          <p:cNvSpPr/>
          <p:nvPr/>
        </p:nvSpPr>
        <p:spPr>
          <a:xfrm>
            <a:off x="10378440" y="1627632"/>
            <a:ext cx="1408176" cy="292608"/>
          </a:xfrm>
          <a:prstGeom prst="rect">
            <a:avLst/>
          </a:prstGeom>
          <a:solidFill>
            <a:srgbClr val="10233A"/>
          </a:solidFill>
          <a:ln/>
        </p:spPr>
      </p:sp>
      <p:sp>
        <p:nvSpPr>
          <p:cNvPr id="20" name="Text 18"/>
          <p:cNvSpPr txBox="1"/>
          <p:nvPr/>
        </p:nvSpPr>
        <p:spPr>
          <a:xfrm>
            <a:off x="10442448" y="1627632"/>
            <a:ext cx="12801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Severity</a:t>
            </a:r>
            <a:endParaRPr lang="en-US" sz="900" dirty="0"/>
          </a:p>
        </p:txBody>
      </p:sp>
      <p:sp>
        <p:nvSpPr>
          <p:cNvPr id="21" name="Shape 19"/>
          <p:cNvSpPr/>
          <p:nvPr/>
        </p:nvSpPr>
        <p:spPr>
          <a:xfrm>
            <a:off x="411480" y="1920240"/>
            <a:ext cx="2331720" cy="498348"/>
          </a:xfrm>
          <a:prstGeom prst="rect">
            <a:avLst/>
          </a:prstGeom>
          <a:solidFill>
            <a:srgbClr val="FFFFFF"/>
          </a:solidFill>
          <a:ln w="6350">
            <a:solidFill>
              <a:srgbClr val="D3DCE5"/>
            </a:solidFill>
            <a:prstDash val="solid"/>
          </a:ln>
        </p:spPr>
      </p:sp>
      <p:sp>
        <p:nvSpPr>
          <p:cNvPr id="22" name="Text 20"/>
          <p:cNvSpPr txBox="1"/>
          <p:nvPr/>
        </p:nvSpPr>
        <p:spPr>
          <a:xfrm>
            <a:off x="475488" y="1920240"/>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 dated net-zero commitment</a:t>
            </a:r>
            <a:endParaRPr lang="en-US" sz="850" dirty="0"/>
          </a:p>
        </p:txBody>
      </p:sp>
      <p:sp>
        <p:nvSpPr>
          <p:cNvPr id="23" name="Shape 21"/>
          <p:cNvSpPr/>
          <p:nvPr/>
        </p:nvSpPr>
        <p:spPr>
          <a:xfrm>
            <a:off x="2743200" y="1920240"/>
            <a:ext cx="4617720" cy="498348"/>
          </a:xfrm>
          <a:prstGeom prst="rect">
            <a:avLst/>
          </a:prstGeom>
          <a:solidFill>
            <a:srgbClr val="FFFFFF"/>
          </a:solidFill>
          <a:ln w="6350">
            <a:solidFill>
              <a:srgbClr val="D3DCE5"/>
            </a:solidFill>
            <a:prstDash val="solid"/>
          </a:ln>
        </p:spPr>
      </p:sp>
      <p:sp>
        <p:nvSpPr>
          <p:cNvPr id="24" name="Text 22"/>
          <p:cNvSpPr txBox="1"/>
          <p:nvPr/>
        </p:nvSpPr>
        <p:spPr>
          <a:xfrm>
            <a:off x="2807208" y="1920240"/>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target is a decade, not a year: "the decade commencing 2040". No SBTi validation was found.</a:t>
            </a:r>
            <a:endParaRPr lang="en-US" sz="850" dirty="0"/>
          </a:p>
        </p:txBody>
      </p:sp>
      <p:sp>
        <p:nvSpPr>
          <p:cNvPr id="25" name="Shape 23"/>
          <p:cNvSpPr/>
          <p:nvPr/>
        </p:nvSpPr>
        <p:spPr>
          <a:xfrm>
            <a:off x="7360920" y="1920240"/>
            <a:ext cx="3017520" cy="498348"/>
          </a:xfrm>
          <a:prstGeom prst="rect">
            <a:avLst/>
          </a:prstGeom>
          <a:solidFill>
            <a:srgbClr val="FFFFFF"/>
          </a:solidFill>
          <a:ln w="6350">
            <a:solidFill>
              <a:srgbClr val="D3DCE5"/>
            </a:solidFill>
            <a:prstDash val="solid"/>
          </a:ln>
        </p:spPr>
      </p:sp>
      <p:sp>
        <p:nvSpPr>
          <p:cNvPr id="26" name="Text 24"/>
          <p:cNvSpPr txBox="1"/>
          <p:nvPr/>
        </p:nvSpPr>
        <p:spPr>
          <a:xfrm>
            <a:off x="7424928" y="1920240"/>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ten-year window is not a plan a capital allocator can hold management to.</a:t>
            </a:r>
            <a:endParaRPr lang="en-US" sz="850" dirty="0"/>
          </a:p>
        </p:txBody>
      </p:sp>
      <p:sp>
        <p:nvSpPr>
          <p:cNvPr id="27" name="Shape 25"/>
          <p:cNvSpPr/>
          <p:nvPr/>
        </p:nvSpPr>
        <p:spPr>
          <a:xfrm>
            <a:off x="10378440" y="1920240"/>
            <a:ext cx="1408176" cy="498348"/>
          </a:xfrm>
          <a:prstGeom prst="rect">
            <a:avLst/>
          </a:prstGeom>
          <a:solidFill>
            <a:srgbClr val="FFFFFF"/>
          </a:solidFill>
          <a:ln w="6350">
            <a:solidFill>
              <a:srgbClr val="D3DCE5"/>
            </a:solidFill>
            <a:prstDash val="solid"/>
          </a:ln>
        </p:spPr>
      </p:sp>
      <p:sp>
        <p:nvSpPr>
          <p:cNvPr id="28" name="Text 26"/>
          <p:cNvSpPr txBox="1"/>
          <p:nvPr/>
        </p:nvSpPr>
        <p:spPr>
          <a:xfrm>
            <a:off x="10442448" y="1920240"/>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29" name="Shape 27"/>
          <p:cNvSpPr/>
          <p:nvPr/>
        </p:nvSpPr>
        <p:spPr>
          <a:xfrm>
            <a:off x="411480" y="2418588"/>
            <a:ext cx="2331720" cy="498348"/>
          </a:xfrm>
          <a:prstGeom prst="rect">
            <a:avLst/>
          </a:prstGeom>
          <a:solidFill>
            <a:srgbClr val="F7F9FB"/>
          </a:solidFill>
          <a:ln w="6350">
            <a:solidFill>
              <a:srgbClr val="D3DCE5"/>
            </a:solidFill>
            <a:prstDash val="solid"/>
          </a:ln>
        </p:spPr>
      </p:sp>
      <p:sp>
        <p:nvSpPr>
          <p:cNvPr id="30" name="Text 28"/>
          <p:cNvSpPr txBox="1"/>
          <p:nvPr/>
        </p:nvSpPr>
        <p:spPr>
          <a:xfrm>
            <a:off x="475488" y="2418588"/>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Scope 3 disclosure</a:t>
            </a:r>
            <a:endParaRPr lang="en-US" sz="850" dirty="0"/>
          </a:p>
        </p:txBody>
      </p:sp>
      <p:sp>
        <p:nvSpPr>
          <p:cNvPr id="31" name="Shape 29"/>
          <p:cNvSpPr/>
          <p:nvPr/>
        </p:nvSpPr>
        <p:spPr>
          <a:xfrm>
            <a:off x="2743200" y="2418588"/>
            <a:ext cx="4617720" cy="498348"/>
          </a:xfrm>
          <a:prstGeom prst="rect">
            <a:avLst/>
          </a:prstGeom>
          <a:solidFill>
            <a:srgbClr val="F7F9FB"/>
          </a:solidFill>
          <a:ln w="6350">
            <a:solidFill>
              <a:srgbClr val="D3DCE5"/>
            </a:solidFill>
            <a:prstDash val="solid"/>
          </a:ln>
        </p:spPr>
      </p:sp>
      <p:sp>
        <p:nvSpPr>
          <p:cNvPr id="32" name="Text 30"/>
          <p:cNvSpPr txBox="1"/>
          <p:nvPr/>
        </p:nvSpPr>
        <p:spPr>
          <a:xfrm>
            <a:off x="2807208" y="2418588"/>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None found. For a company whose product is consumed downstream, this is the emissions that matter most.</a:t>
            </a:r>
            <a:endParaRPr lang="en-US" sz="850" dirty="0"/>
          </a:p>
        </p:txBody>
      </p:sp>
      <p:sp>
        <p:nvSpPr>
          <p:cNvPr id="33" name="Shape 31"/>
          <p:cNvSpPr/>
          <p:nvPr/>
        </p:nvSpPr>
        <p:spPr>
          <a:xfrm>
            <a:off x="7360920" y="2418588"/>
            <a:ext cx="3017520" cy="498348"/>
          </a:xfrm>
          <a:prstGeom prst="rect">
            <a:avLst/>
          </a:prstGeom>
          <a:solidFill>
            <a:srgbClr val="F7F9FB"/>
          </a:solidFill>
          <a:ln w="6350">
            <a:solidFill>
              <a:srgbClr val="D3DCE5"/>
            </a:solidFill>
            <a:prstDash val="solid"/>
          </a:ln>
        </p:spPr>
      </p:sp>
      <p:sp>
        <p:nvSpPr>
          <p:cNvPr id="34" name="Text 32"/>
          <p:cNvSpPr txBox="1"/>
          <p:nvPr/>
        </p:nvSpPr>
        <p:spPr>
          <a:xfrm>
            <a:off x="7424928" y="2418588"/>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Undermines the low-carbon claim precisely where customers will audit it.</a:t>
            </a:r>
            <a:endParaRPr lang="en-US" sz="850" dirty="0"/>
          </a:p>
        </p:txBody>
      </p:sp>
      <p:sp>
        <p:nvSpPr>
          <p:cNvPr id="35" name="Shape 33"/>
          <p:cNvSpPr/>
          <p:nvPr/>
        </p:nvSpPr>
        <p:spPr>
          <a:xfrm>
            <a:off x="10378440" y="2418588"/>
            <a:ext cx="1408176" cy="498348"/>
          </a:xfrm>
          <a:prstGeom prst="rect">
            <a:avLst/>
          </a:prstGeom>
          <a:solidFill>
            <a:srgbClr val="F7F9FB"/>
          </a:solidFill>
          <a:ln w="6350">
            <a:solidFill>
              <a:srgbClr val="D3DCE5"/>
            </a:solidFill>
            <a:prstDash val="solid"/>
          </a:ln>
        </p:spPr>
      </p:sp>
      <p:sp>
        <p:nvSpPr>
          <p:cNvPr id="36" name="Text 34"/>
          <p:cNvSpPr txBox="1"/>
          <p:nvPr/>
        </p:nvSpPr>
        <p:spPr>
          <a:xfrm>
            <a:off x="10442448" y="2418588"/>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37" name="Shape 35"/>
          <p:cNvSpPr/>
          <p:nvPr/>
        </p:nvSpPr>
        <p:spPr>
          <a:xfrm>
            <a:off x="411480" y="2916936"/>
            <a:ext cx="2331720" cy="498348"/>
          </a:xfrm>
          <a:prstGeom prst="rect">
            <a:avLst/>
          </a:prstGeom>
          <a:solidFill>
            <a:srgbClr val="FFFFFF"/>
          </a:solidFill>
          <a:ln w="6350">
            <a:solidFill>
              <a:srgbClr val="D3DCE5"/>
            </a:solidFill>
            <a:prstDash val="solid"/>
          </a:ln>
        </p:spPr>
      </p:sp>
      <p:sp>
        <p:nvSpPr>
          <p:cNvPr id="38" name="Text 36"/>
          <p:cNvSpPr txBox="1"/>
          <p:nvPr/>
        </p:nvSpPr>
        <p:spPr>
          <a:xfrm>
            <a:off x="475488" y="2916936"/>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Emissions intensity per tonne</a:t>
            </a:r>
            <a:endParaRPr lang="en-US" sz="850" dirty="0"/>
          </a:p>
        </p:txBody>
      </p:sp>
      <p:sp>
        <p:nvSpPr>
          <p:cNvPr id="39" name="Shape 37"/>
          <p:cNvSpPr/>
          <p:nvPr/>
        </p:nvSpPr>
        <p:spPr>
          <a:xfrm>
            <a:off x="2743200" y="2916936"/>
            <a:ext cx="4617720" cy="498348"/>
          </a:xfrm>
          <a:prstGeom prst="rect">
            <a:avLst/>
          </a:prstGeom>
          <a:solidFill>
            <a:srgbClr val="FFFFFF"/>
          </a:solidFill>
          <a:ln w="6350">
            <a:solidFill>
              <a:srgbClr val="D3DCE5"/>
            </a:solidFill>
            <a:prstDash val="solid"/>
          </a:ln>
        </p:spPr>
      </p:sp>
      <p:sp>
        <p:nvSpPr>
          <p:cNvPr id="40" name="Text 38"/>
          <p:cNvSpPr txBox="1"/>
          <p:nvPr/>
        </p:nvSpPr>
        <p:spPr>
          <a:xfrm>
            <a:off x="2807208" y="2916936"/>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as a KPI. Third-party aggregator figures for FY23-24 exist but disagree and are unreliable.</a:t>
            </a:r>
            <a:endParaRPr lang="en-US" sz="850" dirty="0"/>
          </a:p>
        </p:txBody>
      </p:sp>
      <p:sp>
        <p:nvSpPr>
          <p:cNvPr id="41" name="Shape 39"/>
          <p:cNvSpPr/>
          <p:nvPr/>
        </p:nvSpPr>
        <p:spPr>
          <a:xfrm>
            <a:off x="7360920" y="2916936"/>
            <a:ext cx="3017520" cy="498348"/>
          </a:xfrm>
          <a:prstGeom prst="rect">
            <a:avLst/>
          </a:prstGeom>
          <a:solidFill>
            <a:srgbClr val="FFFFFF"/>
          </a:solidFill>
          <a:ln w="6350">
            <a:solidFill>
              <a:srgbClr val="D3DCE5"/>
            </a:solidFill>
            <a:prstDash val="solid"/>
          </a:ln>
        </p:spPr>
      </p:sp>
      <p:sp>
        <p:nvSpPr>
          <p:cNvPr id="42" name="Text 40"/>
          <p:cNvSpPr txBox="1"/>
          <p:nvPr/>
        </p:nvSpPr>
        <p:spPr>
          <a:xfrm>
            <a:off x="7424928" y="2916936"/>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Without it, no buyer can verify the carbon advantage we are underwriting.</a:t>
            </a:r>
            <a:endParaRPr lang="en-US" sz="850" dirty="0"/>
          </a:p>
        </p:txBody>
      </p:sp>
      <p:sp>
        <p:nvSpPr>
          <p:cNvPr id="43" name="Shape 41"/>
          <p:cNvSpPr/>
          <p:nvPr/>
        </p:nvSpPr>
        <p:spPr>
          <a:xfrm>
            <a:off x="10378440" y="2916936"/>
            <a:ext cx="1408176" cy="498348"/>
          </a:xfrm>
          <a:prstGeom prst="rect">
            <a:avLst/>
          </a:prstGeom>
          <a:solidFill>
            <a:srgbClr val="FFFFFF"/>
          </a:solidFill>
          <a:ln w="6350">
            <a:solidFill>
              <a:srgbClr val="D3DCE5"/>
            </a:solidFill>
            <a:prstDash val="solid"/>
          </a:ln>
        </p:spPr>
      </p:sp>
      <p:sp>
        <p:nvSpPr>
          <p:cNvPr id="44" name="Text 42"/>
          <p:cNvSpPr txBox="1"/>
          <p:nvPr/>
        </p:nvSpPr>
        <p:spPr>
          <a:xfrm>
            <a:off x="10442448" y="2916936"/>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45" name="Shape 43"/>
          <p:cNvSpPr/>
          <p:nvPr/>
        </p:nvSpPr>
        <p:spPr>
          <a:xfrm>
            <a:off x="411480" y="3415284"/>
            <a:ext cx="2331720" cy="498348"/>
          </a:xfrm>
          <a:prstGeom prst="rect">
            <a:avLst/>
          </a:prstGeom>
          <a:solidFill>
            <a:srgbClr val="F7F9FB"/>
          </a:solidFill>
          <a:ln w="6350">
            <a:solidFill>
              <a:srgbClr val="D3DCE5"/>
            </a:solidFill>
            <a:prstDash val="solid"/>
          </a:ln>
        </p:spPr>
      </p:sp>
      <p:sp>
        <p:nvSpPr>
          <p:cNvPr id="46" name="Text 44"/>
          <p:cNvSpPr txBox="1"/>
          <p:nvPr/>
        </p:nvSpPr>
        <p:spPr>
          <a:xfrm>
            <a:off x="475488" y="3415284"/>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 credible biodiversity offset</a:t>
            </a:r>
            <a:endParaRPr lang="en-US" sz="850" dirty="0"/>
          </a:p>
        </p:txBody>
      </p:sp>
      <p:sp>
        <p:nvSpPr>
          <p:cNvPr id="47" name="Shape 45"/>
          <p:cNvSpPr/>
          <p:nvPr/>
        </p:nvSpPr>
        <p:spPr>
          <a:xfrm>
            <a:off x="2743200" y="3415284"/>
            <a:ext cx="4617720" cy="498348"/>
          </a:xfrm>
          <a:prstGeom prst="rect">
            <a:avLst/>
          </a:prstGeom>
          <a:solidFill>
            <a:srgbClr val="F7F9FB"/>
          </a:solidFill>
          <a:ln w="6350">
            <a:solidFill>
              <a:srgbClr val="D3DCE5"/>
            </a:solidFill>
            <a:prstDash val="solid"/>
          </a:ln>
        </p:spPr>
      </p:sp>
      <p:sp>
        <p:nvSpPr>
          <p:cNvPr id="48" name="Text 46"/>
          <p:cNvSpPr txBox="1"/>
          <p:nvPr/>
        </p:nvSpPr>
        <p:spPr>
          <a:xfrm>
            <a:off x="2807208" y="3415284"/>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PLS pays into the Pilbara Environmental Offsets Fund. An independent review found its rate of A$893-3,781 per hectare too low to fund real conservation.</a:t>
            </a:r>
            <a:endParaRPr lang="en-US" sz="850" dirty="0"/>
          </a:p>
        </p:txBody>
      </p:sp>
      <p:sp>
        <p:nvSpPr>
          <p:cNvPr id="49" name="Shape 47"/>
          <p:cNvSpPr/>
          <p:nvPr/>
        </p:nvSpPr>
        <p:spPr>
          <a:xfrm>
            <a:off x="7360920" y="3415284"/>
            <a:ext cx="3017520" cy="498348"/>
          </a:xfrm>
          <a:prstGeom prst="rect">
            <a:avLst/>
          </a:prstGeom>
          <a:solidFill>
            <a:srgbClr val="F7F9FB"/>
          </a:solidFill>
          <a:ln w="6350">
            <a:solidFill>
              <a:srgbClr val="D3DCE5"/>
            </a:solidFill>
            <a:prstDash val="solid"/>
          </a:ln>
        </p:spPr>
      </p:sp>
      <p:sp>
        <p:nvSpPr>
          <p:cNvPr id="50" name="Text 48"/>
          <p:cNvSpPr txBox="1"/>
          <p:nvPr/>
        </p:nvSpPr>
        <p:spPr>
          <a:xfrm>
            <a:off x="7424928" y="3415284"/>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sector-wide exposure, not a PLS failure - but PLS cannot claim biodiversity risk is mitigated by pointing at it.</a:t>
            </a:r>
            <a:endParaRPr lang="en-US" sz="850" dirty="0"/>
          </a:p>
        </p:txBody>
      </p:sp>
      <p:sp>
        <p:nvSpPr>
          <p:cNvPr id="51" name="Shape 49"/>
          <p:cNvSpPr/>
          <p:nvPr/>
        </p:nvSpPr>
        <p:spPr>
          <a:xfrm>
            <a:off x="10378440" y="3415284"/>
            <a:ext cx="1408176" cy="498348"/>
          </a:xfrm>
          <a:prstGeom prst="rect">
            <a:avLst/>
          </a:prstGeom>
          <a:solidFill>
            <a:srgbClr val="F7F9FB"/>
          </a:solidFill>
          <a:ln w="6350">
            <a:solidFill>
              <a:srgbClr val="D3DCE5"/>
            </a:solidFill>
            <a:prstDash val="solid"/>
          </a:ln>
        </p:spPr>
      </p:sp>
      <p:sp>
        <p:nvSpPr>
          <p:cNvPr id="52" name="Text 50"/>
          <p:cNvSpPr txBox="1"/>
          <p:nvPr/>
        </p:nvSpPr>
        <p:spPr>
          <a:xfrm>
            <a:off x="10442448" y="3415284"/>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53" name="Shape 51"/>
          <p:cNvSpPr/>
          <p:nvPr/>
        </p:nvSpPr>
        <p:spPr>
          <a:xfrm>
            <a:off x="411480" y="3913632"/>
            <a:ext cx="2331720" cy="498348"/>
          </a:xfrm>
          <a:prstGeom prst="rect">
            <a:avLst/>
          </a:prstGeom>
          <a:solidFill>
            <a:srgbClr val="FFFFFF"/>
          </a:solidFill>
          <a:ln w="6350">
            <a:solidFill>
              <a:srgbClr val="D3DCE5"/>
            </a:solidFill>
            <a:prstDash val="solid"/>
          </a:ln>
        </p:spPr>
      </p:sp>
      <p:sp>
        <p:nvSpPr>
          <p:cNvPr id="54" name="Text 52"/>
          <p:cNvSpPr txBox="1"/>
          <p:nvPr/>
        </p:nvSpPr>
        <p:spPr>
          <a:xfrm>
            <a:off x="475488" y="3913632"/>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Fleet decarbonisation</a:t>
            </a:r>
            <a:endParaRPr lang="en-US" sz="850" dirty="0"/>
          </a:p>
        </p:txBody>
      </p:sp>
      <p:sp>
        <p:nvSpPr>
          <p:cNvPr id="55" name="Shape 53"/>
          <p:cNvSpPr/>
          <p:nvPr/>
        </p:nvSpPr>
        <p:spPr>
          <a:xfrm>
            <a:off x="2743200" y="3913632"/>
            <a:ext cx="4617720" cy="498348"/>
          </a:xfrm>
          <a:prstGeom prst="rect">
            <a:avLst/>
          </a:prstGeom>
          <a:solidFill>
            <a:srgbClr val="FFFFFF"/>
          </a:solidFill>
          <a:ln w="6350">
            <a:solidFill>
              <a:srgbClr val="D3DCE5"/>
            </a:solidFill>
            <a:prstDash val="solid"/>
          </a:ln>
        </p:spPr>
      </p:sp>
      <p:sp>
        <p:nvSpPr>
          <p:cNvPr id="56" name="Text 54"/>
          <p:cNvSpPr txBox="1"/>
          <p:nvPr/>
        </p:nvSpPr>
        <p:spPr>
          <a:xfrm>
            <a:off x="2807208" y="3913632"/>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 electric haul fleet or trolley-assist programme found, while Fortescue runs public programmes.</a:t>
            </a:r>
            <a:endParaRPr lang="en-US" sz="850" dirty="0"/>
          </a:p>
        </p:txBody>
      </p:sp>
      <p:sp>
        <p:nvSpPr>
          <p:cNvPr id="57" name="Shape 55"/>
          <p:cNvSpPr/>
          <p:nvPr/>
        </p:nvSpPr>
        <p:spPr>
          <a:xfrm>
            <a:off x="7360920" y="3913632"/>
            <a:ext cx="3017520" cy="498348"/>
          </a:xfrm>
          <a:prstGeom prst="rect">
            <a:avLst/>
          </a:prstGeom>
          <a:solidFill>
            <a:srgbClr val="FFFFFF"/>
          </a:solidFill>
          <a:ln w="6350">
            <a:solidFill>
              <a:srgbClr val="D3DCE5"/>
            </a:solidFill>
            <a:prstDash val="solid"/>
          </a:ln>
        </p:spPr>
      </p:sp>
      <p:sp>
        <p:nvSpPr>
          <p:cNvPr id="58" name="Text 56"/>
          <p:cNvSpPr txBox="1"/>
          <p:nvPr/>
        </p:nvSpPr>
        <p:spPr>
          <a:xfrm>
            <a:off x="7424928" y="3913632"/>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lever PLS has not pulled. Upside if taken, a gap in the meantime.</a:t>
            </a:r>
            <a:endParaRPr lang="en-US" sz="850" dirty="0"/>
          </a:p>
        </p:txBody>
      </p:sp>
      <p:sp>
        <p:nvSpPr>
          <p:cNvPr id="59" name="Shape 57"/>
          <p:cNvSpPr/>
          <p:nvPr/>
        </p:nvSpPr>
        <p:spPr>
          <a:xfrm>
            <a:off x="10378440" y="3913632"/>
            <a:ext cx="1408176" cy="498348"/>
          </a:xfrm>
          <a:prstGeom prst="rect">
            <a:avLst/>
          </a:prstGeom>
          <a:solidFill>
            <a:srgbClr val="FFFFFF"/>
          </a:solidFill>
          <a:ln w="6350">
            <a:solidFill>
              <a:srgbClr val="D3DCE5"/>
            </a:solidFill>
            <a:prstDash val="solid"/>
          </a:ln>
        </p:spPr>
      </p:sp>
      <p:sp>
        <p:nvSpPr>
          <p:cNvPr id="60" name="Text 58"/>
          <p:cNvSpPr txBox="1"/>
          <p:nvPr/>
        </p:nvSpPr>
        <p:spPr>
          <a:xfrm>
            <a:off x="10442448" y="3913632"/>
            <a:ext cx="1280160" cy="498348"/>
          </a:xfrm>
          <a:prstGeom prst="rect">
            <a:avLst/>
          </a:prstGeom>
          <a:noFill/>
          <a:ln/>
        </p:spPr>
        <p:txBody>
          <a:bodyPr wrap="square" lIns="0" tIns="0" rIns="0" bIns="0" rtlCol="0" anchor="ctr"/>
          <a:lstStyle/>
          <a:p>
            <a:pPr algn="ctr" indent="0" marL="0">
              <a:buNone/>
            </a:pPr>
            <a:r>
              <a:rPr lang="en-US" sz="850" b="1" dirty="0">
                <a:solidFill>
                  <a:srgbClr val="C2610A"/>
                </a:solidFill>
                <a:latin typeface="Calibri" pitchFamily="34" charset="0"/>
                <a:ea typeface="Calibri" pitchFamily="34" charset="-122"/>
                <a:cs typeface="Calibri" pitchFamily="34" charset="-120"/>
              </a:rPr>
              <a:t>Medium</a:t>
            </a:r>
            <a:endParaRPr lang="en-US" sz="850" dirty="0"/>
          </a:p>
        </p:txBody>
      </p:sp>
      <p:sp>
        <p:nvSpPr>
          <p:cNvPr id="61" name="Shape 59"/>
          <p:cNvSpPr/>
          <p:nvPr/>
        </p:nvSpPr>
        <p:spPr>
          <a:xfrm>
            <a:off x="411480" y="4411980"/>
            <a:ext cx="2331720" cy="498348"/>
          </a:xfrm>
          <a:prstGeom prst="rect">
            <a:avLst/>
          </a:prstGeom>
          <a:solidFill>
            <a:srgbClr val="F7F9FB"/>
          </a:solidFill>
          <a:ln w="6350">
            <a:solidFill>
              <a:srgbClr val="D3DCE5"/>
            </a:solidFill>
            <a:prstDash val="solid"/>
          </a:ln>
        </p:spPr>
      </p:sp>
      <p:sp>
        <p:nvSpPr>
          <p:cNvPr id="62" name="Text 60"/>
          <p:cNvSpPr txBox="1"/>
          <p:nvPr/>
        </p:nvSpPr>
        <p:spPr>
          <a:xfrm>
            <a:off x="475488" y="4411980"/>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Tailings approach</a:t>
            </a:r>
            <a:endParaRPr lang="en-US" sz="850" dirty="0"/>
          </a:p>
        </p:txBody>
      </p:sp>
      <p:sp>
        <p:nvSpPr>
          <p:cNvPr id="63" name="Shape 61"/>
          <p:cNvSpPr/>
          <p:nvPr/>
        </p:nvSpPr>
        <p:spPr>
          <a:xfrm>
            <a:off x="2743200" y="4411980"/>
            <a:ext cx="4617720" cy="498348"/>
          </a:xfrm>
          <a:prstGeom prst="rect">
            <a:avLst/>
          </a:prstGeom>
          <a:solidFill>
            <a:srgbClr val="F7F9FB"/>
          </a:solidFill>
          <a:ln w="6350">
            <a:solidFill>
              <a:srgbClr val="D3DCE5"/>
            </a:solidFill>
            <a:prstDash val="solid"/>
          </a:ln>
        </p:spPr>
      </p:sp>
      <p:sp>
        <p:nvSpPr>
          <p:cNvPr id="64" name="Text 62"/>
          <p:cNvSpPr txBox="1"/>
          <p:nvPr/>
        </p:nvSpPr>
        <p:spPr>
          <a:xfrm>
            <a:off x="2807208" y="4411980"/>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We could not establish whether Pilgangoora uses filtered or conventional wet tailings, nor its GISTM status.</a:t>
            </a:r>
            <a:endParaRPr lang="en-US" sz="850" dirty="0"/>
          </a:p>
        </p:txBody>
      </p:sp>
      <p:sp>
        <p:nvSpPr>
          <p:cNvPr id="65" name="Shape 63"/>
          <p:cNvSpPr/>
          <p:nvPr/>
        </p:nvSpPr>
        <p:spPr>
          <a:xfrm>
            <a:off x="7360920" y="4411980"/>
            <a:ext cx="3017520" cy="498348"/>
          </a:xfrm>
          <a:prstGeom prst="rect">
            <a:avLst/>
          </a:prstGeom>
          <a:solidFill>
            <a:srgbClr val="F7F9FB"/>
          </a:solidFill>
          <a:ln w="6350">
            <a:solidFill>
              <a:srgbClr val="D3DCE5"/>
            </a:solidFill>
            <a:prstDash val="solid"/>
          </a:ln>
        </p:spPr>
      </p:sp>
      <p:sp>
        <p:nvSpPr>
          <p:cNvPr id="66" name="Text 64"/>
          <p:cNvSpPr txBox="1"/>
          <p:nvPr/>
        </p:nvSpPr>
        <p:spPr>
          <a:xfrm>
            <a:off x="7424928" y="4411980"/>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We refuse to assert either way. It is an unpriced risk, and we say so.</a:t>
            </a:r>
            <a:endParaRPr lang="en-US" sz="850" dirty="0"/>
          </a:p>
        </p:txBody>
      </p:sp>
      <p:sp>
        <p:nvSpPr>
          <p:cNvPr id="67" name="Shape 65"/>
          <p:cNvSpPr/>
          <p:nvPr/>
        </p:nvSpPr>
        <p:spPr>
          <a:xfrm>
            <a:off x="10378440" y="4411980"/>
            <a:ext cx="1408176" cy="498348"/>
          </a:xfrm>
          <a:prstGeom prst="rect">
            <a:avLst/>
          </a:prstGeom>
          <a:solidFill>
            <a:srgbClr val="F7F9FB"/>
          </a:solidFill>
          <a:ln w="6350">
            <a:solidFill>
              <a:srgbClr val="D3DCE5"/>
            </a:solidFill>
            <a:prstDash val="solid"/>
          </a:ln>
        </p:spPr>
      </p:sp>
      <p:sp>
        <p:nvSpPr>
          <p:cNvPr id="68" name="Text 66"/>
          <p:cNvSpPr txBox="1"/>
          <p:nvPr/>
        </p:nvSpPr>
        <p:spPr>
          <a:xfrm>
            <a:off x="10442448" y="4411980"/>
            <a:ext cx="1280160" cy="498348"/>
          </a:xfrm>
          <a:prstGeom prst="rect">
            <a:avLst/>
          </a:prstGeom>
          <a:noFill/>
          <a:ln/>
        </p:spPr>
        <p:txBody>
          <a:bodyPr wrap="square" lIns="0" tIns="0" rIns="0" bIns="0" rtlCol="0" anchor="ctr"/>
          <a:lstStyle/>
          <a:p>
            <a:pPr algn="ctr" indent="0" marL="0">
              <a:buNone/>
            </a:pPr>
            <a:r>
              <a:rPr lang="en-US" sz="850" b="1" dirty="0">
                <a:solidFill>
                  <a:srgbClr val="C2610A"/>
                </a:solidFill>
                <a:latin typeface="Calibri" pitchFamily="34" charset="0"/>
                <a:ea typeface="Calibri" pitchFamily="34" charset="-122"/>
                <a:cs typeface="Calibri" pitchFamily="34" charset="-120"/>
              </a:rPr>
              <a:t>Medium</a:t>
            </a:r>
            <a:endParaRPr lang="en-US" sz="850" dirty="0"/>
          </a:p>
        </p:txBody>
      </p:sp>
      <p:sp>
        <p:nvSpPr>
          <p:cNvPr id="69" name="Shape 67"/>
          <p:cNvSpPr/>
          <p:nvPr/>
        </p:nvSpPr>
        <p:spPr>
          <a:xfrm>
            <a:off x="411480" y="4937760"/>
            <a:ext cx="5532120" cy="1188720"/>
          </a:xfrm>
          <a:prstGeom prst="rect">
            <a:avLst/>
          </a:prstGeom>
          <a:solidFill>
            <a:srgbClr val="FBEBD9"/>
          </a:solidFill>
          <a:ln w="9525">
            <a:solidFill>
              <a:srgbClr val="E8C9A3"/>
            </a:solidFill>
            <a:prstDash val="solid"/>
          </a:ln>
        </p:spPr>
      </p:sp>
      <p:sp>
        <p:nvSpPr>
          <p:cNvPr id="70" name="Text 68"/>
          <p:cNvSpPr txBox="1"/>
          <p:nvPr/>
        </p:nvSpPr>
        <p:spPr>
          <a:xfrm>
            <a:off x="576072" y="5065776"/>
            <a:ext cx="520293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contradiction we had to resolve</a:t>
            </a:r>
            <a:endParaRPr lang="en-US" sz="1150" dirty="0"/>
          </a:p>
        </p:txBody>
      </p:sp>
      <p:sp>
        <p:nvSpPr>
          <p:cNvPr id="71" name="Text 69"/>
          <p:cNvSpPr txBox="1"/>
          <p:nvPr/>
        </p:nvSpPr>
        <p:spPr>
          <a:xfrm>
            <a:off x="576072" y="5394960"/>
            <a:ext cx="520293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argue that social licence protects the P2000 permitting schedule while also reporting that the offset system underpinning that licence is independently judged inadequate. Both are true. The offsets regime is a live risk to every Pilbara miner, which makes getting ahead of it an opportunity rather than a footnote.</a:t>
            </a:r>
            <a:endParaRPr lang="en-US" sz="900" dirty="0"/>
          </a:p>
        </p:txBody>
      </p:sp>
      <p:sp>
        <p:nvSpPr>
          <p:cNvPr id="72" name="Shape 70"/>
          <p:cNvSpPr/>
          <p:nvPr/>
        </p:nvSpPr>
        <p:spPr>
          <a:xfrm>
            <a:off x="6153912" y="4937760"/>
            <a:ext cx="5632704" cy="1188720"/>
          </a:xfrm>
          <a:prstGeom prst="rect">
            <a:avLst/>
          </a:prstGeom>
          <a:solidFill>
            <a:srgbClr val="D6EBE7"/>
          </a:solidFill>
          <a:ln w="9525">
            <a:solidFill>
              <a:srgbClr val="AFD3CC"/>
            </a:solidFill>
            <a:prstDash val="solid"/>
          </a:ln>
        </p:spPr>
      </p:sp>
      <p:sp>
        <p:nvSpPr>
          <p:cNvPr id="73" name="Text 71"/>
          <p:cNvSpPr txBox="1"/>
          <p:nvPr/>
        </p:nvSpPr>
        <p:spPr>
          <a:xfrm>
            <a:off x="6318504" y="5065776"/>
            <a:ext cx="5303520"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Our three engagement asks as a shareholder</a:t>
            </a:r>
            <a:endParaRPr lang="en-US" sz="1150" dirty="0"/>
          </a:p>
        </p:txBody>
      </p:sp>
      <p:sp>
        <p:nvSpPr>
          <p:cNvPr id="74" name="Text 72"/>
          <p:cNvSpPr txBox="1"/>
          <p:nvPr/>
        </p:nvSpPr>
        <p:spPr>
          <a:xfrm>
            <a:off x="6318504" y="5394960"/>
            <a:ext cx="5303520"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1.  Convert the 2040s window into a dated, SBTi-validated target.</a:t>
            </a: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2.  Publish emissions intensity per tonne of concentrate and a verified product carbon footprint - the metric the EU regime will require anyway.</a:t>
            </a: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3.  Disclose the tailings method and GISTM conformance status.</a:t>
            </a:r>
            <a:endParaRPr lang="en-US" sz="900" dirty="0"/>
          </a:p>
        </p:txBody>
      </p:sp>
      <p:sp>
        <p:nvSpPr>
          <p:cNvPr id="75" name="Text 7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climate and sustainability disclosures; ABC News, 'Pilbara mining offset scheme leaves threatened species short-changed, review finds', 21 October 2024; team research. Items marked as not found were searched for and could not be verified; we have not assumed absence of disclosure means absence of practice.</a:t>
            </a:r>
            <a:endParaRPr lang="en-US" sz="750" dirty="0"/>
          </a:p>
        </p:txBody>
      </p:sp>
      <p:sp>
        <p:nvSpPr>
          <p:cNvPr id="76" name="Text 7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The bridge is an attribution, not an addition</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Nothing here is added to the DCF. These levers are already inside the A$569/t cost base the model discounts. The question is how much of the value depends on them.</a:t>
            </a:r>
            <a:endParaRPr lang="en-US" sz="1200" dirty="0"/>
          </a:p>
        </p:txBody>
      </p:sp>
      <p:sp>
        <p:nvSpPr>
          <p:cNvPr id="13" name="Shape 11"/>
          <p:cNvSpPr/>
          <p:nvPr/>
        </p:nvSpPr>
        <p:spPr>
          <a:xfrm>
            <a:off x="411480" y="1719072"/>
            <a:ext cx="7333488" cy="2212848"/>
          </a:xfrm>
          <a:prstGeom prst="rect">
            <a:avLst/>
          </a:prstGeom>
          <a:solidFill>
            <a:srgbClr val="F7F9FB"/>
          </a:solidFill>
          <a:ln w="9525">
            <a:solidFill>
              <a:srgbClr val="D3DCE5"/>
            </a:solidFill>
            <a:prstDash val="solid"/>
          </a:ln>
        </p:spPr>
      </p:sp>
      <p:sp>
        <p:nvSpPr>
          <p:cNvPr id="14" name="Shape 12"/>
          <p:cNvSpPr/>
          <p:nvPr/>
        </p:nvSpPr>
        <p:spPr>
          <a:xfrm>
            <a:off x="731520" y="2633472"/>
            <a:ext cx="1234440" cy="566928"/>
          </a:xfrm>
          <a:prstGeom prst="rect">
            <a:avLst/>
          </a:prstGeom>
          <a:solidFill>
            <a:srgbClr val="1C3A5E"/>
          </a:solidFill>
          <a:ln/>
        </p:spPr>
      </p:sp>
      <p:sp>
        <p:nvSpPr>
          <p:cNvPr id="15" name="Text 13"/>
          <p:cNvSpPr txBox="1"/>
          <p:nvPr/>
        </p:nvSpPr>
        <p:spPr>
          <a:xfrm>
            <a:off x="731520" y="2633472"/>
            <a:ext cx="12344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A$5.48</a:t>
            </a:r>
            <a:endParaRPr lang="en-US" sz="1100" dirty="0"/>
          </a:p>
        </p:txBody>
      </p:sp>
      <p:sp>
        <p:nvSpPr>
          <p:cNvPr id="16" name="Text 14"/>
          <p:cNvSpPr txBox="1"/>
          <p:nvPr/>
        </p:nvSpPr>
        <p:spPr>
          <a:xfrm>
            <a:off x="731520" y="3218688"/>
            <a:ext cx="1234440" cy="237744"/>
          </a:xfrm>
          <a:prstGeom prst="rect">
            <a:avLst/>
          </a:prstGeom>
          <a:noFill/>
          <a:ln/>
        </p:spPr>
        <p:txBody>
          <a:bodyPr wrap="square" lIns="0" tIns="0" rIns="0" bIns="0" rtlCol="0" anchor="t"/>
          <a:lstStyle/>
          <a:p>
            <a:pPr algn="ctr" indent="0" marL="0">
              <a:buNone/>
            </a:pPr>
            <a:r>
              <a:rPr lang="en-US" sz="850" dirty="0">
                <a:solidFill>
                  <a:srgbClr val="5F7183"/>
                </a:solidFill>
                <a:latin typeface="Calibri" pitchFamily="34" charset="0"/>
                <a:ea typeface="Calibri" pitchFamily="34" charset="-122"/>
                <a:cs typeface="Calibri" pitchFamily="34" charset="-120"/>
              </a:rPr>
              <a:t>Last close</a:t>
            </a:r>
            <a:endParaRPr lang="en-US" sz="850" dirty="0"/>
          </a:p>
        </p:txBody>
      </p:sp>
      <p:sp>
        <p:nvSpPr>
          <p:cNvPr id="17" name="Shape 15"/>
          <p:cNvSpPr/>
          <p:nvPr/>
        </p:nvSpPr>
        <p:spPr>
          <a:xfrm>
            <a:off x="2075688" y="2633472"/>
            <a:ext cx="1597242" cy="566928"/>
          </a:xfrm>
          <a:prstGeom prst="rect">
            <a:avLst/>
          </a:prstGeom>
          <a:solidFill>
            <a:srgbClr val="0E7C6B"/>
          </a:solidFill>
          <a:ln/>
        </p:spPr>
      </p:sp>
      <p:sp>
        <p:nvSpPr>
          <p:cNvPr id="18" name="Text 16"/>
          <p:cNvSpPr txBox="1"/>
          <p:nvPr/>
        </p:nvSpPr>
        <p:spPr>
          <a:xfrm>
            <a:off x="2075688" y="2633472"/>
            <a:ext cx="1597242"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+0.43</a:t>
            </a:r>
            <a:endParaRPr lang="en-US" sz="1000" dirty="0"/>
          </a:p>
        </p:txBody>
      </p:sp>
      <p:sp>
        <p:nvSpPr>
          <p:cNvPr id="19" name="Text 17"/>
          <p:cNvSpPr txBox="1"/>
          <p:nvPr/>
        </p:nvSpPr>
        <p:spPr>
          <a:xfrm>
            <a:off x="1874520" y="3218688"/>
            <a:ext cx="1999578" cy="420624"/>
          </a:xfrm>
          <a:prstGeom prst="rect">
            <a:avLst/>
          </a:prstGeom>
          <a:noFill/>
          <a:ln/>
        </p:spPr>
        <p:txBody>
          <a:bodyPr wrap="square" lIns="0" tIns="0" rIns="0" bIns="0" rtlCol="0" anchor="t"/>
          <a:lstStyle/>
          <a:p>
            <a:pPr algn="ctr" indent="0" marL="0">
              <a:buNone/>
            </a:pPr>
            <a:r>
              <a:rPr lang="en-US" sz="850" b="1" dirty="0">
                <a:solidFill>
                  <a:srgbClr val="0E7C6B"/>
                </a:solidFill>
                <a:latin typeface="Calibri" pitchFamily="34" charset="0"/>
                <a:ea typeface="Calibri" pitchFamily="34" charset="-122"/>
                <a:cs typeface="Calibri" pitchFamily="34" charset="-120"/>
              </a:rPr>
              <a:t>Shared value</a:t>
            </a:r>
            <a:endParaRPr lang="en-US" sz="850" dirty="0"/>
          </a:p>
          <a:p>
            <a:pPr algn="ctr" indent="0" marL="0">
              <a:buNone/>
            </a:pPr>
            <a:r>
              <a:rPr lang="en-US" sz="850" b="1" dirty="0">
                <a:solidFill>
                  <a:srgbClr val="0E7C6B"/>
                </a:solidFill>
                <a:latin typeface="Calibri" pitchFamily="34" charset="0"/>
                <a:ea typeface="Calibri" pitchFamily="34" charset="-122"/>
                <a:cs typeface="Calibri" pitchFamily="34" charset="-120"/>
              </a:rPr>
              <a:t>67% of the upside</a:t>
            </a:r>
            <a:endParaRPr lang="en-US" sz="850" dirty="0"/>
          </a:p>
        </p:txBody>
      </p:sp>
      <p:sp>
        <p:nvSpPr>
          <p:cNvPr id="20" name="Shape 18"/>
          <p:cNvSpPr/>
          <p:nvPr/>
        </p:nvSpPr>
        <p:spPr>
          <a:xfrm>
            <a:off x="3746082" y="2633472"/>
            <a:ext cx="785104" cy="566928"/>
          </a:xfrm>
          <a:prstGeom prst="rect">
            <a:avLst/>
          </a:prstGeom>
          <a:solidFill>
            <a:srgbClr val="8C9BA9"/>
          </a:solidFill>
          <a:ln/>
        </p:spPr>
      </p:sp>
      <p:sp>
        <p:nvSpPr>
          <p:cNvPr id="21" name="Text 19"/>
          <p:cNvSpPr txBox="1"/>
          <p:nvPr/>
        </p:nvSpPr>
        <p:spPr>
          <a:xfrm>
            <a:off x="3746082" y="2633472"/>
            <a:ext cx="785104"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+0.21</a:t>
            </a:r>
            <a:endParaRPr lang="en-US" sz="900" dirty="0"/>
          </a:p>
        </p:txBody>
      </p:sp>
      <p:sp>
        <p:nvSpPr>
          <p:cNvPr id="22" name="Text 20"/>
          <p:cNvSpPr txBox="1"/>
          <p:nvPr/>
        </p:nvSpPr>
        <p:spPr>
          <a:xfrm>
            <a:off x="3471762" y="3218688"/>
            <a:ext cx="1242304" cy="237744"/>
          </a:xfrm>
          <a:prstGeom prst="rect">
            <a:avLst/>
          </a:prstGeom>
          <a:noFill/>
          <a:ln/>
        </p:spPr>
        <p:txBody>
          <a:bodyPr wrap="square" lIns="0" tIns="0" rIns="0" bIns="0" rtlCol="0" anchor="t"/>
          <a:lstStyle/>
          <a:p>
            <a:pPr algn="ctr" indent="0" marL="0">
              <a:buNone/>
            </a:pPr>
            <a:r>
              <a:rPr lang="en-US" sz="850" dirty="0">
                <a:solidFill>
                  <a:srgbClr val="5F7183"/>
                </a:solidFill>
                <a:latin typeface="Calibri" pitchFamily="34" charset="0"/>
                <a:ea typeface="Calibri" pitchFamily="34" charset="-122"/>
                <a:cs typeface="Calibri" pitchFamily="34" charset="-120"/>
              </a:rPr>
              <a:t>Everything else</a:t>
            </a:r>
            <a:endParaRPr lang="en-US" sz="850" dirty="0"/>
          </a:p>
        </p:txBody>
      </p:sp>
      <p:sp>
        <p:nvSpPr>
          <p:cNvPr id="23" name="Shape 21"/>
          <p:cNvSpPr/>
          <p:nvPr/>
        </p:nvSpPr>
        <p:spPr>
          <a:xfrm>
            <a:off x="4659202" y="2377440"/>
            <a:ext cx="1325880" cy="822960"/>
          </a:xfrm>
          <a:prstGeom prst="rect">
            <a:avLst/>
          </a:prstGeom>
          <a:solidFill>
            <a:srgbClr val="10233A"/>
          </a:solidFill>
          <a:ln/>
        </p:spPr>
      </p:sp>
      <p:sp>
        <p:nvSpPr>
          <p:cNvPr id="24" name="Text 22"/>
          <p:cNvSpPr txBox="1"/>
          <p:nvPr/>
        </p:nvSpPr>
        <p:spPr>
          <a:xfrm>
            <a:off x="4659202" y="2377440"/>
            <a:ext cx="1325880" cy="8229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A$6.12</a:t>
            </a:r>
            <a:endParaRPr lang="en-US" sz="1200" dirty="0"/>
          </a:p>
        </p:txBody>
      </p:sp>
      <p:sp>
        <p:nvSpPr>
          <p:cNvPr id="25" name="Text 23"/>
          <p:cNvSpPr txBox="1"/>
          <p:nvPr/>
        </p:nvSpPr>
        <p:spPr>
          <a:xfrm>
            <a:off x="4659202" y="3218688"/>
            <a:ext cx="1325880" cy="237744"/>
          </a:xfrm>
          <a:prstGeom prst="rect">
            <a:avLst/>
          </a:prstGeom>
          <a:noFill/>
          <a:ln/>
        </p:spPr>
        <p:txBody>
          <a:bodyPr wrap="square" lIns="0" tIns="0" rIns="0" bIns="0" rtlCol="0" anchor="t"/>
          <a:lstStyle/>
          <a:p>
            <a:pPr algn="ctr" indent="0" marL="0">
              <a:buNone/>
            </a:pPr>
            <a:r>
              <a:rPr lang="en-US" sz="850" b="1" dirty="0">
                <a:solidFill>
                  <a:srgbClr val="10233A"/>
                </a:solidFill>
                <a:latin typeface="Calibri" pitchFamily="34" charset="0"/>
                <a:ea typeface="Calibri" pitchFamily="34" charset="-122"/>
                <a:cs typeface="Calibri" pitchFamily="34" charset="-120"/>
              </a:rPr>
              <a:t>Target</a:t>
            </a:r>
            <a:endParaRPr lang="en-US" sz="850" dirty="0"/>
          </a:p>
        </p:txBody>
      </p:sp>
      <p:sp>
        <p:nvSpPr>
          <p:cNvPr id="26" name="Shape 24"/>
          <p:cNvSpPr/>
          <p:nvPr/>
        </p:nvSpPr>
        <p:spPr>
          <a:xfrm>
            <a:off x="6140530" y="2377440"/>
            <a:ext cx="1325880" cy="822960"/>
          </a:xfrm>
          <a:prstGeom prst="rect">
            <a:avLst/>
          </a:prstGeom>
          <a:solidFill>
            <a:srgbClr val="FFFFFF"/>
          </a:solidFill>
          <a:ln w="15875">
            <a:solidFill>
              <a:srgbClr val="0E7C6B"/>
            </a:solidFill>
            <a:prstDash val="dash"/>
          </a:ln>
        </p:spPr>
      </p:sp>
      <p:sp>
        <p:nvSpPr>
          <p:cNvPr id="27" name="Text 25"/>
          <p:cNvSpPr txBox="1"/>
          <p:nvPr/>
        </p:nvSpPr>
        <p:spPr>
          <a:xfrm>
            <a:off x="6140530" y="2377440"/>
            <a:ext cx="1325880" cy="822960"/>
          </a:xfrm>
          <a:prstGeom prst="rect">
            <a:avLst/>
          </a:prstGeom>
          <a:noFill/>
          <a:ln/>
        </p:spPr>
        <p:txBody>
          <a:bodyPr wrap="square" lIns="0" tIns="0" rIns="0" bIns="0" rtlCol="0" anchor="ctr"/>
          <a:lstStyle/>
          <a:p>
            <a:pPr algn="ctr" indent="0" marL="0">
              <a:buNone/>
            </a:pPr>
            <a:r>
              <a:rPr lang="en-US" sz="1200" b="1" dirty="0">
                <a:solidFill>
                  <a:srgbClr val="0E7C6B"/>
                </a:solidFill>
                <a:latin typeface="Calibri" pitchFamily="34" charset="0"/>
                <a:ea typeface="Calibri" pitchFamily="34" charset="-122"/>
                <a:cs typeface="Calibri" pitchFamily="34" charset="-120"/>
              </a:rPr>
              <a:t>+0.32</a:t>
            </a:r>
            <a:endParaRPr lang="en-US" sz="1200" dirty="0"/>
          </a:p>
        </p:txBody>
      </p:sp>
      <p:sp>
        <p:nvSpPr>
          <p:cNvPr id="28" name="Text 26"/>
          <p:cNvSpPr txBox="1"/>
          <p:nvPr/>
        </p:nvSpPr>
        <p:spPr>
          <a:xfrm>
            <a:off x="5957650" y="3218688"/>
            <a:ext cx="1691640" cy="420624"/>
          </a:xfrm>
          <a:prstGeom prst="rect">
            <a:avLst/>
          </a:prstGeom>
          <a:noFill/>
          <a:ln/>
        </p:spPr>
        <p:txBody>
          <a:bodyPr wrap="square" lIns="0" tIns="0" rIns="0" bIns="0" rtlCol="0" anchor="t"/>
          <a:lstStyle/>
          <a:p>
            <a:pPr algn="ctr" indent="0" marL="0">
              <a:buNone/>
            </a:pPr>
            <a:r>
              <a:rPr lang="en-US" sz="850" b="1" dirty="0">
                <a:solidFill>
                  <a:srgbClr val="0E7C6B"/>
                </a:solidFill>
                <a:latin typeface="Calibri" pitchFamily="34" charset="0"/>
                <a:ea typeface="Calibri" pitchFamily="34" charset="-122"/>
                <a:cs typeface="Calibri" pitchFamily="34" charset="-120"/>
              </a:rPr>
              <a:t>Downstream option</a:t>
            </a:r>
            <a:endParaRPr lang="en-US" sz="850" dirty="0"/>
          </a:p>
          <a:p>
            <a:pPr algn="ctr" indent="0" marL="0">
              <a:buNone/>
            </a:pPr>
            <a:r>
              <a:rPr lang="en-US" sz="850" b="1" dirty="0">
                <a:solidFill>
                  <a:srgbClr val="0E7C6B"/>
                </a:solidFill>
                <a:latin typeface="Calibri" pitchFamily="34" charset="0"/>
                <a:ea typeface="Calibri" pitchFamily="34" charset="-122"/>
                <a:cs typeface="Calibri" pitchFamily="34" charset="-120"/>
              </a:rPr>
              <a:t>not in the target</a:t>
            </a:r>
            <a:endParaRPr lang="en-US" sz="850" dirty="0"/>
          </a:p>
        </p:txBody>
      </p:sp>
      <p:sp>
        <p:nvSpPr>
          <p:cNvPr id="29" name="Text 27"/>
          <p:cNvSpPr txBox="1"/>
          <p:nvPr/>
        </p:nvSpPr>
        <p:spPr>
          <a:xfrm>
            <a:off x="594360" y="1828800"/>
            <a:ext cx="6967728" cy="274320"/>
          </a:xfrm>
          <a:prstGeom prst="rect">
            <a:avLst/>
          </a:prstGeom>
          <a:noFill/>
          <a:ln/>
        </p:spPr>
        <p:txBody>
          <a:bodyPr wrap="square" lIns="0" tIns="0" rIns="0" bIns="0" rtlCol="0" anchor="ctr"/>
          <a:lstStyle/>
          <a:p>
            <a:pPr indent="0" marL="0">
              <a:buNone/>
            </a:pPr>
            <a:r>
              <a:rPr lang="en-US" sz="1100" b="1" dirty="0">
                <a:solidFill>
                  <a:srgbClr val="10233A"/>
                </a:solidFill>
                <a:latin typeface="Calibri" pitchFamily="34" charset="0"/>
                <a:ea typeface="Calibri" pitchFamily="34" charset="-122"/>
                <a:cs typeface="Calibri" pitchFamily="34" charset="-120"/>
              </a:rPr>
              <a:t>From last close to target, and what sits beyond it</a:t>
            </a:r>
            <a:endParaRPr lang="en-US" sz="1100" dirty="0"/>
          </a:p>
        </p:txBody>
      </p:sp>
      <p:sp>
        <p:nvSpPr>
          <p:cNvPr id="30" name="Shape 28"/>
          <p:cNvSpPr/>
          <p:nvPr/>
        </p:nvSpPr>
        <p:spPr>
          <a:xfrm>
            <a:off x="7946136" y="1719072"/>
            <a:ext cx="3840480" cy="2212848"/>
          </a:xfrm>
          <a:prstGeom prst="rect">
            <a:avLst/>
          </a:prstGeom>
          <a:solidFill>
            <a:srgbClr val="D6EBE7"/>
          </a:solidFill>
          <a:ln w="9525">
            <a:solidFill>
              <a:srgbClr val="AFD3CC"/>
            </a:solidFill>
            <a:prstDash val="solid"/>
          </a:ln>
        </p:spPr>
      </p:sp>
      <p:sp>
        <p:nvSpPr>
          <p:cNvPr id="31" name="Text 29"/>
          <p:cNvSpPr txBox="1"/>
          <p:nvPr/>
        </p:nvSpPr>
        <p:spPr>
          <a:xfrm>
            <a:off x="8110728" y="1847088"/>
            <a:ext cx="352958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arithmetic that reframes this pitch</a:t>
            </a:r>
            <a:endParaRPr lang="en-US" sz="1150" dirty="0"/>
          </a:p>
        </p:txBody>
      </p:sp>
      <p:sp>
        <p:nvSpPr>
          <p:cNvPr id="32" name="Text 30"/>
          <p:cNvSpPr txBox="1"/>
          <p:nvPr/>
        </p:nvSpPr>
        <p:spPr>
          <a:xfrm>
            <a:off x="8129016" y="2286000"/>
            <a:ext cx="3474720" cy="153619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Measured against the A$6.12 target, A$0.43 of shared value is 4.6%. A rounding adjustment.</a:t>
            </a:r>
            <a:endParaRPr lang="en-US" sz="940" dirty="0"/>
          </a:p>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Measured against the A$0.64 of upside, it is 67%. Most of the investment case.</a:t>
            </a:r>
            <a:endParaRPr lang="en-US" sz="940" dirty="0"/>
          </a:p>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The upside is the right denominator, because the upside is what the recommendation is.</a:t>
            </a:r>
            <a:endParaRPr lang="en-US" sz="940" dirty="0"/>
          </a:p>
        </p:txBody>
      </p:sp>
      <p:sp>
        <p:nvSpPr>
          <p:cNvPr id="33" name="Shape 31"/>
          <p:cNvSpPr/>
          <p:nvPr/>
        </p:nvSpPr>
        <p:spPr>
          <a:xfrm>
            <a:off x="411480" y="4096512"/>
            <a:ext cx="1874520" cy="292608"/>
          </a:xfrm>
          <a:prstGeom prst="rect">
            <a:avLst/>
          </a:prstGeom>
          <a:solidFill>
            <a:srgbClr val="10233A"/>
          </a:solidFill>
          <a:ln/>
        </p:spPr>
      </p:sp>
      <p:sp>
        <p:nvSpPr>
          <p:cNvPr id="34" name="Text 32"/>
          <p:cNvSpPr txBox="1"/>
          <p:nvPr/>
        </p:nvSpPr>
        <p:spPr>
          <a:xfrm>
            <a:off x="475488" y="4096512"/>
            <a:ext cx="1746504"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Tier</a:t>
            </a:r>
            <a:endParaRPr lang="en-US" sz="840" dirty="0"/>
          </a:p>
        </p:txBody>
      </p:sp>
      <p:sp>
        <p:nvSpPr>
          <p:cNvPr id="35" name="Shape 33"/>
          <p:cNvSpPr/>
          <p:nvPr/>
        </p:nvSpPr>
        <p:spPr>
          <a:xfrm>
            <a:off x="2286000" y="4096512"/>
            <a:ext cx="2971800" cy="292608"/>
          </a:xfrm>
          <a:prstGeom prst="rect">
            <a:avLst/>
          </a:prstGeom>
          <a:solidFill>
            <a:srgbClr val="10233A"/>
          </a:solidFill>
          <a:ln/>
        </p:spPr>
      </p:sp>
      <p:sp>
        <p:nvSpPr>
          <p:cNvPr id="36" name="Text 34"/>
          <p:cNvSpPr txBox="1"/>
          <p:nvPr/>
        </p:nvSpPr>
        <p:spPr>
          <a:xfrm>
            <a:off x="2350008" y="4096512"/>
            <a:ext cx="2843784"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Lever</a:t>
            </a:r>
            <a:endParaRPr lang="en-US" sz="840" dirty="0"/>
          </a:p>
        </p:txBody>
      </p:sp>
      <p:sp>
        <p:nvSpPr>
          <p:cNvPr id="37" name="Shape 35"/>
          <p:cNvSpPr/>
          <p:nvPr/>
        </p:nvSpPr>
        <p:spPr>
          <a:xfrm>
            <a:off x="5257800" y="4096512"/>
            <a:ext cx="1005840" cy="292608"/>
          </a:xfrm>
          <a:prstGeom prst="rect">
            <a:avLst/>
          </a:prstGeom>
          <a:solidFill>
            <a:srgbClr val="10233A"/>
          </a:solidFill>
          <a:ln/>
        </p:spPr>
      </p:sp>
      <p:sp>
        <p:nvSpPr>
          <p:cNvPr id="38" name="Text 36"/>
          <p:cNvSpPr txBox="1"/>
          <p:nvPr/>
        </p:nvSpPr>
        <p:spPr>
          <a:xfrm>
            <a:off x="5321808" y="4096512"/>
            <a:ext cx="87782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A$/share</a:t>
            </a:r>
            <a:endParaRPr lang="en-US" sz="840" dirty="0"/>
          </a:p>
        </p:txBody>
      </p:sp>
      <p:sp>
        <p:nvSpPr>
          <p:cNvPr id="39" name="Shape 37"/>
          <p:cNvSpPr/>
          <p:nvPr/>
        </p:nvSpPr>
        <p:spPr>
          <a:xfrm>
            <a:off x="6263640" y="4096512"/>
            <a:ext cx="5522976" cy="292608"/>
          </a:xfrm>
          <a:prstGeom prst="rect">
            <a:avLst/>
          </a:prstGeom>
          <a:solidFill>
            <a:srgbClr val="10233A"/>
          </a:solidFill>
          <a:ln/>
        </p:spPr>
      </p:sp>
      <p:sp>
        <p:nvSpPr>
          <p:cNvPr id="40" name="Text 38"/>
          <p:cNvSpPr txBox="1"/>
          <p:nvPr/>
        </p:nvSpPr>
        <p:spPr>
          <a:xfrm>
            <a:off x="6327648" y="4096512"/>
            <a:ext cx="5394960"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Treatment</a:t>
            </a:r>
            <a:endParaRPr lang="en-US" sz="840" dirty="0"/>
          </a:p>
        </p:txBody>
      </p:sp>
      <p:sp>
        <p:nvSpPr>
          <p:cNvPr id="41" name="Shape 39"/>
          <p:cNvSpPr/>
          <p:nvPr/>
        </p:nvSpPr>
        <p:spPr>
          <a:xfrm>
            <a:off x="411480" y="4389120"/>
            <a:ext cx="1874520" cy="269748"/>
          </a:xfrm>
          <a:prstGeom prst="rect">
            <a:avLst/>
          </a:prstGeom>
          <a:solidFill>
            <a:srgbClr val="D6EBE7"/>
          </a:solidFill>
          <a:ln w="6350">
            <a:solidFill>
              <a:srgbClr val="D3DCE5"/>
            </a:solidFill>
            <a:prstDash val="solid"/>
          </a:ln>
        </p:spPr>
      </p:sp>
      <p:sp>
        <p:nvSpPr>
          <p:cNvPr id="42" name="Text 40"/>
          <p:cNvSpPr txBox="1"/>
          <p:nvPr/>
        </p:nvSpPr>
        <p:spPr>
          <a:xfrm>
            <a:off x="475488" y="4389120"/>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43" name="Shape 41"/>
          <p:cNvSpPr/>
          <p:nvPr/>
        </p:nvSpPr>
        <p:spPr>
          <a:xfrm>
            <a:off x="2286000" y="4389120"/>
            <a:ext cx="2971800" cy="269748"/>
          </a:xfrm>
          <a:prstGeom prst="rect">
            <a:avLst/>
          </a:prstGeom>
          <a:solidFill>
            <a:srgbClr val="D6EBE7"/>
          </a:solidFill>
          <a:ln w="6350">
            <a:solidFill>
              <a:srgbClr val="D3DCE5"/>
            </a:solidFill>
            <a:prstDash val="solid"/>
          </a:ln>
        </p:spPr>
      </p:sp>
      <p:sp>
        <p:nvSpPr>
          <p:cNvPr id="44" name="Text 42"/>
          <p:cNvSpPr txBox="1"/>
          <p:nvPr/>
        </p:nvSpPr>
        <p:spPr>
          <a:xfrm>
            <a:off x="2350008" y="4389120"/>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Ore sorting</a:t>
            </a:r>
            <a:endParaRPr lang="en-US" sz="860" dirty="0"/>
          </a:p>
        </p:txBody>
      </p:sp>
      <p:sp>
        <p:nvSpPr>
          <p:cNvPr id="45" name="Shape 43"/>
          <p:cNvSpPr/>
          <p:nvPr/>
        </p:nvSpPr>
        <p:spPr>
          <a:xfrm>
            <a:off x="5257800" y="4389120"/>
            <a:ext cx="1005840" cy="269748"/>
          </a:xfrm>
          <a:prstGeom prst="rect">
            <a:avLst/>
          </a:prstGeom>
          <a:solidFill>
            <a:srgbClr val="D6EBE7"/>
          </a:solidFill>
          <a:ln w="6350">
            <a:solidFill>
              <a:srgbClr val="D3DCE5"/>
            </a:solidFill>
            <a:prstDash val="solid"/>
          </a:ln>
        </p:spPr>
      </p:sp>
      <p:sp>
        <p:nvSpPr>
          <p:cNvPr id="46" name="Text 44"/>
          <p:cNvSpPr txBox="1"/>
          <p:nvPr/>
        </p:nvSpPr>
        <p:spPr>
          <a:xfrm>
            <a:off x="5321808" y="4389120"/>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0.19</a:t>
            </a:r>
            <a:endParaRPr lang="en-US" sz="860" dirty="0"/>
          </a:p>
        </p:txBody>
      </p:sp>
      <p:sp>
        <p:nvSpPr>
          <p:cNvPr id="47" name="Shape 45"/>
          <p:cNvSpPr/>
          <p:nvPr/>
        </p:nvSpPr>
        <p:spPr>
          <a:xfrm>
            <a:off x="6263640" y="4389120"/>
            <a:ext cx="5522976" cy="269748"/>
          </a:xfrm>
          <a:prstGeom prst="rect">
            <a:avLst/>
          </a:prstGeom>
          <a:solidFill>
            <a:srgbClr val="D6EBE7"/>
          </a:solidFill>
          <a:ln w="6350">
            <a:solidFill>
              <a:srgbClr val="D3DCE5"/>
            </a:solidFill>
            <a:prstDash val="solid"/>
          </a:ln>
        </p:spPr>
      </p:sp>
      <p:sp>
        <p:nvSpPr>
          <p:cNvPr id="48" name="Text 46"/>
          <p:cNvSpPr txBox="1"/>
          <p:nvPr/>
        </p:nvSpPr>
        <p:spPr>
          <a:xfrm>
            <a:off x="6327648" y="4389120"/>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Already inside the A$569/t cost base the DCF discounts. Attributed, not added.</a:t>
            </a:r>
            <a:endParaRPr lang="en-US" sz="860" dirty="0"/>
          </a:p>
        </p:txBody>
      </p:sp>
      <p:sp>
        <p:nvSpPr>
          <p:cNvPr id="49" name="Shape 47"/>
          <p:cNvSpPr/>
          <p:nvPr/>
        </p:nvSpPr>
        <p:spPr>
          <a:xfrm>
            <a:off x="411480" y="4658868"/>
            <a:ext cx="1874520" cy="269748"/>
          </a:xfrm>
          <a:prstGeom prst="rect">
            <a:avLst/>
          </a:prstGeom>
          <a:solidFill>
            <a:srgbClr val="D6EBE7"/>
          </a:solidFill>
          <a:ln w="6350">
            <a:solidFill>
              <a:srgbClr val="D3DCE5"/>
            </a:solidFill>
            <a:prstDash val="solid"/>
          </a:ln>
        </p:spPr>
      </p:sp>
      <p:sp>
        <p:nvSpPr>
          <p:cNvPr id="50" name="Text 48"/>
          <p:cNvSpPr txBox="1"/>
          <p:nvPr/>
        </p:nvSpPr>
        <p:spPr>
          <a:xfrm>
            <a:off x="475488" y="4658868"/>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51" name="Shape 49"/>
          <p:cNvSpPr/>
          <p:nvPr/>
        </p:nvSpPr>
        <p:spPr>
          <a:xfrm>
            <a:off x="2286000" y="4658868"/>
            <a:ext cx="2971800" cy="269748"/>
          </a:xfrm>
          <a:prstGeom prst="rect">
            <a:avLst/>
          </a:prstGeom>
          <a:solidFill>
            <a:srgbClr val="D6EBE7"/>
          </a:solidFill>
          <a:ln w="6350">
            <a:solidFill>
              <a:srgbClr val="D3DCE5"/>
            </a:solidFill>
            <a:prstDash val="solid"/>
          </a:ln>
        </p:spPr>
      </p:sp>
      <p:sp>
        <p:nvSpPr>
          <p:cNvPr id="52" name="Text 50"/>
          <p:cNvSpPr txBox="1"/>
          <p:nvPr/>
        </p:nvSpPr>
        <p:spPr>
          <a:xfrm>
            <a:off x="2350008" y="4658868"/>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Power: gas, solar, storage</a:t>
            </a:r>
            <a:endParaRPr lang="en-US" sz="860" dirty="0"/>
          </a:p>
        </p:txBody>
      </p:sp>
      <p:sp>
        <p:nvSpPr>
          <p:cNvPr id="53" name="Shape 51"/>
          <p:cNvSpPr/>
          <p:nvPr/>
        </p:nvSpPr>
        <p:spPr>
          <a:xfrm>
            <a:off x="5257800" y="4658868"/>
            <a:ext cx="1005840" cy="269748"/>
          </a:xfrm>
          <a:prstGeom prst="rect">
            <a:avLst/>
          </a:prstGeom>
          <a:solidFill>
            <a:srgbClr val="D6EBE7"/>
          </a:solidFill>
          <a:ln w="6350">
            <a:solidFill>
              <a:srgbClr val="D3DCE5"/>
            </a:solidFill>
            <a:prstDash val="solid"/>
          </a:ln>
        </p:spPr>
      </p:sp>
      <p:sp>
        <p:nvSpPr>
          <p:cNvPr id="54" name="Text 52"/>
          <p:cNvSpPr txBox="1"/>
          <p:nvPr/>
        </p:nvSpPr>
        <p:spPr>
          <a:xfrm>
            <a:off x="5321808" y="4658868"/>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0.11</a:t>
            </a:r>
            <a:endParaRPr lang="en-US" sz="860" dirty="0"/>
          </a:p>
        </p:txBody>
      </p:sp>
      <p:sp>
        <p:nvSpPr>
          <p:cNvPr id="55" name="Shape 53"/>
          <p:cNvSpPr/>
          <p:nvPr/>
        </p:nvSpPr>
        <p:spPr>
          <a:xfrm>
            <a:off x="6263640" y="4658868"/>
            <a:ext cx="5522976" cy="269748"/>
          </a:xfrm>
          <a:prstGeom prst="rect">
            <a:avLst/>
          </a:prstGeom>
          <a:solidFill>
            <a:srgbClr val="D6EBE7"/>
          </a:solidFill>
          <a:ln w="6350">
            <a:solidFill>
              <a:srgbClr val="D3DCE5"/>
            </a:solidFill>
            <a:prstDash val="solid"/>
          </a:ln>
        </p:spPr>
      </p:sp>
      <p:sp>
        <p:nvSpPr>
          <p:cNvPr id="56" name="Text 54"/>
          <p:cNvSpPr txBox="1"/>
          <p:nvPr/>
        </p:nvSpPr>
        <p:spPr>
          <a:xfrm>
            <a:off x="6327648" y="4658868"/>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Same. The bridge decomposes the valuation; it does not inflate it.</a:t>
            </a:r>
            <a:endParaRPr lang="en-US" sz="860" dirty="0"/>
          </a:p>
        </p:txBody>
      </p:sp>
      <p:sp>
        <p:nvSpPr>
          <p:cNvPr id="57" name="Shape 55"/>
          <p:cNvSpPr/>
          <p:nvPr/>
        </p:nvSpPr>
        <p:spPr>
          <a:xfrm>
            <a:off x="411480" y="4928616"/>
            <a:ext cx="1874520" cy="269748"/>
          </a:xfrm>
          <a:prstGeom prst="rect">
            <a:avLst/>
          </a:prstGeom>
          <a:solidFill>
            <a:srgbClr val="D6EBE7"/>
          </a:solidFill>
          <a:ln w="6350">
            <a:solidFill>
              <a:srgbClr val="D3DCE5"/>
            </a:solidFill>
            <a:prstDash val="solid"/>
          </a:ln>
        </p:spPr>
      </p:sp>
      <p:sp>
        <p:nvSpPr>
          <p:cNvPr id="58" name="Text 56"/>
          <p:cNvSpPr txBox="1"/>
          <p:nvPr/>
        </p:nvSpPr>
        <p:spPr>
          <a:xfrm>
            <a:off x="475488" y="4928616"/>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59" name="Shape 57"/>
          <p:cNvSpPr/>
          <p:nvPr/>
        </p:nvSpPr>
        <p:spPr>
          <a:xfrm>
            <a:off x="2286000" y="4928616"/>
            <a:ext cx="2971800" cy="269748"/>
          </a:xfrm>
          <a:prstGeom prst="rect">
            <a:avLst/>
          </a:prstGeom>
          <a:solidFill>
            <a:srgbClr val="D6EBE7"/>
          </a:solidFill>
          <a:ln w="6350">
            <a:solidFill>
              <a:srgbClr val="D3DCE5"/>
            </a:solidFill>
            <a:prstDash val="solid"/>
          </a:ln>
        </p:spPr>
      </p:sp>
      <p:sp>
        <p:nvSpPr>
          <p:cNvPr id="60" name="Text 58"/>
          <p:cNvSpPr txBox="1"/>
          <p:nvPr/>
        </p:nvSpPr>
        <p:spPr>
          <a:xfrm>
            <a:off x="2350008" y="4928616"/>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P2000 schedule protection</a:t>
            </a:r>
            <a:endParaRPr lang="en-US" sz="860" dirty="0"/>
          </a:p>
        </p:txBody>
      </p:sp>
      <p:sp>
        <p:nvSpPr>
          <p:cNvPr id="61" name="Shape 59"/>
          <p:cNvSpPr/>
          <p:nvPr/>
        </p:nvSpPr>
        <p:spPr>
          <a:xfrm>
            <a:off x="5257800" y="4928616"/>
            <a:ext cx="1005840" cy="269748"/>
          </a:xfrm>
          <a:prstGeom prst="rect">
            <a:avLst/>
          </a:prstGeom>
          <a:solidFill>
            <a:srgbClr val="D6EBE7"/>
          </a:solidFill>
          <a:ln w="6350">
            <a:solidFill>
              <a:srgbClr val="D3DCE5"/>
            </a:solidFill>
            <a:prstDash val="solid"/>
          </a:ln>
        </p:spPr>
      </p:sp>
      <p:sp>
        <p:nvSpPr>
          <p:cNvPr id="62" name="Text 60"/>
          <p:cNvSpPr txBox="1"/>
          <p:nvPr/>
        </p:nvSpPr>
        <p:spPr>
          <a:xfrm>
            <a:off x="5321808" y="4928616"/>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0.13</a:t>
            </a:r>
            <a:endParaRPr lang="en-US" sz="860" dirty="0"/>
          </a:p>
        </p:txBody>
      </p:sp>
      <p:sp>
        <p:nvSpPr>
          <p:cNvPr id="63" name="Shape 61"/>
          <p:cNvSpPr/>
          <p:nvPr/>
        </p:nvSpPr>
        <p:spPr>
          <a:xfrm>
            <a:off x="6263640" y="4928616"/>
            <a:ext cx="5522976" cy="269748"/>
          </a:xfrm>
          <a:prstGeom prst="rect">
            <a:avLst/>
          </a:prstGeom>
          <a:solidFill>
            <a:srgbClr val="D6EBE7"/>
          </a:solidFill>
          <a:ln w="6350">
            <a:solidFill>
              <a:srgbClr val="D3DCE5"/>
            </a:solidFill>
            <a:prstDash val="solid"/>
          </a:ln>
        </p:spPr>
      </p:sp>
      <p:sp>
        <p:nvSpPr>
          <p:cNvPr id="64" name="Text 62"/>
          <p:cNvSpPr txBox="1"/>
          <p:nvPr/>
        </p:nvSpPr>
        <p:spPr>
          <a:xfrm>
            <a:off x="6327648" y="4928616"/>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Value of avoiding a two-year permitting slip on a A$2.6bn NPV, at our WACC.</a:t>
            </a:r>
            <a:endParaRPr lang="en-US" sz="860" dirty="0"/>
          </a:p>
        </p:txBody>
      </p:sp>
      <p:sp>
        <p:nvSpPr>
          <p:cNvPr id="65" name="Shape 63"/>
          <p:cNvSpPr/>
          <p:nvPr/>
        </p:nvSpPr>
        <p:spPr>
          <a:xfrm>
            <a:off x="411480" y="5198364"/>
            <a:ext cx="1874520" cy="269748"/>
          </a:xfrm>
          <a:prstGeom prst="rect">
            <a:avLst/>
          </a:prstGeom>
          <a:solidFill>
            <a:srgbClr val="FBEBD9"/>
          </a:solidFill>
          <a:ln w="6350">
            <a:solidFill>
              <a:srgbClr val="D3DCE5"/>
            </a:solidFill>
            <a:prstDash val="solid"/>
          </a:ln>
        </p:spPr>
      </p:sp>
      <p:sp>
        <p:nvSpPr>
          <p:cNvPr id="66" name="Text 64"/>
          <p:cNvSpPr txBox="1"/>
          <p:nvPr/>
        </p:nvSpPr>
        <p:spPr>
          <a:xfrm>
            <a:off x="475488" y="5198364"/>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67" name="Shape 65"/>
          <p:cNvSpPr/>
          <p:nvPr/>
        </p:nvSpPr>
        <p:spPr>
          <a:xfrm>
            <a:off x="2286000" y="5198364"/>
            <a:ext cx="2971800" cy="269748"/>
          </a:xfrm>
          <a:prstGeom prst="rect">
            <a:avLst/>
          </a:prstGeom>
          <a:solidFill>
            <a:srgbClr val="FBEBD9"/>
          </a:solidFill>
          <a:ln w="6350">
            <a:solidFill>
              <a:srgbClr val="D3DCE5"/>
            </a:solidFill>
            <a:prstDash val="solid"/>
          </a:ln>
        </p:spPr>
      </p:sp>
      <p:sp>
        <p:nvSpPr>
          <p:cNvPr id="68" name="Text 66"/>
          <p:cNvSpPr txBox="1"/>
          <p:nvPr/>
        </p:nvSpPr>
        <p:spPr>
          <a:xfrm>
            <a:off x="2350008" y="5198364"/>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Mid-stream lithium phosphate</a:t>
            </a:r>
            <a:endParaRPr lang="en-US" sz="860" dirty="0"/>
          </a:p>
        </p:txBody>
      </p:sp>
      <p:sp>
        <p:nvSpPr>
          <p:cNvPr id="69" name="Shape 67"/>
          <p:cNvSpPr/>
          <p:nvPr/>
        </p:nvSpPr>
        <p:spPr>
          <a:xfrm>
            <a:off x="5257800" y="5198364"/>
            <a:ext cx="1005840" cy="269748"/>
          </a:xfrm>
          <a:prstGeom prst="rect">
            <a:avLst/>
          </a:prstGeom>
          <a:solidFill>
            <a:srgbClr val="FBEBD9"/>
          </a:solidFill>
          <a:ln w="6350">
            <a:solidFill>
              <a:srgbClr val="D3DCE5"/>
            </a:solidFill>
            <a:prstDash val="solid"/>
          </a:ln>
        </p:spPr>
      </p:sp>
      <p:sp>
        <p:nvSpPr>
          <p:cNvPr id="70" name="Text 68"/>
          <p:cNvSpPr txBox="1"/>
          <p:nvPr/>
        </p:nvSpPr>
        <p:spPr>
          <a:xfrm>
            <a:off x="5321808" y="5198364"/>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0.21</a:t>
            </a:r>
            <a:endParaRPr lang="en-US" sz="860" dirty="0"/>
          </a:p>
        </p:txBody>
      </p:sp>
      <p:sp>
        <p:nvSpPr>
          <p:cNvPr id="71" name="Shape 69"/>
          <p:cNvSpPr/>
          <p:nvPr/>
        </p:nvSpPr>
        <p:spPr>
          <a:xfrm>
            <a:off x="6263640" y="5198364"/>
            <a:ext cx="5522976" cy="269748"/>
          </a:xfrm>
          <a:prstGeom prst="rect">
            <a:avLst/>
          </a:prstGeom>
          <a:solidFill>
            <a:srgbClr val="FBEBD9"/>
          </a:solidFill>
          <a:ln w="6350">
            <a:solidFill>
              <a:srgbClr val="D3DCE5"/>
            </a:solidFill>
            <a:prstDash val="solid"/>
          </a:ln>
        </p:spPr>
      </p:sp>
      <p:sp>
        <p:nvSpPr>
          <p:cNvPr id="72" name="Text 70"/>
          <p:cNvSpPr txBox="1"/>
          <p:nvPr/>
        </p:nvSpPr>
        <p:spPr>
          <a:xfrm>
            <a:off x="6327648" y="5198364"/>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45%. Plant built, first production due in the September 2026 quarter.</a:t>
            </a:r>
            <a:endParaRPr lang="en-US" sz="860" dirty="0"/>
          </a:p>
        </p:txBody>
      </p:sp>
      <p:sp>
        <p:nvSpPr>
          <p:cNvPr id="73" name="Shape 71"/>
          <p:cNvSpPr/>
          <p:nvPr/>
        </p:nvSpPr>
        <p:spPr>
          <a:xfrm>
            <a:off x="411480" y="5468112"/>
            <a:ext cx="1874520" cy="269748"/>
          </a:xfrm>
          <a:prstGeom prst="rect">
            <a:avLst/>
          </a:prstGeom>
          <a:solidFill>
            <a:srgbClr val="FBEBD9"/>
          </a:solidFill>
          <a:ln w="6350">
            <a:solidFill>
              <a:srgbClr val="D3DCE5"/>
            </a:solidFill>
            <a:prstDash val="solid"/>
          </a:ln>
        </p:spPr>
      </p:sp>
      <p:sp>
        <p:nvSpPr>
          <p:cNvPr id="74" name="Text 72"/>
          <p:cNvSpPr txBox="1"/>
          <p:nvPr/>
        </p:nvSpPr>
        <p:spPr>
          <a:xfrm>
            <a:off x="475488" y="5468112"/>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75" name="Shape 73"/>
          <p:cNvSpPr/>
          <p:nvPr/>
        </p:nvSpPr>
        <p:spPr>
          <a:xfrm>
            <a:off x="2286000" y="5468112"/>
            <a:ext cx="2971800" cy="269748"/>
          </a:xfrm>
          <a:prstGeom prst="rect">
            <a:avLst/>
          </a:prstGeom>
          <a:solidFill>
            <a:srgbClr val="FBEBD9"/>
          </a:solidFill>
          <a:ln w="6350">
            <a:solidFill>
              <a:srgbClr val="D3DCE5"/>
            </a:solidFill>
            <a:prstDash val="solid"/>
          </a:ln>
        </p:spPr>
      </p:sp>
      <p:sp>
        <p:nvSpPr>
          <p:cNvPr id="76" name="Text 74"/>
          <p:cNvSpPr txBox="1"/>
          <p:nvPr/>
        </p:nvSpPr>
        <p:spPr>
          <a:xfrm>
            <a:off x="2350008" y="5468112"/>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POSCO joint venture equity</a:t>
            </a:r>
            <a:endParaRPr lang="en-US" sz="860" dirty="0"/>
          </a:p>
        </p:txBody>
      </p:sp>
      <p:sp>
        <p:nvSpPr>
          <p:cNvPr id="77" name="Shape 75"/>
          <p:cNvSpPr/>
          <p:nvPr/>
        </p:nvSpPr>
        <p:spPr>
          <a:xfrm>
            <a:off x="5257800" y="5468112"/>
            <a:ext cx="1005840" cy="269748"/>
          </a:xfrm>
          <a:prstGeom prst="rect">
            <a:avLst/>
          </a:prstGeom>
          <a:solidFill>
            <a:srgbClr val="FBEBD9"/>
          </a:solidFill>
          <a:ln w="6350">
            <a:solidFill>
              <a:srgbClr val="D3DCE5"/>
            </a:solidFill>
            <a:prstDash val="solid"/>
          </a:ln>
        </p:spPr>
      </p:sp>
      <p:sp>
        <p:nvSpPr>
          <p:cNvPr id="78" name="Text 76"/>
          <p:cNvSpPr txBox="1"/>
          <p:nvPr/>
        </p:nvSpPr>
        <p:spPr>
          <a:xfrm>
            <a:off x="5321808" y="5468112"/>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0.06</a:t>
            </a:r>
            <a:endParaRPr lang="en-US" sz="860" dirty="0"/>
          </a:p>
        </p:txBody>
      </p:sp>
      <p:sp>
        <p:nvSpPr>
          <p:cNvPr id="79" name="Shape 77"/>
          <p:cNvSpPr/>
          <p:nvPr/>
        </p:nvSpPr>
        <p:spPr>
          <a:xfrm>
            <a:off x="6263640" y="5468112"/>
            <a:ext cx="5522976" cy="269748"/>
          </a:xfrm>
          <a:prstGeom prst="rect">
            <a:avLst/>
          </a:prstGeom>
          <a:solidFill>
            <a:srgbClr val="FBEBD9"/>
          </a:solidFill>
          <a:ln w="6350">
            <a:solidFill>
              <a:srgbClr val="D3DCE5"/>
            </a:solidFill>
            <a:prstDash val="solid"/>
          </a:ln>
        </p:spPr>
      </p:sp>
      <p:sp>
        <p:nvSpPr>
          <p:cNvPr id="80" name="Text 78"/>
          <p:cNvSpPr txBox="1"/>
          <p:nvPr/>
        </p:nvSpPr>
        <p:spPr>
          <a:xfrm>
            <a:off x="6327648" y="5468112"/>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70%. Both trains built, Train 2 ramping. Lowest execution risk.</a:t>
            </a:r>
            <a:endParaRPr lang="en-US" sz="860" dirty="0"/>
          </a:p>
        </p:txBody>
      </p:sp>
      <p:sp>
        <p:nvSpPr>
          <p:cNvPr id="81" name="Shape 79"/>
          <p:cNvSpPr/>
          <p:nvPr/>
        </p:nvSpPr>
        <p:spPr>
          <a:xfrm>
            <a:off x="411480" y="5737860"/>
            <a:ext cx="1874520" cy="269748"/>
          </a:xfrm>
          <a:prstGeom prst="rect">
            <a:avLst/>
          </a:prstGeom>
          <a:solidFill>
            <a:srgbClr val="FBEBD9"/>
          </a:solidFill>
          <a:ln w="6350">
            <a:solidFill>
              <a:srgbClr val="D3DCE5"/>
            </a:solidFill>
            <a:prstDash val="solid"/>
          </a:ln>
        </p:spPr>
      </p:sp>
      <p:sp>
        <p:nvSpPr>
          <p:cNvPr id="82" name="Text 80"/>
          <p:cNvSpPr txBox="1"/>
          <p:nvPr/>
        </p:nvSpPr>
        <p:spPr>
          <a:xfrm>
            <a:off x="475488" y="5737860"/>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83" name="Shape 81"/>
          <p:cNvSpPr/>
          <p:nvPr/>
        </p:nvSpPr>
        <p:spPr>
          <a:xfrm>
            <a:off x="2286000" y="5737860"/>
            <a:ext cx="2971800" cy="269748"/>
          </a:xfrm>
          <a:prstGeom prst="rect">
            <a:avLst/>
          </a:prstGeom>
          <a:solidFill>
            <a:srgbClr val="FBEBD9"/>
          </a:solidFill>
          <a:ln w="6350">
            <a:solidFill>
              <a:srgbClr val="D3DCE5"/>
            </a:solidFill>
            <a:prstDash val="solid"/>
          </a:ln>
        </p:spPr>
      </p:sp>
      <p:sp>
        <p:nvSpPr>
          <p:cNvPr id="84" name="Text 82"/>
          <p:cNvSpPr txBox="1"/>
          <p:nvPr/>
        </p:nvSpPr>
        <p:spPr>
          <a:xfrm>
            <a:off x="2350008" y="5737860"/>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Low-carbon qualification premium</a:t>
            </a:r>
            <a:endParaRPr lang="en-US" sz="860" dirty="0"/>
          </a:p>
        </p:txBody>
      </p:sp>
      <p:sp>
        <p:nvSpPr>
          <p:cNvPr id="85" name="Shape 83"/>
          <p:cNvSpPr/>
          <p:nvPr/>
        </p:nvSpPr>
        <p:spPr>
          <a:xfrm>
            <a:off x="5257800" y="5737860"/>
            <a:ext cx="1005840" cy="269748"/>
          </a:xfrm>
          <a:prstGeom prst="rect">
            <a:avLst/>
          </a:prstGeom>
          <a:solidFill>
            <a:srgbClr val="FBEBD9"/>
          </a:solidFill>
          <a:ln w="6350">
            <a:solidFill>
              <a:srgbClr val="D3DCE5"/>
            </a:solidFill>
            <a:prstDash val="solid"/>
          </a:ln>
        </p:spPr>
      </p:sp>
      <p:sp>
        <p:nvSpPr>
          <p:cNvPr id="86" name="Text 84"/>
          <p:cNvSpPr txBox="1"/>
          <p:nvPr/>
        </p:nvSpPr>
        <p:spPr>
          <a:xfrm>
            <a:off x="5321808" y="5737860"/>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0.05</a:t>
            </a:r>
            <a:endParaRPr lang="en-US" sz="860" dirty="0"/>
          </a:p>
        </p:txBody>
      </p:sp>
      <p:sp>
        <p:nvSpPr>
          <p:cNvPr id="87" name="Shape 85"/>
          <p:cNvSpPr/>
          <p:nvPr/>
        </p:nvSpPr>
        <p:spPr>
          <a:xfrm>
            <a:off x="6263640" y="5737860"/>
            <a:ext cx="5522976" cy="269748"/>
          </a:xfrm>
          <a:prstGeom prst="rect">
            <a:avLst/>
          </a:prstGeom>
          <a:solidFill>
            <a:srgbClr val="FBEBD9"/>
          </a:solidFill>
          <a:ln w="6350">
            <a:solidFill>
              <a:srgbClr val="D3DCE5"/>
            </a:solidFill>
            <a:prstDash val="solid"/>
          </a:ln>
        </p:spPr>
      </p:sp>
      <p:sp>
        <p:nvSpPr>
          <p:cNvPr id="88" name="Text 86"/>
          <p:cNvSpPr txBox="1"/>
          <p:nvPr/>
        </p:nvSpPr>
        <p:spPr>
          <a:xfrm>
            <a:off x="6327648" y="5737860"/>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25%. Directionally supported by policy, unproven in PLS's contracts.</a:t>
            </a:r>
            <a:endParaRPr lang="en-US" sz="860" dirty="0"/>
          </a:p>
        </p:txBody>
      </p:sp>
      <p:sp>
        <p:nvSpPr>
          <p:cNvPr id="89" name="Text 8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ESG Value Bridge and Downstream Option sheets. Every figure on this page is reproducible from the submitted workbook. Risk weightings are our judgement and are stated on the sheet.</a:t>
            </a:r>
            <a:endParaRPr lang="en-US" sz="750" dirty="0"/>
          </a:p>
        </p:txBody>
      </p:sp>
      <p:sp>
        <p:nvSpPr>
          <p:cNvPr id="90" name="Text 8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03</a:t>
            </a:r>
            <a:endParaRPr lang="en-US" sz="8800" dirty="0"/>
          </a:p>
        </p:txBody>
      </p:sp>
      <p:sp>
        <p:nvSpPr>
          <p:cNvPr id="3" name="Text 1"/>
          <p:cNvSpPr txBox="1"/>
          <p:nvPr/>
        </p:nvSpPr>
        <p:spPr>
          <a:xfrm>
            <a:off x="2148840" y="2103120"/>
            <a:ext cx="841248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Valuation, risk and recommendation</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What the asset is worth, what has to be true for that to hold, and what would tell us first that it is not.</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12  Discounted cash flow     13  The range and the sensitivities     14  Risks and mitigants     15  Recommendation</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A finite orebody gets an annuity, not a perpetuity</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That single choice is worth A$9.0bn of terminal value. It is the difference between valuing a mine and valuing a company that never runs out of rock.</a:t>
            </a:r>
            <a:endParaRPr lang="en-US" sz="1200" dirty="0"/>
          </a:p>
        </p:txBody>
      </p:sp>
      <p:sp>
        <p:nvSpPr>
          <p:cNvPr id="13" name="Shape 11"/>
          <p:cNvSpPr/>
          <p:nvPr/>
        </p:nvSpPr>
        <p:spPr>
          <a:xfrm>
            <a:off x="411480" y="1627632"/>
            <a:ext cx="2377440" cy="292608"/>
          </a:xfrm>
          <a:prstGeom prst="rect">
            <a:avLst/>
          </a:prstGeom>
          <a:solidFill>
            <a:srgbClr val="10233A"/>
          </a:solidFill>
          <a:ln/>
        </p:spPr>
      </p:sp>
      <p:sp>
        <p:nvSpPr>
          <p:cNvPr id="14" name="Text 12"/>
          <p:cNvSpPr txBox="1"/>
          <p:nvPr/>
        </p:nvSpPr>
        <p:spPr>
          <a:xfrm>
            <a:off x="475488" y="1627632"/>
            <a:ext cx="2249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5" name="Shape 13"/>
          <p:cNvSpPr/>
          <p:nvPr/>
        </p:nvSpPr>
        <p:spPr>
          <a:xfrm>
            <a:off x="2788920" y="1627632"/>
            <a:ext cx="960120" cy="292608"/>
          </a:xfrm>
          <a:prstGeom prst="rect">
            <a:avLst/>
          </a:prstGeom>
          <a:solidFill>
            <a:srgbClr val="10233A"/>
          </a:solidFill>
          <a:ln/>
        </p:spPr>
      </p:sp>
      <p:sp>
        <p:nvSpPr>
          <p:cNvPr id="16" name="Text 14"/>
          <p:cNvSpPr txBox="1"/>
          <p:nvPr/>
        </p:nvSpPr>
        <p:spPr>
          <a:xfrm>
            <a:off x="2852928" y="1627632"/>
            <a:ext cx="8321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7" name="Shape 15"/>
          <p:cNvSpPr/>
          <p:nvPr/>
        </p:nvSpPr>
        <p:spPr>
          <a:xfrm>
            <a:off x="3749040" y="1627632"/>
            <a:ext cx="3017520" cy="292608"/>
          </a:xfrm>
          <a:prstGeom prst="rect">
            <a:avLst/>
          </a:prstGeom>
          <a:solidFill>
            <a:srgbClr val="10233A"/>
          </a:solidFill>
          <a:ln/>
        </p:spPr>
      </p:sp>
      <p:sp>
        <p:nvSpPr>
          <p:cNvPr id="18" name="Text 16"/>
          <p:cNvSpPr txBox="1"/>
          <p:nvPr/>
        </p:nvSpPr>
        <p:spPr>
          <a:xfrm>
            <a:off x="3813048" y="1627632"/>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Where it comes from</a:t>
            </a:r>
            <a:endParaRPr lang="en-US" sz="900" dirty="0"/>
          </a:p>
        </p:txBody>
      </p:sp>
      <p:sp>
        <p:nvSpPr>
          <p:cNvPr id="19" name="Shape 17"/>
          <p:cNvSpPr/>
          <p:nvPr/>
        </p:nvSpPr>
        <p:spPr>
          <a:xfrm>
            <a:off x="6766560" y="1627632"/>
            <a:ext cx="777240" cy="292608"/>
          </a:xfrm>
          <a:prstGeom prst="rect">
            <a:avLst/>
          </a:prstGeom>
          <a:solidFill>
            <a:srgbClr val="10233A"/>
          </a:solidFill>
          <a:ln/>
        </p:spPr>
      </p:sp>
      <p:sp>
        <p:nvSpPr>
          <p:cNvPr id="20" name="Text 18"/>
          <p:cNvSpPr txBox="1"/>
          <p:nvPr/>
        </p:nvSpPr>
        <p:spPr>
          <a:xfrm>
            <a:off x="6830568" y="1627632"/>
            <a:ext cx="6492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411480" y="1920240"/>
            <a:ext cx="2377440" cy="256032"/>
          </a:xfrm>
          <a:prstGeom prst="rect">
            <a:avLst/>
          </a:prstGeom>
          <a:solidFill>
            <a:srgbClr val="FFFFFF"/>
          </a:solidFill>
          <a:ln w="6350">
            <a:solidFill>
              <a:srgbClr val="D3DCE5"/>
            </a:solidFill>
            <a:prstDash val="solid"/>
          </a:ln>
        </p:spPr>
      </p:sp>
      <p:sp>
        <p:nvSpPr>
          <p:cNvPr id="22" name="Text 20"/>
          <p:cNvSpPr txBox="1"/>
          <p:nvPr/>
        </p:nvSpPr>
        <p:spPr>
          <a:xfrm>
            <a:off x="475488" y="1920240"/>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Risk-free rate</a:t>
            </a:r>
            <a:endParaRPr lang="en-US" sz="880" dirty="0"/>
          </a:p>
        </p:txBody>
      </p:sp>
      <p:sp>
        <p:nvSpPr>
          <p:cNvPr id="23" name="Shape 21"/>
          <p:cNvSpPr/>
          <p:nvPr/>
        </p:nvSpPr>
        <p:spPr>
          <a:xfrm>
            <a:off x="2788920" y="1920240"/>
            <a:ext cx="960120" cy="256032"/>
          </a:xfrm>
          <a:prstGeom prst="rect">
            <a:avLst/>
          </a:prstGeom>
          <a:solidFill>
            <a:srgbClr val="FFFFFF"/>
          </a:solidFill>
          <a:ln w="6350">
            <a:solidFill>
              <a:srgbClr val="D3DCE5"/>
            </a:solidFill>
            <a:prstDash val="solid"/>
          </a:ln>
        </p:spPr>
      </p:sp>
      <p:sp>
        <p:nvSpPr>
          <p:cNvPr id="24" name="Text 22"/>
          <p:cNvSpPr txBox="1"/>
          <p:nvPr/>
        </p:nvSpPr>
        <p:spPr>
          <a:xfrm>
            <a:off x="2852928" y="1920240"/>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5.00%</a:t>
            </a:r>
            <a:endParaRPr lang="en-US" sz="880" dirty="0"/>
          </a:p>
        </p:txBody>
      </p:sp>
      <p:sp>
        <p:nvSpPr>
          <p:cNvPr id="25" name="Shape 23"/>
          <p:cNvSpPr/>
          <p:nvPr/>
        </p:nvSpPr>
        <p:spPr>
          <a:xfrm>
            <a:off x="3749040" y="1920240"/>
            <a:ext cx="3017520" cy="256032"/>
          </a:xfrm>
          <a:prstGeom prst="rect">
            <a:avLst/>
          </a:prstGeom>
          <a:solidFill>
            <a:srgbClr val="FFFFFF"/>
          </a:solidFill>
          <a:ln w="6350">
            <a:solidFill>
              <a:srgbClr val="D3DCE5"/>
            </a:solidFill>
            <a:prstDash val="solid"/>
          </a:ln>
        </p:spPr>
      </p:sp>
      <p:sp>
        <p:nvSpPr>
          <p:cNvPr id="26" name="Text 24"/>
          <p:cNvSpPr txBox="1"/>
          <p:nvPr/>
        </p:nvSpPr>
        <p:spPr>
          <a:xfrm>
            <a:off x="3813048" y="1920240"/>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page 6</a:t>
            </a:r>
            <a:endParaRPr lang="en-US" sz="880" dirty="0"/>
          </a:p>
        </p:txBody>
      </p:sp>
      <p:sp>
        <p:nvSpPr>
          <p:cNvPr id="27" name="Shape 25"/>
          <p:cNvSpPr/>
          <p:nvPr/>
        </p:nvSpPr>
        <p:spPr>
          <a:xfrm>
            <a:off x="6766560" y="1920240"/>
            <a:ext cx="777240" cy="256032"/>
          </a:xfrm>
          <a:prstGeom prst="rect">
            <a:avLst/>
          </a:prstGeom>
          <a:solidFill>
            <a:srgbClr val="FFFFFF"/>
          </a:solidFill>
          <a:ln w="6350">
            <a:solidFill>
              <a:srgbClr val="D3DCE5"/>
            </a:solidFill>
            <a:prstDash val="solid"/>
          </a:ln>
        </p:spPr>
      </p:sp>
      <p:sp>
        <p:nvSpPr>
          <p:cNvPr id="28" name="Text 26"/>
          <p:cNvSpPr txBox="1"/>
          <p:nvPr/>
        </p:nvSpPr>
        <p:spPr>
          <a:xfrm>
            <a:off x="6830568" y="1920240"/>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29" name="Shape 27"/>
          <p:cNvSpPr/>
          <p:nvPr/>
        </p:nvSpPr>
        <p:spPr>
          <a:xfrm>
            <a:off x="411480" y="2176272"/>
            <a:ext cx="2377440" cy="256032"/>
          </a:xfrm>
          <a:prstGeom prst="rect">
            <a:avLst/>
          </a:prstGeom>
          <a:solidFill>
            <a:srgbClr val="F7F9FB"/>
          </a:solidFill>
          <a:ln w="6350">
            <a:solidFill>
              <a:srgbClr val="D3DCE5"/>
            </a:solidFill>
            <a:prstDash val="solid"/>
          </a:ln>
        </p:spPr>
      </p:sp>
      <p:sp>
        <p:nvSpPr>
          <p:cNvPr id="30" name="Text 28"/>
          <p:cNvSpPr txBox="1"/>
          <p:nvPr/>
        </p:nvSpPr>
        <p:spPr>
          <a:xfrm>
            <a:off x="475488" y="2176272"/>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Market risk premium</a:t>
            </a:r>
            <a:endParaRPr lang="en-US" sz="880" dirty="0"/>
          </a:p>
        </p:txBody>
      </p:sp>
      <p:sp>
        <p:nvSpPr>
          <p:cNvPr id="31" name="Shape 29"/>
          <p:cNvSpPr/>
          <p:nvPr/>
        </p:nvSpPr>
        <p:spPr>
          <a:xfrm>
            <a:off x="2788920" y="2176272"/>
            <a:ext cx="960120" cy="256032"/>
          </a:xfrm>
          <a:prstGeom prst="rect">
            <a:avLst/>
          </a:prstGeom>
          <a:solidFill>
            <a:srgbClr val="F7F9FB"/>
          </a:solidFill>
          <a:ln w="6350">
            <a:solidFill>
              <a:srgbClr val="D3DCE5"/>
            </a:solidFill>
            <a:prstDash val="solid"/>
          </a:ln>
        </p:spPr>
      </p:sp>
      <p:sp>
        <p:nvSpPr>
          <p:cNvPr id="32" name="Text 30"/>
          <p:cNvSpPr txBox="1"/>
          <p:nvPr/>
        </p:nvSpPr>
        <p:spPr>
          <a:xfrm>
            <a:off x="2852928" y="2176272"/>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6.00%</a:t>
            </a:r>
            <a:endParaRPr lang="en-US" sz="880" dirty="0"/>
          </a:p>
        </p:txBody>
      </p:sp>
      <p:sp>
        <p:nvSpPr>
          <p:cNvPr id="33" name="Shape 31"/>
          <p:cNvSpPr/>
          <p:nvPr/>
        </p:nvSpPr>
        <p:spPr>
          <a:xfrm>
            <a:off x="3749040" y="2176272"/>
            <a:ext cx="3017520" cy="256032"/>
          </a:xfrm>
          <a:prstGeom prst="rect">
            <a:avLst/>
          </a:prstGeom>
          <a:solidFill>
            <a:srgbClr val="F7F9FB"/>
          </a:solidFill>
          <a:ln w="6350">
            <a:solidFill>
              <a:srgbClr val="D3DCE5"/>
            </a:solidFill>
            <a:prstDash val="solid"/>
          </a:ln>
        </p:spPr>
      </p:sp>
      <p:sp>
        <p:nvSpPr>
          <p:cNvPr id="34" name="Text 32"/>
          <p:cNvSpPr txBox="1"/>
          <p:nvPr/>
        </p:nvSpPr>
        <p:spPr>
          <a:xfrm>
            <a:off x="3813048" y="2176272"/>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page 6</a:t>
            </a:r>
            <a:endParaRPr lang="en-US" sz="880" dirty="0"/>
          </a:p>
        </p:txBody>
      </p:sp>
      <p:sp>
        <p:nvSpPr>
          <p:cNvPr id="35" name="Shape 33"/>
          <p:cNvSpPr/>
          <p:nvPr/>
        </p:nvSpPr>
        <p:spPr>
          <a:xfrm>
            <a:off x="6766560" y="2176272"/>
            <a:ext cx="777240" cy="256032"/>
          </a:xfrm>
          <a:prstGeom prst="rect">
            <a:avLst/>
          </a:prstGeom>
          <a:solidFill>
            <a:srgbClr val="F7F9FB"/>
          </a:solidFill>
          <a:ln w="6350">
            <a:solidFill>
              <a:srgbClr val="D3DCE5"/>
            </a:solidFill>
            <a:prstDash val="solid"/>
          </a:ln>
        </p:spPr>
      </p:sp>
      <p:sp>
        <p:nvSpPr>
          <p:cNvPr id="36" name="Text 34"/>
          <p:cNvSpPr txBox="1"/>
          <p:nvPr/>
        </p:nvSpPr>
        <p:spPr>
          <a:xfrm>
            <a:off x="6830568" y="2176272"/>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37" name="Shape 35"/>
          <p:cNvSpPr/>
          <p:nvPr/>
        </p:nvSpPr>
        <p:spPr>
          <a:xfrm>
            <a:off x="411480" y="2432304"/>
            <a:ext cx="2377440" cy="256032"/>
          </a:xfrm>
          <a:prstGeom prst="rect">
            <a:avLst/>
          </a:prstGeom>
          <a:solidFill>
            <a:srgbClr val="FFFFFF"/>
          </a:solidFill>
          <a:ln w="6350">
            <a:solidFill>
              <a:srgbClr val="D3DCE5"/>
            </a:solidFill>
            <a:prstDash val="solid"/>
          </a:ln>
        </p:spPr>
      </p:sp>
      <p:sp>
        <p:nvSpPr>
          <p:cNvPr id="38" name="Text 36"/>
          <p:cNvSpPr txBox="1"/>
          <p:nvPr/>
        </p:nvSpPr>
        <p:spPr>
          <a:xfrm>
            <a:off x="475488" y="2432304"/>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Equity beta</a:t>
            </a:r>
            <a:endParaRPr lang="en-US" sz="880" dirty="0"/>
          </a:p>
        </p:txBody>
      </p:sp>
      <p:sp>
        <p:nvSpPr>
          <p:cNvPr id="39" name="Shape 37"/>
          <p:cNvSpPr/>
          <p:nvPr/>
        </p:nvSpPr>
        <p:spPr>
          <a:xfrm>
            <a:off x="2788920" y="2432304"/>
            <a:ext cx="960120" cy="256032"/>
          </a:xfrm>
          <a:prstGeom prst="rect">
            <a:avLst/>
          </a:prstGeom>
          <a:solidFill>
            <a:srgbClr val="FFFFFF"/>
          </a:solidFill>
          <a:ln w="6350">
            <a:solidFill>
              <a:srgbClr val="D3DCE5"/>
            </a:solidFill>
            <a:prstDash val="solid"/>
          </a:ln>
        </p:spPr>
      </p:sp>
      <p:sp>
        <p:nvSpPr>
          <p:cNvPr id="40" name="Text 38"/>
          <p:cNvSpPr txBox="1"/>
          <p:nvPr/>
        </p:nvSpPr>
        <p:spPr>
          <a:xfrm>
            <a:off x="2852928" y="2432304"/>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0.73</a:t>
            </a:r>
            <a:endParaRPr lang="en-US" sz="880" dirty="0"/>
          </a:p>
        </p:txBody>
      </p:sp>
      <p:sp>
        <p:nvSpPr>
          <p:cNvPr id="41" name="Shape 39"/>
          <p:cNvSpPr/>
          <p:nvPr/>
        </p:nvSpPr>
        <p:spPr>
          <a:xfrm>
            <a:off x="3749040" y="2432304"/>
            <a:ext cx="3017520" cy="256032"/>
          </a:xfrm>
          <a:prstGeom prst="rect">
            <a:avLst/>
          </a:prstGeom>
          <a:solidFill>
            <a:srgbClr val="FFFFFF"/>
          </a:solidFill>
          <a:ln w="6350">
            <a:solidFill>
              <a:srgbClr val="D3DCE5"/>
            </a:solidFill>
            <a:prstDash val="solid"/>
          </a:ln>
        </p:spPr>
      </p:sp>
      <p:sp>
        <p:nvSpPr>
          <p:cNvPr id="42" name="Text 40"/>
          <p:cNvSpPr txBox="1"/>
          <p:nvPr/>
        </p:nvSpPr>
        <p:spPr>
          <a:xfrm>
            <a:off x="3813048" y="2432304"/>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Yahoo 5-year monthly</a:t>
            </a:r>
            <a:endParaRPr lang="en-US" sz="880" dirty="0"/>
          </a:p>
        </p:txBody>
      </p:sp>
      <p:sp>
        <p:nvSpPr>
          <p:cNvPr id="43" name="Shape 41"/>
          <p:cNvSpPr/>
          <p:nvPr/>
        </p:nvSpPr>
        <p:spPr>
          <a:xfrm>
            <a:off x="6766560" y="2432304"/>
            <a:ext cx="777240" cy="256032"/>
          </a:xfrm>
          <a:prstGeom prst="rect">
            <a:avLst/>
          </a:prstGeom>
          <a:solidFill>
            <a:srgbClr val="FFFFFF"/>
          </a:solidFill>
          <a:ln w="6350">
            <a:solidFill>
              <a:srgbClr val="D3DCE5"/>
            </a:solidFill>
            <a:prstDash val="solid"/>
          </a:ln>
        </p:spPr>
      </p:sp>
      <p:sp>
        <p:nvSpPr>
          <p:cNvPr id="44" name="Text 42"/>
          <p:cNvSpPr txBox="1"/>
          <p:nvPr/>
        </p:nvSpPr>
        <p:spPr>
          <a:xfrm>
            <a:off x="6830568" y="2432304"/>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45" name="Shape 43"/>
          <p:cNvSpPr/>
          <p:nvPr/>
        </p:nvSpPr>
        <p:spPr>
          <a:xfrm>
            <a:off x="411480" y="2688336"/>
            <a:ext cx="2377440" cy="256032"/>
          </a:xfrm>
          <a:prstGeom prst="rect">
            <a:avLst/>
          </a:prstGeom>
          <a:solidFill>
            <a:srgbClr val="F7F9FB"/>
          </a:solidFill>
          <a:ln w="6350">
            <a:solidFill>
              <a:srgbClr val="D3DCE5"/>
            </a:solidFill>
            <a:prstDash val="solid"/>
          </a:ln>
        </p:spPr>
      </p:sp>
      <p:sp>
        <p:nvSpPr>
          <p:cNvPr id="46" name="Text 44"/>
          <p:cNvSpPr txBox="1"/>
          <p:nvPr/>
        </p:nvSpPr>
        <p:spPr>
          <a:xfrm>
            <a:off x="475488" y="2688336"/>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Cost of equity</a:t>
            </a:r>
            <a:endParaRPr lang="en-US" sz="880" dirty="0"/>
          </a:p>
        </p:txBody>
      </p:sp>
      <p:sp>
        <p:nvSpPr>
          <p:cNvPr id="47" name="Shape 45"/>
          <p:cNvSpPr/>
          <p:nvPr/>
        </p:nvSpPr>
        <p:spPr>
          <a:xfrm>
            <a:off x="2788920" y="2688336"/>
            <a:ext cx="960120" cy="256032"/>
          </a:xfrm>
          <a:prstGeom prst="rect">
            <a:avLst/>
          </a:prstGeom>
          <a:solidFill>
            <a:srgbClr val="F7F9FB"/>
          </a:solidFill>
          <a:ln w="6350">
            <a:solidFill>
              <a:srgbClr val="D3DCE5"/>
            </a:solidFill>
            <a:prstDash val="solid"/>
          </a:ln>
        </p:spPr>
      </p:sp>
      <p:sp>
        <p:nvSpPr>
          <p:cNvPr id="48" name="Text 46"/>
          <p:cNvSpPr txBox="1"/>
          <p:nvPr/>
        </p:nvSpPr>
        <p:spPr>
          <a:xfrm>
            <a:off x="2852928" y="2688336"/>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9.38%</a:t>
            </a:r>
            <a:endParaRPr lang="en-US" sz="880" dirty="0"/>
          </a:p>
        </p:txBody>
      </p:sp>
      <p:sp>
        <p:nvSpPr>
          <p:cNvPr id="49" name="Shape 47"/>
          <p:cNvSpPr/>
          <p:nvPr/>
        </p:nvSpPr>
        <p:spPr>
          <a:xfrm>
            <a:off x="3749040" y="2688336"/>
            <a:ext cx="3017520" cy="256032"/>
          </a:xfrm>
          <a:prstGeom prst="rect">
            <a:avLst/>
          </a:prstGeom>
          <a:solidFill>
            <a:srgbClr val="F7F9FB"/>
          </a:solidFill>
          <a:ln w="6350">
            <a:solidFill>
              <a:srgbClr val="D3DCE5"/>
            </a:solidFill>
            <a:prstDash val="solid"/>
          </a:ln>
        </p:spPr>
      </p:sp>
      <p:sp>
        <p:nvSpPr>
          <p:cNvPr id="50" name="Text 48"/>
          <p:cNvSpPr txBox="1"/>
          <p:nvPr/>
        </p:nvSpPr>
        <p:spPr>
          <a:xfrm>
            <a:off x="3813048" y="2688336"/>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CAPM: 5.00% + 0.73 x 6.00%</a:t>
            </a:r>
            <a:endParaRPr lang="en-US" sz="880" dirty="0"/>
          </a:p>
        </p:txBody>
      </p:sp>
      <p:sp>
        <p:nvSpPr>
          <p:cNvPr id="51" name="Shape 49"/>
          <p:cNvSpPr/>
          <p:nvPr/>
        </p:nvSpPr>
        <p:spPr>
          <a:xfrm>
            <a:off x="6766560" y="2688336"/>
            <a:ext cx="777240" cy="256032"/>
          </a:xfrm>
          <a:prstGeom prst="rect">
            <a:avLst/>
          </a:prstGeom>
          <a:solidFill>
            <a:srgbClr val="F7F9FB"/>
          </a:solidFill>
          <a:ln w="6350">
            <a:solidFill>
              <a:srgbClr val="D3DCE5"/>
            </a:solidFill>
            <a:prstDash val="solid"/>
          </a:ln>
        </p:spPr>
      </p:sp>
      <p:sp>
        <p:nvSpPr>
          <p:cNvPr id="52" name="Text 50"/>
          <p:cNvSpPr txBox="1"/>
          <p:nvPr/>
        </p:nvSpPr>
        <p:spPr>
          <a:xfrm>
            <a:off x="6830568" y="2688336"/>
            <a:ext cx="649224" cy="256032"/>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Derived</a:t>
            </a:r>
            <a:endParaRPr lang="en-US" sz="880" dirty="0"/>
          </a:p>
        </p:txBody>
      </p:sp>
      <p:sp>
        <p:nvSpPr>
          <p:cNvPr id="53" name="Shape 51"/>
          <p:cNvSpPr/>
          <p:nvPr/>
        </p:nvSpPr>
        <p:spPr>
          <a:xfrm>
            <a:off x="411480" y="2944368"/>
            <a:ext cx="2377440" cy="256032"/>
          </a:xfrm>
          <a:prstGeom prst="rect">
            <a:avLst/>
          </a:prstGeom>
          <a:solidFill>
            <a:srgbClr val="FFFFFF"/>
          </a:solidFill>
          <a:ln w="6350">
            <a:solidFill>
              <a:srgbClr val="D3DCE5"/>
            </a:solidFill>
            <a:prstDash val="solid"/>
          </a:ln>
        </p:spPr>
      </p:sp>
      <p:sp>
        <p:nvSpPr>
          <p:cNvPr id="54" name="Text 52"/>
          <p:cNvSpPr txBox="1"/>
          <p:nvPr/>
        </p:nvSpPr>
        <p:spPr>
          <a:xfrm>
            <a:off x="475488" y="2944368"/>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After-tax cost of debt</a:t>
            </a:r>
            <a:endParaRPr lang="en-US" sz="880" dirty="0"/>
          </a:p>
        </p:txBody>
      </p:sp>
      <p:sp>
        <p:nvSpPr>
          <p:cNvPr id="55" name="Shape 53"/>
          <p:cNvSpPr/>
          <p:nvPr/>
        </p:nvSpPr>
        <p:spPr>
          <a:xfrm>
            <a:off x="2788920" y="2944368"/>
            <a:ext cx="960120" cy="256032"/>
          </a:xfrm>
          <a:prstGeom prst="rect">
            <a:avLst/>
          </a:prstGeom>
          <a:solidFill>
            <a:srgbClr val="FFFFFF"/>
          </a:solidFill>
          <a:ln w="6350">
            <a:solidFill>
              <a:srgbClr val="D3DCE5"/>
            </a:solidFill>
            <a:prstDash val="solid"/>
          </a:ln>
        </p:spPr>
      </p:sp>
      <p:sp>
        <p:nvSpPr>
          <p:cNvPr id="56" name="Text 54"/>
          <p:cNvSpPr txBox="1"/>
          <p:nvPr/>
        </p:nvSpPr>
        <p:spPr>
          <a:xfrm>
            <a:off x="2852928" y="2944368"/>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4.38%</a:t>
            </a:r>
            <a:endParaRPr lang="en-US" sz="880" dirty="0"/>
          </a:p>
        </p:txBody>
      </p:sp>
      <p:sp>
        <p:nvSpPr>
          <p:cNvPr id="57" name="Shape 55"/>
          <p:cNvSpPr/>
          <p:nvPr/>
        </p:nvSpPr>
        <p:spPr>
          <a:xfrm>
            <a:off x="3749040" y="2944368"/>
            <a:ext cx="3017520" cy="256032"/>
          </a:xfrm>
          <a:prstGeom prst="rect">
            <a:avLst/>
          </a:prstGeom>
          <a:solidFill>
            <a:srgbClr val="FFFFFF"/>
          </a:solidFill>
          <a:ln w="6350">
            <a:solidFill>
              <a:srgbClr val="D3DCE5"/>
            </a:solidFill>
            <a:prstDash val="solid"/>
          </a:ln>
        </p:spPr>
      </p:sp>
      <p:sp>
        <p:nvSpPr>
          <p:cNvPr id="58" name="Text 56"/>
          <p:cNvSpPr txBox="1"/>
          <p:nvPr/>
        </p:nvSpPr>
        <p:spPr>
          <a:xfrm>
            <a:off x="3813048" y="2944368"/>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6.25% note coupon at the 30% rate</a:t>
            </a:r>
            <a:endParaRPr lang="en-US" sz="880" dirty="0"/>
          </a:p>
        </p:txBody>
      </p:sp>
      <p:sp>
        <p:nvSpPr>
          <p:cNvPr id="59" name="Shape 57"/>
          <p:cNvSpPr/>
          <p:nvPr/>
        </p:nvSpPr>
        <p:spPr>
          <a:xfrm>
            <a:off x="6766560" y="2944368"/>
            <a:ext cx="777240" cy="256032"/>
          </a:xfrm>
          <a:prstGeom prst="rect">
            <a:avLst/>
          </a:prstGeom>
          <a:solidFill>
            <a:srgbClr val="FFFFFF"/>
          </a:solidFill>
          <a:ln w="6350">
            <a:solidFill>
              <a:srgbClr val="D3DCE5"/>
            </a:solidFill>
            <a:prstDash val="solid"/>
          </a:ln>
        </p:spPr>
      </p:sp>
      <p:sp>
        <p:nvSpPr>
          <p:cNvPr id="60" name="Text 58"/>
          <p:cNvSpPr txBox="1"/>
          <p:nvPr/>
        </p:nvSpPr>
        <p:spPr>
          <a:xfrm>
            <a:off x="6830568" y="2944368"/>
            <a:ext cx="649224" cy="256032"/>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Estimate</a:t>
            </a:r>
            <a:endParaRPr lang="en-US" sz="880" dirty="0"/>
          </a:p>
        </p:txBody>
      </p:sp>
      <p:sp>
        <p:nvSpPr>
          <p:cNvPr id="61" name="Shape 59"/>
          <p:cNvSpPr/>
          <p:nvPr/>
        </p:nvSpPr>
        <p:spPr>
          <a:xfrm>
            <a:off x="411480" y="3200400"/>
            <a:ext cx="2377440" cy="256032"/>
          </a:xfrm>
          <a:prstGeom prst="rect">
            <a:avLst/>
          </a:prstGeom>
          <a:solidFill>
            <a:srgbClr val="F7F9FB"/>
          </a:solidFill>
          <a:ln w="6350">
            <a:solidFill>
              <a:srgbClr val="D3DCE5"/>
            </a:solidFill>
            <a:prstDash val="solid"/>
          </a:ln>
        </p:spPr>
      </p:sp>
      <p:sp>
        <p:nvSpPr>
          <p:cNvPr id="62" name="Text 60"/>
          <p:cNvSpPr txBox="1"/>
          <p:nvPr/>
        </p:nvSpPr>
        <p:spPr>
          <a:xfrm>
            <a:off x="475488" y="3200400"/>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Target gearing</a:t>
            </a:r>
            <a:endParaRPr lang="en-US" sz="880" dirty="0"/>
          </a:p>
        </p:txBody>
      </p:sp>
      <p:sp>
        <p:nvSpPr>
          <p:cNvPr id="63" name="Shape 61"/>
          <p:cNvSpPr/>
          <p:nvPr/>
        </p:nvSpPr>
        <p:spPr>
          <a:xfrm>
            <a:off x="2788920" y="3200400"/>
            <a:ext cx="960120" cy="256032"/>
          </a:xfrm>
          <a:prstGeom prst="rect">
            <a:avLst/>
          </a:prstGeom>
          <a:solidFill>
            <a:srgbClr val="F7F9FB"/>
          </a:solidFill>
          <a:ln w="6350">
            <a:solidFill>
              <a:srgbClr val="D3DCE5"/>
            </a:solidFill>
            <a:prstDash val="solid"/>
          </a:ln>
        </p:spPr>
      </p:sp>
      <p:sp>
        <p:nvSpPr>
          <p:cNvPr id="64" name="Text 62"/>
          <p:cNvSpPr txBox="1"/>
          <p:nvPr/>
        </p:nvSpPr>
        <p:spPr>
          <a:xfrm>
            <a:off x="2852928" y="3200400"/>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10%</a:t>
            </a:r>
            <a:endParaRPr lang="en-US" sz="880" dirty="0"/>
          </a:p>
        </p:txBody>
      </p:sp>
      <p:sp>
        <p:nvSpPr>
          <p:cNvPr id="65" name="Shape 63"/>
          <p:cNvSpPr/>
          <p:nvPr/>
        </p:nvSpPr>
        <p:spPr>
          <a:xfrm>
            <a:off x="3749040" y="3200400"/>
            <a:ext cx="3017520" cy="256032"/>
          </a:xfrm>
          <a:prstGeom prst="rect">
            <a:avLst/>
          </a:prstGeom>
          <a:solidFill>
            <a:srgbClr val="F7F9FB"/>
          </a:solidFill>
          <a:ln w="6350">
            <a:solidFill>
              <a:srgbClr val="D3DCE5"/>
            </a:solidFill>
            <a:prstDash val="solid"/>
          </a:ln>
        </p:spPr>
      </p:sp>
      <p:sp>
        <p:nvSpPr>
          <p:cNvPr id="66" name="Text 64"/>
          <p:cNvSpPr txBox="1"/>
          <p:nvPr/>
        </p:nvSpPr>
        <p:spPr>
          <a:xfrm>
            <a:off x="3813048" y="3200400"/>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Through-cycle; PLS is net cash by A$1.46bn</a:t>
            </a:r>
            <a:endParaRPr lang="en-US" sz="880" dirty="0"/>
          </a:p>
        </p:txBody>
      </p:sp>
      <p:sp>
        <p:nvSpPr>
          <p:cNvPr id="67" name="Shape 65"/>
          <p:cNvSpPr/>
          <p:nvPr/>
        </p:nvSpPr>
        <p:spPr>
          <a:xfrm>
            <a:off x="6766560" y="3200400"/>
            <a:ext cx="777240" cy="256032"/>
          </a:xfrm>
          <a:prstGeom prst="rect">
            <a:avLst/>
          </a:prstGeom>
          <a:solidFill>
            <a:srgbClr val="F7F9FB"/>
          </a:solidFill>
          <a:ln w="6350">
            <a:solidFill>
              <a:srgbClr val="D3DCE5"/>
            </a:solidFill>
            <a:prstDash val="solid"/>
          </a:ln>
        </p:spPr>
      </p:sp>
      <p:sp>
        <p:nvSpPr>
          <p:cNvPr id="68" name="Text 66"/>
          <p:cNvSpPr txBox="1"/>
          <p:nvPr/>
        </p:nvSpPr>
        <p:spPr>
          <a:xfrm>
            <a:off x="6830568" y="3200400"/>
            <a:ext cx="649224" cy="256032"/>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Estimate</a:t>
            </a:r>
            <a:endParaRPr lang="en-US" sz="880" dirty="0"/>
          </a:p>
        </p:txBody>
      </p:sp>
      <p:sp>
        <p:nvSpPr>
          <p:cNvPr id="69" name="Shape 67"/>
          <p:cNvSpPr/>
          <p:nvPr/>
        </p:nvSpPr>
        <p:spPr>
          <a:xfrm>
            <a:off x="411480" y="3456432"/>
            <a:ext cx="2377440" cy="256032"/>
          </a:xfrm>
          <a:prstGeom prst="rect">
            <a:avLst/>
          </a:prstGeom>
          <a:solidFill>
            <a:srgbClr val="D6EBE7"/>
          </a:solidFill>
          <a:ln w="6350">
            <a:solidFill>
              <a:srgbClr val="D3DCE5"/>
            </a:solidFill>
            <a:prstDash val="solid"/>
          </a:ln>
        </p:spPr>
      </p:sp>
      <p:sp>
        <p:nvSpPr>
          <p:cNvPr id="70" name="Text 68"/>
          <p:cNvSpPr txBox="1"/>
          <p:nvPr/>
        </p:nvSpPr>
        <p:spPr>
          <a:xfrm>
            <a:off x="475488" y="3456432"/>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WACC</a:t>
            </a:r>
            <a:endParaRPr lang="en-US" sz="880" dirty="0"/>
          </a:p>
        </p:txBody>
      </p:sp>
      <p:sp>
        <p:nvSpPr>
          <p:cNvPr id="71" name="Shape 69"/>
          <p:cNvSpPr/>
          <p:nvPr/>
        </p:nvSpPr>
        <p:spPr>
          <a:xfrm>
            <a:off x="2788920" y="3456432"/>
            <a:ext cx="960120" cy="256032"/>
          </a:xfrm>
          <a:prstGeom prst="rect">
            <a:avLst/>
          </a:prstGeom>
          <a:solidFill>
            <a:srgbClr val="D6EBE7"/>
          </a:solidFill>
          <a:ln w="6350">
            <a:solidFill>
              <a:srgbClr val="D3DCE5"/>
            </a:solidFill>
            <a:prstDash val="solid"/>
          </a:ln>
        </p:spPr>
      </p:sp>
      <p:sp>
        <p:nvSpPr>
          <p:cNvPr id="72" name="Text 70"/>
          <p:cNvSpPr txBox="1"/>
          <p:nvPr/>
        </p:nvSpPr>
        <p:spPr>
          <a:xfrm>
            <a:off x="2852928" y="3456432"/>
            <a:ext cx="832104" cy="256032"/>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8.88%</a:t>
            </a:r>
            <a:endParaRPr lang="en-US" sz="880" dirty="0"/>
          </a:p>
        </p:txBody>
      </p:sp>
      <p:sp>
        <p:nvSpPr>
          <p:cNvPr id="73" name="Shape 71"/>
          <p:cNvSpPr/>
          <p:nvPr/>
        </p:nvSpPr>
        <p:spPr>
          <a:xfrm>
            <a:off x="3749040" y="3456432"/>
            <a:ext cx="3017520" cy="256032"/>
          </a:xfrm>
          <a:prstGeom prst="rect">
            <a:avLst/>
          </a:prstGeom>
          <a:solidFill>
            <a:srgbClr val="D6EBE7"/>
          </a:solidFill>
          <a:ln w="6350">
            <a:solidFill>
              <a:srgbClr val="D3DCE5"/>
            </a:solidFill>
            <a:prstDash val="solid"/>
          </a:ln>
        </p:spPr>
      </p:sp>
      <p:sp>
        <p:nvSpPr>
          <p:cNvPr id="74" name="Text 72"/>
          <p:cNvSpPr txBox="1"/>
          <p:nvPr/>
        </p:nvSpPr>
        <p:spPr>
          <a:xfrm>
            <a:off x="3813048" y="3456432"/>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90% equity, 10% debt after tax</a:t>
            </a:r>
            <a:endParaRPr lang="en-US" sz="880" dirty="0"/>
          </a:p>
        </p:txBody>
      </p:sp>
      <p:sp>
        <p:nvSpPr>
          <p:cNvPr id="75" name="Shape 73"/>
          <p:cNvSpPr/>
          <p:nvPr/>
        </p:nvSpPr>
        <p:spPr>
          <a:xfrm>
            <a:off x="6766560" y="3456432"/>
            <a:ext cx="777240" cy="256032"/>
          </a:xfrm>
          <a:prstGeom prst="rect">
            <a:avLst/>
          </a:prstGeom>
          <a:solidFill>
            <a:srgbClr val="D6EBE7"/>
          </a:solidFill>
          <a:ln w="6350">
            <a:solidFill>
              <a:srgbClr val="D3DCE5"/>
            </a:solidFill>
            <a:prstDash val="solid"/>
          </a:ln>
        </p:spPr>
      </p:sp>
      <p:sp>
        <p:nvSpPr>
          <p:cNvPr id="76" name="Text 74"/>
          <p:cNvSpPr txBox="1"/>
          <p:nvPr/>
        </p:nvSpPr>
        <p:spPr>
          <a:xfrm>
            <a:off x="6830568" y="3456432"/>
            <a:ext cx="649224" cy="256032"/>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Derived</a:t>
            </a:r>
            <a:endParaRPr lang="en-US" sz="880" dirty="0"/>
          </a:p>
        </p:txBody>
      </p:sp>
      <p:sp>
        <p:nvSpPr>
          <p:cNvPr id="77" name="Shape 75"/>
          <p:cNvSpPr/>
          <p:nvPr/>
        </p:nvSpPr>
        <p:spPr>
          <a:xfrm>
            <a:off x="411480" y="3822192"/>
            <a:ext cx="3200400" cy="292608"/>
          </a:xfrm>
          <a:prstGeom prst="rect">
            <a:avLst/>
          </a:prstGeom>
          <a:solidFill>
            <a:srgbClr val="10233A"/>
          </a:solidFill>
          <a:ln/>
        </p:spPr>
      </p:sp>
      <p:sp>
        <p:nvSpPr>
          <p:cNvPr id="78" name="Text 76"/>
          <p:cNvSpPr txBox="1"/>
          <p:nvPr/>
        </p:nvSpPr>
        <p:spPr>
          <a:xfrm>
            <a:off x="475488" y="3822192"/>
            <a:ext cx="30723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Base case DCF</a:t>
            </a:r>
            <a:endParaRPr lang="en-US" sz="900" dirty="0"/>
          </a:p>
        </p:txBody>
      </p:sp>
      <p:sp>
        <p:nvSpPr>
          <p:cNvPr id="79" name="Shape 77"/>
          <p:cNvSpPr/>
          <p:nvPr/>
        </p:nvSpPr>
        <p:spPr>
          <a:xfrm>
            <a:off x="3611880" y="3822192"/>
            <a:ext cx="1188720" cy="292608"/>
          </a:xfrm>
          <a:prstGeom prst="rect">
            <a:avLst/>
          </a:prstGeom>
          <a:solidFill>
            <a:srgbClr val="10233A"/>
          </a:solidFill>
          <a:ln/>
        </p:spPr>
      </p:sp>
      <p:sp>
        <p:nvSpPr>
          <p:cNvPr id="80" name="Text 78"/>
          <p:cNvSpPr txBox="1"/>
          <p:nvPr/>
        </p:nvSpPr>
        <p:spPr>
          <a:xfrm>
            <a:off x="3675888" y="3822192"/>
            <a:ext cx="10607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a:t>
            </a:r>
            <a:endParaRPr lang="en-US" sz="900" dirty="0"/>
          </a:p>
        </p:txBody>
      </p:sp>
      <p:sp>
        <p:nvSpPr>
          <p:cNvPr id="81" name="Shape 79"/>
          <p:cNvSpPr/>
          <p:nvPr/>
        </p:nvSpPr>
        <p:spPr>
          <a:xfrm>
            <a:off x="4800600" y="3822192"/>
            <a:ext cx="1874520" cy="292608"/>
          </a:xfrm>
          <a:prstGeom prst="rect">
            <a:avLst/>
          </a:prstGeom>
          <a:solidFill>
            <a:srgbClr val="10233A"/>
          </a:solidFill>
          <a:ln/>
        </p:spPr>
      </p:sp>
      <p:sp>
        <p:nvSpPr>
          <p:cNvPr id="82" name="Text 80"/>
          <p:cNvSpPr txBox="1"/>
          <p:nvPr/>
        </p:nvSpPr>
        <p:spPr>
          <a:xfrm>
            <a:off x="4864608" y="3822192"/>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Per share</a:t>
            </a:r>
            <a:endParaRPr lang="en-US" sz="900" dirty="0"/>
          </a:p>
        </p:txBody>
      </p:sp>
      <p:sp>
        <p:nvSpPr>
          <p:cNvPr id="83" name="Shape 81"/>
          <p:cNvSpPr/>
          <p:nvPr/>
        </p:nvSpPr>
        <p:spPr>
          <a:xfrm>
            <a:off x="6675120" y="3822192"/>
            <a:ext cx="868680" cy="292608"/>
          </a:xfrm>
          <a:prstGeom prst="rect">
            <a:avLst/>
          </a:prstGeom>
          <a:solidFill>
            <a:srgbClr val="10233A"/>
          </a:solidFill>
          <a:ln/>
        </p:spPr>
      </p:sp>
      <p:sp>
        <p:nvSpPr>
          <p:cNvPr id="84" name="Text 82"/>
          <p:cNvSpPr txBox="1"/>
          <p:nvPr/>
        </p:nvSpPr>
        <p:spPr>
          <a:xfrm>
            <a:off x="6739128" y="3822192"/>
            <a:ext cx="7406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Shape 83"/>
          <p:cNvSpPr/>
          <p:nvPr/>
        </p:nvSpPr>
        <p:spPr>
          <a:xfrm>
            <a:off x="411480" y="4114800"/>
            <a:ext cx="3200400" cy="228600"/>
          </a:xfrm>
          <a:prstGeom prst="rect">
            <a:avLst/>
          </a:prstGeom>
          <a:solidFill>
            <a:srgbClr val="FFFFFF"/>
          </a:solidFill>
          <a:ln w="6350">
            <a:solidFill>
              <a:srgbClr val="D3DCE5"/>
            </a:solidFill>
            <a:prstDash val="solid"/>
          </a:ln>
        </p:spPr>
      </p:sp>
      <p:sp>
        <p:nvSpPr>
          <p:cNvPr id="86" name="Text 84"/>
          <p:cNvSpPr txBox="1"/>
          <p:nvPr/>
        </p:nvSpPr>
        <p:spPr>
          <a:xfrm>
            <a:off x="475488" y="41148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PV of explicit forecast, FY27-FY36</a:t>
            </a:r>
            <a:endParaRPr lang="en-US" sz="880" dirty="0"/>
          </a:p>
        </p:txBody>
      </p:sp>
      <p:sp>
        <p:nvSpPr>
          <p:cNvPr id="87" name="Shape 85"/>
          <p:cNvSpPr/>
          <p:nvPr/>
        </p:nvSpPr>
        <p:spPr>
          <a:xfrm>
            <a:off x="3611880" y="4114800"/>
            <a:ext cx="1188720" cy="228600"/>
          </a:xfrm>
          <a:prstGeom prst="rect">
            <a:avLst/>
          </a:prstGeom>
          <a:solidFill>
            <a:srgbClr val="FFFFFF"/>
          </a:solidFill>
          <a:ln w="6350">
            <a:solidFill>
              <a:srgbClr val="D3DCE5"/>
            </a:solidFill>
            <a:prstDash val="solid"/>
          </a:ln>
        </p:spPr>
      </p:sp>
      <p:sp>
        <p:nvSpPr>
          <p:cNvPr id="88" name="Text 86"/>
          <p:cNvSpPr txBox="1"/>
          <p:nvPr/>
        </p:nvSpPr>
        <p:spPr>
          <a:xfrm>
            <a:off x="3675888" y="4114800"/>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9,566</a:t>
            </a:r>
            <a:endParaRPr lang="en-US" sz="880" dirty="0"/>
          </a:p>
        </p:txBody>
      </p:sp>
      <p:sp>
        <p:nvSpPr>
          <p:cNvPr id="89" name="Shape 87"/>
          <p:cNvSpPr/>
          <p:nvPr/>
        </p:nvSpPr>
        <p:spPr>
          <a:xfrm>
            <a:off x="4800600" y="4114800"/>
            <a:ext cx="1874520" cy="228600"/>
          </a:xfrm>
          <a:prstGeom prst="rect">
            <a:avLst/>
          </a:prstGeom>
          <a:solidFill>
            <a:srgbClr val="FFFFFF"/>
          </a:solidFill>
          <a:ln w="6350">
            <a:solidFill>
              <a:srgbClr val="D3DCE5"/>
            </a:solidFill>
            <a:prstDash val="solid"/>
          </a:ln>
        </p:spPr>
      </p:sp>
      <p:sp>
        <p:nvSpPr>
          <p:cNvPr id="90" name="Text 88"/>
          <p:cNvSpPr txBox="1"/>
          <p:nvPr/>
        </p:nvSpPr>
        <p:spPr>
          <a:xfrm>
            <a:off x="4864608" y="41148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Value per share</a:t>
            </a:r>
            <a:endParaRPr lang="en-US" sz="880" dirty="0"/>
          </a:p>
        </p:txBody>
      </p:sp>
      <p:sp>
        <p:nvSpPr>
          <p:cNvPr id="91" name="Shape 89"/>
          <p:cNvSpPr/>
          <p:nvPr/>
        </p:nvSpPr>
        <p:spPr>
          <a:xfrm>
            <a:off x="6675120" y="4114800"/>
            <a:ext cx="868680" cy="228600"/>
          </a:xfrm>
          <a:prstGeom prst="rect">
            <a:avLst/>
          </a:prstGeom>
          <a:solidFill>
            <a:srgbClr val="FFFFFF"/>
          </a:solidFill>
          <a:ln w="6350">
            <a:solidFill>
              <a:srgbClr val="D3DCE5"/>
            </a:solidFill>
            <a:prstDash val="solid"/>
          </a:ln>
        </p:spPr>
      </p:sp>
      <p:sp>
        <p:nvSpPr>
          <p:cNvPr id="92" name="Text 90"/>
          <p:cNvSpPr txBox="1"/>
          <p:nvPr/>
        </p:nvSpPr>
        <p:spPr>
          <a:xfrm>
            <a:off x="6739128" y="4114800"/>
            <a:ext cx="740664" cy="228600"/>
          </a:xfrm>
          <a:prstGeom prst="rect">
            <a:avLst/>
          </a:prstGeom>
          <a:noFill/>
          <a:ln/>
        </p:spPr>
        <p:txBody>
          <a:bodyPr wrap="square" lIns="0" tIns="0" rIns="0" bIns="0" rtlCol="0" anchor="ctr"/>
          <a:lstStyle/>
          <a:p>
            <a:pPr algn="r" indent="0" marL="0">
              <a:buNone/>
            </a:pPr>
            <a:r>
              <a:rPr lang="en-US" sz="880" b="1" dirty="0">
                <a:solidFill>
                  <a:srgbClr val="0E7C6B"/>
                </a:solidFill>
                <a:latin typeface="Calibri" pitchFamily="34" charset="0"/>
                <a:ea typeface="Calibri" pitchFamily="34" charset="-122"/>
                <a:cs typeface="Calibri" pitchFamily="34" charset="-120"/>
              </a:rPr>
              <a:t>6.50</a:t>
            </a:r>
            <a:endParaRPr lang="en-US" sz="880" dirty="0"/>
          </a:p>
        </p:txBody>
      </p:sp>
      <p:sp>
        <p:nvSpPr>
          <p:cNvPr id="93" name="Shape 91"/>
          <p:cNvSpPr/>
          <p:nvPr/>
        </p:nvSpPr>
        <p:spPr>
          <a:xfrm>
            <a:off x="411480" y="4343400"/>
            <a:ext cx="3200400" cy="228600"/>
          </a:xfrm>
          <a:prstGeom prst="rect">
            <a:avLst/>
          </a:prstGeom>
          <a:solidFill>
            <a:srgbClr val="F7F9FB"/>
          </a:solidFill>
          <a:ln w="6350">
            <a:solidFill>
              <a:srgbClr val="D3DCE5"/>
            </a:solidFill>
            <a:prstDash val="solid"/>
          </a:ln>
        </p:spPr>
      </p:sp>
      <p:sp>
        <p:nvSpPr>
          <p:cNvPr id="94" name="Text 92"/>
          <p:cNvSpPr txBox="1"/>
          <p:nvPr/>
        </p:nvSpPr>
        <p:spPr>
          <a:xfrm>
            <a:off x="475488" y="43434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PV of terminal value (annuity)</a:t>
            </a:r>
            <a:endParaRPr lang="en-US" sz="880" dirty="0"/>
          </a:p>
        </p:txBody>
      </p:sp>
      <p:sp>
        <p:nvSpPr>
          <p:cNvPr id="95" name="Shape 93"/>
          <p:cNvSpPr/>
          <p:nvPr/>
        </p:nvSpPr>
        <p:spPr>
          <a:xfrm>
            <a:off x="3611880" y="4343400"/>
            <a:ext cx="1188720" cy="228600"/>
          </a:xfrm>
          <a:prstGeom prst="rect">
            <a:avLst/>
          </a:prstGeom>
          <a:solidFill>
            <a:srgbClr val="F7F9FB"/>
          </a:solidFill>
          <a:ln w="6350">
            <a:solidFill>
              <a:srgbClr val="D3DCE5"/>
            </a:solidFill>
            <a:prstDash val="solid"/>
          </a:ln>
        </p:spPr>
      </p:sp>
      <p:sp>
        <p:nvSpPr>
          <p:cNvPr id="96" name="Text 94"/>
          <p:cNvSpPr txBox="1"/>
          <p:nvPr/>
        </p:nvSpPr>
        <p:spPr>
          <a:xfrm>
            <a:off x="3675888" y="4343400"/>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9,894</a:t>
            </a:r>
            <a:endParaRPr lang="en-US" sz="880" dirty="0"/>
          </a:p>
        </p:txBody>
      </p:sp>
      <p:sp>
        <p:nvSpPr>
          <p:cNvPr id="97" name="Shape 95"/>
          <p:cNvSpPr/>
          <p:nvPr/>
        </p:nvSpPr>
        <p:spPr>
          <a:xfrm>
            <a:off x="4800600" y="4343400"/>
            <a:ext cx="1874520" cy="228600"/>
          </a:xfrm>
          <a:prstGeom prst="rect">
            <a:avLst/>
          </a:prstGeom>
          <a:solidFill>
            <a:srgbClr val="F7F9FB"/>
          </a:solidFill>
          <a:ln w="6350">
            <a:solidFill>
              <a:srgbClr val="D3DCE5"/>
            </a:solidFill>
            <a:prstDash val="solid"/>
          </a:ln>
        </p:spPr>
      </p:sp>
      <p:sp>
        <p:nvSpPr>
          <p:cNvPr id="98" name="Text 96"/>
          <p:cNvSpPr txBox="1"/>
          <p:nvPr/>
        </p:nvSpPr>
        <p:spPr>
          <a:xfrm>
            <a:off x="4864608" y="43434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Last close</a:t>
            </a:r>
            <a:endParaRPr lang="en-US" sz="880" dirty="0"/>
          </a:p>
        </p:txBody>
      </p:sp>
      <p:sp>
        <p:nvSpPr>
          <p:cNvPr id="99" name="Shape 97"/>
          <p:cNvSpPr/>
          <p:nvPr/>
        </p:nvSpPr>
        <p:spPr>
          <a:xfrm>
            <a:off x="6675120" y="4343400"/>
            <a:ext cx="868680" cy="228600"/>
          </a:xfrm>
          <a:prstGeom prst="rect">
            <a:avLst/>
          </a:prstGeom>
          <a:solidFill>
            <a:srgbClr val="F7F9FB"/>
          </a:solidFill>
          <a:ln w="6350">
            <a:solidFill>
              <a:srgbClr val="D3DCE5"/>
            </a:solidFill>
            <a:prstDash val="solid"/>
          </a:ln>
        </p:spPr>
      </p:sp>
      <p:sp>
        <p:nvSpPr>
          <p:cNvPr id="100" name="Text 98"/>
          <p:cNvSpPr txBox="1"/>
          <p:nvPr/>
        </p:nvSpPr>
        <p:spPr>
          <a:xfrm>
            <a:off x="6739128" y="4343400"/>
            <a:ext cx="74066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5.48</a:t>
            </a:r>
            <a:endParaRPr lang="en-US" sz="880" dirty="0"/>
          </a:p>
        </p:txBody>
      </p:sp>
      <p:sp>
        <p:nvSpPr>
          <p:cNvPr id="101" name="Shape 99"/>
          <p:cNvSpPr/>
          <p:nvPr/>
        </p:nvSpPr>
        <p:spPr>
          <a:xfrm>
            <a:off x="411480" y="4572000"/>
            <a:ext cx="3200400" cy="228600"/>
          </a:xfrm>
          <a:prstGeom prst="rect">
            <a:avLst/>
          </a:prstGeom>
          <a:solidFill>
            <a:srgbClr val="FFFFFF"/>
          </a:solidFill>
          <a:ln w="6350">
            <a:solidFill>
              <a:srgbClr val="D3DCE5"/>
            </a:solidFill>
            <a:prstDash val="solid"/>
          </a:ln>
        </p:spPr>
      </p:sp>
      <p:sp>
        <p:nvSpPr>
          <p:cNvPr id="102" name="Text 100"/>
          <p:cNvSpPr txBox="1"/>
          <p:nvPr/>
        </p:nvSpPr>
        <p:spPr>
          <a:xfrm>
            <a:off x="475488" y="45720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Enterprise value</a:t>
            </a:r>
            <a:endParaRPr lang="en-US" sz="880" dirty="0"/>
          </a:p>
        </p:txBody>
      </p:sp>
      <p:sp>
        <p:nvSpPr>
          <p:cNvPr id="103" name="Shape 101"/>
          <p:cNvSpPr/>
          <p:nvPr/>
        </p:nvSpPr>
        <p:spPr>
          <a:xfrm>
            <a:off x="3611880" y="4572000"/>
            <a:ext cx="1188720" cy="228600"/>
          </a:xfrm>
          <a:prstGeom prst="rect">
            <a:avLst/>
          </a:prstGeom>
          <a:solidFill>
            <a:srgbClr val="FFFFFF"/>
          </a:solidFill>
          <a:ln w="6350">
            <a:solidFill>
              <a:srgbClr val="D3DCE5"/>
            </a:solidFill>
            <a:prstDash val="solid"/>
          </a:ln>
        </p:spPr>
      </p:sp>
      <p:sp>
        <p:nvSpPr>
          <p:cNvPr id="104" name="Text 102"/>
          <p:cNvSpPr txBox="1"/>
          <p:nvPr/>
        </p:nvSpPr>
        <p:spPr>
          <a:xfrm>
            <a:off x="3675888" y="4572000"/>
            <a:ext cx="1060704" cy="228600"/>
          </a:xfrm>
          <a:prstGeom prst="rect">
            <a:avLst/>
          </a:prstGeom>
          <a:noFill/>
          <a:ln/>
        </p:spPr>
        <p:txBody>
          <a:bodyPr wrap="square" lIns="0" tIns="0" rIns="0" bIns="0" rtlCol="0" anchor="ctr"/>
          <a:lstStyle/>
          <a:p>
            <a:pPr algn="r" indent="0" marL="0">
              <a:buNone/>
            </a:pPr>
            <a:r>
              <a:rPr lang="en-US" sz="880" b="1" dirty="0">
                <a:solidFill>
                  <a:srgbClr val="1B2733"/>
                </a:solidFill>
                <a:latin typeface="Calibri" pitchFamily="34" charset="0"/>
                <a:ea typeface="Calibri" pitchFamily="34" charset="-122"/>
                <a:cs typeface="Calibri" pitchFamily="34" charset="-120"/>
              </a:rPr>
              <a:t>19,460</a:t>
            </a:r>
            <a:endParaRPr lang="en-US" sz="880" dirty="0"/>
          </a:p>
        </p:txBody>
      </p:sp>
      <p:sp>
        <p:nvSpPr>
          <p:cNvPr id="105" name="Shape 103"/>
          <p:cNvSpPr/>
          <p:nvPr/>
        </p:nvSpPr>
        <p:spPr>
          <a:xfrm>
            <a:off x="4800600" y="4572000"/>
            <a:ext cx="1874520" cy="228600"/>
          </a:xfrm>
          <a:prstGeom prst="rect">
            <a:avLst/>
          </a:prstGeom>
          <a:solidFill>
            <a:srgbClr val="FFFFFF"/>
          </a:solidFill>
          <a:ln w="6350">
            <a:solidFill>
              <a:srgbClr val="D3DCE5"/>
            </a:solidFill>
            <a:prstDash val="solid"/>
          </a:ln>
        </p:spPr>
      </p:sp>
      <p:sp>
        <p:nvSpPr>
          <p:cNvPr id="106" name="Text 104"/>
          <p:cNvSpPr txBox="1"/>
          <p:nvPr/>
        </p:nvSpPr>
        <p:spPr>
          <a:xfrm>
            <a:off x="4864608" y="45720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Implied upside</a:t>
            </a:r>
            <a:endParaRPr lang="en-US" sz="880" dirty="0"/>
          </a:p>
        </p:txBody>
      </p:sp>
      <p:sp>
        <p:nvSpPr>
          <p:cNvPr id="107" name="Shape 105"/>
          <p:cNvSpPr/>
          <p:nvPr/>
        </p:nvSpPr>
        <p:spPr>
          <a:xfrm>
            <a:off x="6675120" y="4572000"/>
            <a:ext cx="868680" cy="228600"/>
          </a:xfrm>
          <a:prstGeom prst="rect">
            <a:avLst/>
          </a:prstGeom>
          <a:solidFill>
            <a:srgbClr val="FFFFFF"/>
          </a:solidFill>
          <a:ln w="6350">
            <a:solidFill>
              <a:srgbClr val="D3DCE5"/>
            </a:solidFill>
            <a:prstDash val="solid"/>
          </a:ln>
        </p:spPr>
      </p:sp>
      <p:sp>
        <p:nvSpPr>
          <p:cNvPr id="108" name="Text 106"/>
          <p:cNvSpPr txBox="1"/>
          <p:nvPr/>
        </p:nvSpPr>
        <p:spPr>
          <a:xfrm>
            <a:off x="6739128" y="4572000"/>
            <a:ext cx="740664" cy="228600"/>
          </a:xfrm>
          <a:prstGeom prst="rect">
            <a:avLst/>
          </a:prstGeom>
          <a:noFill/>
          <a:ln/>
        </p:spPr>
        <p:txBody>
          <a:bodyPr wrap="square" lIns="0" tIns="0" rIns="0" bIns="0" rtlCol="0" anchor="ctr"/>
          <a:lstStyle/>
          <a:p>
            <a:pPr algn="r" indent="0" marL="0">
              <a:buNone/>
            </a:pPr>
            <a:r>
              <a:rPr lang="en-US" sz="880" b="1" dirty="0">
                <a:solidFill>
                  <a:srgbClr val="0E7C6B"/>
                </a:solidFill>
                <a:latin typeface="Calibri" pitchFamily="34" charset="0"/>
                <a:ea typeface="Calibri" pitchFamily="34" charset="-122"/>
                <a:cs typeface="Calibri" pitchFamily="34" charset="-120"/>
              </a:rPr>
              <a:t>+18.6%</a:t>
            </a:r>
            <a:endParaRPr lang="en-US" sz="880" dirty="0"/>
          </a:p>
        </p:txBody>
      </p:sp>
      <p:sp>
        <p:nvSpPr>
          <p:cNvPr id="109" name="Shape 107"/>
          <p:cNvSpPr/>
          <p:nvPr/>
        </p:nvSpPr>
        <p:spPr>
          <a:xfrm>
            <a:off x="411480" y="4800600"/>
            <a:ext cx="3200400" cy="228600"/>
          </a:xfrm>
          <a:prstGeom prst="rect">
            <a:avLst/>
          </a:prstGeom>
          <a:solidFill>
            <a:srgbClr val="F7F9FB"/>
          </a:solidFill>
          <a:ln w="6350">
            <a:solidFill>
              <a:srgbClr val="D3DCE5"/>
            </a:solidFill>
            <a:prstDash val="solid"/>
          </a:ln>
        </p:spPr>
      </p:sp>
      <p:sp>
        <p:nvSpPr>
          <p:cNvPr id="110" name="Text 108"/>
          <p:cNvSpPr txBox="1"/>
          <p:nvPr/>
        </p:nvSpPr>
        <p:spPr>
          <a:xfrm>
            <a:off x="475488" y="48006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Net cash</a:t>
            </a:r>
            <a:endParaRPr lang="en-US" sz="880" dirty="0"/>
          </a:p>
        </p:txBody>
      </p:sp>
      <p:sp>
        <p:nvSpPr>
          <p:cNvPr id="111" name="Shape 109"/>
          <p:cNvSpPr/>
          <p:nvPr/>
        </p:nvSpPr>
        <p:spPr>
          <a:xfrm>
            <a:off x="3611880" y="4800600"/>
            <a:ext cx="1188720" cy="228600"/>
          </a:xfrm>
          <a:prstGeom prst="rect">
            <a:avLst/>
          </a:prstGeom>
          <a:solidFill>
            <a:srgbClr val="F7F9FB"/>
          </a:solidFill>
          <a:ln w="6350">
            <a:solidFill>
              <a:srgbClr val="D3DCE5"/>
            </a:solidFill>
            <a:prstDash val="solid"/>
          </a:ln>
        </p:spPr>
      </p:sp>
      <p:sp>
        <p:nvSpPr>
          <p:cNvPr id="112" name="Text 110"/>
          <p:cNvSpPr txBox="1"/>
          <p:nvPr/>
        </p:nvSpPr>
        <p:spPr>
          <a:xfrm>
            <a:off x="3675888" y="4800600"/>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1,462</a:t>
            </a:r>
            <a:endParaRPr lang="en-US" sz="880" dirty="0"/>
          </a:p>
        </p:txBody>
      </p:sp>
      <p:sp>
        <p:nvSpPr>
          <p:cNvPr id="113" name="Shape 111"/>
          <p:cNvSpPr/>
          <p:nvPr/>
        </p:nvSpPr>
        <p:spPr>
          <a:xfrm>
            <a:off x="4800600" y="4800600"/>
            <a:ext cx="1874520" cy="228600"/>
          </a:xfrm>
          <a:prstGeom prst="rect">
            <a:avLst/>
          </a:prstGeom>
          <a:solidFill>
            <a:srgbClr val="F7F9FB"/>
          </a:solidFill>
          <a:ln w="6350">
            <a:solidFill>
              <a:srgbClr val="D3DCE5"/>
            </a:solidFill>
            <a:prstDash val="solid"/>
          </a:ln>
        </p:spPr>
      </p:sp>
      <p:sp>
        <p:nvSpPr>
          <p:cNvPr id="114" name="Text 112"/>
          <p:cNvSpPr txBox="1"/>
          <p:nvPr/>
        </p:nvSpPr>
        <p:spPr>
          <a:xfrm>
            <a:off x="4864608" y="48006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Terminal value as a share of EV</a:t>
            </a:r>
            <a:endParaRPr lang="en-US" sz="880" dirty="0"/>
          </a:p>
        </p:txBody>
      </p:sp>
      <p:sp>
        <p:nvSpPr>
          <p:cNvPr id="115" name="Shape 113"/>
          <p:cNvSpPr/>
          <p:nvPr/>
        </p:nvSpPr>
        <p:spPr>
          <a:xfrm>
            <a:off x="6675120" y="4800600"/>
            <a:ext cx="868680" cy="228600"/>
          </a:xfrm>
          <a:prstGeom prst="rect">
            <a:avLst/>
          </a:prstGeom>
          <a:solidFill>
            <a:srgbClr val="F7F9FB"/>
          </a:solidFill>
          <a:ln w="6350">
            <a:solidFill>
              <a:srgbClr val="D3DCE5"/>
            </a:solidFill>
            <a:prstDash val="solid"/>
          </a:ln>
        </p:spPr>
      </p:sp>
      <p:sp>
        <p:nvSpPr>
          <p:cNvPr id="116" name="Text 114"/>
          <p:cNvSpPr txBox="1"/>
          <p:nvPr/>
        </p:nvSpPr>
        <p:spPr>
          <a:xfrm>
            <a:off x="6739128" y="4800600"/>
            <a:ext cx="74066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50.8%</a:t>
            </a:r>
            <a:endParaRPr lang="en-US" sz="880" dirty="0"/>
          </a:p>
        </p:txBody>
      </p:sp>
      <p:sp>
        <p:nvSpPr>
          <p:cNvPr id="117" name="Shape 115"/>
          <p:cNvSpPr/>
          <p:nvPr/>
        </p:nvSpPr>
        <p:spPr>
          <a:xfrm>
            <a:off x="411480" y="5102352"/>
            <a:ext cx="7132320" cy="1261872"/>
          </a:xfrm>
          <a:prstGeom prst="rect">
            <a:avLst/>
          </a:prstGeom>
          <a:solidFill>
            <a:srgbClr val="F7F9FB"/>
          </a:solidFill>
          <a:ln w="9525">
            <a:solidFill>
              <a:srgbClr val="D3DCE5"/>
            </a:solidFill>
            <a:prstDash val="solid"/>
          </a:ln>
        </p:spPr>
      </p:sp>
      <p:sp>
        <p:nvSpPr>
          <p:cNvPr id="118" name="Text 116"/>
          <p:cNvSpPr txBox="1"/>
          <p:nvPr/>
        </p:nvSpPr>
        <p:spPr>
          <a:xfrm>
            <a:off x="576072" y="5230368"/>
            <a:ext cx="68031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orebody runs out. So does the cash flow.</a:t>
            </a:r>
            <a:endParaRPr lang="en-US" sz="1150" dirty="0"/>
          </a:p>
        </p:txBody>
      </p:sp>
      <p:sp>
        <p:nvSpPr>
          <p:cNvPr id="119" name="Text 117"/>
          <p:cNvSpPr txBox="1"/>
          <p:nvPr/>
        </p:nvSpPr>
        <p:spPr>
          <a:xfrm>
            <a:off x="576072" y="5559552"/>
            <a:ext cx="6803136" cy="713232"/>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Pilgangoora's mineable base is 334.5Mt: the 446Mt resource at a 75% conversion assumption. Mass pull is 17.5%, from a 1.19% reserve grade at 76.5% recovery into a 5.2% concentrate. On the base-case profile the mine consumes 104.0Mt by FY36 and exits at 14.3Mt of ore a year, leaving 230.5Mt - about 16.1 years.</a:t>
            </a:r>
            <a:endParaRPr lang="en-US" sz="920" dirty="0"/>
          </a:p>
        </p:txBody>
      </p:sp>
      <p:sp>
        <p:nvSpPr>
          <p:cNvPr id="120" name="Shape 118"/>
          <p:cNvSpPr/>
          <p:nvPr/>
        </p:nvSpPr>
        <p:spPr>
          <a:xfrm>
            <a:off x="7744968" y="1627632"/>
            <a:ext cx="4041648" cy="4736592"/>
          </a:xfrm>
          <a:prstGeom prst="rect">
            <a:avLst/>
          </a:prstGeom>
          <a:solidFill>
            <a:srgbClr val="FBEBD9"/>
          </a:solidFill>
          <a:ln w="9525">
            <a:solidFill>
              <a:srgbClr val="E8C9A3"/>
            </a:solidFill>
            <a:prstDash val="solid"/>
          </a:ln>
        </p:spPr>
      </p:sp>
      <p:sp>
        <p:nvSpPr>
          <p:cNvPr id="121" name="Text 119"/>
          <p:cNvSpPr txBox="1"/>
          <p:nvPr/>
        </p:nvSpPr>
        <p:spPr>
          <a:xfrm>
            <a:off x="7927848" y="1773936"/>
            <a:ext cx="3657600" cy="292608"/>
          </a:xfrm>
          <a:prstGeom prst="rect">
            <a:avLst/>
          </a:prstGeom>
          <a:noFill/>
          <a:ln/>
        </p:spPr>
        <p:txBody>
          <a:bodyPr wrap="square" lIns="0" tIns="0" rIns="0" bIns="0" rtlCol="0" anchor="ctr"/>
          <a:lstStyle/>
          <a:p>
            <a:pPr indent="0" marL="0">
              <a:buNone/>
            </a:pPr>
            <a:r>
              <a:rPr lang="en-US" sz="1200" b="1" dirty="0">
                <a:solidFill>
                  <a:srgbClr val="C2610A"/>
                </a:solidFill>
                <a:latin typeface="Calibri" pitchFamily="34" charset="0"/>
                <a:ea typeface="Calibri" pitchFamily="34" charset="-122"/>
                <a:cs typeface="Calibri" pitchFamily="34" charset="-120"/>
              </a:rPr>
              <a:t>What that choice costs us</a:t>
            </a:r>
            <a:endParaRPr lang="en-US" sz="1200" dirty="0"/>
          </a:p>
        </p:txBody>
      </p:sp>
      <p:sp>
        <p:nvSpPr>
          <p:cNvPr id="122" name="Text 120"/>
          <p:cNvSpPr txBox="1"/>
          <p:nvPr/>
        </p:nvSpPr>
        <p:spPr>
          <a:xfrm>
            <a:off x="7927848" y="2194560"/>
            <a:ext cx="3657600" cy="566928"/>
          </a:xfrm>
          <a:prstGeom prst="rect">
            <a:avLst/>
          </a:prstGeom>
          <a:noFill/>
          <a:ln/>
        </p:spPr>
        <p:txBody>
          <a:bodyPr wrap="square" lIns="0" tIns="0" rIns="0" bIns="0" rtlCol="0" anchor="ctr"/>
          <a:lstStyle/>
          <a:p>
            <a:pPr indent="0" marL="0">
              <a:buNone/>
            </a:pPr>
            <a:r>
              <a:rPr lang="en-US" sz="3000" b="1" dirty="0">
                <a:solidFill>
                  <a:srgbClr val="8C9BA9"/>
                </a:solidFill>
                <a:latin typeface="Cambria" pitchFamily="34" charset="0"/>
                <a:ea typeface="Cambria" pitchFamily="34" charset="-122"/>
                <a:cs typeface="Cambria" pitchFamily="34" charset="-120"/>
              </a:rPr>
              <a:t>A$18.9bn</a:t>
            </a:r>
            <a:endParaRPr lang="en-US" sz="3000" dirty="0"/>
          </a:p>
        </p:txBody>
      </p:sp>
      <p:sp>
        <p:nvSpPr>
          <p:cNvPr id="123" name="Text 121"/>
          <p:cNvSpPr txBox="1"/>
          <p:nvPr/>
        </p:nvSpPr>
        <p:spPr>
          <a:xfrm>
            <a:off x="7927848" y="2761488"/>
            <a:ext cx="3657600" cy="402336"/>
          </a:xfrm>
          <a:prstGeom prst="rect">
            <a:avLst/>
          </a:prstGeom>
          <a:noFill/>
          <a:ln/>
        </p:spPr>
        <p:txBody>
          <a:bodyPr wrap="square" lIns="0" tIns="0" rIns="0" bIns="0" rtlCol="0" anchor="t"/>
          <a:lstStyle/>
          <a:p>
            <a:pPr indent="0" marL="0">
              <a:lnSpc>
                <a:spcPct val="110000"/>
              </a:lnSpc>
              <a:buNone/>
            </a:pPr>
            <a:r>
              <a:rPr lang="en-US" sz="920" dirty="0">
                <a:solidFill>
                  <a:srgbClr val="5F7183"/>
                </a:solidFill>
                <a:latin typeface="Calibri" pitchFamily="34" charset="0"/>
                <a:ea typeface="Calibri" pitchFamily="34" charset="-122"/>
                <a:cs typeface="Calibri" pitchFamily="34" charset="-120"/>
              </a:rPr>
              <a:t>if we grew the final year's cash flow at 2.5% forever</a:t>
            </a:r>
            <a:endParaRPr lang="en-US" sz="920" dirty="0"/>
          </a:p>
        </p:txBody>
      </p:sp>
      <p:sp>
        <p:nvSpPr>
          <p:cNvPr id="124" name="Text 122"/>
          <p:cNvSpPr txBox="1"/>
          <p:nvPr/>
        </p:nvSpPr>
        <p:spPr>
          <a:xfrm>
            <a:off x="7927848" y="3328416"/>
            <a:ext cx="3657600" cy="566928"/>
          </a:xfrm>
          <a:prstGeom prst="rect">
            <a:avLst/>
          </a:prstGeom>
          <a:noFill/>
          <a:ln/>
        </p:spPr>
        <p:txBody>
          <a:bodyPr wrap="square" lIns="0" tIns="0" rIns="0" bIns="0" rtlCol="0" anchor="ctr"/>
          <a:lstStyle/>
          <a:p>
            <a:pPr indent="0" marL="0">
              <a:buNone/>
            </a:pPr>
            <a:r>
              <a:rPr lang="en-US" sz="3000" b="1" dirty="0">
                <a:solidFill>
                  <a:srgbClr val="C2610A"/>
                </a:solidFill>
                <a:latin typeface="Cambria" pitchFamily="34" charset="0"/>
                <a:ea typeface="Cambria" pitchFamily="34" charset="-122"/>
                <a:cs typeface="Cambria" pitchFamily="34" charset="-120"/>
              </a:rPr>
              <a:t>A$9.9bn</a:t>
            </a:r>
            <a:endParaRPr lang="en-US" sz="3000" dirty="0"/>
          </a:p>
        </p:txBody>
      </p:sp>
      <p:sp>
        <p:nvSpPr>
          <p:cNvPr id="125" name="Text 123"/>
          <p:cNvSpPr txBox="1"/>
          <p:nvPr/>
        </p:nvSpPr>
        <p:spPr>
          <a:xfrm>
            <a:off x="7927848" y="3895344"/>
            <a:ext cx="3657600" cy="457200"/>
          </a:xfrm>
          <a:prstGeom prst="rect">
            <a:avLst/>
          </a:prstGeom>
          <a:noFill/>
          <a:ln/>
        </p:spPr>
        <p:txBody>
          <a:bodyPr wrap="square" lIns="0" tIns="0" rIns="0" bIns="0" rtlCol="0" anchor="t"/>
          <a:lstStyle/>
          <a:p>
            <a:pPr indent="0" marL="0">
              <a:lnSpc>
                <a:spcPct val="110000"/>
              </a:lnSpc>
              <a:buNone/>
            </a:pPr>
            <a:r>
              <a:rPr lang="en-US" sz="920" b="1" dirty="0">
                <a:solidFill>
                  <a:srgbClr val="C2610A"/>
                </a:solidFill>
                <a:latin typeface="Calibri" pitchFamily="34" charset="0"/>
                <a:ea typeface="Calibri" pitchFamily="34" charset="-122"/>
                <a:cs typeface="Calibri" pitchFamily="34" charset="-120"/>
              </a:rPr>
              <a:t>as a 16-year annuity over the ore that is actually left - what we use</a:t>
            </a:r>
            <a:endParaRPr lang="en-US" sz="920" dirty="0"/>
          </a:p>
        </p:txBody>
      </p:sp>
      <p:sp>
        <p:nvSpPr>
          <p:cNvPr id="126" name="Shape 124"/>
          <p:cNvSpPr/>
          <p:nvPr/>
        </p:nvSpPr>
        <p:spPr>
          <a:xfrm>
            <a:off x="7927848" y="4443984"/>
            <a:ext cx="3657600" cy="10973"/>
          </a:xfrm>
          <a:prstGeom prst="rect">
            <a:avLst/>
          </a:prstGeom>
          <a:solidFill>
            <a:srgbClr val="E0BC94"/>
          </a:solidFill>
          <a:ln/>
        </p:spPr>
      </p:sp>
      <p:sp>
        <p:nvSpPr>
          <p:cNvPr id="127" name="Text 125"/>
          <p:cNvSpPr txBox="1"/>
          <p:nvPr/>
        </p:nvSpPr>
        <p:spPr>
          <a:xfrm>
            <a:off x="7927848" y="4590288"/>
            <a:ext cx="3657600" cy="274320"/>
          </a:xfrm>
          <a:prstGeom prst="rect">
            <a:avLst/>
          </a:prstGeom>
          <a:noFill/>
          <a:ln/>
        </p:spPr>
        <p:txBody>
          <a:bodyPr wrap="square" lIns="0" tIns="0" rIns="0" bIns="0" rtlCol="0" anchor="ctr"/>
          <a:lstStyle/>
          <a:p>
            <a:pPr indent="0" marL="0">
              <a:buNone/>
            </a:pPr>
            <a:r>
              <a:rPr lang="en-US" sz="1050" b="1" dirty="0">
                <a:solidFill>
                  <a:srgbClr val="C2610A"/>
                </a:solidFill>
                <a:latin typeface="Calibri" pitchFamily="34" charset="0"/>
                <a:ea typeface="Calibri" pitchFamily="34" charset="-122"/>
                <a:cs typeface="Calibri" pitchFamily="34" charset="-120"/>
              </a:rPr>
              <a:t>Why it matters here more than usual</a:t>
            </a:r>
            <a:endParaRPr lang="en-US" sz="1050" dirty="0"/>
          </a:p>
        </p:txBody>
      </p:sp>
      <p:sp>
        <p:nvSpPr>
          <p:cNvPr id="128" name="Text 126"/>
          <p:cNvSpPr txBox="1"/>
          <p:nvPr/>
        </p:nvSpPr>
        <p:spPr>
          <a:xfrm>
            <a:off x="7927848" y="4901184"/>
            <a:ext cx="3675888" cy="1353312"/>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P2000 roughly doubles the mining rate. Doubling throughput without restating reserves halves the mine life, so an expansion that looks purely additive on volume is partly just faster depletion. A growing perpetuity hides that entirely. The annuity forces us to pay for it.</a:t>
            </a:r>
            <a:endParaRPr lang="en-US" sz="900" dirty="0"/>
          </a:p>
          <a:p>
            <a:pPr indent="0" marL="0">
              <a:lnSpc>
                <a:spcPct val="110000"/>
              </a:lnSpc>
              <a:buNone/>
            </a:pPr>
            <a:endParaRPr lang="en-US" sz="900" dirty="0"/>
          </a:p>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Terminal value is 50.8% of enterprise value on our approach. On a perpetuity it would have been about 68%, with most of the answer resting on an assumption no orebody can honour.</a:t>
            </a:r>
            <a:endParaRPr lang="en-US" sz="900" dirty="0"/>
          </a:p>
        </p:txBody>
      </p:sp>
      <p:sp>
        <p:nvSpPr>
          <p:cNvPr id="129" name="Text 12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Assumptions and DCF sheets. Discounting uses a mid-year convention. The 75% resource-to-reserve conversion is a key judgement: the 214Mt Ore Reserve alone, last stated in August 2023 and not restated since the June 2025 resource upgrade, would not support the modelled expansion.</a:t>
            </a:r>
            <a:endParaRPr lang="en-US" sz="750" dirty="0"/>
          </a:p>
        </p:txBody>
      </p:sp>
      <p:sp>
        <p:nvSpPr>
          <p:cNvPr id="130" name="Text 12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The range, and what has to be true</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Base A$6.50, bear A$2.26, bull A$8.93. The bear sits 19% above the price the market actually paid at the bottom of the last cycle.</a:t>
            </a:r>
            <a:endParaRPr lang="en-US" sz="1200" dirty="0"/>
          </a:p>
        </p:txBody>
      </p:sp>
      <p:sp>
        <p:nvSpPr>
          <p:cNvPr id="13" name="Shape 11"/>
          <p:cNvSpPr/>
          <p:nvPr/>
        </p:nvSpPr>
        <p:spPr>
          <a:xfrm>
            <a:off x="411480" y="1682496"/>
            <a:ext cx="6766560" cy="2468880"/>
          </a:xfrm>
          <a:prstGeom prst="rect">
            <a:avLst/>
          </a:prstGeom>
          <a:solidFill>
            <a:srgbClr val="F7F9FB"/>
          </a:solidFill>
          <a:ln w="9525">
            <a:solidFill>
              <a:srgbClr val="D3DCE5"/>
            </a:solidFill>
            <a:prstDash val="solid"/>
          </a:ln>
        </p:spPr>
      </p:sp>
      <p:sp>
        <p:nvSpPr>
          <p:cNvPr id="14" name="Text 12"/>
          <p:cNvSpPr txBox="1"/>
          <p:nvPr/>
        </p:nvSpPr>
        <p:spPr>
          <a:xfrm>
            <a:off x="576072" y="1773936"/>
            <a:ext cx="5029200" cy="256032"/>
          </a:xfrm>
          <a:prstGeom prst="rect">
            <a:avLst/>
          </a:prstGeom>
          <a:noFill/>
          <a:ln/>
        </p:spPr>
        <p:txBody>
          <a:bodyPr wrap="square" lIns="0" tIns="0" rIns="0" bIns="0" rtlCol="0" anchor="ctr"/>
          <a:lstStyle/>
          <a:p>
            <a:pPr indent="0" marL="0">
              <a:buNone/>
            </a:pPr>
            <a:r>
              <a:rPr lang="en-US" sz="1100" b="1" dirty="0">
                <a:solidFill>
                  <a:srgbClr val="10233A"/>
                </a:solidFill>
                <a:latin typeface="Calibri" pitchFamily="34" charset="0"/>
                <a:ea typeface="Calibri" pitchFamily="34" charset="-122"/>
                <a:cs typeface="Calibri" pitchFamily="34" charset="-120"/>
              </a:rPr>
              <a:t>Valuation range by method (A$ per share)</a:t>
            </a:r>
            <a:endParaRPr lang="en-US" sz="1100" dirty="0"/>
          </a:p>
        </p:txBody>
      </p:sp>
      <p:sp>
        <p:nvSpPr>
          <p:cNvPr id="15" name="Text 13"/>
          <p:cNvSpPr txBox="1"/>
          <p:nvPr/>
        </p:nvSpPr>
        <p:spPr>
          <a:xfrm>
            <a:off x="576072" y="215798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DCF, base case</a:t>
            </a:r>
            <a:endParaRPr lang="en-US" sz="860" dirty="0"/>
          </a:p>
        </p:txBody>
      </p:sp>
      <p:sp>
        <p:nvSpPr>
          <p:cNvPr id="16" name="Shape 14"/>
          <p:cNvSpPr/>
          <p:nvPr/>
        </p:nvSpPr>
        <p:spPr>
          <a:xfrm>
            <a:off x="5337810" y="2212848"/>
            <a:ext cx="82296" cy="173736"/>
          </a:xfrm>
          <a:prstGeom prst="rect">
            <a:avLst/>
          </a:prstGeom>
          <a:solidFill>
            <a:srgbClr val="0E7C6B"/>
          </a:solidFill>
          <a:ln/>
        </p:spPr>
      </p:sp>
      <p:sp>
        <p:nvSpPr>
          <p:cNvPr id="17" name="Text 15"/>
          <p:cNvSpPr txBox="1"/>
          <p:nvPr/>
        </p:nvSpPr>
        <p:spPr>
          <a:xfrm>
            <a:off x="5525262" y="215798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6.50</a:t>
            </a:r>
            <a:endParaRPr lang="en-US" sz="800" dirty="0"/>
          </a:p>
        </p:txBody>
      </p:sp>
      <p:sp>
        <p:nvSpPr>
          <p:cNvPr id="18" name="Text 16"/>
          <p:cNvSpPr txBox="1"/>
          <p:nvPr/>
        </p:nvSpPr>
        <p:spPr>
          <a:xfrm>
            <a:off x="6702552" y="215798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60%</a:t>
            </a:r>
            <a:endParaRPr lang="en-US" sz="800" dirty="0"/>
          </a:p>
        </p:txBody>
      </p:sp>
      <p:sp>
        <p:nvSpPr>
          <p:cNvPr id="19" name="Text 17"/>
          <p:cNvSpPr txBox="1"/>
          <p:nvPr/>
        </p:nvSpPr>
        <p:spPr>
          <a:xfrm>
            <a:off x="576072" y="252374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DCF, bear to bull</a:t>
            </a:r>
            <a:endParaRPr lang="en-US" sz="860" dirty="0"/>
          </a:p>
        </p:txBody>
      </p:sp>
      <p:sp>
        <p:nvSpPr>
          <p:cNvPr id="20" name="Shape 18"/>
          <p:cNvSpPr/>
          <p:nvPr/>
        </p:nvSpPr>
        <p:spPr>
          <a:xfrm>
            <a:off x="3198114" y="2578608"/>
            <a:ext cx="3430715" cy="173736"/>
          </a:xfrm>
          <a:prstGeom prst="rect">
            <a:avLst/>
          </a:prstGeom>
          <a:solidFill>
            <a:srgbClr val="1C3A5E"/>
          </a:solidFill>
          <a:ln/>
        </p:spPr>
      </p:sp>
      <p:sp>
        <p:nvSpPr>
          <p:cNvPr id="21" name="Text 19"/>
          <p:cNvSpPr txBox="1"/>
          <p:nvPr/>
        </p:nvSpPr>
        <p:spPr>
          <a:xfrm>
            <a:off x="6683693" y="252374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2.26 - 8.93</a:t>
            </a:r>
            <a:endParaRPr lang="en-US" sz="800" dirty="0"/>
          </a:p>
        </p:txBody>
      </p:sp>
      <p:sp>
        <p:nvSpPr>
          <p:cNvPr id="22" name="Text 20"/>
          <p:cNvSpPr txBox="1"/>
          <p:nvPr/>
        </p:nvSpPr>
        <p:spPr>
          <a:xfrm>
            <a:off x="6702552" y="252374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a:t>
            </a:r>
            <a:endParaRPr lang="en-US" sz="800" dirty="0"/>
          </a:p>
        </p:txBody>
      </p:sp>
      <p:sp>
        <p:nvSpPr>
          <p:cNvPr id="23" name="Text 21"/>
          <p:cNvSpPr txBox="1"/>
          <p:nvPr/>
        </p:nvSpPr>
        <p:spPr>
          <a:xfrm>
            <a:off x="576072" y="288950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Trading comparables</a:t>
            </a:r>
            <a:endParaRPr lang="en-US" sz="860" dirty="0"/>
          </a:p>
        </p:txBody>
      </p:sp>
      <p:sp>
        <p:nvSpPr>
          <p:cNvPr id="24" name="Shape 22"/>
          <p:cNvSpPr/>
          <p:nvPr/>
        </p:nvSpPr>
        <p:spPr>
          <a:xfrm>
            <a:off x="4483989" y="2944368"/>
            <a:ext cx="828103" cy="173736"/>
          </a:xfrm>
          <a:prstGeom prst="rect">
            <a:avLst/>
          </a:prstGeom>
          <a:solidFill>
            <a:srgbClr val="1C3A5E"/>
          </a:solidFill>
          <a:ln/>
        </p:spPr>
      </p:sp>
      <p:sp>
        <p:nvSpPr>
          <p:cNvPr id="25" name="Text 23"/>
          <p:cNvSpPr txBox="1"/>
          <p:nvPr/>
        </p:nvSpPr>
        <p:spPr>
          <a:xfrm>
            <a:off x="5366957" y="288950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4.76 - 6.37</a:t>
            </a:r>
            <a:endParaRPr lang="en-US" sz="800" dirty="0"/>
          </a:p>
        </p:txBody>
      </p:sp>
      <p:sp>
        <p:nvSpPr>
          <p:cNvPr id="26" name="Text 24"/>
          <p:cNvSpPr txBox="1"/>
          <p:nvPr/>
        </p:nvSpPr>
        <p:spPr>
          <a:xfrm>
            <a:off x="6702552" y="288950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40%</a:t>
            </a:r>
            <a:endParaRPr lang="en-US" sz="800" dirty="0"/>
          </a:p>
        </p:txBody>
      </p:sp>
      <p:sp>
        <p:nvSpPr>
          <p:cNvPr id="27" name="Text 25"/>
          <p:cNvSpPr txBox="1"/>
          <p:nvPr/>
        </p:nvSpPr>
        <p:spPr>
          <a:xfrm>
            <a:off x="576072" y="325526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Broker targets</a:t>
            </a:r>
            <a:endParaRPr lang="en-US" sz="860" dirty="0"/>
          </a:p>
        </p:txBody>
      </p:sp>
      <p:sp>
        <p:nvSpPr>
          <p:cNvPr id="28" name="Shape 26"/>
          <p:cNvSpPr/>
          <p:nvPr/>
        </p:nvSpPr>
        <p:spPr>
          <a:xfrm>
            <a:off x="3321558" y="3310128"/>
            <a:ext cx="2227136" cy="173736"/>
          </a:xfrm>
          <a:prstGeom prst="rect">
            <a:avLst/>
          </a:prstGeom>
          <a:solidFill>
            <a:srgbClr val="8C9BA9"/>
          </a:solidFill>
          <a:ln/>
        </p:spPr>
      </p:sp>
      <p:sp>
        <p:nvSpPr>
          <p:cNvPr id="29" name="Text 27"/>
          <p:cNvSpPr txBox="1"/>
          <p:nvPr/>
        </p:nvSpPr>
        <p:spPr>
          <a:xfrm>
            <a:off x="5603558" y="325526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2.50 - 6.83</a:t>
            </a:r>
            <a:endParaRPr lang="en-US" sz="800" dirty="0"/>
          </a:p>
        </p:txBody>
      </p:sp>
      <p:sp>
        <p:nvSpPr>
          <p:cNvPr id="30" name="Text 28"/>
          <p:cNvSpPr txBox="1"/>
          <p:nvPr/>
        </p:nvSpPr>
        <p:spPr>
          <a:xfrm>
            <a:off x="6702552" y="325526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a:t>
            </a:r>
            <a:endParaRPr lang="en-US" sz="800" dirty="0"/>
          </a:p>
        </p:txBody>
      </p:sp>
      <p:sp>
        <p:nvSpPr>
          <p:cNvPr id="31" name="Text 29"/>
          <p:cNvSpPr txBox="1"/>
          <p:nvPr/>
        </p:nvSpPr>
        <p:spPr>
          <a:xfrm>
            <a:off x="576072" y="362102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52-week traded range</a:t>
            </a:r>
            <a:endParaRPr lang="en-US" sz="860" dirty="0"/>
          </a:p>
        </p:txBody>
      </p:sp>
      <p:sp>
        <p:nvSpPr>
          <p:cNvPr id="32" name="Shape 30"/>
          <p:cNvSpPr/>
          <p:nvPr/>
        </p:nvSpPr>
        <p:spPr>
          <a:xfrm>
            <a:off x="3018092" y="3675888"/>
            <a:ext cx="2520315" cy="173736"/>
          </a:xfrm>
          <a:prstGeom prst="rect">
            <a:avLst/>
          </a:prstGeom>
          <a:solidFill>
            <a:srgbClr val="8C9BA9"/>
          </a:solidFill>
          <a:ln/>
        </p:spPr>
      </p:sp>
      <p:sp>
        <p:nvSpPr>
          <p:cNvPr id="33" name="Text 31"/>
          <p:cNvSpPr txBox="1"/>
          <p:nvPr/>
        </p:nvSpPr>
        <p:spPr>
          <a:xfrm>
            <a:off x="5593270" y="362102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1.91 - 6.81</a:t>
            </a:r>
            <a:endParaRPr lang="en-US" sz="800" dirty="0"/>
          </a:p>
        </p:txBody>
      </p:sp>
      <p:sp>
        <p:nvSpPr>
          <p:cNvPr id="34" name="Text 32"/>
          <p:cNvSpPr txBox="1"/>
          <p:nvPr/>
        </p:nvSpPr>
        <p:spPr>
          <a:xfrm>
            <a:off x="6702552" y="362102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a:t>
            </a:r>
            <a:endParaRPr lang="en-US" sz="800" dirty="0"/>
          </a:p>
        </p:txBody>
      </p:sp>
      <p:sp>
        <p:nvSpPr>
          <p:cNvPr id="35" name="Shape 33"/>
          <p:cNvSpPr/>
          <p:nvPr/>
        </p:nvSpPr>
        <p:spPr>
          <a:xfrm>
            <a:off x="4845177" y="2121408"/>
            <a:ext cx="20117" cy="1847088"/>
          </a:xfrm>
          <a:prstGeom prst="rect">
            <a:avLst/>
          </a:prstGeom>
          <a:solidFill>
            <a:srgbClr val="A3282C"/>
          </a:solidFill>
          <a:ln/>
        </p:spPr>
      </p:sp>
      <p:sp>
        <p:nvSpPr>
          <p:cNvPr id="36" name="Text 34"/>
          <p:cNvSpPr txBox="1"/>
          <p:nvPr/>
        </p:nvSpPr>
        <p:spPr>
          <a:xfrm>
            <a:off x="4195953" y="3913632"/>
            <a:ext cx="1316736" cy="201168"/>
          </a:xfrm>
          <a:prstGeom prst="rect">
            <a:avLst/>
          </a:prstGeom>
          <a:noFill/>
          <a:ln/>
        </p:spPr>
        <p:txBody>
          <a:bodyPr wrap="square" lIns="0" tIns="0" rIns="0" bIns="0" rtlCol="0" anchor="ctr"/>
          <a:lstStyle/>
          <a:p>
            <a:pPr algn="ctr" indent="0" marL="0">
              <a:buNone/>
            </a:pPr>
            <a:r>
              <a:rPr lang="en-US" sz="800" b="1" dirty="0">
                <a:solidFill>
                  <a:srgbClr val="A3282C"/>
                </a:solidFill>
                <a:latin typeface="Calibri" pitchFamily="34" charset="0"/>
                <a:ea typeface="Calibri" pitchFamily="34" charset="-122"/>
                <a:cs typeface="Calibri" pitchFamily="34" charset="-120"/>
              </a:rPr>
              <a:t>Last close  5.48</a:t>
            </a:r>
            <a:endParaRPr lang="en-US" sz="800" dirty="0"/>
          </a:p>
        </p:txBody>
      </p:sp>
      <p:sp>
        <p:nvSpPr>
          <p:cNvPr id="37" name="Shape 35"/>
          <p:cNvSpPr/>
          <p:nvPr/>
        </p:nvSpPr>
        <p:spPr>
          <a:xfrm>
            <a:off x="5174361" y="2121408"/>
            <a:ext cx="20117" cy="1847088"/>
          </a:xfrm>
          <a:prstGeom prst="rect">
            <a:avLst/>
          </a:prstGeom>
          <a:solidFill>
            <a:srgbClr val="10233A"/>
          </a:solidFill>
          <a:ln/>
        </p:spPr>
      </p:sp>
      <p:sp>
        <p:nvSpPr>
          <p:cNvPr id="38" name="Text 36"/>
          <p:cNvSpPr txBox="1"/>
          <p:nvPr/>
        </p:nvSpPr>
        <p:spPr>
          <a:xfrm>
            <a:off x="5841873" y="3913632"/>
            <a:ext cx="1316736" cy="201168"/>
          </a:xfrm>
          <a:prstGeom prst="rect">
            <a:avLst/>
          </a:prstGeom>
          <a:noFill/>
          <a:ln/>
        </p:spPr>
        <p:txBody>
          <a:bodyPr wrap="square" lIns="0" tIns="0" rIns="0" bIns="0" rtlCol="0" anchor="ctr"/>
          <a:lstStyle/>
          <a:p>
            <a:pPr algn="ctr" indent="0" marL="0">
              <a:buNone/>
            </a:pPr>
            <a:r>
              <a:rPr lang="en-US" sz="800" b="1" dirty="0">
                <a:solidFill>
                  <a:srgbClr val="10233A"/>
                </a:solidFill>
                <a:latin typeface="Calibri" pitchFamily="34" charset="0"/>
                <a:ea typeface="Calibri" pitchFamily="34" charset="-122"/>
                <a:cs typeface="Calibri" pitchFamily="34" charset="-120"/>
              </a:rPr>
              <a:t>Target  6.12</a:t>
            </a:r>
            <a:endParaRPr lang="en-US" sz="800" dirty="0"/>
          </a:p>
        </p:txBody>
      </p:sp>
      <p:sp>
        <p:nvSpPr>
          <p:cNvPr id="39" name="Shape 37"/>
          <p:cNvSpPr/>
          <p:nvPr/>
        </p:nvSpPr>
        <p:spPr>
          <a:xfrm>
            <a:off x="7379208" y="1682496"/>
            <a:ext cx="4407408" cy="1389888"/>
          </a:xfrm>
          <a:prstGeom prst="rect">
            <a:avLst/>
          </a:prstGeom>
          <a:solidFill>
            <a:srgbClr val="FBEBD9"/>
          </a:solidFill>
          <a:ln w="9525">
            <a:solidFill>
              <a:srgbClr val="E8C9A3"/>
            </a:solidFill>
            <a:prstDash val="solid"/>
          </a:ln>
        </p:spPr>
      </p:sp>
      <p:sp>
        <p:nvSpPr>
          <p:cNvPr id="40" name="Text 38"/>
          <p:cNvSpPr txBox="1"/>
          <p:nvPr/>
        </p:nvSpPr>
        <p:spPr>
          <a:xfrm>
            <a:off x="7543800" y="1810512"/>
            <a:ext cx="4096512"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the bear case actually assumes</a:t>
            </a:r>
            <a:endParaRPr lang="en-US" sz="1150" dirty="0"/>
          </a:p>
        </p:txBody>
      </p:sp>
      <p:sp>
        <p:nvSpPr>
          <p:cNvPr id="41" name="Text 39"/>
          <p:cNvSpPr txBox="1"/>
          <p:nvPr/>
        </p:nvSpPr>
        <p:spPr>
          <a:xfrm>
            <a:off x="7562088" y="2249424"/>
            <a:ext cx="4041648" cy="71323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Prices revert to marginal cost, P2000 is never sanctioned, Colina never proceeds and volumes stay flat for a decade - all at once.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Even then A$2.26 is 19% above the A$1.91 printed in the last trough, when PLS held A$974m of cash and was loss-making rather than A$2.29bn and earning A$526m.</a:t>
            </a:r>
            <a:endParaRPr lang="en-US" sz="880" dirty="0"/>
          </a:p>
        </p:txBody>
      </p:sp>
      <p:sp>
        <p:nvSpPr>
          <p:cNvPr id="42" name="Shape 40"/>
          <p:cNvSpPr/>
          <p:nvPr/>
        </p:nvSpPr>
        <p:spPr>
          <a:xfrm>
            <a:off x="7379208" y="3145536"/>
            <a:ext cx="4407408" cy="1005840"/>
          </a:xfrm>
          <a:prstGeom prst="rect">
            <a:avLst/>
          </a:prstGeom>
          <a:solidFill>
            <a:srgbClr val="F7F9FB"/>
          </a:solidFill>
          <a:ln w="9525">
            <a:solidFill>
              <a:srgbClr val="D3DCE5"/>
            </a:solidFill>
            <a:prstDash val="solid"/>
          </a:ln>
        </p:spPr>
      </p:sp>
      <p:sp>
        <p:nvSpPr>
          <p:cNvPr id="43" name="Text 41"/>
          <p:cNvSpPr txBox="1"/>
          <p:nvPr/>
        </p:nvSpPr>
        <p:spPr>
          <a:xfrm>
            <a:off x="7543800" y="3273552"/>
            <a:ext cx="4096512"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And the honest weakness</a:t>
            </a:r>
            <a:endParaRPr lang="en-US" sz="1150" dirty="0"/>
          </a:p>
        </p:txBody>
      </p:sp>
      <p:sp>
        <p:nvSpPr>
          <p:cNvPr id="44" name="Text 42"/>
          <p:cNvSpPr txBox="1"/>
          <p:nvPr/>
        </p:nvSpPr>
        <p:spPr>
          <a:xfrm>
            <a:off x="7562088" y="3712464"/>
            <a:ext cx="4041648" cy="3291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Reward to risk is 1.07x: +63% to bull against -59% to bear. Not a lopsided bet, and we will not present it as one.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What justifies the position is the expected return against the mandate, not the shape of the distribution.</a:t>
            </a:r>
            <a:endParaRPr lang="en-US" sz="880" dirty="0"/>
          </a:p>
        </p:txBody>
      </p:sp>
      <p:sp>
        <p:nvSpPr>
          <p:cNvPr id="45" name="Text 43"/>
          <p:cNvSpPr txBox="1"/>
          <p:nvPr/>
        </p:nvSpPr>
        <p:spPr>
          <a:xfrm>
            <a:off x="411480" y="4297680"/>
            <a:ext cx="6400800" cy="237744"/>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Base-case value per share against realised price and unit cost (A$)</a:t>
            </a:r>
            <a:endParaRPr lang="en-US" sz="1000" dirty="0"/>
          </a:p>
        </p:txBody>
      </p:sp>
      <p:sp>
        <p:nvSpPr>
          <p:cNvPr id="46" name="Shape 44"/>
          <p:cNvSpPr/>
          <p:nvPr/>
        </p:nvSpPr>
        <p:spPr>
          <a:xfrm>
            <a:off x="1463040" y="4572000"/>
            <a:ext cx="841248" cy="246888"/>
          </a:xfrm>
          <a:prstGeom prst="rect">
            <a:avLst/>
          </a:prstGeom>
          <a:solidFill>
            <a:srgbClr val="10233A"/>
          </a:solidFill>
          <a:ln/>
        </p:spPr>
      </p:sp>
      <p:sp>
        <p:nvSpPr>
          <p:cNvPr id="47" name="Text 45"/>
          <p:cNvSpPr txBox="1"/>
          <p:nvPr/>
        </p:nvSpPr>
        <p:spPr>
          <a:xfrm>
            <a:off x="1463040"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-20%</a:t>
            </a:r>
            <a:endParaRPr lang="en-US" sz="800" dirty="0"/>
          </a:p>
        </p:txBody>
      </p:sp>
      <p:sp>
        <p:nvSpPr>
          <p:cNvPr id="48" name="Shape 46"/>
          <p:cNvSpPr/>
          <p:nvPr/>
        </p:nvSpPr>
        <p:spPr>
          <a:xfrm>
            <a:off x="2304288" y="4572000"/>
            <a:ext cx="841248" cy="246888"/>
          </a:xfrm>
          <a:prstGeom prst="rect">
            <a:avLst/>
          </a:prstGeom>
          <a:solidFill>
            <a:srgbClr val="10233A"/>
          </a:solidFill>
          <a:ln/>
        </p:spPr>
      </p:sp>
      <p:sp>
        <p:nvSpPr>
          <p:cNvPr id="49" name="Text 47"/>
          <p:cNvSpPr txBox="1"/>
          <p:nvPr/>
        </p:nvSpPr>
        <p:spPr>
          <a:xfrm>
            <a:off x="2304288"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50" name="Shape 48"/>
          <p:cNvSpPr/>
          <p:nvPr/>
        </p:nvSpPr>
        <p:spPr>
          <a:xfrm>
            <a:off x="3145536" y="4572000"/>
            <a:ext cx="841248" cy="246888"/>
          </a:xfrm>
          <a:prstGeom prst="rect">
            <a:avLst/>
          </a:prstGeom>
          <a:solidFill>
            <a:srgbClr val="10233A"/>
          </a:solidFill>
          <a:ln/>
        </p:spPr>
      </p:sp>
      <p:sp>
        <p:nvSpPr>
          <p:cNvPr id="51" name="Text 49"/>
          <p:cNvSpPr txBox="1"/>
          <p:nvPr/>
        </p:nvSpPr>
        <p:spPr>
          <a:xfrm>
            <a:off x="3145536"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Base</a:t>
            </a:r>
            <a:endParaRPr lang="en-US" sz="800" dirty="0"/>
          </a:p>
        </p:txBody>
      </p:sp>
      <p:sp>
        <p:nvSpPr>
          <p:cNvPr id="52" name="Shape 50"/>
          <p:cNvSpPr/>
          <p:nvPr/>
        </p:nvSpPr>
        <p:spPr>
          <a:xfrm>
            <a:off x="3986784" y="4572000"/>
            <a:ext cx="841248" cy="246888"/>
          </a:xfrm>
          <a:prstGeom prst="rect">
            <a:avLst/>
          </a:prstGeom>
          <a:solidFill>
            <a:srgbClr val="10233A"/>
          </a:solidFill>
          <a:ln/>
        </p:spPr>
      </p:sp>
      <p:sp>
        <p:nvSpPr>
          <p:cNvPr id="53" name="Text 51"/>
          <p:cNvSpPr txBox="1"/>
          <p:nvPr/>
        </p:nvSpPr>
        <p:spPr>
          <a:xfrm>
            <a:off x="3986784"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54" name="Shape 52"/>
          <p:cNvSpPr/>
          <p:nvPr/>
        </p:nvSpPr>
        <p:spPr>
          <a:xfrm>
            <a:off x="4828032" y="4572000"/>
            <a:ext cx="841248" cy="246888"/>
          </a:xfrm>
          <a:prstGeom prst="rect">
            <a:avLst/>
          </a:prstGeom>
          <a:solidFill>
            <a:srgbClr val="10233A"/>
          </a:solidFill>
          <a:ln/>
        </p:spPr>
      </p:sp>
      <p:sp>
        <p:nvSpPr>
          <p:cNvPr id="55" name="Text 53"/>
          <p:cNvSpPr txBox="1"/>
          <p:nvPr/>
        </p:nvSpPr>
        <p:spPr>
          <a:xfrm>
            <a:off x="4828032"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+20%</a:t>
            </a:r>
            <a:endParaRPr lang="en-US" sz="800" dirty="0"/>
          </a:p>
        </p:txBody>
      </p:sp>
      <p:sp>
        <p:nvSpPr>
          <p:cNvPr id="56" name="Text 54"/>
          <p:cNvSpPr txBox="1"/>
          <p:nvPr/>
        </p:nvSpPr>
        <p:spPr>
          <a:xfrm>
            <a:off x="411480" y="4572000"/>
            <a:ext cx="1033272" cy="246888"/>
          </a:xfrm>
          <a:prstGeom prst="rect">
            <a:avLst/>
          </a:prstGeom>
          <a:noFill/>
          <a:ln/>
        </p:spPr>
        <p:txBody>
          <a:bodyPr wrap="square" lIns="0" tIns="0" rIns="0" bIns="0" rtlCol="0" anchor="ctr"/>
          <a:lstStyle/>
          <a:p>
            <a:pPr algn="r" indent="0" marL="0">
              <a:buNone/>
            </a:pPr>
            <a:r>
              <a:rPr lang="en-US" sz="750" b="1" dirty="0">
                <a:solidFill>
                  <a:srgbClr val="5F7183"/>
                </a:solidFill>
                <a:latin typeface="Calibri" pitchFamily="34" charset="0"/>
                <a:ea typeface="Calibri" pitchFamily="34" charset="-122"/>
                <a:cs typeface="Calibri" pitchFamily="34" charset="-120"/>
              </a:rPr>
              <a:t>Unit cost</a:t>
            </a:r>
            <a:endParaRPr lang="en-US" sz="750" dirty="0"/>
          </a:p>
        </p:txBody>
      </p:sp>
      <p:sp>
        <p:nvSpPr>
          <p:cNvPr id="57" name="Shape 55"/>
          <p:cNvSpPr/>
          <p:nvPr/>
        </p:nvSpPr>
        <p:spPr>
          <a:xfrm>
            <a:off x="411480" y="4818888"/>
            <a:ext cx="1033272" cy="246888"/>
          </a:xfrm>
          <a:prstGeom prst="rect">
            <a:avLst/>
          </a:prstGeom>
          <a:solidFill>
            <a:srgbClr val="10233A"/>
          </a:solidFill>
          <a:ln/>
        </p:spPr>
      </p:sp>
      <p:sp>
        <p:nvSpPr>
          <p:cNvPr id="58" name="Text 56"/>
          <p:cNvSpPr txBox="1"/>
          <p:nvPr/>
        </p:nvSpPr>
        <p:spPr>
          <a:xfrm>
            <a:off x="411480" y="4818888"/>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59" name="Shape 57"/>
          <p:cNvSpPr/>
          <p:nvPr/>
        </p:nvSpPr>
        <p:spPr>
          <a:xfrm>
            <a:off x="1463040" y="4818888"/>
            <a:ext cx="841248" cy="246888"/>
          </a:xfrm>
          <a:prstGeom prst="rect">
            <a:avLst/>
          </a:prstGeom>
          <a:solidFill>
            <a:srgbClr val="F7E2E2"/>
          </a:solidFill>
          <a:ln w="6350">
            <a:solidFill>
              <a:srgbClr val="D3DCE5"/>
            </a:solidFill>
            <a:prstDash val="solid"/>
          </a:ln>
        </p:spPr>
      </p:sp>
      <p:sp>
        <p:nvSpPr>
          <p:cNvPr id="60" name="Text 58"/>
          <p:cNvSpPr txBox="1"/>
          <p:nvPr/>
        </p:nvSpPr>
        <p:spPr>
          <a:xfrm>
            <a:off x="1463040" y="4818888"/>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3.98</a:t>
            </a:r>
            <a:endParaRPr lang="en-US" sz="820" dirty="0"/>
          </a:p>
        </p:txBody>
      </p:sp>
      <p:sp>
        <p:nvSpPr>
          <p:cNvPr id="61" name="Shape 59"/>
          <p:cNvSpPr/>
          <p:nvPr/>
        </p:nvSpPr>
        <p:spPr>
          <a:xfrm>
            <a:off x="2304288" y="4818888"/>
            <a:ext cx="841248" cy="246888"/>
          </a:xfrm>
          <a:prstGeom prst="rect">
            <a:avLst/>
          </a:prstGeom>
          <a:solidFill>
            <a:srgbClr val="F7E2E2"/>
          </a:solidFill>
          <a:ln w="6350">
            <a:solidFill>
              <a:srgbClr val="D3DCE5"/>
            </a:solidFill>
            <a:prstDash val="solid"/>
          </a:ln>
        </p:spPr>
      </p:sp>
      <p:sp>
        <p:nvSpPr>
          <p:cNvPr id="62" name="Text 60"/>
          <p:cNvSpPr txBox="1"/>
          <p:nvPr/>
        </p:nvSpPr>
        <p:spPr>
          <a:xfrm>
            <a:off x="2304288" y="4818888"/>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5.42</a:t>
            </a:r>
            <a:endParaRPr lang="en-US" sz="820" dirty="0"/>
          </a:p>
        </p:txBody>
      </p:sp>
      <p:sp>
        <p:nvSpPr>
          <p:cNvPr id="63" name="Shape 61"/>
          <p:cNvSpPr/>
          <p:nvPr/>
        </p:nvSpPr>
        <p:spPr>
          <a:xfrm>
            <a:off x="3145536" y="4818888"/>
            <a:ext cx="841248" cy="246888"/>
          </a:xfrm>
          <a:prstGeom prst="rect">
            <a:avLst/>
          </a:prstGeom>
          <a:solidFill>
            <a:srgbClr val="F7F9FB"/>
          </a:solidFill>
          <a:ln w="6350">
            <a:solidFill>
              <a:srgbClr val="D3DCE5"/>
            </a:solidFill>
            <a:prstDash val="solid"/>
          </a:ln>
        </p:spPr>
      </p:sp>
      <p:sp>
        <p:nvSpPr>
          <p:cNvPr id="64" name="Text 62"/>
          <p:cNvSpPr txBox="1"/>
          <p:nvPr/>
        </p:nvSpPr>
        <p:spPr>
          <a:xfrm>
            <a:off x="3145536" y="4818888"/>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6.86</a:t>
            </a:r>
            <a:endParaRPr lang="en-US" sz="820" dirty="0"/>
          </a:p>
        </p:txBody>
      </p:sp>
      <p:sp>
        <p:nvSpPr>
          <p:cNvPr id="65" name="Shape 63"/>
          <p:cNvSpPr/>
          <p:nvPr/>
        </p:nvSpPr>
        <p:spPr>
          <a:xfrm>
            <a:off x="3986784" y="4818888"/>
            <a:ext cx="841248" cy="246888"/>
          </a:xfrm>
          <a:prstGeom prst="rect">
            <a:avLst/>
          </a:prstGeom>
          <a:solidFill>
            <a:srgbClr val="F7F9FB"/>
          </a:solidFill>
          <a:ln w="6350">
            <a:solidFill>
              <a:srgbClr val="D3DCE5"/>
            </a:solidFill>
            <a:prstDash val="solid"/>
          </a:ln>
        </p:spPr>
      </p:sp>
      <p:sp>
        <p:nvSpPr>
          <p:cNvPr id="66" name="Text 64"/>
          <p:cNvSpPr txBox="1"/>
          <p:nvPr/>
        </p:nvSpPr>
        <p:spPr>
          <a:xfrm>
            <a:off x="3986784" y="4818888"/>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8.30</a:t>
            </a:r>
            <a:endParaRPr lang="en-US" sz="820" dirty="0"/>
          </a:p>
        </p:txBody>
      </p:sp>
      <p:sp>
        <p:nvSpPr>
          <p:cNvPr id="67" name="Shape 65"/>
          <p:cNvSpPr/>
          <p:nvPr/>
        </p:nvSpPr>
        <p:spPr>
          <a:xfrm>
            <a:off x="4828032" y="4818888"/>
            <a:ext cx="841248" cy="246888"/>
          </a:xfrm>
          <a:prstGeom prst="rect">
            <a:avLst/>
          </a:prstGeom>
          <a:solidFill>
            <a:srgbClr val="F7F9FB"/>
          </a:solidFill>
          <a:ln w="6350">
            <a:solidFill>
              <a:srgbClr val="D3DCE5"/>
            </a:solidFill>
            <a:prstDash val="solid"/>
          </a:ln>
        </p:spPr>
      </p:sp>
      <p:sp>
        <p:nvSpPr>
          <p:cNvPr id="68" name="Text 66"/>
          <p:cNvSpPr txBox="1"/>
          <p:nvPr/>
        </p:nvSpPr>
        <p:spPr>
          <a:xfrm>
            <a:off x="4828032" y="4818888"/>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9.73</a:t>
            </a:r>
            <a:endParaRPr lang="en-US" sz="820" dirty="0"/>
          </a:p>
        </p:txBody>
      </p:sp>
      <p:sp>
        <p:nvSpPr>
          <p:cNvPr id="69" name="Shape 67"/>
          <p:cNvSpPr/>
          <p:nvPr/>
        </p:nvSpPr>
        <p:spPr>
          <a:xfrm>
            <a:off x="411480" y="5065776"/>
            <a:ext cx="1033272" cy="246888"/>
          </a:xfrm>
          <a:prstGeom prst="rect">
            <a:avLst/>
          </a:prstGeom>
          <a:solidFill>
            <a:srgbClr val="10233A"/>
          </a:solidFill>
          <a:ln/>
        </p:spPr>
      </p:sp>
      <p:sp>
        <p:nvSpPr>
          <p:cNvPr id="70" name="Text 68"/>
          <p:cNvSpPr txBox="1"/>
          <p:nvPr/>
        </p:nvSpPr>
        <p:spPr>
          <a:xfrm>
            <a:off x="411480" y="5065776"/>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71" name="Shape 69"/>
          <p:cNvSpPr/>
          <p:nvPr/>
        </p:nvSpPr>
        <p:spPr>
          <a:xfrm>
            <a:off x="1463040" y="5065776"/>
            <a:ext cx="841248" cy="246888"/>
          </a:xfrm>
          <a:prstGeom prst="rect">
            <a:avLst/>
          </a:prstGeom>
          <a:solidFill>
            <a:srgbClr val="F7E2E2"/>
          </a:solidFill>
          <a:ln w="6350">
            <a:solidFill>
              <a:srgbClr val="D3DCE5"/>
            </a:solidFill>
            <a:prstDash val="solid"/>
          </a:ln>
        </p:spPr>
      </p:sp>
      <p:sp>
        <p:nvSpPr>
          <p:cNvPr id="72" name="Text 70"/>
          <p:cNvSpPr txBox="1"/>
          <p:nvPr/>
        </p:nvSpPr>
        <p:spPr>
          <a:xfrm>
            <a:off x="1463040" y="5065776"/>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3.80</a:t>
            </a:r>
            <a:endParaRPr lang="en-US" sz="820" dirty="0"/>
          </a:p>
        </p:txBody>
      </p:sp>
      <p:sp>
        <p:nvSpPr>
          <p:cNvPr id="73" name="Shape 71"/>
          <p:cNvSpPr/>
          <p:nvPr/>
        </p:nvSpPr>
        <p:spPr>
          <a:xfrm>
            <a:off x="2304288" y="5065776"/>
            <a:ext cx="841248" cy="246888"/>
          </a:xfrm>
          <a:prstGeom prst="rect">
            <a:avLst/>
          </a:prstGeom>
          <a:solidFill>
            <a:srgbClr val="F7E2E2"/>
          </a:solidFill>
          <a:ln w="6350">
            <a:solidFill>
              <a:srgbClr val="D3DCE5"/>
            </a:solidFill>
            <a:prstDash val="solid"/>
          </a:ln>
        </p:spPr>
      </p:sp>
      <p:sp>
        <p:nvSpPr>
          <p:cNvPr id="74" name="Text 72"/>
          <p:cNvSpPr txBox="1"/>
          <p:nvPr/>
        </p:nvSpPr>
        <p:spPr>
          <a:xfrm>
            <a:off x="2304288" y="5065776"/>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5.24</a:t>
            </a:r>
            <a:endParaRPr lang="en-US" sz="820" dirty="0"/>
          </a:p>
        </p:txBody>
      </p:sp>
      <p:sp>
        <p:nvSpPr>
          <p:cNvPr id="75" name="Shape 73"/>
          <p:cNvSpPr/>
          <p:nvPr/>
        </p:nvSpPr>
        <p:spPr>
          <a:xfrm>
            <a:off x="3145536" y="5065776"/>
            <a:ext cx="841248" cy="246888"/>
          </a:xfrm>
          <a:prstGeom prst="rect">
            <a:avLst/>
          </a:prstGeom>
          <a:solidFill>
            <a:srgbClr val="F7F9FB"/>
          </a:solidFill>
          <a:ln w="6350">
            <a:solidFill>
              <a:srgbClr val="D3DCE5"/>
            </a:solidFill>
            <a:prstDash val="solid"/>
          </a:ln>
        </p:spPr>
      </p:sp>
      <p:sp>
        <p:nvSpPr>
          <p:cNvPr id="76" name="Text 74"/>
          <p:cNvSpPr txBox="1"/>
          <p:nvPr/>
        </p:nvSpPr>
        <p:spPr>
          <a:xfrm>
            <a:off x="3145536" y="5065776"/>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6.68</a:t>
            </a:r>
            <a:endParaRPr lang="en-US" sz="820" dirty="0"/>
          </a:p>
        </p:txBody>
      </p:sp>
      <p:sp>
        <p:nvSpPr>
          <p:cNvPr id="77" name="Shape 75"/>
          <p:cNvSpPr/>
          <p:nvPr/>
        </p:nvSpPr>
        <p:spPr>
          <a:xfrm>
            <a:off x="3986784" y="5065776"/>
            <a:ext cx="841248" cy="246888"/>
          </a:xfrm>
          <a:prstGeom prst="rect">
            <a:avLst/>
          </a:prstGeom>
          <a:solidFill>
            <a:srgbClr val="F7F9FB"/>
          </a:solidFill>
          <a:ln w="6350">
            <a:solidFill>
              <a:srgbClr val="D3DCE5"/>
            </a:solidFill>
            <a:prstDash val="solid"/>
          </a:ln>
        </p:spPr>
      </p:sp>
      <p:sp>
        <p:nvSpPr>
          <p:cNvPr id="78" name="Text 76"/>
          <p:cNvSpPr txBox="1"/>
          <p:nvPr/>
        </p:nvSpPr>
        <p:spPr>
          <a:xfrm>
            <a:off x="3986784" y="5065776"/>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8.12</a:t>
            </a:r>
            <a:endParaRPr lang="en-US" sz="820" dirty="0"/>
          </a:p>
        </p:txBody>
      </p:sp>
      <p:sp>
        <p:nvSpPr>
          <p:cNvPr id="79" name="Shape 77"/>
          <p:cNvSpPr/>
          <p:nvPr/>
        </p:nvSpPr>
        <p:spPr>
          <a:xfrm>
            <a:off x="4828032" y="5065776"/>
            <a:ext cx="841248" cy="246888"/>
          </a:xfrm>
          <a:prstGeom prst="rect">
            <a:avLst/>
          </a:prstGeom>
          <a:solidFill>
            <a:srgbClr val="F7F9FB"/>
          </a:solidFill>
          <a:ln w="6350">
            <a:solidFill>
              <a:srgbClr val="D3DCE5"/>
            </a:solidFill>
            <a:prstDash val="solid"/>
          </a:ln>
        </p:spPr>
      </p:sp>
      <p:sp>
        <p:nvSpPr>
          <p:cNvPr id="80" name="Text 78"/>
          <p:cNvSpPr txBox="1"/>
          <p:nvPr/>
        </p:nvSpPr>
        <p:spPr>
          <a:xfrm>
            <a:off x="4828032" y="5065776"/>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9.55</a:t>
            </a:r>
            <a:endParaRPr lang="en-US" sz="820" dirty="0"/>
          </a:p>
        </p:txBody>
      </p:sp>
      <p:sp>
        <p:nvSpPr>
          <p:cNvPr id="81" name="Shape 79"/>
          <p:cNvSpPr/>
          <p:nvPr/>
        </p:nvSpPr>
        <p:spPr>
          <a:xfrm>
            <a:off x="411480" y="5312664"/>
            <a:ext cx="1033272" cy="246888"/>
          </a:xfrm>
          <a:prstGeom prst="rect">
            <a:avLst/>
          </a:prstGeom>
          <a:solidFill>
            <a:srgbClr val="10233A"/>
          </a:solidFill>
          <a:ln/>
        </p:spPr>
      </p:sp>
      <p:sp>
        <p:nvSpPr>
          <p:cNvPr id="82" name="Text 80"/>
          <p:cNvSpPr txBox="1"/>
          <p:nvPr/>
        </p:nvSpPr>
        <p:spPr>
          <a:xfrm>
            <a:off x="411480" y="5312664"/>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Base</a:t>
            </a:r>
            <a:endParaRPr lang="en-US" sz="800" dirty="0"/>
          </a:p>
        </p:txBody>
      </p:sp>
      <p:sp>
        <p:nvSpPr>
          <p:cNvPr id="83" name="Shape 81"/>
          <p:cNvSpPr/>
          <p:nvPr/>
        </p:nvSpPr>
        <p:spPr>
          <a:xfrm>
            <a:off x="1463040" y="5312664"/>
            <a:ext cx="841248" cy="246888"/>
          </a:xfrm>
          <a:prstGeom prst="rect">
            <a:avLst/>
          </a:prstGeom>
          <a:solidFill>
            <a:srgbClr val="F7E2E2"/>
          </a:solidFill>
          <a:ln w="6350">
            <a:solidFill>
              <a:srgbClr val="D3DCE5"/>
            </a:solidFill>
            <a:prstDash val="solid"/>
          </a:ln>
        </p:spPr>
      </p:sp>
      <p:sp>
        <p:nvSpPr>
          <p:cNvPr id="84" name="Text 82"/>
          <p:cNvSpPr txBox="1"/>
          <p:nvPr/>
        </p:nvSpPr>
        <p:spPr>
          <a:xfrm>
            <a:off x="1463040" y="5312664"/>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3.62</a:t>
            </a:r>
            <a:endParaRPr lang="en-US" sz="820" dirty="0"/>
          </a:p>
        </p:txBody>
      </p:sp>
      <p:sp>
        <p:nvSpPr>
          <p:cNvPr id="85" name="Shape 83"/>
          <p:cNvSpPr/>
          <p:nvPr/>
        </p:nvSpPr>
        <p:spPr>
          <a:xfrm>
            <a:off x="2304288" y="5312664"/>
            <a:ext cx="841248" cy="246888"/>
          </a:xfrm>
          <a:prstGeom prst="rect">
            <a:avLst/>
          </a:prstGeom>
          <a:solidFill>
            <a:srgbClr val="F7E2E2"/>
          </a:solidFill>
          <a:ln w="6350">
            <a:solidFill>
              <a:srgbClr val="D3DCE5"/>
            </a:solidFill>
            <a:prstDash val="solid"/>
          </a:ln>
        </p:spPr>
      </p:sp>
      <p:sp>
        <p:nvSpPr>
          <p:cNvPr id="86" name="Text 84"/>
          <p:cNvSpPr txBox="1"/>
          <p:nvPr/>
        </p:nvSpPr>
        <p:spPr>
          <a:xfrm>
            <a:off x="2304288" y="5312664"/>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5.06</a:t>
            </a:r>
            <a:endParaRPr lang="en-US" sz="820" dirty="0"/>
          </a:p>
        </p:txBody>
      </p:sp>
      <p:sp>
        <p:nvSpPr>
          <p:cNvPr id="87" name="Shape 85"/>
          <p:cNvSpPr/>
          <p:nvPr/>
        </p:nvSpPr>
        <p:spPr>
          <a:xfrm>
            <a:off x="3145536" y="5312664"/>
            <a:ext cx="841248" cy="246888"/>
          </a:xfrm>
          <a:prstGeom prst="rect">
            <a:avLst/>
          </a:prstGeom>
          <a:solidFill>
            <a:srgbClr val="D6EBE7"/>
          </a:solidFill>
          <a:ln w="6350">
            <a:solidFill>
              <a:srgbClr val="D3DCE5"/>
            </a:solidFill>
            <a:prstDash val="solid"/>
          </a:ln>
        </p:spPr>
      </p:sp>
      <p:sp>
        <p:nvSpPr>
          <p:cNvPr id="88" name="Text 86"/>
          <p:cNvSpPr txBox="1"/>
          <p:nvPr/>
        </p:nvSpPr>
        <p:spPr>
          <a:xfrm>
            <a:off x="3145536" y="5312664"/>
            <a:ext cx="841248" cy="246888"/>
          </a:xfrm>
          <a:prstGeom prst="rect">
            <a:avLst/>
          </a:prstGeom>
          <a:noFill/>
          <a:ln/>
        </p:spPr>
        <p:txBody>
          <a:bodyPr wrap="square" lIns="0" tIns="0" rIns="0" bIns="0" rtlCol="0" anchor="ctr"/>
          <a:lstStyle/>
          <a:p>
            <a:pPr algn="ctr" indent="0" marL="0">
              <a:buNone/>
            </a:pPr>
            <a:r>
              <a:rPr lang="en-US" sz="820" b="1" dirty="0">
                <a:solidFill>
                  <a:srgbClr val="0E7C6B"/>
                </a:solidFill>
                <a:latin typeface="Calibri" pitchFamily="34" charset="0"/>
                <a:ea typeface="Calibri" pitchFamily="34" charset="-122"/>
                <a:cs typeface="Calibri" pitchFamily="34" charset="-120"/>
              </a:rPr>
              <a:t>6.50</a:t>
            </a:r>
            <a:endParaRPr lang="en-US" sz="820" dirty="0"/>
          </a:p>
        </p:txBody>
      </p:sp>
      <p:sp>
        <p:nvSpPr>
          <p:cNvPr id="89" name="Shape 87"/>
          <p:cNvSpPr/>
          <p:nvPr/>
        </p:nvSpPr>
        <p:spPr>
          <a:xfrm>
            <a:off x="3986784" y="5312664"/>
            <a:ext cx="841248" cy="246888"/>
          </a:xfrm>
          <a:prstGeom prst="rect">
            <a:avLst/>
          </a:prstGeom>
          <a:solidFill>
            <a:srgbClr val="F7F9FB"/>
          </a:solidFill>
          <a:ln w="6350">
            <a:solidFill>
              <a:srgbClr val="D3DCE5"/>
            </a:solidFill>
            <a:prstDash val="solid"/>
          </a:ln>
        </p:spPr>
      </p:sp>
      <p:sp>
        <p:nvSpPr>
          <p:cNvPr id="90" name="Text 88"/>
          <p:cNvSpPr txBox="1"/>
          <p:nvPr/>
        </p:nvSpPr>
        <p:spPr>
          <a:xfrm>
            <a:off x="3986784" y="5312664"/>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7.94</a:t>
            </a:r>
            <a:endParaRPr lang="en-US" sz="820" dirty="0"/>
          </a:p>
        </p:txBody>
      </p:sp>
      <p:sp>
        <p:nvSpPr>
          <p:cNvPr id="91" name="Shape 89"/>
          <p:cNvSpPr/>
          <p:nvPr/>
        </p:nvSpPr>
        <p:spPr>
          <a:xfrm>
            <a:off x="4828032" y="5312664"/>
            <a:ext cx="841248" cy="246888"/>
          </a:xfrm>
          <a:prstGeom prst="rect">
            <a:avLst/>
          </a:prstGeom>
          <a:solidFill>
            <a:srgbClr val="F7F9FB"/>
          </a:solidFill>
          <a:ln w="6350">
            <a:solidFill>
              <a:srgbClr val="D3DCE5"/>
            </a:solidFill>
            <a:prstDash val="solid"/>
          </a:ln>
        </p:spPr>
      </p:sp>
      <p:sp>
        <p:nvSpPr>
          <p:cNvPr id="92" name="Text 90"/>
          <p:cNvSpPr txBox="1"/>
          <p:nvPr/>
        </p:nvSpPr>
        <p:spPr>
          <a:xfrm>
            <a:off x="4828032" y="5312664"/>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9.37</a:t>
            </a:r>
            <a:endParaRPr lang="en-US" sz="820" dirty="0"/>
          </a:p>
        </p:txBody>
      </p:sp>
      <p:sp>
        <p:nvSpPr>
          <p:cNvPr id="93" name="Shape 91"/>
          <p:cNvSpPr/>
          <p:nvPr/>
        </p:nvSpPr>
        <p:spPr>
          <a:xfrm>
            <a:off x="411480" y="5559552"/>
            <a:ext cx="1033272" cy="246888"/>
          </a:xfrm>
          <a:prstGeom prst="rect">
            <a:avLst/>
          </a:prstGeom>
          <a:solidFill>
            <a:srgbClr val="10233A"/>
          </a:solidFill>
          <a:ln/>
        </p:spPr>
      </p:sp>
      <p:sp>
        <p:nvSpPr>
          <p:cNvPr id="94" name="Text 92"/>
          <p:cNvSpPr txBox="1"/>
          <p:nvPr/>
        </p:nvSpPr>
        <p:spPr>
          <a:xfrm>
            <a:off x="411480" y="5559552"/>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95" name="Shape 93"/>
          <p:cNvSpPr/>
          <p:nvPr/>
        </p:nvSpPr>
        <p:spPr>
          <a:xfrm>
            <a:off x="1463040" y="5559552"/>
            <a:ext cx="841248" cy="246888"/>
          </a:xfrm>
          <a:prstGeom prst="rect">
            <a:avLst/>
          </a:prstGeom>
          <a:solidFill>
            <a:srgbClr val="F7E2E2"/>
          </a:solidFill>
          <a:ln w="6350">
            <a:solidFill>
              <a:srgbClr val="D3DCE5"/>
            </a:solidFill>
            <a:prstDash val="solid"/>
          </a:ln>
        </p:spPr>
      </p:sp>
      <p:sp>
        <p:nvSpPr>
          <p:cNvPr id="96" name="Text 94"/>
          <p:cNvSpPr txBox="1"/>
          <p:nvPr/>
        </p:nvSpPr>
        <p:spPr>
          <a:xfrm>
            <a:off x="1463040" y="5559552"/>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3.44</a:t>
            </a:r>
            <a:endParaRPr lang="en-US" sz="820" dirty="0"/>
          </a:p>
        </p:txBody>
      </p:sp>
      <p:sp>
        <p:nvSpPr>
          <p:cNvPr id="97" name="Shape 95"/>
          <p:cNvSpPr/>
          <p:nvPr/>
        </p:nvSpPr>
        <p:spPr>
          <a:xfrm>
            <a:off x="2304288" y="5559552"/>
            <a:ext cx="841248" cy="246888"/>
          </a:xfrm>
          <a:prstGeom prst="rect">
            <a:avLst/>
          </a:prstGeom>
          <a:solidFill>
            <a:srgbClr val="F7E2E2"/>
          </a:solidFill>
          <a:ln w="6350">
            <a:solidFill>
              <a:srgbClr val="D3DCE5"/>
            </a:solidFill>
            <a:prstDash val="solid"/>
          </a:ln>
        </p:spPr>
      </p:sp>
      <p:sp>
        <p:nvSpPr>
          <p:cNvPr id="98" name="Text 96"/>
          <p:cNvSpPr txBox="1"/>
          <p:nvPr/>
        </p:nvSpPr>
        <p:spPr>
          <a:xfrm>
            <a:off x="2304288" y="5559552"/>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4.88</a:t>
            </a:r>
            <a:endParaRPr lang="en-US" sz="820" dirty="0"/>
          </a:p>
        </p:txBody>
      </p:sp>
      <p:sp>
        <p:nvSpPr>
          <p:cNvPr id="99" name="Shape 97"/>
          <p:cNvSpPr/>
          <p:nvPr/>
        </p:nvSpPr>
        <p:spPr>
          <a:xfrm>
            <a:off x="3145536" y="5559552"/>
            <a:ext cx="841248" cy="246888"/>
          </a:xfrm>
          <a:prstGeom prst="rect">
            <a:avLst/>
          </a:prstGeom>
          <a:solidFill>
            <a:srgbClr val="F7F9FB"/>
          </a:solidFill>
          <a:ln w="6350">
            <a:solidFill>
              <a:srgbClr val="D3DCE5"/>
            </a:solidFill>
            <a:prstDash val="solid"/>
          </a:ln>
        </p:spPr>
      </p:sp>
      <p:sp>
        <p:nvSpPr>
          <p:cNvPr id="100" name="Text 98"/>
          <p:cNvSpPr txBox="1"/>
          <p:nvPr/>
        </p:nvSpPr>
        <p:spPr>
          <a:xfrm>
            <a:off x="3145536" y="5559552"/>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6.32</a:t>
            </a:r>
            <a:endParaRPr lang="en-US" sz="820" dirty="0"/>
          </a:p>
        </p:txBody>
      </p:sp>
      <p:sp>
        <p:nvSpPr>
          <p:cNvPr id="101" name="Shape 99"/>
          <p:cNvSpPr/>
          <p:nvPr/>
        </p:nvSpPr>
        <p:spPr>
          <a:xfrm>
            <a:off x="3986784" y="5559552"/>
            <a:ext cx="841248" cy="246888"/>
          </a:xfrm>
          <a:prstGeom prst="rect">
            <a:avLst/>
          </a:prstGeom>
          <a:solidFill>
            <a:srgbClr val="F7F9FB"/>
          </a:solidFill>
          <a:ln w="6350">
            <a:solidFill>
              <a:srgbClr val="D3DCE5"/>
            </a:solidFill>
            <a:prstDash val="solid"/>
          </a:ln>
        </p:spPr>
      </p:sp>
      <p:sp>
        <p:nvSpPr>
          <p:cNvPr id="102" name="Text 100"/>
          <p:cNvSpPr txBox="1"/>
          <p:nvPr/>
        </p:nvSpPr>
        <p:spPr>
          <a:xfrm>
            <a:off x="3986784" y="5559552"/>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7.76</a:t>
            </a:r>
            <a:endParaRPr lang="en-US" sz="820" dirty="0"/>
          </a:p>
        </p:txBody>
      </p:sp>
      <p:sp>
        <p:nvSpPr>
          <p:cNvPr id="103" name="Shape 101"/>
          <p:cNvSpPr/>
          <p:nvPr/>
        </p:nvSpPr>
        <p:spPr>
          <a:xfrm>
            <a:off x="4828032" y="5559552"/>
            <a:ext cx="841248" cy="246888"/>
          </a:xfrm>
          <a:prstGeom prst="rect">
            <a:avLst/>
          </a:prstGeom>
          <a:solidFill>
            <a:srgbClr val="F7F9FB"/>
          </a:solidFill>
          <a:ln w="6350">
            <a:solidFill>
              <a:srgbClr val="D3DCE5"/>
            </a:solidFill>
            <a:prstDash val="solid"/>
          </a:ln>
        </p:spPr>
      </p:sp>
      <p:sp>
        <p:nvSpPr>
          <p:cNvPr id="104" name="Text 102"/>
          <p:cNvSpPr txBox="1"/>
          <p:nvPr/>
        </p:nvSpPr>
        <p:spPr>
          <a:xfrm>
            <a:off x="4828032" y="5559552"/>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9.19</a:t>
            </a:r>
            <a:endParaRPr lang="en-US" sz="820" dirty="0"/>
          </a:p>
        </p:txBody>
      </p:sp>
      <p:sp>
        <p:nvSpPr>
          <p:cNvPr id="105" name="Shape 103"/>
          <p:cNvSpPr/>
          <p:nvPr/>
        </p:nvSpPr>
        <p:spPr>
          <a:xfrm>
            <a:off x="411480" y="5806440"/>
            <a:ext cx="1033272" cy="246888"/>
          </a:xfrm>
          <a:prstGeom prst="rect">
            <a:avLst/>
          </a:prstGeom>
          <a:solidFill>
            <a:srgbClr val="10233A"/>
          </a:solidFill>
          <a:ln/>
        </p:spPr>
      </p:sp>
      <p:sp>
        <p:nvSpPr>
          <p:cNvPr id="106" name="Text 104"/>
          <p:cNvSpPr txBox="1"/>
          <p:nvPr/>
        </p:nvSpPr>
        <p:spPr>
          <a:xfrm>
            <a:off x="411480" y="5806440"/>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107" name="Shape 105"/>
          <p:cNvSpPr/>
          <p:nvPr/>
        </p:nvSpPr>
        <p:spPr>
          <a:xfrm>
            <a:off x="1463040" y="5806440"/>
            <a:ext cx="841248" cy="246888"/>
          </a:xfrm>
          <a:prstGeom prst="rect">
            <a:avLst/>
          </a:prstGeom>
          <a:solidFill>
            <a:srgbClr val="F7E2E2"/>
          </a:solidFill>
          <a:ln w="6350">
            <a:solidFill>
              <a:srgbClr val="D3DCE5"/>
            </a:solidFill>
            <a:prstDash val="solid"/>
          </a:ln>
        </p:spPr>
      </p:sp>
      <p:sp>
        <p:nvSpPr>
          <p:cNvPr id="108" name="Text 106"/>
          <p:cNvSpPr txBox="1"/>
          <p:nvPr/>
        </p:nvSpPr>
        <p:spPr>
          <a:xfrm>
            <a:off x="1463040" y="5806440"/>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3.26</a:t>
            </a:r>
            <a:endParaRPr lang="en-US" sz="820" dirty="0"/>
          </a:p>
        </p:txBody>
      </p:sp>
      <p:sp>
        <p:nvSpPr>
          <p:cNvPr id="109" name="Shape 107"/>
          <p:cNvSpPr/>
          <p:nvPr/>
        </p:nvSpPr>
        <p:spPr>
          <a:xfrm>
            <a:off x="2304288" y="5806440"/>
            <a:ext cx="841248" cy="246888"/>
          </a:xfrm>
          <a:prstGeom prst="rect">
            <a:avLst/>
          </a:prstGeom>
          <a:solidFill>
            <a:srgbClr val="F7E2E2"/>
          </a:solidFill>
          <a:ln w="6350">
            <a:solidFill>
              <a:srgbClr val="D3DCE5"/>
            </a:solidFill>
            <a:prstDash val="solid"/>
          </a:ln>
        </p:spPr>
      </p:sp>
      <p:sp>
        <p:nvSpPr>
          <p:cNvPr id="110" name="Text 108"/>
          <p:cNvSpPr txBox="1"/>
          <p:nvPr/>
        </p:nvSpPr>
        <p:spPr>
          <a:xfrm>
            <a:off x="2304288" y="5806440"/>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4.70</a:t>
            </a:r>
            <a:endParaRPr lang="en-US" sz="820" dirty="0"/>
          </a:p>
        </p:txBody>
      </p:sp>
      <p:sp>
        <p:nvSpPr>
          <p:cNvPr id="111" name="Shape 109"/>
          <p:cNvSpPr/>
          <p:nvPr/>
        </p:nvSpPr>
        <p:spPr>
          <a:xfrm>
            <a:off x="3145536" y="5806440"/>
            <a:ext cx="841248" cy="246888"/>
          </a:xfrm>
          <a:prstGeom prst="rect">
            <a:avLst/>
          </a:prstGeom>
          <a:solidFill>
            <a:srgbClr val="F7F9FB"/>
          </a:solidFill>
          <a:ln w="6350">
            <a:solidFill>
              <a:srgbClr val="D3DCE5"/>
            </a:solidFill>
            <a:prstDash val="solid"/>
          </a:ln>
        </p:spPr>
      </p:sp>
      <p:sp>
        <p:nvSpPr>
          <p:cNvPr id="112" name="Text 110"/>
          <p:cNvSpPr txBox="1"/>
          <p:nvPr/>
        </p:nvSpPr>
        <p:spPr>
          <a:xfrm>
            <a:off x="3145536" y="5806440"/>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6.14</a:t>
            </a:r>
            <a:endParaRPr lang="en-US" sz="820" dirty="0"/>
          </a:p>
        </p:txBody>
      </p:sp>
      <p:sp>
        <p:nvSpPr>
          <p:cNvPr id="113" name="Shape 111"/>
          <p:cNvSpPr/>
          <p:nvPr/>
        </p:nvSpPr>
        <p:spPr>
          <a:xfrm>
            <a:off x="3986784" y="5806440"/>
            <a:ext cx="841248" cy="246888"/>
          </a:xfrm>
          <a:prstGeom prst="rect">
            <a:avLst/>
          </a:prstGeom>
          <a:solidFill>
            <a:srgbClr val="F7F9FB"/>
          </a:solidFill>
          <a:ln w="6350">
            <a:solidFill>
              <a:srgbClr val="D3DCE5"/>
            </a:solidFill>
            <a:prstDash val="solid"/>
          </a:ln>
        </p:spPr>
      </p:sp>
      <p:sp>
        <p:nvSpPr>
          <p:cNvPr id="114" name="Text 112"/>
          <p:cNvSpPr txBox="1"/>
          <p:nvPr/>
        </p:nvSpPr>
        <p:spPr>
          <a:xfrm>
            <a:off x="3986784" y="5806440"/>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7.57</a:t>
            </a:r>
            <a:endParaRPr lang="en-US" sz="820" dirty="0"/>
          </a:p>
        </p:txBody>
      </p:sp>
      <p:sp>
        <p:nvSpPr>
          <p:cNvPr id="115" name="Shape 113"/>
          <p:cNvSpPr/>
          <p:nvPr/>
        </p:nvSpPr>
        <p:spPr>
          <a:xfrm>
            <a:off x="4828032" y="5806440"/>
            <a:ext cx="841248" cy="246888"/>
          </a:xfrm>
          <a:prstGeom prst="rect">
            <a:avLst/>
          </a:prstGeom>
          <a:solidFill>
            <a:srgbClr val="F7F9FB"/>
          </a:solidFill>
          <a:ln w="6350">
            <a:solidFill>
              <a:srgbClr val="D3DCE5"/>
            </a:solidFill>
            <a:prstDash val="solid"/>
          </a:ln>
        </p:spPr>
      </p:sp>
      <p:sp>
        <p:nvSpPr>
          <p:cNvPr id="116" name="Text 114"/>
          <p:cNvSpPr txBox="1"/>
          <p:nvPr/>
        </p:nvSpPr>
        <p:spPr>
          <a:xfrm>
            <a:off x="4828032" y="5806440"/>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9.01</a:t>
            </a:r>
            <a:endParaRPr lang="en-US" sz="820" dirty="0"/>
          </a:p>
        </p:txBody>
      </p:sp>
      <p:sp>
        <p:nvSpPr>
          <p:cNvPr id="117" name="Shape 115"/>
          <p:cNvSpPr/>
          <p:nvPr/>
        </p:nvSpPr>
        <p:spPr>
          <a:xfrm>
            <a:off x="6080760" y="4572000"/>
            <a:ext cx="5705856" cy="1481328"/>
          </a:xfrm>
          <a:prstGeom prst="rect">
            <a:avLst/>
          </a:prstGeom>
          <a:solidFill>
            <a:srgbClr val="EEF2F6"/>
          </a:solidFill>
          <a:ln w="9525">
            <a:solidFill>
              <a:srgbClr val="D3DCE5"/>
            </a:solidFill>
            <a:prstDash val="solid"/>
          </a:ln>
        </p:spPr>
      </p:sp>
      <p:sp>
        <p:nvSpPr>
          <p:cNvPr id="118" name="Text 116"/>
          <p:cNvSpPr txBox="1"/>
          <p:nvPr/>
        </p:nvSpPr>
        <p:spPr>
          <a:xfrm>
            <a:off x="6245352" y="4700016"/>
            <a:ext cx="537667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has to be true</a:t>
            </a:r>
            <a:endParaRPr lang="en-US" sz="1150" dirty="0"/>
          </a:p>
        </p:txBody>
      </p:sp>
      <p:sp>
        <p:nvSpPr>
          <p:cNvPr id="119" name="Text 117"/>
          <p:cNvSpPr txBox="1"/>
          <p:nvPr/>
        </p:nvSpPr>
        <p:spPr>
          <a:xfrm>
            <a:off x="6245352" y="5029200"/>
            <a:ext cx="5376672"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Read across the top for the commodity call and down the side for operational delivery. Shaded cells are below the current price.</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PLS needs realised prices no worse than about 8% below our base case to justify today's price. Our base case is already 11% below spot-implied realisation and 19% below the June-2026 quarter. The pitch does not need the price to rise. It needs the price not to fall by a fifth.</a:t>
            </a:r>
            <a:endParaRPr lang="en-US" sz="900" dirty="0"/>
          </a:p>
        </p:txBody>
      </p:sp>
      <p:sp>
        <p:nvSpPr>
          <p:cNvPr id="120" name="Text 11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Football Field and Sensitivity sheets. Broker target range is the full individual analyst spread across 17-20 analysts; vendor averages cluster A$4.50-5.70. Our A$6.12 sits inside the individual range and below the most bullish.</a:t>
            </a:r>
            <a:endParaRPr lang="en-US" sz="750" dirty="0"/>
          </a:p>
        </p:txBody>
      </p:sp>
      <p:sp>
        <p:nvSpPr>
          <p:cNvPr id="121" name="Text 11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What would break this, and what would tell us first</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Every risk below has a named early-warning indicator, because a risk you cannot observe is not one you can manage.</a:t>
            </a:r>
            <a:endParaRPr lang="en-US" sz="1200" dirty="0"/>
          </a:p>
        </p:txBody>
      </p:sp>
      <p:sp>
        <p:nvSpPr>
          <p:cNvPr id="13" name="Shape 11"/>
          <p:cNvSpPr/>
          <p:nvPr/>
        </p:nvSpPr>
        <p:spPr>
          <a:xfrm>
            <a:off x="411480" y="1627632"/>
            <a:ext cx="2514600" cy="292608"/>
          </a:xfrm>
          <a:prstGeom prst="rect">
            <a:avLst/>
          </a:prstGeom>
          <a:solidFill>
            <a:srgbClr val="10233A"/>
          </a:solidFill>
          <a:ln/>
        </p:spPr>
      </p:sp>
      <p:sp>
        <p:nvSpPr>
          <p:cNvPr id="14" name="Text 12"/>
          <p:cNvSpPr txBox="1"/>
          <p:nvPr/>
        </p:nvSpPr>
        <p:spPr>
          <a:xfrm>
            <a:off x="475488" y="1627632"/>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15" name="Shape 13"/>
          <p:cNvSpPr/>
          <p:nvPr/>
        </p:nvSpPr>
        <p:spPr>
          <a:xfrm>
            <a:off x="2926080" y="1627632"/>
            <a:ext cx="3520440" cy="292608"/>
          </a:xfrm>
          <a:prstGeom prst="rect">
            <a:avLst/>
          </a:prstGeom>
          <a:solidFill>
            <a:srgbClr val="10233A"/>
          </a:solidFill>
          <a:ln/>
        </p:spPr>
      </p:sp>
      <p:sp>
        <p:nvSpPr>
          <p:cNvPr id="16" name="Text 14"/>
          <p:cNvSpPr txBox="1"/>
          <p:nvPr/>
        </p:nvSpPr>
        <p:spPr>
          <a:xfrm>
            <a:off x="2990088" y="1627632"/>
            <a:ext cx="3392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bites</a:t>
            </a:r>
            <a:endParaRPr lang="en-US" sz="900" dirty="0"/>
          </a:p>
        </p:txBody>
      </p:sp>
      <p:sp>
        <p:nvSpPr>
          <p:cNvPr id="17" name="Shape 15"/>
          <p:cNvSpPr/>
          <p:nvPr/>
        </p:nvSpPr>
        <p:spPr>
          <a:xfrm>
            <a:off x="6446520" y="1627632"/>
            <a:ext cx="2834640" cy="292608"/>
          </a:xfrm>
          <a:prstGeom prst="rect">
            <a:avLst/>
          </a:prstGeom>
          <a:solidFill>
            <a:srgbClr val="10233A"/>
          </a:solidFill>
          <a:ln/>
        </p:spPr>
      </p:sp>
      <p:sp>
        <p:nvSpPr>
          <p:cNvPr id="18" name="Text 16"/>
          <p:cNvSpPr txBox="1"/>
          <p:nvPr/>
        </p:nvSpPr>
        <p:spPr>
          <a:xfrm>
            <a:off x="6510528" y="1627632"/>
            <a:ext cx="2706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Mitigant</a:t>
            </a:r>
            <a:endParaRPr lang="en-US" sz="900" dirty="0"/>
          </a:p>
        </p:txBody>
      </p:sp>
      <p:sp>
        <p:nvSpPr>
          <p:cNvPr id="19" name="Shape 17"/>
          <p:cNvSpPr/>
          <p:nvPr/>
        </p:nvSpPr>
        <p:spPr>
          <a:xfrm>
            <a:off x="9281160" y="1627632"/>
            <a:ext cx="2505456" cy="292608"/>
          </a:xfrm>
          <a:prstGeom prst="rect">
            <a:avLst/>
          </a:prstGeom>
          <a:solidFill>
            <a:srgbClr val="10233A"/>
          </a:solidFill>
          <a:ln/>
        </p:spPr>
      </p:sp>
      <p:sp>
        <p:nvSpPr>
          <p:cNvPr id="20" name="Text 18"/>
          <p:cNvSpPr txBox="1"/>
          <p:nvPr/>
        </p:nvSpPr>
        <p:spPr>
          <a:xfrm>
            <a:off x="9345168" y="1627632"/>
            <a:ext cx="23774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early warning</a:t>
            </a:r>
            <a:endParaRPr lang="en-US" sz="900" dirty="0"/>
          </a:p>
        </p:txBody>
      </p:sp>
      <p:sp>
        <p:nvSpPr>
          <p:cNvPr id="21" name="Shape 19"/>
          <p:cNvSpPr/>
          <p:nvPr/>
        </p:nvSpPr>
        <p:spPr>
          <a:xfrm>
            <a:off x="411480" y="1920240"/>
            <a:ext cx="2514600" cy="557784"/>
          </a:xfrm>
          <a:prstGeom prst="rect">
            <a:avLst/>
          </a:prstGeom>
          <a:solidFill>
            <a:srgbClr val="FFFFFF"/>
          </a:solidFill>
          <a:ln w="6350">
            <a:solidFill>
              <a:srgbClr val="D3DCE5"/>
            </a:solidFill>
            <a:prstDash val="solid"/>
          </a:ln>
        </p:spPr>
      </p:sp>
      <p:sp>
        <p:nvSpPr>
          <p:cNvPr id="22" name="Text 20"/>
          <p:cNvSpPr txBox="1"/>
          <p:nvPr/>
        </p:nvSpPr>
        <p:spPr>
          <a:xfrm>
            <a:off x="475488" y="1920240"/>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Price relapse</a:t>
            </a:r>
            <a:endParaRPr lang="en-US" sz="830" dirty="0"/>
          </a:p>
        </p:txBody>
      </p:sp>
      <p:sp>
        <p:nvSpPr>
          <p:cNvPr id="23" name="Shape 21"/>
          <p:cNvSpPr/>
          <p:nvPr/>
        </p:nvSpPr>
        <p:spPr>
          <a:xfrm>
            <a:off x="2926080" y="1920240"/>
            <a:ext cx="3520440" cy="557784"/>
          </a:xfrm>
          <a:prstGeom prst="rect">
            <a:avLst/>
          </a:prstGeom>
          <a:solidFill>
            <a:srgbClr val="FFFFFF"/>
          </a:solidFill>
          <a:ln w="6350">
            <a:solidFill>
              <a:srgbClr val="D3DCE5"/>
            </a:solidFill>
            <a:prstDash val="solid"/>
          </a:ln>
        </p:spPr>
      </p:sp>
      <p:sp>
        <p:nvSpPr>
          <p:cNvPr id="24" name="Text 22"/>
          <p:cNvSpPr txBox="1"/>
          <p:nvPr/>
        </p:nvSpPr>
        <p:spPr>
          <a:xfrm>
            <a:off x="2990088" y="1920240"/>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Restart supply from Bald Hill, Finniss and Jianxiawo overwhelms demand and spodumene revisits the 2025 trough. Wood Mackenzie's base case says surplus until the early 2030s.</a:t>
            </a:r>
            <a:endParaRPr lang="en-US" sz="830" dirty="0"/>
          </a:p>
        </p:txBody>
      </p:sp>
      <p:sp>
        <p:nvSpPr>
          <p:cNvPr id="25" name="Shape 23"/>
          <p:cNvSpPr/>
          <p:nvPr/>
        </p:nvSpPr>
        <p:spPr>
          <a:xfrm>
            <a:off x="6446520" y="1920240"/>
            <a:ext cx="2834640" cy="557784"/>
          </a:xfrm>
          <a:prstGeom prst="rect">
            <a:avLst/>
          </a:prstGeom>
          <a:solidFill>
            <a:srgbClr val="FFFFFF"/>
          </a:solidFill>
          <a:ln w="6350">
            <a:solidFill>
              <a:srgbClr val="D3DCE5"/>
            </a:solidFill>
            <a:prstDash val="solid"/>
          </a:ln>
        </p:spPr>
      </p:sp>
      <p:sp>
        <p:nvSpPr>
          <p:cNvPr id="26" name="Text 24"/>
          <p:cNvSpPr txBox="1"/>
          <p:nvPr/>
        </p:nvSpPr>
        <p:spPr>
          <a:xfrm>
            <a:off x="6510528" y="1920240"/>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PLS earns cash where roughly a quarter of world supply does not, and holds A$2.29bn to wait.</a:t>
            </a:r>
            <a:endParaRPr lang="en-US" sz="830" dirty="0"/>
          </a:p>
        </p:txBody>
      </p:sp>
      <p:sp>
        <p:nvSpPr>
          <p:cNvPr id="27" name="Shape 25"/>
          <p:cNvSpPr/>
          <p:nvPr/>
        </p:nvSpPr>
        <p:spPr>
          <a:xfrm>
            <a:off x="9281160" y="1920240"/>
            <a:ext cx="2505456" cy="557784"/>
          </a:xfrm>
          <a:prstGeom prst="rect">
            <a:avLst/>
          </a:prstGeom>
          <a:solidFill>
            <a:srgbClr val="FFFFFF"/>
          </a:solidFill>
          <a:ln w="6350">
            <a:solidFill>
              <a:srgbClr val="D3DCE5"/>
            </a:solidFill>
            <a:prstDash val="solid"/>
          </a:ln>
        </p:spPr>
      </p:sp>
      <p:sp>
        <p:nvSpPr>
          <p:cNvPr id="28" name="Text 26"/>
          <p:cNvSpPr txBox="1"/>
          <p:nvPr/>
        </p:nvSpPr>
        <p:spPr>
          <a:xfrm>
            <a:off x="9345168" y="1920240"/>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Monthly SpodIX prints and Chinese carbonate inventory days.</a:t>
            </a:r>
            <a:endParaRPr lang="en-US" sz="830" dirty="0"/>
          </a:p>
        </p:txBody>
      </p:sp>
      <p:sp>
        <p:nvSpPr>
          <p:cNvPr id="29" name="Shape 27"/>
          <p:cNvSpPr/>
          <p:nvPr/>
        </p:nvSpPr>
        <p:spPr>
          <a:xfrm>
            <a:off x="411480" y="2478024"/>
            <a:ext cx="2514600" cy="557784"/>
          </a:xfrm>
          <a:prstGeom prst="rect">
            <a:avLst/>
          </a:prstGeom>
          <a:solidFill>
            <a:srgbClr val="F7F9FB"/>
          </a:solidFill>
          <a:ln w="6350">
            <a:solidFill>
              <a:srgbClr val="D3DCE5"/>
            </a:solidFill>
            <a:prstDash val="solid"/>
          </a:ln>
        </p:spPr>
      </p:sp>
      <p:sp>
        <p:nvSpPr>
          <p:cNvPr id="30" name="Text 28"/>
          <p:cNvSpPr txBox="1"/>
          <p:nvPr/>
        </p:nvSpPr>
        <p:spPr>
          <a:xfrm>
            <a:off x="475488" y="2478024"/>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The re-rating is spent</a:t>
            </a:r>
            <a:endParaRPr lang="en-US" sz="830" dirty="0"/>
          </a:p>
        </p:txBody>
      </p:sp>
      <p:sp>
        <p:nvSpPr>
          <p:cNvPr id="31" name="Shape 29"/>
          <p:cNvSpPr/>
          <p:nvPr/>
        </p:nvSpPr>
        <p:spPr>
          <a:xfrm>
            <a:off x="2926080" y="2478024"/>
            <a:ext cx="3520440" cy="557784"/>
          </a:xfrm>
          <a:prstGeom prst="rect">
            <a:avLst/>
          </a:prstGeom>
          <a:solidFill>
            <a:srgbClr val="F7F9FB"/>
          </a:solidFill>
          <a:ln w="6350">
            <a:solidFill>
              <a:srgbClr val="D3DCE5"/>
            </a:solidFill>
            <a:prstDash val="solid"/>
          </a:ln>
        </p:spPr>
      </p:sp>
      <p:sp>
        <p:nvSpPr>
          <p:cNvPr id="32" name="Text 30"/>
          <p:cNvSpPr txBox="1"/>
          <p:nvPr/>
        </p:nvSpPr>
        <p:spPr>
          <a:xfrm>
            <a:off x="2990088" y="2478024"/>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Short interest fell from about 20% of shares - the most shorted stock on the ASX - to about 6.8%. Much of the tripling was covering, and that buyer is now gone.</a:t>
            </a:r>
            <a:endParaRPr lang="en-US" sz="830" dirty="0"/>
          </a:p>
        </p:txBody>
      </p:sp>
      <p:sp>
        <p:nvSpPr>
          <p:cNvPr id="33" name="Shape 31"/>
          <p:cNvSpPr/>
          <p:nvPr/>
        </p:nvSpPr>
        <p:spPr>
          <a:xfrm>
            <a:off x="6446520" y="2478024"/>
            <a:ext cx="2834640" cy="557784"/>
          </a:xfrm>
          <a:prstGeom prst="rect">
            <a:avLst/>
          </a:prstGeom>
          <a:solidFill>
            <a:srgbClr val="F7F9FB"/>
          </a:solidFill>
          <a:ln w="6350">
            <a:solidFill>
              <a:srgbClr val="D3DCE5"/>
            </a:solidFill>
            <a:prstDash val="solid"/>
          </a:ln>
        </p:spPr>
      </p:sp>
      <p:sp>
        <p:nvSpPr>
          <p:cNvPr id="34" name="Text 32"/>
          <p:cNvSpPr txBox="1"/>
          <p:nvPr/>
        </p:nvSpPr>
        <p:spPr>
          <a:xfrm>
            <a:off x="6510528" y="2478024"/>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We do not underwrite another squeeze. The target rests on earnings and the growth option, not on flow.</a:t>
            </a:r>
            <a:endParaRPr lang="en-US" sz="830" dirty="0"/>
          </a:p>
        </p:txBody>
      </p:sp>
      <p:sp>
        <p:nvSpPr>
          <p:cNvPr id="35" name="Shape 33"/>
          <p:cNvSpPr/>
          <p:nvPr/>
        </p:nvSpPr>
        <p:spPr>
          <a:xfrm>
            <a:off x="9281160" y="2478024"/>
            <a:ext cx="2505456" cy="557784"/>
          </a:xfrm>
          <a:prstGeom prst="rect">
            <a:avLst/>
          </a:prstGeom>
          <a:solidFill>
            <a:srgbClr val="F7F9FB"/>
          </a:solidFill>
          <a:ln w="6350">
            <a:solidFill>
              <a:srgbClr val="D3DCE5"/>
            </a:solidFill>
            <a:prstDash val="solid"/>
          </a:ln>
        </p:spPr>
      </p:sp>
      <p:sp>
        <p:nvSpPr>
          <p:cNvPr id="36" name="Text 34"/>
          <p:cNvSpPr txBox="1"/>
          <p:nvPr/>
        </p:nvSpPr>
        <p:spPr>
          <a:xfrm>
            <a:off x="9345168" y="2478024"/>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ASIC short position reports; a re-build above 10% would be a warning.</a:t>
            </a:r>
            <a:endParaRPr lang="en-US" sz="830" dirty="0"/>
          </a:p>
        </p:txBody>
      </p:sp>
      <p:sp>
        <p:nvSpPr>
          <p:cNvPr id="37" name="Shape 35"/>
          <p:cNvSpPr/>
          <p:nvPr/>
        </p:nvSpPr>
        <p:spPr>
          <a:xfrm>
            <a:off x="411480" y="3035808"/>
            <a:ext cx="2514600" cy="557784"/>
          </a:xfrm>
          <a:prstGeom prst="rect">
            <a:avLst/>
          </a:prstGeom>
          <a:solidFill>
            <a:srgbClr val="FFFFFF"/>
          </a:solidFill>
          <a:ln w="6350">
            <a:solidFill>
              <a:srgbClr val="D3DCE5"/>
            </a:solidFill>
            <a:prstDash val="solid"/>
          </a:ln>
        </p:spPr>
      </p:sp>
      <p:sp>
        <p:nvSpPr>
          <p:cNvPr id="38" name="Text 36"/>
          <p:cNvSpPr txBox="1"/>
          <p:nvPr/>
        </p:nvSpPr>
        <p:spPr>
          <a:xfrm>
            <a:off x="475488" y="3035808"/>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P2000 slips or is shelved</a:t>
            </a:r>
            <a:endParaRPr lang="en-US" sz="830" dirty="0"/>
          </a:p>
        </p:txBody>
      </p:sp>
      <p:sp>
        <p:nvSpPr>
          <p:cNvPr id="39" name="Shape 37"/>
          <p:cNvSpPr/>
          <p:nvPr/>
        </p:nvSpPr>
        <p:spPr>
          <a:xfrm>
            <a:off x="2926080" y="3035808"/>
            <a:ext cx="3520440" cy="557784"/>
          </a:xfrm>
          <a:prstGeom prst="rect">
            <a:avLst/>
          </a:prstGeom>
          <a:solidFill>
            <a:srgbClr val="FFFFFF"/>
          </a:solidFill>
          <a:ln w="6350">
            <a:solidFill>
              <a:srgbClr val="D3DCE5"/>
            </a:solidFill>
            <a:prstDash val="solid"/>
          </a:ln>
        </p:spPr>
      </p:sp>
      <p:sp>
        <p:nvSpPr>
          <p:cNvPr id="40" name="Text 38"/>
          <p:cNvSpPr txBox="1"/>
          <p:nvPr/>
        </p:nvSpPr>
        <p:spPr>
          <a:xfrm>
            <a:off x="2990088" y="3035808"/>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DFS is due in the December 2026 quarter and no FID has been taken. Our base case assumes first ore in mid-2029.</a:t>
            </a:r>
            <a:endParaRPr lang="en-US" sz="830" dirty="0"/>
          </a:p>
        </p:txBody>
      </p:sp>
      <p:sp>
        <p:nvSpPr>
          <p:cNvPr id="41" name="Shape 39"/>
          <p:cNvSpPr/>
          <p:nvPr/>
        </p:nvSpPr>
        <p:spPr>
          <a:xfrm>
            <a:off x="6446520" y="3035808"/>
            <a:ext cx="2834640" cy="557784"/>
          </a:xfrm>
          <a:prstGeom prst="rect">
            <a:avLst/>
          </a:prstGeom>
          <a:solidFill>
            <a:srgbClr val="FFFFFF"/>
          </a:solidFill>
          <a:ln w="6350">
            <a:solidFill>
              <a:srgbClr val="D3DCE5"/>
            </a:solidFill>
            <a:prstDash val="solid"/>
          </a:ln>
        </p:spPr>
      </p:sp>
      <p:sp>
        <p:nvSpPr>
          <p:cNvPr id="42" name="Text 40"/>
          <p:cNvSpPr txBox="1"/>
          <p:nvPr/>
        </p:nvSpPr>
        <p:spPr>
          <a:xfrm>
            <a:off x="6510528" y="3035808"/>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A$175m of pre-FID capital is already committed and the balance sheet can fund the A$1.2bn build.</a:t>
            </a:r>
            <a:endParaRPr lang="en-US" sz="830" dirty="0"/>
          </a:p>
        </p:txBody>
      </p:sp>
      <p:sp>
        <p:nvSpPr>
          <p:cNvPr id="43" name="Shape 41"/>
          <p:cNvSpPr/>
          <p:nvPr/>
        </p:nvSpPr>
        <p:spPr>
          <a:xfrm>
            <a:off x="9281160" y="3035808"/>
            <a:ext cx="2505456" cy="557784"/>
          </a:xfrm>
          <a:prstGeom prst="rect">
            <a:avLst/>
          </a:prstGeom>
          <a:solidFill>
            <a:srgbClr val="FFFFFF"/>
          </a:solidFill>
          <a:ln w="6350">
            <a:solidFill>
              <a:srgbClr val="D3DCE5"/>
            </a:solidFill>
            <a:prstDash val="solid"/>
          </a:ln>
        </p:spPr>
      </p:sp>
      <p:sp>
        <p:nvSpPr>
          <p:cNvPr id="44" name="Text 42"/>
          <p:cNvSpPr txBox="1"/>
          <p:nvPr/>
        </p:nvSpPr>
        <p:spPr>
          <a:xfrm>
            <a:off x="9345168" y="3035808"/>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December quarter study outcome, and the FID decision itself.</a:t>
            </a:r>
            <a:endParaRPr lang="en-US" sz="830" dirty="0"/>
          </a:p>
        </p:txBody>
      </p:sp>
      <p:sp>
        <p:nvSpPr>
          <p:cNvPr id="45" name="Shape 43"/>
          <p:cNvSpPr/>
          <p:nvPr/>
        </p:nvSpPr>
        <p:spPr>
          <a:xfrm>
            <a:off x="411480" y="3593592"/>
            <a:ext cx="2514600" cy="557784"/>
          </a:xfrm>
          <a:prstGeom prst="rect">
            <a:avLst/>
          </a:prstGeom>
          <a:solidFill>
            <a:srgbClr val="F7F9FB"/>
          </a:solidFill>
          <a:ln w="6350">
            <a:solidFill>
              <a:srgbClr val="D3DCE5"/>
            </a:solidFill>
            <a:prstDash val="solid"/>
          </a:ln>
        </p:spPr>
      </p:sp>
      <p:sp>
        <p:nvSpPr>
          <p:cNvPr id="46" name="Text 44"/>
          <p:cNvSpPr txBox="1"/>
          <p:nvPr/>
        </p:nvSpPr>
        <p:spPr>
          <a:xfrm>
            <a:off x="475488" y="3593592"/>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Single asset, single commodity</a:t>
            </a:r>
            <a:endParaRPr lang="en-US" sz="830" dirty="0"/>
          </a:p>
        </p:txBody>
      </p:sp>
      <p:sp>
        <p:nvSpPr>
          <p:cNvPr id="47" name="Shape 45"/>
          <p:cNvSpPr/>
          <p:nvPr/>
        </p:nvSpPr>
        <p:spPr>
          <a:xfrm>
            <a:off x="2926080" y="3593592"/>
            <a:ext cx="3520440" cy="557784"/>
          </a:xfrm>
          <a:prstGeom prst="rect">
            <a:avLst/>
          </a:prstGeom>
          <a:solidFill>
            <a:srgbClr val="F7F9FB"/>
          </a:solidFill>
          <a:ln w="6350">
            <a:solidFill>
              <a:srgbClr val="D3DCE5"/>
            </a:solidFill>
            <a:prstDash val="solid"/>
          </a:ln>
        </p:spPr>
      </p:sp>
      <p:sp>
        <p:nvSpPr>
          <p:cNvPr id="48" name="Text 46"/>
          <p:cNvSpPr txBox="1"/>
          <p:nvPr/>
        </p:nvSpPr>
        <p:spPr>
          <a:xfrm>
            <a:off x="2990088" y="3593592"/>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One orebody in one jurisdiction, and one price series that has moved by a factor of three in two years.</a:t>
            </a:r>
            <a:endParaRPr lang="en-US" sz="830" dirty="0"/>
          </a:p>
        </p:txBody>
      </p:sp>
      <p:sp>
        <p:nvSpPr>
          <p:cNvPr id="49" name="Shape 47"/>
          <p:cNvSpPr/>
          <p:nvPr/>
        </p:nvSpPr>
        <p:spPr>
          <a:xfrm>
            <a:off x="6446520" y="3593592"/>
            <a:ext cx="2834640" cy="557784"/>
          </a:xfrm>
          <a:prstGeom prst="rect">
            <a:avLst/>
          </a:prstGeom>
          <a:solidFill>
            <a:srgbClr val="F7F9FB"/>
          </a:solidFill>
          <a:ln w="6350">
            <a:solidFill>
              <a:srgbClr val="D3DCE5"/>
            </a:solidFill>
            <a:prstDash val="solid"/>
          </a:ln>
        </p:spPr>
      </p:sp>
      <p:sp>
        <p:nvSpPr>
          <p:cNvPr id="50" name="Text 48"/>
          <p:cNvSpPr txBox="1"/>
          <p:nvPr/>
        </p:nvSpPr>
        <p:spPr>
          <a:xfrm>
            <a:off x="6510528" y="3593592"/>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Colina adds a second jurisdiction from the 2030s. It is risked at 40% in our NAV and contributes nothing before FY32.</a:t>
            </a:r>
            <a:endParaRPr lang="en-US" sz="830" dirty="0"/>
          </a:p>
        </p:txBody>
      </p:sp>
      <p:sp>
        <p:nvSpPr>
          <p:cNvPr id="51" name="Shape 49"/>
          <p:cNvSpPr/>
          <p:nvPr/>
        </p:nvSpPr>
        <p:spPr>
          <a:xfrm>
            <a:off x="9281160" y="3593592"/>
            <a:ext cx="2505456" cy="557784"/>
          </a:xfrm>
          <a:prstGeom prst="rect">
            <a:avLst/>
          </a:prstGeom>
          <a:solidFill>
            <a:srgbClr val="F7F9FB"/>
          </a:solidFill>
          <a:ln w="6350">
            <a:solidFill>
              <a:srgbClr val="D3DCE5"/>
            </a:solidFill>
            <a:prstDash val="solid"/>
          </a:ln>
        </p:spPr>
      </p:sp>
      <p:sp>
        <p:nvSpPr>
          <p:cNvPr id="52" name="Text 50"/>
          <p:cNvSpPr txBox="1"/>
          <p:nvPr/>
        </p:nvSpPr>
        <p:spPr>
          <a:xfrm>
            <a:off x="9345168" y="3593592"/>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Any operational interruption at Pilgangoora; Pilbara weather and cyclone season.</a:t>
            </a:r>
            <a:endParaRPr lang="en-US" sz="830" dirty="0"/>
          </a:p>
        </p:txBody>
      </p:sp>
      <p:sp>
        <p:nvSpPr>
          <p:cNvPr id="53" name="Shape 51"/>
          <p:cNvSpPr/>
          <p:nvPr/>
        </p:nvSpPr>
        <p:spPr>
          <a:xfrm>
            <a:off x="411480" y="4151376"/>
            <a:ext cx="2514600" cy="557784"/>
          </a:xfrm>
          <a:prstGeom prst="rect">
            <a:avLst/>
          </a:prstGeom>
          <a:solidFill>
            <a:srgbClr val="FFFFFF"/>
          </a:solidFill>
          <a:ln w="6350">
            <a:solidFill>
              <a:srgbClr val="D3DCE5"/>
            </a:solidFill>
            <a:prstDash val="solid"/>
          </a:ln>
        </p:spPr>
      </p:sp>
      <p:sp>
        <p:nvSpPr>
          <p:cNvPr id="54" name="Text 52"/>
          <p:cNvSpPr txBox="1"/>
          <p:nvPr/>
        </p:nvSpPr>
        <p:spPr>
          <a:xfrm>
            <a:off x="475488" y="4151376"/>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The carbon premium never arrives</a:t>
            </a:r>
            <a:endParaRPr lang="en-US" sz="830" dirty="0"/>
          </a:p>
        </p:txBody>
      </p:sp>
      <p:sp>
        <p:nvSpPr>
          <p:cNvPr id="55" name="Shape 53"/>
          <p:cNvSpPr/>
          <p:nvPr/>
        </p:nvSpPr>
        <p:spPr>
          <a:xfrm>
            <a:off x="2926080" y="4151376"/>
            <a:ext cx="3520440" cy="557784"/>
          </a:xfrm>
          <a:prstGeom prst="rect">
            <a:avLst/>
          </a:prstGeom>
          <a:solidFill>
            <a:srgbClr val="FFFFFF"/>
          </a:solidFill>
          <a:ln w="6350">
            <a:solidFill>
              <a:srgbClr val="D3DCE5"/>
            </a:solidFill>
            <a:prstDash val="solid"/>
          </a:ln>
        </p:spPr>
      </p:sp>
      <p:sp>
        <p:nvSpPr>
          <p:cNvPr id="56" name="Text 54"/>
          <p:cNvSpPr txBox="1"/>
          <p:nvPr/>
        </p:nvSpPr>
        <p:spPr>
          <a:xfrm>
            <a:off x="2990088" y="4151376"/>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Our level-one thesis assumes carbon intensity becomes a condition of sale. It may stay a preference that nobody pays for.</a:t>
            </a:r>
            <a:endParaRPr lang="en-US" sz="830" dirty="0"/>
          </a:p>
        </p:txBody>
      </p:sp>
      <p:sp>
        <p:nvSpPr>
          <p:cNvPr id="57" name="Shape 55"/>
          <p:cNvSpPr/>
          <p:nvPr/>
        </p:nvSpPr>
        <p:spPr>
          <a:xfrm>
            <a:off x="6446520" y="4151376"/>
            <a:ext cx="2834640" cy="557784"/>
          </a:xfrm>
          <a:prstGeom prst="rect">
            <a:avLst/>
          </a:prstGeom>
          <a:solidFill>
            <a:srgbClr val="FFFFFF"/>
          </a:solidFill>
          <a:ln w="6350">
            <a:solidFill>
              <a:srgbClr val="D3DCE5"/>
            </a:solidFill>
            <a:prstDash val="solid"/>
          </a:ln>
        </p:spPr>
      </p:sp>
      <p:sp>
        <p:nvSpPr>
          <p:cNvPr id="58" name="Text 56"/>
          <p:cNvSpPr txBox="1"/>
          <p:nvPr/>
        </p:nvSpPr>
        <p:spPr>
          <a:xfrm>
            <a:off x="6510528" y="4151376"/>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We have already priced this at zero inside the target and risked it at 25% outside it.</a:t>
            </a:r>
            <a:endParaRPr lang="en-US" sz="830" dirty="0"/>
          </a:p>
        </p:txBody>
      </p:sp>
      <p:sp>
        <p:nvSpPr>
          <p:cNvPr id="59" name="Shape 57"/>
          <p:cNvSpPr/>
          <p:nvPr/>
        </p:nvSpPr>
        <p:spPr>
          <a:xfrm>
            <a:off x="9281160" y="4151376"/>
            <a:ext cx="2505456" cy="557784"/>
          </a:xfrm>
          <a:prstGeom prst="rect">
            <a:avLst/>
          </a:prstGeom>
          <a:solidFill>
            <a:srgbClr val="FFFFFF"/>
          </a:solidFill>
          <a:ln w="6350">
            <a:solidFill>
              <a:srgbClr val="D3DCE5"/>
            </a:solidFill>
            <a:prstDash val="solid"/>
          </a:ln>
        </p:spPr>
      </p:sp>
      <p:sp>
        <p:nvSpPr>
          <p:cNvPr id="60" name="Text 58"/>
          <p:cNvSpPr txBox="1"/>
          <p:nvPr/>
        </p:nvSpPr>
        <p:spPr>
          <a:xfrm>
            <a:off x="9345168" y="4151376"/>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first PLS contract with a disclosed carbon-linked term, or an EU declaration enforcement date.</a:t>
            </a:r>
            <a:endParaRPr lang="en-US" sz="830" dirty="0"/>
          </a:p>
        </p:txBody>
      </p:sp>
      <p:sp>
        <p:nvSpPr>
          <p:cNvPr id="61" name="Shape 59"/>
          <p:cNvSpPr/>
          <p:nvPr/>
        </p:nvSpPr>
        <p:spPr>
          <a:xfrm>
            <a:off x="411480" y="4709160"/>
            <a:ext cx="2514600" cy="557784"/>
          </a:xfrm>
          <a:prstGeom prst="rect">
            <a:avLst/>
          </a:prstGeom>
          <a:solidFill>
            <a:srgbClr val="F7F9FB"/>
          </a:solidFill>
          <a:ln w="6350">
            <a:solidFill>
              <a:srgbClr val="D3DCE5"/>
            </a:solidFill>
            <a:prstDash val="solid"/>
          </a:ln>
        </p:spPr>
      </p:sp>
      <p:sp>
        <p:nvSpPr>
          <p:cNvPr id="62" name="Text 60"/>
          <p:cNvSpPr txBox="1"/>
          <p:nvPr/>
        </p:nvSpPr>
        <p:spPr>
          <a:xfrm>
            <a:off x="475488" y="4709160"/>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Reserve conversion disappoints</a:t>
            </a:r>
            <a:endParaRPr lang="en-US" sz="830" dirty="0"/>
          </a:p>
        </p:txBody>
      </p:sp>
      <p:sp>
        <p:nvSpPr>
          <p:cNvPr id="63" name="Shape 61"/>
          <p:cNvSpPr/>
          <p:nvPr/>
        </p:nvSpPr>
        <p:spPr>
          <a:xfrm>
            <a:off x="2926080" y="4709160"/>
            <a:ext cx="3520440" cy="557784"/>
          </a:xfrm>
          <a:prstGeom prst="rect">
            <a:avLst/>
          </a:prstGeom>
          <a:solidFill>
            <a:srgbClr val="F7F9FB"/>
          </a:solidFill>
          <a:ln w="6350">
            <a:solidFill>
              <a:srgbClr val="D3DCE5"/>
            </a:solidFill>
            <a:prstDash val="solid"/>
          </a:ln>
        </p:spPr>
      </p:sp>
      <p:sp>
        <p:nvSpPr>
          <p:cNvPr id="64" name="Text 62"/>
          <p:cNvSpPr txBox="1"/>
          <p:nvPr/>
        </p:nvSpPr>
        <p:spPr>
          <a:xfrm>
            <a:off x="2990088" y="4709160"/>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Our terminal value assumes 75% of the 446Mt resource converts. The Ore Reserve has not been restated since August 2023.</a:t>
            </a:r>
            <a:endParaRPr lang="en-US" sz="830" dirty="0"/>
          </a:p>
        </p:txBody>
      </p:sp>
      <p:sp>
        <p:nvSpPr>
          <p:cNvPr id="65" name="Shape 63"/>
          <p:cNvSpPr/>
          <p:nvPr/>
        </p:nvSpPr>
        <p:spPr>
          <a:xfrm>
            <a:off x="6446520" y="4709160"/>
            <a:ext cx="2834640" cy="557784"/>
          </a:xfrm>
          <a:prstGeom prst="rect">
            <a:avLst/>
          </a:prstGeom>
          <a:solidFill>
            <a:srgbClr val="F7F9FB"/>
          </a:solidFill>
          <a:ln w="6350">
            <a:solidFill>
              <a:srgbClr val="D3DCE5"/>
            </a:solidFill>
            <a:prstDash val="solid"/>
          </a:ln>
        </p:spPr>
      </p:sp>
      <p:sp>
        <p:nvSpPr>
          <p:cNvPr id="66" name="Text 64"/>
          <p:cNvSpPr txBox="1"/>
          <p:nvPr/>
        </p:nvSpPr>
        <p:spPr>
          <a:xfrm>
            <a:off x="6510528" y="4709160"/>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2025 resource upgrade lifted contained lithium 23%, which supports rather than undermines conversion.</a:t>
            </a:r>
            <a:endParaRPr lang="en-US" sz="830" dirty="0"/>
          </a:p>
        </p:txBody>
      </p:sp>
      <p:sp>
        <p:nvSpPr>
          <p:cNvPr id="67" name="Shape 65"/>
          <p:cNvSpPr/>
          <p:nvPr/>
        </p:nvSpPr>
        <p:spPr>
          <a:xfrm>
            <a:off x="9281160" y="4709160"/>
            <a:ext cx="2505456" cy="557784"/>
          </a:xfrm>
          <a:prstGeom prst="rect">
            <a:avLst/>
          </a:prstGeom>
          <a:solidFill>
            <a:srgbClr val="F7F9FB"/>
          </a:solidFill>
          <a:ln w="6350">
            <a:solidFill>
              <a:srgbClr val="D3DCE5"/>
            </a:solidFill>
            <a:prstDash val="solid"/>
          </a:ln>
        </p:spPr>
      </p:sp>
      <p:sp>
        <p:nvSpPr>
          <p:cNvPr id="68" name="Text 66"/>
          <p:cNvSpPr txBox="1"/>
          <p:nvPr/>
        </p:nvSpPr>
        <p:spPr>
          <a:xfrm>
            <a:off x="9345168" y="4709160"/>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next Ore Reserve statement. A conversion below 60% would cut the target by roughly A$0.40.</a:t>
            </a:r>
            <a:endParaRPr lang="en-US" sz="830" dirty="0"/>
          </a:p>
        </p:txBody>
      </p:sp>
      <p:sp>
        <p:nvSpPr>
          <p:cNvPr id="69" name="Shape 67"/>
          <p:cNvSpPr/>
          <p:nvPr/>
        </p:nvSpPr>
        <p:spPr>
          <a:xfrm>
            <a:off x="411480" y="5239512"/>
            <a:ext cx="11375136" cy="676656"/>
          </a:xfrm>
          <a:prstGeom prst="rect">
            <a:avLst/>
          </a:prstGeom>
          <a:solidFill>
            <a:srgbClr val="FBEBD9"/>
          </a:solidFill>
          <a:ln w="9525">
            <a:solidFill>
              <a:srgbClr val="E8C9A3"/>
            </a:solidFill>
            <a:prstDash val="solid"/>
          </a:ln>
        </p:spPr>
      </p:sp>
      <p:sp>
        <p:nvSpPr>
          <p:cNvPr id="70" name="Text 68"/>
          <p:cNvSpPr txBox="1"/>
          <p:nvPr/>
        </p:nvSpPr>
        <p:spPr>
          <a:xfrm>
            <a:off x="576072" y="5367528"/>
            <a:ext cx="11045952" cy="4572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risk we are most exposed to is the first one, and we have not hedged the language on it. If spodumene averages 20% below our base case across the forecast, the target falls to about A$4.98 and this recommendation is wrong.</a:t>
            </a:r>
            <a:endParaRPr lang="en-US" sz="940" dirty="0"/>
          </a:p>
        </p:txBody>
      </p:sp>
      <p:sp>
        <p:nvSpPr>
          <p:cNvPr id="71" name="Text 6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ASIC short position reports via shortman.com.au (latest retrievable data 26 May 2026); Wood Mackenzie Lithium Energy Transition Outlook, 3 March 2026; PLS disclosures; team valuation model.</a:t>
            </a:r>
            <a:endParaRPr lang="en-US" sz="750" dirty="0"/>
          </a:p>
        </p:txBody>
      </p:sp>
      <p:sp>
        <p:nvSpPr>
          <p:cNvPr id="72" name="Text 7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310896"/>
            <a:ext cx="7315200"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Recommendation</a:t>
            </a:r>
            <a:endParaRPr lang="en-US" sz="3000" dirty="0"/>
          </a:p>
        </p:txBody>
      </p:sp>
      <p:sp>
        <p:nvSpPr>
          <p:cNvPr id="3" name="Shape 1"/>
          <p:cNvSpPr/>
          <p:nvPr/>
        </p:nvSpPr>
        <p:spPr>
          <a:xfrm>
            <a:off x="411480" y="1005840"/>
            <a:ext cx="3246120" cy="2011680"/>
          </a:xfrm>
          <a:prstGeom prst="rect">
            <a:avLst/>
          </a:prstGeom>
          <a:solidFill>
            <a:srgbClr val="0E7C6B"/>
          </a:solidFill>
          <a:ln/>
        </p:spPr>
      </p:sp>
      <p:sp>
        <p:nvSpPr>
          <p:cNvPr id="4" name="Text 2"/>
          <p:cNvSpPr txBox="1"/>
          <p:nvPr/>
        </p:nvSpPr>
        <p:spPr>
          <a:xfrm>
            <a:off x="411480" y="1115568"/>
            <a:ext cx="3246120" cy="731520"/>
          </a:xfrm>
          <a:prstGeom prst="rect">
            <a:avLst/>
          </a:prstGeom>
          <a:noFill/>
          <a:ln/>
        </p:spPr>
        <p:txBody>
          <a:bodyPr wrap="square" lIns="0" tIns="0" rIns="0" bIns="0"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BUY</a:t>
            </a:r>
            <a:endParaRPr lang="en-US" sz="4200" dirty="0"/>
          </a:p>
        </p:txBody>
      </p:sp>
      <p:sp>
        <p:nvSpPr>
          <p:cNvPr id="5" name="Text 3"/>
          <p:cNvSpPr txBox="1"/>
          <p:nvPr/>
        </p:nvSpPr>
        <p:spPr>
          <a:xfrm>
            <a:off x="411480" y="1847088"/>
            <a:ext cx="3246120" cy="475488"/>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A$6.12</a:t>
            </a:r>
            <a:endParaRPr lang="en-US" sz="2600" dirty="0"/>
          </a:p>
        </p:txBody>
      </p:sp>
      <p:sp>
        <p:nvSpPr>
          <p:cNvPr id="6" name="Text 4"/>
          <p:cNvSpPr txBox="1"/>
          <p:nvPr/>
        </p:nvSpPr>
        <p:spPr>
          <a:xfrm>
            <a:off x="411480" y="2340864"/>
            <a:ext cx="3246120" cy="566928"/>
          </a:xfrm>
          <a:prstGeom prst="rect">
            <a:avLst/>
          </a:prstGeom>
          <a:noFill/>
          <a:ln/>
        </p:spPr>
        <p:txBody>
          <a:bodyPr wrap="square" lIns="0" tIns="0" rIns="0" bIns="0" rtlCol="0" anchor="t"/>
          <a:lstStyle/>
          <a:p>
            <a:pPr algn="ctr" indent="0" marL="0">
              <a:lnSpc>
                <a:spcPct val="115000"/>
              </a:lnSpc>
              <a:buNone/>
            </a:pPr>
            <a:r>
              <a:rPr lang="en-US" sz="1000" dirty="0">
                <a:solidFill>
                  <a:srgbClr val="DDF0EB"/>
                </a:solidFill>
                <a:latin typeface="Calibri" pitchFamily="34" charset="0"/>
                <a:ea typeface="Calibri" pitchFamily="34" charset="-122"/>
                <a:cs typeface="Calibri" pitchFamily="34" charset="-120"/>
              </a:rPr>
              <a:t>12-month target   |   +11.7%</a:t>
            </a:r>
            <a:endParaRPr lang="en-US" sz="1000" dirty="0"/>
          </a:p>
          <a:p>
            <a:pPr algn="ctr" indent="0" marL="0">
              <a:lnSpc>
                <a:spcPct val="115000"/>
              </a:lnSpc>
              <a:buNone/>
            </a:pPr>
            <a:r>
              <a:rPr lang="en-US" sz="1000" dirty="0">
                <a:solidFill>
                  <a:srgbClr val="DDF0EB"/>
                </a:solidFill>
                <a:latin typeface="Calibri" pitchFamily="34" charset="0"/>
                <a:ea typeface="Calibri" pitchFamily="34" charset="-122"/>
                <a:cs typeface="Calibri" pitchFamily="34" charset="-120"/>
              </a:rPr>
              <a:t>Total return 13.4% vs benchmark 5.90%</a:t>
            </a:r>
            <a:endParaRPr lang="en-US" sz="1000" dirty="0"/>
          </a:p>
        </p:txBody>
      </p:sp>
      <p:sp>
        <p:nvSpPr>
          <p:cNvPr id="7" name="Text 5"/>
          <p:cNvSpPr txBox="1"/>
          <p:nvPr/>
        </p:nvSpPr>
        <p:spPr>
          <a:xfrm>
            <a:off x="3931920" y="10058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mandate is met</a:t>
            </a:r>
            <a:endParaRPr lang="en-US" sz="1150" dirty="0"/>
          </a:p>
        </p:txBody>
      </p:sp>
      <p:sp>
        <p:nvSpPr>
          <p:cNvPr id="8" name="Text 6"/>
          <p:cNvSpPr txBox="1"/>
          <p:nvPr/>
        </p:nvSpPr>
        <p:spPr>
          <a:xfrm>
            <a:off x="3931920" y="12710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 13.4% expected total return against a benchmark that returned 5.90%, for outperformance of 7.5%. The fund needs 2%.</a:t>
            </a:r>
            <a:endParaRPr lang="en-US" sz="950" dirty="0"/>
          </a:p>
        </p:txBody>
      </p:sp>
      <p:sp>
        <p:nvSpPr>
          <p:cNvPr id="9" name="Text 7"/>
          <p:cNvSpPr txBox="1"/>
          <p:nvPr/>
        </p:nvSpPr>
        <p:spPr>
          <a:xfrm>
            <a:off x="3931920" y="16916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case is the shared value</a:t>
            </a:r>
            <a:endParaRPr lang="en-US" sz="1150" dirty="0"/>
          </a:p>
        </p:txBody>
      </p:sp>
      <p:sp>
        <p:nvSpPr>
          <p:cNvPr id="10" name="Text 8"/>
          <p:cNvSpPr txBox="1"/>
          <p:nvPr/>
        </p:nvSpPr>
        <p:spPr>
          <a:xfrm>
            <a:off x="3931920" y="19568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A$0.43 of the A$0.64 of upside - 67% - comes from ESG-linked operating decisions the market is not paying for.</a:t>
            </a:r>
            <a:endParaRPr lang="en-US" sz="950" dirty="0"/>
          </a:p>
        </p:txBody>
      </p:sp>
      <p:sp>
        <p:nvSpPr>
          <p:cNvPr id="11" name="Text 9"/>
          <p:cNvSpPr txBox="1"/>
          <p:nvPr/>
        </p:nvSpPr>
        <p:spPr>
          <a:xfrm>
            <a:off x="3931920" y="23774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option is free</a:t>
            </a:r>
            <a:endParaRPr lang="en-US" sz="1150" dirty="0"/>
          </a:p>
        </p:txBody>
      </p:sp>
      <p:sp>
        <p:nvSpPr>
          <p:cNvPr id="12" name="Text 10"/>
          <p:cNvSpPr txBox="1"/>
          <p:nvPr/>
        </p:nvSpPr>
        <p:spPr>
          <a:xfrm>
            <a:off x="3931920" y="26426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 further A$0.32 per share of low-carbon downstream value sits outside the target entirely. Nothing in this recommendation needs it to land.</a:t>
            </a:r>
            <a:endParaRPr lang="en-US" sz="950" dirty="0"/>
          </a:p>
        </p:txBody>
      </p:sp>
      <p:sp>
        <p:nvSpPr>
          <p:cNvPr id="13" name="Text 11"/>
          <p:cNvSpPr txBox="1"/>
          <p:nvPr/>
        </p:nvSpPr>
        <p:spPr>
          <a:xfrm>
            <a:off x="411480" y="3273552"/>
            <a:ext cx="731520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Catalysts inside the investment horizon</a:t>
            </a:r>
            <a:endParaRPr lang="en-US" sz="1200" dirty="0"/>
          </a:p>
        </p:txBody>
      </p:sp>
      <p:sp>
        <p:nvSpPr>
          <p:cNvPr id="14" name="Shape 12"/>
          <p:cNvSpPr/>
          <p:nvPr/>
        </p:nvSpPr>
        <p:spPr>
          <a:xfrm>
            <a:off x="411480" y="3639312"/>
            <a:ext cx="11375136" cy="365760"/>
          </a:xfrm>
          <a:prstGeom prst="rect">
            <a:avLst/>
          </a:prstGeom>
          <a:solidFill>
            <a:srgbClr val="1B3A5A"/>
          </a:solidFill>
          <a:ln/>
        </p:spPr>
      </p:sp>
      <p:sp>
        <p:nvSpPr>
          <p:cNvPr id="15" name="Text 13"/>
          <p:cNvSpPr txBox="1"/>
          <p:nvPr/>
        </p:nvSpPr>
        <p:spPr>
          <a:xfrm>
            <a:off x="557784" y="3639312"/>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Sep-qtr 2026</a:t>
            </a:r>
            <a:endParaRPr lang="en-US" sz="950" dirty="0"/>
          </a:p>
        </p:txBody>
      </p:sp>
      <p:sp>
        <p:nvSpPr>
          <p:cNvPr id="16" name="Text 14"/>
          <p:cNvSpPr txBox="1"/>
          <p:nvPr/>
        </p:nvSpPr>
        <p:spPr>
          <a:xfrm>
            <a:off x="2057400" y="3639312"/>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First lithium phosphate from the mid-stream plant</a:t>
            </a:r>
            <a:endParaRPr lang="en-US" sz="950" dirty="0"/>
          </a:p>
        </p:txBody>
      </p:sp>
      <p:sp>
        <p:nvSpPr>
          <p:cNvPr id="17" name="Text 15"/>
          <p:cNvSpPr txBox="1"/>
          <p:nvPr/>
        </p:nvSpPr>
        <p:spPr>
          <a:xfrm>
            <a:off x="6217920" y="3639312"/>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Turns the level-one thesis from a plan into a product</a:t>
            </a:r>
            <a:endParaRPr lang="en-US" sz="900" dirty="0"/>
          </a:p>
        </p:txBody>
      </p:sp>
      <p:sp>
        <p:nvSpPr>
          <p:cNvPr id="18" name="Shape 16"/>
          <p:cNvSpPr/>
          <p:nvPr/>
        </p:nvSpPr>
        <p:spPr>
          <a:xfrm>
            <a:off x="411480" y="4041648"/>
            <a:ext cx="11375136" cy="365760"/>
          </a:xfrm>
          <a:prstGeom prst="rect">
            <a:avLst/>
          </a:prstGeom>
          <a:solidFill>
            <a:srgbClr val="16304C"/>
          </a:solidFill>
          <a:ln/>
        </p:spPr>
      </p:sp>
      <p:sp>
        <p:nvSpPr>
          <p:cNvPr id="19" name="Text 17"/>
          <p:cNvSpPr txBox="1"/>
          <p:nvPr/>
        </p:nvSpPr>
        <p:spPr>
          <a:xfrm>
            <a:off x="557784" y="4041648"/>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Oct 2026</a:t>
            </a:r>
            <a:endParaRPr lang="en-US" sz="950" dirty="0"/>
          </a:p>
        </p:txBody>
      </p:sp>
      <p:sp>
        <p:nvSpPr>
          <p:cNvPr id="20" name="Text 18"/>
          <p:cNvSpPr txBox="1"/>
          <p:nvPr/>
        </p:nvSpPr>
        <p:spPr>
          <a:xfrm>
            <a:off x="2057400" y="4041648"/>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September-quarter activities report</a:t>
            </a:r>
            <a:endParaRPr lang="en-US" sz="950" dirty="0"/>
          </a:p>
        </p:txBody>
      </p:sp>
      <p:sp>
        <p:nvSpPr>
          <p:cNvPr id="21" name="Text 19"/>
          <p:cNvSpPr txBox="1"/>
          <p:nvPr/>
        </p:nvSpPr>
        <p:spPr>
          <a:xfrm>
            <a:off x="6217920" y="4041648"/>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The first full quarter at the post-restart run rate, and the price print after the August fall</a:t>
            </a:r>
            <a:endParaRPr lang="en-US" sz="900" dirty="0"/>
          </a:p>
        </p:txBody>
      </p:sp>
      <p:sp>
        <p:nvSpPr>
          <p:cNvPr id="22" name="Shape 20"/>
          <p:cNvSpPr/>
          <p:nvPr/>
        </p:nvSpPr>
        <p:spPr>
          <a:xfrm>
            <a:off x="411480" y="4443984"/>
            <a:ext cx="11375136" cy="365760"/>
          </a:xfrm>
          <a:prstGeom prst="rect">
            <a:avLst/>
          </a:prstGeom>
          <a:solidFill>
            <a:srgbClr val="1B3A5A"/>
          </a:solidFill>
          <a:ln/>
        </p:spPr>
      </p:sp>
      <p:sp>
        <p:nvSpPr>
          <p:cNvPr id="23" name="Text 21"/>
          <p:cNvSpPr txBox="1"/>
          <p:nvPr/>
        </p:nvSpPr>
        <p:spPr>
          <a:xfrm>
            <a:off x="557784" y="4443984"/>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Dec-qtr 2026</a:t>
            </a:r>
            <a:endParaRPr lang="en-US" sz="950" dirty="0"/>
          </a:p>
        </p:txBody>
      </p:sp>
      <p:sp>
        <p:nvSpPr>
          <p:cNvPr id="24" name="Text 22"/>
          <p:cNvSpPr txBox="1"/>
          <p:nvPr/>
        </p:nvSpPr>
        <p:spPr>
          <a:xfrm>
            <a:off x="2057400" y="4443984"/>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P2000 definitive feasibility study</a:t>
            </a:r>
            <a:endParaRPr lang="en-US" sz="950" dirty="0"/>
          </a:p>
        </p:txBody>
      </p:sp>
      <p:sp>
        <p:nvSpPr>
          <p:cNvPr id="25" name="Text 23"/>
          <p:cNvSpPr txBox="1"/>
          <p:nvPr/>
        </p:nvSpPr>
        <p:spPr>
          <a:xfrm>
            <a:off x="6217920" y="4443984"/>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The single largest value event in the pipeline: A$2.6bn of NPV at PFS level</a:t>
            </a:r>
            <a:endParaRPr lang="en-US" sz="900" dirty="0"/>
          </a:p>
        </p:txBody>
      </p:sp>
      <p:sp>
        <p:nvSpPr>
          <p:cNvPr id="26" name="Shape 24"/>
          <p:cNvSpPr/>
          <p:nvPr/>
        </p:nvSpPr>
        <p:spPr>
          <a:xfrm>
            <a:off x="411480" y="4846320"/>
            <a:ext cx="11375136" cy="365760"/>
          </a:xfrm>
          <a:prstGeom prst="rect">
            <a:avLst/>
          </a:prstGeom>
          <a:solidFill>
            <a:srgbClr val="16304C"/>
          </a:solidFill>
          <a:ln/>
        </p:spPr>
      </p:sp>
      <p:sp>
        <p:nvSpPr>
          <p:cNvPr id="27" name="Text 25"/>
          <p:cNvSpPr txBox="1"/>
          <p:nvPr/>
        </p:nvSpPr>
        <p:spPr>
          <a:xfrm>
            <a:off x="557784" y="4846320"/>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Late 2026</a:t>
            </a:r>
            <a:endParaRPr lang="en-US" sz="950" dirty="0"/>
          </a:p>
        </p:txBody>
      </p:sp>
      <p:sp>
        <p:nvSpPr>
          <p:cNvPr id="28" name="Text 26"/>
          <p:cNvSpPr txBox="1"/>
          <p:nvPr/>
        </p:nvSpPr>
        <p:spPr>
          <a:xfrm>
            <a:off x="2057400" y="4846320"/>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P2000 final investment decision</a:t>
            </a:r>
            <a:endParaRPr lang="en-US" sz="950" dirty="0"/>
          </a:p>
        </p:txBody>
      </p:sp>
      <p:sp>
        <p:nvSpPr>
          <p:cNvPr id="29" name="Text 27"/>
          <p:cNvSpPr txBox="1"/>
          <p:nvPr/>
        </p:nvSpPr>
        <p:spPr>
          <a:xfrm>
            <a:off x="6217920" y="4846320"/>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A$175m of pre-FID capital is already spent; this converts the option</a:t>
            </a:r>
            <a:endParaRPr lang="en-US" sz="900" dirty="0"/>
          </a:p>
        </p:txBody>
      </p:sp>
      <p:sp>
        <p:nvSpPr>
          <p:cNvPr id="30" name="Shape 28"/>
          <p:cNvSpPr/>
          <p:nvPr/>
        </p:nvSpPr>
        <p:spPr>
          <a:xfrm>
            <a:off x="411480" y="5248656"/>
            <a:ext cx="11375136" cy="365760"/>
          </a:xfrm>
          <a:prstGeom prst="rect">
            <a:avLst/>
          </a:prstGeom>
          <a:solidFill>
            <a:srgbClr val="1B3A5A"/>
          </a:solidFill>
          <a:ln/>
        </p:spPr>
      </p:sp>
      <p:sp>
        <p:nvSpPr>
          <p:cNvPr id="31" name="Text 29"/>
          <p:cNvSpPr txBox="1"/>
          <p:nvPr/>
        </p:nvSpPr>
        <p:spPr>
          <a:xfrm>
            <a:off x="557784" y="5248656"/>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FY27</a:t>
            </a:r>
            <a:endParaRPr lang="en-US" sz="950" dirty="0"/>
          </a:p>
        </p:txBody>
      </p:sp>
      <p:sp>
        <p:nvSpPr>
          <p:cNvPr id="32" name="Text 30"/>
          <p:cNvSpPr txBox="1"/>
          <p:nvPr/>
        </p:nvSpPr>
        <p:spPr>
          <a:xfrm>
            <a:off x="2057400" y="5248656"/>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Ngungaju at steady state</a:t>
            </a:r>
            <a:endParaRPr lang="en-US" sz="950" dirty="0"/>
          </a:p>
        </p:txBody>
      </p:sp>
      <p:sp>
        <p:nvSpPr>
          <p:cNvPr id="33" name="Text 31"/>
          <p:cNvSpPr txBox="1"/>
          <p:nvPr/>
        </p:nvSpPr>
        <p:spPr>
          <a:xfrm>
            <a:off x="6217920" y="5248656"/>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Guidance implies 1,030-1,100kt, a 17-25% volume step-up</a:t>
            </a:r>
            <a:endParaRPr lang="en-US" sz="900" dirty="0"/>
          </a:p>
        </p:txBody>
      </p:sp>
      <p:sp>
        <p:nvSpPr>
          <p:cNvPr id="34" name="Text 32"/>
          <p:cNvSpPr txBox="1"/>
          <p:nvPr/>
        </p:nvSpPr>
        <p:spPr>
          <a:xfrm>
            <a:off x="411480" y="5760720"/>
            <a:ext cx="11375136" cy="475488"/>
          </a:xfrm>
          <a:prstGeom prst="rect">
            <a:avLst/>
          </a:prstGeom>
          <a:noFill/>
          <a:ln/>
        </p:spPr>
        <p:txBody>
          <a:bodyPr wrap="square" lIns="0" tIns="0" rIns="0" bIns="0" rtlCol="0" anchor="t"/>
          <a:lstStyle/>
          <a:p>
            <a:pPr indent="0" marL="0">
              <a:lnSpc>
                <a:spcPct val="110000"/>
              </a:lnSpc>
              <a:buNone/>
            </a:pPr>
            <a:r>
              <a:rPr lang="en-US" sz="950" i="1" dirty="0">
                <a:solidFill>
                  <a:srgbClr val="8FA8BE"/>
                </a:solidFill>
                <a:latin typeface="Calibri" pitchFamily="34" charset="0"/>
                <a:ea typeface="Calibri" pitchFamily="34" charset="-122"/>
                <a:cs typeface="Calibri" pitchFamily="34" charset="-120"/>
              </a:rPr>
              <a:t>We would revisit this recommendation if spodumene averages more than 20% below our base case, if the P2000 study is deferred beyond the December 2026 quarter, or if short interest rebuilds above 10% of shares on issue.</a:t>
            </a:r>
            <a:endParaRPr lang="en-US" sz="950" dirty="0"/>
          </a:p>
        </p:txBody>
      </p:sp>
      <p:sp>
        <p:nvSpPr>
          <p:cNvPr id="35" name="Text 3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15</a:t>
            </a:r>
            <a:endParaRPr lang="en-US" sz="850" dirty="0"/>
          </a:p>
        </p:txBody>
      </p:sp>
      <p:sp>
        <p:nvSpPr>
          <p:cNvPr id="36" name="Text 3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5F7183"/>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FMAA x Shared Value Project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PLS Group Limited (ASX:PLS) - Investing for the Future 2026</dc:title>
  <dc:subject>PptxGenJS Presentation</dc:subject>
  <dc:creator>FMAA Asset Management - Shared Value Coverage Team</dc:creator>
  <cp:lastModifiedBy>FMAA Asset Management - Shared Value Coverage Team</cp:lastModifiedBy>
  <cp:revision>1</cp:revision>
  <dcterms:created xsi:type="dcterms:W3CDTF">2026-09-06T12:18:14Z</dcterms:created>
  <dcterms:modified xsi:type="dcterms:W3CDTF">2026-09-06T12:18:14Z</dcterms:modified>
</cp:coreProperties>
</file>