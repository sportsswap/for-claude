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4.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charts/chart5.xml" ContentType="application/vnd.openxmlformats-officedocument.drawingml.chart+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charts/chart6.xml" ContentType="application/vnd.openxmlformats-officedocument.drawingml.chart+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charts/chart7.xml" ContentType="application/vnd.openxmlformats-officedocument.drawingml.chart+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0233A"/>
                </a:solidFill>
                <a:latin typeface="Calibri"/>
              </a:defRPr>
            </a:pPr>
            <a:r>
              <a:rPr sz="1100" b="0" i="0" u="none" strike="noStrike">
                <a:solidFill>
                  <a:srgbClr val="10233A"/>
                </a:solidFill>
                <a:latin typeface="Calibri"/>
              </a:rPr>
              <a:t>Realised price per tonne, actual then base case (US$/t)</a:t>
            </a:r>
          </a:p>
        </c:rich>
      </c:tx>
      <c:layout/>
      <c:overlay val="0"/>
    </c:title>
    <c:autoTitleDeleted val="0"/>
    <c:plotArea>
      <c:layout/>
      <c:barChart>
        <c:barDir val="col"/>
        <c:grouping val="clustered"/>
        <c:varyColors val="0"/>
        <c:ser>
          <c:idx val="0"/>
          <c:order val="0"/>
          <c:tx>
            <c:strRef>
              <c:f>Sheet1!$B$1</c:f>
              <c:strCache>
                <c:ptCount val="1"/>
                <c:pt idx="0">
                  <c:v>Realised price (US$/t)</c:v>
                </c:pt>
              </c:strCache>
            </c:strRef>
          </c:tx>
          <c:spPr>
            <a:solidFill>
              <a:srgbClr val="1D6FD9"/>
            </a:solidFill>
            <a:effectLst/>
          </c:spPr>
          <c:invertIfNegative val="0"/>
          <c:dLbls>
            <c:numFmt formatCode="#,##0" sourceLinked="0"/>
            <c:txPr>
              <a:bodyPr/>
              <a:lstStyle/>
              <a:p>
                <a:pPr>
                  <a:defRPr b="0" i="0" strike="noStrike" sz="850" u="none">
                    <a:solidFill>
                      <a:srgbClr val="5F7183"/>
                    </a:solidFill>
                    <a:latin typeface="Calibri"/>
                  </a:defRPr>
                </a:pPr>
              </a:p>
            </c:txPr>
            <c:showLegendKey val="0"/>
            <c:showVal val="1"/>
            <c:showCatName val="0"/>
            <c:showSerName val="0"/>
            <c:showPercent val="0"/>
            <c:showBubbleSize val="0"/>
            <c:showLeaderLines val="0"/>
          </c:dLbls>
          <c:cat>
            <c:multiLvlStrRef>
              <c:f>Sheet1!$A$2:$A$8</c:f>
              <c:multiLvlStrCache>
                <c:ptCount val="7"/>
                <c:lvl>
                  <c:pt idx="0">
                    <c:v>FY24A</c:v>
                  </c:pt>
                  <c:pt idx="1">
                    <c:v>FY25A</c:v>
                  </c:pt>
                  <c:pt idx="2">
                    <c:v>FY26A</c:v>
                  </c:pt>
                  <c:pt idx="3">
                    <c:v>FY27F</c:v>
                  </c:pt>
                  <c:pt idx="4">
                    <c:v>FY28F</c:v>
                  </c:pt>
                  <c:pt idx="5">
                    <c:v>FY29F</c:v>
                  </c:pt>
                  <c:pt idx="6">
                    <c:v>FY30F</c:v>
                  </c:pt>
                </c:lvl>
              </c:multiLvlStrCache>
            </c:multiLvlStrRef>
          </c:cat>
          <c:val>
            <c:numRef>
              <c:f>Sheet1!$B$2:$B$8</c:f>
              <c:numCache>
                <c:formatCode>General</c:formatCode>
                <c:ptCount val="7"/>
                <c:pt idx="0">
                  <c:v>1116</c:v>
                </c:pt>
                <c:pt idx="1">
                  <c:v>688</c:v>
                </c:pt>
                <c:pt idx="2">
                  <c:v>1488</c:v>
                </c:pt>
                <c:pt idx="3">
                  <c:v>1700</c:v>
                </c:pt>
                <c:pt idx="4">
                  <c:v>1780</c:v>
                </c:pt>
                <c:pt idx="5">
                  <c:v>1850</c:v>
                </c:pt>
                <c:pt idx="6">
                  <c:v>1800</c:v>
                </c:pt>
              </c:numCache>
            </c:numRef>
          </c:val>
        </c:ser>
        <c:dLbls>
          <c:numFmt formatCode="#,##0" sourceLinked="0"/>
          <c:txPr>
            <a:bodyPr/>
            <a:lstStyle/>
            <a:p>
              <a:pPr>
                <a:defRPr b="0" i="0" strike="noStrike" sz="850" u="none">
                  <a:solidFill>
                    <a:srgbClr val="5F718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ax val="2200"/>
          <c:min val="0"/>
        </c:scaling>
        <c:delete val="0"/>
        <c:axPos val="l"/>
        <c:majorGridlines>
          <c:spPr>
            <a:ln w="6350" cap="flat">
              <a:solidFill>
                <a:srgbClr val="D3DC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0233A"/>
                </a:solidFill>
                <a:latin typeface="Calibri"/>
              </a:defRPr>
            </a:pPr>
            <a:r>
              <a:rPr sz="1100" b="0" i="0" u="none" strike="noStrike">
                <a:solidFill>
                  <a:srgbClr val="10233A"/>
                </a:solidFill>
                <a:latin typeface="Calibri"/>
              </a:rPr>
              <a:t>Where the tonnes sit on the cost curve (US$/t of SC6 concentrate)</a:t>
            </a:r>
          </a:p>
        </c:rich>
      </c:tx>
      <c:layout/>
      <c:overlay val="0"/>
    </c:title>
    <c:autoTitleDeleted val="0"/>
    <c:plotArea>
      <c:layout/>
      <c:barChart>
        <c:barDir val="col"/>
        <c:grouping val="clustered"/>
        <c:varyColors val="0"/>
        <c:ser>
          <c:idx val="0"/>
          <c:order val="0"/>
          <c:tx>
            <c:strRef>
              <c:f>Sheet1!$B$1</c:f>
              <c:strCache>
                <c:ptCount val="1"/>
                <c:pt idx="0">
                  <c:v>Cash cost, US$/t SC6</c:v>
                </c:pt>
              </c:strCache>
            </c:strRef>
          </c:tx>
          <c:spPr>
            <a:solidFill>
              <a:srgbClr val="9DC0EE"/>
            </a:solidFill>
            <a:effectLst/>
          </c:spPr>
          <c:invertIfNegative val="0"/>
          <c:dLbls>
            <c:numFmt formatCode="#,##0" sourceLinked="0"/>
            <c:txPr>
              <a:bodyPr/>
              <a:lstStyle/>
              <a:p>
                <a:pPr>
                  <a:defRPr b="0" i="0" strike="noStrike" sz="900" u="none">
                    <a:solidFill>
                      <a:srgbClr val="5F7183"/>
                    </a:solidFill>
                    <a:latin typeface="Calibri"/>
                  </a:defRPr>
                </a:pPr>
              </a:p>
            </c:txPr>
            <c:showLegendKey val="0"/>
            <c:showVal val="1"/>
            <c:showCatName val="0"/>
            <c:showSerName val="0"/>
            <c:showPercent val="0"/>
            <c:showBubbleSize val="0"/>
            <c:showLeaderLines val="0"/>
          </c:dLbls>
          <c:dPt>
            <c:idx val="0"/>
            <c:invertIfNegative val="0"/>
            <c:bubble3D val="0"/>
            <c:spPr>
              <a:solidFill>
                <a:srgbClr val="9DC0EE"/>
              </a:solidFill>
              <a:effectLst/>
            </c:spPr>
          </c:dPt>
          <c:dPt>
            <c:idx val="1"/>
            <c:invertIfNegative val="0"/>
            <c:bubble3D val="0"/>
            <c:spPr>
              <a:solidFill>
                <a:srgbClr val="6BA0E4"/>
              </a:solidFill>
              <a:effectLst/>
            </c:spPr>
          </c:dPt>
          <c:dPt>
            <c:idx val="2"/>
            <c:invertIfNegative val="0"/>
            <c:bubble3D val="0"/>
            <c:spPr>
              <a:solidFill>
                <a:srgbClr val="3980DA"/>
              </a:solidFill>
              <a:effectLst/>
            </c:spPr>
          </c:dPt>
          <c:dPt>
            <c:idx val="3"/>
            <c:invertIfNegative val="0"/>
            <c:bubble3D val="0"/>
            <c:spPr>
              <a:solidFill>
                <a:srgbClr val="1D6FD9"/>
              </a:solidFill>
              <a:effectLst/>
            </c:spPr>
          </c:dPt>
          <c:dPt>
            <c:idx val="4"/>
            <c:invertIfNegative val="0"/>
            <c:bubble3D val="0"/>
            <c:spPr>
              <a:solidFill>
                <a:srgbClr val="174F9B"/>
              </a:solidFill>
              <a:effectLst/>
            </c:spPr>
          </c:dPt>
          <c:cat>
            <c:multiLvlStrRef>
              <c:f>Sheet1!$A$2:$A$6</c:f>
              <c:multiLvlStrCache>
                <c:ptCount val="5"/>
                <c:lvl>
                  <c:pt idx="0">
                    <c:v>Greenbushes</c:v>
                  </c:pt>
                  <c:pt idx="1">
                    <c:v>PLS Pilgangoora</c:v>
                  </c:pt>
                  <c:pt idx="2">
                    <c:v>23% of world
supply above</c:v>
                  </c:pt>
                  <c:pt idx="3">
                    <c:v>African hard rock
(indicative)</c:v>
                  </c:pt>
                  <c:pt idx="4">
                    <c:v>Chinese lepidolite
(90th percentile)</c:v>
                  </c:pt>
                </c:lvl>
              </c:multiLvlStrCache>
            </c:multiLvlStrRef>
          </c:cat>
          <c:val>
            <c:numRef>
              <c:f>Sheet1!$B$2:$B$6</c:f>
              <c:numCache>
                <c:formatCode>General</c:formatCode>
                <c:ptCount val="5"/>
                <c:pt idx="0">
                  <c:v>220</c:v>
                </c:pt>
                <c:pt idx="1">
                  <c:v>425</c:v>
                </c:pt>
                <c:pt idx="2">
                  <c:v>787</c:v>
                </c:pt>
                <c:pt idx="3">
                  <c:v>900</c:v>
                </c:pt>
                <c:pt idx="4">
                  <c:v>1100</c:v>
                </c:pt>
              </c:numCache>
            </c:numRef>
          </c:val>
        </c:ser>
        <c:dLbls>
          <c:numFmt formatCode="#,##0" sourceLinked="0"/>
          <c:txPr>
            <a:bodyPr/>
            <a:lstStyle/>
            <a:p>
              <a:pPr>
                <a:defRPr b="0" i="0" strike="noStrike" sz="900" u="none">
                  <a:solidFill>
                    <a:srgbClr val="5F7183"/>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2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ax val="1300"/>
        </c:scaling>
        <c:delete val="0"/>
        <c:axPos val="l"/>
        <c:majorGridlines>
          <c:spPr>
            <a:ln w="6350" cap="flat">
              <a:solidFill>
                <a:srgbClr val="D3DC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0233A"/>
                </a:solidFill>
                <a:latin typeface="Calibri"/>
              </a:defRPr>
            </a:pPr>
            <a:r>
              <a:rPr sz="1100" b="0" i="0" u="none" strike="noStrike">
                <a:solidFill>
                  <a:srgbClr val="10233A"/>
                </a:solidFill>
                <a:latin typeface="Calibri"/>
              </a:rPr>
              <a:t>PLS realised price: reported, then our base case (US$/t)</a:t>
            </a:r>
          </a:p>
        </c:rich>
      </c:tx>
      <c:layout/>
      <c:overlay val="0"/>
    </c:title>
    <c:autoTitleDeleted val="0"/>
    <c:plotArea>
      <c:layout/>
      <c:lineChart>
        <c:varyColors val="0"/>
        <c:ser>
          <c:idx val="0"/>
          <c:order val="0"/>
          <c:tx>
            <c:strRef>
              <c:f>Sheet1!$B$1</c:f>
              <c:strCache>
                <c:ptCount val="1"/>
                <c:pt idx="0">
                  <c:v>PLS realised price (US$/t, actual grade)</c:v>
                </c:pt>
              </c:strCache>
            </c:strRef>
          </c:tx>
          <c:spPr>
            <a:solidFill>
              <a:srgbClr val="10A07E"/>
            </a:solidFill>
            <a:ln w="28575" cap="flat">
              <a:solidFill>
                <a:srgbClr val="10A07E"/>
              </a:solidFill>
              <a:prstDash val="solid"/>
              <a:round/>
            </a:ln>
            <a:effectLst/>
          </c:spPr>
          <c:invertIfNegative val="0"/>
          <c:dLbls>
            <c:numFmt formatCode="#,##0" sourceLinked="0"/>
            <c:txPr>
              <a:bodyPr/>
              <a:lstStyle/>
              <a:p>
                <a:pPr>
                  <a:defRPr b="0" i="0" strike="noStrike" sz="750" u="none">
                    <a:solidFill>
                      <a:srgbClr val="5F7183"/>
                    </a:solidFill>
                    <a:latin typeface="Calibri"/>
                  </a:defRPr>
                </a:pPr>
              </a:p>
            </c:txPr>
            <c:dLblPos val="t"/>
            <c:showLegendKey val="0"/>
            <c:showVal val="1"/>
            <c:showCatName val="0"/>
            <c:showSerName val="0"/>
            <c:showPercent val="0"/>
            <c:showBubbleSize val="0"/>
            <c:showLeaderLines val="0"/>
          </c:dLbls>
          <c:marker>
            <c:symbol val="circle"/>
            <c:size val="6"/>
            <c:spPr>
              <a:solidFill>
                <a:srgbClr val="10A07E"/>
              </a:solidFill>
              <a:ln w="9525" cap="flat">
                <a:solidFill>
                  <a:srgbClr val="10A07E"/>
                </a:solidFill>
                <a:prstDash val="solid"/>
                <a:round/>
              </a:ln>
              <a:effectLst/>
            </c:spPr>
          </c:marker>
          <c:cat>
            <c:multiLvlStrRef>
              <c:f>Sheet1!$A$2:$A$11</c:f>
              <c:multiLvlStrCache>
                <c:ptCount val="10"/>
                <c:lvl>
                  <c:pt idx="0">
                    <c:v>FY24A</c:v>
                  </c:pt>
                  <c:pt idx="1">
                    <c:v>FY25A</c:v>
                  </c:pt>
                  <c:pt idx="2">
                    <c:v>Q1 FY26</c:v>
                  </c:pt>
                  <c:pt idx="3">
                    <c:v>Q2 FY26</c:v>
                  </c:pt>
                  <c:pt idx="4">
                    <c:v>FY26 avg</c:v>
                  </c:pt>
                  <c:pt idx="5">
                    <c:v>Q4 FY26</c:v>
                  </c:pt>
                  <c:pt idx="6">
                    <c:v>FY27F</c:v>
                  </c:pt>
                  <c:pt idx="7">
                    <c:v>FY28F</c:v>
                  </c:pt>
                  <c:pt idx="8">
                    <c:v>FY29F</c:v>
                  </c:pt>
                  <c:pt idx="9">
                    <c:v>FY30F</c:v>
                  </c:pt>
                </c:lvl>
              </c:multiLvlStrCache>
            </c:multiLvlStrRef>
          </c:cat>
          <c:val>
            <c:numRef>
              <c:f>Sheet1!$B$2:$B$11</c:f>
              <c:numCache>
                <c:formatCode>General</c:formatCode>
                <c:ptCount val="10"/>
                <c:pt idx="0">
                  <c:v>1116</c:v>
                </c:pt>
                <c:pt idx="1">
                  <c:v>688</c:v>
                </c:pt>
                <c:pt idx="2">
                  <c:v>742</c:v>
                </c:pt>
                <c:pt idx="3">
                  <c:v>1161</c:v>
                </c:pt>
                <c:pt idx="4">
                  <c:v>1488</c:v>
                </c:pt>
                <c:pt idx="5">
                  <c:v>2107</c:v>
                </c:pt>
                <c:pt idx="6">
                  <c:v>1700</c:v>
                </c:pt>
                <c:pt idx="7">
                  <c:v>1780</c:v>
                </c:pt>
                <c:pt idx="8">
                  <c:v>1850</c:v>
                </c:pt>
                <c:pt idx="9">
                  <c:v>1800</c:v>
                </c:pt>
              </c:numCache>
            </c:numRef>
          </c:val>
          <c:smooth val="0"/>
        </c:ser>
        <c:dLbls>
          <c:numFmt formatCode="#,##0" sourceLinked="0"/>
          <c:txPr>
            <a:bodyPr/>
            <a:lstStyle/>
            <a:p>
              <a:pPr>
                <a:defRPr b="0" i="0" strike="noStrike" sz="750" u="none">
                  <a:solidFill>
                    <a:srgbClr val="5F7183"/>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ax val="2400"/>
          <c:min val="0"/>
        </c:scaling>
        <c:delete val="0"/>
        <c:axPos val="l"/>
        <c:majorGridlines>
          <c:spPr>
            <a:ln w="6350" cap="flat">
              <a:solidFill>
                <a:srgbClr val="D3DC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0233A"/>
                </a:solidFill>
                <a:latin typeface="Calibri"/>
              </a:defRPr>
            </a:pPr>
            <a:r>
              <a:rPr sz="1100" b="0" i="0" u="none" strike="noStrike">
                <a:solidFill>
                  <a:srgbClr val="10233A"/>
                </a:solidFill>
                <a:latin typeface="Calibri"/>
              </a:rPr>
              <a:t>Storage share of total lithium demand (%)</a:t>
            </a:r>
          </a:p>
        </c:rich>
      </c:tx>
      <c:layout/>
      <c:overlay val="0"/>
    </c:title>
    <c:autoTitleDeleted val="0"/>
    <c:plotArea>
      <c:layout/>
      <c:barChart>
        <c:barDir val="col"/>
        <c:grouping val="clustered"/>
        <c:varyColors val="0"/>
        <c:ser>
          <c:idx val="0"/>
          <c:order val="0"/>
          <c:tx>
            <c:strRef>
              <c:f>Sheet1!$B$1</c:f>
              <c:strCache>
                <c:ptCount val="1"/>
                <c:pt idx="0">
                  <c:v>Share of lithium demand (%)</c:v>
                </c:pt>
              </c:strCache>
            </c:strRef>
          </c:tx>
          <c:spPr>
            <a:solidFill>
              <a:srgbClr val="1D6FD9"/>
            </a:solidFill>
            <a:effectLst/>
          </c:spPr>
          <c:invertIfNegative val="0"/>
          <c:dLbls>
            <c:numFmt formatCode="0&quot;%&quot;" sourceLinked="0"/>
            <c:txPr>
              <a:bodyPr/>
              <a:lstStyle/>
              <a:p>
                <a:pPr>
                  <a:defRPr b="0" i="0" strike="noStrike" sz="1100" u="none">
                    <a:solidFill>
                      <a:srgbClr val="5F7183"/>
                    </a:solidFill>
                    <a:latin typeface="Calibri"/>
                  </a:defRPr>
                </a:pPr>
              </a:p>
            </c:txPr>
            <c:showLegendKey val="0"/>
            <c:showVal val="1"/>
            <c:showCatName val="0"/>
            <c:showSerName val="0"/>
            <c:showPercent val="0"/>
            <c:showBubbleSize val="0"/>
            <c:showLeaderLines val="0"/>
          </c:dLbls>
          <c:dPt>
            <c:idx val="0"/>
            <c:invertIfNegative val="0"/>
            <c:bubble3D val="0"/>
            <c:spPr>
              <a:solidFill>
                <a:srgbClr val="1D6FD9"/>
              </a:solidFill>
              <a:effectLst/>
            </c:spPr>
          </c:dPt>
          <c:dPt>
            <c:idx val="1"/>
            <c:invertIfNegative val="0"/>
            <c:bubble3D val="0"/>
            <c:spPr>
              <a:solidFill>
                <a:srgbClr val="10A07E"/>
              </a:solidFill>
              <a:effectLst/>
            </c:spPr>
          </c:dPt>
          <c:cat>
            <c:multiLvlStrRef>
              <c:f>Sheet1!$A$2:$A$3</c:f>
              <c:multiLvlStrCache>
                <c:ptCount val="2"/>
                <c:lvl>
                  <c:pt idx="0">
                    <c:v>Battery storage 2025</c:v>
                  </c:pt>
                  <c:pt idx="1">
                    <c:v>Battery storage 2026e</c:v>
                  </c:pt>
                </c:lvl>
              </c:multiLvlStrCache>
            </c:multiLvlStrRef>
          </c:cat>
          <c:val>
            <c:numRef>
              <c:f>Sheet1!$B$2:$B$3</c:f>
              <c:numCache>
                <c:formatCode>General</c:formatCode>
                <c:ptCount val="2"/>
                <c:pt idx="0">
                  <c:v>23</c:v>
                </c:pt>
                <c:pt idx="1">
                  <c:v>31</c:v>
                </c:pt>
              </c:numCache>
            </c:numRef>
          </c:val>
        </c:ser>
        <c:dLbls>
          <c:numFmt formatCode="0&quot;%&quot;" sourceLinked="0"/>
          <c:txPr>
            <a:bodyPr/>
            <a:lstStyle/>
            <a:p>
              <a:pPr>
                <a:defRPr b="0" i="0" strike="noStrike" sz="1100" u="none">
                  <a:solidFill>
                    <a:srgbClr val="5F718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D3DC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0233A"/>
                </a:solidFill>
                <a:latin typeface="Calibri"/>
              </a:defRPr>
            </a:pPr>
            <a:r>
              <a:rPr sz="1100" b="0" i="0" u="none" strike="noStrike">
                <a:solidFill>
                  <a:srgbClr val="10233A"/>
                </a:solidFill>
                <a:latin typeface="Calibri"/>
              </a:rPr>
              <a:t>Realised price by scenario (US$/t, actual grade)</a:t>
            </a:r>
          </a:p>
        </c:rich>
      </c:tx>
      <c:layout/>
      <c:overlay val="0"/>
    </c:title>
    <c:autoTitleDeleted val="0"/>
    <c:plotArea>
      <c:layout/>
      <c:lineChart>
        <c:varyColors val="0"/>
        <c:ser>
          <c:idx val="0"/>
          <c:order val="0"/>
          <c:tx>
            <c:strRef>
              <c:f>Sheet1!$B$1</c:f>
              <c:strCache>
                <c:ptCount val="1"/>
                <c:pt idx="0">
                  <c:v>Bear</c:v>
                </c:pt>
              </c:strCache>
            </c:strRef>
          </c:tx>
          <c:spPr>
            <a:solidFill>
              <a:srgbClr val="C2710B"/>
            </a:solidFill>
            <a:ln w="31750" cap="flat">
              <a:solidFill>
                <a:srgbClr val="C271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2710B"/>
              </a:solidFill>
              <a:ln w="9525" cap="flat">
                <a:solidFill>
                  <a:srgbClr val="C2710B"/>
                </a:solidFill>
                <a:prstDash val="solid"/>
                <a:round/>
              </a:ln>
              <a:effectLst/>
            </c:spPr>
          </c:marker>
          <c:cat>
            <c:multiLvlStrRef>
              <c:f>Sheet1!$A$2:$A$11</c:f>
              <c:multiLvlStrCache>
                <c:ptCount val="10"/>
                <c:lvl>
                  <c:pt idx="0">
                    <c:v>FY27</c:v>
                  </c:pt>
                  <c:pt idx="1">
                    <c:v>FY28</c:v>
                  </c:pt>
                  <c:pt idx="2">
                    <c:v>FY29</c:v>
                  </c:pt>
                  <c:pt idx="3">
                    <c:v>FY30</c:v>
                  </c:pt>
                  <c:pt idx="4">
                    <c:v>FY31</c:v>
                  </c:pt>
                  <c:pt idx="5">
                    <c:v>FY32</c:v>
                  </c:pt>
                  <c:pt idx="6">
                    <c:v>FY33</c:v>
                  </c:pt>
                  <c:pt idx="7">
                    <c:v>FY34</c:v>
                  </c:pt>
                  <c:pt idx="8">
                    <c:v>FY35</c:v>
                  </c:pt>
                  <c:pt idx="9">
                    <c:v>FY36</c:v>
                  </c:pt>
                </c:lvl>
              </c:multiLvlStrCache>
            </c:multiLvlStrRef>
          </c:cat>
          <c:val>
            <c:numRef>
              <c:f>Sheet1!$B$2:$B$11</c:f>
              <c:numCache>
                <c:formatCode>General</c:formatCode>
                <c:ptCount val="10"/>
                <c:pt idx="0">
                  <c:v>1350</c:v>
                </c:pt>
                <c:pt idx="1">
                  <c:v>1150</c:v>
                </c:pt>
                <c:pt idx="2">
                  <c:v>1050</c:v>
                </c:pt>
                <c:pt idx="3">
                  <c:v>1050</c:v>
                </c:pt>
                <c:pt idx="4">
                  <c:v>1150</c:v>
                </c:pt>
                <c:pt idx="5">
                  <c:v>1250</c:v>
                </c:pt>
                <c:pt idx="6">
                  <c:v>1350</c:v>
                </c:pt>
                <c:pt idx="7">
                  <c:v>1450</c:v>
                </c:pt>
                <c:pt idx="8">
                  <c:v>1500</c:v>
                </c:pt>
                <c:pt idx="9">
                  <c:v>1550</c:v>
                </c:pt>
              </c:numCache>
            </c:numRef>
          </c:val>
          <c:smooth val="0"/>
        </c:ser>
        <c:ser>
          <c:idx val="1"/>
          <c:order val="1"/>
          <c:tx>
            <c:strRef>
              <c:f>Sheet1!$C$1</c:f>
              <c:strCache>
                <c:ptCount val="1"/>
                <c:pt idx="0">
                  <c:v>Base</c:v>
                </c:pt>
              </c:strCache>
            </c:strRef>
          </c:tx>
          <c:spPr>
            <a:solidFill>
              <a:srgbClr val="10A07E"/>
            </a:solidFill>
            <a:ln w="31750" cap="flat">
              <a:solidFill>
                <a:srgbClr val="10A07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0A07E"/>
              </a:solidFill>
              <a:ln w="9525" cap="flat">
                <a:solidFill>
                  <a:srgbClr val="10A07E"/>
                </a:solidFill>
                <a:prstDash val="solid"/>
                <a:round/>
              </a:ln>
              <a:effectLst/>
            </c:spPr>
          </c:marker>
          <c:cat>
            <c:multiLvlStrRef>
              <c:f>Sheet1!$A$2:$A$11</c:f>
              <c:multiLvlStrCache>
                <c:ptCount val="10"/>
                <c:lvl>
                  <c:pt idx="0">
                    <c:v>FY27</c:v>
                  </c:pt>
                  <c:pt idx="1">
                    <c:v>FY28</c:v>
                  </c:pt>
                  <c:pt idx="2">
                    <c:v>FY29</c:v>
                  </c:pt>
                  <c:pt idx="3">
                    <c:v>FY30</c:v>
                  </c:pt>
                  <c:pt idx="4">
                    <c:v>FY31</c:v>
                  </c:pt>
                  <c:pt idx="5">
                    <c:v>FY32</c:v>
                  </c:pt>
                  <c:pt idx="6">
                    <c:v>FY33</c:v>
                  </c:pt>
                  <c:pt idx="7">
                    <c:v>FY34</c:v>
                  </c:pt>
                  <c:pt idx="8">
                    <c:v>FY35</c:v>
                  </c:pt>
                  <c:pt idx="9">
                    <c:v>FY36</c:v>
                  </c:pt>
                </c:lvl>
              </c:multiLvlStrCache>
            </c:multiLvlStrRef>
          </c:cat>
          <c:val>
            <c:numRef>
              <c:f>Sheet1!$C$2:$C$11</c:f>
              <c:numCache>
                <c:formatCode>General</c:formatCode>
                <c:ptCount val="10"/>
                <c:pt idx="0">
                  <c:v>1700</c:v>
                </c:pt>
                <c:pt idx="1">
                  <c:v>1780</c:v>
                </c:pt>
                <c:pt idx="2">
                  <c:v>1850</c:v>
                </c:pt>
                <c:pt idx="3">
                  <c:v>1800</c:v>
                </c:pt>
                <c:pt idx="4">
                  <c:v>1750</c:v>
                </c:pt>
                <c:pt idx="5">
                  <c:v>1750</c:v>
                </c:pt>
                <c:pt idx="6">
                  <c:v>1750</c:v>
                </c:pt>
                <c:pt idx="7">
                  <c:v>1750</c:v>
                </c:pt>
                <c:pt idx="8">
                  <c:v>1750</c:v>
                </c:pt>
                <c:pt idx="9">
                  <c:v>1750</c:v>
                </c:pt>
              </c:numCache>
            </c:numRef>
          </c:val>
          <c:smooth val="0"/>
        </c:ser>
        <c:ser>
          <c:idx val="2"/>
          <c:order val="2"/>
          <c:tx>
            <c:strRef>
              <c:f>Sheet1!$D$1</c:f>
              <c:strCache>
                <c:ptCount val="1"/>
                <c:pt idx="0">
                  <c:v>Bull</c:v>
                </c:pt>
              </c:strCache>
            </c:strRef>
          </c:tx>
          <c:spPr>
            <a:solidFill>
              <a:srgbClr val="1D6FD9"/>
            </a:solidFill>
            <a:ln w="31750" cap="flat">
              <a:solidFill>
                <a:srgbClr val="1D6FD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D6FD9"/>
              </a:solidFill>
              <a:ln w="9525" cap="flat">
                <a:solidFill>
                  <a:srgbClr val="1D6FD9"/>
                </a:solidFill>
                <a:prstDash val="solid"/>
                <a:round/>
              </a:ln>
              <a:effectLst/>
            </c:spPr>
          </c:marker>
          <c:cat>
            <c:multiLvlStrRef>
              <c:f>Sheet1!$A$2:$A$11</c:f>
              <c:multiLvlStrCache>
                <c:ptCount val="10"/>
                <c:lvl>
                  <c:pt idx="0">
                    <c:v>FY27</c:v>
                  </c:pt>
                  <c:pt idx="1">
                    <c:v>FY28</c:v>
                  </c:pt>
                  <c:pt idx="2">
                    <c:v>FY29</c:v>
                  </c:pt>
                  <c:pt idx="3">
                    <c:v>FY30</c:v>
                  </c:pt>
                  <c:pt idx="4">
                    <c:v>FY31</c:v>
                  </c:pt>
                  <c:pt idx="5">
                    <c:v>FY32</c:v>
                  </c:pt>
                  <c:pt idx="6">
                    <c:v>FY33</c:v>
                  </c:pt>
                  <c:pt idx="7">
                    <c:v>FY34</c:v>
                  </c:pt>
                  <c:pt idx="8">
                    <c:v>FY35</c:v>
                  </c:pt>
                  <c:pt idx="9">
                    <c:v>FY36</c:v>
                  </c:pt>
                </c:lvl>
              </c:multiLvlStrCache>
            </c:multiLvlStrRef>
          </c:cat>
          <c:val>
            <c:numRef>
              <c:f>Sheet1!$D$2:$D$11</c:f>
              <c:numCache>
                <c:formatCode>General</c:formatCode>
                <c:ptCount val="10"/>
                <c:pt idx="0">
                  <c:v>2050</c:v>
                </c:pt>
                <c:pt idx="1">
                  <c:v>2400</c:v>
                </c:pt>
                <c:pt idx="2">
                  <c:v>2600</c:v>
                </c:pt>
                <c:pt idx="3">
                  <c:v>2450</c:v>
                </c:pt>
                <c:pt idx="4">
                  <c:v>2300</c:v>
                </c:pt>
                <c:pt idx="5">
                  <c:v>2150</c:v>
                </c:pt>
                <c:pt idx="6">
                  <c:v>2050</c:v>
                </c:pt>
                <c:pt idx="7">
                  <c:v>1975</c:v>
                </c:pt>
                <c:pt idx="8">
                  <c:v>1925</c:v>
                </c:pt>
                <c:pt idx="9">
                  <c:v>1900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ax val="2800"/>
          <c:min val="800"/>
        </c:scaling>
        <c:delete val="0"/>
        <c:axPos val="l"/>
        <c:majorGridlines>
          <c:spPr>
            <a:ln w="6350" cap="flat">
              <a:solidFill>
                <a:srgbClr val="D3DC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F7183"/>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0233A"/>
                </a:solidFill>
                <a:latin typeface="Calibri"/>
              </a:defRPr>
            </a:pPr>
            <a:r>
              <a:rPr sz="1050" b="0" i="0" u="none" strike="noStrike">
                <a:solidFill>
                  <a:srgbClr val="10233A"/>
                </a:solidFill>
                <a:latin typeface="Calibri"/>
              </a:rPr>
              <a:t>Distribution of intrinsic value per share (A$), 20,000 trials</a:t>
            </a:r>
          </a:p>
        </c:rich>
      </c:tx>
      <c:layout/>
      <c:overlay val="0"/>
    </c:title>
    <c:autoTitleDeleted val="0"/>
    <c:plotArea>
      <c:layout/>
      <c:barChart>
        <c:barDir val="col"/>
        <c:grouping val="clustered"/>
        <c:varyColors val="0"/>
        <c:ser>
          <c:idx val="0"/>
          <c:order val="0"/>
          <c:tx>
            <c:strRef>
              <c:f>Sheet1!$B$1</c:f>
              <c:strCache>
                <c:ptCount val="1"/>
                <c:pt idx="0">
                  <c:v>Share of trials (%)</c:v>
                </c:pt>
              </c:strCache>
            </c:strRef>
          </c:tx>
          <c:spPr>
            <a:solidFill>
              <a:srgbClr val="1D6FD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Sheet1!$A$2:$A$33</c:f>
              <c:multiLvlStrCache>
                <c:ptCount val="32"/>
                <c:lvl>
                  <c:pt idx="0">
                    <c:v>0.3</c:v>
                  </c:pt>
                  <c:pt idx="1">
                    <c:v> </c:v>
                  </c:pt>
                  <c:pt idx="2">
                    <c:v> </c:v>
                  </c:pt>
                  <c:pt idx="3">
                    <c:v>1.8</c:v>
                  </c:pt>
                  <c:pt idx="4">
                    <c:v> </c:v>
                  </c:pt>
                  <c:pt idx="5">
                    <c:v> </c:v>
                  </c:pt>
                  <c:pt idx="6">
                    <c:v>3.3</c:v>
                  </c:pt>
                  <c:pt idx="7">
                    <c:v> </c:v>
                  </c:pt>
                  <c:pt idx="8">
                    <c:v> </c:v>
                  </c:pt>
                  <c:pt idx="9">
                    <c:v>4.8</c:v>
                  </c:pt>
                  <c:pt idx="10">
                    <c:v> </c:v>
                  </c:pt>
                  <c:pt idx="11">
                    <c:v> </c:v>
                  </c:pt>
                  <c:pt idx="12">
                    <c:v>6.3</c:v>
                  </c:pt>
                  <c:pt idx="13">
                    <c:v> </c:v>
                  </c:pt>
                  <c:pt idx="14">
                    <c:v> </c:v>
                  </c:pt>
                  <c:pt idx="15">
                    <c:v>7.8</c:v>
                  </c:pt>
                  <c:pt idx="16">
                    <c:v> </c:v>
                  </c:pt>
                  <c:pt idx="17">
                    <c:v> </c:v>
                  </c:pt>
                  <c:pt idx="18">
                    <c:v>9.3</c:v>
                  </c:pt>
                  <c:pt idx="19">
                    <c:v> </c:v>
                  </c:pt>
                  <c:pt idx="20">
                    <c:v> </c:v>
                  </c:pt>
                  <c:pt idx="21">
                    <c:v>10.8</c:v>
                  </c:pt>
                  <c:pt idx="22">
                    <c:v> </c:v>
                  </c:pt>
                  <c:pt idx="23">
                    <c:v> </c:v>
                  </c:pt>
                  <c:pt idx="24">
                    <c:v>12.3</c:v>
                  </c:pt>
                  <c:pt idx="25">
                    <c:v> </c:v>
                  </c:pt>
                  <c:pt idx="26">
                    <c:v> </c:v>
                  </c:pt>
                  <c:pt idx="27">
                    <c:v>13.8</c:v>
                  </c:pt>
                  <c:pt idx="28">
                    <c:v> </c:v>
                  </c:pt>
                  <c:pt idx="29">
                    <c:v> </c:v>
                  </c:pt>
                  <c:pt idx="30">
                    <c:v>15.3</c:v>
                  </c:pt>
                  <c:pt idx="31">
                    <c:v> </c:v>
                  </c:pt>
                </c:lvl>
              </c:multiLvlStrCache>
            </c:multiLvlStrRef>
          </c:cat>
          <c:val>
            <c:numRef>
              <c:f>Sheet1!$B$2:$B$33</c:f>
              <c:numCache>
                <c:formatCode>General</c:formatCode>
                <c:ptCount val="32"/>
                <c:pt idx="0">
                  <c:v>0.48</c:v>
                </c:pt>
                <c:pt idx="1">
                  <c:v>1.54</c:v>
                </c:pt>
                <c:pt idx="2">
                  <c:v>3.06</c:v>
                </c:pt>
                <c:pt idx="3">
                  <c:v>5.06</c:v>
                </c:pt>
                <c:pt idx="4">
                  <c:v>6.56</c:v>
                </c:pt>
                <c:pt idx="5">
                  <c:v>6.58</c:v>
                </c:pt>
                <c:pt idx="6">
                  <c:v>6.71</c:v>
                </c:pt>
                <c:pt idx="7">
                  <c:v>6.08</c:v>
                </c:pt>
                <c:pt idx="8">
                  <c:v>6.04</c:v>
                </c:pt>
                <c:pt idx="9">
                  <c:v>5.82</c:v>
                </c:pt>
                <c:pt idx="10">
                  <c:v>5.68</c:v>
                </c:pt>
                <c:pt idx="11">
                  <c:v>5.7</c:v>
                </c:pt>
                <c:pt idx="12">
                  <c:v>5</c:v>
                </c:pt>
                <c:pt idx="13">
                  <c:v>4.78</c:v>
                </c:pt>
                <c:pt idx="14">
                  <c:v>4.62</c:v>
                </c:pt>
                <c:pt idx="15">
                  <c:v>3.96</c:v>
                </c:pt>
                <c:pt idx="16">
                  <c:v>3.44</c:v>
                </c:pt>
                <c:pt idx="17">
                  <c:v>3.04</c:v>
                </c:pt>
                <c:pt idx="18">
                  <c:v>2.86</c:v>
                </c:pt>
                <c:pt idx="19">
                  <c:v>2.56</c:v>
                </c:pt>
                <c:pt idx="20">
                  <c:v>1.9</c:v>
                </c:pt>
                <c:pt idx="21">
                  <c:v>1.79</c:v>
                </c:pt>
                <c:pt idx="22">
                  <c:v>1.25</c:v>
                </c:pt>
                <c:pt idx="23">
                  <c:v>1.12</c:v>
                </c:pt>
                <c:pt idx="24">
                  <c:v>0.84</c:v>
                </c:pt>
                <c:pt idx="25">
                  <c:v>0.68</c:v>
                </c:pt>
                <c:pt idx="26">
                  <c:v>0.58</c:v>
                </c:pt>
                <c:pt idx="27">
                  <c:v>0.43</c:v>
                </c:pt>
                <c:pt idx="28">
                  <c:v>0.34</c:v>
                </c:pt>
                <c:pt idx="29">
                  <c:v>0.31</c:v>
                </c:pt>
                <c:pt idx="30">
                  <c:v>0.25</c:v>
                </c:pt>
                <c:pt idx="31">
                  <c:v>0.92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2"/>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3DCE5"/>
              </a:solidFill>
              <a:prstDash val="solid"/>
              <a:round/>
            </a:ln>
          </c:spPr>
        </c:majorGridlines>
        <c:title>
          <c:tx>
            <c:rich>
              <a:bodyPr/>
              <a:lstStyle/>
              <a:p>
                <a:pPr>
                  <a:defRPr sz="750" b="0" i="0" u="none" strike="noStrike">
                    <a:solidFill>
                      <a:srgbClr val="5F7183"/>
                    </a:solidFill>
                    <a:latin typeface="Calibri"/>
                  </a:defRPr>
                </a:pPr>
                <a:r>
                  <a:rPr sz="750" b="0" i="0" u="none" strike="noStrike">
                    <a:solidFill>
                      <a:srgbClr val="5F7183"/>
                    </a:solidFill>
                    <a:latin typeface="Calibri"/>
                  </a:rPr>
                  <a:t>% of trials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75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0233A"/>
                </a:solidFill>
                <a:latin typeface="Calibri"/>
              </a:defRPr>
            </a:pPr>
            <a:r>
              <a:rPr sz="1100" b="0" i="0" u="none" strike="noStrike">
                <a:solidFill>
                  <a:srgbClr val="10233A"/>
                </a:solidFill>
                <a:latin typeface="Calibri"/>
              </a:rPr>
              <a:t>PLS short interest, % of shares on issue</a:t>
            </a:r>
          </a:p>
        </c:rich>
      </c:tx>
      <c:layout/>
      <c:overlay val="0"/>
    </c:title>
    <c:autoTitleDeleted val="0"/>
    <c:plotArea>
      <c:layout/>
      <c:barChart>
        <c:barDir val="col"/>
        <c:grouping val="clustered"/>
        <c:varyColors val="0"/>
        <c:ser>
          <c:idx val="0"/>
          <c:order val="0"/>
          <c:tx>
            <c:strRef>
              <c:f>Sheet1!$B$1</c:f>
              <c:strCache>
                <c:ptCount val="1"/>
                <c:pt idx="0">
                  <c:v>Short interest (% of shares on issue)</c:v>
                </c:pt>
              </c:strCache>
            </c:strRef>
          </c:tx>
          <c:spPr>
            <a:solidFill>
              <a:srgbClr val="C2710B"/>
            </a:solidFill>
            <a:effectLst/>
          </c:spPr>
          <c:invertIfNegative val="0"/>
          <c:dLbls>
            <c:numFmt formatCode="0.0&quot;%&quot;" sourceLinked="0"/>
            <c:txPr>
              <a:bodyPr/>
              <a:lstStyle/>
              <a:p>
                <a:pPr>
                  <a:defRPr b="0" i="0" strike="noStrike" sz="1000" u="none">
                    <a:solidFill>
                      <a:srgbClr val="5F7183"/>
                    </a:solidFill>
                    <a:latin typeface="Calibri"/>
                  </a:defRPr>
                </a:pPr>
              </a:p>
            </c:txPr>
            <c:showLegendKey val="0"/>
            <c:showVal val="1"/>
            <c:showCatName val="0"/>
            <c:showSerName val="0"/>
            <c:showPercent val="0"/>
            <c:showBubbleSize val="0"/>
            <c:showLeaderLines val="0"/>
          </c:dLbls>
          <c:dPt>
            <c:idx val="0"/>
            <c:invertIfNegative val="0"/>
            <c:bubble3D val="0"/>
            <c:spPr>
              <a:solidFill>
                <a:srgbClr val="C2710B"/>
              </a:solidFill>
              <a:effectLst/>
            </c:spPr>
          </c:dPt>
          <c:dPt>
            <c:idx val="1"/>
            <c:invertIfNegative val="0"/>
            <c:bubble3D val="0"/>
            <c:spPr>
              <a:solidFill>
                <a:srgbClr val="C2710B"/>
              </a:solidFill>
              <a:effectLst/>
            </c:spPr>
          </c:dPt>
          <c:dPt>
            <c:idx val="2"/>
            <c:invertIfNegative val="0"/>
            <c:bubble3D val="0"/>
            <c:spPr>
              <a:solidFill>
                <a:srgbClr val="C2710B"/>
              </a:solidFill>
              <a:effectLst/>
            </c:spPr>
          </c:dPt>
          <c:dPt>
            <c:idx val="3"/>
            <c:invertIfNegative val="0"/>
            <c:bubble3D val="0"/>
            <c:spPr>
              <a:solidFill>
                <a:srgbClr val="10A07E"/>
              </a:solidFill>
              <a:effectLst/>
            </c:spPr>
          </c:dPt>
          <c:dPt>
            <c:idx val="4"/>
            <c:invertIfNegative val="0"/>
            <c:bubble3D val="0"/>
            <c:spPr>
              <a:solidFill>
                <a:srgbClr val="C2710B"/>
              </a:solidFill>
              <a:effectLst/>
            </c:spPr>
          </c:dPt>
          <c:cat>
            <c:multiLvlStrRef>
              <c:f>Sheet1!$A$2:$A$6</c:f>
              <c:multiLvlStrCache>
                <c:ptCount val="5"/>
                <c:lvl>
                  <c:pt idx="0">
                    <c:v>Sep 2024</c:v>
                  </c:pt>
                  <c:pt idx="1">
                    <c:v>Oct 2025</c:v>
                  </c:pt>
                  <c:pt idx="2">
                    <c:v>Late 2025</c:v>
                  </c:pt>
                  <c:pt idx="3">
                    <c:v>26 May 2026</c:v>
                  </c:pt>
                  <c:pt idx="4">
                    <c:v>4 Aug 2026</c:v>
                  </c:pt>
                </c:lvl>
              </c:multiLvlStrCache>
            </c:multiLvlStrRef>
          </c:cat>
          <c:val>
            <c:numRef>
              <c:f>Sheet1!$B$2:$B$6</c:f>
              <c:numCache>
                <c:formatCode>General</c:formatCode>
                <c:ptCount val="5"/>
                <c:pt idx="0">
                  <c:v>20</c:v>
                </c:pt>
                <c:pt idx="1">
                  <c:v>19</c:v>
                </c:pt>
                <c:pt idx="2">
                  <c:v>17</c:v>
                </c:pt>
                <c:pt idx="3">
                  <c:v>6.8</c:v>
                </c:pt>
                <c:pt idx="4">
                  <c:v>10.09</c:v>
                </c:pt>
              </c:numCache>
            </c:numRef>
          </c:val>
        </c:ser>
        <c:dLbls>
          <c:numFmt formatCode="0.0&quot;%&quot;" sourceLinked="0"/>
          <c:txPr>
            <a:bodyPr/>
            <a:lstStyle/>
            <a:p>
              <a:pPr>
                <a:defRPr b="0" i="0" strike="noStrike" sz="1000" u="none">
                  <a:solidFill>
                    <a:srgbClr val="5F7183"/>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5F7183"/>
                </a:solidFill>
                <a:latin typeface="Calibri"/>
              </a:defRPr>
            </a:pPr>
            <a:endParaRPr lang="en-US"/>
          </a:p>
        </c:txPr>
        <c:crossAx val="2094734552"/>
        <c:crosses val="autoZero"/>
        <c:auto val="1"/>
        <c:lblAlgn val="ctr"/>
        <c:noMultiLvlLbl val="1"/>
      </c:catAx>
      <c:valAx>
        <c:axId val="2094734552"/>
        <c:scaling>
          <c:orientation val="minMax"/>
          <c:max val="24"/>
          <c:min val="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F7183"/>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TITLE+S1 | 50s | SPEAKER A | rehearse to 9:00 not 10:00
"Buy. Twelve-month target of six dollars fourteen against a last close of five dollars forty-eight. That's 12.0% of price and a 1.6% yield, so a 13.6% total return against a benchmark that returned 5.90%. The fund needs two points of outperformance. This gives seven point seven."
"The part that matters isn't the target. It's where the upside comes from. Sixty-six cents of upside, and forty-three cents of it traces to operating decisions PLS made for environmental reasons that the market is pricing as ordinary cost control."
"Strip those decisions out and we'd be recommending a hold. That's the pitch, and we'll spend the next eight minutes defending that forty-three cents."
LAND: 66% of the upside, not 4.6% of the target.  CUT IF BEHIND: the benchmark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 | 35s | SPEAKER A | pre-empts the first question every judge has: why not BHP
"The case gave us six miners. Four of them use ESG spending to defend cash flows they already have. Rehabilitation provisions, emissions targets on an iron ore business that sells the same tonne either way. That's competent risk management. It isn't shared value."
"PLS is the only one where the societal need IS the demand. Decarbonisation is why the customer exists, and carbon intensity is becoming a condition of sale. That's the screen, and it only selects one of the six."
LAND: for four of six, the tonne sells either way.  CUT: the examples in sentence two.
HANDOVER: "So what does the company look like underneath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18s | SPEAKER B | do NOT read the four statistics
"One line on the year. Record volumes, a 59% margin, and unit costs DOWN 9% while volumes rose 17%. Costs falling while volumes rise, through the worst lithium downturn in a decade. That's the operating position we're underwriting."
LAND: costs down 9%, volumes up 17%, same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 | 25s | SPEAKER B | the credibility slide. Judges expect a lithium bull to wave the price away
"Prices tripled off the 2025 trough, then fell two hundred and seventy dollars a tonne in a single week in August as Bald Hill, Finniss and Jianxiawo restarted. We're not going to pretend that didn't happen. Wood Mackenzie still calls surplus into the early 2030s, and we carry their view as our bear case."
LAND: we carry the bear's view, not our own.  CUT IF BEHIND: the three mine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S5 | 22s | SPEAKER B
"Every team here will tell you lithium demand grows with electric vehicles. That argument rests on one policy variable and that variable just turned hostile. Ours doesn't need it. Storage installations grew about 51% last year, and storage is not subsidy-driven. The demand leg holds without a single EV assumption."
LAND: our demand case survives the subsidy repeal.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35s | SPEAKER B | slow down, this is the mechanism that makes the bear case survivable
"Here's why we can be relaxed about the price. Our bear case assumes a realised price of about eleven hundred and forty-five US dollars a tonne. At that price the top quartile of world supply is under water and Pilgangoora is still generating cash margin."
"That's what swing supply means in practice. The tonnes that come off are somebody else's. PLS doesn't just survive a downturn, it buys assets during one. It bought Latin Resources in scrip at the trough and restarted Ngungaju when prices recovered."
LAND: at our bear price a quarter of world supply loses money and PLS doesn't.  CUT: Latin Resources.
HANDOVER: "That's the asset. Here's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12s | SPEAKER C | do NOT teach Porter and Kramer to the Shared Value Project
"Porter and Kramer describe three levels. Almost every mining ESG story lives at level two. We're claiming level one, and here's what that's worth."
This is already the floor. Nothing to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50s | SPEAKER C | walk the four boxes left to right as ONE chain; each arrow is a "which means"
"Calcination is the most energy-intensive step in the chain. PLS owns a Calix electric calciner outright, opened in June, that cuts those emissions by more than 80%. Which means the tonne has a low, DECLARABLE carbon footprint."
"That word is doing the work. From 2027 the EU Battery Regulation requires a carbon footprint declaration and a battery passport. US foreign-entity rules point the same way. A tonne that can't be declared can't enter those chains at any price."
"So this is a market-access story before it is a cost story. PLS is building tonnes that qualify where competitors' tonnes won't."
LAND: declarable. Say the word three times.  CUT IF BEHIND: the US foreign-entity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S9 | 50s | SPEAKER C
"Two levers, and we'll label them honestly."
"First, ore sorting. The A$103m P680 project installed a TOMRA sorter, over a thousand tonnes an hour. It rejects barren rock before crushing, so fewer tonnes get milled for the same lithium. FY26 unit costs fell fifty-eight dollars a tonne. We attribute about thirty of that to sorting."
"Second, power. Pilgangoora runs its own generation. Gas has displaced diesel, solar and storage are next. About eighteen dollars a tonne."
"Forty-eight dollars a tonne between them. Both are things a good operator would do without an ESG label, so we don't claim them as a differentiator. We claim them as cash."
LAND: A$48/t, and that we are not overclaiming it.  CUT: the power detail, say "power adds eighteen".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 | 30s | SPEAKER C | do not apologise. This is a scoring slide
"We went looking for holes in PLS's shared-value story and we found six. The net-zero target is a DECADE, not a year. The decade commencing 2040. There's no SBTi validation and no Scope 3 disclosure, on a company whose product is consumed downstream. The tailings method isn't disclosed either, so we carry it as an unpriced risk rather than assume it's fine."
"We took the haircut before we built the number."
LAND: a decade is not a date.  CUT IF BEHIND: the tailings sentence.
HANDOVER: "So here's the number after that haircut."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S11 | 62s | SPEAKER D | the most important slide in the deck. Answer double-counting before it is asked
"First, what this bridge is not. Nothing on it is added to the DCF. Ore sorting and the power strategy are already inside the five sixty-nine cost base the model discounts. This is an attribution, not an addition. We're asking where the value comes from, not adding it twice."
"Forty-three cents a share. Thirty cents is the two cost levers. Thirteen cents is a P2000 permitting delay we think social licence avoids."
"Now the arithmetic that reframes the pitch. Measured against the six-fourteen target, forty-three cents is 4.6%. A rounding adjustment. Measured against the sixty-six cents of upside, it's 66%. Most of the investment case."
"And there's a further thirty-two cents of downstream value we've deliberately left OUTSIDE the target. Nothing here depends on it landing."
LAND: attribution not addition, then 4.6% versus 66%.  CUT: the thirty-two cents, keep it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S12 | 50s | SPEAKER D | this separates you from every team that ran a textbook DCF
"Most DCFs end with a perpetuity growing at two and a half percent forever. A mine runs out."
"On our production profile Pilgangoora consumes 104 of its 334 million mineable tonnes by FY36 and exits at 14.3 million tonnes a year. About sixteen years left. So we value the terminal period as a sixteen-year annuity, not a perpetuity."
"That single choice is worth nine billion dollars of terminal value. A perpetuity would have handed us nineteen billion on an asset that runs out of rock. It's the difference between valuing a mine and valuing a company that never depletes."
LAND: A$9.0bn versus A$19.0bn.
IF ASKED pre- or post-expansion: POST. Remaining ore over the FY36 rate, which already includes P2000.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S13 | 18s | SPEAKER D | plant it, do not narrate a football field
"Base six fifty-three, bear two dollars thirty, bull eight ninety-six. Our own Monte Carlo puts the probability of being right at 47%. So this is a position you build over several prints rather than take in one."
LAND: we ran it, and we are telling you it's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S14 | 18s | SPEAKER D | do not read twelve rows
"Twelve risks, each with an indicator we can observe. The one that decides this position is a sustained price relapse. If spodumene averages 20% below our base case, the target falls to about three dollars eighty and we're wrong. We haven't hedged that."
LAND: three dollars eighty, said without flinching.
DO NOT say short interest is 6.8%. It rebuilt to 10.09%, above our own 10% warning line, and it is on appendix F2. If it comes up, give the current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S15 | 32s | SPEAKER D | close on the number you opened with, then stop talking
"Buy. Six dollars fourteen. 12.0% upside, 13.6% total return against a 5.90% benchmark."
"Two thirds of that upside is shared value the market isn't paying for. The nearest catalyst is this quarter: first lithium phosphate from the mid-stream plant. The P2000 study lands in the December quarter. Both sit inside our horizon."
"This screen re-ranks all six miners in the case set. PLS is just where it bites hardest."
Then stop. Silence is fine. Let them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33A"/>
        </a:solidFill>
      </p:bgPr>
    </p:bg>
    <p:spTree>
      <p:nvGrpSpPr>
        <p:cNvPr id="1" name=""/>
        <p:cNvGrpSpPr/>
        <p:nvPr/>
      </p:nvGrpSpPr>
      <p:grpSpPr>
        <a:xfrm>
          <a:off x="0" y="0"/>
          <a:ext cx="0" cy="0"/>
          <a:chOff x="0" y="0"/>
          <a:chExt cx="0" cy="0"/>
        </a:xfrm>
      </p:grpSpPr>
      <p:sp>
        <p:nvSpPr>
          <p:cNvPr id="2" name="Text 0"/>
          <p:cNvSpPr txBox="1"/>
          <p:nvPr/>
        </p:nvSpPr>
        <p:spPr>
          <a:xfrm>
            <a:off x="411480" y="1920240"/>
            <a:ext cx="10515600" cy="7772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PLS GROUP LIMITED</a:t>
            </a:r>
            <a:endParaRPr lang="en-US" sz="4600" dirty="0"/>
          </a:p>
        </p:txBody>
      </p:sp>
      <p:sp>
        <p:nvSpPr>
          <p:cNvPr id="3" name="Text 1"/>
          <p:cNvSpPr txBox="1"/>
          <p:nvPr/>
        </p:nvSpPr>
        <p:spPr>
          <a:xfrm>
            <a:off x="411480" y="2724912"/>
            <a:ext cx="10515600" cy="365760"/>
          </a:xfrm>
          <a:prstGeom prst="rect">
            <a:avLst/>
          </a:prstGeom>
          <a:noFill/>
          <a:ln/>
        </p:spPr>
        <p:txBody>
          <a:bodyPr wrap="square" lIns="0" tIns="0" rIns="0" bIns="0" rtlCol="0" anchor="ctr"/>
          <a:lstStyle/>
          <a:p>
            <a:pPr indent="0" marL="0">
              <a:buNone/>
            </a:pPr>
            <a:r>
              <a:rPr lang="en-US" sz="1400" dirty="0">
                <a:solidFill>
                  <a:srgbClr val="0E7C6B"/>
                </a:solidFill>
                <a:latin typeface="Calibri" pitchFamily="34" charset="0"/>
                <a:ea typeface="Calibri" pitchFamily="34" charset="-122"/>
                <a:cs typeface="Calibri" pitchFamily="34" charset="-120"/>
              </a:rPr>
              <a:t>ASX: PLS   |   Spodumene concentrate   |   Pilgangoora, Western Australia</a:t>
            </a:r>
            <a:endParaRPr lang="en-US" sz="1400" dirty="0"/>
          </a:p>
        </p:txBody>
      </p:sp>
      <p:sp>
        <p:nvSpPr>
          <p:cNvPr id="4" name="Text 2"/>
          <p:cNvSpPr txBox="1"/>
          <p:nvPr/>
        </p:nvSpPr>
        <p:spPr>
          <a:xfrm>
            <a:off x="411480" y="3310128"/>
            <a:ext cx="7589520" cy="1051560"/>
          </a:xfrm>
          <a:prstGeom prst="rect">
            <a:avLst/>
          </a:prstGeom>
          <a:noFill/>
          <a:ln/>
        </p:spPr>
        <p:txBody>
          <a:bodyPr wrap="square" lIns="0" tIns="0" rIns="0" bIns="0" rtlCol="0" anchor="t"/>
          <a:lstStyle/>
          <a:p>
            <a:pPr indent="0" marL="0">
              <a:lnSpc>
                <a:spcPct val="115000"/>
              </a:lnSpc>
              <a:buNone/>
            </a:pPr>
            <a:r>
              <a:rPr lang="en-US" sz="1700" i="1" dirty="0">
                <a:solidFill>
                  <a:srgbClr val="C9D8E6"/>
                </a:solidFill>
                <a:latin typeface="Cambria" pitchFamily="34" charset="0"/>
                <a:ea typeface="Cambria" pitchFamily="34" charset="-122"/>
                <a:cs typeface="Cambria" pitchFamily="34" charset="-120"/>
              </a:rPr>
              <a:t>The market is paying for a lithium miner.</a:t>
            </a:r>
            <a:endParaRPr lang="en-US" sz="1700" dirty="0"/>
          </a:p>
          <a:p>
            <a:pPr indent="0" marL="0">
              <a:lnSpc>
                <a:spcPct val="115000"/>
              </a:lnSpc>
              <a:buNone/>
            </a:pPr>
            <a:r>
              <a:rPr lang="en-US" sz="1700" i="1" dirty="0">
                <a:solidFill>
                  <a:srgbClr val="C9D8E6"/>
                </a:solidFill>
                <a:latin typeface="Cambria" pitchFamily="34" charset="0"/>
                <a:ea typeface="Cambria" pitchFamily="34" charset="-122"/>
                <a:cs typeface="Cambria" pitchFamily="34" charset="-120"/>
              </a:rPr>
              <a:t>We are paying for the only one of the six that can sell a tonne the others cannot.</a:t>
            </a:r>
            <a:endParaRPr lang="en-US" sz="1700" dirty="0"/>
          </a:p>
        </p:txBody>
      </p:sp>
      <p:sp>
        <p:nvSpPr>
          <p:cNvPr id="5" name="Shape 3"/>
          <p:cNvSpPr/>
          <p:nvPr/>
        </p:nvSpPr>
        <p:spPr>
          <a:xfrm>
            <a:off x="8275320" y="3310128"/>
            <a:ext cx="3502152" cy="1481328"/>
          </a:xfrm>
          <a:prstGeom prst="rect">
            <a:avLst/>
          </a:prstGeom>
          <a:solidFill>
            <a:srgbClr val="0E7C6B"/>
          </a:solidFill>
          <a:ln/>
        </p:spPr>
      </p:sp>
      <p:sp>
        <p:nvSpPr>
          <p:cNvPr id="6" name="Text 4"/>
          <p:cNvSpPr txBox="1"/>
          <p:nvPr/>
        </p:nvSpPr>
        <p:spPr>
          <a:xfrm>
            <a:off x="8275320" y="3401568"/>
            <a:ext cx="3502152" cy="566928"/>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BUY</a:t>
            </a:r>
            <a:endParaRPr lang="en-US" sz="3400" dirty="0"/>
          </a:p>
        </p:txBody>
      </p:sp>
      <p:sp>
        <p:nvSpPr>
          <p:cNvPr id="7" name="Text 5"/>
          <p:cNvSpPr txBox="1"/>
          <p:nvPr/>
        </p:nvSpPr>
        <p:spPr>
          <a:xfrm>
            <a:off x="8275320" y="3950208"/>
            <a:ext cx="3502152"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12-month target  A$6.14</a:t>
            </a:r>
            <a:endParaRPr lang="en-US" sz="1300" dirty="0"/>
          </a:p>
        </p:txBody>
      </p:sp>
      <p:sp>
        <p:nvSpPr>
          <p:cNvPr id="8" name="Text 6"/>
          <p:cNvSpPr txBox="1"/>
          <p:nvPr/>
        </p:nvSpPr>
        <p:spPr>
          <a:xfrm>
            <a:off x="8275320" y="4224528"/>
            <a:ext cx="3502152" cy="530352"/>
          </a:xfrm>
          <a:prstGeom prst="rect">
            <a:avLst/>
          </a:prstGeom>
          <a:noFill/>
          <a:ln/>
        </p:spPr>
        <p:txBody>
          <a:bodyPr wrap="square" lIns="0" tIns="0" rIns="0" bIns="0" rtlCol="0" anchor="t"/>
          <a:lstStyle/>
          <a:p>
            <a:pPr algn="ctr" indent="0" marL="0">
              <a:lnSpc>
                <a:spcPct val="110000"/>
              </a:lnSpc>
              <a:buNone/>
            </a:pPr>
            <a:r>
              <a:rPr lang="en-US" sz="1000" dirty="0">
                <a:solidFill>
                  <a:srgbClr val="DDF0EB"/>
                </a:solidFill>
                <a:latin typeface="Calibri" pitchFamily="34" charset="0"/>
                <a:ea typeface="Calibri" pitchFamily="34" charset="-122"/>
                <a:cs typeface="Calibri" pitchFamily="34" charset="-120"/>
              </a:rPr>
              <a:t>Last close A$5.48   |   +12.0%</a:t>
            </a:r>
            <a:endParaRPr lang="en-US" sz="1000" dirty="0"/>
          </a:p>
          <a:p>
            <a:pPr algn="ctr" indent="0" marL="0">
              <a:lnSpc>
                <a:spcPct val="110000"/>
              </a:lnSpc>
              <a:buNone/>
            </a:pPr>
            <a:r>
              <a:rPr lang="en-US" sz="1000" dirty="0">
                <a:solidFill>
                  <a:srgbClr val="DDF0EB"/>
                </a:solidFill>
                <a:latin typeface="Calibri" pitchFamily="34" charset="0"/>
                <a:ea typeface="Calibri" pitchFamily="34" charset="-122"/>
                <a:cs typeface="Calibri" pitchFamily="34" charset="-120"/>
              </a:rPr>
              <a:t>Total return 13.6% vs benchmark 5.90%</a:t>
            </a:r>
            <a:endParaRPr lang="en-US" sz="1000" dirty="0"/>
          </a:p>
        </p:txBody>
      </p:sp>
      <p:sp>
        <p:nvSpPr>
          <p:cNvPr id="9" name="Text 7"/>
          <p:cNvSpPr txBox="1"/>
          <p:nvPr/>
        </p:nvSpPr>
        <p:spPr>
          <a:xfrm>
            <a:off x="411480" y="5669280"/>
            <a:ext cx="73152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FMAA Asset Management  |  Shared Value Coverage Team</a:t>
            </a:r>
            <a:endParaRPr lang="en-US" sz="1100" dirty="0"/>
          </a:p>
        </p:txBody>
      </p:sp>
      <p:sp>
        <p:nvSpPr>
          <p:cNvPr id="10" name="Text 8"/>
          <p:cNvSpPr txBox="1"/>
          <p:nvPr/>
        </p:nvSpPr>
        <p:spPr>
          <a:xfrm>
            <a:off x="411480" y="5943600"/>
            <a:ext cx="7315200" cy="548640"/>
          </a:xfrm>
          <a:prstGeom prst="rect">
            <a:avLst/>
          </a:prstGeom>
          <a:noFill/>
          <a:ln/>
        </p:spPr>
        <p:txBody>
          <a:bodyPr wrap="square" lIns="0" tIns="0" rIns="0" bIns="0" rtlCol="0" anchor="t"/>
          <a:lstStyle/>
          <a:p>
            <a:pPr indent="0" marL="0">
              <a:lnSpc>
                <a:spcPct val="115000"/>
              </a:lnSpc>
              <a:buNone/>
            </a:pPr>
            <a:r>
              <a:rPr lang="en-US" sz="950" dirty="0">
                <a:solidFill>
                  <a:srgbClr val="8FA8BE"/>
                </a:solidFill>
                <a:latin typeface="Calibri" pitchFamily="34" charset="0"/>
                <a:ea typeface="Calibri" pitchFamily="34" charset="-122"/>
                <a:cs typeface="Calibri" pitchFamily="34" charset="-120"/>
              </a:rPr>
              <a:t>Shared Value Project x FMAA  |  Investing for the Future Case Competition 2026</a:t>
            </a:r>
            <a:endParaRPr lang="en-US" sz="950" dirty="0"/>
          </a:p>
          <a:p>
            <a:pPr indent="0" marL="0">
              <a:lnSpc>
                <a:spcPct val="115000"/>
              </a:lnSpc>
              <a:buNone/>
            </a:pPr>
            <a:r>
              <a:rPr lang="en-US" sz="950" dirty="0">
                <a:solidFill>
                  <a:srgbClr val="8FA8BE"/>
                </a:solidFill>
                <a:latin typeface="Calibri" pitchFamily="34" charset="0"/>
                <a:ea typeface="Calibri" pitchFamily="34" charset="-122"/>
                <a:cs typeface="Calibri" pitchFamily="34" charset="-120"/>
              </a:rPr>
              <a:t>Valuation date 5 September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5722" y="6400800"/>
            <a:ext cx="1335024" cy="274320"/>
          </a:xfrm>
          <a:prstGeom prst="roundRect">
            <a:avLst>
              <a:gd name="adj" fmla="val 20000"/>
            </a:avLst>
          </a:prstGeom>
          <a:solidFill>
            <a:srgbClr val="10233A"/>
          </a:solidFill>
          <a:ln/>
        </p:spPr>
      </p:sp>
      <p:sp>
        <p:nvSpPr>
          <p:cNvPr id="3" name="Text 1"/>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Summary</a:t>
            </a:r>
            <a:endParaRPr lang="en-US" sz="850" dirty="0"/>
          </a:p>
        </p:txBody>
      </p:sp>
      <p:sp>
        <p:nvSpPr>
          <p:cNvPr id="4" name="Text 2"/>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5" name="Text 3"/>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6" name="Text 4"/>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Two thirds of the upside we see is the shared-value position the market has not priced. That is the entire recommendation.</a:t>
            </a:r>
            <a:endParaRPr lang="en-US" sz="15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Executive summary</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1298448"/>
            <a:ext cx="3639312" cy="2286000"/>
          </a:xfrm>
          <a:prstGeom prst="rect">
            <a:avLst/>
          </a:prstGeom>
          <a:solidFill>
            <a:srgbClr val="F7F9FB"/>
          </a:solidFill>
          <a:ln w="9525">
            <a:solidFill>
              <a:srgbClr val="D3DCE5"/>
            </a:solidFill>
            <a:prstDash val="solid"/>
          </a:ln>
        </p:spPr>
      </p:sp>
      <p:sp>
        <p:nvSpPr>
          <p:cNvPr id="18" name="Text 15"/>
          <p:cNvSpPr txBox="1"/>
          <p:nvPr/>
        </p:nvSpPr>
        <p:spPr>
          <a:xfrm>
            <a:off x="576072" y="1408176"/>
            <a:ext cx="457200" cy="256032"/>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01</a:t>
            </a:r>
            <a:endParaRPr lang="en-US" sz="1000" dirty="0"/>
          </a:p>
        </p:txBody>
      </p:sp>
      <p:sp>
        <p:nvSpPr>
          <p:cNvPr id="19" name="Text 16"/>
          <p:cNvSpPr txBox="1"/>
          <p:nvPr/>
        </p:nvSpPr>
        <p:spPr>
          <a:xfrm>
            <a:off x="1033272" y="1408176"/>
            <a:ext cx="2834640" cy="256032"/>
          </a:xfrm>
          <a:prstGeom prst="rect">
            <a:avLst/>
          </a:prstGeom>
          <a:noFill/>
          <a:ln/>
        </p:spPr>
        <p:txBody>
          <a:bodyPr wrap="square" lIns="0" tIns="0" rIns="0" bIns="0" rtlCol="0" anchor="ctr"/>
          <a:lstStyle/>
          <a:p>
            <a:pPr indent="0" marL="0">
              <a:buNone/>
            </a:pPr>
            <a:r>
              <a:rPr lang="en-US" sz="1050" b="1" dirty="0">
                <a:solidFill>
                  <a:srgbClr val="5F7183"/>
                </a:solidFill>
                <a:latin typeface="Calibri" pitchFamily="34" charset="0"/>
                <a:ea typeface="Calibri" pitchFamily="34" charset="-122"/>
                <a:cs typeface="Calibri" pitchFamily="34" charset="-120"/>
              </a:rPr>
              <a:t>The asset</a:t>
            </a:r>
            <a:endParaRPr lang="en-US" sz="1050" dirty="0"/>
          </a:p>
        </p:txBody>
      </p:sp>
      <p:sp>
        <p:nvSpPr>
          <p:cNvPr id="20" name="Text 17"/>
          <p:cNvSpPr txBox="1"/>
          <p:nvPr/>
        </p:nvSpPr>
        <p:spPr>
          <a:xfrm>
            <a:off x="576072" y="1700784"/>
            <a:ext cx="3291840" cy="566928"/>
          </a:xfrm>
          <a:prstGeom prst="rect">
            <a:avLst/>
          </a:prstGeom>
          <a:noFill/>
          <a:ln/>
        </p:spPr>
        <p:txBody>
          <a:bodyPr wrap="square" lIns="0" tIns="0" rIns="0" bIns="0" rtlCol="0" anchor="ctr"/>
          <a:lstStyle/>
          <a:p>
            <a:pPr indent="0" marL="0">
              <a:buNone/>
            </a:pPr>
            <a:r>
              <a:rPr lang="en-US" sz="3000" b="1" dirty="0">
                <a:solidFill>
                  <a:srgbClr val="10233A"/>
                </a:solidFill>
                <a:latin typeface="Cambria" pitchFamily="34" charset="0"/>
                <a:ea typeface="Cambria" pitchFamily="34" charset="-122"/>
                <a:cs typeface="Cambria" pitchFamily="34" charset="-120"/>
              </a:rPr>
              <a:t>A$569/t</a:t>
            </a:r>
            <a:endParaRPr lang="en-US" sz="3000" dirty="0"/>
          </a:p>
        </p:txBody>
      </p:sp>
      <p:sp>
        <p:nvSpPr>
          <p:cNvPr id="21" name="Text 18"/>
          <p:cNvSpPr txBox="1"/>
          <p:nvPr/>
        </p:nvSpPr>
        <p:spPr>
          <a:xfrm>
            <a:off x="576072" y="2267712"/>
            <a:ext cx="3291840" cy="219456"/>
          </a:xfrm>
          <a:prstGeom prst="rect">
            <a:avLst/>
          </a:prstGeom>
          <a:noFill/>
          <a:ln/>
        </p:spPr>
        <p:txBody>
          <a:bodyPr wrap="square" lIns="0" tIns="0" rIns="0" bIns="0" rtlCol="0" anchor="ctr"/>
          <a:lstStyle/>
          <a:p>
            <a:pPr indent="0" marL="0">
              <a:buNone/>
            </a:pPr>
            <a:r>
              <a:rPr lang="en-US" sz="900" b="1" dirty="0">
                <a:solidFill>
                  <a:srgbClr val="0E7C6B"/>
                </a:solidFill>
                <a:latin typeface="Calibri" pitchFamily="34" charset="0"/>
                <a:ea typeface="Calibri" pitchFamily="34" charset="-122"/>
                <a:cs typeface="Calibri" pitchFamily="34" charset="-120"/>
              </a:rPr>
              <a:t>FY26 unit cost, FOB</a:t>
            </a:r>
            <a:endParaRPr lang="en-US" sz="900" dirty="0"/>
          </a:p>
        </p:txBody>
      </p:sp>
      <p:sp>
        <p:nvSpPr>
          <p:cNvPr id="22" name="Text 19"/>
          <p:cNvSpPr txBox="1"/>
          <p:nvPr/>
        </p:nvSpPr>
        <p:spPr>
          <a:xfrm>
            <a:off x="576072" y="2487168"/>
            <a:ext cx="3310128" cy="1005840"/>
          </a:xfrm>
          <a:prstGeom prst="rect">
            <a:avLst/>
          </a:prstGeom>
          <a:noFill/>
          <a:ln/>
        </p:spPr>
        <p:txBody>
          <a:bodyPr wrap="square" lIns="0" tIns="0" rIns="0" bIns="0" rtlCol="0" anchor="t"/>
          <a:lstStyle/>
          <a:p>
            <a:pPr indent="0" marL="0">
              <a:lnSpc>
                <a:spcPct val="116000"/>
              </a:lnSpc>
              <a:buNone/>
            </a:pPr>
            <a:r>
              <a:rPr lang="en-US" sz="960" dirty="0">
                <a:solidFill>
                  <a:srgbClr val="1B2733"/>
                </a:solidFill>
                <a:latin typeface="Calibri" pitchFamily="34" charset="0"/>
                <a:ea typeface="Calibri" pitchFamily="34" charset="-122"/>
                <a:cs typeface="Calibri" pitchFamily="34" charset="-120"/>
              </a:rPr>
              <a:t>Pilgangoora produced 879.5kt in FY26, up 17%, at a 59% EBITDA margin. Costs fell 9% while volumes rose.</a:t>
            </a:r>
            <a:endParaRPr lang="en-US" sz="960" dirty="0"/>
          </a:p>
        </p:txBody>
      </p:sp>
      <p:sp>
        <p:nvSpPr>
          <p:cNvPr id="23" name="Shape 20"/>
          <p:cNvSpPr/>
          <p:nvPr/>
        </p:nvSpPr>
        <p:spPr>
          <a:xfrm>
            <a:off x="4215384" y="1298448"/>
            <a:ext cx="3639312" cy="2286000"/>
          </a:xfrm>
          <a:prstGeom prst="rect">
            <a:avLst/>
          </a:prstGeom>
          <a:solidFill>
            <a:srgbClr val="F7F9FB"/>
          </a:solidFill>
          <a:ln w="9525">
            <a:solidFill>
              <a:srgbClr val="D3DCE5"/>
            </a:solidFill>
            <a:prstDash val="solid"/>
          </a:ln>
        </p:spPr>
      </p:sp>
      <p:sp>
        <p:nvSpPr>
          <p:cNvPr id="24" name="Text 21"/>
          <p:cNvSpPr txBox="1"/>
          <p:nvPr/>
        </p:nvSpPr>
        <p:spPr>
          <a:xfrm>
            <a:off x="4379976" y="1408176"/>
            <a:ext cx="457200" cy="256032"/>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02</a:t>
            </a:r>
            <a:endParaRPr lang="en-US" sz="1000" dirty="0"/>
          </a:p>
        </p:txBody>
      </p:sp>
      <p:sp>
        <p:nvSpPr>
          <p:cNvPr id="25" name="Text 22"/>
          <p:cNvSpPr txBox="1"/>
          <p:nvPr/>
        </p:nvSpPr>
        <p:spPr>
          <a:xfrm>
            <a:off x="4837176" y="1408176"/>
            <a:ext cx="2834640" cy="256032"/>
          </a:xfrm>
          <a:prstGeom prst="rect">
            <a:avLst/>
          </a:prstGeom>
          <a:noFill/>
          <a:ln/>
        </p:spPr>
        <p:txBody>
          <a:bodyPr wrap="square" lIns="0" tIns="0" rIns="0" bIns="0" rtlCol="0" anchor="ctr"/>
          <a:lstStyle/>
          <a:p>
            <a:pPr indent="0" marL="0">
              <a:buNone/>
            </a:pPr>
            <a:r>
              <a:rPr lang="en-US" sz="1050" b="1" dirty="0">
                <a:solidFill>
                  <a:srgbClr val="5F7183"/>
                </a:solidFill>
                <a:latin typeface="Calibri" pitchFamily="34" charset="0"/>
                <a:ea typeface="Calibri" pitchFamily="34" charset="-122"/>
                <a:cs typeface="Calibri" pitchFamily="34" charset="-120"/>
              </a:rPr>
              <a:t>The balance sheet</a:t>
            </a:r>
            <a:endParaRPr lang="en-US" sz="1050" dirty="0"/>
          </a:p>
        </p:txBody>
      </p:sp>
      <p:sp>
        <p:nvSpPr>
          <p:cNvPr id="26" name="Text 23"/>
          <p:cNvSpPr txBox="1"/>
          <p:nvPr/>
        </p:nvSpPr>
        <p:spPr>
          <a:xfrm>
            <a:off x="4379976" y="1700784"/>
            <a:ext cx="3291840" cy="566928"/>
          </a:xfrm>
          <a:prstGeom prst="rect">
            <a:avLst/>
          </a:prstGeom>
          <a:noFill/>
          <a:ln/>
        </p:spPr>
        <p:txBody>
          <a:bodyPr wrap="square" lIns="0" tIns="0" rIns="0" bIns="0" rtlCol="0" anchor="ctr"/>
          <a:lstStyle/>
          <a:p>
            <a:pPr indent="0" marL="0">
              <a:buNone/>
            </a:pPr>
            <a:r>
              <a:rPr lang="en-US" sz="3000" b="1" dirty="0">
                <a:solidFill>
                  <a:srgbClr val="10233A"/>
                </a:solidFill>
                <a:latin typeface="Cambria" pitchFamily="34" charset="0"/>
                <a:ea typeface="Cambria" pitchFamily="34" charset="-122"/>
                <a:cs typeface="Cambria" pitchFamily="34" charset="-120"/>
              </a:rPr>
              <a:t>A$2.29bn</a:t>
            </a:r>
            <a:endParaRPr lang="en-US" sz="3000" dirty="0"/>
          </a:p>
        </p:txBody>
      </p:sp>
      <p:sp>
        <p:nvSpPr>
          <p:cNvPr id="27" name="Text 24"/>
          <p:cNvSpPr txBox="1"/>
          <p:nvPr/>
        </p:nvSpPr>
        <p:spPr>
          <a:xfrm>
            <a:off x="4379976" y="2267712"/>
            <a:ext cx="3291840" cy="219456"/>
          </a:xfrm>
          <a:prstGeom prst="rect">
            <a:avLst/>
          </a:prstGeom>
          <a:noFill/>
          <a:ln/>
        </p:spPr>
        <p:txBody>
          <a:bodyPr wrap="square" lIns="0" tIns="0" rIns="0" bIns="0" rtlCol="0" anchor="ctr"/>
          <a:lstStyle/>
          <a:p>
            <a:pPr indent="0" marL="0">
              <a:buNone/>
            </a:pPr>
            <a:r>
              <a:rPr lang="en-US" sz="900" b="1" dirty="0">
                <a:solidFill>
                  <a:srgbClr val="0E7C6B"/>
                </a:solidFill>
                <a:latin typeface="Calibri" pitchFamily="34" charset="0"/>
                <a:ea typeface="Calibri" pitchFamily="34" charset="-122"/>
                <a:cs typeface="Calibri" pitchFamily="34" charset="-120"/>
              </a:rPr>
              <a:t>Cash at 30 June 2026</a:t>
            </a:r>
            <a:endParaRPr lang="en-US" sz="900" dirty="0"/>
          </a:p>
        </p:txBody>
      </p:sp>
      <p:sp>
        <p:nvSpPr>
          <p:cNvPr id="28" name="Text 25"/>
          <p:cNvSpPr txBox="1"/>
          <p:nvPr/>
        </p:nvSpPr>
        <p:spPr>
          <a:xfrm>
            <a:off x="4379976" y="2487168"/>
            <a:ext cx="3310128" cy="1005840"/>
          </a:xfrm>
          <a:prstGeom prst="rect">
            <a:avLst/>
          </a:prstGeom>
          <a:noFill/>
          <a:ln/>
        </p:spPr>
        <p:txBody>
          <a:bodyPr wrap="square" lIns="0" tIns="0" rIns="0" bIns="0" rtlCol="0" anchor="t"/>
          <a:lstStyle/>
          <a:p>
            <a:pPr indent="0" marL="0">
              <a:lnSpc>
                <a:spcPct val="116000"/>
              </a:lnSpc>
              <a:buNone/>
            </a:pPr>
            <a:r>
              <a:rPr lang="en-US" sz="960" dirty="0">
                <a:solidFill>
                  <a:srgbClr val="1B2733"/>
                </a:solidFill>
                <a:latin typeface="Calibri" pitchFamily="34" charset="0"/>
                <a:ea typeface="Calibri" pitchFamily="34" charset="-122"/>
                <a:cs typeface="Calibri" pitchFamily="34" charset="-120"/>
              </a:rPr>
              <a:t>Net cash of A$1.44bn, an inaugural US$600m bond, and a dividend reinstated at 5cps fully franked.</a:t>
            </a:r>
            <a:endParaRPr lang="en-US" sz="960" dirty="0"/>
          </a:p>
        </p:txBody>
      </p:sp>
      <p:sp>
        <p:nvSpPr>
          <p:cNvPr id="29" name="Shape 26"/>
          <p:cNvSpPr/>
          <p:nvPr/>
        </p:nvSpPr>
        <p:spPr>
          <a:xfrm>
            <a:off x="8019288" y="1298448"/>
            <a:ext cx="3639312" cy="2286000"/>
          </a:xfrm>
          <a:prstGeom prst="rect">
            <a:avLst/>
          </a:prstGeom>
          <a:solidFill>
            <a:srgbClr val="F7F9FB"/>
          </a:solidFill>
          <a:ln w="9525">
            <a:solidFill>
              <a:srgbClr val="D3DCE5"/>
            </a:solidFill>
            <a:prstDash val="solid"/>
          </a:ln>
        </p:spPr>
      </p:sp>
      <p:sp>
        <p:nvSpPr>
          <p:cNvPr id="30" name="Text 27"/>
          <p:cNvSpPr txBox="1"/>
          <p:nvPr/>
        </p:nvSpPr>
        <p:spPr>
          <a:xfrm>
            <a:off x="8183880" y="1408176"/>
            <a:ext cx="457200" cy="256032"/>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03</a:t>
            </a:r>
            <a:endParaRPr lang="en-US" sz="1000" dirty="0"/>
          </a:p>
        </p:txBody>
      </p:sp>
      <p:sp>
        <p:nvSpPr>
          <p:cNvPr id="31" name="Text 28"/>
          <p:cNvSpPr txBox="1"/>
          <p:nvPr/>
        </p:nvSpPr>
        <p:spPr>
          <a:xfrm>
            <a:off x="8641080" y="1408176"/>
            <a:ext cx="2834640" cy="256032"/>
          </a:xfrm>
          <a:prstGeom prst="rect">
            <a:avLst/>
          </a:prstGeom>
          <a:noFill/>
          <a:ln/>
        </p:spPr>
        <p:txBody>
          <a:bodyPr wrap="square" lIns="0" tIns="0" rIns="0" bIns="0" rtlCol="0" anchor="ctr"/>
          <a:lstStyle/>
          <a:p>
            <a:pPr indent="0" marL="0">
              <a:buNone/>
            </a:pPr>
            <a:r>
              <a:rPr lang="en-US" sz="1050" b="1" dirty="0">
                <a:solidFill>
                  <a:srgbClr val="5F7183"/>
                </a:solidFill>
                <a:latin typeface="Calibri" pitchFamily="34" charset="0"/>
                <a:ea typeface="Calibri" pitchFamily="34" charset="-122"/>
                <a:cs typeface="Calibri" pitchFamily="34" charset="-120"/>
              </a:rPr>
              <a:t>The growth</a:t>
            </a:r>
            <a:endParaRPr lang="en-US" sz="1050" dirty="0"/>
          </a:p>
        </p:txBody>
      </p:sp>
      <p:sp>
        <p:nvSpPr>
          <p:cNvPr id="32" name="Text 29"/>
          <p:cNvSpPr txBox="1"/>
          <p:nvPr/>
        </p:nvSpPr>
        <p:spPr>
          <a:xfrm>
            <a:off x="8183880" y="1700784"/>
            <a:ext cx="3291840" cy="566928"/>
          </a:xfrm>
          <a:prstGeom prst="rect">
            <a:avLst/>
          </a:prstGeom>
          <a:noFill/>
          <a:ln/>
        </p:spPr>
        <p:txBody>
          <a:bodyPr wrap="square" lIns="0" tIns="0" rIns="0" bIns="0" rtlCol="0" anchor="ctr"/>
          <a:lstStyle/>
          <a:p>
            <a:pPr indent="0" marL="0">
              <a:buNone/>
            </a:pPr>
            <a:r>
              <a:rPr lang="en-US" sz="3000" b="1" dirty="0">
                <a:solidFill>
                  <a:srgbClr val="10233A"/>
                </a:solidFill>
                <a:latin typeface="Cambria" pitchFamily="34" charset="0"/>
                <a:ea typeface="Cambria" pitchFamily="34" charset="-122"/>
                <a:cs typeface="Cambria" pitchFamily="34" charset="-120"/>
              </a:rPr>
              <a:t>&gt;2 Mtpa</a:t>
            </a:r>
            <a:endParaRPr lang="en-US" sz="3000" dirty="0"/>
          </a:p>
        </p:txBody>
      </p:sp>
      <p:sp>
        <p:nvSpPr>
          <p:cNvPr id="33" name="Text 30"/>
          <p:cNvSpPr txBox="1"/>
          <p:nvPr/>
        </p:nvSpPr>
        <p:spPr>
          <a:xfrm>
            <a:off x="8183880" y="2267712"/>
            <a:ext cx="3291840" cy="219456"/>
          </a:xfrm>
          <a:prstGeom prst="rect">
            <a:avLst/>
          </a:prstGeom>
          <a:noFill/>
          <a:ln/>
        </p:spPr>
        <p:txBody>
          <a:bodyPr wrap="square" lIns="0" tIns="0" rIns="0" bIns="0" rtlCol="0" anchor="ctr"/>
          <a:lstStyle/>
          <a:p>
            <a:pPr indent="0" marL="0">
              <a:buNone/>
            </a:pPr>
            <a:r>
              <a:rPr lang="en-US" sz="900" b="1" dirty="0">
                <a:solidFill>
                  <a:srgbClr val="0E7C6B"/>
                </a:solidFill>
                <a:latin typeface="Calibri" pitchFamily="34" charset="0"/>
                <a:ea typeface="Calibri" pitchFamily="34" charset="-122"/>
                <a:cs typeface="Calibri" pitchFamily="34" charset="-120"/>
              </a:rPr>
              <a:t>P2000 doubles Pilgangoora</a:t>
            </a:r>
            <a:endParaRPr lang="en-US" sz="900" dirty="0"/>
          </a:p>
        </p:txBody>
      </p:sp>
      <p:sp>
        <p:nvSpPr>
          <p:cNvPr id="34" name="Text 31"/>
          <p:cNvSpPr txBox="1"/>
          <p:nvPr/>
        </p:nvSpPr>
        <p:spPr>
          <a:xfrm>
            <a:off x="8183880" y="2487168"/>
            <a:ext cx="3310128" cy="1005840"/>
          </a:xfrm>
          <a:prstGeom prst="rect">
            <a:avLst/>
          </a:prstGeom>
          <a:noFill/>
          <a:ln/>
        </p:spPr>
        <p:txBody>
          <a:bodyPr wrap="square" lIns="0" tIns="0" rIns="0" bIns="0" rtlCol="0" anchor="t"/>
          <a:lstStyle/>
          <a:p>
            <a:pPr indent="0" marL="0">
              <a:lnSpc>
                <a:spcPct val="116000"/>
              </a:lnSpc>
              <a:buNone/>
            </a:pPr>
            <a:r>
              <a:rPr lang="en-US" sz="960" dirty="0">
                <a:solidFill>
                  <a:srgbClr val="1B2733"/>
                </a:solidFill>
                <a:latin typeface="Calibri" pitchFamily="34" charset="0"/>
                <a:ea typeface="Calibri" pitchFamily="34" charset="-122"/>
                <a:cs typeface="Calibri" pitchFamily="34" charset="-120"/>
              </a:rPr>
              <a:t>PFS puts the increment at A$2.6bn NPV and a 55% IRR. A$175m of pre-FID capital is already approved.</a:t>
            </a:r>
            <a:endParaRPr lang="en-US" sz="960" dirty="0"/>
          </a:p>
        </p:txBody>
      </p:sp>
      <p:sp>
        <p:nvSpPr>
          <p:cNvPr id="35" name="Shape 32"/>
          <p:cNvSpPr/>
          <p:nvPr/>
        </p:nvSpPr>
        <p:spPr>
          <a:xfrm>
            <a:off x="411480" y="3749040"/>
            <a:ext cx="3639312" cy="2286000"/>
          </a:xfrm>
          <a:prstGeom prst="rect">
            <a:avLst/>
          </a:prstGeom>
          <a:solidFill>
            <a:srgbClr val="F7F9FB"/>
          </a:solidFill>
          <a:ln w="9525">
            <a:solidFill>
              <a:srgbClr val="D3DCE5"/>
            </a:solidFill>
            <a:prstDash val="solid"/>
          </a:ln>
        </p:spPr>
      </p:sp>
      <p:sp>
        <p:nvSpPr>
          <p:cNvPr id="36" name="Text 33"/>
          <p:cNvSpPr txBox="1"/>
          <p:nvPr/>
        </p:nvSpPr>
        <p:spPr>
          <a:xfrm>
            <a:off x="576072" y="3858768"/>
            <a:ext cx="457200" cy="256032"/>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04</a:t>
            </a:r>
            <a:endParaRPr lang="en-US" sz="1000" dirty="0"/>
          </a:p>
        </p:txBody>
      </p:sp>
      <p:sp>
        <p:nvSpPr>
          <p:cNvPr id="37" name="Text 34"/>
          <p:cNvSpPr txBox="1"/>
          <p:nvPr/>
        </p:nvSpPr>
        <p:spPr>
          <a:xfrm>
            <a:off x="1033272" y="3858768"/>
            <a:ext cx="2834640" cy="256032"/>
          </a:xfrm>
          <a:prstGeom prst="rect">
            <a:avLst/>
          </a:prstGeom>
          <a:noFill/>
          <a:ln/>
        </p:spPr>
        <p:txBody>
          <a:bodyPr wrap="square" lIns="0" tIns="0" rIns="0" bIns="0" rtlCol="0" anchor="ctr"/>
          <a:lstStyle/>
          <a:p>
            <a:pPr indent="0" marL="0">
              <a:buNone/>
            </a:pPr>
            <a:r>
              <a:rPr lang="en-US" sz="1050" b="1" dirty="0">
                <a:solidFill>
                  <a:srgbClr val="5F7183"/>
                </a:solidFill>
                <a:latin typeface="Calibri" pitchFamily="34" charset="0"/>
                <a:ea typeface="Calibri" pitchFamily="34" charset="-122"/>
                <a:cs typeface="Calibri" pitchFamily="34" charset="-120"/>
              </a:rPr>
              <a:t>The shared value</a:t>
            </a:r>
            <a:endParaRPr lang="en-US" sz="1050" dirty="0"/>
          </a:p>
        </p:txBody>
      </p:sp>
      <p:sp>
        <p:nvSpPr>
          <p:cNvPr id="38" name="Text 35"/>
          <p:cNvSpPr txBox="1"/>
          <p:nvPr/>
        </p:nvSpPr>
        <p:spPr>
          <a:xfrm>
            <a:off x="576072" y="4151376"/>
            <a:ext cx="3291840" cy="566928"/>
          </a:xfrm>
          <a:prstGeom prst="rect">
            <a:avLst/>
          </a:prstGeom>
          <a:noFill/>
          <a:ln/>
        </p:spPr>
        <p:txBody>
          <a:bodyPr wrap="square" lIns="0" tIns="0" rIns="0" bIns="0" rtlCol="0" anchor="ctr"/>
          <a:lstStyle/>
          <a:p>
            <a:pPr indent="0" marL="0">
              <a:buNone/>
            </a:pPr>
            <a:r>
              <a:rPr lang="en-US" sz="3000" b="1" dirty="0">
                <a:solidFill>
                  <a:srgbClr val="10233A"/>
                </a:solidFill>
                <a:latin typeface="Cambria" pitchFamily="34" charset="0"/>
                <a:ea typeface="Cambria" pitchFamily="34" charset="-122"/>
                <a:cs typeface="Cambria" pitchFamily="34" charset="-120"/>
              </a:rPr>
              <a:t>A$0.43</a:t>
            </a:r>
            <a:endParaRPr lang="en-US" sz="3000" dirty="0"/>
          </a:p>
        </p:txBody>
      </p:sp>
      <p:sp>
        <p:nvSpPr>
          <p:cNvPr id="39" name="Text 36"/>
          <p:cNvSpPr txBox="1"/>
          <p:nvPr/>
        </p:nvSpPr>
        <p:spPr>
          <a:xfrm>
            <a:off x="576072" y="4718304"/>
            <a:ext cx="3291840" cy="219456"/>
          </a:xfrm>
          <a:prstGeom prst="rect">
            <a:avLst/>
          </a:prstGeom>
          <a:noFill/>
          <a:ln/>
        </p:spPr>
        <p:txBody>
          <a:bodyPr wrap="square" lIns="0" tIns="0" rIns="0" bIns="0" rtlCol="0" anchor="ctr"/>
          <a:lstStyle/>
          <a:p>
            <a:pPr indent="0" marL="0">
              <a:buNone/>
            </a:pPr>
            <a:r>
              <a:rPr lang="en-US" sz="900" b="1" dirty="0">
                <a:solidFill>
                  <a:srgbClr val="0E7C6B"/>
                </a:solidFill>
                <a:latin typeface="Calibri" pitchFamily="34" charset="0"/>
                <a:ea typeface="Calibri" pitchFamily="34" charset="-122"/>
                <a:cs typeface="Calibri" pitchFamily="34" charset="-120"/>
              </a:rPr>
              <a:t>per share, inside the target</a:t>
            </a:r>
            <a:endParaRPr lang="en-US" sz="900" dirty="0"/>
          </a:p>
        </p:txBody>
      </p:sp>
      <p:sp>
        <p:nvSpPr>
          <p:cNvPr id="40" name="Text 37"/>
          <p:cNvSpPr txBox="1"/>
          <p:nvPr/>
        </p:nvSpPr>
        <p:spPr>
          <a:xfrm>
            <a:off x="576072" y="4937760"/>
            <a:ext cx="3310128" cy="1005840"/>
          </a:xfrm>
          <a:prstGeom prst="rect">
            <a:avLst/>
          </a:prstGeom>
          <a:noFill/>
          <a:ln/>
        </p:spPr>
        <p:txBody>
          <a:bodyPr wrap="square" lIns="0" tIns="0" rIns="0" bIns="0" rtlCol="0" anchor="t"/>
          <a:lstStyle/>
          <a:p>
            <a:pPr indent="0" marL="0">
              <a:lnSpc>
                <a:spcPct val="116000"/>
              </a:lnSpc>
              <a:buNone/>
            </a:pPr>
            <a:r>
              <a:rPr lang="en-US" sz="960" dirty="0">
                <a:solidFill>
                  <a:srgbClr val="1B2733"/>
                </a:solidFill>
                <a:latin typeface="Calibri" pitchFamily="34" charset="0"/>
                <a:ea typeface="Calibri" pitchFamily="34" charset="-122"/>
                <a:cs typeface="Calibri" pitchFamily="34" charset="-120"/>
              </a:rPr>
              <a:t>Equal to 66% of the A$0.66 of upside. A further A$0.32 sits outside it, unpriced.</a:t>
            </a:r>
            <a:endParaRPr lang="en-US" sz="960" dirty="0"/>
          </a:p>
        </p:txBody>
      </p:sp>
      <p:sp>
        <p:nvSpPr>
          <p:cNvPr id="41" name="Shape 38"/>
          <p:cNvSpPr/>
          <p:nvPr/>
        </p:nvSpPr>
        <p:spPr>
          <a:xfrm>
            <a:off x="4215384" y="3749040"/>
            <a:ext cx="3639312" cy="2286000"/>
          </a:xfrm>
          <a:prstGeom prst="rect">
            <a:avLst/>
          </a:prstGeom>
          <a:solidFill>
            <a:srgbClr val="F7F9FB"/>
          </a:solidFill>
          <a:ln w="9525">
            <a:solidFill>
              <a:srgbClr val="D3DCE5"/>
            </a:solidFill>
            <a:prstDash val="solid"/>
          </a:ln>
        </p:spPr>
      </p:sp>
      <p:sp>
        <p:nvSpPr>
          <p:cNvPr id="42" name="Text 39"/>
          <p:cNvSpPr txBox="1"/>
          <p:nvPr/>
        </p:nvSpPr>
        <p:spPr>
          <a:xfrm>
            <a:off x="4379976" y="3858768"/>
            <a:ext cx="457200" cy="256032"/>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05</a:t>
            </a:r>
            <a:endParaRPr lang="en-US" sz="1000" dirty="0"/>
          </a:p>
        </p:txBody>
      </p:sp>
      <p:sp>
        <p:nvSpPr>
          <p:cNvPr id="43" name="Text 40"/>
          <p:cNvSpPr txBox="1"/>
          <p:nvPr/>
        </p:nvSpPr>
        <p:spPr>
          <a:xfrm>
            <a:off x="4837176" y="3858768"/>
            <a:ext cx="2834640" cy="256032"/>
          </a:xfrm>
          <a:prstGeom prst="rect">
            <a:avLst/>
          </a:prstGeom>
          <a:noFill/>
          <a:ln/>
        </p:spPr>
        <p:txBody>
          <a:bodyPr wrap="square" lIns="0" tIns="0" rIns="0" bIns="0" rtlCol="0" anchor="ctr"/>
          <a:lstStyle/>
          <a:p>
            <a:pPr indent="0" marL="0">
              <a:buNone/>
            </a:pPr>
            <a:r>
              <a:rPr lang="en-US" sz="1050" b="1" dirty="0">
                <a:solidFill>
                  <a:srgbClr val="5F7183"/>
                </a:solidFill>
                <a:latin typeface="Calibri" pitchFamily="34" charset="0"/>
                <a:ea typeface="Calibri" pitchFamily="34" charset="-122"/>
                <a:cs typeface="Calibri" pitchFamily="34" charset="-120"/>
              </a:rPr>
              <a:t>The valuation</a:t>
            </a:r>
            <a:endParaRPr lang="en-US" sz="1050" dirty="0"/>
          </a:p>
        </p:txBody>
      </p:sp>
      <p:sp>
        <p:nvSpPr>
          <p:cNvPr id="44" name="Text 41"/>
          <p:cNvSpPr txBox="1"/>
          <p:nvPr/>
        </p:nvSpPr>
        <p:spPr>
          <a:xfrm>
            <a:off x="4379976" y="4151376"/>
            <a:ext cx="3291840" cy="566928"/>
          </a:xfrm>
          <a:prstGeom prst="rect">
            <a:avLst/>
          </a:prstGeom>
          <a:noFill/>
          <a:ln/>
        </p:spPr>
        <p:txBody>
          <a:bodyPr wrap="square" lIns="0" tIns="0" rIns="0" bIns="0" rtlCol="0" anchor="ctr"/>
          <a:lstStyle/>
          <a:p>
            <a:pPr indent="0" marL="0">
              <a:buNone/>
            </a:pPr>
            <a:r>
              <a:rPr lang="en-US" sz="3000" b="1" dirty="0">
                <a:solidFill>
                  <a:srgbClr val="10233A"/>
                </a:solidFill>
                <a:latin typeface="Cambria" pitchFamily="34" charset="0"/>
                <a:ea typeface="Cambria" pitchFamily="34" charset="-122"/>
                <a:cs typeface="Cambria" pitchFamily="34" charset="-120"/>
              </a:rPr>
              <a:t>A$6.14</a:t>
            </a:r>
            <a:endParaRPr lang="en-US" sz="3000" dirty="0"/>
          </a:p>
        </p:txBody>
      </p:sp>
      <p:sp>
        <p:nvSpPr>
          <p:cNvPr id="45" name="Text 42"/>
          <p:cNvSpPr txBox="1"/>
          <p:nvPr/>
        </p:nvSpPr>
        <p:spPr>
          <a:xfrm>
            <a:off x="4379976" y="4718304"/>
            <a:ext cx="3291840" cy="219456"/>
          </a:xfrm>
          <a:prstGeom prst="rect">
            <a:avLst/>
          </a:prstGeom>
          <a:noFill/>
          <a:ln/>
        </p:spPr>
        <p:txBody>
          <a:bodyPr wrap="square" lIns="0" tIns="0" rIns="0" bIns="0" rtlCol="0" anchor="ctr"/>
          <a:lstStyle/>
          <a:p>
            <a:pPr indent="0" marL="0">
              <a:buNone/>
            </a:pPr>
            <a:r>
              <a:rPr lang="en-US" sz="900" b="1" dirty="0">
                <a:solidFill>
                  <a:srgbClr val="0E7C6B"/>
                </a:solidFill>
                <a:latin typeface="Calibri" pitchFamily="34" charset="0"/>
                <a:ea typeface="Calibri" pitchFamily="34" charset="-122"/>
                <a:cs typeface="Calibri" pitchFamily="34" charset="-120"/>
              </a:rPr>
              <a:t>12-month target</a:t>
            </a:r>
            <a:endParaRPr lang="en-US" sz="900" dirty="0"/>
          </a:p>
        </p:txBody>
      </p:sp>
      <p:sp>
        <p:nvSpPr>
          <p:cNvPr id="46" name="Text 43"/>
          <p:cNvSpPr txBox="1"/>
          <p:nvPr/>
        </p:nvSpPr>
        <p:spPr>
          <a:xfrm>
            <a:off x="4379976" y="4937760"/>
            <a:ext cx="3310128" cy="1005840"/>
          </a:xfrm>
          <a:prstGeom prst="rect">
            <a:avLst/>
          </a:prstGeom>
          <a:noFill/>
          <a:ln/>
        </p:spPr>
        <p:txBody>
          <a:bodyPr wrap="square" lIns="0" tIns="0" rIns="0" bIns="0" rtlCol="0" anchor="t"/>
          <a:lstStyle/>
          <a:p>
            <a:pPr indent="0" marL="0">
              <a:lnSpc>
                <a:spcPct val="116000"/>
              </a:lnSpc>
              <a:buNone/>
            </a:pPr>
            <a:r>
              <a:rPr lang="en-US" sz="960" dirty="0">
                <a:solidFill>
                  <a:srgbClr val="1B2733"/>
                </a:solidFill>
                <a:latin typeface="Calibri" pitchFamily="34" charset="0"/>
                <a:ea typeface="Calibri" pitchFamily="34" charset="-122"/>
                <a:cs typeface="Calibri" pitchFamily="34" charset="-120"/>
              </a:rPr>
              <a:t>60% base-case DCF at an 8.88% WACC, 40% trading comparables. Bear A$2.30, bull A$8.96.</a:t>
            </a:r>
            <a:endParaRPr lang="en-US" sz="960" dirty="0"/>
          </a:p>
        </p:txBody>
      </p:sp>
      <p:sp>
        <p:nvSpPr>
          <p:cNvPr id="47" name="Shape 44"/>
          <p:cNvSpPr/>
          <p:nvPr/>
        </p:nvSpPr>
        <p:spPr>
          <a:xfrm>
            <a:off x="8019288" y="3749040"/>
            <a:ext cx="3639312" cy="2286000"/>
          </a:xfrm>
          <a:prstGeom prst="rect">
            <a:avLst/>
          </a:prstGeom>
          <a:solidFill>
            <a:srgbClr val="F7F9FB"/>
          </a:solidFill>
          <a:ln w="9525">
            <a:solidFill>
              <a:srgbClr val="D3DCE5"/>
            </a:solidFill>
            <a:prstDash val="solid"/>
          </a:ln>
        </p:spPr>
      </p:sp>
      <p:sp>
        <p:nvSpPr>
          <p:cNvPr id="48" name="Text 45"/>
          <p:cNvSpPr txBox="1"/>
          <p:nvPr/>
        </p:nvSpPr>
        <p:spPr>
          <a:xfrm>
            <a:off x="8183880" y="3858768"/>
            <a:ext cx="457200" cy="256032"/>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06</a:t>
            </a:r>
            <a:endParaRPr lang="en-US" sz="1000" dirty="0"/>
          </a:p>
        </p:txBody>
      </p:sp>
      <p:sp>
        <p:nvSpPr>
          <p:cNvPr id="49" name="Text 46"/>
          <p:cNvSpPr txBox="1"/>
          <p:nvPr/>
        </p:nvSpPr>
        <p:spPr>
          <a:xfrm>
            <a:off x="8641080" y="3858768"/>
            <a:ext cx="2834640" cy="256032"/>
          </a:xfrm>
          <a:prstGeom prst="rect">
            <a:avLst/>
          </a:prstGeom>
          <a:noFill/>
          <a:ln/>
        </p:spPr>
        <p:txBody>
          <a:bodyPr wrap="square" lIns="0" tIns="0" rIns="0" bIns="0" rtlCol="0" anchor="ctr"/>
          <a:lstStyle/>
          <a:p>
            <a:pPr indent="0" marL="0">
              <a:buNone/>
            </a:pPr>
            <a:r>
              <a:rPr lang="en-US" sz="1050" b="1" dirty="0">
                <a:solidFill>
                  <a:srgbClr val="5F7183"/>
                </a:solidFill>
                <a:latin typeface="Calibri" pitchFamily="34" charset="0"/>
                <a:ea typeface="Calibri" pitchFamily="34" charset="-122"/>
                <a:cs typeface="Calibri" pitchFamily="34" charset="-120"/>
              </a:rPr>
              <a:t>The mandate</a:t>
            </a:r>
            <a:endParaRPr lang="en-US" sz="1050" dirty="0"/>
          </a:p>
        </p:txBody>
      </p:sp>
      <p:sp>
        <p:nvSpPr>
          <p:cNvPr id="50" name="Text 47"/>
          <p:cNvSpPr txBox="1"/>
          <p:nvPr/>
        </p:nvSpPr>
        <p:spPr>
          <a:xfrm>
            <a:off x="8183880" y="4151376"/>
            <a:ext cx="3291840" cy="566928"/>
          </a:xfrm>
          <a:prstGeom prst="rect">
            <a:avLst/>
          </a:prstGeom>
          <a:noFill/>
          <a:ln/>
        </p:spPr>
        <p:txBody>
          <a:bodyPr wrap="square" lIns="0" tIns="0" rIns="0" bIns="0" rtlCol="0" anchor="ctr"/>
          <a:lstStyle/>
          <a:p>
            <a:pPr indent="0" marL="0">
              <a:buNone/>
            </a:pPr>
            <a:r>
              <a:rPr lang="en-US" sz="3000" b="1" dirty="0">
                <a:solidFill>
                  <a:srgbClr val="10233A"/>
                </a:solidFill>
                <a:latin typeface="Cambria" pitchFamily="34" charset="0"/>
                <a:ea typeface="Cambria" pitchFamily="34" charset="-122"/>
                <a:cs typeface="Cambria" pitchFamily="34" charset="-120"/>
              </a:rPr>
              <a:t>13.6%</a:t>
            </a:r>
            <a:endParaRPr lang="en-US" sz="3000" dirty="0"/>
          </a:p>
        </p:txBody>
      </p:sp>
      <p:sp>
        <p:nvSpPr>
          <p:cNvPr id="51" name="Text 48"/>
          <p:cNvSpPr txBox="1"/>
          <p:nvPr/>
        </p:nvSpPr>
        <p:spPr>
          <a:xfrm>
            <a:off x="8183880" y="4718304"/>
            <a:ext cx="3291840" cy="219456"/>
          </a:xfrm>
          <a:prstGeom prst="rect">
            <a:avLst/>
          </a:prstGeom>
          <a:noFill/>
          <a:ln/>
        </p:spPr>
        <p:txBody>
          <a:bodyPr wrap="square" lIns="0" tIns="0" rIns="0" bIns="0" rtlCol="0" anchor="ctr"/>
          <a:lstStyle/>
          <a:p>
            <a:pPr indent="0" marL="0">
              <a:buNone/>
            </a:pPr>
            <a:r>
              <a:rPr lang="en-US" sz="900" b="1" dirty="0">
                <a:solidFill>
                  <a:srgbClr val="0E7C6B"/>
                </a:solidFill>
                <a:latin typeface="Calibri" pitchFamily="34" charset="0"/>
                <a:ea typeface="Calibri" pitchFamily="34" charset="-122"/>
                <a:cs typeface="Calibri" pitchFamily="34" charset="-120"/>
              </a:rPr>
              <a:t>expected total return</a:t>
            </a:r>
            <a:endParaRPr lang="en-US" sz="900" dirty="0"/>
          </a:p>
        </p:txBody>
      </p:sp>
      <p:sp>
        <p:nvSpPr>
          <p:cNvPr id="52" name="Text 49"/>
          <p:cNvSpPr txBox="1"/>
          <p:nvPr/>
        </p:nvSpPr>
        <p:spPr>
          <a:xfrm>
            <a:off x="8183880" y="4937760"/>
            <a:ext cx="3310128" cy="1005840"/>
          </a:xfrm>
          <a:prstGeom prst="rect">
            <a:avLst/>
          </a:prstGeom>
          <a:noFill/>
          <a:ln/>
        </p:spPr>
        <p:txBody>
          <a:bodyPr wrap="square" lIns="0" tIns="0" rIns="0" bIns="0" rtlCol="0" anchor="t"/>
          <a:lstStyle/>
          <a:p>
            <a:pPr indent="0" marL="0">
              <a:lnSpc>
                <a:spcPct val="116000"/>
              </a:lnSpc>
              <a:buNone/>
            </a:pPr>
            <a:r>
              <a:rPr lang="en-US" sz="960" dirty="0">
                <a:solidFill>
                  <a:srgbClr val="1B2733"/>
                </a:solidFill>
                <a:latin typeface="Calibri" pitchFamily="34" charset="0"/>
                <a:ea typeface="Calibri" pitchFamily="34" charset="-122"/>
                <a:cs typeface="Calibri" pitchFamily="34" charset="-120"/>
              </a:rPr>
              <a:t>+12.0% price and a 1.7% yield, against a benchmark that returned 5.90%. Outperformance of 7.7%.</a:t>
            </a:r>
            <a:endParaRPr lang="en-US" sz="960" dirty="0"/>
          </a:p>
        </p:txBody>
      </p:sp>
      <p:sp>
        <p:nvSpPr>
          <p:cNvPr id="53" name="Text 50"/>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PLS Group FY26 results (24 August 2026); P2000 Pre-Feasibility Study (June 2024); team valuation model. Spodumene concentrate is the lithium-bearing rock concentrate PLS ships; SC6 denotes a 6% Li2O grade.</a:t>
            </a:r>
            <a:endParaRPr lang="en-US" sz="720" dirty="0"/>
          </a:p>
        </p:txBody>
      </p:sp>
      <p:sp>
        <p:nvSpPr>
          <p:cNvPr id="54" name="Text 51"/>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5722" y="6400800"/>
            <a:ext cx="1335024" cy="274320"/>
          </a:xfrm>
          <a:prstGeom prst="roundRect">
            <a:avLst>
              <a:gd name="adj" fmla="val 20000"/>
            </a:avLst>
          </a:prstGeom>
          <a:solidFill>
            <a:srgbClr val="10233A"/>
          </a:solidFill>
          <a:ln/>
        </p:spPr>
      </p:sp>
      <p:sp>
        <p:nvSpPr>
          <p:cNvPr id="3" name="Text 1"/>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Summary</a:t>
            </a:r>
            <a:endParaRPr lang="en-US" sz="850" dirty="0"/>
          </a:p>
        </p:txBody>
      </p:sp>
      <p:sp>
        <p:nvSpPr>
          <p:cNvPr id="4" name="Text 2"/>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5" name="Text 3"/>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6" name="Text 4"/>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For four of the six, ESG spend defends an existing cash flow. For PLS the societal need is the demand, and carbon intensity decides market access.</a:t>
            </a:r>
            <a:endParaRPr lang="en-US" sz="15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Why PLS, and not the other five</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1298448"/>
            <a:ext cx="1691640" cy="292608"/>
          </a:xfrm>
          <a:prstGeom prst="rect">
            <a:avLst/>
          </a:prstGeom>
          <a:solidFill>
            <a:srgbClr val="10233A"/>
          </a:solidFill>
          <a:ln/>
        </p:spPr>
      </p:sp>
      <p:sp>
        <p:nvSpPr>
          <p:cNvPr id="18" name="Text 15"/>
          <p:cNvSpPr txBox="1"/>
          <p:nvPr/>
        </p:nvSpPr>
        <p:spPr>
          <a:xfrm>
            <a:off x="475488" y="1298448"/>
            <a:ext cx="15636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Company</a:t>
            </a:r>
            <a:endParaRPr lang="en-US" sz="900" dirty="0"/>
          </a:p>
        </p:txBody>
      </p:sp>
      <p:sp>
        <p:nvSpPr>
          <p:cNvPr id="19" name="Shape 16"/>
          <p:cNvSpPr/>
          <p:nvPr/>
        </p:nvSpPr>
        <p:spPr>
          <a:xfrm>
            <a:off x="2103120" y="1298448"/>
            <a:ext cx="2148840" cy="292608"/>
          </a:xfrm>
          <a:prstGeom prst="rect">
            <a:avLst/>
          </a:prstGeom>
          <a:solidFill>
            <a:srgbClr val="10233A"/>
          </a:solidFill>
          <a:ln/>
        </p:spPr>
      </p:sp>
      <p:sp>
        <p:nvSpPr>
          <p:cNvPr id="20" name="Text 17"/>
          <p:cNvSpPr txBox="1"/>
          <p:nvPr/>
        </p:nvSpPr>
        <p:spPr>
          <a:xfrm>
            <a:off x="2167128" y="1298448"/>
            <a:ext cx="20208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Primary exposure</a:t>
            </a:r>
            <a:endParaRPr lang="en-US" sz="900" dirty="0"/>
          </a:p>
        </p:txBody>
      </p:sp>
      <p:sp>
        <p:nvSpPr>
          <p:cNvPr id="21" name="Shape 18"/>
          <p:cNvSpPr/>
          <p:nvPr/>
        </p:nvSpPr>
        <p:spPr>
          <a:xfrm>
            <a:off x="4251960" y="1298448"/>
            <a:ext cx="4160520" cy="292608"/>
          </a:xfrm>
          <a:prstGeom prst="rect">
            <a:avLst/>
          </a:prstGeom>
          <a:solidFill>
            <a:srgbClr val="10233A"/>
          </a:solidFill>
          <a:ln/>
        </p:spPr>
      </p:sp>
      <p:sp>
        <p:nvSpPr>
          <p:cNvPr id="22" name="Text 19"/>
          <p:cNvSpPr txBox="1"/>
          <p:nvPr/>
        </p:nvSpPr>
        <p:spPr>
          <a:xfrm>
            <a:off x="4315968" y="1298448"/>
            <a:ext cx="4032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How ESG works in the business</a:t>
            </a:r>
            <a:endParaRPr lang="en-US" sz="900" dirty="0"/>
          </a:p>
        </p:txBody>
      </p:sp>
      <p:sp>
        <p:nvSpPr>
          <p:cNvPr id="23" name="Shape 20"/>
          <p:cNvSpPr/>
          <p:nvPr/>
        </p:nvSpPr>
        <p:spPr>
          <a:xfrm>
            <a:off x="8412480" y="1298448"/>
            <a:ext cx="1600200" cy="292608"/>
          </a:xfrm>
          <a:prstGeom prst="rect">
            <a:avLst/>
          </a:prstGeom>
          <a:solidFill>
            <a:srgbClr val="10233A"/>
          </a:solidFill>
          <a:ln/>
        </p:spPr>
      </p:sp>
      <p:sp>
        <p:nvSpPr>
          <p:cNvPr id="24" name="Text 21"/>
          <p:cNvSpPr txBox="1"/>
          <p:nvPr/>
        </p:nvSpPr>
        <p:spPr>
          <a:xfrm>
            <a:off x="8476488" y="1298448"/>
            <a:ext cx="147218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Effect on value</a:t>
            </a:r>
            <a:endParaRPr lang="en-US" sz="900" dirty="0"/>
          </a:p>
        </p:txBody>
      </p:sp>
      <p:sp>
        <p:nvSpPr>
          <p:cNvPr id="25" name="Shape 22"/>
          <p:cNvSpPr/>
          <p:nvPr/>
        </p:nvSpPr>
        <p:spPr>
          <a:xfrm>
            <a:off x="10012680" y="1298448"/>
            <a:ext cx="1005840" cy="292608"/>
          </a:xfrm>
          <a:prstGeom prst="rect">
            <a:avLst/>
          </a:prstGeom>
          <a:solidFill>
            <a:srgbClr val="10233A"/>
          </a:solidFill>
          <a:ln/>
        </p:spPr>
      </p:sp>
      <p:sp>
        <p:nvSpPr>
          <p:cNvPr id="26" name="Text 23"/>
          <p:cNvSpPr txBox="1"/>
          <p:nvPr/>
        </p:nvSpPr>
        <p:spPr>
          <a:xfrm>
            <a:off x="10076688" y="1298448"/>
            <a:ext cx="87782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EV/EBITDA</a:t>
            </a:r>
            <a:endParaRPr lang="en-US" sz="900" dirty="0"/>
          </a:p>
        </p:txBody>
      </p:sp>
      <p:sp>
        <p:nvSpPr>
          <p:cNvPr id="27" name="Shape 24"/>
          <p:cNvSpPr/>
          <p:nvPr/>
        </p:nvSpPr>
        <p:spPr>
          <a:xfrm>
            <a:off x="11018520" y="1298448"/>
            <a:ext cx="768096" cy="292608"/>
          </a:xfrm>
          <a:prstGeom prst="rect">
            <a:avLst/>
          </a:prstGeom>
          <a:solidFill>
            <a:srgbClr val="10233A"/>
          </a:solidFill>
          <a:ln/>
        </p:spPr>
      </p:sp>
      <p:sp>
        <p:nvSpPr>
          <p:cNvPr id="28" name="Text 25"/>
          <p:cNvSpPr txBox="1"/>
          <p:nvPr/>
        </p:nvSpPr>
        <p:spPr>
          <a:xfrm>
            <a:off x="11082528" y="1298448"/>
            <a:ext cx="6400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Net debt</a:t>
            </a:r>
            <a:endParaRPr lang="en-US" sz="900" dirty="0"/>
          </a:p>
        </p:txBody>
      </p:sp>
      <p:sp>
        <p:nvSpPr>
          <p:cNvPr id="29" name="Shape 26"/>
          <p:cNvSpPr/>
          <p:nvPr/>
        </p:nvSpPr>
        <p:spPr>
          <a:xfrm>
            <a:off x="411480" y="1591056"/>
            <a:ext cx="1691640" cy="475488"/>
          </a:xfrm>
          <a:prstGeom prst="rect">
            <a:avLst/>
          </a:prstGeom>
          <a:solidFill>
            <a:srgbClr val="FFFFFF"/>
          </a:solidFill>
          <a:ln w="6350">
            <a:solidFill>
              <a:srgbClr val="D3DCE5"/>
            </a:solidFill>
            <a:prstDash val="solid"/>
          </a:ln>
        </p:spPr>
      </p:sp>
      <p:sp>
        <p:nvSpPr>
          <p:cNvPr id="30" name="Text 27"/>
          <p:cNvSpPr txBox="1"/>
          <p:nvPr/>
        </p:nvSpPr>
        <p:spPr>
          <a:xfrm>
            <a:off x="475488" y="1591056"/>
            <a:ext cx="1563624" cy="47548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BHP Group</a:t>
            </a:r>
            <a:endParaRPr lang="en-US" sz="880" dirty="0"/>
          </a:p>
        </p:txBody>
      </p:sp>
      <p:sp>
        <p:nvSpPr>
          <p:cNvPr id="31" name="Shape 28"/>
          <p:cNvSpPr/>
          <p:nvPr/>
        </p:nvSpPr>
        <p:spPr>
          <a:xfrm>
            <a:off x="2103120" y="1591056"/>
            <a:ext cx="2148840" cy="475488"/>
          </a:xfrm>
          <a:prstGeom prst="rect">
            <a:avLst/>
          </a:prstGeom>
          <a:solidFill>
            <a:srgbClr val="FFFFFF"/>
          </a:solidFill>
          <a:ln w="6350">
            <a:solidFill>
              <a:srgbClr val="D3DCE5"/>
            </a:solidFill>
            <a:prstDash val="solid"/>
          </a:ln>
        </p:spPr>
      </p:sp>
      <p:sp>
        <p:nvSpPr>
          <p:cNvPr id="32" name="Text 29"/>
          <p:cNvSpPr txBox="1"/>
          <p:nvPr/>
        </p:nvSpPr>
        <p:spPr>
          <a:xfrm>
            <a:off x="2167128" y="1591056"/>
            <a:ext cx="2020824" cy="47548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Iron ore, copper, coal</a:t>
            </a:r>
            <a:endParaRPr lang="en-US" sz="880" dirty="0"/>
          </a:p>
        </p:txBody>
      </p:sp>
      <p:sp>
        <p:nvSpPr>
          <p:cNvPr id="33" name="Shape 30"/>
          <p:cNvSpPr/>
          <p:nvPr/>
        </p:nvSpPr>
        <p:spPr>
          <a:xfrm>
            <a:off x="4251960" y="1591056"/>
            <a:ext cx="4160520" cy="475488"/>
          </a:xfrm>
          <a:prstGeom prst="rect">
            <a:avLst/>
          </a:prstGeom>
          <a:solidFill>
            <a:srgbClr val="FFFFFF"/>
          </a:solidFill>
          <a:ln w="6350">
            <a:solidFill>
              <a:srgbClr val="D3DCE5"/>
            </a:solidFill>
            <a:prstDash val="solid"/>
          </a:ln>
        </p:spPr>
      </p:sp>
      <p:sp>
        <p:nvSpPr>
          <p:cNvPr id="34" name="Text 31"/>
          <p:cNvSpPr txBox="1"/>
          <p:nvPr/>
        </p:nvSpPr>
        <p:spPr>
          <a:xfrm>
            <a:off x="4315968" y="1591056"/>
            <a:ext cx="4032504" cy="47548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Scope 1 and 2 abatement on long-life bulk assets. Spend protects a licence to operate.</a:t>
            </a:r>
            <a:endParaRPr lang="en-US" sz="880" dirty="0"/>
          </a:p>
        </p:txBody>
      </p:sp>
      <p:sp>
        <p:nvSpPr>
          <p:cNvPr id="35" name="Shape 32"/>
          <p:cNvSpPr/>
          <p:nvPr/>
        </p:nvSpPr>
        <p:spPr>
          <a:xfrm>
            <a:off x="8412480" y="1591056"/>
            <a:ext cx="1600200" cy="475488"/>
          </a:xfrm>
          <a:prstGeom prst="rect">
            <a:avLst/>
          </a:prstGeom>
          <a:solidFill>
            <a:srgbClr val="FFFFFF"/>
          </a:solidFill>
          <a:ln w="6350">
            <a:solidFill>
              <a:srgbClr val="D3DCE5"/>
            </a:solidFill>
            <a:prstDash val="solid"/>
          </a:ln>
        </p:spPr>
      </p:sp>
      <p:sp>
        <p:nvSpPr>
          <p:cNvPr id="36" name="Text 33"/>
          <p:cNvSpPr txBox="1"/>
          <p:nvPr/>
        </p:nvSpPr>
        <p:spPr>
          <a:xfrm>
            <a:off x="8476488" y="1591056"/>
            <a:ext cx="1472184" cy="475488"/>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Defensive</a:t>
            </a:r>
            <a:endParaRPr lang="en-US" sz="880" dirty="0"/>
          </a:p>
        </p:txBody>
      </p:sp>
      <p:sp>
        <p:nvSpPr>
          <p:cNvPr id="37" name="Shape 34"/>
          <p:cNvSpPr/>
          <p:nvPr/>
        </p:nvSpPr>
        <p:spPr>
          <a:xfrm>
            <a:off x="10012680" y="1591056"/>
            <a:ext cx="1005840" cy="475488"/>
          </a:xfrm>
          <a:prstGeom prst="rect">
            <a:avLst/>
          </a:prstGeom>
          <a:solidFill>
            <a:srgbClr val="FFFFFF"/>
          </a:solidFill>
          <a:ln w="6350">
            <a:solidFill>
              <a:srgbClr val="D3DCE5"/>
            </a:solidFill>
            <a:prstDash val="solid"/>
          </a:ln>
        </p:spPr>
      </p:sp>
      <p:sp>
        <p:nvSpPr>
          <p:cNvPr id="38" name="Text 35"/>
          <p:cNvSpPr txBox="1"/>
          <p:nvPr/>
        </p:nvSpPr>
        <p:spPr>
          <a:xfrm>
            <a:off x="10076688" y="1591056"/>
            <a:ext cx="877824" cy="475488"/>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n/a</a:t>
            </a:r>
            <a:endParaRPr lang="en-US" sz="880" dirty="0"/>
          </a:p>
        </p:txBody>
      </p:sp>
      <p:sp>
        <p:nvSpPr>
          <p:cNvPr id="39" name="Shape 36"/>
          <p:cNvSpPr/>
          <p:nvPr/>
        </p:nvSpPr>
        <p:spPr>
          <a:xfrm>
            <a:off x="11018520" y="1591056"/>
            <a:ext cx="768096" cy="475488"/>
          </a:xfrm>
          <a:prstGeom prst="rect">
            <a:avLst/>
          </a:prstGeom>
          <a:solidFill>
            <a:srgbClr val="FFFFFF"/>
          </a:solidFill>
          <a:ln w="6350">
            <a:solidFill>
              <a:srgbClr val="D3DCE5"/>
            </a:solidFill>
            <a:prstDash val="solid"/>
          </a:ln>
        </p:spPr>
      </p:sp>
      <p:sp>
        <p:nvSpPr>
          <p:cNvPr id="40" name="Text 37"/>
          <p:cNvSpPr txBox="1"/>
          <p:nvPr/>
        </p:nvSpPr>
        <p:spPr>
          <a:xfrm>
            <a:off x="11082528" y="1591056"/>
            <a:ext cx="640080" cy="475488"/>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US$8.7bn</a:t>
            </a:r>
            <a:endParaRPr lang="en-US" sz="880" dirty="0"/>
          </a:p>
        </p:txBody>
      </p:sp>
      <p:sp>
        <p:nvSpPr>
          <p:cNvPr id="41" name="Shape 38"/>
          <p:cNvSpPr/>
          <p:nvPr/>
        </p:nvSpPr>
        <p:spPr>
          <a:xfrm>
            <a:off x="411480" y="2066544"/>
            <a:ext cx="1691640" cy="475488"/>
          </a:xfrm>
          <a:prstGeom prst="rect">
            <a:avLst/>
          </a:prstGeom>
          <a:solidFill>
            <a:srgbClr val="F7F9FB"/>
          </a:solidFill>
          <a:ln w="6350">
            <a:solidFill>
              <a:srgbClr val="D3DCE5"/>
            </a:solidFill>
            <a:prstDash val="solid"/>
          </a:ln>
        </p:spPr>
      </p:sp>
      <p:sp>
        <p:nvSpPr>
          <p:cNvPr id="42" name="Text 39"/>
          <p:cNvSpPr txBox="1"/>
          <p:nvPr/>
        </p:nvSpPr>
        <p:spPr>
          <a:xfrm>
            <a:off x="475488" y="2066544"/>
            <a:ext cx="1563624" cy="47548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Rio Tinto</a:t>
            </a:r>
            <a:endParaRPr lang="en-US" sz="880" dirty="0"/>
          </a:p>
        </p:txBody>
      </p:sp>
      <p:sp>
        <p:nvSpPr>
          <p:cNvPr id="43" name="Shape 40"/>
          <p:cNvSpPr/>
          <p:nvPr/>
        </p:nvSpPr>
        <p:spPr>
          <a:xfrm>
            <a:off x="2103120" y="2066544"/>
            <a:ext cx="2148840" cy="475488"/>
          </a:xfrm>
          <a:prstGeom prst="rect">
            <a:avLst/>
          </a:prstGeom>
          <a:solidFill>
            <a:srgbClr val="F7F9FB"/>
          </a:solidFill>
          <a:ln w="6350">
            <a:solidFill>
              <a:srgbClr val="D3DCE5"/>
            </a:solidFill>
            <a:prstDash val="solid"/>
          </a:ln>
        </p:spPr>
      </p:sp>
      <p:sp>
        <p:nvSpPr>
          <p:cNvPr id="44" name="Text 41"/>
          <p:cNvSpPr txBox="1"/>
          <p:nvPr/>
        </p:nvSpPr>
        <p:spPr>
          <a:xfrm>
            <a:off x="2167128" y="2066544"/>
            <a:ext cx="2020824" cy="47548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Iron ore, aluminium, lithium</a:t>
            </a:r>
            <a:endParaRPr lang="en-US" sz="880" dirty="0"/>
          </a:p>
        </p:txBody>
      </p:sp>
      <p:sp>
        <p:nvSpPr>
          <p:cNvPr id="45" name="Shape 42"/>
          <p:cNvSpPr/>
          <p:nvPr/>
        </p:nvSpPr>
        <p:spPr>
          <a:xfrm>
            <a:off x="4251960" y="2066544"/>
            <a:ext cx="4160520" cy="475488"/>
          </a:xfrm>
          <a:prstGeom prst="rect">
            <a:avLst/>
          </a:prstGeom>
          <a:solidFill>
            <a:srgbClr val="F7F9FB"/>
          </a:solidFill>
          <a:ln w="6350">
            <a:solidFill>
              <a:srgbClr val="D3DCE5"/>
            </a:solidFill>
            <a:prstDash val="solid"/>
          </a:ln>
        </p:spPr>
      </p:sp>
      <p:sp>
        <p:nvSpPr>
          <p:cNvPr id="46" name="Text 43"/>
          <p:cNvSpPr txBox="1"/>
          <p:nvPr/>
        </p:nvSpPr>
        <p:spPr>
          <a:xfrm>
            <a:off x="4315968" y="2066544"/>
            <a:ext cx="4032504" cy="47548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Same, plus a lithium arm bought at the top of the cycle for US$6.7bn.</a:t>
            </a:r>
            <a:endParaRPr lang="en-US" sz="880" dirty="0"/>
          </a:p>
        </p:txBody>
      </p:sp>
      <p:sp>
        <p:nvSpPr>
          <p:cNvPr id="47" name="Shape 44"/>
          <p:cNvSpPr/>
          <p:nvPr/>
        </p:nvSpPr>
        <p:spPr>
          <a:xfrm>
            <a:off x="8412480" y="2066544"/>
            <a:ext cx="1600200" cy="475488"/>
          </a:xfrm>
          <a:prstGeom prst="rect">
            <a:avLst/>
          </a:prstGeom>
          <a:solidFill>
            <a:srgbClr val="F7F9FB"/>
          </a:solidFill>
          <a:ln w="6350">
            <a:solidFill>
              <a:srgbClr val="D3DCE5"/>
            </a:solidFill>
            <a:prstDash val="solid"/>
          </a:ln>
        </p:spPr>
      </p:sp>
      <p:sp>
        <p:nvSpPr>
          <p:cNvPr id="48" name="Text 45"/>
          <p:cNvSpPr txBox="1"/>
          <p:nvPr/>
        </p:nvSpPr>
        <p:spPr>
          <a:xfrm>
            <a:off x="8476488" y="2066544"/>
            <a:ext cx="1472184" cy="475488"/>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Defensive</a:t>
            </a:r>
            <a:endParaRPr lang="en-US" sz="880" dirty="0"/>
          </a:p>
        </p:txBody>
      </p:sp>
      <p:sp>
        <p:nvSpPr>
          <p:cNvPr id="49" name="Shape 46"/>
          <p:cNvSpPr/>
          <p:nvPr/>
        </p:nvSpPr>
        <p:spPr>
          <a:xfrm>
            <a:off x="10012680" y="2066544"/>
            <a:ext cx="1005840" cy="475488"/>
          </a:xfrm>
          <a:prstGeom prst="rect">
            <a:avLst/>
          </a:prstGeom>
          <a:solidFill>
            <a:srgbClr val="F7F9FB"/>
          </a:solidFill>
          <a:ln w="6350">
            <a:solidFill>
              <a:srgbClr val="D3DCE5"/>
            </a:solidFill>
            <a:prstDash val="solid"/>
          </a:ln>
        </p:spPr>
      </p:sp>
      <p:sp>
        <p:nvSpPr>
          <p:cNvPr id="50" name="Text 47"/>
          <p:cNvSpPr txBox="1"/>
          <p:nvPr/>
        </p:nvSpPr>
        <p:spPr>
          <a:xfrm>
            <a:off x="10076688" y="2066544"/>
            <a:ext cx="877824" cy="475488"/>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7.8x</a:t>
            </a:r>
            <a:endParaRPr lang="en-US" sz="880" dirty="0"/>
          </a:p>
        </p:txBody>
      </p:sp>
      <p:sp>
        <p:nvSpPr>
          <p:cNvPr id="51" name="Shape 48"/>
          <p:cNvSpPr/>
          <p:nvPr/>
        </p:nvSpPr>
        <p:spPr>
          <a:xfrm>
            <a:off x="11018520" y="2066544"/>
            <a:ext cx="768096" cy="475488"/>
          </a:xfrm>
          <a:prstGeom prst="rect">
            <a:avLst/>
          </a:prstGeom>
          <a:solidFill>
            <a:srgbClr val="F7F9FB"/>
          </a:solidFill>
          <a:ln w="6350">
            <a:solidFill>
              <a:srgbClr val="D3DCE5"/>
            </a:solidFill>
            <a:prstDash val="solid"/>
          </a:ln>
        </p:spPr>
      </p:sp>
      <p:sp>
        <p:nvSpPr>
          <p:cNvPr id="52" name="Text 49"/>
          <p:cNvSpPr txBox="1"/>
          <p:nvPr/>
        </p:nvSpPr>
        <p:spPr>
          <a:xfrm>
            <a:off x="11082528" y="2066544"/>
            <a:ext cx="640080" cy="475488"/>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US$14.1bn</a:t>
            </a:r>
            <a:endParaRPr lang="en-US" sz="880" dirty="0"/>
          </a:p>
        </p:txBody>
      </p:sp>
      <p:sp>
        <p:nvSpPr>
          <p:cNvPr id="53" name="Shape 50"/>
          <p:cNvSpPr/>
          <p:nvPr/>
        </p:nvSpPr>
        <p:spPr>
          <a:xfrm>
            <a:off x="411480" y="2542032"/>
            <a:ext cx="1691640" cy="475488"/>
          </a:xfrm>
          <a:prstGeom prst="rect">
            <a:avLst/>
          </a:prstGeom>
          <a:solidFill>
            <a:srgbClr val="FFFFFF"/>
          </a:solidFill>
          <a:ln w="6350">
            <a:solidFill>
              <a:srgbClr val="D3DCE5"/>
            </a:solidFill>
            <a:prstDash val="solid"/>
          </a:ln>
        </p:spPr>
      </p:sp>
      <p:sp>
        <p:nvSpPr>
          <p:cNvPr id="54" name="Text 51"/>
          <p:cNvSpPr txBox="1"/>
          <p:nvPr/>
        </p:nvSpPr>
        <p:spPr>
          <a:xfrm>
            <a:off x="475488" y="2542032"/>
            <a:ext cx="1563624" cy="47548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Fortescue</a:t>
            </a:r>
            <a:endParaRPr lang="en-US" sz="880" dirty="0"/>
          </a:p>
        </p:txBody>
      </p:sp>
      <p:sp>
        <p:nvSpPr>
          <p:cNvPr id="55" name="Shape 52"/>
          <p:cNvSpPr/>
          <p:nvPr/>
        </p:nvSpPr>
        <p:spPr>
          <a:xfrm>
            <a:off x="2103120" y="2542032"/>
            <a:ext cx="2148840" cy="475488"/>
          </a:xfrm>
          <a:prstGeom prst="rect">
            <a:avLst/>
          </a:prstGeom>
          <a:solidFill>
            <a:srgbClr val="FFFFFF"/>
          </a:solidFill>
          <a:ln w="6350">
            <a:solidFill>
              <a:srgbClr val="D3DCE5"/>
            </a:solidFill>
            <a:prstDash val="solid"/>
          </a:ln>
        </p:spPr>
      </p:sp>
      <p:sp>
        <p:nvSpPr>
          <p:cNvPr id="56" name="Text 53"/>
          <p:cNvSpPr txBox="1"/>
          <p:nvPr/>
        </p:nvSpPr>
        <p:spPr>
          <a:xfrm>
            <a:off x="2167128" y="2542032"/>
            <a:ext cx="2020824" cy="47548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Iron ore, green energy</a:t>
            </a:r>
            <a:endParaRPr lang="en-US" sz="880" dirty="0"/>
          </a:p>
        </p:txBody>
      </p:sp>
      <p:sp>
        <p:nvSpPr>
          <p:cNvPr id="57" name="Shape 54"/>
          <p:cNvSpPr/>
          <p:nvPr/>
        </p:nvSpPr>
        <p:spPr>
          <a:xfrm>
            <a:off x="4251960" y="2542032"/>
            <a:ext cx="4160520" cy="475488"/>
          </a:xfrm>
          <a:prstGeom prst="rect">
            <a:avLst/>
          </a:prstGeom>
          <a:solidFill>
            <a:srgbClr val="FFFFFF"/>
          </a:solidFill>
          <a:ln w="6350">
            <a:solidFill>
              <a:srgbClr val="D3DCE5"/>
            </a:solidFill>
            <a:prstDash val="solid"/>
          </a:ln>
        </p:spPr>
      </p:sp>
      <p:sp>
        <p:nvSpPr>
          <p:cNvPr id="58" name="Text 55"/>
          <p:cNvSpPr txBox="1"/>
          <p:nvPr/>
        </p:nvSpPr>
        <p:spPr>
          <a:xfrm>
            <a:off x="4315968" y="2542032"/>
            <a:ext cx="4032504" cy="47548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Green hydrogen ambition sits beside the iron ore business rather than inside it.</a:t>
            </a:r>
            <a:endParaRPr lang="en-US" sz="880" dirty="0"/>
          </a:p>
        </p:txBody>
      </p:sp>
      <p:sp>
        <p:nvSpPr>
          <p:cNvPr id="59" name="Shape 56"/>
          <p:cNvSpPr/>
          <p:nvPr/>
        </p:nvSpPr>
        <p:spPr>
          <a:xfrm>
            <a:off x="8412480" y="2542032"/>
            <a:ext cx="1600200" cy="475488"/>
          </a:xfrm>
          <a:prstGeom prst="rect">
            <a:avLst/>
          </a:prstGeom>
          <a:solidFill>
            <a:srgbClr val="FFFFFF"/>
          </a:solidFill>
          <a:ln w="6350">
            <a:solidFill>
              <a:srgbClr val="D3DCE5"/>
            </a:solidFill>
            <a:prstDash val="solid"/>
          </a:ln>
        </p:spPr>
      </p:sp>
      <p:sp>
        <p:nvSpPr>
          <p:cNvPr id="60" name="Text 57"/>
          <p:cNvSpPr txBox="1"/>
          <p:nvPr/>
        </p:nvSpPr>
        <p:spPr>
          <a:xfrm>
            <a:off x="8476488" y="2542032"/>
            <a:ext cx="1472184" cy="475488"/>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Adjacent</a:t>
            </a:r>
            <a:endParaRPr lang="en-US" sz="880" dirty="0"/>
          </a:p>
        </p:txBody>
      </p:sp>
      <p:sp>
        <p:nvSpPr>
          <p:cNvPr id="61" name="Shape 58"/>
          <p:cNvSpPr/>
          <p:nvPr/>
        </p:nvSpPr>
        <p:spPr>
          <a:xfrm>
            <a:off x="10012680" y="2542032"/>
            <a:ext cx="1005840" cy="475488"/>
          </a:xfrm>
          <a:prstGeom prst="rect">
            <a:avLst/>
          </a:prstGeom>
          <a:solidFill>
            <a:srgbClr val="FFFFFF"/>
          </a:solidFill>
          <a:ln w="6350">
            <a:solidFill>
              <a:srgbClr val="D3DCE5"/>
            </a:solidFill>
            <a:prstDash val="solid"/>
          </a:ln>
        </p:spPr>
      </p:sp>
      <p:sp>
        <p:nvSpPr>
          <p:cNvPr id="62" name="Text 59"/>
          <p:cNvSpPr txBox="1"/>
          <p:nvPr/>
        </p:nvSpPr>
        <p:spPr>
          <a:xfrm>
            <a:off x="10076688" y="2542032"/>
            <a:ext cx="877824" cy="475488"/>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5.6x</a:t>
            </a:r>
            <a:endParaRPr lang="en-US" sz="880" dirty="0"/>
          </a:p>
        </p:txBody>
      </p:sp>
      <p:sp>
        <p:nvSpPr>
          <p:cNvPr id="63" name="Shape 60"/>
          <p:cNvSpPr/>
          <p:nvPr/>
        </p:nvSpPr>
        <p:spPr>
          <a:xfrm>
            <a:off x="11018520" y="2542032"/>
            <a:ext cx="768096" cy="475488"/>
          </a:xfrm>
          <a:prstGeom prst="rect">
            <a:avLst/>
          </a:prstGeom>
          <a:solidFill>
            <a:srgbClr val="FFFFFF"/>
          </a:solidFill>
          <a:ln w="6350">
            <a:solidFill>
              <a:srgbClr val="D3DCE5"/>
            </a:solidFill>
            <a:prstDash val="solid"/>
          </a:ln>
        </p:spPr>
      </p:sp>
      <p:sp>
        <p:nvSpPr>
          <p:cNvPr id="64" name="Text 61"/>
          <p:cNvSpPr txBox="1"/>
          <p:nvPr/>
        </p:nvSpPr>
        <p:spPr>
          <a:xfrm>
            <a:off x="11082528" y="2542032"/>
            <a:ext cx="640080" cy="475488"/>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US$0.9bn</a:t>
            </a:r>
            <a:endParaRPr lang="en-US" sz="880" dirty="0"/>
          </a:p>
        </p:txBody>
      </p:sp>
      <p:sp>
        <p:nvSpPr>
          <p:cNvPr id="65" name="Shape 62"/>
          <p:cNvSpPr/>
          <p:nvPr/>
        </p:nvSpPr>
        <p:spPr>
          <a:xfrm>
            <a:off x="411480" y="3017520"/>
            <a:ext cx="1691640" cy="475488"/>
          </a:xfrm>
          <a:prstGeom prst="rect">
            <a:avLst/>
          </a:prstGeom>
          <a:solidFill>
            <a:srgbClr val="F7F9FB"/>
          </a:solidFill>
          <a:ln w="6350">
            <a:solidFill>
              <a:srgbClr val="D3DCE5"/>
            </a:solidFill>
            <a:prstDash val="solid"/>
          </a:ln>
        </p:spPr>
      </p:sp>
      <p:sp>
        <p:nvSpPr>
          <p:cNvPr id="66" name="Text 63"/>
          <p:cNvSpPr txBox="1"/>
          <p:nvPr/>
        </p:nvSpPr>
        <p:spPr>
          <a:xfrm>
            <a:off x="475488" y="3017520"/>
            <a:ext cx="1563624" cy="47548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South32</a:t>
            </a:r>
            <a:endParaRPr lang="en-US" sz="880" dirty="0"/>
          </a:p>
        </p:txBody>
      </p:sp>
      <p:sp>
        <p:nvSpPr>
          <p:cNvPr id="67" name="Shape 64"/>
          <p:cNvSpPr/>
          <p:nvPr/>
        </p:nvSpPr>
        <p:spPr>
          <a:xfrm>
            <a:off x="2103120" y="3017520"/>
            <a:ext cx="2148840" cy="475488"/>
          </a:xfrm>
          <a:prstGeom prst="rect">
            <a:avLst/>
          </a:prstGeom>
          <a:solidFill>
            <a:srgbClr val="F7F9FB"/>
          </a:solidFill>
          <a:ln w="6350">
            <a:solidFill>
              <a:srgbClr val="D3DCE5"/>
            </a:solidFill>
            <a:prstDash val="solid"/>
          </a:ln>
        </p:spPr>
      </p:sp>
      <p:sp>
        <p:nvSpPr>
          <p:cNvPr id="68" name="Text 65"/>
          <p:cNvSpPr txBox="1"/>
          <p:nvPr/>
        </p:nvSpPr>
        <p:spPr>
          <a:xfrm>
            <a:off x="2167128" y="3017520"/>
            <a:ext cx="2020824" cy="47548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Alumina, base metals</a:t>
            </a:r>
            <a:endParaRPr lang="en-US" sz="880" dirty="0"/>
          </a:p>
        </p:txBody>
      </p:sp>
      <p:sp>
        <p:nvSpPr>
          <p:cNvPr id="69" name="Shape 66"/>
          <p:cNvSpPr/>
          <p:nvPr/>
        </p:nvSpPr>
        <p:spPr>
          <a:xfrm>
            <a:off x="4251960" y="3017520"/>
            <a:ext cx="4160520" cy="475488"/>
          </a:xfrm>
          <a:prstGeom prst="rect">
            <a:avLst/>
          </a:prstGeom>
          <a:solidFill>
            <a:srgbClr val="F7F9FB"/>
          </a:solidFill>
          <a:ln w="6350">
            <a:solidFill>
              <a:srgbClr val="D3DCE5"/>
            </a:solidFill>
            <a:prstDash val="solid"/>
          </a:ln>
        </p:spPr>
      </p:sp>
      <p:sp>
        <p:nvSpPr>
          <p:cNvPr id="70" name="Text 67"/>
          <p:cNvSpPr txBox="1"/>
          <p:nvPr/>
        </p:nvSpPr>
        <p:spPr>
          <a:xfrm>
            <a:off x="4315968" y="3017520"/>
            <a:ext cx="4032504" cy="47548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Real transition-metal exposure, but ESG is still a cost of operating.</a:t>
            </a:r>
            <a:endParaRPr lang="en-US" sz="880" dirty="0"/>
          </a:p>
        </p:txBody>
      </p:sp>
      <p:sp>
        <p:nvSpPr>
          <p:cNvPr id="71" name="Shape 68"/>
          <p:cNvSpPr/>
          <p:nvPr/>
        </p:nvSpPr>
        <p:spPr>
          <a:xfrm>
            <a:off x="8412480" y="3017520"/>
            <a:ext cx="1600200" cy="475488"/>
          </a:xfrm>
          <a:prstGeom prst="rect">
            <a:avLst/>
          </a:prstGeom>
          <a:solidFill>
            <a:srgbClr val="F7F9FB"/>
          </a:solidFill>
          <a:ln w="6350">
            <a:solidFill>
              <a:srgbClr val="D3DCE5"/>
            </a:solidFill>
            <a:prstDash val="solid"/>
          </a:ln>
        </p:spPr>
      </p:sp>
      <p:sp>
        <p:nvSpPr>
          <p:cNvPr id="72" name="Text 69"/>
          <p:cNvSpPr txBox="1"/>
          <p:nvPr/>
        </p:nvSpPr>
        <p:spPr>
          <a:xfrm>
            <a:off x="8476488" y="3017520"/>
            <a:ext cx="1472184" cy="475488"/>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Defensive</a:t>
            </a:r>
            <a:endParaRPr lang="en-US" sz="880" dirty="0"/>
          </a:p>
        </p:txBody>
      </p:sp>
      <p:sp>
        <p:nvSpPr>
          <p:cNvPr id="73" name="Shape 70"/>
          <p:cNvSpPr/>
          <p:nvPr/>
        </p:nvSpPr>
        <p:spPr>
          <a:xfrm>
            <a:off x="10012680" y="3017520"/>
            <a:ext cx="1005840" cy="475488"/>
          </a:xfrm>
          <a:prstGeom prst="rect">
            <a:avLst/>
          </a:prstGeom>
          <a:solidFill>
            <a:srgbClr val="F7F9FB"/>
          </a:solidFill>
          <a:ln w="6350">
            <a:solidFill>
              <a:srgbClr val="D3DCE5"/>
            </a:solidFill>
            <a:prstDash val="solid"/>
          </a:ln>
        </p:spPr>
      </p:sp>
      <p:sp>
        <p:nvSpPr>
          <p:cNvPr id="74" name="Text 71"/>
          <p:cNvSpPr txBox="1"/>
          <p:nvPr/>
        </p:nvSpPr>
        <p:spPr>
          <a:xfrm>
            <a:off x="10076688" y="3017520"/>
            <a:ext cx="877824" cy="475488"/>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8.5x</a:t>
            </a:r>
            <a:endParaRPr lang="en-US" sz="880" dirty="0"/>
          </a:p>
        </p:txBody>
      </p:sp>
      <p:sp>
        <p:nvSpPr>
          <p:cNvPr id="75" name="Shape 72"/>
          <p:cNvSpPr/>
          <p:nvPr/>
        </p:nvSpPr>
        <p:spPr>
          <a:xfrm>
            <a:off x="11018520" y="3017520"/>
            <a:ext cx="768096" cy="475488"/>
          </a:xfrm>
          <a:prstGeom prst="rect">
            <a:avLst/>
          </a:prstGeom>
          <a:solidFill>
            <a:srgbClr val="F7F9FB"/>
          </a:solidFill>
          <a:ln w="6350">
            <a:solidFill>
              <a:srgbClr val="D3DCE5"/>
            </a:solidFill>
            <a:prstDash val="solid"/>
          </a:ln>
        </p:spPr>
      </p:sp>
      <p:sp>
        <p:nvSpPr>
          <p:cNvPr id="76" name="Text 73"/>
          <p:cNvSpPr txBox="1"/>
          <p:nvPr/>
        </p:nvSpPr>
        <p:spPr>
          <a:xfrm>
            <a:off x="11082528" y="3017520"/>
            <a:ext cx="640080" cy="475488"/>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net cash</a:t>
            </a:r>
            <a:endParaRPr lang="en-US" sz="880" dirty="0"/>
          </a:p>
        </p:txBody>
      </p:sp>
      <p:sp>
        <p:nvSpPr>
          <p:cNvPr id="77" name="Shape 74"/>
          <p:cNvSpPr/>
          <p:nvPr/>
        </p:nvSpPr>
        <p:spPr>
          <a:xfrm>
            <a:off x="411480" y="3493008"/>
            <a:ext cx="1691640" cy="475488"/>
          </a:xfrm>
          <a:prstGeom prst="rect">
            <a:avLst/>
          </a:prstGeom>
          <a:solidFill>
            <a:srgbClr val="FFFFFF"/>
          </a:solidFill>
          <a:ln w="6350">
            <a:solidFill>
              <a:srgbClr val="D3DCE5"/>
            </a:solidFill>
            <a:prstDash val="solid"/>
          </a:ln>
        </p:spPr>
      </p:sp>
      <p:sp>
        <p:nvSpPr>
          <p:cNvPr id="78" name="Text 75"/>
          <p:cNvSpPr txBox="1"/>
          <p:nvPr/>
        </p:nvSpPr>
        <p:spPr>
          <a:xfrm>
            <a:off x="475488" y="3493008"/>
            <a:ext cx="1563624" cy="47548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Mineral Resources</a:t>
            </a:r>
            <a:endParaRPr lang="en-US" sz="880" dirty="0"/>
          </a:p>
        </p:txBody>
      </p:sp>
      <p:sp>
        <p:nvSpPr>
          <p:cNvPr id="79" name="Shape 76"/>
          <p:cNvSpPr/>
          <p:nvPr/>
        </p:nvSpPr>
        <p:spPr>
          <a:xfrm>
            <a:off x="2103120" y="3493008"/>
            <a:ext cx="2148840" cy="475488"/>
          </a:xfrm>
          <a:prstGeom prst="rect">
            <a:avLst/>
          </a:prstGeom>
          <a:solidFill>
            <a:srgbClr val="FFFFFF"/>
          </a:solidFill>
          <a:ln w="6350">
            <a:solidFill>
              <a:srgbClr val="D3DCE5"/>
            </a:solidFill>
            <a:prstDash val="solid"/>
          </a:ln>
        </p:spPr>
      </p:sp>
      <p:sp>
        <p:nvSpPr>
          <p:cNvPr id="80" name="Text 77"/>
          <p:cNvSpPr txBox="1"/>
          <p:nvPr/>
        </p:nvSpPr>
        <p:spPr>
          <a:xfrm>
            <a:off x="2167128" y="3493008"/>
            <a:ext cx="2020824" cy="47548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Lithium, iron ore, services</a:t>
            </a:r>
            <a:endParaRPr lang="en-US" sz="880" dirty="0"/>
          </a:p>
        </p:txBody>
      </p:sp>
      <p:sp>
        <p:nvSpPr>
          <p:cNvPr id="81" name="Shape 78"/>
          <p:cNvSpPr/>
          <p:nvPr/>
        </p:nvSpPr>
        <p:spPr>
          <a:xfrm>
            <a:off x="4251960" y="3493008"/>
            <a:ext cx="4160520" cy="475488"/>
          </a:xfrm>
          <a:prstGeom prst="rect">
            <a:avLst/>
          </a:prstGeom>
          <a:solidFill>
            <a:srgbClr val="FFFFFF"/>
          </a:solidFill>
          <a:ln w="6350">
            <a:solidFill>
              <a:srgbClr val="D3DCE5"/>
            </a:solidFill>
            <a:prstDash val="solid"/>
          </a:ln>
        </p:spPr>
      </p:sp>
      <p:sp>
        <p:nvSpPr>
          <p:cNvPr id="82" name="Text 79"/>
          <p:cNvSpPr txBox="1"/>
          <p:nvPr/>
        </p:nvSpPr>
        <p:spPr>
          <a:xfrm>
            <a:off x="4315968" y="3493008"/>
            <a:ext cx="4032504" cy="47548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Lithium exposure diluted by services and iron ore, and constrained by gearing.</a:t>
            </a:r>
            <a:endParaRPr lang="en-US" sz="880" dirty="0"/>
          </a:p>
        </p:txBody>
      </p:sp>
      <p:sp>
        <p:nvSpPr>
          <p:cNvPr id="83" name="Shape 80"/>
          <p:cNvSpPr/>
          <p:nvPr/>
        </p:nvSpPr>
        <p:spPr>
          <a:xfrm>
            <a:off x="8412480" y="3493008"/>
            <a:ext cx="1600200" cy="475488"/>
          </a:xfrm>
          <a:prstGeom prst="rect">
            <a:avLst/>
          </a:prstGeom>
          <a:solidFill>
            <a:srgbClr val="FFFFFF"/>
          </a:solidFill>
          <a:ln w="6350">
            <a:solidFill>
              <a:srgbClr val="D3DCE5"/>
            </a:solidFill>
            <a:prstDash val="solid"/>
          </a:ln>
        </p:spPr>
      </p:sp>
      <p:sp>
        <p:nvSpPr>
          <p:cNvPr id="84" name="Text 81"/>
          <p:cNvSpPr txBox="1"/>
          <p:nvPr/>
        </p:nvSpPr>
        <p:spPr>
          <a:xfrm>
            <a:off x="8476488" y="3493008"/>
            <a:ext cx="1472184" cy="475488"/>
          </a:xfrm>
          <a:prstGeom prst="rect">
            <a:avLst/>
          </a:prstGeom>
          <a:noFill/>
          <a:ln/>
        </p:spPr>
        <p:txBody>
          <a:bodyPr wrap="square" lIns="0" tIns="0" rIns="0" bIns="0" rtlCol="0" anchor="ctr"/>
          <a:lstStyle/>
          <a:p>
            <a:pPr algn="ctr" indent="0" marL="0">
              <a:buNone/>
            </a:pPr>
            <a:r>
              <a:rPr lang="en-US" sz="880" dirty="0">
                <a:solidFill>
                  <a:srgbClr val="C2610A"/>
                </a:solidFill>
                <a:latin typeface="Calibri" pitchFamily="34" charset="0"/>
                <a:ea typeface="Calibri" pitchFamily="34" charset="-122"/>
                <a:cs typeface="Calibri" pitchFamily="34" charset="-120"/>
              </a:rPr>
              <a:t>Diluted</a:t>
            </a:r>
            <a:endParaRPr lang="en-US" sz="880" dirty="0"/>
          </a:p>
        </p:txBody>
      </p:sp>
      <p:sp>
        <p:nvSpPr>
          <p:cNvPr id="85" name="Shape 82"/>
          <p:cNvSpPr/>
          <p:nvPr/>
        </p:nvSpPr>
        <p:spPr>
          <a:xfrm>
            <a:off x="10012680" y="3493008"/>
            <a:ext cx="1005840" cy="475488"/>
          </a:xfrm>
          <a:prstGeom prst="rect">
            <a:avLst/>
          </a:prstGeom>
          <a:solidFill>
            <a:srgbClr val="FFFFFF"/>
          </a:solidFill>
          <a:ln w="6350">
            <a:solidFill>
              <a:srgbClr val="D3DCE5"/>
            </a:solidFill>
            <a:prstDash val="solid"/>
          </a:ln>
        </p:spPr>
      </p:sp>
      <p:sp>
        <p:nvSpPr>
          <p:cNvPr id="86" name="Text 83"/>
          <p:cNvSpPr txBox="1"/>
          <p:nvPr/>
        </p:nvSpPr>
        <p:spPr>
          <a:xfrm>
            <a:off x="10076688" y="3493008"/>
            <a:ext cx="877824" cy="475488"/>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7.8x</a:t>
            </a:r>
            <a:endParaRPr lang="en-US" sz="880" dirty="0"/>
          </a:p>
        </p:txBody>
      </p:sp>
      <p:sp>
        <p:nvSpPr>
          <p:cNvPr id="87" name="Shape 84"/>
          <p:cNvSpPr/>
          <p:nvPr/>
        </p:nvSpPr>
        <p:spPr>
          <a:xfrm>
            <a:off x="11018520" y="3493008"/>
            <a:ext cx="768096" cy="475488"/>
          </a:xfrm>
          <a:prstGeom prst="rect">
            <a:avLst/>
          </a:prstGeom>
          <a:solidFill>
            <a:srgbClr val="FFFFFF"/>
          </a:solidFill>
          <a:ln w="6350">
            <a:solidFill>
              <a:srgbClr val="D3DCE5"/>
            </a:solidFill>
            <a:prstDash val="solid"/>
          </a:ln>
        </p:spPr>
      </p:sp>
      <p:sp>
        <p:nvSpPr>
          <p:cNvPr id="88" name="Text 85"/>
          <p:cNvSpPr txBox="1"/>
          <p:nvPr/>
        </p:nvSpPr>
        <p:spPr>
          <a:xfrm>
            <a:off x="11082528" y="3493008"/>
            <a:ext cx="640080" cy="475488"/>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US$4.3bn</a:t>
            </a:r>
            <a:endParaRPr lang="en-US" sz="880" dirty="0"/>
          </a:p>
        </p:txBody>
      </p:sp>
      <p:sp>
        <p:nvSpPr>
          <p:cNvPr id="89" name="Shape 86"/>
          <p:cNvSpPr/>
          <p:nvPr/>
        </p:nvSpPr>
        <p:spPr>
          <a:xfrm>
            <a:off x="411480" y="3968496"/>
            <a:ext cx="1691640" cy="475488"/>
          </a:xfrm>
          <a:prstGeom prst="rect">
            <a:avLst/>
          </a:prstGeom>
          <a:solidFill>
            <a:srgbClr val="D6EBE7"/>
          </a:solidFill>
          <a:ln w="6350">
            <a:solidFill>
              <a:srgbClr val="D3DCE5"/>
            </a:solidFill>
            <a:prstDash val="solid"/>
          </a:ln>
        </p:spPr>
      </p:sp>
      <p:sp>
        <p:nvSpPr>
          <p:cNvPr id="90" name="Text 87"/>
          <p:cNvSpPr txBox="1"/>
          <p:nvPr/>
        </p:nvSpPr>
        <p:spPr>
          <a:xfrm>
            <a:off x="475488" y="3968496"/>
            <a:ext cx="1563624" cy="475488"/>
          </a:xfrm>
          <a:prstGeom prst="rect">
            <a:avLst/>
          </a:prstGeom>
          <a:noFill/>
          <a:ln/>
        </p:spPr>
        <p:txBody>
          <a:bodyPr wrap="square" lIns="0" tIns="0" rIns="0" bIns="0" rtlCol="0" anchor="ctr"/>
          <a:lstStyle/>
          <a:p>
            <a:pPr algn="l" indent="0" marL="0">
              <a:buNone/>
            </a:pPr>
            <a:r>
              <a:rPr lang="en-US" sz="880" b="1" dirty="0">
                <a:solidFill>
                  <a:srgbClr val="0E7C6B"/>
                </a:solidFill>
                <a:latin typeface="Calibri" pitchFamily="34" charset="0"/>
                <a:ea typeface="Calibri" pitchFamily="34" charset="-122"/>
                <a:cs typeface="Calibri" pitchFamily="34" charset="-120"/>
              </a:rPr>
              <a:t>PLS Group</a:t>
            </a:r>
            <a:endParaRPr lang="en-US" sz="880" dirty="0"/>
          </a:p>
        </p:txBody>
      </p:sp>
      <p:sp>
        <p:nvSpPr>
          <p:cNvPr id="91" name="Shape 88"/>
          <p:cNvSpPr/>
          <p:nvPr/>
        </p:nvSpPr>
        <p:spPr>
          <a:xfrm>
            <a:off x="2103120" y="3968496"/>
            <a:ext cx="2148840" cy="475488"/>
          </a:xfrm>
          <a:prstGeom prst="rect">
            <a:avLst/>
          </a:prstGeom>
          <a:solidFill>
            <a:srgbClr val="D6EBE7"/>
          </a:solidFill>
          <a:ln w="6350">
            <a:solidFill>
              <a:srgbClr val="D3DCE5"/>
            </a:solidFill>
            <a:prstDash val="solid"/>
          </a:ln>
        </p:spPr>
      </p:sp>
      <p:sp>
        <p:nvSpPr>
          <p:cNvPr id="92" name="Text 89"/>
          <p:cNvSpPr txBox="1"/>
          <p:nvPr/>
        </p:nvSpPr>
        <p:spPr>
          <a:xfrm>
            <a:off x="2167128" y="3968496"/>
            <a:ext cx="2020824" cy="475488"/>
          </a:xfrm>
          <a:prstGeom prst="rect">
            <a:avLst/>
          </a:prstGeom>
          <a:noFill/>
          <a:ln/>
        </p:spPr>
        <p:txBody>
          <a:bodyPr wrap="square" lIns="0" tIns="0" rIns="0" bIns="0" rtlCol="0" anchor="ctr"/>
          <a:lstStyle/>
          <a:p>
            <a:pPr algn="l" indent="0" marL="0">
              <a:buNone/>
            </a:pPr>
            <a:r>
              <a:rPr lang="en-US" sz="880" dirty="0">
                <a:solidFill>
                  <a:srgbClr val="0E7C6B"/>
                </a:solidFill>
                <a:latin typeface="Calibri" pitchFamily="34" charset="0"/>
                <a:ea typeface="Calibri" pitchFamily="34" charset="-122"/>
                <a:cs typeface="Calibri" pitchFamily="34" charset="-120"/>
              </a:rPr>
              <a:t>Lithium, pure play</a:t>
            </a:r>
            <a:endParaRPr lang="en-US" sz="880" dirty="0"/>
          </a:p>
        </p:txBody>
      </p:sp>
      <p:sp>
        <p:nvSpPr>
          <p:cNvPr id="93" name="Shape 90"/>
          <p:cNvSpPr/>
          <p:nvPr/>
        </p:nvSpPr>
        <p:spPr>
          <a:xfrm>
            <a:off x="4251960" y="3968496"/>
            <a:ext cx="4160520" cy="475488"/>
          </a:xfrm>
          <a:prstGeom prst="rect">
            <a:avLst/>
          </a:prstGeom>
          <a:solidFill>
            <a:srgbClr val="D6EBE7"/>
          </a:solidFill>
          <a:ln w="6350">
            <a:solidFill>
              <a:srgbClr val="D3DCE5"/>
            </a:solidFill>
            <a:prstDash val="solid"/>
          </a:ln>
        </p:spPr>
      </p:sp>
      <p:sp>
        <p:nvSpPr>
          <p:cNvPr id="94" name="Text 91"/>
          <p:cNvSpPr txBox="1"/>
          <p:nvPr/>
        </p:nvSpPr>
        <p:spPr>
          <a:xfrm>
            <a:off x="4315968" y="3968496"/>
            <a:ext cx="4032504" cy="475488"/>
          </a:xfrm>
          <a:prstGeom prst="rect">
            <a:avLst/>
          </a:prstGeom>
          <a:noFill/>
          <a:ln/>
        </p:spPr>
        <p:txBody>
          <a:bodyPr wrap="square" lIns="0" tIns="0" rIns="0" bIns="0" rtlCol="0" anchor="ctr"/>
          <a:lstStyle/>
          <a:p>
            <a:pPr algn="l" indent="0" marL="0">
              <a:buNone/>
            </a:pPr>
            <a:r>
              <a:rPr lang="en-US" sz="880" dirty="0">
                <a:solidFill>
                  <a:srgbClr val="10233A"/>
                </a:solidFill>
                <a:latin typeface="Calibri" pitchFamily="34" charset="0"/>
                <a:ea typeface="Calibri" pitchFamily="34" charset="-122"/>
                <a:cs typeface="Calibri" pitchFamily="34" charset="-120"/>
              </a:rPr>
              <a:t>The product IS the transition, and the carbon intensity of the tonne decides which market will take it.</a:t>
            </a:r>
            <a:endParaRPr lang="en-US" sz="880" dirty="0"/>
          </a:p>
        </p:txBody>
      </p:sp>
      <p:sp>
        <p:nvSpPr>
          <p:cNvPr id="95" name="Shape 92"/>
          <p:cNvSpPr/>
          <p:nvPr/>
        </p:nvSpPr>
        <p:spPr>
          <a:xfrm>
            <a:off x="8412480" y="3968496"/>
            <a:ext cx="1600200" cy="475488"/>
          </a:xfrm>
          <a:prstGeom prst="rect">
            <a:avLst/>
          </a:prstGeom>
          <a:solidFill>
            <a:srgbClr val="D6EBE7"/>
          </a:solidFill>
          <a:ln w="6350">
            <a:solidFill>
              <a:srgbClr val="D3DCE5"/>
            </a:solidFill>
            <a:prstDash val="solid"/>
          </a:ln>
        </p:spPr>
      </p:sp>
      <p:sp>
        <p:nvSpPr>
          <p:cNvPr id="96" name="Text 93"/>
          <p:cNvSpPr txBox="1"/>
          <p:nvPr/>
        </p:nvSpPr>
        <p:spPr>
          <a:xfrm>
            <a:off x="8476488" y="3968496"/>
            <a:ext cx="1472184" cy="475488"/>
          </a:xfrm>
          <a:prstGeom prst="rect">
            <a:avLst/>
          </a:prstGeom>
          <a:noFill/>
          <a:ln/>
        </p:spPr>
        <p:txBody>
          <a:bodyPr wrap="square" lIns="0" tIns="0" rIns="0" bIns="0" rtlCol="0" anchor="ctr"/>
          <a:lstStyle/>
          <a:p>
            <a:pPr algn="ctr" indent="0" marL="0">
              <a:buNone/>
            </a:pPr>
            <a:r>
              <a:rPr lang="en-US" sz="880" b="1" dirty="0">
                <a:solidFill>
                  <a:srgbClr val="0E7C6B"/>
                </a:solidFill>
                <a:latin typeface="Calibri" pitchFamily="34" charset="0"/>
                <a:ea typeface="Calibri" pitchFamily="34" charset="-122"/>
                <a:cs typeface="Calibri" pitchFamily="34" charset="-120"/>
              </a:rPr>
              <a:t>Offensive</a:t>
            </a:r>
            <a:endParaRPr lang="en-US" sz="880" dirty="0"/>
          </a:p>
        </p:txBody>
      </p:sp>
      <p:sp>
        <p:nvSpPr>
          <p:cNvPr id="97" name="Shape 94"/>
          <p:cNvSpPr/>
          <p:nvPr/>
        </p:nvSpPr>
        <p:spPr>
          <a:xfrm>
            <a:off x="10012680" y="3968496"/>
            <a:ext cx="1005840" cy="475488"/>
          </a:xfrm>
          <a:prstGeom prst="rect">
            <a:avLst/>
          </a:prstGeom>
          <a:solidFill>
            <a:srgbClr val="D6EBE7"/>
          </a:solidFill>
          <a:ln w="6350">
            <a:solidFill>
              <a:srgbClr val="D3DCE5"/>
            </a:solidFill>
            <a:prstDash val="solid"/>
          </a:ln>
        </p:spPr>
      </p:sp>
      <p:sp>
        <p:nvSpPr>
          <p:cNvPr id="98" name="Text 95"/>
          <p:cNvSpPr txBox="1"/>
          <p:nvPr/>
        </p:nvSpPr>
        <p:spPr>
          <a:xfrm>
            <a:off x="10076688" y="3968496"/>
            <a:ext cx="877824" cy="475488"/>
          </a:xfrm>
          <a:prstGeom prst="rect">
            <a:avLst/>
          </a:prstGeom>
          <a:noFill/>
          <a:ln/>
        </p:spPr>
        <p:txBody>
          <a:bodyPr wrap="square" lIns="0" tIns="0" rIns="0" bIns="0" rtlCol="0" anchor="ctr"/>
          <a:lstStyle/>
          <a:p>
            <a:pPr algn="ctr" indent="0" marL="0">
              <a:buNone/>
            </a:pPr>
            <a:r>
              <a:rPr lang="en-US" sz="880" dirty="0">
                <a:solidFill>
                  <a:srgbClr val="10233A"/>
                </a:solidFill>
                <a:latin typeface="Calibri" pitchFamily="34" charset="0"/>
                <a:ea typeface="Calibri" pitchFamily="34" charset="-122"/>
                <a:cs typeface="Calibri" pitchFamily="34" charset="-120"/>
              </a:rPr>
              <a:t>26.8x</a:t>
            </a:r>
            <a:endParaRPr lang="en-US" sz="880" dirty="0"/>
          </a:p>
        </p:txBody>
      </p:sp>
      <p:sp>
        <p:nvSpPr>
          <p:cNvPr id="99" name="Shape 96"/>
          <p:cNvSpPr/>
          <p:nvPr/>
        </p:nvSpPr>
        <p:spPr>
          <a:xfrm>
            <a:off x="11018520" y="3968496"/>
            <a:ext cx="768096" cy="475488"/>
          </a:xfrm>
          <a:prstGeom prst="rect">
            <a:avLst/>
          </a:prstGeom>
          <a:solidFill>
            <a:srgbClr val="D6EBE7"/>
          </a:solidFill>
          <a:ln w="6350">
            <a:solidFill>
              <a:srgbClr val="D3DCE5"/>
            </a:solidFill>
            <a:prstDash val="solid"/>
          </a:ln>
        </p:spPr>
      </p:sp>
      <p:sp>
        <p:nvSpPr>
          <p:cNvPr id="100" name="Text 97"/>
          <p:cNvSpPr txBox="1"/>
          <p:nvPr/>
        </p:nvSpPr>
        <p:spPr>
          <a:xfrm>
            <a:off x="11082528" y="3968496"/>
            <a:ext cx="640080" cy="475488"/>
          </a:xfrm>
          <a:prstGeom prst="rect">
            <a:avLst/>
          </a:prstGeom>
          <a:noFill/>
          <a:ln/>
        </p:spPr>
        <p:txBody>
          <a:bodyPr wrap="square" lIns="0" tIns="0" rIns="0" bIns="0" rtlCol="0" anchor="ctr"/>
          <a:lstStyle/>
          <a:p>
            <a:pPr algn="ctr" indent="0" marL="0">
              <a:buNone/>
            </a:pPr>
            <a:r>
              <a:rPr lang="en-US" sz="880" dirty="0">
                <a:solidFill>
                  <a:srgbClr val="0E7C6B"/>
                </a:solidFill>
                <a:latin typeface="Calibri" pitchFamily="34" charset="0"/>
                <a:ea typeface="Calibri" pitchFamily="34" charset="-122"/>
                <a:cs typeface="Calibri" pitchFamily="34" charset="-120"/>
              </a:rPr>
              <a:t>net cash</a:t>
            </a:r>
            <a:endParaRPr lang="en-US" sz="880" dirty="0"/>
          </a:p>
        </p:txBody>
      </p:sp>
      <p:sp>
        <p:nvSpPr>
          <p:cNvPr id="101" name="Shape 98"/>
          <p:cNvSpPr/>
          <p:nvPr/>
        </p:nvSpPr>
        <p:spPr>
          <a:xfrm>
            <a:off x="411480" y="4572000"/>
            <a:ext cx="5577840" cy="1463040"/>
          </a:xfrm>
          <a:prstGeom prst="rect">
            <a:avLst/>
          </a:prstGeom>
          <a:solidFill>
            <a:srgbClr val="F7F9FB"/>
          </a:solidFill>
          <a:ln w="9525">
            <a:solidFill>
              <a:srgbClr val="D3DCE5"/>
            </a:solidFill>
            <a:prstDash val="solid"/>
          </a:ln>
        </p:spPr>
      </p:sp>
      <p:sp>
        <p:nvSpPr>
          <p:cNvPr id="102" name="Text 99"/>
          <p:cNvSpPr txBox="1"/>
          <p:nvPr/>
        </p:nvSpPr>
        <p:spPr>
          <a:xfrm>
            <a:off x="576072" y="4700016"/>
            <a:ext cx="524865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screen this case asks for</a:t>
            </a:r>
            <a:endParaRPr lang="en-US" sz="1150" dirty="0"/>
          </a:p>
        </p:txBody>
      </p:sp>
      <p:sp>
        <p:nvSpPr>
          <p:cNvPr id="103" name="Text 100"/>
          <p:cNvSpPr txBox="1"/>
          <p:nvPr/>
        </p:nvSpPr>
        <p:spPr>
          <a:xfrm>
            <a:off x="576072" y="5029200"/>
            <a:ext cx="5248656" cy="914400"/>
          </a:xfrm>
          <a:prstGeom prst="rect">
            <a:avLst/>
          </a:prstGeom>
          <a:noFill/>
          <a:ln/>
        </p:spPr>
        <p:txBody>
          <a:bodyPr wrap="square" lIns="0" tIns="0" rIns="0" bIns="0" rtlCol="0" anchor="t"/>
          <a:lstStyle/>
          <a:p>
            <a:pPr indent="0" marL="0">
              <a:lnSpc>
                <a:spcPct val="105000"/>
              </a:lnSpc>
              <a:buNone/>
            </a:pPr>
            <a:r>
              <a:rPr lang="en-US" sz="950" dirty="0">
                <a:solidFill>
                  <a:srgbClr val="1B2733"/>
                </a:solidFill>
                <a:latin typeface="Calibri" pitchFamily="34" charset="0"/>
                <a:ea typeface="Calibri" pitchFamily="34" charset="-122"/>
                <a:cs typeface="Calibri" pitchFamily="34" charset="-120"/>
              </a:rPr>
              <a:t>Porter and Kramer's test is whether solving a societal problem creates a new pool of value. Four of these six use ESG to protect cash flows they already have. That is competent risk management, and it is not shared value. Only PLS sits in a market where the environmental outcome is the reason the customer exists.</a:t>
            </a:r>
            <a:endParaRPr lang="en-US" sz="950" dirty="0"/>
          </a:p>
        </p:txBody>
      </p:sp>
      <p:sp>
        <p:nvSpPr>
          <p:cNvPr id="104" name="Shape 101"/>
          <p:cNvSpPr/>
          <p:nvPr/>
        </p:nvSpPr>
        <p:spPr>
          <a:xfrm>
            <a:off x="6172200" y="4572000"/>
            <a:ext cx="5614416" cy="1463040"/>
          </a:xfrm>
          <a:prstGeom prst="rect">
            <a:avLst/>
          </a:prstGeom>
          <a:solidFill>
            <a:srgbClr val="FBEBD9"/>
          </a:solidFill>
          <a:ln w="9525">
            <a:solidFill>
              <a:srgbClr val="E8C9A3"/>
            </a:solidFill>
            <a:prstDash val="solid"/>
          </a:ln>
        </p:spPr>
      </p:sp>
      <p:sp>
        <p:nvSpPr>
          <p:cNvPr id="105" name="Text 102"/>
          <p:cNvSpPr txBox="1"/>
          <p:nvPr/>
        </p:nvSpPr>
        <p:spPr>
          <a:xfrm>
            <a:off x="6336792" y="4700016"/>
            <a:ext cx="5285232"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The risk that comes with it</a:t>
            </a:r>
            <a:endParaRPr lang="en-US" sz="1150" dirty="0"/>
          </a:p>
        </p:txBody>
      </p:sp>
      <p:sp>
        <p:nvSpPr>
          <p:cNvPr id="106" name="Text 103"/>
          <p:cNvSpPr txBox="1"/>
          <p:nvPr/>
        </p:nvSpPr>
        <p:spPr>
          <a:xfrm>
            <a:off x="6336792" y="5029200"/>
            <a:ext cx="5285232" cy="914400"/>
          </a:xfrm>
          <a:prstGeom prst="rect">
            <a:avLst/>
          </a:prstGeom>
          <a:noFill/>
          <a:ln/>
        </p:spPr>
        <p:txBody>
          <a:bodyPr wrap="square" lIns="0" tIns="0" rIns="0" bIns="0" rtlCol="0" anchor="t"/>
          <a:lstStyle/>
          <a:p>
            <a:pPr indent="0" marL="0">
              <a:lnSpc>
                <a:spcPct val="105000"/>
              </a:lnSpc>
              <a:buNone/>
            </a:pPr>
            <a:r>
              <a:rPr lang="en-US" sz="950" dirty="0">
                <a:solidFill>
                  <a:srgbClr val="1B2733"/>
                </a:solidFill>
                <a:latin typeface="Calibri" pitchFamily="34" charset="0"/>
                <a:ea typeface="Calibri" pitchFamily="34" charset="-122"/>
                <a:cs typeface="Calibri" pitchFamily="34" charset="-120"/>
              </a:rPr>
              <a:t>PLS is also the riskiest of the six: one commodity, one principal asset, and a price that has moved by a factor of three in two years. A shared-value mandate does not suspend that. It is why our bear case is severe and why we size the downstream prize outside the target rather than inside it.</a:t>
            </a:r>
            <a:endParaRPr lang="en-US" sz="950" dirty="0"/>
          </a:p>
        </p:txBody>
      </p:sp>
      <p:sp>
        <p:nvSpPr>
          <p:cNvPr id="107" name="Text 104"/>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company FY26 results; data-vendor multiples, August 2026 (providers disagree materially on EV/EBITDA across this peer set - see appendix). PLS's 26.8x is trailing FY26 and falls to roughly 9x on FY27 estimates as the earnings recovery annualises.</a:t>
            </a:r>
            <a:endParaRPr lang="en-US" sz="720" dirty="0"/>
          </a:p>
        </p:txBody>
      </p:sp>
      <p:sp>
        <p:nvSpPr>
          <p:cNvPr id="108" name="Text 105"/>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33A"/>
        </a:solidFill>
      </p:bgPr>
    </p:bg>
    <p:spTree>
      <p:nvGrpSpPr>
        <p:cNvPr id="1" name=""/>
        <p:cNvGrpSpPr/>
        <p:nvPr/>
      </p:nvGrpSpPr>
      <p:grpSpPr>
        <a:xfrm>
          <a:off x="0" y="0"/>
          <a:ext cx="0" cy="0"/>
          <a:chOff x="0" y="0"/>
          <a:chExt cx="0" cy="0"/>
        </a:xfrm>
      </p:grpSpPr>
      <p:sp>
        <p:nvSpPr>
          <p:cNvPr id="2" name="Text 0"/>
          <p:cNvSpPr txBox="1"/>
          <p:nvPr/>
        </p:nvSpPr>
        <p:spPr>
          <a:xfrm>
            <a:off x="411480" y="1874520"/>
            <a:ext cx="1828800" cy="1371600"/>
          </a:xfrm>
          <a:prstGeom prst="rect">
            <a:avLst/>
          </a:prstGeom>
          <a:noFill/>
          <a:ln/>
        </p:spPr>
        <p:txBody>
          <a:bodyPr wrap="square" lIns="0" tIns="0" rIns="0" bIns="0" rtlCol="0" anchor="ctr"/>
          <a:lstStyle/>
          <a:p>
            <a:pPr indent="0" marL="0">
              <a:buNone/>
            </a:pPr>
            <a:r>
              <a:rPr lang="en-US" sz="8800" b="1" dirty="0">
                <a:solidFill>
                  <a:srgbClr val="0E7C6B"/>
                </a:solidFill>
                <a:latin typeface="Cambria" pitchFamily="34" charset="0"/>
                <a:ea typeface="Cambria" pitchFamily="34" charset="-122"/>
                <a:cs typeface="Cambria" pitchFamily="34" charset="-120"/>
              </a:rPr>
              <a:t>01</a:t>
            </a:r>
            <a:endParaRPr lang="en-US" sz="8800" dirty="0"/>
          </a:p>
        </p:txBody>
      </p:sp>
      <p:sp>
        <p:nvSpPr>
          <p:cNvPr id="3" name="Text 1"/>
          <p:cNvSpPr txBox="1"/>
          <p:nvPr/>
        </p:nvSpPr>
        <p:spPr>
          <a:xfrm>
            <a:off x="2148840" y="2103120"/>
            <a:ext cx="877824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Company and industry</a:t>
            </a:r>
            <a:endParaRPr lang="en-US" sz="3600" dirty="0"/>
          </a:p>
        </p:txBody>
      </p:sp>
      <p:sp>
        <p:nvSpPr>
          <p:cNvPr id="4" name="Text 2"/>
          <p:cNvSpPr txBox="1"/>
          <p:nvPr/>
        </p:nvSpPr>
        <p:spPr>
          <a:xfrm>
            <a:off x="2194560" y="2971800"/>
            <a:ext cx="8412480" cy="822960"/>
          </a:xfrm>
          <a:prstGeom prst="rect">
            <a:avLst/>
          </a:prstGeom>
          <a:noFill/>
          <a:ln/>
        </p:spPr>
        <p:txBody>
          <a:bodyPr wrap="square" lIns="0" tIns="0" rIns="0" bIns="0" rtlCol="0" anchor="t"/>
          <a:lstStyle/>
          <a:p>
            <a:pPr indent="0" marL="0">
              <a:lnSpc>
                <a:spcPct val="110000"/>
              </a:lnSpc>
              <a:buNone/>
            </a:pPr>
            <a:r>
              <a:rPr lang="en-US" sz="1300" dirty="0">
                <a:solidFill>
                  <a:srgbClr val="AFC3D4"/>
                </a:solidFill>
                <a:latin typeface="Calibri" pitchFamily="34" charset="0"/>
                <a:ea typeface="Calibri" pitchFamily="34" charset="-122"/>
                <a:cs typeface="Calibri" pitchFamily="34" charset="-120"/>
              </a:rPr>
              <a:t>What PLS is, what the last financial year proved, and what has actually changed in the lithium market.</a:t>
            </a:r>
            <a:endParaRPr lang="en-US" sz="1300" dirty="0"/>
          </a:p>
        </p:txBody>
      </p:sp>
      <p:sp>
        <p:nvSpPr>
          <p:cNvPr id="5" name="Text 3"/>
          <p:cNvSpPr txBox="1"/>
          <p:nvPr/>
        </p:nvSpPr>
        <p:spPr>
          <a:xfrm>
            <a:off x="2194560" y="3977640"/>
            <a:ext cx="8778240" cy="822960"/>
          </a:xfrm>
          <a:prstGeom prst="rect">
            <a:avLst/>
          </a:prstGeom>
          <a:noFill/>
          <a:ln/>
        </p:spPr>
        <p:txBody>
          <a:bodyPr wrap="square" lIns="0" tIns="0" rIns="0" bIns="0" rtlCol="0" anchor="t"/>
          <a:lstStyle/>
          <a:p>
            <a:pPr indent="0" marL="0">
              <a:lnSpc>
                <a:spcPct val="130000"/>
              </a:lnSpc>
              <a:buNone/>
            </a:pPr>
            <a:r>
              <a:rPr lang="en-US" sz="950" dirty="0">
                <a:solidFill>
                  <a:srgbClr val="0E7C6B"/>
                </a:solidFill>
                <a:latin typeface="Calibri" pitchFamily="34" charset="0"/>
                <a:ea typeface="Calibri" pitchFamily="34" charset="-122"/>
                <a:cs typeface="Calibri" pitchFamily="34" charset="-120"/>
              </a:rPr>
              <a:t>03  Company overview     04  The cycle has turned, with a saw-tooth     05  What changed structurally     06  The cost curve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Shape 1"/>
          <p:cNvSpPr/>
          <p:nvPr/>
        </p:nvSpPr>
        <p:spPr>
          <a:xfrm>
            <a:off x="1919326" y="6400800"/>
            <a:ext cx="1335024" cy="274320"/>
          </a:xfrm>
          <a:prstGeom prst="roundRect">
            <a:avLst>
              <a:gd name="adj" fmla="val 20000"/>
            </a:avLst>
          </a:prstGeom>
          <a:solidFill>
            <a:srgbClr val="10233A"/>
          </a:solidFill>
          <a:ln/>
        </p:spPr>
      </p:sp>
      <p:sp>
        <p:nvSpPr>
          <p:cNvPr id="4" name="Text 2"/>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Company</a:t>
            </a:r>
            <a:endParaRPr lang="en-US" sz="850" dirty="0"/>
          </a:p>
        </p:txBody>
      </p:sp>
      <p:sp>
        <p:nvSpPr>
          <p:cNvPr id="5" name="Text 3"/>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6" name="Text 4"/>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Record volumes, a 59% margin, A$2.29bn of cash and a reinstated dividend - achieved while the lithium price was still recovering.</a:t>
            </a:r>
            <a:endParaRPr lang="en-US" sz="15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PLS came out of the downturn stronger than it went in</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Text 14"/>
          <p:cNvSpPr txBox="1"/>
          <p:nvPr/>
        </p:nvSpPr>
        <p:spPr>
          <a:xfrm>
            <a:off x="411480" y="1344168"/>
            <a:ext cx="2697480" cy="566928"/>
          </a:xfrm>
          <a:prstGeom prst="rect">
            <a:avLst/>
          </a:prstGeom>
          <a:noFill/>
          <a:ln/>
        </p:spPr>
        <p:txBody>
          <a:bodyPr wrap="square" lIns="0" tIns="0" rIns="0" bIns="0" rtlCol="0" anchor="b"/>
          <a:lstStyle/>
          <a:p>
            <a:pPr algn="l" indent="0" marL="0">
              <a:buNone/>
            </a:pPr>
            <a:r>
              <a:rPr lang="en-US" sz="2700" b="1" dirty="0">
                <a:solidFill>
                  <a:srgbClr val="10233A"/>
                </a:solidFill>
                <a:latin typeface="Cambria" pitchFamily="34" charset="0"/>
                <a:ea typeface="Cambria" pitchFamily="34" charset="-122"/>
                <a:cs typeface="Cambria" pitchFamily="34" charset="-120"/>
              </a:rPr>
              <a:t>879.5kt</a:t>
            </a:r>
            <a:endParaRPr lang="en-US" sz="2700" dirty="0"/>
          </a:p>
        </p:txBody>
      </p:sp>
      <p:sp>
        <p:nvSpPr>
          <p:cNvPr id="18" name="Text 15"/>
          <p:cNvSpPr txBox="1"/>
          <p:nvPr/>
        </p:nvSpPr>
        <p:spPr>
          <a:xfrm>
            <a:off x="411480" y="1892808"/>
            <a:ext cx="269748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Spodumene produced, FY26</a:t>
            </a:r>
            <a:endParaRPr lang="en-US" sz="1000" dirty="0"/>
          </a:p>
        </p:txBody>
      </p:sp>
      <p:sp>
        <p:nvSpPr>
          <p:cNvPr id="19" name="Text 16"/>
          <p:cNvSpPr txBox="1"/>
          <p:nvPr/>
        </p:nvSpPr>
        <p:spPr>
          <a:xfrm>
            <a:off x="411480" y="2112264"/>
            <a:ext cx="269748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Up 17%. Beat guidance by about 10kt.</a:t>
            </a:r>
            <a:endParaRPr lang="en-US" sz="850" dirty="0"/>
          </a:p>
        </p:txBody>
      </p:sp>
      <p:sp>
        <p:nvSpPr>
          <p:cNvPr id="20" name="Text 17"/>
          <p:cNvSpPr txBox="1"/>
          <p:nvPr/>
        </p:nvSpPr>
        <p:spPr>
          <a:xfrm>
            <a:off x="3291840" y="1344168"/>
            <a:ext cx="2697480" cy="566928"/>
          </a:xfrm>
          <a:prstGeom prst="rect">
            <a:avLst/>
          </a:prstGeom>
          <a:noFill/>
          <a:ln/>
        </p:spPr>
        <p:txBody>
          <a:bodyPr wrap="square" lIns="0" tIns="0" rIns="0" bIns="0" rtlCol="0" anchor="b"/>
          <a:lstStyle/>
          <a:p>
            <a:pPr algn="l" indent="0" marL="0">
              <a:buNone/>
            </a:pPr>
            <a:r>
              <a:rPr lang="en-US" sz="2700" b="1" dirty="0">
                <a:solidFill>
                  <a:srgbClr val="10233A"/>
                </a:solidFill>
                <a:latin typeface="Cambria" pitchFamily="34" charset="0"/>
                <a:ea typeface="Cambria" pitchFamily="34" charset="-122"/>
                <a:cs typeface="Cambria" pitchFamily="34" charset="-120"/>
              </a:rPr>
              <a:t>A$1,934m</a:t>
            </a:r>
            <a:endParaRPr lang="en-US" sz="2700" dirty="0"/>
          </a:p>
        </p:txBody>
      </p:sp>
      <p:sp>
        <p:nvSpPr>
          <p:cNvPr id="21" name="Text 18"/>
          <p:cNvSpPr txBox="1"/>
          <p:nvPr/>
        </p:nvSpPr>
        <p:spPr>
          <a:xfrm>
            <a:off x="3291840" y="1892808"/>
            <a:ext cx="269748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Revenue, FY26</a:t>
            </a:r>
            <a:endParaRPr lang="en-US" sz="1000" dirty="0"/>
          </a:p>
        </p:txBody>
      </p:sp>
      <p:sp>
        <p:nvSpPr>
          <p:cNvPr id="22" name="Text 19"/>
          <p:cNvSpPr txBox="1"/>
          <p:nvPr/>
        </p:nvSpPr>
        <p:spPr>
          <a:xfrm>
            <a:off x="3291840" y="2112264"/>
            <a:ext cx="269748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Up 152% on FY25's A$769m.</a:t>
            </a:r>
            <a:endParaRPr lang="en-US" sz="850" dirty="0"/>
          </a:p>
        </p:txBody>
      </p:sp>
      <p:sp>
        <p:nvSpPr>
          <p:cNvPr id="23" name="Text 20"/>
          <p:cNvSpPr txBox="1"/>
          <p:nvPr/>
        </p:nvSpPr>
        <p:spPr>
          <a:xfrm>
            <a:off x="6172200" y="1344168"/>
            <a:ext cx="2697480" cy="566928"/>
          </a:xfrm>
          <a:prstGeom prst="rect">
            <a:avLst/>
          </a:prstGeom>
          <a:noFill/>
          <a:ln/>
        </p:spPr>
        <p:txBody>
          <a:bodyPr wrap="square" lIns="0" tIns="0" rIns="0" bIns="0" rtlCol="0" anchor="b"/>
          <a:lstStyle/>
          <a:p>
            <a:pPr algn="l" indent="0" marL="0">
              <a:buNone/>
            </a:pPr>
            <a:r>
              <a:rPr lang="en-US" sz="2700" b="1" dirty="0">
                <a:solidFill>
                  <a:srgbClr val="0E7C6B"/>
                </a:solidFill>
                <a:latin typeface="Cambria" pitchFamily="34" charset="0"/>
                <a:ea typeface="Cambria" pitchFamily="34" charset="-122"/>
                <a:cs typeface="Cambria" pitchFamily="34" charset="-120"/>
              </a:rPr>
              <a:t>A$1,137m</a:t>
            </a:r>
            <a:endParaRPr lang="en-US" sz="2700" dirty="0"/>
          </a:p>
        </p:txBody>
      </p:sp>
      <p:sp>
        <p:nvSpPr>
          <p:cNvPr id="24" name="Text 21"/>
          <p:cNvSpPr txBox="1"/>
          <p:nvPr/>
        </p:nvSpPr>
        <p:spPr>
          <a:xfrm>
            <a:off x="6172200" y="1892808"/>
            <a:ext cx="269748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Underlying EBITDA</a:t>
            </a:r>
            <a:endParaRPr lang="en-US" sz="1000" dirty="0"/>
          </a:p>
        </p:txBody>
      </p:sp>
      <p:sp>
        <p:nvSpPr>
          <p:cNvPr id="25" name="Text 22"/>
          <p:cNvSpPr txBox="1"/>
          <p:nvPr/>
        </p:nvSpPr>
        <p:spPr>
          <a:xfrm>
            <a:off x="6172200" y="2112264"/>
            <a:ext cx="269748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A 59% margin, against A$97m in FY25.</a:t>
            </a:r>
            <a:endParaRPr lang="en-US" sz="850" dirty="0"/>
          </a:p>
        </p:txBody>
      </p:sp>
      <p:sp>
        <p:nvSpPr>
          <p:cNvPr id="26" name="Text 23"/>
          <p:cNvSpPr txBox="1"/>
          <p:nvPr/>
        </p:nvSpPr>
        <p:spPr>
          <a:xfrm>
            <a:off x="9052560" y="1344168"/>
            <a:ext cx="2697480" cy="566928"/>
          </a:xfrm>
          <a:prstGeom prst="rect">
            <a:avLst/>
          </a:prstGeom>
          <a:noFill/>
          <a:ln/>
        </p:spPr>
        <p:txBody>
          <a:bodyPr wrap="square" lIns="0" tIns="0" rIns="0" bIns="0" rtlCol="0" anchor="b"/>
          <a:lstStyle/>
          <a:p>
            <a:pPr algn="l" indent="0" marL="0">
              <a:buNone/>
            </a:pPr>
            <a:r>
              <a:rPr lang="en-US" sz="2700" b="1" dirty="0">
                <a:solidFill>
                  <a:srgbClr val="0E7C6B"/>
                </a:solidFill>
                <a:latin typeface="Cambria" pitchFamily="34" charset="0"/>
                <a:ea typeface="Cambria" pitchFamily="34" charset="-122"/>
                <a:cs typeface="Cambria" pitchFamily="34" charset="-120"/>
              </a:rPr>
              <a:t>A$569/t</a:t>
            </a:r>
            <a:endParaRPr lang="en-US" sz="2700" dirty="0"/>
          </a:p>
        </p:txBody>
      </p:sp>
      <p:sp>
        <p:nvSpPr>
          <p:cNvPr id="27" name="Text 24"/>
          <p:cNvSpPr txBox="1"/>
          <p:nvPr/>
        </p:nvSpPr>
        <p:spPr>
          <a:xfrm>
            <a:off x="9052560" y="1892808"/>
            <a:ext cx="269748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Unit cost, FOB</a:t>
            </a:r>
            <a:endParaRPr lang="en-US" sz="1000" dirty="0"/>
          </a:p>
        </p:txBody>
      </p:sp>
      <p:sp>
        <p:nvSpPr>
          <p:cNvPr id="28" name="Text 25"/>
          <p:cNvSpPr txBox="1"/>
          <p:nvPr/>
        </p:nvSpPr>
        <p:spPr>
          <a:xfrm>
            <a:off x="9052560" y="2112264"/>
            <a:ext cx="269748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Down 9% while volumes rose 17%.</a:t>
            </a:r>
            <a:endParaRPr lang="en-US" sz="850" dirty="0"/>
          </a:p>
        </p:txBody>
      </p:sp>
      <p:graphicFrame>
        <p:nvGraphicFramePr>
          <p:cNvPr id="29" name="Chart 0" descr=""/>
          <p:cNvGraphicFramePr/>
          <p:nvPr/>
        </p:nvGraphicFramePr>
        <p:xfrm>
          <a:off x="411480" y="2487168"/>
          <a:ext cx="5532120" cy="3017520"/>
        </p:xfrm>
        <a:graphic xmlns:a="http://schemas.openxmlformats.org/drawingml/2006/main">
          <a:graphicData uri="http://schemas.openxmlformats.org/drawingml/2006/chart">
            <c:chart xmlns:c="http://schemas.openxmlformats.org/drawingml/2006/chart" r:id="rId1"/>
          </a:graphicData>
        </a:graphic>
      </p:graphicFrame>
      <p:sp>
        <p:nvSpPr>
          <p:cNvPr id="30" name="Shape 26"/>
          <p:cNvSpPr/>
          <p:nvPr/>
        </p:nvSpPr>
        <p:spPr>
          <a:xfrm>
            <a:off x="6153912" y="2487168"/>
            <a:ext cx="5632704" cy="1225296"/>
          </a:xfrm>
          <a:prstGeom prst="rect">
            <a:avLst/>
          </a:prstGeom>
          <a:solidFill>
            <a:srgbClr val="D6EBE7"/>
          </a:solidFill>
          <a:ln w="9525">
            <a:solidFill>
              <a:srgbClr val="AFD3CC"/>
            </a:solidFill>
            <a:prstDash val="solid"/>
          </a:ln>
        </p:spPr>
      </p:sp>
      <p:sp>
        <p:nvSpPr>
          <p:cNvPr id="31" name="Text 27"/>
          <p:cNvSpPr txBox="1"/>
          <p:nvPr/>
        </p:nvSpPr>
        <p:spPr>
          <a:xfrm>
            <a:off x="6318504" y="2615184"/>
            <a:ext cx="5321808"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The number that matters most is not the average</a:t>
            </a:r>
            <a:endParaRPr lang="en-US" sz="1150" dirty="0"/>
          </a:p>
        </p:txBody>
      </p:sp>
      <p:sp>
        <p:nvSpPr>
          <p:cNvPr id="32" name="Text 28"/>
          <p:cNvSpPr txBox="1"/>
          <p:nvPr/>
        </p:nvSpPr>
        <p:spPr>
          <a:xfrm>
            <a:off x="6336792" y="3054096"/>
            <a:ext cx="5266944" cy="548640"/>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730" dirty="0">
                <a:solidFill>
                  <a:srgbClr val="1B2733"/>
                </a:solidFill>
                <a:latin typeface="Calibri" pitchFamily="34" charset="0"/>
                <a:ea typeface="Calibri" pitchFamily="34" charset="-122"/>
                <a:cs typeface="Calibri" pitchFamily="34" charset="-120"/>
              </a:rPr>
              <a:t>The June-2026 quarter realised US$2,107/t on actual grade, against a full-year average of US$1,488/t.</a:t>
            </a:r>
            <a:endParaRPr lang="en-US" sz="730" dirty="0"/>
          </a:p>
          <a:p>
            <a:pPr marL="342900" indent="-342900">
              <a:lnSpc>
                <a:spcPct val="100000"/>
              </a:lnSpc>
              <a:spcAft>
                <a:spcPts val="500"/>
              </a:spcAft>
              <a:buSzPct val="100000"/>
              <a:buChar char="▪"/>
            </a:pPr>
            <a:r>
              <a:rPr lang="en-US" sz="730" dirty="0">
                <a:solidFill>
                  <a:srgbClr val="1B2733"/>
                </a:solidFill>
                <a:latin typeface="Calibri" pitchFamily="34" charset="0"/>
                <a:ea typeface="Calibri" pitchFamily="34" charset="-122"/>
                <a:cs typeface="Calibri" pitchFamily="34" charset="-120"/>
              </a:rPr>
              <a:t>PLS exited FY26 earning roughly 40% more per tonne than it averaged across it. FY27 annualises that.</a:t>
            </a:r>
            <a:endParaRPr lang="en-US" sz="730" dirty="0"/>
          </a:p>
        </p:txBody>
      </p:sp>
      <p:sp>
        <p:nvSpPr>
          <p:cNvPr id="33" name="Shape 29"/>
          <p:cNvSpPr/>
          <p:nvPr/>
        </p:nvSpPr>
        <p:spPr>
          <a:xfrm>
            <a:off x="6153912" y="3877056"/>
            <a:ext cx="1481328" cy="292608"/>
          </a:xfrm>
          <a:prstGeom prst="rect">
            <a:avLst/>
          </a:prstGeom>
          <a:solidFill>
            <a:srgbClr val="10233A"/>
          </a:solidFill>
          <a:ln/>
        </p:spPr>
      </p:sp>
      <p:sp>
        <p:nvSpPr>
          <p:cNvPr id="34" name="Text 30"/>
          <p:cNvSpPr txBox="1"/>
          <p:nvPr/>
        </p:nvSpPr>
        <p:spPr>
          <a:xfrm>
            <a:off x="6217920" y="3877056"/>
            <a:ext cx="1353312" cy="292608"/>
          </a:xfrm>
          <a:prstGeom prst="rect">
            <a:avLst/>
          </a:prstGeom>
          <a:noFill/>
          <a:ln/>
        </p:spPr>
        <p:txBody>
          <a:bodyPr wrap="square" lIns="0" tIns="0" rIns="0" bIns="0" rtlCol="0" anchor="ctr"/>
          <a:lstStyle/>
          <a:p>
            <a:pPr algn="l" indent="0" marL="0">
              <a:buNone/>
            </a:pPr>
            <a:endParaRPr lang="en-US" sz="840" dirty="0"/>
          </a:p>
        </p:txBody>
      </p:sp>
      <p:sp>
        <p:nvSpPr>
          <p:cNvPr id="35" name="Shape 31"/>
          <p:cNvSpPr/>
          <p:nvPr/>
        </p:nvSpPr>
        <p:spPr>
          <a:xfrm>
            <a:off x="7635240" y="3877056"/>
            <a:ext cx="1097280" cy="292608"/>
          </a:xfrm>
          <a:prstGeom prst="rect">
            <a:avLst/>
          </a:prstGeom>
          <a:solidFill>
            <a:srgbClr val="10233A"/>
          </a:solidFill>
          <a:ln/>
        </p:spPr>
      </p:sp>
      <p:sp>
        <p:nvSpPr>
          <p:cNvPr id="36" name="Text 32"/>
          <p:cNvSpPr txBox="1"/>
          <p:nvPr/>
        </p:nvSpPr>
        <p:spPr>
          <a:xfrm>
            <a:off x="7699248" y="3877056"/>
            <a:ext cx="969264" cy="292608"/>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FY26 actual</a:t>
            </a:r>
            <a:endParaRPr lang="en-US" sz="840" dirty="0"/>
          </a:p>
        </p:txBody>
      </p:sp>
      <p:sp>
        <p:nvSpPr>
          <p:cNvPr id="37" name="Shape 33"/>
          <p:cNvSpPr/>
          <p:nvPr/>
        </p:nvSpPr>
        <p:spPr>
          <a:xfrm>
            <a:off x="8732520" y="3877056"/>
            <a:ext cx="1444752" cy="292608"/>
          </a:xfrm>
          <a:prstGeom prst="rect">
            <a:avLst/>
          </a:prstGeom>
          <a:solidFill>
            <a:srgbClr val="10233A"/>
          </a:solidFill>
          <a:ln/>
        </p:spPr>
      </p:sp>
      <p:sp>
        <p:nvSpPr>
          <p:cNvPr id="38" name="Text 34"/>
          <p:cNvSpPr txBox="1"/>
          <p:nvPr/>
        </p:nvSpPr>
        <p:spPr>
          <a:xfrm>
            <a:off x="8796528" y="3877056"/>
            <a:ext cx="1316736" cy="292608"/>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FY27 guidance</a:t>
            </a:r>
            <a:endParaRPr lang="en-US" sz="840" dirty="0"/>
          </a:p>
        </p:txBody>
      </p:sp>
      <p:sp>
        <p:nvSpPr>
          <p:cNvPr id="39" name="Shape 35"/>
          <p:cNvSpPr/>
          <p:nvPr/>
        </p:nvSpPr>
        <p:spPr>
          <a:xfrm>
            <a:off x="10177272" y="3877056"/>
            <a:ext cx="1609344" cy="292608"/>
          </a:xfrm>
          <a:prstGeom prst="rect">
            <a:avLst/>
          </a:prstGeom>
          <a:solidFill>
            <a:srgbClr val="10233A"/>
          </a:solidFill>
          <a:ln/>
        </p:spPr>
      </p:sp>
      <p:sp>
        <p:nvSpPr>
          <p:cNvPr id="40" name="Text 36"/>
          <p:cNvSpPr txBox="1"/>
          <p:nvPr/>
        </p:nvSpPr>
        <p:spPr>
          <a:xfrm>
            <a:off x="10241280" y="3877056"/>
            <a:ext cx="1481328" cy="292608"/>
          </a:xfrm>
          <a:prstGeom prst="rect">
            <a:avLst/>
          </a:prstGeom>
          <a:noFill/>
          <a:ln/>
        </p:spPr>
        <p:txBody>
          <a:bodyPr wrap="square" lIns="0" tIns="0" rIns="0" bIns="0" rtlCol="0" anchor="ctr"/>
          <a:lstStyle/>
          <a:p>
            <a:pPr algn="l" indent="0" marL="0">
              <a:buNone/>
            </a:pPr>
            <a:r>
              <a:rPr lang="en-US" sz="840" b="1" dirty="0">
                <a:solidFill>
                  <a:srgbClr val="FFFFFF"/>
                </a:solidFill>
                <a:latin typeface="Calibri" pitchFamily="34" charset="0"/>
                <a:ea typeface="Calibri" pitchFamily="34" charset="-122"/>
                <a:cs typeface="Calibri" pitchFamily="34" charset="-120"/>
              </a:rPr>
              <a:t>Driver</a:t>
            </a:r>
            <a:endParaRPr lang="en-US" sz="840" dirty="0"/>
          </a:p>
        </p:txBody>
      </p:sp>
      <p:sp>
        <p:nvSpPr>
          <p:cNvPr id="41" name="Shape 37"/>
          <p:cNvSpPr/>
          <p:nvPr/>
        </p:nvSpPr>
        <p:spPr>
          <a:xfrm>
            <a:off x="6153912" y="4169664"/>
            <a:ext cx="1481328" cy="310896"/>
          </a:xfrm>
          <a:prstGeom prst="rect">
            <a:avLst/>
          </a:prstGeom>
          <a:solidFill>
            <a:srgbClr val="FFFFFF"/>
          </a:solidFill>
          <a:ln w="6350">
            <a:solidFill>
              <a:srgbClr val="D3DCE5"/>
            </a:solidFill>
            <a:prstDash val="solid"/>
          </a:ln>
        </p:spPr>
      </p:sp>
      <p:sp>
        <p:nvSpPr>
          <p:cNvPr id="42" name="Text 38"/>
          <p:cNvSpPr txBox="1"/>
          <p:nvPr/>
        </p:nvSpPr>
        <p:spPr>
          <a:xfrm>
            <a:off x="6217920" y="4169664"/>
            <a:ext cx="1353312" cy="310896"/>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Production</a:t>
            </a:r>
            <a:endParaRPr lang="en-US" sz="840" dirty="0"/>
          </a:p>
        </p:txBody>
      </p:sp>
      <p:sp>
        <p:nvSpPr>
          <p:cNvPr id="43" name="Shape 39"/>
          <p:cNvSpPr/>
          <p:nvPr/>
        </p:nvSpPr>
        <p:spPr>
          <a:xfrm>
            <a:off x="7635240" y="4169664"/>
            <a:ext cx="1097280" cy="310896"/>
          </a:xfrm>
          <a:prstGeom prst="rect">
            <a:avLst/>
          </a:prstGeom>
          <a:solidFill>
            <a:srgbClr val="FFFFFF"/>
          </a:solidFill>
          <a:ln w="6350">
            <a:solidFill>
              <a:srgbClr val="D3DCE5"/>
            </a:solidFill>
            <a:prstDash val="solid"/>
          </a:ln>
        </p:spPr>
      </p:sp>
      <p:sp>
        <p:nvSpPr>
          <p:cNvPr id="44" name="Text 40"/>
          <p:cNvSpPr txBox="1"/>
          <p:nvPr/>
        </p:nvSpPr>
        <p:spPr>
          <a:xfrm>
            <a:off x="7699248" y="4169664"/>
            <a:ext cx="969264" cy="310896"/>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879.5kt</a:t>
            </a:r>
            <a:endParaRPr lang="en-US" sz="840" dirty="0"/>
          </a:p>
        </p:txBody>
      </p:sp>
      <p:sp>
        <p:nvSpPr>
          <p:cNvPr id="45" name="Shape 41"/>
          <p:cNvSpPr/>
          <p:nvPr/>
        </p:nvSpPr>
        <p:spPr>
          <a:xfrm>
            <a:off x="8732520" y="4169664"/>
            <a:ext cx="1444752" cy="310896"/>
          </a:xfrm>
          <a:prstGeom prst="rect">
            <a:avLst/>
          </a:prstGeom>
          <a:solidFill>
            <a:srgbClr val="FFFFFF"/>
          </a:solidFill>
          <a:ln w="6350">
            <a:solidFill>
              <a:srgbClr val="D3DCE5"/>
            </a:solidFill>
            <a:prstDash val="solid"/>
          </a:ln>
        </p:spPr>
      </p:sp>
      <p:sp>
        <p:nvSpPr>
          <p:cNvPr id="46" name="Text 42"/>
          <p:cNvSpPr txBox="1"/>
          <p:nvPr/>
        </p:nvSpPr>
        <p:spPr>
          <a:xfrm>
            <a:off x="8796528" y="4169664"/>
            <a:ext cx="1316736" cy="310896"/>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1,030-1,100kt</a:t>
            </a:r>
            <a:endParaRPr lang="en-US" sz="840" dirty="0"/>
          </a:p>
        </p:txBody>
      </p:sp>
      <p:sp>
        <p:nvSpPr>
          <p:cNvPr id="47" name="Shape 43"/>
          <p:cNvSpPr/>
          <p:nvPr/>
        </p:nvSpPr>
        <p:spPr>
          <a:xfrm>
            <a:off x="10177272" y="4169664"/>
            <a:ext cx="1609344" cy="310896"/>
          </a:xfrm>
          <a:prstGeom prst="rect">
            <a:avLst/>
          </a:prstGeom>
          <a:solidFill>
            <a:srgbClr val="FFFFFF"/>
          </a:solidFill>
          <a:ln w="6350">
            <a:solidFill>
              <a:srgbClr val="D3DCE5"/>
            </a:solidFill>
            <a:prstDash val="solid"/>
          </a:ln>
        </p:spPr>
      </p:sp>
      <p:sp>
        <p:nvSpPr>
          <p:cNvPr id="48" name="Text 44"/>
          <p:cNvSpPr txBox="1"/>
          <p:nvPr/>
        </p:nvSpPr>
        <p:spPr>
          <a:xfrm>
            <a:off x="10241280" y="4169664"/>
            <a:ext cx="1481328" cy="310896"/>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Ngungaju restart</a:t>
            </a:r>
            <a:endParaRPr lang="en-US" sz="840" dirty="0"/>
          </a:p>
        </p:txBody>
      </p:sp>
      <p:sp>
        <p:nvSpPr>
          <p:cNvPr id="49" name="Shape 45"/>
          <p:cNvSpPr/>
          <p:nvPr/>
        </p:nvSpPr>
        <p:spPr>
          <a:xfrm>
            <a:off x="6153912" y="4480560"/>
            <a:ext cx="1481328" cy="310896"/>
          </a:xfrm>
          <a:prstGeom prst="rect">
            <a:avLst/>
          </a:prstGeom>
          <a:solidFill>
            <a:srgbClr val="F7F9FB"/>
          </a:solidFill>
          <a:ln w="6350">
            <a:solidFill>
              <a:srgbClr val="D3DCE5"/>
            </a:solidFill>
            <a:prstDash val="solid"/>
          </a:ln>
        </p:spPr>
      </p:sp>
      <p:sp>
        <p:nvSpPr>
          <p:cNvPr id="50" name="Text 46"/>
          <p:cNvSpPr txBox="1"/>
          <p:nvPr/>
        </p:nvSpPr>
        <p:spPr>
          <a:xfrm>
            <a:off x="6217920" y="4480560"/>
            <a:ext cx="1353312" cy="310896"/>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Unit cost, FOB</a:t>
            </a:r>
            <a:endParaRPr lang="en-US" sz="840" dirty="0"/>
          </a:p>
        </p:txBody>
      </p:sp>
      <p:sp>
        <p:nvSpPr>
          <p:cNvPr id="51" name="Shape 47"/>
          <p:cNvSpPr/>
          <p:nvPr/>
        </p:nvSpPr>
        <p:spPr>
          <a:xfrm>
            <a:off x="7635240" y="4480560"/>
            <a:ext cx="1097280" cy="310896"/>
          </a:xfrm>
          <a:prstGeom prst="rect">
            <a:avLst/>
          </a:prstGeom>
          <a:solidFill>
            <a:srgbClr val="F7F9FB"/>
          </a:solidFill>
          <a:ln w="6350">
            <a:solidFill>
              <a:srgbClr val="D3DCE5"/>
            </a:solidFill>
            <a:prstDash val="solid"/>
          </a:ln>
        </p:spPr>
      </p:sp>
      <p:sp>
        <p:nvSpPr>
          <p:cNvPr id="52" name="Text 48"/>
          <p:cNvSpPr txBox="1"/>
          <p:nvPr/>
        </p:nvSpPr>
        <p:spPr>
          <a:xfrm>
            <a:off x="7699248" y="4480560"/>
            <a:ext cx="969264" cy="310896"/>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A$569/t</a:t>
            </a:r>
            <a:endParaRPr lang="en-US" sz="840" dirty="0"/>
          </a:p>
        </p:txBody>
      </p:sp>
      <p:sp>
        <p:nvSpPr>
          <p:cNvPr id="53" name="Shape 49"/>
          <p:cNvSpPr/>
          <p:nvPr/>
        </p:nvSpPr>
        <p:spPr>
          <a:xfrm>
            <a:off x="8732520" y="4480560"/>
            <a:ext cx="1444752" cy="310896"/>
          </a:xfrm>
          <a:prstGeom prst="rect">
            <a:avLst/>
          </a:prstGeom>
          <a:solidFill>
            <a:srgbClr val="F7F9FB"/>
          </a:solidFill>
          <a:ln w="6350">
            <a:solidFill>
              <a:srgbClr val="D3DCE5"/>
            </a:solidFill>
            <a:prstDash val="solid"/>
          </a:ln>
        </p:spPr>
      </p:sp>
      <p:sp>
        <p:nvSpPr>
          <p:cNvPr id="54" name="Text 50"/>
          <p:cNvSpPr txBox="1"/>
          <p:nvPr/>
        </p:nvSpPr>
        <p:spPr>
          <a:xfrm>
            <a:off x="8796528" y="4480560"/>
            <a:ext cx="1316736" cy="310896"/>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A$575-625/t</a:t>
            </a:r>
            <a:endParaRPr lang="en-US" sz="840" dirty="0"/>
          </a:p>
        </p:txBody>
      </p:sp>
      <p:sp>
        <p:nvSpPr>
          <p:cNvPr id="55" name="Shape 51"/>
          <p:cNvSpPr/>
          <p:nvPr/>
        </p:nvSpPr>
        <p:spPr>
          <a:xfrm>
            <a:off x="10177272" y="4480560"/>
            <a:ext cx="1609344" cy="310896"/>
          </a:xfrm>
          <a:prstGeom prst="rect">
            <a:avLst/>
          </a:prstGeom>
          <a:solidFill>
            <a:srgbClr val="F7F9FB"/>
          </a:solidFill>
          <a:ln w="6350">
            <a:solidFill>
              <a:srgbClr val="D3DCE5"/>
            </a:solidFill>
            <a:prstDash val="solid"/>
          </a:ln>
        </p:spPr>
      </p:sp>
      <p:sp>
        <p:nvSpPr>
          <p:cNvPr id="56" name="Text 52"/>
          <p:cNvSpPr txBox="1"/>
          <p:nvPr/>
        </p:nvSpPr>
        <p:spPr>
          <a:xfrm>
            <a:off x="10241280" y="4480560"/>
            <a:ext cx="1481328" cy="310896"/>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Ngungaju mix effect</a:t>
            </a:r>
            <a:endParaRPr lang="en-US" sz="840" dirty="0"/>
          </a:p>
        </p:txBody>
      </p:sp>
      <p:sp>
        <p:nvSpPr>
          <p:cNvPr id="57" name="Shape 53"/>
          <p:cNvSpPr/>
          <p:nvPr/>
        </p:nvSpPr>
        <p:spPr>
          <a:xfrm>
            <a:off x="6153912" y="4791456"/>
            <a:ext cx="1481328" cy="310896"/>
          </a:xfrm>
          <a:prstGeom prst="rect">
            <a:avLst/>
          </a:prstGeom>
          <a:solidFill>
            <a:srgbClr val="FFFFFF"/>
          </a:solidFill>
          <a:ln w="6350">
            <a:solidFill>
              <a:srgbClr val="D3DCE5"/>
            </a:solidFill>
            <a:prstDash val="solid"/>
          </a:ln>
        </p:spPr>
      </p:sp>
      <p:sp>
        <p:nvSpPr>
          <p:cNvPr id="58" name="Text 54"/>
          <p:cNvSpPr txBox="1"/>
          <p:nvPr/>
        </p:nvSpPr>
        <p:spPr>
          <a:xfrm>
            <a:off x="6217920" y="4791456"/>
            <a:ext cx="1353312" cy="310896"/>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Capital expenditure</a:t>
            </a:r>
            <a:endParaRPr lang="en-US" sz="840" dirty="0"/>
          </a:p>
        </p:txBody>
      </p:sp>
      <p:sp>
        <p:nvSpPr>
          <p:cNvPr id="59" name="Shape 55"/>
          <p:cNvSpPr/>
          <p:nvPr/>
        </p:nvSpPr>
        <p:spPr>
          <a:xfrm>
            <a:off x="7635240" y="4791456"/>
            <a:ext cx="1097280" cy="310896"/>
          </a:xfrm>
          <a:prstGeom prst="rect">
            <a:avLst/>
          </a:prstGeom>
          <a:solidFill>
            <a:srgbClr val="FFFFFF"/>
          </a:solidFill>
          <a:ln w="6350">
            <a:solidFill>
              <a:srgbClr val="D3DCE5"/>
            </a:solidFill>
            <a:prstDash val="solid"/>
          </a:ln>
        </p:spPr>
      </p:sp>
      <p:sp>
        <p:nvSpPr>
          <p:cNvPr id="60" name="Text 56"/>
          <p:cNvSpPr txBox="1"/>
          <p:nvPr/>
        </p:nvSpPr>
        <p:spPr>
          <a:xfrm>
            <a:off x="7699248" y="4791456"/>
            <a:ext cx="969264" cy="310896"/>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A$328m</a:t>
            </a:r>
            <a:endParaRPr lang="en-US" sz="840" dirty="0"/>
          </a:p>
        </p:txBody>
      </p:sp>
      <p:sp>
        <p:nvSpPr>
          <p:cNvPr id="61" name="Shape 57"/>
          <p:cNvSpPr/>
          <p:nvPr/>
        </p:nvSpPr>
        <p:spPr>
          <a:xfrm>
            <a:off x="8732520" y="4791456"/>
            <a:ext cx="1444752" cy="310896"/>
          </a:xfrm>
          <a:prstGeom prst="rect">
            <a:avLst/>
          </a:prstGeom>
          <a:solidFill>
            <a:srgbClr val="FFFFFF"/>
          </a:solidFill>
          <a:ln w="6350">
            <a:solidFill>
              <a:srgbClr val="D3DCE5"/>
            </a:solidFill>
            <a:prstDash val="solid"/>
          </a:ln>
        </p:spPr>
      </p:sp>
      <p:sp>
        <p:nvSpPr>
          <p:cNvPr id="62" name="Text 58"/>
          <p:cNvSpPr txBox="1"/>
          <p:nvPr/>
        </p:nvSpPr>
        <p:spPr>
          <a:xfrm>
            <a:off x="8796528" y="4791456"/>
            <a:ext cx="1316736" cy="310896"/>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A$620-685m</a:t>
            </a:r>
            <a:endParaRPr lang="en-US" sz="840" dirty="0"/>
          </a:p>
        </p:txBody>
      </p:sp>
      <p:sp>
        <p:nvSpPr>
          <p:cNvPr id="63" name="Shape 59"/>
          <p:cNvSpPr/>
          <p:nvPr/>
        </p:nvSpPr>
        <p:spPr>
          <a:xfrm>
            <a:off x="10177272" y="4791456"/>
            <a:ext cx="1609344" cy="310896"/>
          </a:xfrm>
          <a:prstGeom prst="rect">
            <a:avLst/>
          </a:prstGeom>
          <a:solidFill>
            <a:srgbClr val="FFFFFF"/>
          </a:solidFill>
          <a:ln w="6350">
            <a:solidFill>
              <a:srgbClr val="D3DCE5"/>
            </a:solidFill>
            <a:prstDash val="solid"/>
          </a:ln>
        </p:spPr>
      </p:sp>
      <p:sp>
        <p:nvSpPr>
          <p:cNvPr id="64" name="Text 60"/>
          <p:cNvSpPr txBox="1"/>
          <p:nvPr/>
        </p:nvSpPr>
        <p:spPr>
          <a:xfrm>
            <a:off x="10241280" y="4791456"/>
            <a:ext cx="1481328" cy="310896"/>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Includes A$175m P2000 pre-FID</a:t>
            </a:r>
            <a:endParaRPr lang="en-US" sz="840" dirty="0"/>
          </a:p>
        </p:txBody>
      </p:sp>
      <p:sp>
        <p:nvSpPr>
          <p:cNvPr id="65" name="Shape 61"/>
          <p:cNvSpPr/>
          <p:nvPr/>
        </p:nvSpPr>
        <p:spPr>
          <a:xfrm>
            <a:off x="6153912" y="5102352"/>
            <a:ext cx="1481328" cy="310896"/>
          </a:xfrm>
          <a:prstGeom prst="rect">
            <a:avLst/>
          </a:prstGeom>
          <a:solidFill>
            <a:srgbClr val="F7F9FB"/>
          </a:solidFill>
          <a:ln w="6350">
            <a:solidFill>
              <a:srgbClr val="D3DCE5"/>
            </a:solidFill>
            <a:prstDash val="solid"/>
          </a:ln>
        </p:spPr>
      </p:sp>
      <p:sp>
        <p:nvSpPr>
          <p:cNvPr id="66" name="Text 62"/>
          <p:cNvSpPr txBox="1"/>
          <p:nvPr/>
        </p:nvSpPr>
        <p:spPr>
          <a:xfrm>
            <a:off x="6217920" y="5102352"/>
            <a:ext cx="1353312" cy="310896"/>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Dividend</a:t>
            </a:r>
            <a:endParaRPr lang="en-US" sz="840" dirty="0"/>
          </a:p>
        </p:txBody>
      </p:sp>
      <p:sp>
        <p:nvSpPr>
          <p:cNvPr id="67" name="Shape 63"/>
          <p:cNvSpPr/>
          <p:nvPr/>
        </p:nvSpPr>
        <p:spPr>
          <a:xfrm>
            <a:off x="7635240" y="5102352"/>
            <a:ext cx="1097280" cy="310896"/>
          </a:xfrm>
          <a:prstGeom prst="rect">
            <a:avLst/>
          </a:prstGeom>
          <a:solidFill>
            <a:srgbClr val="F7F9FB"/>
          </a:solidFill>
          <a:ln w="6350">
            <a:solidFill>
              <a:srgbClr val="D3DCE5"/>
            </a:solidFill>
            <a:prstDash val="solid"/>
          </a:ln>
        </p:spPr>
      </p:sp>
      <p:sp>
        <p:nvSpPr>
          <p:cNvPr id="68" name="Text 64"/>
          <p:cNvSpPr txBox="1"/>
          <p:nvPr/>
        </p:nvSpPr>
        <p:spPr>
          <a:xfrm>
            <a:off x="7699248" y="5102352"/>
            <a:ext cx="969264" cy="310896"/>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5.0cps franked</a:t>
            </a:r>
            <a:endParaRPr lang="en-US" sz="840" dirty="0"/>
          </a:p>
        </p:txBody>
      </p:sp>
      <p:sp>
        <p:nvSpPr>
          <p:cNvPr id="69" name="Shape 65"/>
          <p:cNvSpPr/>
          <p:nvPr/>
        </p:nvSpPr>
        <p:spPr>
          <a:xfrm>
            <a:off x="8732520" y="5102352"/>
            <a:ext cx="1444752" cy="310896"/>
          </a:xfrm>
          <a:prstGeom prst="rect">
            <a:avLst/>
          </a:prstGeom>
          <a:solidFill>
            <a:srgbClr val="F7F9FB"/>
          </a:solidFill>
          <a:ln w="6350">
            <a:solidFill>
              <a:srgbClr val="D3DCE5"/>
            </a:solidFill>
            <a:prstDash val="solid"/>
          </a:ln>
        </p:spPr>
      </p:sp>
      <p:sp>
        <p:nvSpPr>
          <p:cNvPr id="70" name="Text 66"/>
          <p:cNvSpPr txBox="1"/>
          <p:nvPr/>
        </p:nvSpPr>
        <p:spPr>
          <a:xfrm>
            <a:off x="8796528" y="5102352"/>
            <a:ext cx="1316736" cy="310896"/>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20-30% of free cash flow</a:t>
            </a:r>
            <a:endParaRPr lang="en-US" sz="840" dirty="0"/>
          </a:p>
        </p:txBody>
      </p:sp>
      <p:sp>
        <p:nvSpPr>
          <p:cNvPr id="71" name="Shape 67"/>
          <p:cNvSpPr/>
          <p:nvPr/>
        </p:nvSpPr>
        <p:spPr>
          <a:xfrm>
            <a:off x="10177272" y="5102352"/>
            <a:ext cx="1609344" cy="310896"/>
          </a:xfrm>
          <a:prstGeom prst="rect">
            <a:avLst/>
          </a:prstGeom>
          <a:solidFill>
            <a:srgbClr val="F7F9FB"/>
          </a:solidFill>
          <a:ln w="6350">
            <a:solidFill>
              <a:srgbClr val="D3DCE5"/>
            </a:solidFill>
            <a:prstDash val="solid"/>
          </a:ln>
        </p:spPr>
      </p:sp>
      <p:sp>
        <p:nvSpPr>
          <p:cNvPr id="72" name="Text 68"/>
          <p:cNvSpPr txBox="1"/>
          <p:nvPr/>
        </p:nvSpPr>
        <p:spPr>
          <a:xfrm>
            <a:off x="10241280" y="5102352"/>
            <a:ext cx="1481328" cy="310896"/>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Reinstated Aug 2026</a:t>
            </a:r>
            <a:endParaRPr lang="en-US" sz="840" dirty="0"/>
          </a:p>
        </p:txBody>
      </p:sp>
      <p:sp>
        <p:nvSpPr>
          <p:cNvPr id="73" name="Shape 69"/>
          <p:cNvSpPr/>
          <p:nvPr/>
        </p:nvSpPr>
        <p:spPr>
          <a:xfrm>
            <a:off x="6153912" y="5468112"/>
            <a:ext cx="5632704" cy="566928"/>
          </a:xfrm>
          <a:prstGeom prst="rect">
            <a:avLst/>
          </a:prstGeom>
          <a:solidFill>
            <a:srgbClr val="EEF2F6"/>
          </a:solidFill>
          <a:ln w="9525">
            <a:solidFill>
              <a:srgbClr val="D3DCE5"/>
            </a:solidFill>
            <a:prstDash val="solid"/>
          </a:ln>
        </p:spPr>
      </p:sp>
      <p:sp>
        <p:nvSpPr>
          <p:cNvPr id="74" name="Text 70"/>
          <p:cNvSpPr txBox="1"/>
          <p:nvPr/>
        </p:nvSpPr>
        <p:spPr>
          <a:xfrm>
            <a:off x="6318504" y="5596128"/>
            <a:ext cx="5303520" cy="347472"/>
          </a:xfrm>
          <a:prstGeom prst="rect">
            <a:avLst/>
          </a:prstGeom>
          <a:noFill/>
          <a:ln/>
        </p:spPr>
        <p:txBody>
          <a:bodyPr wrap="square" lIns="0" tIns="0" rIns="0" bIns="0" rtlCol="0" anchor="t"/>
          <a:lstStyle/>
          <a:p>
            <a:pPr indent="0" marL="0">
              <a:lnSpc>
                <a:spcPct val="105000"/>
              </a:lnSpc>
              <a:buNone/>
            </a:pPr>
            <a:r>
              <a:rPr lang="en-US" sz="860" dirty="0">
                <a:solidFill>
                  <a:srgbClr val="1B2733"/>
                </a:solidFill>
                <a:latin typeface="Calibri" pitchFamily="34" charset="0"/>
                <a:ea typeface="Calibri" pitchFamily="34" charset="-122"/>
                <a:cs typeface="Calibri" pitchFamily="34" charset="-120"/>
              </a:rPr>
              <a:t>A 17-25% volume step-up at a unit cost only 1-10% higher. The extra Ngungaju tonnes cost more than the Pilgan average and still sit well down the global curve.</a:t>
            </a:r>
            <a:endParaRPr lang="en-US" sz="860" dirty="0"/>
          </a:p>
        </p:txBody>
      </p:sp>
      <p:sp>
        <p:nvSpPr>
          <p:cNvPr id="75" name="Text 71"/>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PLS Group FY26 results, 24 August 2026, and the June-2026 quarterly activities report. Realised price is on actual product grade (about SC5.2), below the SC6 benchmark. FOB excludes freight.</a:t>
            </a:r>
            <a:endParaRPr lang="en-US" sz="720" dirty="0"/>
          </a:p>
        </p:txBody>
      </p:sp>
      <p:sp>
        <p:nvSpPr>
          <p:cNvPr id="76" name="Text 72"/>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Shape 2"/>
          <p:cNvSpPr/>
          <p:nvPr/>
        </p:nvSpPr>
        <p:spPr>
          <a:xfrm>
            <a:off x="3322930" y="6400800"/>
            <a:ext cx="1335024" cy="274320"/>
          </a:xfrm>
          <a:prstGeom prst="roundRect">
            <a:avLst>
              <a:gd name="adj" fmla="val 20000"/>
            </a:avLst>
          </a:prstGeom>
          <a:solidFill>
            <a:srgbClr val="10233A"/>
          </a:solidFill>
          <a:ln/>
        </p:spPr>
      </p:sp>
      <p:sp>
        <p:nvSpPr>
          <p:cNvPr id="5" name="Text 3"/>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Industry</a:t>
            </a:r>
            <a:endParaRPr lang="en-US" sz="850" dirty="0"/>
          </a:p>
        </p:txBody>
      </p:sp>
      <p:sp>
        <p:nvSpPr>
          <p:cNvPr id="6" name="Text 4"/>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Prices tripled off the 2025 trough and then fell hard in August as idled mines restarted. Credible forecasters disagree about what happens next, and we say so.</a:t>
            </a:r>
            <a:endParaRPr lang="en-US" sz="14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The cycle has turned, but it is a saw-tooth, not a straight line</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1298448"/>
            <a:ext cx="5532120" cy="1243584"/>
          </a:xfrm>
          <a:prstGeom prst="rect">
            <a:avLst/>
          </a:prstGeom>
          <a:solidFill>
            <a:srgbClr val="F7F9FB"/>
          </a:solidFill>
          <a:ln w="9525">
            <a:solidFill>
              <a:srgbClr val="D3DCE5"/>
            </a:solidFill>
            <a:prstDash val="solid"/>
          </a:ln>
        </p:spPr>
      </p:sp>
      <p:sp>
        <p:nvSpPr>
          <p:cNvPr id="18" name="Text 15"/>
          <p:cNvSpPr txBox="1"/>
          <p:nvPr/>
        </p:nvSpPr>
        <p:spPr>
          <a:xfrm>
            <a:off x="576072" y="1426464"/>
            <a:ext cx="520293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What has happened</a:t>
            </a:r>
            <a:endParaRPr lang="en-US" sz="1150" dirty="0"/>
          </a:p>
        </p:txBody>
      </p:sp>
      <p:sp>
        <p:nvSpPr>
          <p:cNvPr id="19" name="Text 16"/>
          <p:cNvSpPr txBox="1"/>
          <p:nvPr/>
        </p:nvSpPr>
        <p:spPr>
          <a:xfrm>
            <a:off x="576072" y="1755648"/>
            <a:ext cx="5202936" cy="694944"/>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Spodumene bottomed near US$600-750/t in 2025 and reached roughly US$2,038-2,200/t by August 2026. PLS's own realised price tripled over the same window. Then, in a single week in August, the Platts SpodIX benchmark fell US$270/t as Mineral Resources' Bald Hill, Core Lithium's Finniss and CATL's Jianxiawo all moved to restart.</a:t>
            </a:r>
            <a:endParaRPr lang="en-US" sz="940" dirty="0"/>
          </a:p>
        </p:txBody>
      </p:sp>
      <p:sp>
        <p:nvSpPr>
          <p:cNvPr id="20" name="Shape 17"/>
          <p:cNvSpPr/>
          <p:nvPr/>
        </p:nvSpPr>
        <p:spPr>
          <a:xfrm>
            <a:off x="6153912" y="1298448"/>
            <a:ext cx="5632704" cy="1243584"/>
          </a:xfrm>
          <a:prstGeom prst="rect">
            <a:avLst/>
          </a:prstGeom>
          <a:solidFill>
            <a:srgbClr val="FBEBD9"/>
          </a:solidFill>
          <a:ln w="9525">
            <a:solidFill>
              <a:srgbClr val="E8C9A3"/>
            </a:solidFill>
            <a:prstDash val="solid"/>
          </a:ln>
        </p:spPr>
      </p:sp>
      <p:sp>
        <p:nvSpPr>
          <p:cNvPr id="21" name="Text 18"/>
          <p:cNvSpPr txBox="1"/>
          <p:nvPr/>
        </p:nvSpPr>
        <p:spPr>
          <a:xfrm>
            <a:off x="6318504" y="1426464"/>
            <a:ext cx="5303520"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Why we do not forecast a straight line</a:t>
            </a:r>
            <a:endParaRPr lang="en-US" sz="1150" dirty="0"/>
          </a:p>
        </p:txBody>
      </p:sp>
      <p:sp>
        <p:nvSpPr>
          <p:cNvPr id="22" name="Text 19"/>
          <p:cNvSpPr txBox="1"/>
          <p:nvPr/>
        </p:nvSpPr>
        <p:spPr>
          <a:xfrm>
            <a:off x="6318504" y="1755648"/>
            <a:ext cx="5303520" cy="694944"/>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Our base case assumes PLS realises US$1,700/t in FY27 - about 11% below what current spot implies and 19% below the June-2026 quarter exit rate. That is deliberately early and conservative: the recommendation must not need the spike to hold.</a:t>
            </a:r>
            <a:endParaRPr lang="en-US" sz="940" dirty="0"/>
          </a:p>
        </p:txBody>
      </p:sp>
      <p:sp>
        <p:nvSpPr>
          <p:cNvPr id="23" name="Shape 20"/>
          <p:cNvSpPr/>
          <p:nvPr/>
        </p:nvSpPr>
        <p:spPr>
          <a:xfrm>
            <a:off x="411480" y="2724912"/>
            <a:ext cx="2103120" cy="292608"/>
          </a:xfrm>
          <a:prstGeom prst="rect">
            <a:avLst/>
          </a:prstGeom>
          <a:solidFill>
            <a:srgbClr val="10233A"/>
          </a:solidFill>
          <a:ln/>
        </p:spPr>
      </p:sp>
      <p:sp>
        <p:nvSpPr>
          <p:cNvPr id="24" name="Text 21"/>
          <p:cNvSpPr txBox="1"/>
          <p:nvPr/>
        </p:nvSpPr>
        <p:spPr>
          <a:xfrm>
            <a:off x="475488" y="2724912"/>
            <a:ext cx="19751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Forecaster</a:t>
            </a:r>
            <a:endParaRPr lang="en-US" sz="900" dirty="0"/>
          </a:p>
        </p:txBody>
      </p:sp>
      <p:sp>
        <p:nvSpPr>
          <p:cNvPr id="25" name="Shape 22"/>
          <p:cNvSpPr/>
          <p:nvPr/>
        </p:nvSpPr>
        <p:spPr>
          <a:xfrm>
            <a:off x="2514600" y="2724912"/>
            <a:ext cx="2148840" cy="292608"/>
          </a:xfrm>
          <a:prstGeom prst="rect">
            <a:avLst/>
          </a:prstGeom>
          <a:solidFill>
            <a:srgbClr val="10233A"/>
          </a:solidFill>
          <a:ln/>
        </p:spPr>
      </p:sp>
      <p:sp>
        <p:nvSpPr>
          <p:cNvPr id="26" name="Text 23"/>
          <p:cNvSpPr txBox="1"/>
          <p:nvPr/>
        </p:nvSpPr>
        <p:spPr>
          <a:xfrm>
            <a:off x="2578608" y="2724912"/>
            <a:ext cx="202082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Call on the 2026 balance</a:t>
            </a:r>
            <a:endParaRPr lang="en-US" sz="900" dirty="0"/>
          </a:p>
        </p:txBody>
      </p:sp>
      <p:sp>
        <p:nvSpPr>
          <p:cNvPr id="27" name="Shape 24"/>
          <p:cNvSpPr/>
          <p:nvPr/>
        </p:nvSpPr>
        <p:spPr>
          <a:xfrm>
            <a:off x="4663440" y="2724912"/>
            <a:ext cx="7123176" cy="292608"/>
          </a:xfrm>
          <a:prstGeom prst="rect">
            <a:avLst/>
          </a:prstGeom>
          <a:solidFill>
            <a:srgbClr val="10233A"/>
          </a:solidFill>
          <a:ln/>
        </p:spPr>
      </p:sp>
      <p:sp>
        <p:nvSpPr>
          <p:cNvPr id="28" name="Text 25"/>
          <p:cNvSpPr txBox="1"/>
          <p:nvPr/>
        </p:nvSpPr>
        <p:spPr>
          <a:xfrm>
            <a:off x="4727448" y="2724912"/>
            <a:ext cx="699516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they say</a:t>
            </a:r>
            <a:endParaRPr lang="en-US" sz="900" dirty="0"/>
          </a:p>
        </p:txBody>
      </p:sp>
      <p:sp>
        <p:nvSpPr>
          <p:cNvPr id="29" name="Shape 26"/>
          <p:cNvSpPr/>
          <p:nvPr/>
        </p:nvSpPr>
        <p:spPr>
          <a:xfrm>
            <a:off x="411480" y="3017520"/>
            <a:ext cx="2103120" cy="365760"/>
          </a:xfrm>
          <a:prstGeom prst="rect">
            <a:avLst/>
          </a:prstGeom>
          <a:solidFill>
            <a:srgbClr val="FFFFFF"/>
          </a:solidFill>
          <a:ln w="6350">
            <a:solidFill>
              <a:srgbClr val="D3DCE5"/>
            </a:solidFill>
            <a:prstDash val="solid"/>
          </a:ln>
        </p:spPr>
      </p:sp>
      <p:sp>
        <p:nvSpPr>
          <p:cNvPr id="30" name="Text 27"/>
          <p:cNvSpPr txBox="1"/>
          <p:nvPr/>
        </p:nvSpPr>
        <p:spPr>
          <a:xfrm>
            <a:off x="475488" y="3017520"/>
            <a:ext cx="19751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Fastmarkets</a:t>
            </a:r>
            <a:endParaRPr lang="en-US" sz="880" dirty="0"/>
          </a:p>
        </p:txBody>
      </p:sp>
      <p:sp>
        <p:nvSpPr>
          <p:cNvPr id="31" name="Shape 28"/>
          <p:cNvSpPr/>
          <p:nvPr/>
        </p:nvSpPr>
        <p:spPr>
          <a:xfrm>
            <a:off x="2514600" y="3017520"/>
            <a:ext cx="2148840" cy="365760"/>
          </a:xfrm>
          <a:prstGeom prst="rect">
            <a:avLst/>
          </a:prstGeom>
          <a:solidFill>
            <a:srgbClr val="FFFFFF"/>
          </a:solidFill>
          <a:ln w="6350">
            <a:solidFill>
              <a:srgbClr val="D3DCE5"/>
            </a:solidFill>
            <a:prstDash val="solid"/>
          </a:ln>
        </p:spPr>
      </p:sp>
      <p:sp>
        <p:nvSpPr>
          <p:cNvPr id="32" name="Text 29"/>
          <p:cNvSpPr txBox="1"/>
          <p:nvPr/>
        </p:nvSpPr>
        <p:spPr>
          <a:xfrm>
            <a:off x="2578608" y="3017520"/>
            <a:ext cx="2020824" cy="365760"/>
          </a:xfrm>
          <a:prstGeom prst="rect">
            <a:avLst/>
          </a:prstGeom>
          <a:noFill/>
          <a:ln/>
        </p:spPr>
        <p:txBody>
          <a:bodyPr wrap="square" lIns="0" tIns="0" rIns="0" bIns="0" rtlCol="0" anchor="ctr"/>
          <a:lstStyle/>
          <a:p>
            <a:pPr algn="ctr" indent="0" marL="0">
              <a:buNone/>
            </a:pPr>
            <a:r>
              <a:rPr lang="en-US" sz="880" b="1" dirty="0">
                <a:solidFill>
                  <a:srgbClr val="0E7C6B"/>
                </a:solidFill>
                <a:latin typeface="Calibri" pitchFamily="34" charset="0"/>
                <a:ea typeface="Calibri" pitchFamily="34" charset="-122"/>
                <a:cs typeface="Calibri" pitchFamily="34" charset="-120"/>
              </a:rPr>
              <a:t>Deficit</a:t>
            </a:r>
            <a:endParaRPr lang="en-US" sz="880" dirty="0"/>
          </a:p>
        </p:txBody>
      </p:sp>
      <p:sp>
        <p:nvSpPr>
          <p:cNvPr id="33" name="Shape 30"/>
          <p:cNvSpPr/>
          <p:nvPr/>
        </p:nvSpPr>
        <p:spPr>
          <a:xfrm>
            <a:off x="4663440" y="3017520"/>
            <a:ext cx="7123176" cy="365760"/>
          </a:xfrm>
          <a:prstGeom prst="rect">
            <a:avLst/>
          </a:prstGeom>
          <a:solidFill>
            <a:srgbClr val="FFFFFF"/>
          </a:solidFill>
          <a:ln w="6350">
            <a:solidFill>
              <a:srgbClr val="D3DCE5"/>
            </a:solidFill>
            <a:prstDash val="solid"/>
          </a:ln>
        </p:spPr>
      </p:sp>
      <p:sp>
        <p:nvSpPr>
          <p:cNvPr id="34" name="Text 31"/>
          <p:cNvSpPr txBox="1"/>
          <p:nvPr/>
        </p:nvSpPr>
        <p:spPr>
          <a:xfrm>
            <a:off x="4727448" y="3017520"/>
            <a:ext cx="699516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Flips from a 2025 surplus to a 1.5kt LCE deficit; raised its 2027 carbonate forecast from US$22.65/kg to US$31.40/kg.</a:t>
            </a:r>
            <a:endParaRPr lang="en-US" sz="880" dirty="0"/>
          </a:p>
        </p:txBody>
      </p:sp>
      <p:sp>
        <p:nvSpPr>
          <p:cNvPr id="35" name="Shape 32"/>
          <p:cNvSpPr/>
          <p:nvPr/>
        </p:nvSpPr>
        <p:spPr>
          <a:xfrm>
            <a:off x="411480" y="3383280"/>
            <a:ext cx="2103120" cy="365760"/>
          </a:xfrm>
          <a:prstGeom prst="rect">
            <a:avLst/>
          </a:prstGeom>
          <a:solidFill>
            <a:srgbClr val="F7F9FB"/>
          </a:solidFill>
          <a:ln w="6350">
            <a:solidFill>
              <a:srgbClr val="D3DCE5"/>
            </a:solidFill>
            <a:prstDash val="solid"/>
          </a:ln>
        </p:spPr>
      </p:sp>
      <p:sp>
        <p:nvSpPr>
          <p:cNvPr id="36" name="Text 33"/>
          <p:cNvSpPr txBox="1"/>
          <p:nvPr/>
        </p:nvSpPr>
        <p:spPr>
          <a:xfrm>
            <a:off x="475488" y="3383280"/>
            <a:ext cx="19751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Morgan Stanley</a:t>
            </a:r>
            <a:endParaRPr lang="en-US" sz="880" dirty="0"/>
          </a:p>
        </p:txBody>
      </p:sp>
      <p:sp>
        <p:nvSpPr>
          <p:cNvPr id="37" name="Shape 34"/>
          <p:cNvSpPr/>
          <p:nvPr/>
        </p:nvSpPr>
        <p:spPr>
          <a:xfrm>
            <a:off x="2514600" y="3383280"/>
            <a:ext cx="2148840" cy="365760"/>
          </a:xfrm>
          <a:prstGeom prst="rect">
            <a:avLst/>
          </a:prstGeom>
          <a:solidFill>
            <a:srgbClr val="F7F9FB"/>
          </a:solidFill>
          <a:ln w="6350">
            <a:solidFill>
              <a:srgbClr val="D3DCE5"/>
            </a:solidFill>
            <a:prstDash val="solid"/>
          </a:ln>
        </p:spPr>
      </p:sp>
      <p:sp>
        <p:nvSpPr>
          <p:cNvPr id="38" name="Text 35"/>
          <p:cNvSpPr txBox="1"/>
          <p:nvPr/>
        </p:nvSpPr>
        <p:spPr>
          <a:xfrm>
            <a:off x="2578608" y="3383280"/>
            <a:ext cx="2020824" cy="365760"/>
          </a:xfrm>
          <a:prstGeom prst="rect">
            <a:avLst/>
          </a:prstGeom>
          <a:noFill/>
          <a:ln/>
        </p:spPr>
        <p:txBody>
          <a:bodyPr wrap="square" lIns="0" tIns="0" rIns="0" bIns="0" rtlCol="0" anchor="ctr"/>
          <a:lstStyle/>
          <a:p>
            <a:pPr algn="ctr" indent="0" marL="0">
              <a:buNone/>
            </a:pPr>
            <a:r>
              <a:rPr lang="en-US" sz="880" b="1" dirty="0">
                <a:solidFill>
                  <a:srgbClr val="0E7C6B"/>
                </a:solidFill>
                <a:latin typeface="Calibri" pitchFamily="34" charset="0"/>
                <a:ea typeface="Calibri" pitchFamily="34" charset="-122"/>
                <a:cs typeface="Calibri" pitchFamily="34" charset="-120"/>
              </a:rPr>
              <a:t>Deficit</a:t>
            </a:r>
            <a:endParaRPr lang="en-US" sz="880" dirty="0"/>
          </a:p>
        </p:txBody>
      </p:sp>
      <p:sp>
        <p:nvSpPr>
          <p:cNvPr id="39" name="Shape 36"/>
          <p:cNvSpPr/>
          <p:nvPr/>
        </p:nvSpPr>
        <p:spPr>
          <a:xfrm>
            <a:off x="4663440" y="3383280"/>
            <a:ext cx="7123176" cy="365760"/>
          </a:xfrm>
          <a:prstGeom prst="rect">
            <a:avLst/>
          </a:prstGeom>
          <a:solidFill>
            <a:srgbClr val="F7F9FB"/>
          </a:solidFill>
          <a:ln w="6350">
            <a:solidFill>
              <a:srgbClr val="D3DCE5"/>
            </a:solidFill>
            <a:prstDash val="solid"/>
          </a:ln>
        </p:spPr>
      </p:sp>
      <p:sp>
        <p:nvSpPr>
          <p:cNvPr id="40" name="Text 37"/>
          <p:cNvSpPr txBox="1"/>
          <p:nvPr/>
        </p:nvSpPr>
        <p:spPr>
          <a:xfrm>
            <a:off x="4727448" y="3383280"/>
            <a:ext cx="699516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Calls an 80kt LCE deficit in 2026.</a:t>
            </a:r>
            <a:endParaRPr lang="en-US" sz="880" dirty="0"/>
          </a:p>
        </p:txBody>
      </p:sp>
      <p:sp>
        <p:nvSpPr>
          <p:cNvPr id="41" name="Shape 38"/>
          <p:cNvSpPr/>
          <p:nvPr/>
        </p:nvSpPr>
        <p:spPr>
          <a:xfrm>
            <a:off x="411480" y="3749040"/>
            <a:ext cx="2103120" cy="365760"/>
          </a:xfrm>
          <a:prstGeom prst="rect">
            <a:avLst/>
          </a:prstGeom>
          <a:solidFill>
            <a:srgbClr val="FFFFFF"/>
          </a:solidFill>
          <a:ln w="6350">
            <a:solidFill>
              <a:srgbClr val="D3DCE5"/>
            </a:solidFill>
            <a:prstDash val="solid"/>
          </a:ln>
        </p:spPr>
      </p:sp>
      <p:sp>
        <p:nvSpPr>
          <p:cNvPr id="42" name="Text 39"/>
          <p:cNvSpPr txBox="1"/>
          <p:nvPr/>
        </p:nvSpPr>
        <p:spPr>
          <a:xfrm>
            <a:off x="475488" y="3749040"/>
            <a:ext cx="19751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UBS</a:t>
            </a:r>
            <a:endParaRPr lang="en-US" sz="880" dirty="0"/>
          </a:p>
        </p:txBody>
      </p:sp>
      <p:sp>
        <p:nvSpPr>
          <p:cNvPr id="43" name="Shape 40"/>
          <p:cNvSpPr/>
          <p:nvPr/>
        </p:nvSpPr>
        <p:spPr>
          <a:xfrm>
            <a:off x="2514600" y="3749040"/>
            <a:ext cx="2148840" cy="365760"/>
          </a:xfrm>
          <a:prstGeom prst="rect">
            <a:avLst/>
          </a:prstGeom>
          <a:solidFill>
            <a:srgbClr val="FFFFFF"/>
          </a:solidFill>
          <a:ln w="6350">
            <a:solidFill>
              <a:srgbClr val="D3DCE5"/>
            </a:solidFill>
            <a:prstDash val="solid"/>
          </a:ln>
        </p:spPr>
      </p:sp>
      <p:sp>
        <p:nvSpPr>
          <p:cNvPr id="44" name="Text 41"/>
          <p:cNvSpPr txBox="1"/>
          <p:nvPr/>
        </p:nvSpPr>
        <p:spPr>
          <a:xfrm>
            <a:off x="2578608" y="3749040"/>
            <a:ext cx="2020824" cy="365760"/>
          </a:xfrm>
          <a:prstGeom prst="rect">
            <a:avLst/>
          </a:prstGeom>
          <a:noFill/>
          <a:ln/>
        </p:spPr>
        <p:txBody>
          <a:bodyPr wrap="square" lIns="0" tIns="0" rIns="0" bIns="0" rtlCol="0" anchor="ctr"/>
          <a:lstStyle/>
          <a:p>
            <a:pPr algn="ctr" indent="0" marL="0">
              <a:buNone/>
            </a:pPr>
            <a:r>
              <a:rPr lang="en-US" sz="880" b="1" dirty="0">
                <a:solidFill>
                  <a:srgbClr val="0E7C6B"/>
                </a:solidFill>
                <a:latin typeface="Calibri" pitchFamily="34" charset="0"/>
                <a:ea typeface="Calibri" pitchFamily="34" charset="-122"/>
                <a:cs typeface="Calibri" pitchFamily="34" charset="-120"/>
              </a:rPr>
              <a:t>Deficit</a:t>
            </a:r>
            <a:endParaRPr lang="en-US" sz="880" dirty="0"/>
          </a:p>
        </p:txBody>
      </p:sp>
      <p:sp>
        <p:nvSpPr>
          <p:cNvPr id="45" name="Shape 42"/>
          <p:cNvSpPr/>
          <p:nvPr/>
        </p:nvSpPr>
        <p:spPr>
          <a:xfrm>
            <a:off x="4663440" y="3749040"/>
            <a:ext cx="7123176" cy="365760"/>
          </a:xfrm>
          <a:prstGeom prst="rect">
            <a:avLst/>
          </a:prstGeom>
          <a:solidFill>
            <a:srgbClr val="FFFFFF"/>
          </a:solidFill>
          <a:ln w="6350">
            <a:solidFill>
              <a:srgbClr val="D3DCE5"/>
            </a:solidFill>
            <a:prstDash val="solid"/>
          </a:ln>
        </p:spPr>
      </p:sp>
      <p:sp>
        <p:nvSpPr>
          <p:cNvPr id="46" name="Text 43"/>
          <p:cNvSpPr txBox="1"/>
          <p:nvPr/>
        </p:nvSpPr>
        <p:spPr>
          <a:xfrm>
            <a:off x="4727448" y="3749040"/>
            <a:ext cx="699516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Calls a 22kt LCE deficit in 2026.</a:t>
            </a:r>
            <a:endParaRPr lang="en-US" sz="880" dirty="0"/>
          </a:p>
        </p:txBody>
      </p:sp>
      <p:sp>
        <p:nvSpPr>
          <p:cNvPr id="47" name="Shape 44"/>
          <p:cNvSpPr/>
          <p:nvPr/>
        </p:nvSpPr>
        <p:spPr>
          <a:xfrm>
            <a:off x="411480" y="4114800"/>
            <a:ext cx="2103120" cy="365760"/>
          </a:xfrm>
          <a:prstGeom prst="rect">
            <a:avLst/>
          </a:prstGeom>
          <a:solidFill>
            <a:srgbClr val="F7F9FB"/>
          </a:solidFill>
          <a:ln w="6350">
            <a:solidFill>
              <a:srgbClr val="D3DCE5"/>
            </a:solidFill>
            <a:prstDash val="solid"/>
          </a:ln>
        </p:spPr>
      </p:sp>
      <p:sp>
        <p:nvSpPr>
          <p:cNvPr id="48" name="Text 45"/>
          <p:cNvSpPr txBox="1"/>
          <p:nvPr/>
        </p:nvSpPr>
        <p:spPr>
          <a:xfrm>
            <a:off x="475488" y="4114800"/>
            <a:ext cx="19751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Macquarie</a:t>
            </a:r>
            <a:endParaRPr lang="en-US" sz="880" dirty="0"/>
          </a:p>
        </p:txBody>
      </p:sp>
      <p:sp>
        <p:nvSpPr>
          <p:cNvPr id="49" name="Shape 46"/>
          <p:cNvSpPr/>
          <p:nvPr/>
        </p:nvSpPr>
        <p:spPr>
          <a:xfrm>
            <a:off x="2514600" y="4114800"/>
            <a:ext cx="2148840" cy="365760"/>
          </a:xfrm>
          <a:prstGeom prst="rect">
            <a:avLst/>
          </a:prstGeom>
          <a:solidFill>
            <a:srgbClr val="F7F9FB"/>
          </a:solidFill>
          <a:ln w="6350">
            <a:solidFill>
              <a:srgbClr val="D3DCE5"/>
            </a:solidFill>
            <a:prstDash val="solid"/>
          </a:ln>
        </p:spPr>
      </p:sp>
      <p:sp>
        <p:nvSpPr>
          <p:cNvPr id="50" name="Text 47"/>
          <p:cNvSpPr txBox="1"/>
          <p:nvPr/>
        </p:nvSpPr>
        <p:spPr>
          <a:xfrm>
            <a:off x="2578608" y="4114800"/>
            <a:ext cx="2020824" cy="365760"/>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Narrowing</a:t>
            </a:r>
            <a:endParaRPr lang="en-US" sz="880" dirty="0"/>
          </a:p>
        </p:txBody>
      </p:sp>
      <p:sp>
        <p:nvSpPr>
          <p:cNvPr id="51" name="Shape 48"/>
          <p:cNvSpPr/>
          <p:nvPr/>
        </p:nvSpPr>
        <p:spPr>
          <a:xfrm>
            <a:off x="4663440" y="4114800"/>
            <a:ext cx="7123176" cy="365760"/>
          </a:xfrm>
          <a:prstGeom prst="rect">
            <a:avLst/>
          </a:prstGeom>
          <a:solidFill>
            <a:srgbClr val="F7F9FB"/>
          </a:solidFill>
          <a:ln w="6350">
            <a:solidFill>
              <a:srgbClr val="D3DCE5"/>
            </a:solidFill>
            <a:prstDash val="solid"/>
          </a:ln>
        </p:spPr>
      </p:sp>
      <p:sp>
        <p:nvSpPr>
          <p:cNvPr id="52" name="Text 49"/>
          <p:cNvSpPr txBox="1"/>
          <p:nvPr/>
        </p:nvSpPr>
        <p:spPr>
          <a:xfrm>
            <a:off x="4727448" y="4114800"/>
            <a:ext cx="699516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2025 was the peak surplus year at 120kt; narrows to roughly balance (+1kt) by 2028.</a:t>
            </a:r>
            <a:endParaRPr lang="en-US" sz="880" dirty="0"/>
          </a:p>
        </p:txBody>
      </p:sp>
      <p:sp>
        <p:nvSpPr>
          <p:cNvPr id="53" name="Shape 50"/>
          <p:cNvSpPr/>
          <p:nvPr/>
        </p:nvSpPr>
        <p:spPr>
          <a:xfrm>
            <a:off x="411480" y="4480560"/>
            <a:ext cx="2103120" cy="365760"/>
          </a:xfrm>
          <a:prstGeom prst="rect">
            <a:avLst/>
          </a:prstGeom>
          <a:solidFill>
            <a:srgbClr val="FFFFFF"/>
          </a:solidFill>
          <a:ln w="6350">
            <a:solidFill>
              <a:srgbClr val="D3DCE5"/>
            </a:solidFill>
            <a:prstDash val="solid"/>
          </a:ln>
        </p:spPr>
      </p:sp>
      <p:sp>
        <p:nvSpPr>
          <p:cNvPr id="54" name="Text 51"/>
          <p:cNvSpPr txBox="1"/>
          <p:nvPr/>
        </p:nvSpPr>
        <p:spPr>
          <a:xfrm>
            <a:off x="475488" y="4480560"/>
            <a:ext cx="19751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Wood Mackenzie</a:t>
            </a:r>
            <a:endParaRPr lang="en-US" sz="880" dirty="0"/>
          </a:p>
        </p:txBody>
      </p:sp>
      <p:sp>
        <p:nvSpPr>
          <p:cNvPr id="55" name="Shape 52"/>
          <p:cNvSpPr/>
          <p:nvPr/>
        </p:nvSpPr>
        <p:spPr>
          <a:xfrm>
            <a:off x="2514600" y="4480560"/>
            <a:ext cx="2148840" cy="365760"/>
          </a:xfrm>
          <a:prstGeom prst="rect">
            <a:avLst/>
          </a:prstGeom>
          <a:solidFill>
            <a:srgbClr val="FFFFFF"/>
          </a:solidFill>
          <a:ln w="6350">
            <a:solidFill>
              <a:srgbClr val="D3DCE5"/>
            </a:solidFill>
            <a:prstDash val="solid"/>
          </a:ln>
        </p:spPr>
      </p:sp>
      <p:sp>
        <p:nvSpPr>
          <p:cNvPr id="56" name="Text 53"/>
          <p:cNvSpPr txBox="1"/>
          <p:nvPr/>
        </p:nvSpPr>
        <p:spPr>
          <a:xfrm>
            <a:off x="2578608" y="4480560"/>
            <a:ext cx="2020824" cy="365760"/>
          </a:xfrm>
          <a:prstGeom prst="rect">
            <a:avLst/>
          </a:prstGeom>
          <a:noFill/>
          <a:ln/>
        </p:spPr>
        <p:txBody>
          <a:bodyPr wrap="square" lIns="0" tIns="0" rIns="0" bIns="0" rtlCol="0" anchor="ctr"/>
          <a:lstStyle/>
          <a:p>
            <a:pPr algn="ctr" indent="0" marL="0">
              <a:buNone/>
            </a:pPr>
            <a:r>
              <a:rPr lang="en-US" sz="880" b="1" dirty="0">
                <a:solidFill>
                  <a:srgbClr val="A3282C"/>
                </a:solidFill>
                <a:latin typeface="Calibri" pitchFamily="34" charset="0"/>
                <a:ea typeface="Calibri" pitchFamily="34" charset="-122"/>
                <a:cs typeface="Calibri" pitchFamily="34" charset="-120"/>
              </a:rPr>
              <a:t>Surplus</a:t>
            </a:r>
            <a:endParaRPr lang="en-US" sz="880" dirty="0"/>
          </a:p>
        </p:txBody>
      </p:sp>
      <p:sp>
        <p:nvSpPr>
          <p:cNvPr id="57" name="Shape 54"/>
          <p:cNvSpPr/>
          <p:nvPr/>
        </p:nvSpPr>
        <p:spPr>
          <a:xfrm>
            <a:off x="4663440" y="4480560"/>
            <a:ext cx="7123176" cy="365760"/>
          </a:xfrm>
          <a:prstGeom prst="rect">
            <a:avLst/>
          </a:prstGeom>
          <a:solidFill>
            <a:srgbClr val="FFFFFF"/>
          </a:solidFill>
          <a:ln w="6350">
            <a:solidFill>
              <a:srgbClr val="D3DCE5"/>
            </a:solidFill>
            <a:prstDash val="solid"/>
          </a:ln>
        </p:spPr>
      </p:sp>
      <p:sp>
        <p:nvSpPr>
          <p:cNvPr id="58" name="Text 55"/>
          <p:cNvSpPr txBox="1"/>
          <p:nvPr/>
        </p:nvSpPr>
        <p:spPr>
          <a:xfrm>
            <a:off x="4727448" y="4480560"/>
            <a:ext cx="699516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Base case keeps lithium chemicals in surplus through 2026-27, with a deficit not arriving until the early 2030s.</a:t>
            </a:r>
            <a:endParaRPr lang="en-US" sz="880" dirty="0"/>
          </a:p>
        </p:txBody>
      </p:sp>
      <p:sp>
        <p:nvSpPr>
          <p:cNvPr id="59" name="Shape 56"/>
          <p:cNvSpPr/>
          <p:nvPr/>
        </p:nvSpPr>
        <p:spPr>
          <a:xfrm>
            <a:off x="411480" y="4846320"/>
            <a:ext cx="2103120" cy="365760"/>
          </a:xfrm>
          <a:prstGeom prst="rect">
            <a:avLst/>
          </a:prstGeom>
          <a:solidFill>
            <a:srgbClr val="F7F9FB"/>
          </a:solidFill>
          <a:ln w="6350">
            <a:solidFill>
              <a:srgbClr val="D3DCE5"/>
            </a:solidFill>
            <a:prstDash val="solid"/>
          </a:ln>
        </p:spPr>
      </p:sp>
      <p:sp>
        <p:nvSpPr>
          <p:cNvPr id="60" name="Text 57"/>
          <p:cNvSpPr txBox="1"/>
          <p:nvPr/>
        </p:nvSpPr>
        <p:spPr>
          <a:xfrm>
            <a:off x="475488" y="4846320"/>
            <a:ext cx="19751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IEA</a:t>
            </a:r>
            <a:endParaRPr lang="en-US" sz="880" dirty="0"/>
          </a:p>
        </p:txBody>
      </p:sp>
      <p:sp>
        <p:nvSpPr>
          <p:cNvPr id="61" name="Shape 58"/>
          <p:cNvSpPr/>
          <p:nvPr/>
        </p:nvSpPr>
        <p:spPr>
          <a:xfrm>
            <a:off x="2514600" y="4846320"/>
            <a:ext cx="2148840" cy="365760"/>
          </a:xfrm>
          <a:prstGeom prst="rect">
            <a:avLst/>
          </a:prstGeom>
          <a:solidFill>
            <a:srgbClr val="F7F9FB"/>
          </a:solidFill>
          <a:ln w="6350">
            <a:solidFill>
              <a:srgbClr val="D3DCE5"/>
            </a:solidFill>
            <a:prstDash val="solid"/>
          </a:ln>
        </p:spPr>
      </p:sp>
      <p:sp>
        <p:nvSpPr>
          <p:cNvPr id="62" name="Text 59"/>
          <p:cNvSpPr txBox="1"/>
          <p:nvPr/>
        </p:nvSpPr>
        <p:spPr>
          <a:xfrm>
            <a:off x="2578608" y="4846320"/>
            <a:ext cx="2020824" cy="365760"/>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Long-run shortfall</a:t>
            </a:r>
            <a:endParaRPr lang="en-US" sz="880" dirty="0"/>
          </a:p>
        </p:txBody>
      </p:sp>
      <p:sp>
        <p:nvSpPr>
          <p:cNvPr id="63" name="Shape 60"/>
          <p:cNvSpPr/>
          <p:nvPr/>
        </p:nvSpPr>
        <p:spPr>
          <a:xfrm>
            <a:off x="4663440" y="4846320"/>
            <a:ext cx="7123176" cy="365760"/>
          </a:xfrm>
          <a:prstGeom prst="rect">
            <a:avLst/>
          </a:prstGeom>
          <a:solidFill>
            <a:srgbClr val="F7F9FB"/>
          </a:solidFill>
          <a:ln w="6350">
            <a:solidFill>
              <a:srgbClr val="D3DCE5"/>
            </a:solidFill>
            <a:prstDash val="solid"/>
          </a:ln>
        </p:spPr>
      </p:sp>
      <p:sp>
        <p:nvSpPr>
          <p:cNvPr id="64" name="Text 61"/>
          <p:cNvSpPr txBox="1"/>
          <p:nvPr/>
        </p:nvSpPr>
        <p:spPr>
          <a:xfrm>
            <a:off x="4727448" y="4846320"/>
            <a:ext cx="699516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Under its STEPS scenario, announced projects fall about 40% short of 2035 demand.</a:t>
            </a:r>
            <a:endParaRPr lang="en-US" sz="880" dirty="0"/>
          </a:p>
        </p:txBody>
      </p:sp>
      <p:sp>
        <p:nvSpPr>
          <p:cNvPr id="65" name="Shape 62"/>
          <p:cNvSpPr/>
          <p:nvPr/>
        </p:nvSpPr>
        <p:spPr>
          <a:xfrm>
            <a:off x="411480" y="5285232"/>
            <a:ext cx="11375136" cy="713232"/>
          </a:xfrm>
          <a:prstGeom prst="rect">
            <a:avLst/>
          </a:prstGeom>
          <a:solidFill>
            <a:srgbClr val="EEF2F6"/>
          </a:solidFill>
          <a:ln w="9525">
            <a:solidFill>
              <a:srgbClr val="D3DCE5"/>
            </a:solidFill>
            <a:prstDash val="solid"/>
          </a:ln>
        </p:spPr>
      </p:sp>
      <p:sp>
        <p:nvSpPr>
          <p:cNvPr id="66" name="Text 63"/>
          <p:cNvSpPr txBox="1"/>
          <p:nvPr/>
        </p:nvSpPr>
        <p:spPr>
          <a:xfrm>
            <a:off x="576072" y="5413248"/>
            <a:ext cx="11045952" cy="493776"/>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We have not smoothed this into one house view, because the disagreement is the point. Wood Mackenzie is the credible dissenter and we carry its view as our bear case rather than ignoring it. What every forecaster on this page agrees on is that 2025 was the peak surplus year.</a:t>
            </a:r>
            <a:endParaRPr lang="en-US" sz="940" dirty="0"/>
          </a:p>
        </p:txBody>
      </p:sp>
      <p:sp>
        <p:nvSpPr>
          <p:cNvPr id="67" name="Text 64"/>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S&amp;P Global Platts SpodIX assessments, August 2026; Benchmark Mineral Intelligence, 12 August 2026; Fastmarkets; Morgan Stanley; UBS; Macquarie; Wood Mackenzie Lithium Energy Transition Outlook, 3 March 2026; IEA Global Critical Minerals Outlook 2026. LCE means lithium carbonate equivalent.</a:t>
            </a:r>
            <a:endParaRPr lang="en-US" sz="720" dirty="0"/>
          </a:p>
        </p:txBody>
      </p:sp>
      <p:sp>
        <p:nvSpPr>
          <p:cNvPr id="68" name="Text 65"/>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Shape 2"/>
          <p:cNvSpPr/>
          <p:nvPr/>
        </p:nvSpPr>
        <p:spPr>
          <a:xfrm>
            <a:off x="3322930" y="6400800"/>
            <a:ext cx="1335024" cy="274320"/>
          </a:xfrm>
          <a:prstGeom prst="roundRect">
            <a:avLst>
              <a:gd name="adj" fmla="val 20000"/>
            </a:avLst>
          </a:prstGeom>
          <a:solidFill>
            <a:srgbClr val="10233A"/>
          </a:solidFill>
          <a:ln/>
        </p:spPr>
      </p:sp>
      <p:sp>
        <p:nvSpPr>
          <p:cNvPr id="5" name="Text 3"/>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Industry</a:t>
            </a:r>
            <a:endParaRPr lang="en-US" sz="850" dirty="0"/>
          </a:p>
        </p:txBody>
      </p:sp>
      <p:sp>
        <p:nvSpPr>
          <p:cNvPr id="6" name="Text 4"/>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Whatever the next quarterly price print does, the shape of this market changed in 2026 - and none of it depends on electric vehicle subsidies.</a:t>
            </a:r>
            <a:endParaRPr lang="en-US" sz="15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Two sovereign supply shocks and a second demand pillar</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1298448"/>
            <a:ext cx="3675888" cy="2103120"/>
          </a:xfrm>
          <a:prstGeom prst="rect">
            <a:avLst/>
          </a:prstGeom>
          <a:solidFill>
            <a:srgbClr val="F7F9FB"/>
          </a:solidFill>
          <a:ln w="9525">
            <a:solidFill>
              <a:srgbClr val="D3DCE5"/>
            </a:solidFill>
            <a:prstDash val="solid"/>
          </a:ln>
        </p:spPr>
      </p:sp>
      <p:sp>
        <p:nvSpPr>
          <p:cNvPr id="18" name="Shape 15"/>
          <p:cNvSpPr/>
          <p:nvPr/>
        </p:nvSpPr>
        <p:spPr>
          <a:xfrm>
            <a:off x="557784" y="1444752"/>
            <a:ext cx="310896" cy="310896"/>
          </a:xfrm>
          <a:prstGeom prst="ellipse">
            <a:avLst/>
          </a:prstGeom>
          <a:solidFill>
            <a:srgbClr val="10233A"/>
          </a:solidFill>
          <a:ln/>
        </p:spPr>
      </p:sp>
      <p:sp>
        <p:nvSpPr>
          <p:cNvPr id="19" name="Text 16"/>
          <p:cNvSpPr txBox="1"/>
          <p:nvPr/>
        </p:nvSpPr>
        <p:spPr>
          <a:xfrm>
            <a:off x="557784"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60120" y="1426464"/>
            <a:ext cx="2980944" cy="365760"/>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China removed its own largest mine, twice</a:t>
            </a:r>
            <a:endParaRPr lang="en-US" sz="1150" dirty="0"/>
          </a:p>
        </p:txBody>
      </p:sp>
      <p:sp>
        <p:nvSpPr>
          <p:cNvPr id="21" name="Text 18"/>
          <p:cNvSpPr txBox="1"/>
          <p:nvPr/>
        </p:nvSpPr>
        <p:spPr>
          <a:xfrm>
            <a:off x="594360" y="1865376"/>
            <a:ext cx="3310128" cy="142646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CATL's Jianxiawo mine, about 150ktpa LCE and the largest lithium operation in China, was suspended in August 2025, restarted in mid-2026 and re-suspended in August 2026.</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Benchmark cut its 2026 estimate for the site from 62.5kt to 32kt LCE. The regulatory review may not conclude until 2027.</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A further 108ktpa LCE of Jiangxi capacity sits under the same licence scrutiny.</a:t>
            </a:r>
            <a:endParaRPr lang="en-US" sz="830" dirty="0"/>
          </a:p>
        </p:txBody>
      </p:sp>
      <p:sp>
        <p:nvSpPr>
          <p:cNvPr id="22" name="Shape 19"/>
          <p:cNvSpPr/>
          <p:nvPr/>
        </p:nvSpPr>
        <p:spPr>
          <a:xfrm>
            <a:off x="4261104" y="1298448"/>
            <a:ext cx="3675888" cy="2103120"/>
          </a:xfrm>
          <a:prstGeom prst="rect">
            <a:avLst/>
          </a:prstGeom>
          <a:solidFill>
            <a:srgbClr val="F7F9FB"/>
          </a:solidFill>
          <a:ln w="9525">
            <a:solidFill>
              <a:srgbClr val="D3DCE5"/>
            </a:solidFill>
            <a:prstDash val="solid"/>
          </a:ln>
        </p:spPr>
      </p:sp>
      <p:sp>
        <p:nvSpPr>
          <p:cNvPr id="23" name="Shape 20"/>
          <p:cNvSpPr/>
          <p:nvPr/>
        </p:nvSpPr>
        <p:spPr>
          <a:xfrm>
            <a:off x="4407408" y="1444752"/>
            <a:ext cx="310896" cy="310896"/>
          </a:xfrm>
          <a:prstGeom prst="ellipse">
            <a:avLst/>
          </a:prstGeom>
          <a:solidFill>
            <a:srgbClr val="10233A"/>
          </a:solidFill>
          <a:ln/>
        </p:spPr>
      </p:sp>
      <p:sp>
        <p:nvSpPr>
          <p:cNvPr id="24" name="Text 21"/>
          <p:cNvSpPr txBox="1"/>
          <p:nvPr/>
        </p:nvSpPr>
        <p:spPr>
          <a:xfrm>
            <a:off x="4407408"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2"/>
          <p:cNvSpPr txBox="1"/>
          <p:nvPr/>
        </p:nvSpPr>
        <p:spPr>
          <a:xfrm>
            <a:off x="4809744" y="1426464"/>
            <a:ext cx="2980944" cy="365760"/>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Zimbabwe closed the door early</a:t>
            </a:r>
            <a:endParaRPr lang="en-US" sz="1150" dirty="0"/>
          </a:p>
        </p:txBody>
      </p:sp>
      <p:sp>
        <p:nvSpPr>
          <p:cNvPr id="26" name="Text 23"/>
          <p:cNvSpPr txBox="1"/>
          <p:nvPr/>
        </p:nvSpPr>
        <p:spPr>
          <a:xfrm>
            <a:off x="4443984" y="1865376"/>
            <a:ext cx="3310128" cy="142646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880" dirty="0">
                <a:solidFill>
                  <a:srgbClr val="1B2733"/>
                </a:solidFill>
                <a:latin typeface="Calibri" pitchFamily="34" charset="0"/>
                <a:ea typeface="Calibri" pitchFamily="34" charset="-122"/>
                <a:cs typeface="Calibri" pitchFamily="34" charset="-120"/>
              </a:rPr>
              <a:t>All raw mineral and concentrate exports were banned from 25 February 2026.</a:t>
            </a:r>
            <a:endParaRPr lang="en-US" sz="880" dirty="0"/>
          </a:p>
          <a:p>
            <a:pPr marL="342900" indent="-342900">
              <a:lnSpc>
                <a:spcPct val="100000"/>
              </a:lnSpc>
              <a:spcAft>
                <a:spcPts val="500"/>
              </a:spcAft>
              <a:buSzPct val="100000"/>
              <a:buChar char="▪"/>
            </a:pPr>
            <a:r>
              <a:rPr lang="en-US" sz="880" dirty="0">
                <a:solidFill>
                  <a:srgbClr val="1B2733"/>
                </a:solidFill>
                <a:latin typeface="Calibri" pitchFamily="34" charset="0"/>
                <a:ea typeface="Calibri" pitchFamily="34" charset="-122"/>
                <a:cs typeface="Calibri" pitchFamily="34" charset="-120"/>
              </a:rPr>
              <a:t>The market had expected concentrate exports to stay legal until January 2027, so this arrived nearly a year early.</a:t>
            </a:r>
            <a:endParaRPr lang="en-US" sz="880" dirty="0"/>
          </a:p>
          <a:p>
            <a:pPr marL="342900" indent="-342900">
              <a:lnSpc>
                <a:spcPct val="100000"/>
              </a:lnSpc>
              <a:spcAft>
                <a:spcPts val="500"/>
              </a:spcAft>
              <a:buSzPct val="100000"/>
              <a:buChar char="▪"/>
            </a:pPr>
            <a:r>
              <a:rPr lang="en-US" sz="880" dirty="0">
                <a:solidFill>
                  <a:srgbClr val="1B2733"/>
                </a:solidFill>
                <a:latin typeface="Calibri" pitchFamily="34" charset="0"/>
                <a:ea typeface="Calibri" pitchFamily="34" charset="-122"/>
                <a:cs typeface="Calibri" pitchFamily="34" charset="-120"/>
              </a:rPr>
              <a:t>Two unrelated, sovereign-driven disruptions inside twelve months is a stronger supply argument than either alone.</a:t>
            </a:r>
            <a:endParaRPr lang="en-US" sz="880" dirty="0"/>
          </a:p>
        </p:txBody>
      </p:sp>
      <p:sp>
        <p:nvSpPr>
          <p:cNvPr id="27" name="Shape 24"/>
          <p:cNvSpPr/>
          <p:nvPr/>
        </p:nvSpPr>
        <p:spPr>
          <a:xfrm>
            <a:off x="8110728" y="1298448"/>
            <a:ext cx="3675888" cy="2103120"/>
          </a:xfrm>
          <a:prstGeom prst="rect">
            <a:avLst/>
          </a:prstGeom>
          <a:solidFill>
            <a:srgbClr val="F7F9FB"/>
          </a:solidFill>
          <a:ln w="9525">
            <a:solidFill>
              <a:srgbClr val="D3DCE5"/>
            </a:solidFill>
            <a:prstDash val="solid"/>
          </a:ln>
        </p:spPr>
      </p:sp>
      <p:sp>
        <p:nvSpPr>
          <p:cNvPr id="28" name="Shape 25"/>
          <p:cNvSpPr/>
          <p:nvPr/>
        </p:nvSpPr>
        <p:spPr>
          <a:xfrm>
            <a:off x="8257032" y="1444752"/>
            <a:ext cx="310896" cy="310896"/>
          </a:xfrm>
          <a:prstGeom prst="ellipse">
            <a:avLst/>
          </a:prstGeom>
          <a:solidFill>
            <a:srgbClr val="0E7C6B"/>
          </a:solidFill>
          <a:ln/>
        </p:spPr>
      </p:sp>
      <p:sp>
        <p:nvSpPr>
          <p:cNvPr id="29" name="Text 26"/>
          <p:cNvSpPr txBox="1"/>
          <p:nvPr/>
        </p:nvSpPr>
        <p:spPr>
          <a:xfrm>
            <a:off x="8257032"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7"/>
          <p:cNvSpPr txBox="1"/>
          <p:nvPr/>
        </p:nvSpPr>
        <p:spPr>
          <a:xfrm>
            <a:off x="8659368" y="1426464"/>
            <a:ext cx="2980944"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Storage became a demand pillar of its own</a:t>
            </a:r>
            <a:endParaRPr lang="en-US" sz="1150" dirty="0"/>
          </a:p>
        </p:txBody>
      </p:sp>
      <p:sp>
        <p:nvSpPr>
          <p:cNvPr id="31" name="Text 28"/>
          <p:cNvSpPr txBox="1"/>
          <p:nvPr/>
        </p:nvSpPr>
        <p:spPr>
          <a:xfrm>
            <a:off x="8293608" y="1865376"/>
            <a:ext cx="3310128" cy="142646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Battery storage installations grew about 51% in 2025, on top of 26% growth in electric-vehicle battery demand.</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Storage went from roughly 23% of lithium demand in 2025 to about 31% in 2026, pulled by datacentre power demand.</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This leg is structurally independent of the vehicle-subsidy cycle now working against the market in the United States.</a:t>
            </a:r>
            <a:endParaRPr lang="en-US" sz="830" dirty="0"/>
          </a:p>
        </p:txBody>
      </p:sp>
      <p:sp>
        <p:nvSpPr>
          <p:cNvPr id="32" name="Shape 29"/>
          <p:cNvSpPr/>
          <p:nvPr/>
        </p:nvSpPr>
        <p:spPr>
          <a:xfrm>
            <a:off x="411480" y="3566160"/>
            <a:ext cx="5532120" cy="1536192"/>
          </a:xfrm>
          <a:prstGeom prst="rect">
            <a:avLst/>
          </a:prstGeom>
          <a:solidFill>
            <a:srgbClr val="D6EBE7"/>
          </a:solidFill>
          <a:ln w="9525">
            <a:solidFill>
              <a:srgbClr val="AFD3CC"/>
            </a:solidFill>
            <a:prstDash val="solid"/>
          </a:ln>
        </p:spPr>
      </p:sp>
      <p:sp>
        <p:nvSpPr>
          <p:cNvPr id="33" name="Text 30"/>
          <p:cNvSpPr txBox="1"/>
          <p:nvPr/>
        </p:nvSpPr>
        <p:spPr>
          <a:xfrm>
            <a:off x="576072" y="3694176"/>
            <a:ext cx="520293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Why the third one matters most</a:t>
            </a:r>
            <a:endParaRPr lang="en-US" sz="1150" dirty="0"/>
          </a:p>
        </p:txBody>
      </p:sp>
      <p:sp>
        <p:nvSpPr>
          <p:cNvPr id="34" name="Text 31"/>
          <p:cNvSpPr txBox="1"/>
          <p:nvPr/>
        </p:nvSpPr>
        <p:spPr>
          <a:xfrm>
            <a:off x="576072" y="4023360"/>
            <a:ext cx="5202936" cy="987552"/>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Every team in this competition will note that lithium demand grows with electric vehicles. That argument is exposed to a single policy variable, and that variable has turned hostile in the United States. Grid storage is not. It is pulled by electricity demand and by datacentre buildout, and it grew fast enough in 2026 to keep global lithium demand rising 17-30% through the US policy reversal rather than in spite of it.</a:t>
            </a:r>
            <a:endParaRPr lang="en-US" sz="940" dirty="0"/>
          </a:p>
        </p:txBody>
      </p:sp>
      <p:sp>
        <p:nvSpPr>
          <p:cNvPr id="35" name="Shape 32"/>
          <p:cNvSpPr/>
          <p:nvPr/>
        </p:nvSpPr>
        <p:spPr>
          <a:xfrm>
            <a:off x="6153912" y="3566160"/>
            <a:ext cx="5632704" cy="1536192"/>
          </a:xfrm>
          <a:prstGeom prst="rect">
            <a:avLst/>
          </a:prstGeom>
          <a:solidFill>
            <a:srgbClr val="F7F9FB"/>
          </a:solidFill>
          <a:ln w="9525">
            <a:solidFill>
              <a:srgbClr val="D3DCE5"/>
            </a:solidFill>
            <a:prstDash val="solid"/>
          </a:ln>
        </p:spPr>
      </p:sp>
      <p:sp>
        <p:nvSpPr>
          <p:cNvPr id="36" name="Text 33"/>
          <p:cNvSpPr txBox="1"/>
          <p:nvPr/>
        </p:nvSpPr>
        <p:spPr>
          <a:xfrm>
            <a:off x="6318504" y="3694176"/>
            <a:ext cx="5303520"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And what it takes to supply it</a:t>
            </a:r>
            <a:endParaRPr lang="en-US" sz="1150" dirty="0"/>
          </a:p>
        </p:txBody>
      </p:sp>
      <p:sp>
        <p:nvSpPr>
          <p:cNvPr id="37" name="Text 34"/>
          <p:cNvSpPr txBox="1"/>
          <p:nvPr/>
        </p:nvSpPr>
        <p:spPr>
          <a:xfrm>
            <a:off x="6318504" y="4023360"/>
            <a:ext cx="5303520" cy="987552"/>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Benchmark Mineral Intelligence puts the greenfield incentive price - the level at which new supply gets funded - sustainably above US$20,000-25,000/t LCE, and estimates that more than 300 new projects are needed by 2035. Our base case long-run price of about US$1,750/t realised sits below the level that incentive analysis implies. If Benchmark is right, we are being too cautious, not too aggressive.</a:t>
            </a:r>
            <a:endParaRPr lang="en-US" sz="940" dirty="0"/>
          </a:p>
        </p:txBody>
      </p:sp>
      <p:sp>
        <p:nvSpPr>
          <p:cNvPr id="38" name="Text 35"/>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Benchmark Mineral Intelligence; Government of Zimbabwe export ban, 25 February 2026; Rho Motion and industry installation data; Reuters analyst poll (2026 demand growth of 17-30%).</a:t>
            </a:r>
            <a:endParaRPr lang="en-US" sz="720" dirty="0"/>
          </a:p>
        </p:txBody>
      </p:sp>
      <p:sp>
        <p:nvSpPr>
          <p:cNvPr id="39" name="Text 36"/>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Shape 2"/>
          <p:cNvSpPr/>
          <p:nvPr/>
        </p:nvSpPr>
        <p:spPr>
          <a:xfrm>
            <a:off x="3322930" y="6400800"/>
            <a:ext cx="1335024" cy="274320"/>
          </a:xfrm>
          <a:prstGeom prst="roundRect">
            <a:avLst>
              <a:gd name="adj" fmla="val 20000"/>
            </a:avLst>
          </a:prstGeom>
          <a:solidFill>
            <a:srgbClr val="10233A"/>
          </a:solidFill>
          <a:ln/>
        </p:spPr>
      </p:sp>
      <p:sp>
        <p:nvSpPr>
          <p:cNvPr id="5" name="Text 3"/>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Industry</a:t>
            </a:r>
            <a:endParaRPr lang="en-US" sz="850" dirty="0"/>
          </a:p>
        </p:txBody>
      </p:sp>
      <p:sp>
        <p:nvSpPr>
          <p:cNvPr id="6" name="Text 4"/>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This is why swing tonnes come off before PLS's do, and why the balance sheet compounds through a downturn instead of surviving it.</a:t>
            </a:r>
            <a:endParaRPr lang="en-US" sz="15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Pilgangoora earns cash at prices that shut a quarter of world supply</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graphicFrame>
        <p:nvGraphicFramePr>
          <p:cNvPr id="17" name="Chart 0" descr=""/>
          <p:cNvGraphicFramePr/>
          <p:nvPr/>
        </p:nvGraphicFramePr>
        <p:xfrm>
          <a:off x="411480" y="1298448"/>
          <a:ext cx="6492240" cy="3127248"/>
        </p:xfrm>
        <a:graphic xmlns:a="http://schemas.openxmlformats.org/drawingml/2006/main">
          <a:graphicData uri="http://schemas.openxmlformats.org/drawingml/2006/chart">
            <c:chart xmlns:c="http://schemas.openxmlformats.org/drawingml/2006/chart" r:id="rId1"/>
          </a:graphicData>
        </a:graphic>
      </p:graphicFrame>
      <p:sp>
        <p:nvSpPr>
          <p:cNvPr id="18" name="Shape 14"/>
          <p:cNvSpPr/>
          <p:nvPr/>
        </p:nvSpPr>
        <p:spPr>
          <a:xfrm>
            <a:off x="7104888" y="1298448"/>
            <a:ext cx="4681728" cy="1536192"/>
          </a:xfrm>
          <a:prstGeom prst="rect">
            <a:avLst/>
          </a:prstGeom>
          <a:solidFill>
            <a:srgbClr val="D6EBE7"/>
          </a:solidFill>
          <a:ln w="9525">
            <a:solidFill>
              <a:srgbClr val="AFD3CC"/>
            </a:solidFill>
            <a:prstDash val="solid"/>
          </a:ln>
        </p:spPr>
      </p:sp>
      <p:sp>
        <p:nvSpPr>
          <p:cNvPr id="19" name="Text 15"/>
          <p:cNvSpPr txBox="1"/>
          <p:nvPr/>
        </p:nvSpPr>
        <p:spPr>
          <a:xfrm>
            <a:off x="7269480" y="1426464"/>
            <a:ext cx="4370832"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Read it against our own bear case</a:t>
            </a:r>
            <a:endParaRPr lang="en-US" sz="1150" dirty="0"/>
          </a:p>
        </p:txBody>
      </p:sp>
      <p:sp>
        <p:nvSpPr>
          <p:cNvPr id="20" name="Text 16"/>
          <p:cNvSpPr txBox="1"/>
          <p:nvPr/>
        </p:nvSpPr>
        <p:spPr>
          <a:xfrm>
            <a:off x="7287768" y="1865376"/>
            <a:ext cx="4315968" cy="859536"/>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710" dirty="0">
                <a:solidFill>
                  <a:srgbClr val="1B2733"/>
                </a:solidFill>
                <a:latin typeface="Calibri" pitchFamily="34" charset="0"/>
                <a:ea typeface="Calibri" pitchFamily="34" charset="-122"/>
                <a:cs typeface="Calibri" pitchFamily="34" charset="-120"/>
              </a:rPr>
              <a:t>Our bear case assumes a realised price equal to roughly US$1,145/t on an SC6 basis.</a:t>
            </a:r>
            <a:endParaRPr lang="en-US" sz="710" dirty="0"/>
          </a:p>
          <a:p>
            <a:pPr marL="342900" indent="-342900">
              <a:lnSpc>
                <a:spcPct val="100000"/>
              </a:lnSpc>
              <a:spcAft>
                <a:spcPts val="500"/>
              </a:spcAft>
              <a:buSzPct val="100000"/>
              <a:buChar char="▪"/>
            </a:pPr>
            <a:r>
              <a:rPr lang="en-US" sz="710" dirty="0">
                <a:solidFill>
                  <a:srgbClr val="1B2733"/>
                </a:solidFill>
                <a:latin typeface="Calibri" pitchFamily="34" charset="0"/>
                <a:ea typeface="Calibri" pitchFamily="34" charset="-122"/>
                <a:cs typeface="Calibri" pitchFamily="34" charset="-120"/>
              </a:rPr>
              <a:t>At that price the top decile of world supply is under water and PLS still earns about US$720/t of cash margin.</a:t>
            </a:r>
            <a:endParaRPr lang="en-US" sz="710" dirty="0"/>
          </a:p>
          <a:p>
            <a:pPr marL="342900" indent="-342900">
              <a:lnSpc>
                <a:spcPct val="100000"/>
              </a:lnSpc>
              <a:spcAft>
                <a:spcPts val="500"/>
              </a:spcAft>
              <a:buSzPct val="100000"/>
              <a:buChar char="▪"/>
            </a:pPr>
            <a:r>
              <a:rPr lang="en-US" sz="710" dirty="0">
                <a:solidFill>
                  <a:srgbClr val="1B2733"/>
                </a:solidFill>
                <a:latin typeface="Calibri" pitchFamily="34" charset="0"/>
                <a:ea typeface="Calibri" pitchFamily="34" charset="-122"/>
                <a:cs typeface="Calibri" pitchFamily="34" charset="-120"/>
              </a:rPr>
              <a:t>That is the mechanism behind the phrase swing supply: the marginal tonne leaves the market before the low-cost tonne does.</a:t>
            </a:r>
            <a:endParaRPr lang="en-US" sz="710" dirty="0"/>
          </a:p>
        </p:txBody>
      </p:sp>
      <p:sp>
        <p:nvSpPr>
          <p:cNvPr id="21" name="Shape 17"/>
          <p:cNvSpPr/>
          <p:nvPr/>
        </p:nvSpPr>
        <p:spPr>
          <a:xfrm>
            <a:off x="7104888" y="2999232"/>
            <a:ext cx="4681728" cy="1426464"/>
          </a:xfrm>
          <a:prstGeom prst="rect">
            <a:avLst/>
          </a:prstGeom>
          <a:solidFill>
            <a:srgbClr val="F7F9FB"/>
          </a:solidFill>
          <a:ln w="9525">
            <a:solidFill>
              <a:srgbClr val="D3DCE5"/>
            </a:solidFill>
            <a:prstDash val="solid"/>
          </a:ln>
        </p:spPr>
      </p:sp>
      <p:sp>
        <p:nvSpPr>
          <p:cNvPr id="22" name="Text 18"/>
          <p:cNvSpPr txBox="1"/>
          <p:nvPr/>
        </p:nvSpPr>
        <p:spPr>
          <a:xfrm>
            <a:off x="7269480" y="3127248"/>
            <a:ext cx="4352544"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assumption most teams will get wrong</a:t>
            </a:r>
            <a:endParaRPr lang="en-US" sz="1150" dirty="0"/>
          </a:p>
        </p:txBody>
      </p:sp>
      <p:sp>
        <p:nvSpPr>
          <p:cNvPr id="23" name="Text 19"/>
          <p:cNvSpPr txBox="1"/>
          <p:nvPr/>
        </p:nvSpPr>
        <p:spPr>
          <a:xfrm>
            <a:off x="7269480" y="3456432"/>
            <a:ext cx="4352544" cy="877824"/>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Brine is no longer automatically the cheap end of this industry. S&amp;P Global puts weighted Argentine brine all-in sustaining cost at US$7,223/t LCE in 2026, inflated by Argentine cost pressure, which is at or above much of the hard-rock curve. The old "brine beats rock" shorthand no longer describes the cost curve.</a:t>
            </a:r>
            <a:endParaRPr lang="en-US" sz="920" dirty="0"/>
          </a:p>
        </p:txBody>
      </p:sp>
      <p:sp>
        <p:nvSpPr>
          <p:cNvPr id="24" name="Shape 20"/>
          <p:cNvSpPr/>
          <p:nvPr/>
        </p:nvSpPr>
        <p:spPr>
          <a:xfrm>
            <a:off x="411480" y="4572000"/>
            <a:ext cx="11375136" cy="640080"/>
          </a:xfrm>
          <a:prstGeom prst="rect">
            <a:avLst/>
          </a:prstGeom>
          <a:solidFill>
            <a:srgbClr val="EEF2F6"/>
          </a:solidFill>
          <a:ln w="9525">
            <a:solidFill>
              <a:srgbClr val="D3DCE5"/>
            </a:solidFill>
            <a:prstDash val="solid"/>
          </a:ln>
        </p:spPr>
      </p:sp>
      <p:sp>
        <p:nvSpPr>
          <p:cNvPr id="25" name="Text 21"/>
          <p:cNvSpPr txBox="1"/>
          <p:nvPr/>
        </p:nvSpPr>
        <p:spPr>
          <a:xfrm>
            <a:off x="576072" y="4700016"/>
            <a:ext cx="11045952" cy="420624"/>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Basis note. PLS reports A$569/t FOB on its own product grade of about SC5.2. Converted to an SC6 basis and translated at 0.65 AUD/USD, that is roughly US$425/t - the figure shown above. We have made the conversion explicit rather than comparing grades that are not alike.</a:t>
            </a:r>
            <a:endParaRPr lang="en-US" sz="880" dirty="0"/>
          </a:p>
        </p:txBody>
      </p:sp>
      <p:sp>
        <p:nvSpPr>
          <p:cNvPr id="26" name="Text 22"/>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S&amp;P Global Market Intelligence Mine Cost Outlook, January 2026; CRU Group (lepidolite cost distribution); PLS Group FY26 results. Greenbushes is operated by Talison, a Tianqi, Albemarle and IGO joint venture.</a:t>
            </a:r>
            <a:endParaRPr lang="en-US" sz="720" dirty="0"/>
          </a:p>
        </p:txBody>
      </p:sp>
      <p:sp>
        <p:nvSpPr>
          <p:cNvPr id="27" name="Text 23"/>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33A"/>
        </a:solidFill>
      </p:bgPr>
    </p:bg>
    <p:spTree>
      <p:nvGrpSpPr>
        <p:cNvPr id="1" name=""/>
        <p:cNvGrpSpPr/>
        <p:nvPr/>
      </p:nvGrpSpPr>
      <p:grpSpPr>
        <a:xfrm>
          <a:off x="0" y="0"/>
          <a:ext cx="0" cy="0"/>
          <a:chOff x="0" y="0"/>
          <a:chExt cx="0" cy="0"/>
        </a:xfrm>
      </p:grpSpPr>
      <p:sp>
        <p:nvSpPr>
          <p:cNvPr id="2" name="Text 0"/>
          <p:cNvSpPr txBox="1"/>
          <p:nvPr/>
        </p:nvSpPr>
        <p:spPr>
          <a:xfrm>
            <a:off x="411480" y="1874520"/>
            <a:ext cx="1828800" cy="1371600"/>
          </a:xfrm>
          <a:prstGeom prst="rect">
            <a:avLst/>
          </a:prstGeom>
          <a:noFill/>
          <a:ln/>
        </p:spPr>
        <p:txBody>
          <a:bodyPr wrap="square" lIns="0" tIns="0" rIns="0" bIns="0" rtlCol="0" anchor="ctr"/>
          <a:lstStyle/>
          <a:p>
            <a:pPr indent="0" marL="0">
              <a:buNone/>
            </a:pPr>
            <a:r>
              <a:rPr lang="en-US" sz="8800" b="1" dirty="0">
                <a:solidFill>
                  <a:srgbClr val="0E7C6B"/>
                </a:solidFill>
                <a:latin typeface="Cambria" pitchFamily="34" charset="0"/>
                <a:ea typeface="Cambria" pitchFamily="34" charset="-122"/>
                <a:cs typeface="Cambria" pitchFamily="34" charset="-120"/>
              </a:rPr>
              <a:t>02</a:t>
            </a:r>
            <a:endParaRPr lang="en-US" sz="8800" dirty="0"/>
          </a:p>
        </p:txBody>
      </p:sp>
      <p:sp>
        <p:nvSpPr>
          <p:cNvPr id="3" name="Text 1"/>
          <p:cNvSpPr txBox="1"/>
          <p:nvPr/>
        </p:nvSpPr>
        <p:spPr>
          <a:xfrm>
            <a:off x="2148840" y="2103120"/>
            <a:ext cx="877824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shared value case</a:t>
            </a:r>
            <a:endParaRPr lang="en-US" sz="3600" dirty="0"/>
          </a:p>
        </p:txBody>
      </p:sp>
      <p:sp>
        <p:nvSpPr>
          <p:cNvPr id="4" name="Text 2"/>
          <p:cNvSpPr txBox="1"/>
          <p:nvPr/>
        </p:nvSpPr>
        <p:spPr>
          <a:xfrm>
            <a:off x="2194560" y="2971800"/>
            <a:ext cx="8412480" cy="822960"/>
          </a:xfrm>
          <a:prstGeom prst="rect">
            <a:avLst/>
          </a:prstGeom>
          <a:noFill/>
          <a:ln/>
        </p:spPr>
        <p:txBody>
          <a:bodyPr wrap="square" lIns="0" tIns="0" rIns="0" bIns="0" rtlCol="0" anchor="t"/>
          <a:lstStyle/>
          <a:p>
            <a:pPr indent="0" marL="0">
              <a:lnSpc>
                <a:spcPct val="110000"/>
              </a:lnSpc>
              <a:buNone/>
            </a:pPr>
            <a:r>
              <a:rPr lang="en-US" sz="1300" dirty="0">
                <a:solidFill>
                  <a:srgbClr val="AFC3D4"/>
                </a:solidFill>
                <a:latin typeface="Calibri" pitchFamily="34" charset="0"/>
                <a:ea typeface="Calibri" pitchFamily="34" charset="-122"/>
                <a:cs typeface="Calibri" pitchFamily="34" charset="-120"/>
              </a:rPr>
              <a:t>Porter and Kramer describe three levels of shared value. Most miners only ever reach the second one.</a:t>
            </a:r>
            <a:endParaRPr lang="en-US" sz="1300" dirty="0"/>
          </a:p>
        </p:txBody>
      </p:sp>
      <p:sp>
        <p:nvSpPr>
          <p:cNvPr id="5" name="Text 3"/>
          <p:cNvSpPr txBox="1"/>
          <p:nvPr/>
        </p:nvSpPr>
        <p:spPr>
          <a:xfrm>
            <a:off x="2194560" y="3977640"/>
            <a:ext cx="8778240" cy="822960"/>
          </a:xfrm>
          <a:prstGeom prst="rect">
            <a:avLst/>
          </a:prstGeom>
          <a:noFill/>
          <a:ln/>
        </p:spPr>
        <p:txBody>
          <a:bodyPr wrap="square" lIns="0" tIns="0" rIns="0" bIns="0" rtlCol="0" anchor="t"/>
          <a:lstStyle/>
          <a:p>
            <a:pPr indent="0" marL="0">
              <a:lnSpc>
                <a:spcPct val="130000"/>
              </a:lnSpc>
              <a:buNone/>
            </a:pPr>
            <a:r>
              <a:rPr lang="en-US" sz="950" dirty="0">
                <a:solidFill>
                  <a:srgbClr val="0E7C6B"/>
                </a:solidFill>
                <a:latin typeface="Calibri" pitchFamily="34" charset="0"/>
                <a:ea typeface="Calibri" pitchFamily="34" charset="-122"/>
                <a:cs typeface="Calibri" pitchFamily="34" charset="-120"/>
              </a:rPr>
              <a:t>07  The framework     08  Level one: market access     09  Level two: productivity     10  The critical eye     11  The value bridge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Text 2"/>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5" name="Text 3"/>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6" name="Shape 4"/>
          <p:cNvSpPr/>
          <p:nvPr/>
        </p:nvSpPr>
        <p:spPr>
          <a:xfrm>
            <a:off x="6130138" y="6400800"/>
            <a:ext cx="1335024" cy="274320"/>
          </a:xfrm>
          <a:prstGeom prst="roundRect">
            <a:avLst>
              <a:gd name="adj" fmla="val 20000"/>
            </a:avLst>
          </a:prstGeom>
          <a:solidFill>
            <a:srgbClr val="10233A"/>
          </a:solidFill>
          <a:ln/>
        </p:spPr>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Cutting cost while cutting emissions is real, but it is the middle level and every competent operator gets there. The first level is where advantage is created.</a:t>
            </a:r>
            <a:endParaRPr lang="en-US" sz="14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Three levels of shared value, and where mining actually sits</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3675888"/>
            <a:ext cx="11375136" cy="1097280"/>
          </a:xfrm>
          <a:prstGeom prst="rect">
            <a:avLst/>
          </a:prstGeom>
          <a:solidFill>
            <a:srgbClr val="F7F9FB"/>
          </a:solidFill>
          <a:ln w="9525">
            <a:solidFill>
              <a:srgbClr val="D3DCE5"/>
            </a:solidFill>
            <a:prstDash val="solid"/>
          </a:ln>
        </p:spPr>
      </p:sp>
      <p:sp>
        <p:nvSpPr>
          <p:cNvPr id="18" name="Text 15"/>
          <p:cNvSpPr txBox="1"/>
          <p:nvPr/>
        </p:nvSpPr>
        <p:spPr>
          <a:xfrm>
            <a:off x="594360" y="3803904"/>
            <a:ext cx="868680" cy="310896"/>
          </a:xfrm>
          <a:prstGeom prst="rect">
            <a:avLst/>
          </a:prstGeom>
          <a:noFill/>
          <a:ln/>
        </p:spPr>
        <p:txBody>
          <a:bodyPr wrap="square" lIns="0" tIns="0" rIns="0" bIns="0" rtlCol="0" anchor="ctr"/>
          <a:lstStyle/>
          <a:p>
            <a:pPr indent="0" marL="0">
              <a:buNone/>
            </a:pPr>
            <a:r>
              <a:rPr lang="en-US" sz="1100" b="1" dirty="0">
                <a:solidFill>
                  <a:srgbClr val="5F7183"/>
                </a:solidFill>
                <a:latin typeface="Calibri" pitchFamily="34" charset="0"/>
                <a:ea typeface="Calibri" pitchFamily="34" charset="-122"/>
                <a:cs typeface="Calibri" pitchFamily="34" charset="-120"/>
              </a:rPr>
              <a:t>Level 3</a:t>
            </a:r>
            <a:endParaRPr lang="en-US" sz="1100" dirty="0"/>
          </a:p>
        </p:txBody>
      </p:sp>
      <p:sp>
        <p:nvSpPr>
          <p:cNvPr id="19" name="Text 16"/>
          <p:cNvSpPr txBox="1"/>
          <p:nvPr/>
        </p:nvSpPr>
        <p:spPr>
          <a:xfrm>
            <a:off x="1490472" y="3785616"/>
            <a:ext cx="4160520" cy="310896"/>
          </a:xfrm>
          <a:prstGeom prst="rect">
            <a:avLst/>
          </a:prstGeom>
          <a:noFill/>
          <a:ln/>
        </p:spPr>
        <p:txBody>
          <a:bodyPr wrap="square" lIns="0" tIns="0" rIns="0" bIns="0" rtlCol="0" anchor="ctr"/>
          <a:lstStyle/>
          <a:p>
            <a:pPr indent="0" marL="0">
              <a:buNone/>
            </a:pPr>
            <a:r>
              <a:rPr lang="en-US" sz="1300" b="1" dirty="0">
                <a:solidFill>
                  <a:srgbClr val="10233A"/>
                </a:solidFill>
                <a:latin typeface="Cambria" pitchFamily="34" charset="0"/>
                <a:ea typeface="Cambria" pitchFamily="34" charset="-122"/>
                <a:cs typeface="Cambria" pitchFamily="34" charset="-120"/>
              </a:rPr>
              <a:t>Enabling local cluster development</a:t>
            </a:r>
            <a:endParaRPr lang="en-US" sz="1300" dirty="0"/>
          </a:p>
        </p:txBody>
      </p:sp>
      <p:sp>
        <p:nvSpPr>
          <p:cNvPr id="20" name="Text 17"/>
          <p:cNvSpPr txBox="1"/>
          <p:nvPr/>
        </p:nvSpPr>
        <p:spPr>
          <a:xfrm>
            <a:off x="1490472" y="4096512"/>
            <a:ext cx="4160520" cy="384048"/>
          </a:xfrm>
          <a:prstGeom prst="rect">
            <a:avLst/>
          </a:prstGeom>
          <a:noFill/>
          <a:ln/>
        </p:spPr>
        <p:txBody>
          <a:bodyPr wrap="square" lIns="0" tIns="0" rIns="0" bIns="0" rtlCol="0" anchor="t"/>
          <a:lstStyle/>
          <a:p>
            <a:pPr indent="0" marL="0">
              <a:buNone/>
            </a:pPr>
            <a:r>
              <a:rPr lang="en-US" sz="900" i="1" dirty="0">
                <a:solidFill>
                  <a:srgbClr val="5F7183"/>
                </a:solidFill>
                <a:latin typeface="Calibri" pitchFamily="34" charset="0"/>
                <a:ea typeface="Calibri" pitchFamily="34" charset="-122"/>
                <a:cs typeface="Calibri" pitchFamily="34" charset="-120"/>
              </a:rPr>
              <a:t>Build the suppliers, skills and institutions the business depends on.</a:t>
            </a:r>
            <a:endParaRPr lang="en-US" sz="900" dirty="0"/>
          </a:p>
        </p:txBody>
      </p:sp>
      <p:sp>
        <p:nvSpPr>
          <p:cNvPr id="21" name="Text 18"/>
          <p:cNvSpPr txBox="1"/>
          <p:nvPr/>
        </p:nvSpPr>
        <p:spPr>
          <a:xfrm>
            <a:off x="5788152" y="3803904"/>
            <a:ext cx="4041648" cy="859536"/>
          </a:xfrm>
          <a:prstGeom prst="rect">
            <a:avLst/>
          </a:prstGeom>
          <a:noFill/>
          <a:ln/>
        </p:spPr>
        <p:txBody>
          <a:bodyPr wrap="square" lIns="0" tIns="0" rIns="0" bIns="0" rtlCol="0" anchor="t"/>
          <a:lstStyle/>
          <a:p>
            <a:pPr indent="0" marL="0">
              <a:lnSpc>
                <a:spcPct val="110000"/>
              </a:lnSpc>
              <a:buNone/>
            </a:pPr>
            <a:r>
              <a:rPr lang="en-US" sz="900" dirty="0">
                <a:solidFill>
                  <a:srgbClr val="1B2733"/>
                </a:solidFill>
                <a:latin typeface="Calibri" pitchFamily="34" charset="0"/>
                <a:ea typeface="Calibri" pitchFamily="34" charset="-122"/>
                <a:cs typeface="Calibri" pitchFamily="34" charset="-120"/>
              </a:rPr>
              <a:t>PLS: Traditional Owner agreements and Pilbara local content; in Brazil, the Salinas development including a flour-factory revitalisation supporting around 300 direct and indirect jobs.</a:t>
            </a:r>
            <a:endParaRPr lang="en-US" sz="900" dirty="0"/>
          </a:p>
        </p:txBody>
      </p:sp>
      <p:sp>
        <p:nvSpPr>
          <p:cNvPr id="22" name="Text 19"/>
          <p:cNvSpPr txBox="1"/>
          <p:nvPr/>
        </p:nvSpPr>
        <p:spPr>
          <a:xfrm>
            <a:off x="9939528" y="3803904"/>
            <a:ext cx="1691640" cy="859536"/>
          </a:xfrm>
          <a:prstGeom prst="rect">
            <a:avLst/>
          </a:prstGeom>
          <a:noFill/>
          <a:ln/>
        </p:spPr>
        <p:txBody>
          <a:bodyPr wrap="square" lIns="0" tIns="0" rIns="0" bIns="0" rtlCol="0" anchor="ctr"/>
          <a:lstStyle/>
          <a:p>
            <a:pPr algn="r" indent="0" marL="0">
              <a:buNone/>
            </a:pPr>
            <a:r>
              <a:rPr lang="en-US" sz="950" b="1" dirty="0">
                <a:solidFill>
                  <a:srgbClr val="5F7183"/>
                </a:solidFill>
                <a:latin typeface="Calibri" pitchFamily="34" charset="0"/>
                <a:ea typeface="Calibri" pitchFamily="34" charset="-122"/>
                <a:cs typeface="Calibri" pitchFamily="34" charset="-120"/>
              </a:rPr>
              <a:t>Makes the growth executable</a:t>
            </a:r>
            <a:endParaRPr lang="en-US" sz="950" dirty="0"/>
          </a:p>
        </p:txBody>
      </p:sp>
      <p:sp>
        <p:nvSpPr>
          <p:cNvPr id="23" name="Shape 20"/>
          <p:cNvSpPr/>
          <p:nvPr/>
        </p:nvSpPr>
        <p:spPr>
          <a:xfrm>
            <a:off x="411480" y="2487168"/>
            <a:ext cx="11375136" cy="1097280"/>
          </a:xfrm>
          <a:prstGeom prst="rect">
            <a:avLst/>
          </a:prstGeom>
          <a:solidFill>
            <a:srgbClr val="F7F9FB"/>
          </a:solidFill>
          <a:ln w="9525">
            <a:solidFill>
              <a:srgbClr val="D3DCE5"/>
            </a:solidFill>
            <a:prstDash val="solid"/>
          </a:ln>
        </p:spPr>
      </p:sp>
      <p:sp>
        <p:nvSpPr>
          <p:cNvPr id="24" name="Text 21"/>
          <p:cNvSpPr txBox="1"/>
          <p:nvPr/>
        </p:nvSpPr>
        <p:spPr>
          <a:xfrm>
            <a:off x="594360" y="2615184"/>
            <a:ext cx="868680" cy="310896"/>
          </a:xfrm>
          <a:prstGeom prst="rect">
            <a:avLst/>
          </a:prstGeom>
          <a:noFill/>
          <a:ln/>
        </p:spPr>
        <p:txBody>
          <a:bodyPr wrap="square" lIns="0" tIns="0" rIns="0" bIns="0" rtlCol="0" anchor="ctr"/>
          <a:lstStyle/>
          <a:p>
            <a:pPr indent="0" marL="0">
              <a:buNone/>
            </a:pPr>
            <a:r>
              <a:rPr lang="en-US" sz="1100" b="1" dirty="0">
                <a:solidFill>
                  <a:srgbClr val="1C3A5E"/>
                </a:solidFill>
                <a:latin typeface="Calibri" pitchFamily="34" charset="0"/>
                <a:ea typeface="Calibri" pitchFamily="34" charset="-122"/>
                <a:cs typeface="Calibri" pitchFamily="34" charset="-120"/>
              </a:rPr>
              <a:t>Level 2</a:t>
            </a:r>
            <a:endParaRPr lang="en-US" sz="1100" dirty="0"/>
          </a:p>
        </p:txBody>
      </p:sp>
      <p:sp>
        <p:nvSpPr>
          <p:cNvPr id="25" name="Text 22"/>
          <p:cNvSpPr txBox="1"/>
          <p:nvPr/>
        </p:nvSpPr>
        <p:spPr>
          <a:xfrm>
            <a:off x="1490472" y="2596896"/>
            <a:ext cx="4160520" cy="310896"/>
          </a:xfrm>
          <a:prstGeom prst="rect">
            <a:avLst/>
          </a:prstGeom>
          <a:noFill/>
          <a:ln/>
        </p:spPr>
        <p:txBody>
          <a:bodyPr wrap="square" lIns="0" tIns="0" rIns="0" bIns="0" rtlCol="0" anchor="ctr"/>
          <a:lstStyle/>
          <a:p>
            <a:pPr indent="0" marL="0">
              <a:buNone/>
            </a:pPr>
            <a:r>
              <a:rPr lang="en-US" sz="1300" b="1" dirty="0">
                <a:solidFill>
                  <a:srgbClr val="10233A"/>
                </a:solidFill>
                <a:latin typeface="Cambria" pitchFamily="34" charset="0"/>
                <a:ea typeface="Cambria" pitchFamily="34" charset="-122"/>
                <a:cs typeface="Cambria" pitchFamily="34" charset="-120"/>
              </a:rPr>
              <a:t>Redefining productivity in the value chain</a:t>
            </a:r>
            <a:endParaRPr lang="en-US" sz="1300" dirty="0"/>
          </a:p>
        </p:txBody>
      </p:sp>
      <p:sp>
        <p:nvSpPr>
          <p:cNvPr id="26" name="Text 23"/>
          <p:cNvSpPr txBox="1"/>
          <p:nvPr/>
        </p:nvSpPr>
        <p:spPr>
          <a:xfrm>
            <a:off x="1490472" y="2907792"/>
            <a:ext cx="4160520" cy="384048"/>
          </a:xfrm>
          <a:prstGeom prst="rect">
            <a:avLst/>
          </a:prstGeom>
          <a:noFill/>
          <a:ln/>
        </p:spPr>
        <p:txBody>
          <a:bodyPr wrap="square" lIns="0" tIns="0" rIns="0" bIns="0" rtlCol="0" anchor="t"/>
          <a:lstStyle/>
          <a:p>
            <a:pPr indent="0" marL="0">
              <a:buNone/>
            </a:pPr>
            <a:r>
              <a:rPr lang="en-US" sz="900" i="1" dirty="0">
                <a:solidFill>
                  <a:srgbClr val="5F7183"/>
                </a:solidFill>
                <a:latin typeface="Calibri" pitchFamily="34" charset="0"/>
                <a:ea typeface="Calibri" pitchFamily="34" charset="-122"/>
                <a:cs typeface="Calibri" pitchFamily="34" charset="-120"/>
              </a:rPr>
              <a:t>Solve an environmental problem in a way that lowers cost.</a:t>
            </a:r>
            <a:endParaRPr lang="en-US" sz="900" dirty="0"/>
          </a:p>
        </p:txBody>
      </p:sp>
      <p:sp>
        <p:nvSpPr>
          <p:cNvPr id="27" name="Text 24"/>
          <p:cNvSpPr txBox="1"/>
          <p:nvPr/>
        </p:nvSpPr>
        <p:spPr>
          <a:xfrm>
            <a:off x="5788152" y="2615184"/>
            <a:ext cx="4041648" cy="859536"/>
          </a:xfrm>
          <a:prstGeom prst="rect">
            <a:avLst/>
          </a:prstGeom>
          <a:noFill/>
          <a:ln/>
        </p:spPr>
        <p:txBody>
          <a:bodyPr wrap="square" lIns="0" tIns="0" rIns="0" bIns="0" rtlCol="0" anchor="t"/>
          <a:lstStyle/>
          <a:p>
            <a:pPr indent="0" marL="0">
              <a:lnSpc>
                <a:spcPct val="110000"/>
              </a:lnSpc>
              <a:buNone/>
            </a:pPr>
            <a:r>
              <a:rPr lang="en-US" sz="900" dirty="0">
                <a:solidFill>
                  <a:srgbClr val="1B2733"/>
                </a:solidFill>
                <a:latin typeface="Calibri" pitchFamily="34" charset="0"/>
                <a:ea typeface="Calibri" pitchFamily="34" charset="-122"/>
                <a:cs typeface="Calibri" pitchFamily="34" charset="-120"/>
              </a:rPr>
              <a:t>PLS: sensor-based ore sorting rejects waste before the energy-intensive stages, so cost per tonne and energy per tonne fall together. Gas and solar displace diesel generation.</a:t>
            </a:r>
            <a:endParaRPr lang="en-US" sz="900" dirty="0"/>
          </a:p>
        </p:txBody>
      </p:sp>
      <p:sp>
        <p:nvSpPr>
          <p:cNvPr id="28" name="Text 25"/>
          <p:cNvSpPr txBox="1"/>
          <p:nvPr/>
        </p:nvSpPr>
        <p:spPr>
          <a:xfrm>
            <a:off x="9939528" y="2615184"/>
            <a:ext cx="1691640" cy="859536"/>
          </a:xfrm>
          <a:prstGeom prst="rect">
            <a:avLst/>
          </a:prstGeom>
          <a:noFill/>
          <a:ln/>
        </p:spPr>
        <p:txBody>
          <a:bodyPr wrap="square" lIns="0" tIns="0" rIns="0" bIns="0" rtlCol="0" anchor="ctr"/>
          <a:lstStyle/>
          <a:p>
            <a:pPr algn="r" indent="0" marL="0">
              <a:buNone/>
            </a:pPr>
            <a:r>
              <a:rPr lang="en-US" sz="950" b="1" dirty="0">
                <a:solidFill>
                  <a:srgbClr val="1C3A5E"/>
                </a:solidFill>
                <a:latin typeface="Calibri" pitchFamily="34" charset="0"/>
                <a:ea typeface="Calibri" pitchFamily="34" charset="-122"/>
                <a:cs typeface="Calibri" pitchFamily="34" charset="-120"/>
              </a:rPr>
              <a:t>Real, and roughly A$48/t</a:t>
            </a:r>
            <a:endParaRPr lang="en-US" sz="950" dirty="0"/>
          </a:p>
        </p:txBody>
      </p:sp>
      <p:sp>
        <p:nvSpPr>
          <p:cNvPr id="29" name="Shape 26"/>
          <p:cNvSpPr/>
          <p:nvPr/>
        </p:nvSpPr>
        <p:spPr>
          <a:xfrm>
            <a:off x="411480" y="1298448"/>
            <a:ext cx="11375136" cy="1097280"/>
          </a:xfrm>
          <a:prstGeom prst="rect">
            <a:avLst/>
          </a:prstGeom>
          <a:solidFill>
            <a:srgbClr val="D6EBE7"/>
          </a:solidFill>
          <a:ln w="9525">
            <a:solidFill>
              <a:srgbClr val="AFD3CC"/>
            </a:solidFill>
            <a:prstDash val="solid"/>
          </a:ln>
        </p:spPr>
      </p:sp>
      <p:sp>
        <p:nvSpPr>
          <p:cNvPr id="30" name="Text 27"/>
          <p:cNvSpPr txBox="1"/>
          <p:nvPr/>
        </p:nvSpPr>
        <p:spPr>
          <a:xfrm>
            <a:off x="594360" y="1426464"/>
            <a:ext cx="868680" cy="310896"/>
          </a:xfrm>
          <a:prstGeom prst="rect">
            <a:avLst/>
          </a:prstGeom>
          <a:noFill/>
          <a:ln/>
        </p:spPr>
        <p:txBody>
          <a:bodyPr wrap="square" lIns="0" tIns="0" rIns="0" bIns="0" rtlCol="0" anchor="ctr"/>
          <a:lstStyle/>
          <a:p>
            <a:pPr indent="0" marL="0">
              <a:buNone/>
            </a:pPr>
            <a:r>
              <a:rPr lang="en-US" sz="1100" b="1" dirty="0">
                <a:solidFill>
                  <a:srgbClr val="0E7C6B"/>
                </a:solidFill>
                <a:latin typeface="Calibri" pitchFamily="34" charset="0"/>
                <a:ea typeface="Calibri" pitchFamily="34" charset="-122"/>
                <a:cs typeface="Calibri" pitchFamily="34" charset="-120"/>
              </a:rPr>
              <a:t>Level 1</a:t>
            </a:r>
            <a:endParaRPr lang="en-US" sz="1100" dirty="0"/>
          </a:p>
        </p:txBody>
      </p:sp>
      <p:sp>
        <p:nvSpPr>
          <p:cNvPr id="31" name="Text 28"/>
          <p:cNvSpPr txBox="1"/>
          <p:nvPr/>
        </p:nvSpPr>
        <p:spPr>
          <a:xfrm>
            <a:off x="1490472" y="1408176"/>
            <a:ext cx="4160520" cy="310896"/>
          </a:xfrm>
          <a:prstGeom prst="rect">
            <a:avLst/>
          </a:prstGeom>
          <a:noFill/>
          <a:ln/>
        </p:spPr>
        <p:txBody>
          <a:bodyPr wrap="square" lIns="0" tIns="0" rIns="0" bIns="0" rtlCol="0" anchor="ctr"/>
          <a:lstStyle/>
          <a:p>
            <a:pPr indent="0" marL="0">
              <a:buNone/>
            </a:pPr>
            <a:r>
              <a:rPr lang="en-US" sz="1300" b="1" dirty="0">
                <a:solidFill>
                  <a:srgbClr val="10233A"/>
                </a:solidFill>
                <a:latin typeface="Cambria" pitchFamily="34" charset="0"/>
                <a:ea typeface="Cambria" pitchFamily="34" charset="-122"/>
                <a:cs typeface="Cambria" pitchFamily="34" charset="-120"/>
              </a:rPr>
              <a:t>Reconceiving products and markets</a:t>
            </a:r>
            <a:endParaRPr lang="en-US" sz="1300" dirty="0"/>
          </a:p>
        </p:txBody>
      </p:sp>
      <p:sp>
        <p:nvSpPr>
          <p:cNvPr id="32" name="Text 29"/>
          <p:cNvSpPr txBox="1"/>
          <p:nvPr/>
        </p:nvSpPr>
        <p:spPr>
          <a:xfrm>
            <a:off x="1490472" y="1719072"/>
            <a:ext cx="4160520" cy="384048"/>
          </a:xfrm>
          <a:prstGeom prst="rect">
            <a:avLst/>
          </a:prstGeom>
          <a:noFill/>
          <a:ln/>
        </p:spPr>
        <p:txBody>
          <a:bodyPr wrap="square" lIns="0" tIns="0" rIns="0" bIns="0" rtlCol="0" anchor="t"/>
          <a:lstStyle/>
          <a:p>
            <a:pPr indent="0" marL="0">
              <a:buNone/>
            </a:pPr>
            <a:r>
              <a:rPr lang="en-US" sz="900" i="1" dirty="0">
                <a:solidFill>
                  <a:srgbClr val="5F7183"/>
                </a:solidFill>
                <a:latin typeface="Calibri" pitchFamily="34" charset="0"/>
                <a:ea typeface="Calibri" pitchFamily="34" charset="-122"/>
                <a:cs typeface="Calibri" pitchFamily="34" charset="-120"/>
              </a:rPr>
              <a:t>Serve an unmet societal need in a way that opens a market that did not exist.</a:t>
            </a:r>
            <a:endParaRPr lang="en-US" sz="900" dirty="0"/>
          </a:p>
        </p:txBody>
      </p:sp>
      <p:sp>
        <p:nvSpPr>
          <p:cNvPr id="33" name="Text 30"/>
          <p:cNvSpPr txBox="1"/>
          <p:nvPr/>
        </p:nvSpPr>
        <p:spPr>
          <a:xfrm>
            <a:off x="5788152" y="1426464"/>
            <a:ext cx="4041648" cy="859536"/>
          </a:xfrm>
          <a:prstGeom prst="rect">
            <a:avLst/>
          </a:prstGeom>
          <a:noFill/>
          <a:ln/>
        </p:spPr>
        <p:txBody>
          <a:bodyPr wrap="square" lIns="0" tIns="0" rIns="0" bIns="0" rtlCol="0" anchor="t"/>
          <a:lstStyle/>
          <a:p>
            <a:pPr indent="0" marL="0">
              <a:lnSpc>
                <a:spcPct val="110000"/>
              </a:lnSpc>
              <a:buNone/>
            </a:pPr>
            <a:r>
              <a:rPr lang="en-US" sz="900" dirty="0">
                <a:solidFill>
                  <a:srgbClr val="1B2733"/>
                </a:solidFill>
                <a:latin typeface="Calibri" pitchFamily="34" charset="0"/>
                <a:ea typeface="Calibri" pitchFamily="34" charset="-122"/>
                <a:cs typeface="Calibri" pitchFamily="34" charset="-120"/>
              </a:rPr>
              <a:t>PLS: electric calcination and a Korean conversion joint venture produce a low-carbon, traceable, non-China unit at the moment carbon intensity is becoming a condition of sale.</a:t>
            </a:r>
            <a:endParaRPr lang="en-US" sz="900" dirty="0"/>
          </a:p>
        </p:txBody>
      </p:sp>
      <p:sp>
        <p:nvSpPr>
          <p:cNvPr id="34" name="Text 31"/>
          <p:cNvSpPr txBox="1"/>
          <p:nvPr/>
        </p:nvSpPr>
        <p:spPr>
          <a:xfrm>
            <a:off x="9939528" y="1426464"/>
            <a:ext cx="1691640" cy="859536"/>
          </a:xfrm>
          <a:prstGeom prst="rect">
            <a:avLst/>
          </a:prstGeom>
          <a:noFill/>
          <a:ln/>
        </p:spPr>
        <p:txBody>
          <a:bodyPr wrap="square" lIns="0" tIns="0" rIns="0" bIns="0" rtlCol="0" anchor="ctr"/>
          <a:lstStyle/>
          <a:p>
            <a:pPr algn="r" indent="0" marL="0">
              <a:buNone/>
            </a:pPr>
            <a:r>
              <a:rPr lang="en-US" sz="950" b="1" dirty="0">
                <a:solidFill>
                  <a:srgbClr val="0E7C6B"/>
                </a:solidFill>
                <a:latin typeface="Calibri" pitchFamily="34" charset="0"/>
                <a:ea typeface="Calibri" pitchFamily="34" charset="-122"/>
                <a:cs typeface="Calibri" pitchFamily="34" charset="-120"/>
              </a:rPr>
              <a:t>Where the advantage is</a:t>
            </a:r>
            <a:endParaRPr lang="en-US" sz="950" dirty="0"/>
          </a:p>
        </p:txBody>
      </p:sp>
      <p:sp>
        <p:nvSpPr>
          <p:cNvPr id="35" name="Text 32"/>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Framework: Michael Porter and Mark Kramer, 'Creating Shared Value', Harvard Business Review, 2011. Company evidence per PLS disclosures; see appendix for the full evidence table and our confidence rating on each item.</a:t>
            </a:r>
            <a:endParaRPr lang="en-US" sz="720" dirty="0"/>
          </a:p>
        </p:txBody>
      </p:sp>
      <p:sp>
        <p:nvSpPr>
          <p:cNvPr id="36" name="Text 33"/>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Text 2"/>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5" name="Text 3"/>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6" name="Shape 4"/>
          <p:cNvSpPr/>
          <p:nvPr/>
        </p:nvSpPr>
        <p:spPr>
          <a:xfrm>
            <a:off x="6130138" y="6400800"/>
            <a:ext cx="1335024" cy="274320"/>
          </a:xfrm>
          <a:prstGeom prst="roundRect">
            <a:avLst>
              <a:gd name="adj" fmla="val 20000"/>
            </a:avLst>
          </a:prstGeom>
          <a:solidFill>
            <a:srgbClr val="10233A"/>
          </a:solidFill>
          <a:ln/>
        </p:spPr>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A tonne that cannot be declared cannot be sold into the highest-value chains at any price. PLS is building tonnes that can be.</a:t>
            </a:r>
            <a:endParaRPr lang="en-US" sz="15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Carbon intensity is becoming a condition of sale</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1298448"/>
            <a:ext cx="2688336" cy="1810512"/>
          </a:xfrm>
          <a:prstGeom prst="rect">
            <a:avLst/>
          </a:prstGeom>
          <a:solidFill>
            <a:srgbClr val="D6EBE7"/>
          </a:solidFill>
          <a:ln w="9525">
            <a:solidFill>
              <a:srgbClr val="AFD3CC"/>
            </a:solidFill>
            <a:prstDash val="solid"/>
          </a:ln>
        </p:spPr>
      </p:sp>
      <p:sp>
        <p:nvSpPr>
          <p:cNvPr id="18" name="Text 15"/>
          <p:cNvSpPr txBox="1"/>
          <p:nvPr/>
        </p:nvSpPr>
        <p:spPr>
          <a:xfrm>
            <a:off x="557784" y="1408176"/>
            <a:ext cx="274320" cy="256032"/>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1</a:t>
            </a:r>
            <a:endParaRPr lang="en-US" sz="1000" dirty="0"/>
          </a:p>
        </p:txBody>
      </p:sp>
      <p:sp>
        <p:nvSpPr>
          <p:cNvPr id="19" name="Text 16"/>
          <p:cNvSpPr txBox="1"/>
          <p:nvPr/>
        </p:nvSpPr>
        <p:spPr>
          <a:xfrm>
            <a:off x="557784" y="1664208"/>
            <a:ext cx="2395728" cy="457200"/>
          </a:xfrm>
          <a:prstGeom prst="rect">
            <a:avLst/>
          </a:prstGeom>
          <a:noFill/>
          <a:ln/>
        </p:spPr>
        <p:txBody>
          <a:bodyPr wrap="square" lIns="0" tIns="0" rIns="0" bIns="0" rtlCol="0" anchor="t"/>
          <a:lstStyle/>
          <a:p>
            <a:pPr indent="0" marL="0">
              <a:buNone/>
            </a:pPr>
            <a:r>
              <a:rPr lang="en-US" sz="1100" b="1" dirty="0">
                <a:solidFill>
                  <a:srgbClr val="10233A"/>
                </a:solidFill>
                <a:latin typeface="Calibri" pitchFamily="34" charset="0"/>
                <a:ea typeface="Calibri" pitchFamily="34" charset="-122"/>
                <a:cs typeface="Calibri" pitchFamily="34" charset="-120"/>
              </a:rPr>
              <a:t>Electric calcination</a:t>
            </a:r>
            <a:endParaRPr lang="en-US" sz="1100" dirty="0"/>
          </a:p>
        </p:txBody>
      </p:sp>
      <p:sp>
        <p:nvSpPr>
          <p:cNvPr id="20" name="Text 17"/>
          <p:cNvSpPr txBox="1"/>
          <p:nvPr/>
        </p:nvSpPr>
        <p:spPr>
          <a:xfrm>
            <a:off x="557784" y="2139696"/>
            <a:ext cx="2395728" cy="896112"/>
          </a:xfrm>
          <a:prstGeom prst="rect">
            <a:avLst/>
          </a:prstGeom>
          <a:noFill/>
          <a:ln/>
        </p:spPr>
        <p:txBody>
          <a:bodyPr wrap="square" lIns="0" tIns="0" rIns="0" bIns="0" rtlCol="0" anchor="t"/>
          <a:lstStyle/>
          <a:p>
            <a:pPr indent="0" marL="0">
              <a:lnSpc>
                <a:spcPct val="108000"/>
              </a:lnSpc>
              <a:buNone/>
            </a:pPr>
            <a:r>
              <a:rPr lang="en-US" sz="850" dirty="0">
                <a:solidFill>
                  <a:srgbClr val="1B2733"/>
                </a:solidFill>
                <a:latin typeface="Calibri" pitchFamily="34" charset="0"/>
                <a:ea typeface="Calibri" pitchFamily="34" charset="-122"/>
                <a:cs typeface="Calibri" pitchFamily="34" charset="-120"/>
              </a:rPr>
              <a:t>Calix technology, 100% PLS owned. Opened 5 June 2026; first lithium phosphate guided for the September 2026 quarter. Cuts calcination emissions by more than 80%.</a:t>
            </a:r>
            <a:endParaRPr lang="en-US" sz="850" dirty="0"/>
          </a:p>
        </p:txBody>
      </p:sp>
      <p:sp>
        <p:nvSpPr>
          <p:cNvPr id="21" name="Text 18"/>
          <p:cNvSpPr txBox="1"/>
          <p:nvPr/>
        </p:nvSpPr>
        <p:spPr>
          <a:xfrm>
            <a:off x="3099816" y="1984248"/>
            <a:ext cx="192024" cy="365760"/>
          </a:xfrm>
          <a:prstGeom prst="rect">
            <a:avLst/>
          </a:prstGeom>
          <a:noFill/>
          <a:ln/>
        </p:spPr>
        <p:txBody>
          <a:bodyPr wrap="square" lIns="0" tIns="0" rIns="0" bIns="0" rtlCol="0" anchor="ctr"/>
          <a:lstStyle/>
          <a:p>
            <a:pPr algn="ctr" indent="0" marL="0">
              <a:buNone/>
            </a:pPr>
            <a:r>
              <a:rPr lang="en-US" sz="1500" b="1" dirty="0">
                <a:solidFill>
                  <a:srgbClr val="8C9BA9"/>
                </a:solidFill>
                <a:latin typeface="Calibri" pitchFamily="34" charset="0"/>
                <a:ea typeface="Calibri" pitchFamily="34" charset="-122"/>
                <a:cs typeface="Calibri" pitchFamily="34" charset="-120"/>
              </a:rPr>
              <a:t>&gt;</a:t>
            </a:r>
            <a:endParaRPr lang="en-US" sz="1500" dirty="0"/>
          </a:p>
        </p:txBody>
      </p:sp>
      <p:sp>
        <p:nvSpPr>
          <p:cNvPr id="22" name="Shape 19"/>
          <p:cNvSpPr/>
          <p:nvPr/>
        </p:nvSpPr>
        <p:spPr>
          <a:xfrm>
            <a:off x="3291840" y="1298448"/>
            <a:ext cx="2688336" cy="1810512"/>
          </a:xfrm>
          <a:prstGeom prst="rect">
            <a:avLst/>
          </a:prstGeom>
          <a:solidFill>
            <a:srgbClr val="F7F9FB"/>
          </a:solidFill>
          <a:ln w="9525">
            <a:solidFill>
              <a:srgbClr val="D3DCE5"/>
            </a:solidFill>
            <a:prstDash val="solid"/>
          </a:ln>
        </p:spPr>
      </p:sp>
      <p:sp>
        <p:nvSpPr>
          <p:cNvPr id="23" name="Text 20"/>
          <p:cNvSpPr txBox="1"/>
          <p:nvPr/>
        </p:nvSpPr>
        <p:spPr>
          <a:xfrm>
            <a:off x="3438144" y="1408176"/>
            <a:ext cx="274320" cy="256032"/>
          </a:xfrm>
          <a:prstGeom prst="rect">
            <a:avLst/>
          </a:prstGeom>
          <a:noFill/>
          <a:ln/>
        </p:spPr>
        <p:txBody>
          <a:bodyPr wrap="square" lIns="0" tIns="0" rIns="0" bIns="0" rtlCol="0" anchor="ctr"/>
          <a:lstStyle/>
          <a:p>
            <a:pPr indent="0" marL="0">
              <a:buNone/>
            </a:pPr>
            <a:r>
              <a:rPr lang="en-US" sz="1000" b="1" dirty="0">
                <a:solidFill>
                  <a:srgbClr val="1C3A5E"/>
                </a:solidFill>
                <a:latin typeface="Calibri" pitchFamily="34" charset="0"/>
                <a:ea typeface="Calibri" pitchFamily="34" charset="-122"/>
                <a:cs typeface="Calibri" pitchFamily="34" charset="-120"/>
              </a:rPr>
              <a:t>2</a:t>
            </a:r>
            <a:endParaRPr lang="en-US" sz="1000" dirty="0"/>
          </a:p>
        </p:txBody>
      </p:sp>
      <p:sp>
        <p:nvSpPr>
          <p:cNvPr id="24" name="Text 21"/>
          <p:cNvSpPr txBox="1"/>
          <p:nvPr/>
        </p:nvSpPr>
        <p:spPr>
          <a:xfrm>
            <a:off x="3438144" y="1664208"/>
            <a:ext cx="2395728" cy="457200"/>
          </a:xfrm>
          <a:prstGeom prst="rect">
            <a:avLst/>
          </a:prstGeom>
          <a:noFill/>
          <a:ln/>
        </p:spPr>
        <p:txBody>
          <a:bodyPr wrap="square" lIns="0" tIns="0" rIns="0" bIns="0" rtlCol="0" anchor="t"/>
          <a:lstStyle/>
          <a:p>
            <a:pPr indent="0" marL="0">
              <a:buNone/>
            </a:pPr>
            <a:r>
              <a:rPr lang="en-US" sz="1100" b="1" dirty="0">
                <a:solidFill>
                  <a:srgbClr val="10233A"/>
                </a:solidFill>
                <a:latin typeface="Calibri" pitchFamily="34" charset="0"/>
                <a:ea typeface="Calibri" pitchFamily="34" charset="-122"/>
                <a:cs typeface="Calibri" pitchFamily="34" charset="-120"/>
              </a:rPr>
              <a:t>A declarable unit</a:t>
            </a:r>
            <a:endParaRPr lang="en-US" sz="1100" dirty="0"/>
          </a:p>
        </p:txBody>
      </p:sp>
      <p:sp>
        <p:nvSpPr>
          <p:cNvPr id="25" name="Text 22"/>
          <p:cNvSpPr txBox="1"/>
          <p:nvPr/>
        </p:nvSpPr>
        <p:spPr>
          <a:xfrm>
            <a:off x="3438144" y="2139696"/>
            <a:ext cx="2395728" cy="896112"/>
          </a:xfrm>
          <a:prstGeom prst="rect">
            <a:avLst/>
          </a:prstGeom>
          <a:noFill/>
          <a:ln/>
        </p:spPr>
        <p:txBody>
          <a:bodyPr wrap="square" lIns="0" tIns="0" rIns="0" bIns="0" rtlCol="0" anchor="t"/>
          <a:lstStyle/>
          <a:p>
            <a:pPr indent="0" marL="0">
              <a:lnSpc>
                <a:spcPct val="108000"/>
              </a:lnSpc>
              <a:buNone/>
            </a:pPr>
            <a:r>
              <a:rPr lang="en-US" sz="850" dirty="0">
                <a:solidFill>
                  <a:srgbClr val="1B2733"/>
                </a:solidFill>
                <a:latin typeface="Calibri" pitchFamily="34" charset="0"/>
                <a:ea typeface="Calibri" pitchFamily="34" charset="-122"/>
                <a:cs typeface="Calibri" pitchFamily="34" charset="-120"/>
              </a:rPr>
              <a:t>Calcination is the most energy-intensive step in the chain. Removing its emissions is what makes a low carbon footprint declarable rather than merely claimed.</a:t>
            </a:r>
            <a:endParaRPr lang="en-US" sz="850" dirty="0"/>
          </a:p>
        </p:txBody>
      </p:sp>
      <p:sp>
        <p:nvSpPr>
          <p:cNvPr id="26" name="Text 23"/>
          <p:cNvSpPr txBox="1"/>
          <p:nvPr/>
        </p:nvSpPr>
        <p:spPr>
          <a:xfrm>
            <a:off x="5980176" y="1984248"/>
            <a:ext cx="192024" cy="365760"/>
          </a:xfrm>
          <a:prstGeom prst="rect">
            <a:avLst/>
          </a:prstGeom>
          <a:noFill/>
          <a:ln/>
        </p:spPr>
        <p:txBody>
          <a:bodyPr wrap="square" lIns="0" tIns="0" rIns="0" bIns="0" rtlCol="0" anchor="ctr"/>
          <a:lstStyle/>
          <a:p>
            <a:pPr algn="ctr" indent="0" marL="0">
              <a:buNone/>
            </a:pPr>
            <a:r>
              <a:rPr lang="en-US" sz="1500" b="1" dirty="0">
                <a:solidFill>
                  <a:srgbClr val="8C9BA9"/>
                </a:solidFill>
                <a:latin typeface="Calibri" pitchFamily="34" charset="0"/>
                <a:ea typeface="Calibri" pitchFamily="34" charset="-122"/>
                <a:cs typeface="Calibri" pitchFamily="34" charset="-120"/>
              </a:rPr>
              <a:t>&gt;</a:t>
            </a:r>
            <a:endParaRPr lang="en-US" sz="1500" dirty="0"/>
          </a:p>
        </p:txBody>
      </p:sp>
      <p:sp>
        <p:nvSpPr>
          <p:cNvPr id="27" name="Shape 24"/>
          <p:cNvSpPr/>
          <p:nvPr/>
        </p:nvSpPr>
        <p:spPr>
          <a:xfrm>
            <a:off x="6172200" y="1298448"/>
            <a:ext cx="2688336" cy="1810512"/>
          </a:xfrm>
          <a:prstGeom prst="rect">
            <a:avLst/>
          </a:prstGeom>
          <a:solidFill>
            <a:srgbClr val="F7F9FB"/>
          </a:solidFill>
          <a:ln w="9525">
            <a:solidFill>
              <a:srgbClr val="D3DCE5"/>
            </a:solidFill>
            <a:prstDash val="solid"/>
          </a:ln>
        </p:spPr>
      </p:sp>
      <p:sp>
        <p:nvSpPr>
          <p:cNvPr id="28" name="Text 25"/>
          <p:cNvSpPr txBox="1"/>
          <p:nvPr/>
        </p:nvSpPr>
        <p:spPr>
          <a:xfrm>
            <a:off x="6318504" y="1408176"/>
            <a:ext cx="274320" cy="256032"/>
          </a:xfrm>
          <a:prstGeom prst="rect">
            <a:avLst/>
          </a:prstGeom>
          <a:noFill/>
          <a:ln/>
        </p:spPr>
        <p:txBody>
          <a:bodyPr wrap="square" lIns="0" tIns="0" rIns="0" bIns="0" rtlCol="0" anchor="ctr"/>
          <a:lstStyle/>
          <a:p>
            <a:pPr indent="0" marL="0">
              <a:buNone/>
            </a:pPr>
            <a:r>
              <a:rPr lang="en-US" sz="1000" b="1" dirty="0">
                <a:solidFill>
                  <a:srgbClr val="1C3A5E"/>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6318504" y="1664208"/>
            <a:ext cx="2395728" cy="457200"/>
          </a:xfrm>
          <a:prstGeom prst="rect">
            <a:avLst/>
          </a:prstGeom>
          <a:noFill/>
          <a:ln/>
        </p:spPr>
        <p:txBody>
          <a:bodyPr wrap="square" lIns="0" tIns="0" rIns="0" bIns="0" rtlCol="0" anchor="t"/>
          <a:lstStyle/>
          <a:p>
            <a:pPr indent="0" marL="0">
              <a:buNone/>
            </a:pPr>
            <a:r>
              <a:rPr lang="en-US" sz="1100" b="1" dirty="0">
                <a:solidFill>
                  <a:srgbClr val="10233A"/>
                </a:solidFill>
                <a:latin typeface="Calibri" pitchFamily="34" charset="0"/>
                <a:ea typeface="Calibri" pitchFamily="34" charset="-122"/>
                <a:cs typeface="Calibri" pitchFamily="34" charset="-120"/>
              </a:rPr>
              <a:t>Qualification</a:t>
            </a:r>
            <a:endParaRPr lang="en-US" sz="1100" dirty="0"/>
          </a:p>
        </p:txBody>
      </p:sp>
      <p:sp>
        <p:nvSpPr>
          <p:cNvPr id="30" name="Text 27"/>
          <p:cNvSpPr txBox="1"/>
          <p:nvPr/>
        </p:nvSpPr>
        <p:spPr>
          <a:xfrm>
            <a:off x="6318504" y="2139696"/>
            <a:ext cx="2395728" cy="896112"/>
          </a:xfrm>
          <a:prstGeom prst="rect">
            <a:avLst/>
          </a:prstGeom>
          <a:noFill/>
          <a:ln/>
        </p:spPr>
        <p:txBody>
          <a:bodyPr wrap="square" lIns="0" tIns="0" rIns="0" bIns="0" rtlCol="0" anchor="t"/>
          <a:lstStyle/>
          <a:p>
            <a:pPr indent="0" marL="0">
              <a:lnSpc>
                <a:spcPct val="108000"/>
              </a:lnSpc>
              <a:buNone/>
            </a:pPr>
            <a:r>
              <a:rPr lang="en-US" sz="850" dirty="0">
                <a:solidFill>
                  <a:srgbClr val="1B2733"/>
                </a:solidFill>
                <a:latin typeface="Calibri" pitchFamily="34" charset="0"/>
                <a:ea typeface="Calibri" pitchFamily="34" charset="-122"/>
                <a:cs typeface="Calibri" pitchFamily="34" charset="-120"/>
              </a:rPr>
              <a:t>EU Battery Regulation requires a carbon footprint declaration and, from 2027, a battery passport. US foreign-entity-of-concern rules restrict China-linked chains. Korean and Japanese cell makers qualify suppliers on provenance.</a:t>
            </a:r>
            <a:endParaRPr lang="en-US" sz="850" dirty="0"/>
          </a:p>
        </p:txBody>
      </p:sp>
      <p:sp>
        <p:nvSpPr>
          <p:cNvPr id="31" name="Text 28"/>
          <p:cNvSpPr txBox="1"/>
          <p:nvPr/>
        </p:nvSpPr>
        <p:spPr>
          <a:xfrm>
            <a:off x="8860536" y="1984248"/>
            <a:ext cx="192024" cy="365760"/>
          </a:xfrm>
          <a:prstGeom prst="rect">
            <a:avLst/>
          </a:prstGeom>
          <a:noFill/>
          <a:ln/>
        </p:spPr>
        <p:txBody>
          <a:bodyPr wrap="square" lIns="0" tIns="0" rIns="0" bIns="0" rtlCol="0" anchor="ctr"/>
          <a:lstStyle/>
          <a:p>
            <a:pPr algn="ctr" indent="0" marL="0">
              <a:buNone/>
            </a:pPr>
            <a:r>
              <a:rPr lang="en-US" sz="1500" b="1" dirty="0">
                <a:solidFill>
                  <a:srgbClr val="8C9BA9"/>
                </a:solidFill>
                <a:latin typeface="Calibri" pitchFamily="34" charset="0"/>
                <a:ea typeface="Calibri" pitchFamily="34" charset="-122"/>
                <a:cs typeface="Calibri" pitchFamily="34" charset="-120"/>
              </a:rPr>
              <a:t>&gt;</a:t>
            </a:r>
            <a:endParaRPr lang="en-US" sz="1500" dirty="0"/>
          </a:p>
        </p:txBody>
      </p:sp>
      <p:sp>
        <p:nvSpPr>
          <p:cNvPr id="32" name="Shape 29"/>
          <p:cNvSpPr/>
          <p:nvPr/>
        </p:nvSpPr>
        <p:spPr>
          <a:xfrm>
            <a:off x="9052560" y="1298448"/>
            <a:ext cx="2688336" cy="1810512"/>
          </a:xfrm>
          <a:prstGeom prst="rect">
            <a:avLst/>
          </a:prstGeom>
          <a:solidFill>
            <a:srgbClr val="D6EBE7"/>
          </a:solidFill>
          <a:ln w="9525">
            <a:solidFill>
              <a:srgbClr val="AFD3CC"/>
            </a:solidFill>
            <a:prstDash val="solid"/>
          </a:ln>
        </p:spPr>
      </p:sp>
      <p:sp>
        <p:nvSpPr>
          <p:cNvPr id="33" name="Text 30"/>
          <p:cNvSpPr txBox="1"/>
          <p:nvPr/>
        </p:nvSpPr>
        <p:spPr>
          <a:xfrm>
            <a:off x="9198864" y="1408176"/>
            <a:ext cx="274320" cy="256032"/>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4</a:t>
            </a:r>
            <a:endParaRPr lang="en-US" sz="1000" dirty="0"/>
          </a:p>
        </p:txBody>
      </p:sp>
      <p:sp>
        <p:nvSpPr>
          <p:cNvPr id="34" name="Text 31"/>
          <p:cNvSpPr txBox="1"/>
          <p:nvPr/>
        </p:nvSpPr>
        <p:spPr>
          <a:xfrm>
            <a:off x="9198864" y="1664208"/>
            <a:ext cx="2395728" cy="457200"/>
          </a:xfrm>
          <a:prstGeom prst="rect">
            <a:avLst/>
          </a:prstGeom>
          <a:noFill/>
          <a:ln/>
        </p:spPr>
        <p:txBody>
          <a:bodyPr wrap="square" lIns="0" tIns="0" rIns="0" bIns="0" rtlCol="0" anchor="t"/>
          <a:lstStyle/>
          <a:p>
            <a:pPr indent="0" marL="0">
              <a:buNone/>
            </a:pPr>
            <a:r>
              <a:rPr lang="en-US" sz="1100" b="1" dirty="0">
                <a:solidFill>
                  <a:srgbClr val="10233A"/>
                </a:solidFill>
                <a:latin typeface="Calibri" pitchFamily="34" charset="0"/>
                <a:ea typeface="Calibri" pitchFamily="34" charset="-122"/>
                <a:cs typeface="Calibri" pitchFamily="34" charset="-120"/>
              </a:rPr>
              <a:t>A market others cannot enter</a:t>
            </a:r>
            <a:endParaRPr lang="en-US" sz="1100" dirty="0"/>
          </a:p>
        </p:txBody>
      </p:sp>
      <p:sp>
        <p:nvSpPr>
          <p:cNvPr id="35" name="Text 32"/>
          <p:cNvSpPr txBox="1"/>
          <p:nvPr/>
        </p:nvSpPr>
        <p:spPr>
          <a:xfrm>
            <a:off x="9198864" y="2139696"/>
            <a:ext cx="2395728" cy="896112"/>
          </a:xfrm>
          <a:prstGeom prst="rect">
            <a:avLst/>
          </a:prstGeom>
          <a:noFill/>
          <a:ln/>
        </p:spPr>
        <p:txBody>
          <a:bodyPr wrap="square" lIns="0" tIns="0" rIns="0" bIns="0" rtlCol="0" anchor="t"/>
          <a:lstStyle/>
          <a:p>
            <a:pPr indent="0" marL="0">
              <a:lnSpc>
                <a:spcPct val="108000"/>
              </a:lnSpc>
              <a:buNone/>
            </a:pPr>
            <a:r>
              <a:rPr lang="en-US" sz="850" dirty="0">
                <a:solidFill>
                  <a:srgbClr val="1B2733"/>
                </a:solidFill>
                <a:latin typeface="Calibri" pitchFamily="34" charset="0"/>
                <a:ea typeface="Calibri" pitchFamily="34" charset="-122"/>
                <a:cs typeface="Calibri" pitchFamily="34" charset="-120"/>
              </a:rPr>
              <a:t>PLS supplies an 18%-owned Korean hydroxide joint venture at Gwangyang, with an option to lift that stake to 30% - a non-China conversion route into the customers who need one.</a:t>
            </a:r>
            <a:endParaRPr lang="en-US" sz="850" dirty="0"/>
          </a:p>
        </p:txBody>
      </p:sp>
      <p:sp>
        <p:nvSpPr>
          <p:cNvPr id="36" name="Shape 33"/>
          <p:cNvSpPr/>
          <p:nvPr/>
        </p:nvSpPr>
        <p:spPr>
          <a:xfrm>
            <a:off x="411480" y="3273552"/>
            <a:ext cx="5532120" cy="1700784"/>
          </a:xfrm>
          <a:prstGeom prst="rect">
            <a:avLst/>
          </a:prstGeom>
          <a:solidFill>
            <a:srgbClr val="FBEBD9"/>
          </a:solidFill>
          <a:ln w="9525">
            <a:solidFill>
              <a:srgbClr val="E8C9A3"/>
            </a:solidFill>
            <a:prstDash val="solid"/>
          </a:ln>
        </p:spPr>
      </p:sp>
      <p:sp>
        <p:nvSpPr>
          <p:cNvPr id="37" name="Text 34"/>
          <p:cNvSpPr txBox="1"/>
          <p:nvPr/>
        </p:nvSpPr>
        <p:spPr>
          <a:xfrm>
            <a:off x="576072" y="3401568"/>
            <a:ext cx="520293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Why we still carry this at zero in the target</a:t>
            </a:r>
            <a:endParaRPr lang="en-US" sz="1150" dirty="0"/>
          </a:p>
        </p:txBody>
      </p:sp>
      <p:sp>
        <p:nvSpPr>
          <p:cNvPr id="38" name="Text 35"/>
          <p:cNvSpPr txBox="1"/>
          <p:nvPr/>
        </p:nvSpPr>
        <p:spPr>
          <a:xfrm>
            <a:off x="576072" y="3730752"/>
            <a:ext cx="5202936" cy="1152144"/>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The mid-stream plant has not produced yet. The joint venture is still ramping. And we searched PLS's disclosed contracts for a carbon-linked price premium and could not find one. Sizing a prize is not the same as booking it, so none of this is in the A$6.14 target. It is quantified on the next page and held outside.</a:t>
            </a:r>
            <a:endParaRPr lang="en-US" sz="940" dirty="0"/>
          </a:p>
        </p:txBody>
      </p:sp>
      <p:sp>
        <p:nvSpPr>
          <p:cNvPr id="39" name="Shape 36"/>
          <p:cNvSpPr/>
          <p:nvPr/>
        </p:nvSpPr>
        <p:spPr>
          <a:xfrm>
            <a:off x="6153912" y="3273552"/>
            <a:ext cx="5632704" cy="1700784"/>
          </a:xfrm>
          <a:prstGeom prst="rect">
            <a:avLst/>
          </a:prstGeom>
          <a:solidFill>
            <a:srgbClr val="D6EBE7"/>
          </a:solidFill>
          <a:ln w="9525">
            <a:solidFill>
              <a:srgbClr val="AFD3CC"/>
            </a:solidFill>
            <a:prstDash val="solid"/>
          </a:ln>
        </p:spPr>
      </p:sp>
      <p:sp>
        <p:nvSpPr>
          <p:cNvPr id="40" name="Text 37"/>
          <p:cNvSpPr txBox="1"/>
          <p:nvPr/>
        </p:nvSpPr>
        <p:spPr>
          <a:xfrm>
            <a:off x="6318504" y="3401568"/>
            <a:ext cx="5303520"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Why it is still the thesis</a:t>
            </a:r>
            <a:endParaRPr lang="en-US" sz="1150" dirty="0"/>
          </a:p>
        </p:txBody>
      </p:sp>
      <p:sp>
        <p:nvSpPr>
          <p:cNvPr id="41" name="Text 38"/>
          <p:cNvSpPr txBox="1"/>
          <p:nvPr/>
        </p:nvSpPr>
        <p:spPr>
          <a:xfrm>
            <a:off x="6318504" y="3730752"/>
            <a:ext cx="5303520" cy="1152144"/>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Every other lever in this deck lowers a cost that a competitor can also lower. This one changes which customers PLS is allowed to serve. That is Porter and Kramer's first level, it is the only lever on offer across these six companies that creates a market rather than defends a margin, and it is the reason we are recommending a lithium producer rather than a diversified major.</a:t>
            </a:r>
            <a:endParaRPr lang="en-US" sz="940" dirty="0"/>
          </a:p>
        </p:txBody>
      </p:sp>
      <p:sp>
        <p:nvSpPr>
          <p:cNvPr id="42" name="Text 39"/>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and Calix announcements (plant opened 5 June 2026, ARENA-supported); POSCO Pilbara Lithium Solution disclosures; EU Regulation 2023/1542 on batteries and waste batteries; US Inflation Reduction Act foreign-entity-of-concern provisions. The &gt;80% figure is the reduction in calcination emissions specifically, not in PLS's total footprint.</a:t>
            </a:r>
            <a:endParaRPr lang="en-US" sz="720" dirty="0"/>
          </a:p>
        </p:txBody>
      </p:sp>
      <p:sp>
        <p:nvSpPr>
          <p:cNvPr id="43" name="Text 40"/>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Text 2"/>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5" name="Text 3"/>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6" name="Shape 4"/>
          <p:cNvSpPr/>
          <p:nvPr/>
        </p:nvSpPr>
        <p:spPr>
          <a:xfrm>
            <a:off x="6130138" y="6400800"/>
            <a:ext cx="1335024" cy="274320"/>
          </a:xfrm>
          <a:prstGeom prst="roundRect">
            <a:avLst>
              <a:gd name="adj" fmla="val 20000"/>
            </a:avLst>
          </a:prstGeom>
          <a:solidFill>
            <a:srgbClr val="10233A"/>
          </a:solidFill>
          <a:ln/>
        </p:spPr>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These two levers are worth about A$48/t. They are also things a good operator would do without an ESG label, so we do not claim them as a differentiator.</a:t>
            </a:r>
            <a:endParaRPr lang="en-US" sz="14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Productivity: real money, honestly labelled</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1298448"/>
            <a:ext cx="5532120" cy="2103120"/>
          </a:xfrm>
          <a:prstGeom prst="rect">
            <a:avLst/>
          </a:prstGeom>
          <a:solidFill>
            <a:srgbClr val="F7F9FB"/>
          </a:solidFill>
          <a:ln w="9525">
            <a:solidFill>
              <a:srgbClr val="D3DCE5"/>
            </a:solidFill>
            <a:prstDash val="solid"/>
          </a:ln>
        </p:spPr>
      </p:sp>
      <p:sp>
        <p:nvSpPr>
          <p:cNvPr id="18" name="Text 15"/>
          <p:cNvSpPr txBox="1"/>
          <p:nvPr/>
        </p:nvSpPr>
        <p:spPr>
          <a:xfrm>
            <a:off x="576072" y="1426464"/>
            <a:ext cx="520293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Lever 1  |  Sensor-based ore sorting</a:t>
            </a:r>
            <a:endParaRPr lang="en-US" sz="1150" dirty="0"/>
          </a:p>
        </p:txBody>
      </p:sp>
      <p:sp>
        <p:nvSpPr>
          <p:cNvPr id="19" name="Text 16"/>
          <p:cNvSpPr txBox="1"/>
          <p:nvPr/>
        </p:nvSpPr>
        <p:spPr>
          <a:xfrm>
            <a:off x="576072" y="1755648"/>
            <a:ext cx="5202936" cy="1554480"/>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The A$103m P680 project installed a TOMRA sensor-based sorter, described by the supplier as the largest in lithium at over 1,000 tonnes per hour, commissioned in August 2024. It rejects barren rock before the crushing and flotation stages, so fewer tonnes are milled for the same lithium output.</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How we get to A$30/t.  FY26 unit costs fell A$58/t, from A$627 to A$569. Volumes rose 17% over the same period, so roughly half of that fall is fixed-cost dilution on higher throughput. We attribute the remaining half - about A$29/t, which we round to A$30/t - to ore sorting and the associated processing improvements. This is our estimate, not a company disclosure.</a:t>
            </a:r>
            <a:endParaRPr lang="en-US" sz="900" dirty="0"/>
          </a:p>
        </p:txBody>
      </p:sp>
      <p:sp>
        <p:nvSpPr>
          <p:cNvPr id="20" name="Shape 17"/>
          <p:cNvSpPr/>
          <p:nvPr/>
        </p:nvSpPr>
        <p:spPr>
          <a:xfrm>
            <a:off x="6153912" y="1298448"/>
            <a:ext cx="5632704" cy="2103120"/>
          </a:xfrm>
          <a:prstGeom prst="rect">
            <a:avLst/>
          </a:prstGeom>
          <a:solidFill>
            <a:srgbClr val="F7F9FB"/>
          </a:solidFill>
          <a:ln w="9525">
            <a:solidFill>
              <a:srgbClr val="D3DCE5"/>
            </a:solidFill>
            <a:prstDash val="solid"/>
          </a:ln>
        </p:spPr>
      </p:sp>
      <p:sp>
        <p:nvSpPr>
          <p:cNvPr id="21" name="Text 18"/>
          <p:cNvSpPr txBox="1"/>
          <p:nvPr/>
        </p:nvSpPr>
        <p:spPr>
          <a:xfrm>
            <a:off x="6318504" y="1426464"/>
            <a:ext cx="5303520"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Lever 2  |  Power</a:t>
            </a:r>
            <a:endParaRPr lang="en-US" sz="1150" dirty="0"/>
          </a:p>
        </p:txBody>
      </p:sp>
      <p:sp>
        <p:nvSpPr>
          <p:cNvPr id="22" name="Text 19"/>
          <p:cNvSpPr txBox="1"/>
          <p:nvPr/>
        </p:nvSpPr>
        <p:spPr>
          <a:xfrm>
            <a:off x="6318504" y="1755648"/>
            <a:ext cx="5303520" cy="1554480"/>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Pilgangoora runs on its own generation rather than the state grid. Eight new gas gensets and LNG storage have displaced diesel, with battery storage planned to firm future solar. The company targets roughly 48% lower power emissions intensity by 2027, and up to 80% by 2030 if regional wind becomes available.</a:t>
            </a:r>
            <a:endParaRPr lang="en-US" sz="920" dirty="0"/>
          </a:p>
          <a:p>
            <a:pPr indent="0" marL="0">
              <a:lnSpc>
                <a:spcPct val="105000"/>
              </a:lnSpc>
              <a:buNone/>
            </a:pPr>
            <a:endParaRPr lang="en-US" sz="920" dirty="0"/>
          </a:p>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How we get to A$18/t.  Power is typically 15-20% of hard-rock processing cost, so call it about A$95/t of the A$569/t base. A diesel-to-gas-and-solar switch of the scale described would cut that by roughly a fifth, or about A$19/t, which we round down to A$18/t. Again, our estimate. PLS does not disclose a power cost per tonne.</a:t>
            </a:r>
            <a:endParaRPr lang="en-US" sz="920" dirty="0"/>
          </a:p>
        </p:txBody>
      </p:sp>
      <p:sp>
        <p:nvSpPr>
          <p:cNvPr id="23" name="Shape 20"/>
          <p:cNvSpPr/>
          <p:nvPr/>
        </p:nvSpPr>
        <p:spPr>
          <a:xfrm>
            <a:off x="411480" y="3566160"/>
            <a:ext cx="3931920" cy="292608"/>
          </a:xfrm>
          <a:prstGeom prst="rect">
            <a:avLst/>
          </a:prstGeom>
          <a:solidFill>
            <a:srgbClr val="10233A"/>
          </a:solidFill>
          <a:ln/>
        </p:spPr>
      </p:sp>
      <p:sp>
        <p:nvSpPr>
          <p:cNvPr id="24" name="Text 21"/>
          <p:cNvSpPr txBox="1"/>
          <p:nvPr/>
        </p:nvSpPr>
        <p:spPr>
          <a:xfrm>
            <a:off x="475488" y="3566160"/>
            <a:ext cx="3803904" cy="292608"/>
          </a:xfrm>
          <a:prstGeom prst="rect">
            <a:avLst/>
          </a:prstGeom>
          <a:noFill/>
          <a:ln/>
        </p:spPr>
        <p:txBody>
          <a:bodyPr wrap="square" lIns="0" tIns="0" rIns="0" bIns="0" rtlCol="0" anchor="ctr"/>
          <a:lstStyle/>
          <a:p>
            <a:pPr algn="l" indent="0" marL="0">
              <a:buNone/>
            </a:pPr>
            <a:endParaRPr lang="en-US" sz="840" dirty="0"/>
          </a:p>
        </p:txBody>
      </p:sp>
      <p:sp>
        <p:nvSpPr>
          <p:cNvPr id="25" name="Shape 22"/>
          <p:cNvSpPr/>
          <p:nvPr/>
        </p:nvSpPr>
        <p:spPr>
          <a:xfrm>
            <a:off x="4343400" y="3566160"/>
            <a:ext cx="1143000" cy="292608"/>
          </a:xfrm>
          <a:prstGeom prst="rect">
            <a:avLst/>
          </a:prstGeom>
          <a:solidFill>
            <a:srgbClr val="10233A"/>
          </a:solidFill>
          <a:ln/>
        </p:spPr>
      </p:sp>
      <p:sp>
        <p:nvSpPr>
          <p:cNvPr id="26" name="Text 23"/>
          <p:cNvSpPr txBox="1"/>
          <p:nvPr/>
        </p:nvSpPr>
        <p:spPr>
          <a:xfrm>
            <a:off x="4407408" y="3566160"/>
            <a:ext cx="1014984" cy="292608"/>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A$/t</a:t>
            </a:r>
            <a:endParaRPr lang="en-US" sz="840" dirty="0"/>
          </a:p>
        </p:txBody>
      </p:sp>
      <p:sp>
        <p:nvSpPr>
          <p:cNvPr id="27" name="Shape 24"/>
          <p:cNvSpPr/>
          <p:nvPr/>
        </p:nvSpPr>
        <p:spPr>
          <a:xfrm>
            <a:off x="5486400" y="3566160"/>
            <a:ext cx="2788920" cy="292608"/>
          </a:xfrm>
          <a:prstGeom prst="rect">
            <a:avLst/>
          </a:prstGeom>
          <a:solidFill>
            <a:srgbClr val="10233A"/>
          </a:solidFill>
          <a:ln/>
        </p:spPr>
      </p:sp>
      <p:sp>
        <p:nvSpPr>
          <p:cNvPr id="28" name="Text 25"/>
          <p:cNvSpPr txBox="1"/>
          <p:nvPr/>
        </p:nvSpPr>
        <p:spPr>
          <a:xfrm>
            <a:off x="5550408" y="3566160"/>
            <a:ext cx="2660904" cy="292608"/>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PV at A$20.5m per A$1/t (A$m)</a:t>
            </a:r>
            <a:endParaRPr lang="en-US" sz="840" dirty="0"/>
          </a:p>
        </p:txBody>
      </p:sp>
      <p:sp>
        <p:nvSpPr>
          <p:cNvPr id="29" name="Shape 26"/>
          <p:cNvSpPr/>
          <p:nvPr/>
        </p:nvSpPr>
        <p:spPr>
          <a:xfrm>
            <a:off x="8275320" y="3566160"/>
            <a:ext cx="1188720" cy="292608"/>
          </a:xfrm>
          <a:prstGeom prst="rect">
            <a:avLst/>
          </a:prstGeom>
          <a:solidFill>
            <a:srgbClr val="10233A"/>
          </a:solidFill>
          <a:ln/>
        </p:spPr>
      </p:sp>
      <p:sp>
        <p:nvSpPr>
          <p:cNvPr id="30" name="Text 27"/>
          <p:cNvSpPr txBox="1"/>
          <p:nvPr/>
        </p:nvSpPr>
        <p:spPr>
          <a:xfrm>
            <a:off x="8339328" y="3566160"/>
            <a:ext cx="1060704" cy="292608"/>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A$/share</a:t>
            </a:r>
            <a:endParaRPr lang="en-US" sz="840" dirty="0"/>
          </a:p>
        </p:txBody>
      </p:sp>
      <p:sp>
        <p:nvSpPr>
          <p:cNvPr id="31" name="Shape 28"/>
          <p:cNvSpPr/>
          <p:nvPr/>
        </p:nvSpPr>
        <p:spPr>
          <a:xfrm>
            <a:off x="9464040" y="3566160"/>
            <a:ext cx="2322576" cy="292608"/>
          </a:xfrm>
          <a:prstGeom prst="rect">
            <a:avLst/>
          </a:prstGeom>
          <a:solidFill>
            <a:srgbClr val="10233A"/>
          </a:solidFill>
          <a:ln/>
        </p:spPr>
      </p:sp>
      <p:sp>
        <p:nvSpPr>
          <p:cNvPr id="32" name="Text 29"/>
          <p:cNvSpPr txBox="1"/>
          <p:nvPr/>
        </p:nvSpPr>
        <p:spPr>
          <a:xfrm>
            <a:off x="9528048" y="3566160"/>
            <a:ext cx="2194560" cy="292608"/>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Evidence</a:t>
            </a:r>
            <a:endParaRPr lang="en-US" sz="840" dirty="0"/>
          </a:p>
        </p:txBody>
      </p:sp>
      <p:sp>
        <p:nvSpPr>
          <p:cNvPr id="33" name="Shape 30"/>
          <p:cNvSpPr/>
          <p:nvPr/>
        </p:nvSpPr>
        <p:spPr>
          <a:xfrm>
            <a:off x="411480" y="3858768"/>
            <a:ext cx="3931920" cy="274320"/>
          </a:xfrm>
          <a:prstGeom prst="rect">
            <a:avLst/>
          </a:prstGeom>
          <a:solidFill>
            <a:srgbClr val="FFFFFF"/>
          </a:solidFill>
          <a:ln w="6350">
            <a:solidFill>
              <a:srgbClr val="D3DCE5"/>
            </a:solidFill>
            <a:prstDash val="solid"/>
          </a:ln>
        </p:spPr>
      </p:sp>
      <p:sp>
        <p:nvSpPr>
          <p:cNvPr id="34" name="Text 31"/>
          <p:cNvSpPr txBox="1"/>
          <p:nvPr/>
        </p:nvSpPr>
        <p:spPr>
          <a:xfrm>
            <a:off x="475488" y="3858768"/>
            <a:ext cx="3803904" cy="274320"/>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Sensor-based ore sorting</a:t>
            </a:r>
            <a:endParaRPr lang="en-US" sz="900" dirty="0"/>
          </a:p>
        </p:txBody>
      </p:sp>
      <p:sp>
        <p:nvSpPr>
          <p:cNvPr id="35" name="Shape 32"/>
          <p:cNvSpPr/>
          <p:nvPr/>
        </p:nvSpPr>
        <p:spPr>
          <a:xfrm>
            <a:off x="4343400" y="3858768"/>
            <a:ext cx="1143000" cy="274320"/>
          </a:xfrm>
          <a:prstGeom prst="rect">
            <a:avLst/>
          </a:prstGeom>
          <a:solidFill>
            <a:srgbClr val="FFFFFF"/>
          </a:solidFill>
          <a:ln w="6350">
            <a:solidFill>
              <a:srgbClr val="D3DCE5"/>
            </a:solidFill>
            <a:prstDash val="solid"/>
          </a:ln>
        </p:spPr>
      </p:sp>
      <p:sp>
        <p:nvSpPr>
          <p:cNvPr id="36" name="Text 33"/>
          <p:cNvSpPr txBox="1"/>
          <p:nvPr/>
        </p:nvSpPr>
        <p:spPr>
          <a:xfrm>
            <a:off x="4407408" y="3858768"/>
            <a:ext cx="1014984" cy="274320"/>
          </a:xfrm>
          <a:prstGeom prst="rect">
            <a:avLst/>
          </a:prstGeom>
          <a:noFill/>
          <a:ln/>
        </p:spPr>
        <p:txBody>
          <a:bodyPr wrap="square" lIns="0" tIns="0" rIns="0" bIns="0" rtlCol="0" anchor="ctr"/>
          <a:lstStyle/>
          <a:p>
            <a:pPr algn="ctr" indent="0" marL="0">
              <a:buNone/>
            </a:pPr>
            <a:r>
              <a:rPr lang="en-US" sz="900" dirty="0">
                <a:solidFill>
                  <a:srgbClr val="1B2733"/>
                </a:solidFill>
                <a:latin typeface="Calibri" pitchFamily="34" charset="0"/>
                <a:ea typeface="Calibri" pitchFamily="34" charset="-122"/>
                <a:cs typeface="Calibri" pitchFamily="34" charset="-120"/>
              </a:rPr>
              <a:t>30</a:t>
            </a:r>
            <a:endParaRPr lang="en-US" sz="900" dirty="0"/>
          </a:p>
        </p:txBody>
      </p:sp>
      <p:sp>
        <p:nvSpPr>
          <p:cNvPr id="37" name="Shape 34"/>
          <p:cNvSpPr/>
          <p:nvPr/>
        </p:nvSpPr>
        <p:spPr>
          <a:xfrm>
            <a:off x="5486400" y="3858768"/>
            <a:ext cx="2788920" cy="274320"/>
          </a:xfrm>
          <a:prstGeom prst="rect">
            <a:avLst/>
          </a:prstGeom>
          <a:solidFill>
            <a:srgbClr val="FFFFFF"/>
          </a:solidFill>
          <a:ln w="6350">
            <a:solidFill>
              <a:srgbClr val="D3DCE5"/>
            </a:solidFill>
            <a:prstDash val="solid"/>
          </a:ln>
        </p:spPr>
      </p:sp>
      <p:sp>
        <p:nvSpPr>
          <p:cNvPr id="38" name="Text 35"/>
          <p:cNvSpPr txBox="1"/>
          <p:nvPr/>
        </p:nvSpPr>
        <p:spPr>
          <a:xfrm>
            <a:off x="5550408" y="3858768"/>
            <a:ext cx="2660904" cy="274320"/>
          </a:xfrm>
          <a:prstGeom prst="rect">
            <a:avLst/>
          </a:prstGeom>
          <a:noFill/>
          <a:ln/>
        </p:spPr>
        <p:txBody>
          <a:bodyPr wrap="square" lIns="0" tIns="0" rIns="0" bIns="0" rtlCol="0" anchor="ctr"/>
          <a:lstStyle/>
          <a:p>
            <a:pPr algn="ctr" indent="0" marL="0">
              <a:buNone/>
            </a:pPr>
            <a:r>
              <a:rPr lang="en-US" sz="900" dirty="0">
                <a:solidFill>
                  <a:srgbClr val="1B2733"/>
                </a:solidFill>
                <a:latin typeface="Calibri" pitchFamily="34" charset="0"/>
                <a:ea typeface="Calibri" pitchFamily="34" charset="-122"/>
                <a:cs typeface="Calibri" pitchFamily="34" charset="-120"/>
              </a:rPr>
              <a:t>614</a:t>
            </a:r>
            <a:endParaRPr lang="en-US" sz="900" dirty="0"/>
          </a:p>
        </p:txBody>
      </p:sp>
      <p:sp>
        <p:nvSpPr>
          <p:cNvPr id="39" name="Shape 36"/>
          <p:cNvSpPr/>
          <p:nvPr/>
        </p:nvSpPr>
        <p:spPr>
          <a:xfrm>
            <a:off x="8275320" y="3858768"/>
            <a:ext cx="1188720" cy="274320"/>
          </a:xfrm>
          <a:prstGeom prst="rect">
            <a:avLst/>
          </a:prstGeom>
          <a:solidFill>
            <a:srgbClr val="FFFFFF"/>
          </a:solidFill>
          <a:ln w="6350">
            <a:solidFill>
              <a:srgbClr val="D3DCE5"/>
            </a:solidFill>
            <a:prstDash val="solid"/>
          </a:ln>
        </p:spPr>
      </p:sp>
      <p:sp>
        <p:nvSpPr>
          <p:cNvPr id="40" name="Text 37"/>
          <p:cNvSpPr txBox="1"/>
          <p:nvPr/>
        </p:nvSpPr>
        <p:spPr>
          <a:xfrm>
            <a:off x="8339328" y="3858768"/>
            <a:ext cx="1060704" cy="274320"/>
          </a:xfrm>
          <a:prstGeom prst="rect">
            <a:avLst/>
          </a:prstGeom>
          <a:noFill/>
          <a:ln/>
        </p:spPr>
        <p:txBody>
          <a:bodyPr wrap="square" lIns="0" tIns="0" rIns="0" bIns="0" rtlCol="0" anchor="ctr"/>
          <a:lstStyle/>
          <a:p>
            <a:pPr algn="ctr" indent="0" marL="0">
              <a:buNone/>
            </a:pPr>
            <a:r>
              <a:rPr lang="en-US" sz="900" dirty="0">
                <a:solidFill>
                  <a:srgbClr val="1B2733"/>
                </a:solidFill>
                <a:latin typeface="Calibri" pitchFamily="34" charset="0"/>
                <a:ea typeface="Calibri" pitchFamily="34" charset="-122"/>
                <a:cs typeface="Calibri" pitchFamily="34" charset="-120"/>
              </a:rPr>
              <a:t>0.19</a:t>
            </a:r>
            <a:endParaRPr lang="en-US" sz="900" dirty="0"/>
          </a:p>
        </p:txBody>
      </p:sp>
      <p:sp>
        <p:nvSpPr>
          <p:cNvPr id="41" name="Shape 38"/>
          <p:cNvSpPr/>
          <p:nvPr/>
        </p:nvSpPr>
        <p:spPr>
          <a:xfrm>
            <a:off x="9464040" y="3858768"/>
            <a:ext cx="2322576" cy="274320"/>
          </a:xfrm>
          <a:prstGeom prst="rect">
            <a:avLst/>
          </a:prstGeom>
          <a:solidFill>
            <a:srgbClr val="FFFFFF"/>
          </a:solidFill>
          <a:ln w="6350">
            <a:solidFill>
              <a:srgbClr val="D3DCE5"/>
            </a:solidFill>
            <a:prstDash val="solid"/>
          </a:ln>
        </p:spPr>
      </p:sp>
      <p:sp>
        <p:nvSpPr>
          <p:cNvPr id="42" name="Text 39"/>
          <p:cNvSpPr txBox="1"/>
          <p:nvPr/>
        </p:nvSpPr>
        <p:spPr>
          <a:xfrm>
            <a:off x="9528048" y="3858768"/>
            <a:ext cx="2194560" cy="274320"/>
          </a:xfrm>
          <a:prstGeom prst="rect">
            <a:avLst/>
          </a:prstGeom>
          <a:noFill/>
          <a:ln/>
        </p:spPr>
        <p:txBody>
          <a:bodyPr wrap="square" lIns="0" tIns="0" rIns="0" bIns="0" rtlCol="0" anchor="ctr"/>
          <a:lstStyle/>
          <a:p>
            <a:pPr algn="ctr" indent="0" marL="0">
              <a:buNone/>
            </a:pPr>
            <a:r>
              <a:rPr lang="en-US" sz="900" b="1" dirty="0">
                <a:solidFill>
                  <a:srgbClr val="0E7C6B"/>
                </a:solidFill>
                <a:latin typeface="Calibri" pitchFamily="34" charset="0"/>
                <a:ea typeface="Calibri" pitchFamily="34" charset="-122"/>
                <a:cs typeface="Calibri" pitchFamily="34" charset="-120"/>
              </a:rPr>
              <a:t>Strong</a:t>
            </a:r>
            <a:endParaRPr lang="en-US" sz="900" dirty="0"/>
          </a:p>
        </p:txBody>
      </p:sp>
      <p:sp>
        <p:nvSpPr>
          <p:cNvPr id="43" name="Shape 40"/>
          <p:cNvSpPr/>
          <p:nvPr/>
        </p:nvSpPr>
        <p:spPr>
          <a:xfrm>
            <a:off x="411480" y="4133088"/>
            <a:ext cx="3931920" cy="274320"/>
          </a:xfrm>
          <a:prstGeom prst="rect">
            <a:avLst/>
          </a:prstGeom>
          <a:solidFill>
            <a:srgbClr val="F7F9FB"/>
          </a:solidFill>
          <a:ln w="6350">
            <a:solidFill>
              <a:srgbClr val="D3DCE5"/>
            </a:solidFill>
            <a:prstDash val="solid"/>
          </a:ln>
        </p:spPr>
      </p:sp>
      <p:sp>
        <p:nvSpPr>
          <p:cNvPr id="44" name="Text 41"/>
          <p:cNvSpPr txBox="1"/>
          <p:nvPr/>
        </p:nvSpPr>
        <p:spPr>
          <a:xfrm>
            <a:off x="475488" y="4133088"/>
            <a:ext cx="3803904" cy="274320"/>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Power: gas, solar and storage</a:t>
            </a:r>
            <a:endParaRPr lang="en-US" sz="900" dirty="0"/>
          </a:p>
        </p:txBody>
      </p:sp>
      <p:sp>
        <p:nvSpPr>
          <p:cNvPr id="45" name="Shape 42"/>
          <p:cNvSpPr/>
          <p:nvPr/>
        </p:nvSpPr>
        <p:spPr>
          <a:xfrm>
            <a:off x="4343400" y="4133088"/>
            <a:ext cx="1143000" cy="274320"/>
          </a:xfrm>
          <a:prstGeom prst="rect">
            <a:avLst/>
          </a:prstGeom>
          <a:solidFill>
            <a:srgbClr val="F7F9FB"/>
          </a:solidFill>
          <a:ln w="6350">
            <a:solidFill>
              <a:srgbClr val="D3DCE5"/>
            </a:solidFill>
            <a:prstDash val="solid"/>
          </a:ln>
        </p:spPr>
      </p:sp>
      <p:sp>
        <p:nvSpPr>
          <p:cNvPr id="46" name="Text 43"/>
          <p:cNvSpPr txBox="1"/>
          <p:nvPr/>
        </p:nvSpPr>
        <p:spPr>
          <a:xfrm>
            <a:off x="4407408" y="4133088"/>
            <a:ext cx="1014984" cy="274320"/>
          </a:xfrm>
          <a:prstGeom prst="rect">
            <a:avLst/>
          </a:prstGeom>
          <a:noFill/>
          <a:ln/>
        </p:spPr>
        <p:txBody>
          <a:bodyPr wrap="square" lIns="0" tIns="0" rIns="0" bIns="0" rtlCol="0" anchor="ctr"/>
          <a:lstStyle/>
          <a:p>
            <a:pPr algn="ctr" indent="0" marL="0">
              <a:buNone/>
            </a:pPr>
            <a:r>
              <a:rPr lang="en-US" sz="900" dirty="0">
                <a:solidFill>
                  <a:srgbClr val="1B2733"/>
                </a:solidFill>
                <a:latin typeface="Calibri" pitchFamily="34" charset="0"/>
                <a:ea typeface="Calibri" pitchFamily="34" charset="-122"/>
                <a:cs typeface="Calibri" pitchFamily="34" charset="-120"/>
              </a:rPr>
              <a:t>18</a:t>
            </a:r>
            <a:endParaRPr lang="en-US" sz="900" dirty="0"/>
          </a:p>
        </p:txBody>
      </p:sp>
      <p:sp>
        <p:nvSpPr>
          <p:cNvPr id="47" name="Shape 44"/>
          <p:cNvSpPr/>
          <p:nvPr/>
        </p:nvSpPr>
        <p:spPr>
          <a:xfrm>
            <a:off x="5486400" y="4133088"/>
            <a:ext cx="2788920" cy="274320"/>
          </a:xfrm>
          <a:prstGeom prst="rect">
            <a:avLst/>
          </a:prstGeom>
          <a:solidFill>
            <a:srgbClr val="F7F9FB"/>
          </a:solidFill>
          <a:ln w="6350">
            <a:solidFill>
              <a:srgbClr val="D3DCE5"/>
            </a:solidFill>
            <a:prstDash val="solid"/>
          </a:ln>
        </p:spPr>
      </p:sp>
      <p:sp>
        <p:nvSpPr>
          <p:cNvPr id="48" name="Text 45"/>
          <p:cNvSpPr txBox="1"/>
          <p:nvPr/>
        </p:nvSpPr>
        <p:spPr>
          <a:xfrm>
            <a:off x="5550408" y="4133088"/>
            <a:ext cx="2660904" cy="274320"/>
          </a:xfrm>
          <a:prstGeom prst="rect">
            <a:avLst/>
          </a:prstGeom>
          <a:noFill/>
          <a:ln/>
        </p:spPr>
        <p:txBody>
          <a:bodyPr wrap="square" lIns="0" tIns="0" rIns="0" bIns="0" rtlCol="0" anchor="ctr"/>
          <a:lstStyle/>
          <a:p>
            <a:pPr algn="ctr" indent="0" marL="0">
              <a:buNone/>
            </a:pPr>
            <a:r>
              <a:rPr lang="en-US" sz="900" dirty="0">
                <a:solidFill>
                  <a:srgbClr val="1B2733"/>
                </a:solidFill>
                <a:latin typeface="Calibri" pitchFamily="34" charset="0"/>
                <a:ea typeface="Calibri" pitchFamily="34" charset="-122"/>
                <a:cs typeface="Calibri" pitchFamily="34" charset="-120"/>
              </a:rPr>
              <a:t>368</a:t>
            </a:r>
            <a:endParaRPr lang="en-US" sz="900" dirty="0"/>
          </a:p>
        </p:txBody>
      </p:sp>
      <p:sp>
        <p:nvSpPr>
          <p:cNvPr id="49" name="Shape 46"/>
          <p:cNvSpPr/>
          <p:nvPr/>
        </p:nvSpPr>
        <p:spPr>
          <a:xfrm>
            <a:off x="8275320" y="4133088"/>
            <a:ext cx="1188720" cy="274320"/>
          </a:xfrm>
          <a:prstGeom prst="rect">
            <a:avLst/>
          </a:prstGeom>
          <a:solidFill>
            <a:srgbClr val="F7F9FB"/>
          </a:solidFill>
          <a:ln w="6350">
            <a:solidFill>
              <a:srgbClr val="D3DCE5"/>
            </a:solidFill>
            <a:prstDash val="solid"/>
          </a:ln>
        </p:spPr>
      </p:sp>
      <p:sp>
        <p:nvSpPr>
          <p:cNvPr id="50" name="Text 47"/>
          <p:cNvSpPr txBox="1"/>
          <p:nvPr/>
        </p:nvSpPr>
        <p:spPr>
          <a:xfrm>
            <a:off x="8339328" y="4133088"/>
            <a:ext cx="1060704" cy="274320"/>
          </a:xfrm>
          <a:prstGeom prst="rect">
            <a:avLst/>
          </a:prstGeom>
          <a:noFill/>
          <a:ln/>
        </p:spPr>
        <p:txBody>
          <a:bodyPr wrap="square" lIns="0" tIns="0" rIns="0" bIns="0" rtlCol="0" anchor="ctr"/>
          <a:lstStyle/>
          <a:p>
            <a:pPr algn="ctr" indent="0" marL="0">
              <a:buNone/>
            </a:pPr>
            <a:r>
              <a:rPr lang="en-US" sz="900" dirty="0">
                <a:solidFill>
                  <a:srgbClr val="1B2733"/>
                </a:solidFill>
                <a:latin typeface="Calibri" pitchFamily="34" charset="0"/>
                <a:ea typeface="Calibri" pitchFamily="34" charset="-122"/>
                <a:cs typeface="Calibri" pitchFamily="34" charset="-120"/>
              </a:rPr>
              <a:t>0.11</a:t>
            </a:r>
            <a:endParaRPr lang="en-US" sz="900" dirty="0"/>
          </a:p>
        </p:txBody>
      </p:sp>
      <p:sp>
        <p:nvSpPr>
          <p:cNvPr id="51" name="Shape 48"/>
          <p:cNvSpPr/>
          <p:nvPr/>
        </p:nvSpPr>
        <p:spPr>
          <a:xfrm>
            <a:off x="9464040" y="4133088"/>
            <a:ext cx="2322576" cy="274320"/>
          </a:xfrm>
          <a:prstGeom prst="rect">
            <a:avLst/>
          </a:prstGeom>
          <a:solidFill>
            <a:srgbClr val="F7F9FB"/>
          </a:solidFill>
          <a:ln w="6350">
            <a:solidFill>
              <a:srgbClr val="D3DCE5"/>
            </a:solidFill>
            <a:prstDash val="solid"/>
          </a:ln>
        </p:spPr>
      </p:sp>
      <p:sp>
        <p:nvSpPr>
          <p:cNvPr id="52" name="Text 49"/>
          <p:cNvSpPr txBox="1"/>
          <p:nvPr/>
        </p:nvSpPr>
        <p:spPr>
          <a:xfrm>
            <a:off x="9528048" y="4133088"/>
            <a:ext cx="2194560" cy="274320"/>
          </a:xfrm>
          <a:prstGeom prst="rect">
            <a:avLst/>
          </a:prstGeom>
          <a:noFill/>
          <a:ln/>
        </p:spPr>
        <p:txBody>
          <a:bodyPr wrap="square" lIns="0" tIns="0" rIns="0" bIns="0" rtlCol="0" anchor="ctr"/>
          <a:lstStyle/>
          <a:p>
            <a:pPr algn="ctr" indent="0" marL="0">
              <a:buNone/>
            </a:pPr>
            <a:r>
              <a:rPr lang="en-US" sz="900" b="1" dirty="0">
                <a:solidFill>
                  <a:srgbClr val="C2610A"/>
                </a:solidFill>
                <a:latin typeface="Calibri" pitchFamily="34" charset="0"/>
                <a:ea typeface="Calibri" pitchFamily="34" charset="-122"/>
                <a:cs typeface="Calibri" pitchFamily="34" charset="-120"/>
              </a:rPr>
              <a:t>Moderate</a:t>
            </a:r>
            <a:endParaRPr lang="en-US" sz="900" dirty="0"/>
          </a:p>
        </p:txBody>
      </p:sp>
      <p:sp>
        <p:nvSpPr>
          <p:cNvPr id="53" name="Shape 50"/>
          <p:cNvSpPr/>
          <p:nvPr/>
        </p:nvSpPr>
        <p:spPr>
          <a:xfrm>
            <a:off x="411480" y="4407408"/>
            <a:ext cx="3931920" cy="274320"/>
          </a:xfrm>
          <a:prstGeom prst="rect">
            <a:avLst/>
          </a:prstGeom>
          <a:solidFill>
            <a:srgbClr val="D6EBE7"/>
          </a:solidFill>
          <a:ln w="6350">
            <a:solidFill>
              <a:srgbClr val="D3DCE5"/>
            </a:solidFill>
            <a:prstDash val="solid"/>
          </a:ln>
        </p:spPr>
      </p:sp>
      <p:sp>
        <p:nvSpPr>
          <p:cNvPr id="54" name="Text 51"/>
          <p:cNvSpPr txBox="1"/>
          <p:nvPr/>
        </p:nvSpPr>
        <p:spPr>
          <a:xfrm>
            <a:off x="475488" y="4407408"/>
            <a:ext cx="3803904" cy="274320"/>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Total productivity levers</a:t>
            </a:r>
            <a:endParaRPr lang="en-US" sz="900" dirty="0"/>
          </a:p>
        </p:txBody>
      </p:sp>
      <p:sp>
        <p:nvSpPr>
          <p:cNvPr id="55" name="Shape 52"/>
          <p:cNvSpPr/>
          <p:nvPr/>
        </p:nvSpPr>
        <p:spPr>
          <a:xfrm>
            <a:off x="4343400" y="4407408"/>
            <a:ext cx="1143000" cy="274320"/>
          </a:xfrm>
          <a:prstGeom prst="rect">
            <a:avLst/>
          </a:prstGeom>
          <a:solidFill>
            <a:srgbClr val="D6EBE7"/>
          </a:solidFill>
          <a:ln w="6350">
            <a:solidFill>
              <a:srgbClr val="D3DCE5"/>
            </a:solidFill>
            <a:prstDash val="solid"/>
          </a:ln>
        </p:spPr>
      </p:sp>
      <p:sp>
        <p:nvSpPr>
          <p:cNvPr id="56" name="Text 53"/>
          <p:cNvSpPr txBox="1"/>
          <p:nvPr/>
        </p:nvSpPr>
        <p:spPr>
          <a:xfrm>
            <a:off x="4407408" y="4407408"/>
            <a:ext cx="1014984" cy="274320"/>
          </a:xfrm>
          <a:prstGeom prst="rect">
            <a:avLst/>
          </a:prstGeom>
          <a:noFill/>
          <a:ln/>
        </p:spPr>
        <p:txBody>
          <a:bodyPr wrap="square" lIns="0" tIns="0" rIns="0" bIns="0" rtlCol="0" anchor="ctr"/>
          <a:lstStyle/>
          <a:p>
            <a:pPr algn="ctr" indent="0" marL="0">
              <a:buNone/>
            </a:pPr>
            <a:r>
              <a:rPr lang="en-US" sz="900" b="1" dirty="0">
                <a:solidFill>
                  <a:srgbClr val="1B2733"/>
                </a:solidFill>
                <a:latin typeface="Calibri" pitchFamily="34" charset="0"/>
                <a:ea typeface="Calibri" pitchFamily="34" charset="-122"/>
                <a:cs typeface="Calibri" pitchFamily="34" charset="-120"/>
              </a:rPr>
              <a:t>48</a:t>
            </a:r>
            <a:endParaRPr lang="en-US" sz="900" dirty="0"/>
          </a:p>
        </p:txBody>
      </p:sp>
      <p:sp>
        <p:nvSpPr>
          <p:cNvPr id="57" name="Shape 54"/>
          <p:cNvSpPr/>
          <p:nvPr/>
        </p:nvSpPr>
        <p:spPr>
          <a:xfrm>
            <a:off x="5486400" y="4407408"/>
            <a:ext cx="2788920" cy="274320"/>
          </a:xfrm>
          <a:prstGeom prst="rect">
            <a:avLst/>
          </a:prstGeom>
          <a:solidFill>
            <a:srgbClr val="D6EBE7"/>
          </a:solidFill>
          <a:ln w="6350">
            <a:solidFill>
              <a:srgbClr val="D3DCE5"/>
            </a:solidFill>
            <a:prstDash val="solid"/>
          </a:ln>
        </p:spPr>
      </p:sp>
      <p:sp>
        <p:nvSpPr>
          <p:cNvPr id="58" name="Text 55"/>
          <p:cNvSpPr txBox="1"/>
          <p:nvPr/>
        </p:nvSpPr>
        <p:spPr>
          <a:xfrm>
            <a:off x="5550408" y="4407408"/>
            <a:ext cx="2660904" cy="274320"/>
          </a:xfrm>
          <a:prstGeom prst="rect">
            <a:avLst/>
          </a:prstGeom>
          <a:noFill/>
          <a:ln/>
        </p:spPr>
        <p:txBody>
          <a:bodyPr wrap="square" lIns="0" tIns="0" rIns="0" bIns="0" rtlCol="0" anchor="ctr"/>
          <a:lstStyle/>
          <a:p>
            <a:pPr algn="ctr" indent="0" marL="0">
              <a:buNone/>
            </a:pPr>
            <a:r>
              <a:rPr lang="en-US" sz="900" b="1" dirty="0">
                <a:solidFill>
                  <a:srgbClr val="1B2733"/>
                </a:solidFill>
                <a:latin typeface="Calibri" pitchFamily="34" charset="0"/>
                <a:ea typeface="Calibri" pitchFamily="34" charset="-122"/>
                <a:cs typeface="Calibri" pitchFamily="34" charset="-120"/>
              </a:rPr>
              <a:t>982</a:t>
            </a:r>
            <a:endParaRPr lang="en-US" sz="900" dirty="0"/>
          </a:p>
        </p:txBody>
      </p:sp>
      <p:sp>
        <p:nvSpPr>
          <p:cNvPr id="59" name="Shape 56"/>
          <p:cNvSpPr/>
          <p:nvPr/>
        </p:nvSpPr>
        <p:spPr>
          <a:xfrm>
            <a:off x="8275320" y="4407408"/>
            <a:ext cx="1188720" cy="274320"/>
          </a:xfrm>
          <a:prstGeom prst="rect">
            <a:avLst/>
          </a:prstGeom>
          <a:solidFill>
            <a:srgbClr val="D6EBE7"/>
          </a:solidFill>
          <a:ln w="6350">
            <a:solidFill>
              <a:srgbClr val="D3DCE5"/>
            </a:solidFill>
            <a:prstDash val="solid"/>
          </a:ln>
        </p:spPr>
      </p:sp>
      <p:sp>
        <p:nvSpPr>
          <p:cNvPr id="60" name="Text 57"/>
          <p:cNvSpPr txBox="1"/>
          <p:nvPr/>
        </p:nvSpPr>
        <p:spPr>
          <a:xfrm>
            <a:off x="8339328" y="4407408"/>
            <a:ext cx="1060704" cy="274320"/>
          </a:xfrm>
          <a:prstGeom prst="rect">
            <a:avLst/>
          </a:prstGeom>
          <a:noFill/>
          <a:ln/>
        </p:spPr>
        <p:txBody>
          <a:bodyPr wrap="square" lIns="0" tIns="0" rIns="0" bIns="0" rtlCol="0" anchor="ctr"/>
          <a:lstStyle/>
          <a:p>
            <a:pPr algn="ctr" indent="0" marL="0">
              <a:buNone/>
            </a:pPr>
            <a:r>
              <a:rPr lang="en-US" sz="900" b="1" dirty="0">
                <a:solidFill>
                  <a:srgbClr val="0E7C6B"/>
                </a:solidFill>
                <a:latin typeface="Calibri" pitchFamily="34" charset="0"/>
                <a:ea typeface="Calibri" pitchFamily="34" charset="-122"/>
                <a:cs typeface="Calibri" pitchFamily="34" charset="-120"/>
              </a:rPr>
              <a:t>0.31</a:t>
            </a:r>
            <a:endParaRPr lang="en-US" sz="900" dirty="0"/>
          </a:p>
        </p:txBody>
      </p:sp>
      <p:sp>
        <p:nvSpPr>
          <p:cNvPr id="61" name="Shape 58"/>
          <p:cNvSpPr/>
          <p:nvPr/>
        </p:nvSpPr>
        <p:spPr>
          <a:xfrm>
            <a:off x="9464040" y="4407408"/>
            <a:ext cx="2322576" cy="274320"/>
          </a:xfrm>
          <a:prstGeom prst="rect">
            <a:avLst/>
          </a:prstGeom>
          <a:solidFill>
            <a:srgbClr val="D6EBE7"/>
          </a:solidFill>
          <a:ln w="6350">
            <a:solidFill>
              <a:srgbClr val="D3DCE5"/>
            </a:solidFill>
            <a:prstDash val="solid"/>
          </a:ln>
        </p:spPr>
      </p:sp>
      <p:sp>
        <p:nvSpPr>
          <p:cNvPr id="62" name="Text 59"/>
          <p:cNvSpPr txBox="1"/>
          <p:nvPr/>
        </p:nvSpPr>
        <p:spPr>
          <a:xfrm>
            <a:off x="9528048" y="4407408"/>
            <a:ext cx="2194560" cy="274320"/>
          </a:xfrm>
          <a:prstGeom prst="rect">
            <a:avLst/>
          </a:prstGeom>
          <a:noFill/>
          <a:ln/>
        </p:spPr>
        <p:txBody>
          <a:bodyPr wrap="square" lIns="0" tIns="0" rIns="0" bIns="0" rtlCol="0" anchor="ctr"/>
          <a:lstStyle/>
          <a:p>
            <a:pPr algn="ctr" indent="0" marL="0">
              <a:buNone/>
            </a:pPr>
            <a:endParaRPr lang="en-US" sz="900" dirty="0"/>
          </a:p>
        </p:txBody>
      </p:sp>
      <p:sp>
        <p:nvSpPr>
          <p:cNvPr id="63" name="Shape 60"/>
          <p:cNvSpPr/>
          <p:nvPr/>
        </p:nvSpPr>
        <p:spPr>
          <a:xfrm>
            <a:off x="411480" y="4681728"/>
            <a:ext cx="11375136" cy="566928"/>
          </a:xfrm>
          <a:prstGeom prst="rect">
            <a:avLst/>
          </a:prstGeom>
          <a:solidFill>
            <a:srgbClr val="EEF2F6"/>
          </a:solidFill>
          <a:ln w="9525">
            <a:solidFill>
              <a:srgbClr val="D3DCE5"/>
            </a:solidFill>
            <a:prstDash val="solid"/>
          </a:ln>
        </p:spPr>
      </p:sp>
      <p:sp>
        <p:nvSpPr>
          <p:cNvPr id="64" name="Text 61"/>
          <p:cNvSpPr txBox="1"/>
          <p:nvPr/>
        </p:nvSpPr>
        <p:spPr>
          <a:xfrm>
            <a:off x="576072" y="4809744"/>
            <a:ext cx="11045952" cy="347472"/>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The coefficient is from the model: one dollar per tonne of sustained unit margin, across the base-case volume profile, after tax and discounting, is worth A$20.5m of equity value.</a:t>
            </a:r>
            <a:endParaRPr lang="en-US" sz="880" dirty="0"/>
          </a:p>
        </p:txBody>
      </p:sp>
      <p:sp>
        <p:nvSpPr>
          <p:cNvPr id="65" name="Text 62"/>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TOMRA Mining and Global Mining Review (sorter commissioned August 2024, &gt;1,000 t/h, described as the largest in lithium); PLS FY26 results (unit cost A$627/t to A$569/t); PLS power strategy disclosures. The A$30/t and A$18/t figures are the team's estimates with the arithmetic shown above, not company-disclosed savings.</a:t>
            </a:r>
            <a:endParaRPr lang="en-US" sz="720" dirty="0"/>
          </a:p>
        </p:txBody>
      </p:sp>
      <p:sp>
        <p:nvSpPr>
          <p:cNvPr id="66" name="Text 63"/>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Text 2"/>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5" name="Text 3"/>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6" name="Shape 4"/>
          <p:cNvSpPr/>
          <p:nvPr/>
        </p:nvSpPr>
        <p:spPr>
          <a:xfrm>
            <a:off x="6130138" y="6400800"/>
            <a:ext cx="1335024" cy="274320"/>
          </a:xfrm>
          <a:prstGeom prst="roundRect">
            <a:avLst>
              <a:gd name="adj" fmla="val 20000"/>
            </a:avLst>
          </a:prstGeom>
          <a:solidFill>
            <a:srgbClr val="10233A"/>
          </a:solidFill>
          <a:ln/>
        </p:spPr>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The case asks for a critical eye. Here is where PLS's shared-value story is thinner than its reporting suggests, and what we would put to management.</a:t>
            </a:r>
            <a:endParaRPr lang="en-US" sz="15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What we found when we went looking for the gaps</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1298448"/>
            <a:ext cx="2331720" cy="292608"/>
          </a:xfrm>
          <a:prstGeom prst="rect">
            <a:avLst/>
          </a:prstGeom>
          <a:solidFill>
            <a:srgbClr val="10233A"/>
          </a:solidFill>
          <a:ln/>
        </p:spPr>
      </p:sp>
      <p:sp>
        <p:nvSpPr>
          <p:cNvPr id="18" name="Text 15"/>
          <p:cNvSpPr txBox="1"/>
          <p:nvPr/>
        </p:nvSpPr>
        <p:spPr>
          <a:xfrm>
            <a:off x="475488" y="1298448"/>
            <a:ext cx="22037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we looked for</a:t>
            </a:r>
            <a:endParaRPr lang="en-US" sz="900" dirty="0"/>
          </a:p>
        </p:txBody>
      </p:sp>
      <p:sp>
        <p:nvSpPr>
          <p:cNvPr id="19" name="Shape 16"/>
          <p:cNvSpPr/>
          <p:nvPr/>
        </p:nvSpPr>
        <p:spPr>
          <a:xfrm>
            <a:off x="2743200" y="1298448"/>
            <a:ext cx="4617720" cy="292608"/>
          </a:xfrm>
          <a:prstGeom prst="rect">
            <a:avLst/>
          </a:prstGeom>
          <a:solidFill>
            <a:srgbClr val="10233A"/>
          </a:solidFill>
          <a:ln/>
        </p:spPr>
      </p:sp>
      <p:sp>
        <p:nvSpPr>
          <p:cNvPr id="20" name="Text 17"/>
          <p:cNvSpPr txBox="1"/>
          <p:nvPr/>
        </p:nvSpPr>
        <p:spPr>
          <a:xfrm>
            <a:off x="2807208" y="1298448"/>
            <a:ext cx="44897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we found</a:t>
            </a:r>
            <a:endParaRPr lang="en-US" sz="900" dirty="0"/>
          </a:p>
        </p:txBody>
      </p:sp>
      <p:sp>
        <p:nvSpPr>
          <p:cNvPr id="21" name="Shape 18"/>
          <p:cNvSpPr/>
          <p:nvPr/>
        </p:nvSpPr>
        <p:spPr>
          <a:xfrm>
            <a:off x="7360920" y="1298448"/>
            <a:ext cx="3017520" cy="292608"/>
          </a:xfrm>
          <a:prstGeom prst="rect">
            <a:avLst/>
          </a:prstGeom>
          <a:solidFill>
            <a:srgbClr val="10233A"/>
          </a:solidFill>
          <a:ln/>
        </p:spPr>
      </p:sp>
      <p:sp>
        <p:nvSpPr>
          <p:cNvPr id="22" name="Text 19"/>
          <p:cNvSpPr txBox="1"/>
          <p:nvPr/>
        </p:nvSpPr>
        <p:spPr>
          <a:xfrm>
            <a:off x="7424928" y="1298448"/>
            <a:ext cx="2889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 it matters to the investment case</a:t>
            </a:r>
            <a:endParaRPr lang="en-US" sz="900" dirty="0"/>
          </a:p>
        </p:txBody>
      </p:sp>
      <p:sp>
        <p:nvSpPr>
          <p:cNvPr id="23" name="Shape 20"/>
          <p:cNvSpPr/>
          <p:nvPr/>
        </p:nvSpPr>
        <p:spPr>
          <a:xfrm>
            <a:off x="10378440" y="1298448"/>
            <a:ext cx="1408176" cy="292608"/>
          </a:xfrm>
          <a:prstGeom prst="rect">
            <a:avLst/>
          </a:prstGeom>
          <a:solidFill>
            <a:srgbClr val="10233A"/>
          </a:solidFill>
          <a:ln/>
        </p:spPr>
      </p:sp>
      <p:sp>
        <p:nvSpPr>
          <p:cNvPr id="24" name="Text 21"/>
          <p:cNvSpPr txBox="1"/>
          <p:nvPr/>
        </p:nvSpPr>
        <p:spPr>
          <a:xfrm>
            <a:off x="10442448" y="1298448"/>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Severity</a:t>
            </a:r>
            <a:endParaRPr lang="en-US" sz="900" dirty="0"/>
          </a:p>
        </p:txBody>
      </p:sp>
      <p:sp>
        <p:nvSpPr>
          <p:cNvPr id="25" name="Shape 22"/>
          <p:cNvSpPr/>
          <p:nvPr/>
        </p:nvSpPr>
        <p:spPr>
          <a:xfrm>
            <a:off x="411480" y="1591056"/>
            <a:ext cx="2331720" cy="498348"/>
          </a:xfrm>
          <a:prstGeom prst="rect">
            <a:avLst/>
          </a:prstGeom>
          <a:solidFill>
            <a:srgbClr val="FFFFFF"/>
          </a:solidFill>
          <a:ln w="6350">
            <a:solidFill>
              <a:srgbClr val="D3DCE5"/>
            </a:solidFill>
            <a:prstDash val="solid"/>
          </a:ln>
        </p:spPr>
      </p:sp>
      <p:sp>
        <p:nvSpPr>
          <p:cNvPr id="26" name="Text 23"/>
          <p:cNvSpPr txBox="1"/>
          <p:nvPr/>
        </p:nvSpPr>
        <p:spPr>
          <a:xfrm>
            <a:off x="475488" y="1591056"/>
            <a:ext cx="2203704" cy="49834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A dated net-zero commitment</a:t>
            </a:r>
            <a:endParaRPr lang="en-US" sz="850" dirty="0"/>
          </a:p>
        </p:txBody>
      </p:sp>
      <p:sp>
        <p:nvSpPr>
          <p:cNvPr id="27" name="Shape 24"/>
          <p:cNvSpPr/>
          <p:nvPr/>
        </p:nvSpPr>
        <p:spPr>
          <a:xfrm>
            <a:off x="2743200" y="1591056"/>
            <a:ext cx="4617720" cy="498348"/>
          </a:xfrm>
          <a:prstGeom prst="rect">
            <a:avLst/>
          </a:prstGeom>
          <a:solidFill>
            <a:srgbClr val="FFFFFF"/>
          </a:solidFill>
          <a:ln w="6350">
            <a:solidFill>
              <a:srgbClr val="D3DCE5"/>
            </a:solidFill>
            <a:prstDash val="solid"/>
          </a:ln>
        </p:spPr>
      </p:sp>
      <p:sp>
        <p:nvSpPr>
          <p:cNvPr id="28" name="Text 25"/>
          <p:cNvSpPr txBox="1"/>
          <p:nvPr/>
        </p:nvSpPr>
        <p:spPr>
          <a:xfrm>
            <a:off x="2807208" y="1591056"/>
            <a:ext cx="44897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The target is a decade, not a year: "the decade commencing 2040". No SBTi validation was found.</a:t>
            </a:r>
            <a:endParaRPr lang="en-US" sz="850" dirty="0"/>
          </a:p>
        </p:txBody>
      </p:sp>
      <p:sp>
        <p:nvSpPr>
          <p:cNvPr id="29" name="Shape 26"/>
          <p:cNvSpPr/>
          <p:nvPr/>
        </p:nvSpPr>
        <p:spPr>
          <a:xfrm>
            <a:off x="7360920" y="1591056"/>
            <a:ext cx="3017520" cy="498348"/>
          </a:xfrm>
          <a:prstGeom prst="rect">
            <a:avLst/>
          </a:prstGeom>
          <a:solidFill>
            <a:srgbClr val="FFFFFF"/>
          </a:solidFill>
          <a:ln w="6350">
            <a:solidFill>
              <a:srgbClr val="D3DCE5"/>
            </a:solidFill>
            <a:prstDash val="solid"/>
          </a:ln>
        </p:spPr>
      </p:sp>
      <p:sp>
        <p:nvSpPr>
          <p:cNvPr id="30" name="Text 27"/>
          <p:cNvSpPr txBox="1"/>
          <p:nvPr/>
        </p:nvSpPr>
        <p:spPr>
          <a:xfrm>
            <a:off x="7424928" y="1591056"/>
            <a:ext cx="28895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 ten-year window is not a plan a capital allocator can hold management to.</a:t>
            </a:r>
            <a:endParaRPr lang="en-US" sz="850" dirty="0"/>
          </a:p>
        </p:txBody>
      </p:sp>
      <p:sp>
        <p:nvSpPr>
          <p:cNvPr id="31" name="Shape 28"/>
          <p:cNvSpPr/>
          <p:nvPr/>
        </p:nvSpPr>
        <p:spPr>
          <a:xfrm>
            <a:off x="10378440" y="1591056"/>
            <a:ext cx="1408176" cy="498348"/>
          </a:xfrm>
          <a:prstGeom prst="rect">
            <a:avLst/>
          </a:prstGeom>
          <a:solidFill>
            <a:srgbClr val="FFFFFF"/>
          </a:solidFill>
          <a:ln w="6350">
            <a:solidFill>
              <a:srgbClr val="D3DCE5"/>
            </a:solidFill>
            <a:prstDash val="solid"/>
          </a:ln>
        </p:spPr>
      </p:sp>
      <p:sp>
        <p:nvSpPr>
          <p:cNvPr id="32" name="Text 29"/>
          <p:cNvSpPr txBox="1"/>
          <p:nvPr/>
        </p:nvSpPr>
        <p:spPr>
          <a:xfrm>
            <a:off x="10442448" y="1591056"/>
            <a:ext cx="1280160" cy="498348"/>
          </a:xfrm>
          <a:prstGeom prst="rect">
            <a:avLst/>
          </a:prstGeom>
          <a:noFill/>
          <a:ln/>
        </p:spPr>
        <p:txBody>
          <a:bodyPr wrap="square" lIns="0" tIns="0" rIns="0" bIns="0" rtlCol="0" anchor="ctr"/>
          <a:lstStyle/>
          <a:p>
            <a:pPr algn="ctr" indent="0" marL="0">
              <a:buNone/>
            </a:pPr>
            <a:r>
              <a:rPr lang="en-US" sz="850" b="1" dirty="0">
                <a:solidFill>
                  <a:srgbClr val="A3282C"/>
                </a:solidFill>
                <a:latin typeface="Calibri" pitchFamily="34" charset="0"/>
                <a:ea typeface="Calibri" pitchFamily="34" charset="-122"/>
                <a:cs typeface="Calibri" pitchFamily="34" charset="-120"/>
              </a:rPr>
              <a:t>High</a:t>
            </a:r>
            <a:endParaRPr lang="en-US" sz="850" dirty="0"/>
          </a:p>
        </p:txBody>
      </p:sp>
      <p:sp>
        <p:nvSpPr>
          <p:cNvPr id="33" name="Shape 30"/>
          <p:cNvSpPr/>
          <p:nvPr/>
        </p:nvSpPr>
        <p:spPr>
          <a:xfrm>
            <a:off x="411480" y="2089404"/>
            <a:ext cx="2331720" cy="498348"/>
          </a:xfrm>
          <a:prstGeom prst="rect">
            <a:avLst/>
          </a:prstGeom>
          <a:solidFill>
            <a:srgbClr val="F7F9FB"/>
          </a:solidFill>
          <a:ln w="6350">
            <a:solidFill>
              <a:srgbClr val="D3DCE5"/>
            </a:solidFill>
            <a:prstDash val="solid"/>
          </a:ln>
        </p:spPr>
      </p:sp>
      <p:sp>
        <p:nvSpPr>
          <p:cNvPr id="34" name="Text 31"/>
          <p:cNvSpPr txBox="1"/>
          <p:nvPr/>
        </p:nvSpPr>
        <p:spPr>
          <a:xfrm>
            <a:off x="475488" y="2089404"/>
            <a:ext cx="2203704" cy="49834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Scope 3 disclosure</a:t>
            </a:r>
            <a:endParaRPr lang="en-US" sz="850" dirty="0"/>
          </a:p>
        </p:txBody>
      </p:sp>
      <p:sp>
        <p:nvSpPr>
          <p:cNvPr id="35" name="Shape 32"/>
          <p:cNvSpPr/>
          <p:nvPr/>
        </p:nvSpPr>
        <p:spPr>
          <a:xfrm>
            <a:off x="2743200" y="2089404"/>
            <a:ext cx="4617720" cy="498348"/>
          </a:xfrm>
          <a:prstGeom prst="rect">
            <a:avLst/>
          </a:prstGeom>
          <a:solidFill>
            <a:srgbClr val="F7F9FB"/>
          </a:solidFill>
          <a:ln w="6350">
            <a:solidFill>
              <a:srgbClr val="D3DCE5"/>
            </a:solidFill>
            <a:prstDash val="solid"/>
          </a:ln>
        </p:spPr>
      </p:sp>
      <p:sp>
        <p:nvSpPr>
          <p:cNvPr id="36" name="Text 33"/>
          <p:cNvSpPr txBox="1"/>
          <p:nvPr/>
        </p:nvSpPr>
        <p:spPr>
          <a:xfrm>
            <a:off x="2807208" y="2089404"/>
            <a:ext cx="44897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None found. For a company whose product is consumed downstream, this is the emissions that matter most.</a:t>
            </a:r>
            <a:endParaRPr lang="en-US" sz="850" dirty="0"/>
          </a:p>
        </p:txBody>
      </p:sp>
      <p:sp>
        <p:nvSpPr>
          <p:cNvPr id="37" name="Shape 34"/>
          <p:cNvSpPr/>
          <p:nvPr/>
        </p:nvSpPr>
        <p:spPr>
          <a:xfrm>
            <a:off x="7360920" y="2089404"/>
            <a:ext cx="3017520" cy="498348"/>
          </a:xfrm>
          <a:prstGeom prst="rect">
            <a:avLst/>
          </a:prstGeom>
          <a:solidFill>
            <a:srgbClr val="F7F9FB"/>
          </a:solidFill>
          <a:ln w="6350">
            <a:solidFill>
              <a:srgbClr val="D3DCE5"/>
            </a:solidFill>
            <a:prstDash val="solid"/>
          </a:ln>
        </p:spPr>
      </p:sp>
      <p:sp>
        <p:nvSpPr>
          <p:cNvPr id="38" name="Text 35"/>
          <p:cNvSpPr txBox="1"/>
          <p:nvPr/>
        </p:nvSpPr>
        <p:spPr>
          <a:xfrm>
            <a:off x="7424928" y="2089404"/>
            <a:ext cx="28895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Undermines the low-carbon claim precisely where customers will audit it.</a:t>
            </a:r>
            <a:endParaRPr lang="en-US" sz="850" dirty="0"/>
          </a:p>
        </p:txBody>
      </p:sp>
      <p:sp>
        <p:nvSpPr>
          <p:cNvPr id="39" name="Shape 36"/>
          <p:cNvSpPr/>
          <p:nvPr/>
        </p:nvSpPr>
        <p:spPr>
          <a:xfrm>
            <a:off x="10378440" y="2089404"/>
            <a:ext cx="1408176" cy="498348"/>
          </a:xfrm>
          <a:prstGeom prst="rect">
            <a:avLst/>
          </a:prstGeom>
          <a:solidFill>
            <a:srgbClr val="F7F9FB"/>
          </a:solidFill>
          <a:ln w="6350">
            <a:solidFill>
              <a:srgbClr val="D3DCE5"/>
            </a:solidFill>
            <a:prstDash val="solid"/>
          </a:ln>
        </p:spPr>
      </p:sp>
      <p:sp>
        <p:nvSpPr>
          <p:cNvPr id="40" name="Text 37"/>
          <p:cNvSpPr txBox="1"/>
          <p:nvPr/>
        </p:nvSpPr>
        <p:spPr>
          <a:xfrm>
            <a:off x="10442448" y="2089404"/>
            <a:ext cx="1280160" cy="498348"/>
          </a:xfrm>
          <a:prstGeom prst="rect">
            <a:avLst/>
          </a:prstGeom>
          <a:noFill/>
          <a:ln/>
        </p:spPr>
        <p:txBody>
          <a:bodyPr wrap="square" lIns="0" tIns="0" rIns="0" bIns="0" rtlCol="0" anchor="ctr"/>
          <a:lstStyle/>
          <a:p>
            <a:pPr algn="ctr" indent="0" marL="0">
              <a:buNone/>
            </a:pPr>
            <a:r>
              <a:rPr lang="en-US" sz="850" b="1" dirty="0">
                <a:solidFill>
                  <a:srgbClr val="A3282C"/>
                </a:solidFill>
                <a:latin typeface="Calibri" pitchFamily="34" charset="0"/>
                <a:ea typeface="Calibri" pitchFamily="34" charset="-122"/>
                <a:cs typeface="Calibri" pitchFamily="34" charset="-120"/>
              </a:rPr>
              <a:t>High</a:t>
            </a:r>
            <a:endParaRPr lang="en-US" sz="850" dirty="0"/>
          </a:p>
        </p:txBody>
      </p:sp>
      <p:sp>
        <p:nvSpPr>
          <p:cNvPr id="41" name="Shape 38"/>
          <p:cNvSpPr/>
          <p:nvPr/>
        </p:nvSpPr>
        <p:spPr>
          <a:xfrm>
            <a:off x="411480" y="2587752"/>
            <a:ext cx="2331720" cy="498348"/>
          </a:xfrm>
          <a:prstGeom prst="rect">
            <a:avLst/>
          </a:prstGeom>
          <a:solidFill>
            <a:srgbClr val="FFFFFF"/>
          </a:solidFill>
          <a:ln w="6350">
            <a:solidFill>
              <a:srgbClr val="D3DCE5"/>
            </a:solidFill>
            <a:prstDash val="solid"/>
          </a:ln>
        </p:spPr>
      </p:sp>
      <p:sp>
        <p:nvSpPr>
          <p:cNvPr id="42" name="Text 39"/>
          <p:cNvSpPr txBox="1"/>
          <p:nvPr/>
        </p:nvSpPr>
        <p:spPr>
          <a:xfrm>
            <a:off x="475488" y="2587752"/>
            <a:ext cx="2203704" cy="49834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Emissions intensity per tonne</a:t>
            </a:r>
            <a:endParaRPr lang="en-US" sz="850" dirty="0"/>
          </a:p>
        </p:txBody>
      </p:sp>
      <p:sp>
        <p:nvSpPr>
          <p:cNvPr id="43" name="Shape 40"/>
          <p:cNvSpPr/>
          <p:nvPr/>
        </p:nvSpPr>
        <p:spPr>
          <a:xfrm>
            <a:off x="2743200" y="2587752"/>
            <a:ext cx="4617720" cy="498348"/>
          </a:xfrm>
          <a:prstGeom prst="rect">
            <a:avLst/>
          </a:prstGeom>
          <a:solidFill>
            <a:srgbClr val="FFFFFF"/>
          </a:solidFill>
          <a:ln w="6350">
            <a:solidFill>
              <a:srgbClr val="D3DCE5"/>
            </a:solidFill>
            <a:prstDash val="solid"/>
          </a:ln>
        </p:spPr>
      </p:sp>
      <p:sp>
        <p:nvSpPr>
          <p:cNvPr id="44" name="Text 41"/>
          <p:cNvSpPr txBox="1"/>
          <p:nvPr/>
        </p:nvSpPr>
        <p:spPr>
          <a:xfrm>
            <a:off x="2807208" y="2587752"/>
            <a:ext cx="44897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Not disclosed as a KPI. Third-party aggregator figures for FY23-24 exist but disagree and are unreliable.</a:t>
            </a:r>
            <a:endParaRPr lang="en-US" sz="850" dirty="0"/>
          </a:p>
        </p:txBody>
      </p:sp>
      <p:sp>
        <p:nvSpPr>
          <p:cNvPr id="45" name="Shape 42"/>
          <p:cNvSpPr/>
          <p:nvPr/>
        </p:nvSpPr>
        <p:spPr>
          <a:xfrm>
            <a:off x="7360920" y="2587752"/>
            <a:ext cx="3017520" cy="498348"/>
          </a:xfrm>
          <a:prstGeom prst="rect">
            <a:avLst/>
          </a:prstGeom>
          <a:solidFill>
            <a:srgbClr val="FFFFFF"/>
          </a:solidFill>
          <a:ln w="6350">
            <a:solidFill>
              <a:srgbClr val="D3DCE5"/>
            </a:solidFill>
            <a:prstDash val="solid"/>
          </a:ln>
        </p:spPr>
      </p:sp>
      <p:sp>
        <p:nvSpPr>
          <p:cNvPr id="46" name="Text 43"/>
          <p:cNvSpPr txBox="1"/>
          <p:nvPr/>
        </p:nvSpPr>
        <p:spPr>
          <a:xfrm>
            <a:off x="7424928" y="2587752"/>
            <a:ext cx="28895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Without it, no buyer can verify the carbon advantage we are underwriting.</a:t>
            </a:r>
            <a:endParaRPr lang="en-US" sz="850" dirty="0"/>
          </a:p>
        </p:txBody>
      </p:sp>
      <p:sp>
        <p:nvSpPr>
          <p:cNvPr id="47" name="Shape 44"/>
          <p:cNvSpPr/>
          <p:nvPr/>
        </p:nvSpPr>
        <p:spPr>
          <a:xfrm>
            <a:off x="10378440" y="2587752"/>
            <a:ext cx="1408176" cy="498348"/>
          </a:xfrm>
          <a:prstGeom prst="rect">
            <a:avLst/>
          </a:prstGeom>
          <a:solidFill>
            <a:srgbClr val="FFFFFF"/>
          </a:solidFill>
          <a:ln w="6350">
            <a:solidFill>
              <a:srgbClr val="D3DCE5"/>
            </a:solidFill>
            <a:prstDash val="solid"/>
          </a:ln>
        </p:spPr>
      </p:sp>
      <p:sp>
        <p:nvSpPr>
          <p:cNvPr id="48" name="Text 45"/>
          <p:cNvSpPr txBox="1"/>
          <p:nvPr/>
        </p:nvSpPr>
        <p:spPr>
          <a:xfrm>
            <a:off x="10442448" y="2587752"/>
            <a:ext cx="1280160" cy="498348"/>
          </a:xfrm>
          <a:prstGeom prst="rect">
            <a:avLst/>
          </a:prstGeom>
          <a:noFill/>
          <a:ln/>
        </p:spPr>
        <p:txBody>
          <a:bodyPr wrap="square" lIns="0" tIns="0" rIns="0" bIns="0" rtlCol="0" anchor="ctr"/>
          <a:lstStyle/>
          <a:p>
            <a:pPr algn="ctr" indent="0" marL="0">
              <a:buNone/>
            </a:pPr>
            <a:r>
              <a:rPr lang="en-US" sz="850" b="1" dirty="0">
                <a:solidFill>
                  <a:srgbClr val="A3282C"/>
                </a:solidFill>
                <a:latin typeface="Calibri" pitchFamily="34" charset="0"/>
                <a:ea typeface="Calibri" pitchFamily="34" charset="-122"/>
                <a:cs typeface="Calibri" pitchFamily="34" charset="-120"/>
              </a:rPr>
              <a:t>High</a:t>
            </a:r>
            <a:endParaRPr lang="en-US" sz="850" dirty="0"/>
          </a:p>
        </p:txBody>
      </p:sp>
      <p:sp>
        <p:nvSpPr>
          <p:cNvPr id="49" name="Shape 46"/>
          <p:cNvSpPr/>
          <p:nvPr/>
        </p:nvSpPr>
        <p:spPr>
          <a:xfrm>
            <a:off x="411480" y="3086100"/>
            <a:ext cx="2331720" cy="498348"/>
          </a:xfrm>
          <a:prstGeom prst="rect">
            <a:avLst/>
          </a:prstGeom>
          <a:solidFill>
            <a:srgbClr val="F7F9FB"/>
          </a:solidFill>
          <a:ln w="6350">
            <a:solidFill>
              <a:srgbClr val="D3DCE5"/>
            </a:solidFill>
            <a:prstDash val="solid"/>
          </a:ln>
        </p:spPr>
      </p:sp>
      <p:sp>
        <p:nvSpPr>
          <p:cNvPr id="50" name="Text 47"/>
          <p:cNvSpPr txBox="1"/>
          <p:nvPr/>
        </p:nvSpPr>
        <p:spPr>
          <a:xfrm>
            <a:off x="475488" y="3086100"/>
            <a:ext cx="2203704" cy="49834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A credible biodiversity offset</a:t>
            </a:r>
            <a:endParaRPr lang="en-US" sz="850" dirty="0"/>
          </a:p>
        </p:txBody>
      </p:sp>
      <p:sp>
        <p:nvSpPr>
          <p:cNvPr id="51" name="Shape 48"/>
          <p:cNvSpPr/>
          <p:nvPr/>
        </p:nvSpPr>
        <p:spPr>
          <a:xfrm>
            <a:off x="2743200" y="3086100"/>
            <a:ext cx="4617720" cy="498348"/>
          </a:xfrm>
          <a:prstGeom prst="rect">
            <a:avLst/>
          </a:prstGeom>
          <a:solidFill>
            <a:srgbClr val="F7F9FB"/>
          </a:solidFill>
          <a:ln w="6350">
            <a:solidFill>
              <a:srgbClr val="D3DCE5"/>
            </a:solidFill>
            <a:prstDash val="solid"/>
          </a:ln>
        </p:spPr>
      </p:sp>
      <p:sp>
        <p:nvSpPr>
          <p:cNvPr id="52" name="Text 49"/>
          <p:cNvSpPr txBox="1"/>
          <p:nvPr/>
        </p:nvSpPr>
        <p:spPr>
          <a:xfrm>
            <a:off x="2807208" y="3086100"/>
            <a:ext cx="44897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PLS pays into the Pilbara Environmental Offsets Fund. An independent review found its rate of A$893-3,781 per hectare too low to fund real conservation.</a:t>
            </a:r>
            <a:endParaRPr lang="en-US" sz="850" dirty="0"/>
          </a:p>
        </p:txBody>
      </p:sp>
      <p:sp>
        <p:nvSpPr>
          <p:cNvPr id="53" name="Shape 50"/>
          <p:cNvSpPr/>
          <p:nvPr/>
        </p:nvSpPr>
        <p:spPr>
          <a:xfrm>
            <a:off x="7360920" y="3086100"/>
            <a:ext cx="3017520" cy="498348"/>
          </a:xfrm>
          <a:prstGeom prst="rect">
            <a:avLst/>
          </a:prstGeom>
          <a:solidFill>
            <a:srgbClr val="F7F9FB"/>
          </a:solidFill>
          <a:ln w="6350">
            <a:solidFill>
              <a:srgbClr val="D3DCE5"/>
            </a:solidFill>
            <a:prstDash val="solid"/>
          </a:ln>
        </p:spPr>
      </p:sp>
      <p:sp>
        <p:nvSpPr>
          <p:cNvPr id="54" name="Text 51"/>
          <p:cNvSpPr txBox="1"/>
          <p:nvPr/>
        </p:nvSpPr>
        <p:spPr>
          <a:xfrm>
            <a:off x="7424928" y="3086100"/>
            <a:ext cx="28895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 sector-wide exposure, not a PLS failure - but PLS cannot claim biodiversity risk is mitigated by pointing at it.</a:t>
            </a:r>
            <a:endParaRPr lang="en-US" sz="850" dirty="0"/>
          </a:p>
        </p:txBody>
      </p:sp>
      <p:sp>
        <p:nvSpPr>
          <p:cNvPr id="55" name="Shape 52"/>
          <p:cNvSpPr/>
          <p:nvPr/>
        </p:nvSpPr>
        <p:spPr>
          <a:xfrm>
            <a:off x="10378440" y="3086100"/>
            <a:ext cx="1408176" cy="498348"/>
          </a:xfrm>
          <a:prstGeom prst="rect">
            <a:avLst/>
          </a:prstGeom>
          <a:solidFill>
            <a:srgbClr val="F7F9FB"/>
          </a:solidFill>
          <a:ln w="6350">
            <a:solidFill>
              <a:srgbClr val="D3DCE5"/>
            </a:solidFill>
            <a:prstDash val="solid"/>
          </a:ln>
        </p:spPr>
      </p:sp>
      <p:sp>
        <p:nvSpPr>
          <p:cNvPr id="56" name="Text 53"/>
          <p:cNvSpPr txBox="1"/>
          <p:nvPr/>
        </p:nvSpPr>
        <p:spPr>
          <a:xfrm>
            <a:off x="10442448" y="3086100"/>
            <a:ext cx="1280160" cy="498348"/>
          </a:xfrm>
          <a:prstGeom prst="rect">
            <a:avLst/>
          </a:prstGeom>
          <a:noFill/>
          <a:ln/>
        </p:spPr>
        <p:txBody>
          <a:bodyPr wrap="square" lIns="0" tIns="0" rIns="0" bIns="0" rtlCol="0" anchor="ctr"/>
          <a:lstStyle/>
          <a:p>
            <a:pPr algn="ctr" indent="0" marL="0">
              <a:buNone/>
            </a:pPr>
            <a:r>
              <a:rPr lang="en-US" sz="850" b="1" dirty="0">
                <a:solidFill>
                  <a:srgbClr val="A3282C"/>
                </a:solidFill>
                <a:latin typeface="Calibri" pitchFamily="34" charset="0"/>
                <a:ea typeface="Calibri" pitchFamily="34" charset="-122"/>
                <a:cs typeface="Calibri" pitchFamily="34" charset="-120"/>
              </a:rPr>
              <a:t>High</a:t>
            </a:r>
            <a:endParaRPr lang="en-US" sz="850" dirty="0"/>
          </a:p>
        </p:txBody>
      </p:sp>
      <p:sp>
        <p:nvSpPr>
          <p:cNvPr id="57" name="Shape 54"/>
          <p:cNvSpPr/>
          <p:nvPr/>
        </p:nvSpPr>
        <p:spPr>
          <a:xfrm>
            <a:off x="411480" y="3584448"/>
            <a:ext cx="2331720" cy="498348"/>
          </a:xfrm>
          <a:prstGeom prst="rect">
            <a:avLst/>
          </a:prstGeom>
          <a:solidFill>
            <a:srgbClr val="FFFFFF"/>
          </a:solidFill>
          <a:ln w="6350">
            <a:solidFill>
              <a:srgbClr val="D3DCE5"/>
            </a:solidFill>
            <a:prstDash val="solid"/>
          </a:ln>
        </p:spPr>
      </p:sp>
      <p:sp>
        <p:nvSpPr>
          <p:cNvPr id="58" name="Text 55"/>
          <p:cNvSpPr txBox="1"/>
          <p:nvPr/>
        </p:nvSpPr>
        <p:spPr>
          <a:xfrm>
            <a:off x="475488" y="3584448"/>
            <a:ext cx="2203704" cy="49834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Fleet decarbonisation</a:t>
            </a:r>
            <a:endParaRPr lang="en-US" sz="850" dirty="0"/>
          </a:p>
        </p:txBody>
      </p:sp>
      <p:sp>
        <p:nvSpPr>
          <p:cNvPr id="59" name="Shape 56"/>
          <p:cNvSpPr/>
          <p:nvPr/>
        </p:nvSpPr>
        <p:spPr>
          <a:xfrm>
            <a:off x="2743200" y="3584448"/>
            <a:ext cx="4617720" cy="498348"/>
          </a:xfrm>
          <a:prstGeom prst="rect">
            <a:avLst/>
          </a:prstGeom>
          <a:solidFill>
            <a:srgbClr val="FFFFFF"/>
          </a:solidFill>
          <a:ln w="6350">
            <a:solidFill>
              <a:srgbClr val="D3DCE5"/>
            </a:solidFill>
            <a:prstDash val="solid"/>
          </a:ln>
        </p:spPr>
      </p:sp>
      <p:sp>
        <p:nvSpPr>
          <p:cNvPr id="60" name="Text 57"/>
          <p:cNvSpPr txBox="1"/>
          <p:nvPr/>
        </p:nvSpPr>
        <p:spPr>
          <a:xfrm>
            <a:off x="2807208" y="3584448"/>
            <a:ext cx="44897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No electric haul fleet or trolley-assist programme found, while Fortescue runs public programmes.</a:t>
            </a:r>
            <a:endParaRPr lang="en-US" sz="850" dirty="0"/>
          </a:p>
        </p:txBody>
      </p:sp>
      <p:sp>
        <p:nvSpPr>
          <p:cNvPr id="61" name="Shape 58"/>
          <p:cNvSpPr/>
          <p:nvPr/>
        </p:nvSpPr>
        <p:spPr>
          <a:xfrm>
            <a:off x="7360920" y="3584448"/>
            <a:ext cx="3017520" cy="498348"/>
          </a:xfrm>
          <a:prstGeom prst="rect">
            <a:avLst/>
          </a:prstGeom>
          <a:solidFill>
            <a:srgbClr val="FFFFFF"/>
          </a:solidFill>
          <a:ln w="6350">
            <a:solidFill>
              <a:srgbClr val="D3DCE5"/>
            </a:solidFill>
            <a:prstDash val="solid"/>
          </a:ln>
        </p:spPr>
      </p:sp>
      <p:sp>
        <p:nvSpPr>
          <p:cNvPr id="62" name="Text 59"/>
          <p:cNvSpPr txBox="1"/>
          <p:nvPr/>
        </p:nvSpPr>
        <p:spPr>
          <a:xfrm>
            <a:off x="7424928" y="3584448"/>
            <a:ext cx="28895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 lever PLS has not pulled. Upside if taken, a gap in the meantime.</a:t>
            </a:r>
            <a:endParaRPr lang="en-US" sz="850" dirty="0"/>
          </a:p>
        </p:txBody>
      </p:sp>
      <p:sp>
        <p:nvSpPr>
          <p:cNvPr id="63" name="Shape 60"/>
          <p:cNvSpPr/>
          <p:nvPr/>
        </p:nvSpPr>
        <p:spPr>
          <a:xfrm>
            <a:off x="10378440" y="3584448"/>
            <a:ext cx="1408176" cy="498348"/>
          </a:xfrm>
          <a:prstGeom prst="rect">
            <a:avLst/>
          </a:prstGeom>
          <a:solidFill>
            <a:srgbClr val="FFFFFF"/>
          </a:solidFill>
          <a:ln w="6350">
            <a:solidFill>
              <a:srgbClr val="D3DCE5"/>
            </a:solidFill>
            <a:prstDash val="solid"/>
          </a:ln>
        </p:spPr>
      </p:sp>
      <p:sp>
        <p:nvSpPr>
          <p:cNvPr id="64" name="Text 61"/>
          <p:cNvSpPr txBox="1"/>
          <p:nvPr/>
        </p:nvSpPr>
        <p:spPr>
          <a:xfrm>
            <a:off x="10442448" y="3584448"/>
            <a:ext cx="1280160" cy="498348"/>
          </a:xfrm>
          <a:prstGeom prst="rect">
            <a:avLst/>
          </a:prstGeom>
          <a:noFill/>
          <a:ln/>
        </p:spPr>
        <p:txBody>
          <a:bodyPr wrap="square" lIns="0" tIns="0" rIns="0" bIns="0" rtlCol="0" anchor="ctr"/>
          <a:lstStyle/>
          <a:p>
            <a:pPr algn="ctr" indent="0" marL="0">
              <a:buNone/>
            </a:pPr>
            <a:r>
              <a:rPr lang="en-US" sz="850" b="1" dirty="0">
                <a:solidFill>
                  <a:srgbClr val="C2610A"/>
                </a:solidFill>
                <a:latin typeface="Calibri" pitchFamily="34" charset="0"/>
                <a:ea typeface="Calibri" pitchFamily="34" charset="-122"/>
                <a:cs typeface="Calibri" pitchFamily="34" charset="-120"/>
              </a:rPr>
              <a:t>Medium</a:t>
            </a:r>
            <a:endParaRPr lang="en-US" sz="850" dirty="0"/>
          </a:p>
        </p:txBody>
      </p:sp>
      <p:sp>
        <p:nvSpPr>
          <p:cNvPr id="65" name="Shape 62"/>
          <p:cNvSpPr/>
          <p:nvPr/>
        </p:nvSpPr>
        <p:spPr>
          <a:xfrm>
            <a:off x="411480" y="4082796"/>
            <a:ext cx="2331720" cy="498348"/>
          </a:xfrm>
          <a:prstGeom prst="rect">
            <a:avLst/>
          </a:prstGeom>
          <a:solidFill>
            <a:srgbClr val="F7F9FB"/>
          </a:solidFill>
          <a:ln w="6350">
            <a:solidFill>
              <a:srgbClr val="D3DCE5"/>
            </a:solidFill>
            <a:prstDash val="solid"/>
          </a:ln>
        </p:spPr>
      </p:sp>
      <p:sp>
        <p:nvSpPr>
          <p:cNvPr id="66" name="Text 63"/>
          <p:cNvSpPr txBox="1"/>
          <p:nvPr/>
        </p:nvSpPr>
        <p:spPr>
          <a:xfrm>
            <a:off x="475488" y="4082796"/>
            <a:ext cx="2203704" cy="49834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Tailings approach</a:t>
            </a:r>
            <a:endParaRPr lang="en-US" sz="850" dirty="0"/>
          </a:p>
        </p:txBody>
      </p:sp>
      <p:sp>
        <p:nvSpPr>
          <p:cNvPr id="67" name="Shape 64"/>
          <p:cNvSpPr/>
          <p:nvPr/>
        </p:nvSpPr>
        <p:spPr>
          <a:xfrm>
            <a:off x="2743200" y="4082796"/>
            <a:ext cx="4617720" cy="498348"/>
          </a:xfrm>
          <a:prstGeom prst="rect">
            <a:avLst/>
          </a:prstGeom>
          <a:solidFill>
            <a:srgbClr val="F7F9FB"/>
          </a:solidFill>
          <a:ln w="6350">
            <a:solidFill>
              <a:srgbClr val="D3DCE5"/>
            </a:solidFill>
            <a:prstDash val="solid"/>
          </a:ln>
        </p:spPr>
      </p:sp>
      <p:sp>
        <p:nvSpPr>
          <p:cNvPr id="68" name="Text 65"/>
          <p:cNvSpPr txBox="1"/>
          <p:nvPr/>
        </p:nvSpPr>
        <p:spPr>
          <a:xfrm>
            <a:off x="2807208" y="4082796"/>
            <a:ext cx="44897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Not disclosed. We could not establish whether Pilgangoora uses filtered or conventional wet tailings, nor its GISTM status.</a:t>
            </a:r>
            <a:endParaRPr lang="en-US" sz="850" dirty="0"/>
          </a:p>
        </p:txBody>
      </p:sp>
      <p:sp>
        <p:nvSpPr>
          <p:cNvPr id="69" name="Shape 66"/>
          <p:cNvSpPr/>
          <p:nvPr/>
        </p:nvSpPr>
        <p:spPr>
          <a:xfrm>
            <a:off x="7360920" y="4082796"/>
            <a:ext cx="3017520" cy="498348"/>
          </a:xfrm>
          <a:prstGeom prst="rect">
            <a:avLst/>
          </a:prstGeom>
          <a:solidFill>
            <a:srgbClr val="F7F9FB"/>
          </a:solidFill>
          <a:ln w="6350">
            <a:solidFill>
              <a:srgbClr val="D3DCE5"/>
            </a:solidFill>
            <a:prstDash val="solid"/>
          </a:ln>
        </p:spPr>
      </p:sp>
      <p:sp>
        <p:nvSpPr>
          <p:cNvPr id="70" name="Text 67"/>
          <p:cNvSpPr txBox="1"/>
          <p:nvPr/>
        </p:nvSpPr>
        <p:spPr>
          <a:xfrm>
            <a:off x="7424928" y="4082796"/>
            <a:ext cx="2889504" cy="49834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We refuse to assert either way. It is an unpriced risk, and we say so.</a:t>
            </a:r>
            <a:endParaRPr lang="en-US" sz="850" dirty="0"/>
          </a:p>
        </p:txBody>
      </p:sp>
      <p:sp>
        <p:nvSpPr>
          <p:cNvPr id="71" name="Shape 68"/>
          <p:cNvSpPr/>
          <p:nvPr/>
        </p:nvSpPr>
        <p:spPr>
          <a:xfrm>
            <a:off x="10378440" y="4082796"/>
            <a:ext cx="1408176" cy="498348"/>
          </a:xfrm>
          <a:prstGeom prst="rect">
            <a:avLst/>
          </a:prstGeom>
          <a:solidFill>
            <a:srgbClr val="F7F9FB"/>
          </a:solidFill>
          <a:ln w="6350">
            <a:solidFill>
              <a:srgbClr val="D3DCE5"/>
            </a:solidFill>
            <a:prstDash val="solid"/>
          </a:ln>
        </p:spPr>
      </p:sp>
      <p:sp>
        <p:nvSpPr>
          <p:cNvPr id="72" name="Text 69"/>
          <p:cNvSpPr txBox="1"/>
          <p:nvPr/>
        </p:nvSpPr>
        <p:spPr>
          <a:xfrm>
            <a:off x="10442448" y="4082796"/>
            <a:ext cx="1280160" cy="498348"/>
          </a:xfrm>
          <a:prstGeom prst="rect">
            <a:avLst/>
          </a:prstGeom>
          <a:noFill/>
          <a:ln/>
        </p:spPr>
        <p:txBody>
          <a:bodyPr wrap="square" lIns="0" tIns="0" rIns="0" bIns="0" rtlCol="0" anchor="ctr"/>
          <a:lstStyle/>
          <a:p>
            <a:pPr algn="ctr" indent="0" marL="0">
              <a:buNone/>
            </a:pPr>
            <a:r>
              <a:rPr lang="en-US" sz="850" b="1" dirty="0">
                <a:solidFill>
                  <a:srgbClr val="C2610A"/>
                </a:solidFill>
                <a:latin typeface="Calibri" pitchFamily="34" charset="0"/>
                <a:ea typeface="Calibri" pitchFamily="34" charset="-122"/>
                <a:cs typeface="Calibri" pitchFamily="34" charset="-120"/>
              </a:rPr>
              <a:t>Medium</a:t>
            </a:r>
            <a:endParaRPr lang="en-US" sz="850" dirty="0"/>
          </a:p>
        </p:txBody>
      </p:sp>
      <p:sp>
        <p:nvSpPr>
          <p:cNvPr id="73" name="Shape 70"/>
          <p:cNvSpPr/>
          <p:nvPr/>
        </p:nvSpPr>
        <p:spPr>
          <a:xfrm>
            <a:off x="411480" y="4608576"/>
            <a:ext cx="5532120" cy="1188720"/>
          </a:xfrm>
          <a:prstGeom prst="rect">
            <a:avLst/>
          </a:prstGeom>
          <a:solidFill>
            <a:srgbClr val="FBEBD9"/>
          </a:solidFill>
          <a:ln w="9525">
            <a:solidFill>
              <a:srgbClr val="E8C9A3"/>
            </a:solidFill>
            <a:prstDash val="solid"/>
          </a:ln>
        </p:spPr>
      </p:sp>
      <p:sp>
        <p:nvSpPr>
          <p:cNvPr id="74" name="Text 71"/>
          <p:cNvSpPr txBox="1"/>
          <p:nvPr/>
        </p:nvSpPr>
        <p:spPr>
          <a:xfrm>
            <a:off x="576072" y="4736592"/>
            <a:ext cx="520293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The contradiction we had to resolve</a:t>
            </a:r>
            <a:endParaRPr lang="en-US" sz="1150" dirty="0"/>
          </a:p>
        </p:txBody>
      </p:sp>
      <p:sp>
        <p:nvSpPr>
          <p:cNvPr id="75" name="Text 72"/>
          <p:cNvSpPr txBox="1"/>
          <p:nvPr/>
        </p:nvSpPr>
        <p:spPr>
          <a:xfrm>
            <a:off x="576072" y="5065776"/>
            <a:ext cx="5202936" cy="640080"/>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We argue that social licence protects the P2000 permitting schedule while also reporting that the offset system underpinning that licence is independently judged inadequate. Both are true. The offsets regime is a live risk to every Pilbara miner, which makes getting ahead of it an opportunity rather than a footnote.</a:t>
            </a:r>
            <a:endParaRPr lang="en-US" sz="900" dirty="0"/>
          </a:p>
        </p:txBody>
      </p:sp>
      <p:sp>
        <p:nvSpPr>
          <p:cNvPr id="76" name="Shape 73"/>
          <p:cNvSpPr/>
          <p:nvPr/>
        </p:nvSpPr>
        <p:spPr>
          <a:xfrm>
            <a:off x="6153912" y="4608576"/>
            <a:ext cx="5632704" cy="1188720"/>
          </a:xfrm>
          <a:prstGeom prst="rect">
            <a:avLst/>
          </a:prstGeom>
          <a:solidFill>
            <a:srgbClr val="D6EBE7"/>
          </a:solidFill>
          <a:ln w="9525">
            <a:solidFill>
              <a:srgbClr val="AFD3CC"/>
            </a:solidFill>
            <a:prstDash val="solid"/>
          </a:ln>
        </p:spPr>
      </p:sp>
      <p:sp>
        <p:nvSpPr>
          <p:cNvPr id="77" name="Text 74"/>
          <p:cNvSpPr txBox="1"/>
          <p:nvPr/>
        </p:nvSpPr>
        <p:spPr>
          <a:xfrm>
            <a:off x="6318504" y="4736592"/>
            <a:ext cx="5303520"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Our three engagement asks as a shareholder</a:t>
            </a:r>
            <a:endParaRPr lang="en-US" sz="1150" dirty="0"/>
          </a:p>
        </p:txBody>
      </p:sp>
      <p:sp>
        <p:nvSpPr>
          <p:cNvPr id="78" name="Text 75"/>
          <p:cNvSpPr txBox="1"/>
          <p:nvPr/>
        </p:nvSpPr>
        <p:spPr>
          <a:xfrm>
            <a:off x="6318504" y="5065776"/>
            <a:ext cx="5303520" cy="640080"/>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1.  Convert the 2040s window into a dated, SBTi-validated target.</a:t>
            </a: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2.  Publish emissions intensity per tonne of concentrate and a verified product carbon footprint - the metric the EU regime will require anyway.</a:t>
            </a: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3.  Disclose the tailings method and GISTM conformance status.</a:t>
            </a:r>
            <a:endParaRPr lang="en-US" sz="900" dirty="0"/>
          </a:p>
        </p:txBody>
      </p:sp>
      <p:sp>
        <p:nvSpPr>
          <p:cNvPr id="79" name="Text 76"/>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climate and sustainability disclosures; ABC News, 'Pilbara mining offset scheme leaves threatened species short-changed, review finds', 21 October 2024; team research. Items marked as not found were searched for and could not be verified; we have not assumed absence of disclosure means absence of practice.</a:t>
            </a:r>
            <a:endParaRPr lang="en-US" sz="720" dirty="0"/>
          </a:p>
        </p:txBody>
      </p:sp>
      <p:sp>
        <p:nvSpPr>
          <p:cNvPr id="80" name="Text 77"/>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Text 2"/>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5" name="Text 3"/>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6" name="Shape 4"/>
          <p:cNvSpPr/>
          <p:nvPr/>
        </p:nvSpPr>
        <p:spPr>
          <a:xfrm>
            <a:off x="6130138" y="6400800"/>
            <a:ext cx="1335024" cy="274320"/>
          </a:xfrm>
          <a:prstGeom prst="roundRect">
            <a:avLst>
              <a:gd name="adj" fmla="val 20000"/>
            </a:avLst>
          </a:prstGeom>
          <a:solidFill>
            <a:srgbClr val="10233A"/>
          </a:solidFill>
          <a:ln/>
        </p:spPr>
      </p:sp>
      <p:sp>
        <p:nvSpPr>
          <p:cNvPr id="7" name="Text 5"/>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Shared Value</a:t>
            </a:r>
            <a:endParaRPr lang="en-US" sz="850" dirty="0"/>
          </a:p>
        </p:txBody>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Nothing here is added to the DCF. These levers are already inside the A$569/t cost base the model discounts. The question is how much of the value depends on them.</a:t>
            </a:r>
            <a:endParaRPr lang="en-US" sz="14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The bridge is an attribution, not an addition</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1389888"/>
            <a:ext cx="7333488" cy="2212848"/>
          </a:xfrm>
          <a:prstGeom prst="rect">
            <a:avLst/>
          </a:prstGeom>
          <a:solidFill>
            <a:srgbClr val="F7F9FB"/>
          </a:solidFill>
          <a:ln w="9525">
            <a:solidFill>
              <a:srgbClr val="D3DCE5"/>
            </a:solidFill>
            <a:prstDash val="solid"/>
          </a:ln>
        </p:spPr>
      </p:sp>
      <p:sp>
        <p:nvSpPr>
          <p:cNvPr id="18" name="Shape 15"/>
          <p:cNvSpPr/>
          <p:nvPr/>
        </p:nvSpPr>
        <p:spPr>
          <a:xfrm>
            <a:off x="731520" y="2304288"/>
            <a:ext cx="1234440" cy="566928"/>
          </a:xfrm>
          <a:prstGeom prst="rect">
            <a:avLst/>
          </a:prstGeom>
          <a:solidFill>
            <a:srgbClr val="1C3A5E"/>
          </a:solidFill>
          <a:ln/>
        </p:spPr>
      </p:sp>
      <p:sp>
        <p:nvSpPr>
          <p:cNvPr id="19" name="Text 16"/>
          <p:cNvSpPr txBox="1"/>
          <p:nvPr/>
        </p:nvSpPr>
        <p:spPr>
          <a:xfrm>
            <a:off x="731520" y="2304288"/>
            <a:ext cx="12344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A$5.48</a:t>
            </a:r>
            <a:endParaRPr lang="en-US" sz="1100" dirty="0"/>
          </a:p>
        </p:txBody>
      </p:sp>
      <p:sp>
        <p:nvSpPr>
          <p:cNvPr id="20" name="Text 17"/>
          <p:cNvSpPr txBox="1"/>
          <p:nvPr/>
        </p:nvSpPr>
        <p:spPr>
          <a:xfrm>
            <a:off x="731520" y="2889504"/>
            <a:ext cx="1234440" cy="237744"/>
          </a:xfrm>
          <a:prstGeom prst="rect">
            <a:avLst/>
          </a:prstGeom>
          <a:noFill/>
          <a:ln/>
        </p:spPr>
        <p:txBody>
          <a:bodyPr wrap="square" lIns="0" tIns="0" rIns="0" bIns="0" rtlCol="0" anchor="t"/>
          <a:lstStyle/>
          <a:p>
            <a:pPr algn="ctr" indent="0" marL="0">
              <a:buNone/>
            </a:pPr>
            <a:r>
              <a:rPr lang="en-US" sz="850" dirty="0">
                <a:solidFill>
                  <a:srgbClr val="5F7183"/>
                </a:solidFill>
                <a:latin typeface="Calibri" pitchFamily="34" charset="0"/>
                <a:ea typeface="Calibri" pitchFamily="34" charset="-122"/>
                <a:cs typeface="Calibri" pitchFamily="34" charset="-120"/>
              </a:rPr>
              <a:t>Last close</a:t>
            </a:r>
            <a:endParaRPr lang="en-US" sz="850" dirty="0"/>
          </a:p>
        </p:txBody>
      </p:sp>
      <p:sp>
        <p:nvSpPr>
          <p:cNvPr id="21" name="Shape 18"/>
          <p:cNvSpPr/>
          <p:nvPr/>
        </p:nvSpPr>
        <p:spPr>
          <a:xfrm>
            <a:off x="2075688" y="2304288"/>
            <a:ext cx="1597242" cy="566928"/>
          </a:xfrm>
          <a:prstGeom prst="rect">
            <a:avLst/>
          </a:prstGeom>
          <a:solidFill>
            <a:srgbClr val="0E7C6B"/>
          </a:solidFill>
          <a:ln/>
        </p:spPr>
      </p:sp>
      <p:sp>
        <p:nvSpPr>
          <p:cNvPr id="22" name="Text 19"/>
          <p:cNvSpPr txBox="1"/>
          <p:nvPr/>
        </p:nvSpPr>
        <p:spPr>
          <a:xfrm>
            <a:off x="2075688" y="2304288"/>
            <a:ext cx="1597242"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+0.43</a:t>
            </a:r>
            <a:endParaRPr lang="en-US" sz="1000" dirty="0"/>
          </a:p>
        </p:txBody>
      </p:sp>
      <p:sp>
        <p:nvSpPr>
          <p:cNvPr id="23" name="Text 20"/>
          <p:cNvSpPr txBox="1"/>
          <p:nvPr/>
        </p:nvSpPr>
        <p:spPr>
          <a:xfrm>
            <a:off x="1874520" y="2889504"/>
            <a:ext cx="1999578" cy="420624"/>
          </a:xfrm>
          <a:prstGeom prst="rect">
            <a:avLst/>
          </a:prstGeom>
          <a:noFill/>
          <a:ln/>
        </p:spPr>
        <p:txBody>
          <a:bodyPr wrap="square" lIns="0" tIns="0" rIns="0" bIns="0" rtlCol="0" anchor="t"/>
          <a:lstStyle/>
          <a:p>
            <a:pPr algn="ctr" indent="0" marL="0">
              <a:buNone/>
            </a:pPr>
            <a:r>
              <a:rPr lang="en-US" sz="850" b="1" dirty="0">
                <a:solidFill>
                  <a:srgbClr val="0E7C6B"/>
                </a:solidFill>
                <a:latin typeface="Calibri" pitchFamily="34" charset="0"/>
                <a:ea typeface="Calibri" pitchFamily="34" charset="-122"/>
                <a:cs typeface="Calibri" pitchFamily="34" charset="-120"/>
              </a:rPr>
              <a:t>Shared value</a:t>
            </a:r>
            <a:endParaRPr lang="en-US" sz="850" dirty="0"/>
          </a:p>
          <a:p>
            <a:pPr algn="ctr" indent="0" marL="0">
              <a:buNone/>
            </a:pPr>
            <a:r>
              <a:rPr lang="en-US" sz="850" b="1" dirty="0">
                <a:solidFill>
                  <a:srgbClr val="0E7C6B"/>
                </a:solidFill>
                <a:latin typeface="Calibri" pitchFamily="34" charset="0"/>
                <a:ea typeface="Calibri" pitchFamily="34" charset="-122"/>
                <a:cs typeface="Calibri" pitchFamily="34" charset="-120"/>
              </a:rPr>
              <a:t>66% of the upside</a:t>
            </a:r>
            <a:endParaRPr lang="en-US" sz="850" dirty="0"/>
          </a:p>
        </p:txBody>
      </p:sp>
      <p:sp>
        <p:nvSpPr>
          <p:cNvPr id="24" name="Shape 21"/>
          <p:cNvSpPr/>
          <p:nvPr/>
        </p:nvSpPr>
        <p:spPr>
          <a:xfrm>
            <a:off x="3746082" y="2304288"/>
            <a:ext cx="839913" cy="566928"/>
          </a:xfrm>
          <a:prstGeom prst="rect">
            <a:avLst/>
          </a:prstGeom>
          <a:solidFill>
            <a:srgbClr val="8C9BA9"/>
          </a:solidFill>
          <a:ln/>
        </p:spPr>
      </p:sp>
      <p:sp>
        <p:nvSpPr>
          <p:cNvPr id="25" name="Text 22"/>
          <p:cNvSpPr txBox="1"/>
          <p:nvPr/>
        </p:nvSpPr>
        <p:spPr>
          <a:xfrm>
            <a:off x="3746082" y="2304288"/>
            <a:ext cx="839913" cy="56692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+0.21</a:t>
            </a:r>
            <a:endParaRPr lang="en-US" sz="900" dirty="0"/>
          </a:p>
        </p:txBody>
      </p:sp>
      <p:sp>
        <p:nvSpPr>
          <p:cNvPr id="26" name="Text 23"/>
          <p:cNvSpPr txBox="1"/>
          <p:nvPr/>
        </p:nvSpPr>
        <p:spPr>
          <a:xfrm>
            <a:off x="3471762" y="2889504"/>
            <a:ext cx="1297113" cy="237744"/>
          </a:xfrm>
          <a:prstGeom prst="rect">
            <a:avLst/>
          </a:prstGeom>
          <a:noFill/>
          <a:ln/>
        </p:spPr>
        <p:txBody>
          <a:bodyPr wrap="square" lIns="0" tIns="0" rIns="0" bIns="0" rtlCol="0" anchor="t"/>
          <a:lstStyle/>
          <a:p>
            <a:pPr algn="ctr" indent="0" marL="0">
              <a:buNone/>
            </a:pPr>
            <a:r>
              <a:rPr lang="en-US" sz="850" dirty="0">
                <a:solidFill>
                  <a:srgbClr val="5F7183"/>
                </a:solidFill>
                <a:latin typeface="Calibri" pitchFamily="34" charset="0"/>
                <a:ea typeface="Calibri" pitchFamily="34" charset="-122"/>
                <a:cs typeface="Calibri" pitchFamily="34" charset="-120"/>
              </a:rPr>
              <a:t>Everything else</a:t>
            </a:r>
            <a:endParaRPr lang="en-US" sz="850" dirty="0"/>
          </a:p>
        </p:txBody>
      </p:sp>
      <p:sp>
        <p:nvSpPr>
          <p:cNvPr id="27" name="Shape 24"/>
          <p:cNvSpPr/>
          <p:nvPr/>
        </p:nvSpPr>
        <p:spPr>
          <a:xfrm>
            <a:off x="4714011" y="2048256"/>
            <a:ext cx="1325880" cy="822960"/>
          </a:xfrm>
          <a:prstGeom prst="rect">
            <a:avLst/>
          </a:prstGeom>
          <a:solidFill>
            <a:srgbClr val="10233A"/>
          </a:solidFill>
          <a:ln/>
        </p:spPr>
      </p:sp>
      <p:sp>
        <p:nvSpPr>
          <p:cNvPr id="28" name="Text 25"/>
          <p:cNvSpPr txBox="1"/>
          <p:nvPr/>
        </p:nvSpPr>
        <p:spPr>
          <a:xfrm>
            <a:off x="4714011" y="2048256"/>
            <a:ext cx="1325880" cy="8229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A$6.14</a:t>
            </a:r>
            <a:endParaRPr lang="en-US" sz="1200" dirty="0"/>
          </a:p>
        </p:txBody>
      </p:sp>
      <p:sp>
        <p:nvSpPr>
          <p:cNvPr id="29" name="Text 26"/>
          <p:cNvSpPr txBox="1"/>
          <p:nvPr/>
        </p:nvSpPr>
        <p:spPr>
          <a:xfrm>
            <a:off x="4714011" y="2889504"/>
            <a:ext cx="1325880" cy="237744"/>
          </a:xfrm>
          <a:prstGeom prst="rect">
            <a:avLst/>
          </a:prstGeom>
          <a:noFill/>
          <a:ln/>
        </p:spPr>
        <p:txBody>
          <a:bodyPr wrap="square" lIns="0" tIns="0" rIns="0" bIns="0" rtlCol="0" anchor="t"/>
          <a:lstStyle/>
          <a:p>
            <a:pPr algn="ctr" indent="0" marL="0">
              <a:buNone/>
            </a:pPr>
            <a:r>
              <a:rPr lang="en-US" sz="850" b="1" dirty="0">
                <a:solidFill>
                  <a:srgbClr val="10233A"/>
                </a:solidFill>
                <a:latin typeface="Calibri" pitchFamily="34" charset="0"/>
                <a:ea typeface="Calibri" pitchFamily="34" charset="-122"/>
                <a:cs typeface="Calibri" pitchFamily="34" charset="-120"/>
              </a:rPr>
              <a:t>Target</a:t>
            </a:r>
            <a:endParaRPr lang="en-US" sz="850" dirty="0"/>
          </a:p>
        </p:txBody>
      </p:sp>
      <p:sp>
        <p:nvSpPr>
          <p:cNvPr id="30" name="Shape 27"/>
          <p:cNvSpPr/>
          <p:nvPr/>
        </p:nvSpPr>
        <p:spPr>
          <a:xfrm>
            <a:off x="6195339" y="2048256"/>
            <a:ext cx="1325880" cy="822960"/>
          </a:xfrm>
          <a:prstGeom prst="rect">
            <a:avLst/>
          </a:prstGeom>
          <a:solidFill>
            <a:srgbClr val="FFFFFF"/>
          </a:solidFill>
          <a:ln w="15875">
            <a:solidFill>
              <a:srgbClr val="0E7C6B"/>
            </a:solidFill>
            <a:prstDash val="dash"/>
          </a:ln>
        </p:spPr>
      </p:sp>
      <p:sp>
        <p:nvSpPr>
          <p:cNvPr id="31" name="Text 28"/>
          <p:cNvSpPr txBox="1"/>
          <p:nvPr/>
        </p:nvSpPr>
        <p:spPr>
          <a:xfrm>
            <a:off x="6195339" y="2048256"/>
            <a:ext cx="1325880" cy="822960"/>
          </a:xfrm>
          <a:prstGeom prst="rect">
            <a:avLst/>
          </a:prstGeom>
          <a:noFill/>
          <a:ln/>
        </p:spPr>
        <p:txBody>
          <a:bodyPr wrap="square" lIns="0" tIns="0" rIns="0" bIns="0" rtlCol="0" anchor="ctr"/>
          <a:lstStyle/>
          <a:p>
            <a:pPr algn="ctr" indent="0" marL="0">
              <a:buNone/>
            </a:pPr>
            <a:r>
              <a:rPr lang="en-US" sz="1200" b="1" dirty="0">
                <a:solidFill>
                  <a:srgbClr val="0E7C6B"/>
                </a:solidFill>
                <a:latin typeface="Calibri" pitchFamily="34" charset="0"/>
                <a:ea typeface="Calibri" pitchFamily="34" charset="-122"/>
                <a:cs typeface="Calibri" pitchFamily="34" charset="-120"/>
              </a:rPr>
              <a:t>+0.32</a:t>
            </a:r>
            <a:endParaRPr lang="en-US" sz="1200" dirty="0"/>
          </a:p>
        </p:txBody>
      </p:sp>
      <p:sp>
        <p:nvSpPr>
          <p:cNvPr id="32" name="Text 29"/>
          <p:cNvSpPr txBox="1"/>
          <p:nvPr/>
        </p:nvSpPr>
        <p:spPr>
          <a:xfrm>
            <a:off x="6012459" y="2889504"/>
            <a:ext cx="1691640" cy="420624"/>
          </a:xfrm>
          <a:prstGeom prst="rect">
            <a:avLst/>
          </a:prstGeom>
          <a:noFill/>
          <a:ln/>
        </p:spPr>
        <p:txBody>
          <a:bodyPr wrap="square" lIns="0" tIns="0" rIns="0" bIns="0" rtlCol="0" anchor="t"/>
          <a:lstStyle/>
          <a:p>
            <a:pPr algn="ctr" indent="0" marL="0">
              <a:buNone/>
            </a:pPr>
            <a:r>
              <a:rPr lang="en-US" sz="850" b="1" dirty="0">
                <a:solidFill>
                  <a:srgbClr val="0E7C6B"/>
                </a:solidFill>
                <a:latin typeface="Calibri" pitchFamily="34" charset="0"/>
                <a:ea typeface="Calibri" pitchFamily="34" charset="-122"/>
                <a:cs typeface="Calibri" pitchFamily="34" charset="-120"/>
              </a:rPr>
              <a:t>Downstream option</a:t>
            </a:r>
            <a:endParaRPr lang="en-US" sz="850" dirty="0"/>
          </a:p>
          <a:p>
            <a:pPr algn="ctr" indent="0" marL="0">
              <a:buNone/>
            </a:pPr>
            <a:r>
              <a:rPr lang="en-US" sz="850" b="1" dirty="0">
                <a:solidFill>
                  <a:srgbClr val="0E7C6B"/>
                </a:solidFill>
                <a:latin typeface="Calibri" pitchFamily="34" charset="0"/>
                <a:ea typeface="Calibri" pitchFamily="34" charset="-122"/>
                <a:cs typeface="Calibri" pitchFamily="34" charset="-120"/>
              </a:rPr>
              <a:t>not in the target</a:t>
            </a:r>
            <a:endParaRPr lang="en-US" sz="850" dirty="0"/>
          </a:p>
        </p:txBody>
      </p:sp>
      <p:sp>
        <p:nvSpPr>
          <p:cNvPr id="33" name="Text 30"/>
          <p:cNvSpPr txBox="1"/>
          <p:nvPr/>
        </p:nvSpPr>
        <p:spPr>
          <a:xfrm>
            <a:off x="594360" y="1499616"/>
            <a:ext cx="6967728" cy="274320"/>
          </a:xfrm>
          <a:prstGeom prst="rect">
            <a:avLst/>
          </a:prstGeom>
          <a:noFill/>
          <a:ln/>
        </p:spPr>
        <p:txBody>
          <a:bodyPr wrap="square" lIns="0" tIns="0" rIns="0" bIns="0" rtlCol="0" anchor="ctr"/>
          <a:lstStyle/>
          <a:p>
            <a:pPr indent="0" marL="0">
              <a:buNone/>
            </a:pPr>
            <a:r>
              <a:rPr lang="en-US" sz="1100" b="1" dirty="0">
                <a:solidFill>
                  <a:srgbClr val="10233A"/>
                </a:solidFill>
                <a:latin typeface="Calibri" pitchFamily="34" charset="0"/>
                <a:ea typeface="Calibri" pitchFamily="34" charset="-122"/>
                <a:cs typeface="Calibri" pitchFamily="34" charset="-120"/>
              </a:rPr>
              <a:t>From last close to target, and what sits beyond it</a:t>
            </a:r>
            <a:endParaRPr lang="en-US" sz="1100" dirty="0"/>
          </a:p>
        </p:txBody>
      </p:sp>
      <p:sp>
        <p:nvSpPr>
          <p:cNvPr id="34" name="Shape 31"/>
          <p:cNvSpPr/>
          <p:nvPr/>
        </p:nvSpPr>
        <p:spPr>
          <a:xfrm>
            <a:off x="7946136" y="1389888"/>
            <a:ext cx="3840480" cy="2212848"/>
          </a:xfrm>
          <a:prstGeom prst="rect">
            <a:avLst/>
          </a:prstGeom>
          <a:solidFill>
            <a:srgbClr val="D6EBE7"/>
          </a:solidFill>
          <a:ln w="9525">
            <a:solidFill>
              <a:srgbClr val="AFD3CC"/>
            </a:solidFill>
            <a:prstDash val="solid"/>
          </a:ln>
        </p:spPr>
      </p:sp>
      <p:sp>
        <p:nvSpPr>
          <p:cNvPr id="35" name="Text 32"/>
          <p:cNvSpPr txBox="1"/>
          <p:nvPr/>
        </p:nvSpPr>
        <p:spPr>
          <a:xfrm>
            <a:off x="8110728" y="1517904"/>
            <a:ext cx="3529584"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The arithmetic that reframes this pitch</a:t>
            </a:r>
            <a:endParaRPr lang="en-US" sz="1150" dirty="0"/>
          </a:p>
        </p:txBody>
      </p:sp>
      <p:sp>
        <p:nvSpPr>
          <p:cNvPr id="36" name="Text 33"/>
          <p:cNvSpPr txBox="1"/>
          <p:nvPr/>
        </p:nvSpPr>
        <p:spPr>
          <a:xfrm>
            <a:off x="8129016" y="1956816"/>
            <a:ext cx="3474720" cy="1536192"/>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940" dirty="0">
                <a:solidFill>
                  <a:srgbClr val="1B2733"/>
                </a:solidFill>
                <a:latin typeface="Calibri" pitchFamily="34" charset="0"/>
                <a:ea typeface="Calibri" pitchFamily="34" charset="-122"/>
                <a:cs typeface="Calibri" pitchFamily="34" charset="-120"/>
              </a:rPr>
              <a:t>Measured against the A$6.14 target, A$0.43 of shared value is 4.6%. A rounding adjustment.</a:t>
            </a:r>
            <a:endParaRPr lang="en-US" sz="940" dirty="0"/>
          </a:p>
          <a:p>
            <a:pPr marL="342900" indent="-342900">
              <a:lnSpc>
                <a:spcPct val="100000"/>
              </a:lnSpc>
              <a:spcAft>
                <a:spcPts val="500"/>
              </a:spcAft>
              <a:buSzPct val="100000"/>
              <a:buChar char="▪"/>
            </a:pPr>
            <a:r>
              <a:rPr lang="en-US" sz="940" dirty="0">
                <a:solidFill>
                  <a:srgbClr val="1B2733"/>
                </a:solidFill>
                <a:latin typeface="Calibri" pitchFamily="34" charset="0"/>
                <a:ea typeface="Calibri" pitchFamily="34" charset="-122"/>
                <a:cs typeface="Calibri" pitchFamily="34" charset="-120"/>
              </a:rPr>
              <a:t>Measured against the A$0.66 of upside, it is 66%. Most of the investment case.</a:t>
            </a:r>
            <a:endParaRPr lang="en-US" sz="940" dirty="0"/>
          </a:p>
          <a:p>
            <a:pPr marL="342900" indent="-342900">
              <a:lnSpc>
                <a:spcPct val="100000"/>
              </a:lnSpc>
              <a:spcAft>
                <a:spcPts val="500"/>
              </a:spcAft>
              <a:buSzPct val="100000"/>
              <a:buChar char="▪"/>
            </a:pPr>
            <a:r>
              <a:rPr lang="en-US" sz="940" dirty="0">
                <a:solidFill>
                  <a:srgbClr val="1B2733"/>
                </a:solidFill>
                <a:latin typeface="Calibri" pitchFamily="34" charset="0"/>
                <a:ea typeface="Calibri" pitchFamily="34" charset="-122"/>
                <a:cs typeface="Calibri" pitchFamily="34" charset="-120"/>
              </a:rPr>
              <a:t>The upside is the right denominator, because the upside is what the recommendation is.</a:t>
            </a:r>
            <a:endParaRPr lang="en-US" sz="940" dirty="0"/>
          </a:p>
        </p:txBody>
      </p:sp>
      <p:sp>
        <p:nvSpPr>
          <p:cNvPr id="37" name="Shape 34"/>
          <p:cNvSpPr/>
          <p:nvPr/>
        </p:nvSpPr>
        <p:spPr>
          <a:xfrm>
            <a:off x="411480" y="3767328"/>
            <a:ext cx="1874520" cy="292608"/>
          </a:xfrm>
          <a:prstGeom prst="rect">
            <a:avLst/>
          </a:prstGeom>
          <a:solidFill>
            <a:srgbClr val="10233A"/>
          </a:solidFill>
          <a:ln/>
        </p:spPr>
      </p:sp>
      <p:sp>
        <p:nvSpPr>
          <p:cNvPr id="38" name="Text 35"/>
          <p:cNvSpPr txBox="1"/>
          <p:nvPr/>
        </p:nvSpPr>
        <p:spPr>
          <a:xfrm>
            <a:off x="475488" y="3767328"/>
            <a:ext cx="1746504" cy="292608"/>
          </a:xfrm>
          <a:prstGeom prst="rect">
            <a:avLst/>
          </a:prstGeom>
          <a:noFill/>
          <a:ln/>
        </p:spPr>
        <p:txBody>
          <a:bodyPr wrap="square" lIns="0" tIns="0" rIns="0" bIns="0" rtlCol="0" anchor="ctr"/>
          <a:lstStyle/>
          <a:p>
            <a:pPr algn="l" indent="0" marL="0">
              <a:buNone/>
            </a:pPr>
            <a:r>
              <a:rPr lang="en-US" sz="840" b="1" dirty="0">
                <a:solidFill>
                  <a:srgbClr val="FFFFFF"/>
                </a:solidFill>
                <a:latin typeface="Calibri" pitchFamily="34" charset="0"/>
                <a:ea typeface="Calibri" pitchFamily="34" charset="-122"/>
                <a:cs typeface="Calibri" pitchFamily="34" charset="-120"/>
              </a:rPr>
              <a:t>Tier</a:t>
            </a:r>
            <a:endParaRPr lang="en-US" sz="840" dirty="0"/>
          </a:p>
        </p:txBody>
      </p:sp>
      <p:sp>
        <p:nvSpPr>
          <p:cNvPr id="39" name="Shape 36"/>
          <p:cNvSpPr/>
          <p:nvPr/>
        </p:nvSpPr>
        <p:spPr>
          <a:xfrm>
            <a:off x="2286000" y="3767328"/>
            <a:ext cx="2971800" cy="292608"/>
          </a:xfrm>
          <a:prstGeom prst="rect">
            <a:avLst/>
          </a:prstGeom>
          <a:solidFill>
            <a:srgbClr val="10233A"/>
          </a:solidFill>
          <a:ln/>
        </p:spPr>
      </p:sp>
      <p:sp>
        <p:nvSpPr>
          <p:cNvPr id="40" name="Text 37"/>
          <p:cNvSpPr txBox="1"/>
          <p:nvPr/>
        </p:nvSpPr>
        <p:spPr>
          <a:xfrm>
            <a:off x="2350008" y="3767328"/>
            <a:ext cx="2843784" cy="292608"/>
          </a:xfrm>
          <a:prstGeom prst="rect">
            <a:avLst/>
          </a:prstGeom>
          <a:noFill/>
          <a:ln/>
        </p:spPr>
        <p:txBody>
          <a:bodyPr wrap="square" lIns="0" tIns="0" rIns="0" bIns="0" rtlCol="0" anchor="ctr"/>
          <a:lstStyle/>
          <a:p>
            <a:pPr algn="l" indent="0" marL="0">
              <a:buNone/>
            </a:pPr>
            <a:r>
              <a:rPr lang="en-US" sz="840" b="1" dirty="0">
                <a:solidFill>
                  <a:srgbClr val="FFFFFF"/>
                </a:solidFill>
                <a:latin typeface="Calibri" pitchFamily="34" charset="0"/>
                <a:ea typeface="Calibri" pitchFamily="34" charset="-122"/>
                <a:cs typeface="Calibri" pitchFamily="34" charset="-120"/>
              </a:rPr>
              <a:t>Lever</a:t>
            </a:r>
            <a:endParaRPr lang="en-US" sz="840" dirty="0"/>
          </a:p>
        </p:txBody>
      </p:sp>
      <p:sp>
        <p:nvSpPr>
          <p:cNvPr id="41" name="Shape 38"/>
          <p:cNvSpPr/>
          <p:nvPr/>
        </p:nvSpPr>
        <p:spPr>
          <a:xfrm>
            <a:off x="5257800" y="3767328"/>
            <a:ext cx="1005840" cy="292608"/>
          </a:xfrm>
          <a:prstGeom prst="rect">
            <a:avLst/>
          </a:prstGeom>
          <a:solidFill>
            <a:srgbClr val="10233A"/>
          </a:solidFill>
          <a:ln/>
        </p:spPr>
      </p:sp>
      <p:sp>
        <p:nvSpPr>
          <p:cNvPr id="42" name="Text 39"/>
          <p:cNvSpPr txBox="1"/>
          <p:nvPr/>
        </p:nvSpPr>
        <p:spPr>
          <a:xfrm>
            <a:off x="5321808" y="3767328"/>
            <a:ext cx="877824" cy="292608"/>
          </a:xfrm>
          <a:prstGeom prst="rect">
            <a:avLst/>
          </a:prstGeom>
          <a:noFill/>
          <a:ln/>
        </p:spPr>
        <p:txBody>
          <a:bodyPr wrap="square" lIns="0" tIns="0" rIns="0" bIns="0" rtlCol="0" anchor="ctr"/>
          <a:lstStyle/>
          <a:p>
            <a:pPr algn="ctr" indent="0" marL="0">
              <a:buNone/>
            </a:pPr>
            <a:r>
              <a:rPr lang="en-US" sz="840" b="1" dirty="0">
                <a:solidFill>
                  <a:srgbClr val="FFFFFF"/>
                </a:solidFill>
                <a:latin typeface="Calibri" pitchFamily="34" charset="0"/>
                <a:ea typeface="Calibri" pitchFamily="34" charset="-122"/>
                <a:cs typeface="Calibri" pitchFamily="34" charset="-120"/>
              </a:rPr>
              <a:t>A$/share</a:t>
            </a:r>
            <a:endParaRPr lang="en-US" sz="840" dirty="0"/>
          </a:p>
        </p:txBody>
      </p:sp>
      <p:sp>
        <p:nvSpPr>
          <p:cNvPr id="43" name="Shape 40"/>
          <p:cNvSpPr/>
          <p:nvPr/>
        </p:nvSpPr>
        <p:spPr>
          <a:xfrm>
            <a:off x="6263640" y="3767328"/>
            <a:ext cx="5522976" cy="292608"/>
          </a:xfrm>
          <a:prstGeom prst="rect">
            <a:avLst/>
          </a:prstGeom>
          <a:solidFill>
            <a:srgbClr val="10233A"/>
          </a:solidFill>
          <a:ln/>
        </p:spPr>
      </p:sp>
      <p:sp>
        <p:nvSpPr>
          <p:cNvPr id="44" name="Text 41"/>
          <p:cNvSpPr txBox="1"/>
          <p:nvPr/>
        </p:nvSpPr>
        <p:spPr>
          <a:xfrm>
            <a:off x="6327648" y="3767328"/>
            <a:ext cx="5394960" cy="292608"/>
          </a:xfrm>
          <a:prstGeom prst="rect">
            <a:avLst/>
          </a:prstGeom>
          <a:noFill/>
          <a:ln/>
        </p:spPr>
        <p:txBody>
          <a:bodyPr wrap="square" lIns="0" tIns="0" rIns="0" bIns="0" rtlCol="0" anchor="ctr"/>
          <a:lstStyle/>
          <a:p>
            <a:pPr algn="l" indent="0" marL="0">
              <a:buNone/>
            </a:pPr>
            <a:r>
              <a:rPr lang="en-US" sz="840" b="1" dirty="0">
                <a:solidFill>
                  <a:srgbClr val="FFFFFF"/>
                </a:solidFill>
                <a:latin typeface="Calibri" pitchFamily="34" charset="0"/>
                <a:ea typeface="Calibri" pitchFamily="34" charset="-122"/>
                <a:cs typeface="Calibri" pitchFamily="34" charset="-120"/>
              </a:rPr>
              <a:t>Treatment</a:t>
            </a:r>
            <a:endParaRPr lang="en-US" sz="840" dirty="0"/>
          </a:p>
        </p:txBody>
      </p:sp>
      <p:sp>
        <p:nvSpPr>
          <p:cNvPr id="45" name="Shape 42"/>
          <p:cNvSpPr/>
          <p:nvPr/>
        </p:nvSpPr>
        <p:spPr>
          <a:xfrm>
            <a:off x="411480" y="4059936"/>
            <a:ext cx="1874520" cy="269748"/>
          </a:xfrm>
          <a:prstGeom prst="rect">
            <a:avLst/>
          </a:prstGeom>
          <a:solidFill>
            <a:srgbClr val="D6EBE7"/>
          </a:solidFill>
          <a:ln w="6350">
            <a:solidFill>
              <a:srgbClr val="D3DCE5"/>
            </a:solidFill>
            <a:prstDash val="solid"/>
          </a:ln>
        </p:spPr>
      </p:sp>
      <p:sp>
        <p:nvSpPr>
          <p:cNvPr id="46" name="Text 43"/>
          <p:cNvSpPr txBox="1"/>
          <p:nvPr/>
        </p:nvSpPr>
        <p:spPr>
          <a:xfrm>
            <a:off x="475488" y="4059936"/>
            <a:ext cx="1746504" cy="269748"/>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In the target</a:t>
            </a:r>
            <a:endParaRPr lang="en-US" sz="860" dirty="0"/>
          </a:p>
        </p:txBody>
      </p:sp>
      <p:sp>
        <p:nvSpPr>
          <p:cNvPr id="47" name="Shape 44"/>
          <p:cNvSpPr/>
          <p:nvPr/>
        </p:nvSpPr>
        <p:spPr>
          <a:xfrm>
            <a:off x="2286000" y="4059936"/>
            <a:ext cx="2971800" cy="269748"/>
          </a:xfrm>
          <a:prstGeom prst="rect">
            <a:avLst/>
          </a:prstGeom>
          <a:solidFill>
            <a:srgbClr val="D6EBE7"/>
          </a:solidFill>
          <a:ln w="6350">
            <a:solidFill>
              <a:srgbClr val="D3DCE5"/>
            </a:solidFill>
            <a:prstDash val="solid"/>
          </a:ln>
        </p:spPr>
      </p:sp>
      <p:sp>
        <p:nvSpPr>
          <p:cNvPr id="48" name="Text 45"/>
          <p:cNvSpPr txBox="1"/>
          <p:nvPr/>
        </p:nvSpPr>
        <p:spPr>
          <a:xfrm>
            <a:off x="2350008" y="4059936"/>
            <a:ext cx="2843784"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Ore sorting</a:t>
            </a:r>
            <a:endParaRPr lang="en-US" sz="860" dirty="0"/>
          </a:p>
        </p:txBody>
      </p:sp>
      <p:sp>
        <p:nvSpPr>
          <p:cNvPr id="49" name="Shape 46"/>
          <p:cNvSpPr/>
          <p:nvPr/>
        </p:nvSpPr>
        <p:spPr>
          <a:xfrm>
            <a:off x="5257800" y="4059936"/>
            <a:ext cx="1005840" cy="269748"/>
          </a:xfrm>
          <a:prstGeom prst="rect">
            <a:avLst/>
          </a:prstGeom>
          <a:solidFill>
            <a:srgbClr val="D6EBE7"/>
          </a:solidFill>
          <a:ln w="6350">
            <a:solidFill>
              <a:srgbClr val="D3DCE5"/>
            </a:solidFill>
            <a:prstDash val="solid"/>
          </a:ln>
        </p:spPr>
      </p:sp>
      <p:sp>
        <p:nvSpPr>
          <p:cNvPr id="50" name="Text 47"/>
          <p:cNvSpPr txBox="1"/>
          <p:nvPr/>
        </p:nvSpPr>
        <p:spPr>
          <a:xfrm>
            <a:off x="5321808" y="4059936"/>
            <a:ext cx="877824" cy="26974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0.19</a:t>
            </a:r>
            <a:endParaRPr lang="en-US" sz="860" dirty="0"/>
          </a:p>
        </p:txBody>
      </p:sp>
      <p:sp>
        <p:nvSpPr>
          <p:cNvPr id="51" name="Shape 48"/>
          <p:cNvSpPr/>
          <p:nvPr/>
        </p:nvSpPr>
        <p:spPr>
          <a:xfrm>
            <a:off x="6263640" y="4059936"/>
            <a:ext cx="5522976" cy="269748"/>
          </a:xfrm>
          <a:prstGeom prst="rect">
            <a:avLst/>
          </a:prstGeom>
          <a:solidFill>
            <a:srgbClr val="D6EBE7"/>
          </a:solidFill>
          <a:ln w="6350">
            <a:solidFill>
              <a:srgbClr val="D3DCE5"/>
            </a:solidFill>
            <a:prstDash val="solid"/>
          </a:ln>
        </p:spPr>
      </p:sp>
      <p:sp>
        <p:nvSpPr>
          <p:cNvPr id="52" name="Text 49"/>
          <p:cNvSpPr txBox="1"/>
          <p:nvPr/>
        </p:nvSpPr>
        <p:spPr>
          <a:xfrm>
            <a:off x="6327648" y="4059936"/>
            <a:ext cx="5394960"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Already inside the A$569/t cost base the DCF discounts. Attributed, not added.</a:t>
            </a:r>
            <a:endParaRPr lang="en-US" sz="860" dirty="0"/>
          </a:p>
        </p:txBody>
      </p:sp>
      <p:sp>
        <p:nvSpPr>
          <p:cNvPr id="53" name="Shape 50"/>
          <p:cNvSpPr/>
          <p:nvPr/>
        </p:nvSpPr>
        <p:spPr>
          <a:xfrm>
            <a:off x="411480" y="4329684"/>
            <a:ext cx="1874520" cy="269748"/>
          </a:xfrm>
          <a:prstGeom prst="rect">
            <a:avLst/>
          </a:prstGeom>
          <a:solidFill>
            <a:srgbClr val="D6EBE7"/>
          </a:solidFill>
          <a:ln w="6350">
            <a:solidFill>
              <a:srgbClr val="D3DCE5"/>
            </a:solidFill>
            <a:prstDash val="solid"/>
          </a:ln>
        </p:spPr>
      </p:sp>
      <p:sp>
        <p:nvSpPr>
          <p:cNvPr id="54" name="Text 51"/>
          <p:cNvSpPr txBox="1"/>
          <p:nvPr/>
        </p:nvSpPr>
        <p:spPr>
          <a:xfrm>
            <a:off x="475488" y="4329684"/>
            <a:ext cx="1746504" cy="269748"/>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In the target</a:t>
            </a:r>
            <a:endParaRPr lang="en-US" sz="860" dirty="0"/>
          </a:p>
        </p:txBody>
      </p:sp>
      <p:sp>
        <p:nvSpPr>
          <p:cNvPr id="55" name="Shape 52"/>
          <p:cNvSpPr/>
          <p:nvPr/>
        </p:nvSpPr>
        <p:spPr>
          <a:xfrm>
            <a:off x="2286000" y="4329684"/>
            <a:ext cx="2971800" cy="269748"/>
          </a:xfrm>
          <a:prstGeom prst="rect">
            <a:avLst/>
          </a:prstGeom>
          <a:solidFill>
            <a:srgbClr val="D6EBE7"/>
          </a:solidFill>
          <a:ln w="6350">
            <a:solidFill>
              <a:srgbClr val="D3DCE5"/>
            </a:solidFill>
            <a:prstDash val="solid"/>
          </a:ln>
        </p:spPr>
      </p:sp>
      <p:sp>
        <p:nvSpPr>
          <p:cNvPr id="56" name="Text 53"/>
          <p:cNvSpPr txBox="1"/>
          <p:nvPr/>
        </p:nvSpPr>
        <p:spPr>
          <a:xfrm>
            <a:off x="2350008" y="4329684"/>
            <a:ext cx="2843784"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Power: gas, solar, storage</a:t>
            </a:r>
            <a:endParaRPr lang="en-US" sz="860" dirty="0"/>
          </a:p>
        </p:txBody>
      </p:sp>
      <p:sp>
        <p:nvSpPr>
          <p:cNvPr id="57" name="Shape 54"/>
          <p:cNvSpPr/>
          <p:nvPr/>
        </p:nvSpPr>
        <p:spPr>
          <a:xfrm>
            <a:off x="5257800" y="4329684"/>
            <a:ext cx="1005840" cy="269748"/>
          </a:xfrm>
          <a:prstGeom prst="rect">
            <a:avLst/>
          </a:prstGeom>
          <a:solidFill>
            <a:srgbClr val="D6EBE7"/>
          </a:solidFill>
          <a:ln w="6350">
            <a:solidFill>
              <a:srgbClr val="D3DCE5"/>
            </a:solidFill>
            <a:prstDash val="solid"/>
          </a:ln>
        </p:spPr>
      </p:sp>
      <p:sp>
        <p:nvSpPr>
          <p:cNvPr id="58" name="Text 55"/>
          <p:cNvSpPr txBox="1"/>
          <p:nvPr/>
        </p:nvSpPr>
        <p:spPr>
          <a:xfrm>
            <a:off x="5321808" y="4329684"/>
            <a:ext cx="877824" cy="26974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0.11</a:t>
            </a:r>
            <a:endParaRPr lang="en-US" sz="860" dirty="0"/>
          </a:p>
        </p:txBody>
      </p:sp>
      <p:sp>
        <p:nvSpPr>
          <p:cNvPr id="59" name="Shape 56"/>
          <p:cNvSpPr/>
          <p:nvPr/>
        </p:nvSpPr>
        <p:spPr>
          <a:xfrm>
            <a:off x="6263640" y="4329684"/>
            <a:ext cx="5522976" cy="269748"/>
          </a:xfrm>
          <a:prstGeom prst="rect">
            <a:avLst/>
          </a:prstGeom>
          <a:solidFill>
            <a:srgbClr val="D6EBE7"/>
          </a:solidFill>
          <a:ln w="6350">
            <a:solidFill>
              <a:srgbClr val="D3DCE5"/>
            </a:solidFill>
            <a:prstDash val="solid"/>
          </a:ln>
        </p:spPr>
      </p:sp>
      <p:sp>
        <p:nvSpPr>
          <p:cNvPr id="60" name="Text 57"/>
          <p:cNvSpPr txBox="1"/>
          <p:nvPr/>
        </p:nvSpPr>
        <p:spPr>
          <a:xfrm>
            <a:off x="6327648" y="4329684"/>
            <a:ext cx="5394960"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Same. The bridge decomposes the valuation; it does not inflate it.</a:t>
            </a:r>
            <a:endParaRPr lang="en-US" sz="860" dirty="0"/>
          </a:p>
        </p:txBody>
      </p:sp>
      <p:sp>
        <p:nvSpPr>
          <p:cNvPr id="61" name="Shape 58"/>
          <p:cNvSpPr/>
          <p:nvPr/>
        </p:nvSpPr>
        <p:spPr>
          <a:xfrm>
            <a:off x="411480" y="4599432"/>
            <a:ext cx="1874520" cy="269748"/>
          </a:xfrm>
          <a:prstGeom prst="rect">
            <a:avLst/>
          </a:prstGeom>
          <a:solidFill>
            <a:srgbClr val="D6EBE7"/>
          </a:solidFill>
          <a:ln w="6350">
            <a:solidFill>
              <a:srgbClr val="D3DCE5"/>
            </a:solidFill>
            <a:prstDash val="solid"/>
          </a:ln>
        </p:spPr>
      </p:sp>
      <p:sp>
        <p:nvSpPr>
          <p:cNvPr id="62" name="Text 59"/>
          <p:cNvSpPr txBox="1"/>
          <p:nvPr/>
        </p:nvSpPr>
        <p:spPr>
          <a:xfrm>
            <a:off x="475488" y="4599432"/>
            <a:ext cx="1746504" cy="269748"/>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In the target</a:t>
            </a:r>
            <a:endParaRPr lang="en-US" sz="860" dirty="0"/>
          </a:p>
        </p:txBody>
      </p:sp>
      <p:sp>
        <p:nvSpPr>
          <p:cNvPr id="63" name="Shape 60"/>
          <p:cNvSpPr/>
          <p:nvPr/>
        </p:nvSpPr>
        <p:spPr>
          <a:xfrm>
            <a:off x="2286000" y="4599432"/>
            <a:ext cx="2971800" cy="269748"/>
          </a:xfrm>
          <a:prstGeom prst="rect">
            <a:avLst/>
          </a:prstGeom>
          <a:solidFill>
            <a:srgbClr val="D6EBE7"/>
          </a:solidFill>
          <a:ln w="6350">
            <a:solidFill>
              <a:srgbClr val="D3DCE5"/>
            </a:solidFill>
            <a:prstDash val="solid"/>
          </a:ln>
        </p:spPr>
      </p:sp>
      <p:sp>
        <p:nvSpPr>
          <p:cNvPr id="64" name="Text 61"/>
          <p:cNvSpPr txBox="1"/>
          <p:nvPr/>
        </p:nvSpPr>
        <p:spPr>
          <a:xfrm>
            <a:off x="2350008" y="4599432"/>
            <a:ext cx="2843784"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P2000 schedule protection</a:t>
            </a:r>
            <a:endParaRPr lang="en-US" sz="860" dirty="0"/>
          </a:p>
        </p:txBody>
      </p:sp>
      <p:sp>
        <p:nvSpPr>
          <p:cNvPr id="65" name="Shape 62"/>
          <p:cNvSpPr/>
          <p:nvPr/>
        </p:nvSpPr>
        <p:spPr>
          <a:xfrm>
            <a:off x="5257800" y="4599432"/>
            <a:ext cx="1005840" cy="269748"/>
          </a:xfrm>
          <a:prstGeom prst="rect">
            <a:avLst/>
          </a:prstGeom>
          <a:solidFill>
            <a:srgbClr val="D6EBE7"/>
          </a:solidFill>
          <a:ln w="6350">
            <a:solidFill>
              <a:srgbClr val="D3DCE5"/>
            </a:solidFill>
            <a:prstDash val="solid"/>
          </a:ln>
        </p:spPr>
      </p:sp>
      <p:sp>
        <p:nvSpPr>
          <p:cNvPr id="66" name="Text 63"/>
          <p:cNvSpPr txBox="1"/>
          <p:nvPr/>
        </p:nvSpPr>
        <p:spPr>
          <a:xfrm>
            <a:off x="5321808" y="4599432"/>
            <a:ext cx="877824" cy="26974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0.13</a:t>
            </a:r>
            <a:endParaRPr lang="en-US" sz="860" dirty="0"/>
          </a:p>
        </p:txBody>
      </p:sp>
      <p:sp>
        <p:nvSpPr>
          <p:cNvPr id="67" name="Shape 64"/>
          <p:cNvSpPr/>
          <p:nvPr/>
        </p:nvSpPr>
        <p:spPr>
          <a:xfrm>
            <a:off x="6263640" y="4599432"/>
            <a:ext cx="5522976" cy="269748"/>
          </a:xfrm>
          <a:prstGeom prst="rect">
            <a:avLst/>
          </a:prstGeom>
          <a:solidFill>
            <a:srgbClr val="D6EBE7"/>
          </a:solidFill>
          <a:ln w="6350">
            <a:solidFill>
              <a:srgbClr val="D3DCE5"/>
            </a:solidFill>
            <a:prstDash val="solid"/>
          </a:ln>
        </p:spPr>
      </p:sp>
      <p:sp>
        <p:nvSpPr>
          <p:cNvPr id="68" name="Text 65"/>
          <p:cNvSpPr txBox="1"/>
          <p:nvPr/>
        </p:nvSpPr>
        <p:spPr>
          <a:xfrm>
            <a:off x="6327648" y="4599432"/>
            <a:ext cx="5394960"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Value of avoiding a two-year permitting slip on a A$2.6bn NPV, at our WACC.</a:t>
            </a:r>
            <a:endParaRPr lang="en-US" sz="860" dirty="0"/>
          </a:p>
        </p:txBody>
      </p:sp>
      <p:sp>
        <p:nvSpPr>
          <p:cNvPr id="69" name="Shape 66"/>
          <p:cNvSpPr/>
          <p:nvPr/>
        </p:nvSpPr>
        <p:spPr>
          <a:xfrm>
            <a:off x="411480" y="4869180"/>
            <a:ext cx="1874520" cy="269748"/>
          </a:xfrm>
          <a:prstGeom prst="rect">
            <a:avLst/>
          </a:prstGeom>
          <a:solidFill>
            <a:srgbClr val="FBEBD9"/>
          </a:solidFill>
          <a:ln w="6350">
            <a:solidFill>
              <a:srgbClr val="D3DCE5"/>
            </a:solidFill>
            <a:prstDash val="solid"/>
          </a:ln>
        </p:spPr>
      </p:sp>
      <p:sp>
        <p:nvSpPr>
          <p:cNvPr id="70" name="Text 67"/>
          <p:cNvSpPr txBox="1"/>
          <p:nvPr/>
        </p:nvSpPr>
        <p:spPr>
          <a:xfrm>
            <a:off x="475488" y="4869180"/>
            <a:ext cx="1746504" cy="269748"/>
          </a:xfrm>
          <a:prstGeom prst="rect">
            <a:avLst/>
          </a:prstGeom>
          <a:noFill/>
          <a:ln/>
        </p:spPr>
        <p:txBody>
          <a:bodyPr wrap="square" lIns="0" tIns="0" rIns="0" bIns="0" rtlCol="0" anchor="ctr"/>
          <a:lstStyle/>
          <a:p>
            <a:pPr algn="l" indent="0" marL="0">
              <a:buNone/>
            </a:pPr>
            <a:r>
              <a:rPr lang="en-US" sz="860" b="1" dirty="0">
                <a:solidFill>
                  <a:srgbClr val="C2610A"/>
                </a:solidFill>
                <a:latin typeface="Calibri" pitchFamily="34" charset="0"/>
                <a:ea typeface="Calibri" pitchFamily="34" charset="-122"/>
                <a:cs typeface="Calibri" pitchFamily="34" charset="-120"/>
              </a:rPr>
              <a:t>Outside the target</a:t>
            </a:r>
            <a:endParaRPr lang="en-US" sz="860" dirty="0"/>
          </a:p>
        </p:txBody>
      </p:sp>
      <p:sp>
        <p:nvSpPr>
          <p:cNvPr id="71" name="Shape 68"/>
          <p:cNvSpPr/>
          <p:nvPr/>
        </p:nvSpPr>
        <p:spPr>
          <a:xfrm>
            <a:off x="2286000" y="4869180"/>
            <a:ext cx="2971800" cy="269748"/>
          </a:xfrm>
          <a:prstGeom prst="rect">
            <a:avLst/>
          </a:prstGeom>
          <a:solidFill>
            <a:srgbClr val="FBEBD9"/>
          </a:solidFill>
          <a:ln w="6350">
            <a:solidFill>
              <a:srgbClr val="D3DCE5"/>
            </a:solidFill>
            <a:prstDash val="solid"/>
          </a:ln>
        </p:spPr>
      </p:sp>
      <p:sp>
        <p:nvSpPr>
          <p:cNvPr id="72" name="Text 69"/>
          <p:cNvSpPr txBox="1"/>
          <p:nvPr/>
        </p:nvSpPr>
        <p:spPr>
          <a:xfrm>
            <a:off x="2350008" y="4869180"/>
            <a:ext cx="2843784"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Mid-stream lithium phosphate</a:t>
            </a:r>
            <a:endParaRPr lang="en-US" sz="860" dirty="0"/>
          </a:p>
        </p:txBody>
      </p:sp>
      <p:sp>
        <p:nvSpPr>
          <p:cNvPr id="73" name="Shape 70"/>
          <p:cNvSpPr/>
          <p:nvPr/>
        </p:nvSpPr>
        <p:spPr>
          <a:xfrm>
            <a:off x="5257800" y="4869180"/>
            <a:ext cx="1005840" cy="269748"/>
          </a:xfrm>
          <a:prstGeom prst="rect">
            <a:avLst/>
          </a:prstGeom>
          <a:solidFill>
            <a:srgbClr val="FBEBD9"/>
          </a:solidFill>
          <a:ln w="6350">
            <a:solidFill>
              <a:srgbClr val="D3DCE5"/>
            </a:solidFill>
            <a:prstDash val="solid"/>
          </a:ln>
        </p:spPr>
      </p:sp>
      <p:sp>
        <p:nvSpPr>
          <p:cNvPr id="74" name="Text 71"/>
          <p:cNvSpPr txBox="1"/>
          <p:nvPr/>
        </p:nvSpPr>
        <p:spPr>
          <a:xfrm>
            <a:off x="5321808" y="4869180"/>
            <a:ext cx="877824" cy="26974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0.21</a:t>
            </a:r>
            <a:endParaRPr lang="en-US" sz="860" dirty="0"/>
          </a:p>
        </p:txBody>
      </p:sp>
      <p:sp>
        <p:nvSpPr>
          <p:cNvPr id="75" name="Shape 72"/>
          <p:cNvSpPr/>
          <p:nvPr/>
        </p:nvSpPr>
        <p:spPr>
          <a:xfrm>
            <a:off x="6263640" y="4869180"/>
            <a:ext cx="5522976" cy="269748"/>
          </a:xfrm>
          <a:prstGeom prst="rect">
            <a:avLst/>
          </a:prstGeom>
          <a:solidFill>
            <a:srgbClr val="FBEBD9"/>
          </a:solidFill>
          <a:ln w="6350">
            <a:solidFill>
              <a:srgbClr val="D3DCE5"/>
            </a:solidFill>
            <a:prstDash val="solid"/>
          </a:ln>
        </p:spPr>
      </p:sp>
      <p:sp>
        <p:nvSpPr>
          <p:cNvPr id="76" name="Text 73"/>
          <p:cNvSpPr txBox="1"/>
          <p:nvPr/>
        </p:nvSpPr>
        <p:spPr>
          <a:xfrm>
            <a:off x="6327648" y="4869180"/>
            <a:ext cx="5394960"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Risked at 45%. Plant built, first production due in the September 2026 quarter.</a:t>
            </a:r>
            <a:endParaRPr lang="en-US" sz="860" dirty="0"/>
          </a:p>
        </p:txBody>
      </p:sp>
      <p:sp>
        <p:nvSpPr>
          <p:cNvPr id="77" name="Shape 74"/>
          <p:cNvSpPr/>
          <p:nvPr/>
        </p:nvSpPr>
        <p:spPr>
          <a:xfrm>
            <a:off x="411480" y="5138928"/>
            <a:ext cx="1874520" cy="269748"/>
          </a:xfrm>
          <a:prstGeom prst="rect">
            <a:avLst/>
          </a:prstGeom>
          <a:solidFill>
            <a:srgbClr val="FBEBD9"/>
          </a:solidFill>
          <a:ln w="6350">
            <a:solidFill>
              <a:srgbClr val="D3DCE5"/>
            </a:solidFill>
            <a:prstDash val="solid"/>
          </a:ln>
        </p:spPr>
      </p:sp>
      <p:sp>
        <p:nvSpPr>
          <p:cNvPr id="78" name="Text 75"/>
          <p:cNvSpPr txBox="1"/>
          <p:nvPr/>
        </p:nvSpPr>
        <p:spPr>
          <a:xfrm>
            <a:off x="475488" y="5138928"/>
            <a:ext cx="1746504" cy="269748"/>
          </a:xfrm>
          <a:prstGeom prst="rect">
            <a:avLst/>
          </a:prstGeom>
          <a:noFill/>
          <a:ln/>
        </p:spPr>
        <p:txBody>
          <a:bodyPr wrap="square" lIns="0" tIns="0" rIns="0" bIns="0" rtlCol="0" anchor="ctr"/>
          <a:lstStyle/>
          <a:p>
            <a:pPr algn="l" indent="0" marL="0">
              <a:buNone/>
            </a:pPr>
            <a:r>
              <a:rPr lang="en-US" sz="860" b="1" dirty="0">
                <a:solidFill>
                  <a:srgbClr val="C2610A"/>
                </a:solidFill>
                <a:latin typeface="Calibri" pitchFamily="34" charset="0"/>
                <a:ea typeface="Calibri" pitchFamily="34" charset="-122"/>
                <a:cs typeface="Calibri" pitchFamily="34" charset="-120"/>
              </a:rPr>
              <a:t>Outside the target</a:t>
            </a:r>
            <a:endParaRPr lang="en-US" sz="860" dirty="0"/>
          </a:p>
        </p:txBody>
      </p:sp>
      <p:sp>
        <p:nvSpPr>
          <p:cNvPr id="79" name="Shape 76"/>
          <p:cNvSpPr/>
          <p:nvPr/>
        </p:nvSpPr>
        <p:spPr>
          <a:xfrm>
            <a:off x="2286000" y="5138928"/>
            <a:ext cx="2971800" cy="269748"/>
          </a:xfrm>
          <a:prstGeom prst="rect">
            <a:avLst/>
          </a:prstGeom>
          <a:solidFill>
            <a:srgbClr val="FBEBD9"/>
          </a:solidFill>
          <a:ln w="6350">
            <a:solidFill>
              <a:srgbClr val="D3DCE5"/>
            </a:solidFill>
            <a:prstDash val="solid"/>
          </a:ln>
        </p:spPr>
      </p:sp>
      <p:sp>
        <p:nvSpPr>
          <p:cNvPr id="80" name="Text 77"/>
          <p:cNvSpPr txBox="1"/>
          <p:nvPr/>
        </p:nvSpPr>
        <p:spPr>
          <a:xfrm>
            <a:off x="2350008" y="5138928"/>
            <a:ext cx="2843784"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POSCO joint venture equity</a:t>
            </a:r>
            <a:endParaRPr lang="en-US" sz="860" dirty="0"/>
          </a:p>
        </p:txBody>
      </p:sp>
      <p:sp>
        <p:nvSpPr>
          <p:cNvPr id="81" name="Shape 78"/>
          <p:cNvSpPr/>
          <p:nvPr/>
        </p:nvSpPr>
        <p:spPr>
          <a:xfrm>
            <a:off x="5257800" y="5138928"/>
            <a:ext cx="1005840" cy="269748"/>
          </a:xfrm>
          <a:prstGeom prst="rect">
            <a:avLst/>
          </a:prstGeom>
          <a:solidFill>
            <a:srgbClr val="FBEBD9"/>
          </a:solidFill>
          <a:ln w="6350">
            <a:solidFill>
              <a:srgbClr val="D3DCE5"/>
            </a:solidFill>
            <a:prstDash val="solid"/>
          </a:ln>
        </p:spPr>
      </p:sp>
      <p:sp>
        <p:nvSpPr>
          <p:cNvPr id="82" name="Text 79"/>
          <p:cNvSpPr txBox="1"/>
          <p:nvPr/>
        </p:nvSpPr>
        <p:spPr>
          <a:xfrm>
            <a:off x="5321808" y="5138928"/>
            <a:ext cx="877824" cy="26974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0.06</a:t>
            </a:r>
            <a:endParaRPr lang="en-US" sz="860" dirty="0"/>
          </a:p>
        </p:txBody>
      </p:sp>
      <p:sp>
        <p:nvSpPr>
          <p:cNvPr id="83" name="Shape 80"/>
          <p:cNvSpPr/>
          <p:nvPr/>
        </p:nvSpPr>
        <p:spPr>
          <a:xfrm>
            <a:off x="6263640" y="5138928"/>
            <a:ext cx="5522976" cy="269748"/>
          </a:xfrm>
          <a:prstGeom prst="rect">
            <a:avLst/>
          </a:prstGeom>
          <a:solidFill>
            <a:srgbClr val="FBEBD9"/>
          </a:solidFill>
          <a:ln w="6350">
            <a:solidFill>
              <a:srgbClr val="D3DCE5"/>
            </a:solidFill>
            <a:prstDash val="solid"/>
          </a:ln>
        </p:spPr>
      </p:sp>
      <p:sp>
        <p:nvSpPr>
          <p:cNvPr id="84" name="Text 81"/>
          <p:cNvSpPr txBox="1"/>
          <p:nvPr/>
        </p:nvSpPr>
        <p:spPr>
          <a:xfrm>
            <a:off x="6327648" y="5138928"/>
            <a:ext cx="5394960"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Risked at 70%. Both trains built, Train 2 ramping. Lowest execution risk.</a:t>
            </a:r>
            <a:endParaRPr lang="en-US" sz="860" dirty="0"/>
          </a:p>
        </p:txBody>
      </p:sp>
      <p:sp>
        <p:nvSpPr>
          <p:cNvPr id="85" name="Shape 82"/>
          <p:cNvSpPr/>
          <p:nvPr/>
        </p:nvSpPr>
        <p:spPr>
          <a:xfrm>
            <a:off x="411480" y="5408676"/>
            <a:ext cx="1874520" cy="269748"/>
          </a:xfrm>
          <a:prstGeom prst="rect">
            <a:avLst/>
          </a:prstGeom>
          <a:solidFill>
            <a:srgbClr val="FBEBD9"/>
          </a:solidFill>
          <a:ln w="6350">
            <a:solidFill>
              <a:srgbClr val="D3DCE5"/>
            </a:solidFill>
            <a:prstDash val="solid"/>
          </a:ln>
        </p:spPr>
      </p:sp>
      <p:sp>
        <p:nvSpPr>
          <p:cNvPr id="86" name="Text 83"/>
          <p:cNvSpPr txBox="1"/>
          <p:nvPr/>
        </p:nvSpPr>
        <p:spPr>
          <a:xfrm>
            <a:off x="475488" y="5408676"/>
            <a:ext cx="1746504" cy="269748"/>
          </a:xfrm>
          <a:prstGeom prst="rect">
            <a:avLst/>
          </a:prstGeom>
          <a:noFill/>
          <a:ln/>
        </p:spPr>
        <p:txBody>
          <a:bodyPr wrap="square" lIns="0" tIns="0" rIns="0" bIns="0" rtlCol="0" anchor="ctr"/>
          <a:lstStyle/>
          <a:p>
            <a:pPr algn="l" indent="0" marL="0">
              <a:buNone/>
            </a:pPr>
            <a:r>
              <a:rPr lang="en-US" sz="860" b="1" dirty="0">
                <a:solidFill>
                  <a:srgbClr val="C2610A"/>
                </a:solidFill>
                <a:latin typeface="Calibri" pitchFamily="34" charset="0"/>
                <a:ea typeface="Calibri" pitchFamily="34" charset="-122"/>
                <a:cs typeface="Calibri" pitchFamily="34" charset="-120"/>
              </a:rPr>
              <a:t>Outside the target</a:t>
            </a:r>
            <a:endParaRPr lang="en-US" sz="860" dirty="0"/>
          </a:p>
        </p:txBody>
      </p:sp>
      <p:sp>
        <p:nvSpPr>
          <p:cNvPr id="87" name="Shape 84"/>
          <p:cNvSpPr/>
          <p:nvPr/>
        </p:nvSpPr>
        <p:spPr>
          <a:xfrm>
            <a:off x="2286000" y="5408676"/>
            <a:ext cx="2971800" cy="269748"/>
          </a:xfrm>
          <a:prstGeom prst="rect">
            <a:avLst/>
          </a:prstGeom>
          <a:solidFill>
            <a:srgbClr val="FBEBD9"/>
          </a:solidFill>
          <a:ln w="6350">
            <a:solidFill>
              <a:srgbClr val="D3DCE5"/>
            </a:solidFill>
            <a:prstDash val="solid"/>
          </a:ln>
        </p:spPr>
      </p:sp>
      <p:sp>
        <p:nvSpPr>
          <p:cNvPr id="88" name="Text 85"/>
          <p:cNvSpPr txBox="1"/>
          <p:nvPr/>
        </p:nvSpPr>
        <p:spPr>
          <a:xfrm>
            <a:off x="2350008" y="5408676"/>
            <a:ext cx="2843784"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Low-carbon qualification premium</a:t>
            </a:r>
            <a:endParaRPr lang="en-US" sz="860" dirty="0"/>
          </a:p>
        </p:txBody>
      </p:sp>
      <p:sp>
        <p:nvSpPr>
          <p:cNvPr id="89" name="Shape 86"/>
          <p:cNvSpPr/>
          <p:nvPr/>
        </p:nvSpPr>
        <p:spPr>
          <a:xfrm>
            <a:off x="5257800" y="5408676"/>
            <a:ext cx="1005840" cy="269748"/>
          </a:xfrm>
          <a:prstGeom prst="rect">
            <a:avLst/>
          </a:prstGeom>
          <a:solidFill>
            <a:srgbClr val="FBEBD9"/>
          </a:solidFill>
          <a:ln w="6350">
            <a:solidFill>
              <a:srgbClr val="D3DCE5"/>
            </a:solidFill>
            <a:prstDash val="solid"/>
          </a:ln>
        </p:spPr>
      </p:sp>
      <p:sp>
        <p:nvSpPr>
          <p:cNvPr id="90" name="Text 87"/>
          <p:cNvSpPr txBox="1"/>
          <p:nvPr/>
        </p:nvSpPr>
        <p:spPr>
          <a:xfrm>
            <a:off x="5321808" y="5408676"/>
            <a:ext cx="877824" cy="26974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0.05</a:t>
            </a:r>
            <a:endParaRPr lang="en-US" sz="860" dirty="0"/>
          </a:p>
        </p:txBody>
      </p:sp>
      <p:sp>
        <p:nvSpPr>
          <p:cNvPr id="91" name="Shape 88"/>
          <p:cNvSpPr/>
          <p:nvPr/>
        </p:nvSpPr>
        <p:spPr>
          <a:xfrm>
            <a:off x="6263640" y="5408676"/>
            <a:ext cx="5522976" cy="269748"/>
          </a:xfrm>
          <a:prstGeom prst="rect">
            <a:avLst/>
          </a:prstGeom>
          <a:solidFill>
            <a:srgbClr val="FBEBD9"/>
          </a:solidFill>
          <a:ln w="6350">
            <a:solidFill>
              <a:srgbClr val="D3DCE5"/>
            </a:solidFill>
            <a:prstDash val="solid"/>
          </a:ln>
        </p:spPr>
      </p:sp>
      <p:sp>
        <p:nvSpPr>
          <p:cNvPr id="92" name="Text 89"/>
          <p:cNvSpPr txBox="1"/>
          <p:nvPr/>
        </p:nvSpPr>
        <p:spPr>
          <a:xfrm>
            <a:off x="6327648" y="5408676"/>
            <a:ext cx="5394960" cy="2697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Risked at 25%. Directionally supported by policy, unproven in PLS's contracts.</a:t>
            </a:r>
            <a:endParaRPr lang="en-US" sz="860" dirty="0"/>
          </a:p>
        </p:txBody>
      </p:sp>
      <p:sp>
        <p:nvSpPr>
          <p:cNvPr id="93" name="Text 90"/>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ESG Value Bridge and Downstream Option sheets. Every figure on this page is reproducible from the submitted workbook. Risk weightings are our judgement and are stated on the sheet.</a:t>
            </a:r>
            <a:endParaRPr lang="en-US" sz="720" dirty="0"/>
          </a:p>
        </p:txBody>
      </p:sp>
      <p:sp>
        <p:nvSpPr>
          <p:cNvPr id="94" name="Text 91"/>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233A"/>
        </a:solidFill>
      </p:bgPr>
    </p:bg>
    <p:spTree>
      <p:nvGrpSpPr>
        <p:cNvPr id="1" name=""/>
        <p:cNvGrpSpPr/>
        <p:nvPr/>
      </p:nvGrpSpPr>
      <p:grpSpPr>
        <a:xfrm>
          <a:off x="0" y="0"/>
          <a:ext cx="0" cy="0"/>
          <a:chOff x="0" y="0"/>
          <a:chExt cx="0" cy="0"/>
        </a:xfrm>
      </p:grpSpPr>
      <p:sp>
        <p:nvSpPr>
          <p:cNvPr id="2" name="Text 0"/>
          <p:cNvSpPr txBox="1"/>
          <p:nvPr/>
        </p:nvSpPr>
        <p:spPr>
          <a:xfrm>
            <a:off x="411480" y="1874520"/>
            <a:ext cx="1828800" cy="1371600"/>
          </a:xfrm>
          <a:prstGeom prst="rect">
            <a:avLst/>
          </a:prstGeom>
          <a:noFill/>
          <a:ln/>
        </p:spPr>
        <p:txBody>
          <a:bodyPr wrap="square" lIns="0" tIns="0" rIns="0" bIns="0" rtlCol="0" anchor="ctr"/>
          <a:lstStyle/>
          <a:p>
            <a:pPr indent="0" marL="0">
              <a:buNone/>
            </a:pPr>
            <a:r>
              <a:rPr lang="en-US" sz="8800" b="1" dirty="0">
                <a:solidFill>
                  <a:srgbClr val="0E7C6B"/>
                </a:solidFill>
                <a:latin typeface="Cambria" pitchFamily="34" charset="0"/>
                <a:ea typeface="Cambria" pitchFamily="34" charset="-122"/>
                <a:cs typeface="Cambria" pitchFamily="34" charset="-120"/>
              </a:rPr>
              <a:t>03</a:t>
            </a:r>
            <a:endParaRPr lang="en-US" sz="8800" dirty="0"/>
          </a:p>
        </p:txBody>
      </p:sp>
      <p:sp>
        <p:nvSpPr>
          <p:cNvPr id="3" name="Text 1"/>
          <p:cNvSpPr txBox="1"/>
          <p:nvPr/>
        </p:nvSpPr>
        <p:spPr>
          <a:xfrm>
            <a:off x="2148840" y="2103120"/>
            <a:ext cx="877824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Valuation, risk and recommendation</a:t>
            </a:r>
            <a:endParaRPr lang="en-US" sz="3000" dirty="0"/>
          </a:p>
        </p:txBody>
      </p:sp>
      <p:sp>
        <p:nvSpPr>
          <p:cNvPr id="4" name="Text 2"/>
          <p:cNvSpPr txBox="1"/>
          <p:nvPr/>
        </p:nvSpPr>
        <p:spPr>
          <a:xfrm>
            <a:off x="2194560" y="2971800"/>
            <a:ext cx="8412480" cy="822960"/>
          </a:xfrm>
          <a:prstGeom prst="rect">
            <a:avLst/>
          </a:prstGeom>
          <a:noFill/>
          <a:ln/>
        </p:spPr>
        <p:txBody>
          <a:bodyPr wrap="square" lIns="0" tIns="0" rIns="0" bIns="0" rtlCol="0" anchor="t"/>
          <a:lstStyle/>
          <a:p>
            <a:pPr indent="0" marL="0">
              <a:lnSpc>
                <a:spcPct val="110000"/>
              </a:lnSpc>
              <a:buNone/>
            </a:pPr>
            <a:r>
              <a:rPr lang="en-US" sz="1300" dirty="0">
                <a:solidFill>
                  <a:srgbClr val="AFC3D4"/>
                </a:solidFill>
                <a:latin typeface="Calibri" pitchFamily="34" charset="0"/>
                <a:ea typeface="Calibri" pitchFamily="34" charset="-122"/>
                <a:cs typeface="Calibri" pitchFamily="34" charset="-120"/>
              </a:rPr>
              <a:t>What the asset is worth, what has to be true for that to hold, and what would tell us first that it is not.</a:t>
            </a:r>
            <a:endParaRPr lang="en-US" sz="1300" dirty="0"/>
          </a:p>
        </p:txBody>
      </p:sp>
      <p:sp>
        <p:nvSpPr>
          <p:cNvPr id="5" name="Text 3"/>
          <p:cNvSpPr txBox="1"/>
          <p:nvPr/>
        </p:nvSpPr>
        <p:spPr>
          <a:xfrm>
            <a:off x="2194560" y="3977640"/>
            <a:ext cx="8778240" cy="822960"/>
          </a:xfrm>
          <a:prstGeom prst="rect">
            <a:avLst/>
          </a:prstGeom>
          <a:noFill/>
          <a:ln/>
        </p:spPr>
        <p:txBody>
          <a:bodyPr wrap="square" lIns="0" tIns="0" rIns="0" bIns="0" rtlCol="0" anchor="t"/>
          <a:lstStyle/>
          <a:p>
            <a:pPr indent="0" marL="0">
              <a:lnSpc>
                <a:spcPct val="130000"/>
              </a:lnSpc>
              <a:buNone/>
            </a:pPr>
            <a:r>
              <a:rPr lang="en-US" sz="950" dirty="0">
                <a:solidFill>
                  <a:srgbClr val="0E7C6B"/>
                </a:solidFill>
                <a:latin typeface="Calibri" pitchFamily="34" charset="0"/>
                <a:ea typeface="Calibri" pitchFamily="34" charset="-122"/>
                <a:cs typeface="Calibri" pitchFamily="34" charset="-120"/>
              </a:rPr>
              <a:t>12  Discounted cash flow     13  The range and the sensitivities     14  Risks and mitigants     15  Recommendation</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Text 2"/>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5" name="Text 3"/>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6" name="Text 4"/>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Shared Value</a:t>
            </a:r>
            <a:endParaRPr lang="en-US" sz="850" dirty="0"/>
          </a:p>
        </p:txBody>
      </p:sp>
      <p:sp>
        <p:nvSpPr>
          <p:cNvPr id="7" name="Shape 5"/>
          <p:cNvSpPr/>
          <p:nvPr/>
        </p:nvSpPr>
        <p:spPr>
          <a:xfrm>
            <a:off x="7533742" y="6400800"/>
            <a:ext cx="1335024" cy="274320"/>
          </a:xfrm>
          <a:prstGeom prst="roundRect">
            <a:avLst>
              <a:gd name="adj" fmla="val 20000"/>
            </a:avLst>
          </a:prstGeom>
          <a:solidFill>
            <a:srgbClr val="10233A"/>
          </a:solidFill>
          <a:ln/>
        </p:spPr>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That single choice is worth A$9.0bn of terminal value. It is the difference between valuing a mine and valuing a company that never runs out of rock.</a:t>
            </a:r>
            <a:endParaRPr lang="en-US" sz="15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 finite orebody gets an annuity, not a perpetuity</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1298448"/>
            <a:ext cx="2377440" cy="292608"/>
          </a:xfrm>
          <a:prstGeom prst="rect">
            <a:avLst/>
          </a:prstGeom>
          <a:solidFill>
            <a:srgbClr val="10233A"/>
          </a:solidFill>
          <a:ln/>
        </p:spPr>
      </p:sp>
      <p:sp>
        <p:nvSpPr>
          <p:cNvPr id="18" name="Text 15"/>
          <p:cNvSpPr txBox="1"/>
          <p:nvPr/>
        </p:nvSpPr>
        <p:spPr>
          <a:xfrm>
            <a:off x="475488" y="1298448"/>
            <a:ext cx="22494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Input</a:t>
            </a:r>
            <a:endParaRPr lang="en-US" sz="900" dirty="0"/>
          </a:p>
        </p:txBody>
      </p:sp>
      <p:sp>
        <p:nvSpPr>
          <p:cNvPr id="19" name="Shape 16"/>
          <p:cNvSpPr/>
          <p:nvPr/>
        </p:nvSpPr>
        <p:spPr>
          <a:xfrm>
            <a:off x="2788920" y="1298448"/>
            <a:ext cx="960120" cy="292608"/>
          </a:xfrm>
          <a:prstGeom prst="rect">
            <a:avLst/>
          </a:prstGeom>
          <a:solidFill>
            <a:srgbClr val="10233A"/>
          </a:solidFill>
          <a:ln/>
        </p:spPr>
      </p:sp>
      <p:sp>
        <p:nvSpPr>
          <p:cNvPr id="20" name="Text 17"/>
          <p:cNvSpPr txBox="1"/>
          <p:nvPr/>
        </p:nvSpPr>
        <p:spPr>
          <a:xfrm>
            <a:off x="2852928" y="1298448"/>
            <a:ext cx="83210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p>
        </p:txBody>
      </p:sp>
      <p:sp>
        <p:nvSpPr>
          <p:cNvPr id="21" name="Shape 18"/>
          <p:cNvSpPr/>
          <p:nvPr/>
        </p:nvSpPr>
        <p:spPr>
          <a:xfrm>
            <a:off x="3749040" y="1298448"/>
            <a:ext cx="3017520" cy="292608"/>
          </a:xfrm>
          <a:prstGeom prst="rect">
            <a:avLst/>
          </a:prstGeom>
          <a:solidFill>
            <a:srgbClr val="10233A"/>
          </a:solidFill>
          <a:ln/>
        </p:spPr>
      </p:sp>
      <p:sp>
        <p:nvSpPr>
          <p:cNvPr id="22" name="Text 19"/>
          <p:cNvSpPr txBox="1"/>
          <p:nvPr/>
        </p:nvSpPr>
        <p:spPr>
          <a:xfrm>
            <a:off x="3813048" y="1298448"/>
            <a:ext cx="2889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Where it comes from</a:t>
            </a:r>
            <a:endParaRPr lang="en-US" sz="900" dirty="0"/>
          </a:p>
        </p:txBody>
      </p:sp>
      <p:sp>
        <p:nvSpPr>
          <p:cNvPr id="23" name="Shape 20"/>
          <p:cNvSpPr/>
          <p:nvPr/>
        </p:nvSpPr>
        <p:spPr>
          <a:xfrm>
            <a:off x="6766560" y="1298448"/>
            <a:ext cx="777240" cy="292608"/>
          </a:xfrm>
          <a:prstGeom prst="rect">
            <a:avLst/>
          </a:prstGeom>
          <a:solidFill>
            <a:srgbClr val="10233A"/>
          </a:solidFill>
          <a:ln/>
        </p:spPr>
      </p:sp>
      <p:sp>
        <p:nvSpPr>
          <p:cNvPr id="24" name="Text 21"/>
          <p:cNvSpPr txBox="1"/>
          <p:nvPr/>
        </p:nvSpPr>
        <p:spPr>
          <a:xfrm>
            <a:off x="6830568" y="1298448"/>
            <a:ext cx="64922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Tag</a:t>
            </a:r>
            <a:endParaRPr lang="en-US" sz="900" dirty="0"/>
          </a:p>
        </p:txBody>
      </p:sp>
      <p:sp>
        <p:nvSpPr>
          <p:cNvPr id="25" name="Shape 22"/>
          <p:cNvSpPr/>
          <p:nvPr/>
        </p:nvSpPr>
        <p:spPr>
          <a:xfrm>
            <a:off x="411480" y="1591056"/>
            <a:ext cx="2377440" cy="256032"/>
          </a:xfrm>
          <a:prstGeom prst="rect">
            <a:avLst/>
          </a:prstGeom>
          <a:solidFill>
            <a:srgbClr val="FFFFFF"/>
          </a:solidFill>
          <a:ln w="6350">
            <a:solidFill>
              <a:srgbClr val="D3DCE5"/>
            </a:solidFill>
            <a:prstDash val="solid"/>
          </a:ln>
        </p:spPr>
      </p:sp>
      <p:sp>
        <p:nvSpPr>
          <p:cNvPr id="26" name="Text 23"/>
          <p:cNvSpPr txBox="1"/>
          <p:nvPr/>
        </p:nvSpPr>
        <p:spPr>
          <a:xfrm>
            <a:off x="475488" y="1591056"/>
            <a:ext cx="2249424" cy="25603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Risk-free rate</a:t>
            </a:r>
            <a:endParaRPr lang="en-US" sz="880" dirty="0"/>
          </a:p>
        </p:txBody>
      </p:sp>
      <p:sp>
        <p:nvSpPr>
          <p:cNvPr id="27" name="Shape 24"/>
          <p:cNvSpPr/>
          <p:nvPr/>
        </p:nvSpPr>
        <p:spPr>
          <a:xfrm>
            <a:off x="2788920" y="1591056"/>
            <a:ext cx="960120" cy="256032"/>
          </a:xfrm>
          <a:prstGeom prst="rect">
            <a:avLst/>
          </a:prstGeom>
          <a:solidFill>
            <a:srgbClr val="FFFFFF"/>
          </a:solidFill>
          <a:ln w="6350">
            <a:solidFill>
              <a:srgbClr val="D3DCE5"/>
            </a:solidFill>
            <a:prstDash val="solid"/>
          </a:ln>
        </p:spPr>
      </p:sp>
      <p:sp>
        <p:nvSpPr>
          <p:cNvPr id="28" name="Text 25"/>
          <p:cNvSpPr txBox="1"/>
          <p:nvPr/>
        </p:nvSpPr>
        <p:spPr>
          <a:xfrm>
            <a:off x="2852928" y="1591056"/>
            <a:ext cx="832104" cy="256032"/>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5.00%</a:t>
            </a:r>
            <a:endParaRPr lang="en-US" sz="880" dirty="0"/>
          </a:p>
        </p:txBody>
      </p:sp>
      <p:sp>
        <p:nvSpPr>
          <p:cNvPr id="29" name="Shape 26"/>
          <p:cNvSpPr/>
          <p:nvPr/>
        </p:nvSpPr>
        <p:spPr>
          <a:xfrm>
            <a:off x="3749040" y="1591056"/>
            <a:ext cx="3017520" cy="256032"/>
          </a:xfrm>
          <a:prstGeom prst="rect">
            <a:avLst/>
          </a:prstGeom>
          <a:solidFill>
            <a:srgbClr val="FFFFFF"/>
          </a:solidFill>
          <a:ln w="6350">
            <a:solidFill>
              <a:srgbClr val="D3DCE5"/>
            </a:solidFill>
            <a:prstDash val="solid"/>
          </a:ln>
        </p:spPr>
      </p:sp>
      <p:sp>
        <p:nvSpPr>
          <p:cNvPr id="30" name="Text 27"/>
          <p:cNvSpPr txBox="1"/>
          <p:nvPr/>
        </p:nvSpPr>
        <p:spPr>
          <a:xfrm>
            <a:off x="3813048" y="1591056"/>
            <a:ext cx="2889504" cy="25603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Case document, page 6</a:t>
            </a:r>
            <a:endParaRPr lang="en-US" sz="880" dirty="0"/>
          </a:p>
        </p:txBody>
      </p:sp>
      <p:sp>
        <p:nvSpPr>
          <p:cNvPr id="31" name="Shape 28"/>
          <p:cNvSpPr/>
          <p:nvPr/>
        </p:nvSpPr>
        <p:spPr>
          <a:xfrm>
            <a:off x="6766560" y="1591056"/>
            <a:ext cx="777240" cy="256032"/>
          </a:xfrm>
          <a:prstGeom prst="rect">
            <a:avLst/>
          </a:prstGeom>
          <a:solidFill>
            <a:srgbClr val="FFFFFF"/>
          </a:solidFill>
          <a:ln w="6350">
            <a:solidFill>
              <a:srgbClr val="D3DCE5"/>
            </a:solidFill>
            <a:prstDash val="solid"/>
          </a:ln>
        </p:spPr>
      </p:sp>
      <p:sp>
        <p:nvSpPr>
          <p:cNvPr id="32" name="Text 29"/>
          <p:cNvSpPr txBox="1"/>
          <p:nvPr/>
        </p:nvSpPr>
        <p:spPr>
          <a:xfrm>
            <a:off x="6830568" y="1591056"/>
            <a:ext cx="649224" cy="256032"/>
          </a:xfrm>
          <a:prstGeom prst="rect">
            <a:avLst/>
          </a:prstGeom>
          <a:noFill/>
          <a:ln/>
        </p:spPr>
        <p:txBody>
          <a:bodyPr wrap="square" lIns="0" tIns="0" rIns="0" bIns="0" rtlCol="0" anchor="ctr"/>
          <a:lstStyle/>
          <a:p>
            <a:pPr algn="ctr" indent="0" marL="0">
              <a:buNone/>
            </a:pPr>
            <a:r>
              <a:rPr lang="en-US" sz="880" b="1" dirty="0">
                <a:solidFill>
                  <a:srgbClr val="10233A"/>
                </a:solidFill>
                <a:latin typeface="Calibri" pitchFamily="34" charset="0"/>
                <a:ea typeface="Calibri" pitchFamily="34" charset="-122"/>
                <a:cs typeface="Calibri" pitchFamily="34" charset="-120"/>
              </a:rPr>
              <a:t>Case</a:t>
            </a:r>
            <a:endParaRPr lang="en-US" sz="880" dirty="0"/>
          </a:p>
        </p:txBody>
      </p:sp>
      <p:sp>
        <p:nvSpPr>
          <p:cNvPr id="33" name="Shape 30"/>
          <p:cNvSpPr/>
          <p:nvPr/>
        </p:nvSpPr>
        <p:spPr>
          <a:xfrm>
            <a:off x="411480" y="1847088"/>
            <a:ext cx="2377440" cy="256032"/>
          </a:xfrm>
          <a:prstGeom prst="rect">
            <a:avLst/>
          </a:prstGeom>
          <a:solidFill>
            <a:srgbClr val="F7F9FB"/>
          </a:solidFill>
          <a:ln w="6350">
            <a:solidFill>
              <a:srgbClr val="D3DCE5"/>
            </a:solidFill>
            <a:prstDash val="solid"/>
          </a:ln>
        </p:spPr>
      </p:sp>
      <p:sp>
        <p:nvSpPr>
          <p:cNvPr id="34" name="Text 31"/>
          <p:cNvSpPr txBox="1"/>
          <p:nvPr/>
        </p:nvSpPr>
        <p:spPr>
          <a:xfrm>
            <a:off x="475488" y="1847088"/>
            <a:ext cx="2249424" cy="25603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Market risk premium</a:t>
            </a:r>
            <a:endParaRPr lang="en-US" sz="880" dirty="0"/>
          </a:p>
        </p:txBody>
      </p:sp>
      <p:sp>
        <p:nvSpPr>
          <p:cNvPr id="35" name="Shape 32"/>
          <p:cNvSpPr/>
          <p:nvPr/>
        </p:nvSpPr>
        <p:spPr>
          <a:xfrm>
            <a:off x="2788920" y="1847088"/>
            <a:ext cx="960120" cy="256032"/>
          </a:xfrm>
          <a:prstGeom prst="rect">
            <a:avLst/>
          </a:prstGeom>
          <a:solidFill>
            <a:srgbClr val="F7F9FB"/>
          </a:solidFill>
          <a:ln w="6350">
            <a:solidFill>
              <a:srgbClr val="D3DCE5"/>
            </a:solidFill>
            <a:prstDash val="solid"/>
          </a:ln>
        </p:spPr>
      </p:sp>
      <p:sp>
        <p:nvSpPr>
          <p:cNvPr id="36" name="Text 33"/>
          <p:cNvSpPr txBox="1"/>
          <p:nvPr/>
        </p:nvSpPr>
        <p:spPr>
          <a:xfrm>
            <a:off x="2852928" y="1847088"/>
            <a:ext cx="832104" cy="256032"/>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6.00%</a:t>
            </a:r>
            <a:endParaRPr lang="en-US" sz="880" dirty="0"/>
          </a:p>
        </p:txBody>
      </p:sp>
      <p:sp>
        <p:nvSpPr>
          <p:cNvPr id="37" name="Shape 34"/>
          <p:cNvSpPr/>
          <p:nvPr/>
        </p:nvSpPr>
        <p:spPr>
          <a:xfrm>
            <a:off x="3749040" y="1847088"/>
            <a:ext cx="3017520" cy="256032"/>
          </a:xfrm>
          <a:prstGeom prst="rect">
            <a:avLst/>
          </a:prstGeom>
          <a:solidFill>
            <a:srgbClr val="F7F9FB"/>
          </a:solidFill>
          <a:ln w="6350">
            <a:solidFill>
              <a:srgbClr val="D3DCE5"/>
            </a:solidFill>
            <a:prstDash val="solid"/>
          </a:ln>
        </p:spPr>
      </p:sp>
      <p:sp>
        <p:nvSpPr>
          <p:cNvPr id="38" name="Text 35"/>
          <p:cNvSpPr txBox="1"/>
          <p:nvPr/>
        </p:nvSpPr>
        <p:spPr>
          <a:xfrm>
            <a:off x="3813048" y="1847088"/>
            <a:ext cx="2889504" cy="25603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Case document, page 6</a:t>
            </a:r>
            <a:endParaRPr lang="en-US" sz="880" dirty="0"/>
          </a:p>
        </p:txBody>
      </p:sp>
      <p:sp>
        <p:nvSpPr>
          <p:cNvPr id="39" name="Shape 36"/>
          <p:cNvSpPr/>
          <p:nvPr/>
        </p:nvSpPr>
        <p:spPr>
          <a:xfrm>
            <a:off x="6766560" y="1847088"/>
            <a:ext cx="777240" cy="256032"/>
          </a:xfrm>
          <a:prstGeom prst="rect">
            <a:avLst/>
          </a:prstGeom>
          <a:solidFill>
            <a:srgbClr val="F7F9FB"/>
          </a:solidFill>
          <a:ln w="6350">
            <a:solidFill>
              <a:srgbClr val="D3DCE5"/>
            </a:solidFill>
            <a:prstDash val="solid"/>
          </a:ln>
        </p:spPr>
      </p:sp>
      <p:sp>
        <p:nvSpPr>
          <p:cNvPr id="40" name="Text 37"/>
          <p:cNvSpPr txBox="1"/>
          <p:nvPr/>
        </p:nvSpPr>
        <p:spPr>
          <a:xfrm>
            <a:off x="6830568" y="1847088"/>
            <a:ext cx="649224" cy="256032"/>
          </a:xfrm>
          <a:prstGeom prst="rect">
            <a:avLst/>
          </a:prstGeom>
          <a:noFill/>
          <a:ln/>
        </p:spPr>
        <p:txBody>
          <a:bodyPr wrap="square" lIns="0" tIns="0" rIns="0" bIns="0" rtlCol="0" anchor="ctr"/>
          <a:lstStyle/>
          <a:p>
            <a:pPr algn="ctr" indent="0" marL="0">
              <a:buNone/>
            </a:pPr>
            <a:r>
              <a:rPr lang="en-US" sz="880" b="1" dirty="0">
                <a:solidFill>
                  <a:srgbClr val="10233A"/>
                </a:solidFill>
                <a:latin typeface="Calibri" pitchFamily="34" charset="0"/>
                <a:ea typeface="Calibri" pitchFamily="34" charset="-122"/>
                <a:cs typeface="Calibri" pitchFamily="34" charset="-120"/>
              </a:rPr>
              <a:t>Case</a:t>
            </a:r>
            <a:endParaRPr lang="en-US" sz="880" dirty="0"/>
          </a:p>
        </p:txBody>
      </p:sp>
      <p:sp>
        <p:nvSpPr>
          <p:cNvPr id="41" name="Shape 38"/>
          <p:cNvSpPr/>
          <p:nvPr/>
        </p:nvSpPr>
        <p:spPr>
          <a:xfrm>
            <a:off x="411480" y="2103120"/>
            <a:ext cx="2377440" cy="256032"/>
          </a:xfrm>
          <a:prstGeom prst="rect">
            <a:avLst/>
          </a:prstGeom>
          <a:solidFill>
            <a:srgbClr val="FFFFFF"/>
          </a:solidFill>
          <a:ln w="6350">
            <a:solidFill>
              <a:srgbClr val="D3DCE5"/>
            </a:solidFill>
            <a:prstDash val="solid"/>
          </a:ln>
        </p:spPr>
      </p:sp>
      <p:sp>
        <p:nvSpPr>
          <p:cNvPr id="42" name="Text 39"/>
          <p:cNvSpPr txBox="1"/>
          <p:nvPr/>
        </p:nvSpPr>
        <p:spPr>
          <a:xfrm>
            <a:off x="475488" y="2103120"/>
            <a:ext cx="2249424" cy="25603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Equity beta</a:t>
            </a:r>
            <a:endParaRPr lang="en-US" sz="880" dirty="0"/>
          </a:p>
        </p:txBody>
      </p:sp>
      <p:sp>
        <p:nvSpPr>
          <p:cNvPr id="43" name="Shape 40"/>
          <p:cNvSpPr/>
          <p:nvPr/>
        </p:nvSpPr>
        <p:spPr>
          <a:xfrm>
            <a:off x="2788920" y="2103120"/>
            <a:ext cx="960120" cy="256032"/>
          </a:xfrm>
          <a:prstGeom prst="rect">
            <a:avLst/>
          </a:prstGeom>
          <a:solidFill>
            <a:srgbClr val="FFFFFF"/>
          </a:solidFill>
          <a:ln w="6350">
            <a:solidFill>
              <a:srgbClr val="D3DCE5"/>
            </a:solidFill>
            <a:prstDash val="solid"/>
          </a:ln>
        </p:spPr>
      </p:sp>
      <p:sp>
        <p:nvSpPr>
          <p:cNvPr id="44" name="Text 41"/>
          <p:cNvSpPr txBox="1"/>
          <p:nvPr/>
        </p:nvSpPr>
        <p:spPr>
          <a:xfrm>
            <a:off x="2852928" y="2103120"/>
            <a:ext cx="832104" cy="256032"/>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0.73</a:t>
            </a:r>
            <a:endParaRPr lang="en-US" sz="880" dirty="0"/>
          </a:p>
        </p:txBody>
      </p:sp>
      <p:sp>
        <p:nvSpPr>
          <p:cNvPr id="45" name="Shape 42"/>
          <p:cNvSpPr/>
          <p:nvPr/>
        </p:nvSpPr>
        <p:spPr>
          <a:xfrm>
            <a:off x="3749040" y="2103120"/>
            <a:ext cx="3017520" cy="256032"/>
          </a:xfrm>
          <a:prstGeom prst="rect">
            <a:avLst/>
          </a:prstGeom>
          <a:solidFill>
            <a:srgbClr val="FFFFFF"/>
          </a:solidFill>
          <a:ln w="6350">
            <a:solidFill>
              <a:srgbClr val="D3DCE5"/>
            </a:solidFill>
            <a:prstDash val="solid"/>
          </a:ln>
        </p:spPr>
      </p:sp>
      <p:sp>
        <p:nvSpPr>
          <p:cNvPr id="46" name="Text 43"/>
          <p:cNvSpPr txBox="1"/>
          <p:nvPr/>
        </p:nvSpPr>
        <p:spPr>
          <a:xfrm>
            <a:off x="3813048" y="2103120"/>
            <a:ext cx="2889504" cy="25603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Case document; Yahoo 5-year monthly</a:t>
            </a:r>
            <a:endParaRPr lang="en-US" sz="880" dirty="0"/>
          </a:p>
        </p:txBody>
      </p:sp>
      <p:sp>
        <p:nvSpPr>
          <p:cNvPr id="47" name="Shape 44"/>
          <p:cNvSpPr/>
          <p:nvPr/>
        </p:nvSpPr>
        <p:spPr>
          <a:xfrm>
            <a:off x="6766560" y="2103120"/>
            <a:ext cx="777240" cy="256032"/>
          </a:xfrm>
          <a:prstGeom prst="rect">
            <a:avLst/>
          </a:prstGeom>
          <a:solidFill>
            <a:srgbClr val="FFFFFF"/>
          </a:solidFill>
          <a:ln w="6350">
            <a:solidFill>
              <a:srgbClr val="D3DCE5"/>
            </a:solidFill>
            <a:prstDash val="solid"/>
          </a:ln>
        </p:spPr>
      </p:sp>
      <p:sp>
        <p:nvSpPr>
          <p:cNvPr id="48" name="Text 45"/>
          <p:cNvSpPr txBox="1"/>
          <p:nvPr/>
        </p:nvSpPr>
        <p:spPr>
          <a:xfrm>
            <a:off x="6830568" y="2103120"/>
            <a:ext cx="649224" cy="256032"/>
          </a:xfrm>
          <a:prstGeom prst="rect">
            <a:avLst/>
          </a:prstGeom>
          <a:noFill/>
          <a:ln/>
        </p:spPr>
        <p:txBody>
          <a:bodyPr wrap="square" lIns="0" tIns="0" rIns="0" bIns="0" rtlCol="0" anchor="ctr"/>
          <a:lstStyle/>
          <a:p>
            <a:pPr algn="ctr" indent="0" marL="0">
              <a:buNone/>
            </a:pPr>
            <a:r>
              <a:rPr lang="en-US" sz="880" b="1" dirty="0">
                <a:solidFill>
                  <a:srgbClr val="10233A"/>
                </a:solidFill>
                <a:latin typeface="Calibri" pitchFamily="34" charset="0"/>
                <a:ea typeface="Calibri" pitchFamily="34" charset="-122"/>
                <a:cs typeface="Calibri" pitchFamily="34" charset="-120"/>
              </a:rPr>
              <a:t>Case</a:t>
            </a:r>
            <a:endParaRPr lang="en-US" sz="880" dirty="0"/>
          </a:p>
        </p:txBody>
      </p:sp>
      <p:sp>
        <p:nvSpPr>
          <p:cNvPr id="49" name="Shape 46"/>
          <p:cNvSpPr/>
          <p:nvPr/>
        </p:nvSpPr>
        <p:spPr>
          <a:xfrm>
            <a:off x="411480" y="2359152"/>
            <a:ext cx="2377440" cy="256032"/>
          </a:xfrm>
          <a:prstGeom prst="rect">
            <a:avLst/>
          </a:prstGeom>
          <a:solidFill>
            <a:srgbClr val="F7F9FB"/>
          </a:solidFill>
          <a:ln w="6350">
            <a:solidFill>
              <a:srgbClr val="D3DCE5"/>
            </a:solidFill>
            <a:prstDash val="solid"/>
          </a:ln>
        </p:spPr>
      </p:sp>
      <p:sp>
        <p:nvSpPr>
          <p:cNvPr id="50" name="Text 47"/>
          <p:cNvSpPr txBox="1"/>
          <p:nvPr/>
        </p:nvSpPr>
        <p:spPr>
          <a:xfrm>
            <a:off x="475488" y="2359152"/>
            <a:ext cx="2249424" cy="25603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Cost of equity</a:t>
            </a:r>
            <a:endParaRPr lang="en-US" sz="880" dirty="0"/>
          </a:p>
        </p:txBody>
      </p:sp>
      <p:sp>
        <p:nvSpPr>
          <p:cNvPr id="51" name="Shape 48"/>
          <p:cNvSpPr/>
          <p:nvPr/>
        </p:nvSpPr>
        <p:spPr>
          <a:xfrm>
            <a:off x="2788920" y="2359152"/>
            <a:ext cx="960120" cy="256032"/>
          </a:xfrm>
          <a:prstGeom prst="rect">
            <a:avLst/>
          </a:prstGeom>
          <a:solidFill>
            <a:srgbClr val="F7F9FB"/>
          </a:solidFill>
          <a:ln w="6350">
            <a:solidFill>
              <a:srgbClr val="D3DCE5"/>
            </a:solidFill>
            <a:prstDash val="solid"/>
          </a:ln>
        </p:spPr>
      </p:sp>
      <p:sp>
        <p:nvSpPr>
          <p:cNvPr id="52" name="Text 49"/>
          <p:cNvSpPr txBox="1"/>
          <p:nvPr/>
        </p:nvSpPr>
        <p:spPr>
          <a:xfrm>
            <a:off x="2852928" y="2359152"/>
            <a:ext cx="832104" cy="256032"/>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9.38%</a:t>
            </a:r>
            <a:endParaRPr lang="en-US" sz="880" dirty="0"/>
          </a:p>
        </p:txBody>
      </p:sp>
      <p:sp>
        <p:nvSpPr>
          <p:cNvPr id="53" name="Shape 50"/>
          <p:cNvSpPr/>
          <p:nvPr/>
        </p:nvSpPr>
        <p:spPr>
          <a:xfrm>
            <a:off x="3749040" y="2359152"/>
            <a:ext cx="3017520" cy="256032"/>
          </a:xfrm>
          <a:prstGeom prst="rect">
            <a:avLst/>
          </a:prstGeom>
          <a:solidFill>
            <a:srgbClr val="F7F9FB"/>
          </a:solidFill>
          <a:ln w="6350">
            <a:solidFill>
              <a:srgbClr val="D3DCE5"/>
            </a:solidFill>
            <a:prstDash val="solid"/>
          </a:ln>
        </p:spPr>
      </p:sp>
      <p:sp>
        <p:nvSpPr>
          <p:cNvPr id="54" name="Text 51"/>
          <p:cNvSpPr txBox="1"/>
          <p:nvPr/>
        </p:nvSpPr>
        <p:spPr>
          <a:xfrm>
            <a:off x="3813048" y="2359152"/>
            <a:ext cx="2889504" cy="25603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CAPM: 5.00% + 0.73 x 6.00%</a:t>
            </a:r>
            <a:endParaRPr lang="en-US" sz="880" dirty="0"/>
          </a:p>
        </p:txBody>
      </p:sp>
      <p:sp>
        <p:nvSpPr>
          <p:cNvPr id="55" name="Shape 52"/>
          <p:cNvSpPr/>
          <p:nvPr/>
        </p:nvSpPr>
        <p:spPr>
          <a:xfrm>
            <a:off x="6766560" y="2359152"/>
            <a:ext cx="777240" cy="256032"/>
          </a:xfrm>
          <a:prstGeom prst="rect">
            <a:avLst/>
          </a:prstGeom>
          <a:solidFill>
            <a:srgbClr val="F7F9FB"/>
          </a:solidFill>
          <a:ln w="6350">
            <a:solidFill>
              <a:srgbClr val="D3DCE5"/>
            </a:solidFill>
            <a:prstDash val="solid"/>
          </a:ln>
        </p:spPr>
      </p:sp>
      <p:sp>
        <p:nvSpPr>
          <p:cNvPr id="56" name="Text 53"/>
          <p:cNvSpPr txBox="1"/>
          <p:nvPr/>
        </p:nvSpPr>
        <p:spPr>
          <a:xfrm>
            <a:off x="6830568" y="2359152"/>
            <a:ext cx="649224" cy="256032"/>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Derived</a:t>
            </a:r>
            <a:endParaRPr lang="en-US" sz="880" dirty="0"/>
          </a:p>
        </p:txBody>
      </p:sp>
      <p:sp>
        <p:nvSpPr>
          <p:cNvPr id="57" name="Shape 54"/>
          <p:cNvSpPr/>
          <p:nvPr/>
        </p:nvSpPr>
        <p:spPr>
          <a:xfrm>
            <a:off x="411480" y="2615184"/>
            <a:ext cx="2377440" cy="256032"/>
          </a:xfrm>
          <a:prstGeom prst="rect">
            <a:avLst/>
          </a:prstGeom>
          <a:solidFill>
            <a:srgbClr val="FFFFFF"/>
          </a:solidFill>
          <a:ln w="6350">
            <a:solidFill>
              <a:srgbClr val="D3DCE5"/>
            </a:solidFill>
            <a:prstDash val="solid"/>
          </a:ln>
        </p:spPr>
      </p:sp>
      <p:sp>
        <p:nvSpPr>
          <p:cNvPr id="58" name="Text 55"/>
          <p:cNvSpPr txBox="1"/>
          <p:nvPr/>
        </p:nvSpPr>
        <p:spPr>
          <a:xfrm>
            <a:off x="475488" y="2615184"/>
            <a:ext cx="2249424" cy="25603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After-tax cost of debt</a:t>
            </a:r>
            <a:endParaRPr lang="en-US" sz="880" dirty="0"/>
          </a:p>
        </p:txBody>
      </p:sp>
      <p:sp>
        <p:nvSpPr>
          <p:cNvPr id="59" name="Shape 56"/>
          <p:cNvSpPr/>
          <p:nvPr/>
        </p:nvSpPr>
        <p:spPr>
          <a:xfrm>
            <a:off x="2788920" y="2615184"/>
            <a:ext cx="960120" cy="256032"/>
          </a:xfrm>
          <a:prstGeom prst="rect">
            <a:avLst/>
          </a:prstGeom>
          <a:solidFill>
            <a:srgbClr val="FFFFFF"/>
          </a:solidFill>
          <a:ln w="6350">
            <a:solidFill>
              <a:srgbClr val="D3DCE5"/>
            </a:solidFill>
            <a:prstDash val="solid"/>
          </a:ln>
        </p:spPr>
      </p:sp>
      <p:sp>
        <p:nvSpPr>
          <p:cNvPr id="60" name="Text 57"/>
          <p:cNvSpPr txBox="1"/>
          <p:nvPr/>
        </p:nvSpPr>
        <p:spPr>
          <a:xfrm>
            <a:off x="2852928" y="2615184"/>
            <a:ext cx="832104" cy="256032"/>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4.38%</a:t>
            </a:r>
            <a:endParaRPr lang="en-US" sz="880" dirty="0"/>
          </a:p>
        </p:txBody>
      </p:sp>
      <p:sp>
        <p:nvSpPr>
          <p:cNvPr id="61" name="Shape 58"/>
          <p:cNvSpPr/>
          <p:nvPr/>
        </p:nvSpPr>
        <p:spPr>
          <a:xfrm>
            <a:off x="3749040" y="2615184"/>
            <a:ext cx="3017520" cy="256032"/>
          </a:xfrm>
          <a:prstGeom prst="rect">
            <a:avLst/>
          </a:prstGeom>
          <a:solidFill>
            <a:srgbClr val="FFFFFF"/>
          </a:solidFill>
          <a:ln w="6350">
            <a:solidFill>
              <a:srgbClr val="D3DCE5"/>
            </a:solidFill>
            <a:prstDash val="solid"/>
          </a:ln>
        </p:spPr>
      </p:sp>
      <p:sp>
        <p:nvSpPr>
          <p:cNvPr id="62" name="Text 59"/>
          <p:cNvSpPr txBox="1"/>
          <p:nvPr/>
        </p:nvSpPr>
        <p:spPr>
          <a:xfrm>
            <a:off x="3813048" y="2615184"/>
            <a:ext cx="2889504" cy="25603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6.25% note coupon at the 30% rate</a:t>
            </a:r>
            <a:endParaRPr lang="en-US" sz="880" dirty="0"/>
          </a:p>
        </p:txBody>
      </p:sp>
      <p:sp>
        <p:nvSpPr>
          <p:cNvPr id="63" name="Shape 60"/>
          <p:cNvSpPr/>
          <p:nvPr/>
        </p:nvSpPr>
        <p:spPr>
          <a:xfrm>
            <a:off x="6766560" y="2615184"/>
            <a:ext cx="777240" cy="256032"/>
          </a:xfrm>
          <a:prstGeom prst="rect">
            <a:avLst/>
          </a:prstGeom>
          <a:solidFill>
            <a:srgbClr val="FFFFFF"/>
          </a:solidFill>
          <a:ln w="6350">
            <a:solidFill>
              <a:srgbClr val="D3DCE5"/>
            </a:solidFill>
            <a:prstDash val="solid"/>
          </a:ln>
        </p:spPr>
      </p:sp>
      <p:sp>
        <p:nvSpPr>
          <p:cNvPr id="64" name="Text 61"/>
          <p:cNvSpPr txBox="1"/>
          <p:nvPr/>
        </p:nvSpPr>
        <p:spPr>
          <a:xfrm>
            <a:off x="6830568" y="2615184"/>
            <a:ext cx="649224" cy="256032"/>
          </a:xfrm>
          <a:prstGeom prst="rect">
            <a:avLst/>
          </a:prstGeom>
          <a:noFill/>
          <a:ln/>
        </p:spPr>
        <p:txBody>
          <a:bodyPr wrap="square" lIns="0" tIns="0" rIns="0" bIns="0" rtlCol="0" anchor="ctr"/>
          <a:lstStyle/>
          <a:p>
            <a:pPr algn="ctr" indent="0" marL="0">
              <a:buNone/>
            </a:pPr>
            <a:r>
              <a:rPr lang="en-US" sz="880" dirty="0">
                <a:solidFill>
                  <a:srgbClr val="C2610A"/>
                </a:solidFill>
                <a:latin typeface="Calibri" pitchFamily="34" charset="0"/>
                <a:ea typeface="Calibri" pitchFamily="34" charset="-122"/>
                <a:cs typeface="Calibri" pitchFamily="34" charset="-120"/>
              </a:rPr>
              <a:t>Estimate</a:t>
            </a:r>
            <a:endParaRPr lang="en-US" sz="880" dirty="0"/>
          </a:p>
        </p:txBody>
      </p:sp>
      <p:sp>
        <p:nvSpPr>
          <p:cNvPr id="65" name="Shape 62"/>
          <p:cNvSpPr/>
          <p:nvPr/>
        </p:nvSpPr>
        <p:spPr>
          <a:xfrm>
            <a:off x="411480" y="2871216"/>
            <a:ext cx="2377440" cy="256032"/>
          </a:xfrm>
          <a:prstGeom prst="rect">
            <a:avLst/>
          </a:prstGeom>
          <a:solidFill>
            <a:srgbClr val="F7F9FB"/>
          </a:solidFill>
          <a:ln w="6350">
            <a:solidFill>
              <a:srgbClr val="D3DCE5"/>
            </a:solidFill>
            <a:prstDash val="solid"/>
          </a:ln>
        </p:spPr>
      </p:sp>
      <p:sp>
        <p:nvSpPr>
          <p:cNvPr id="66" name="Text 63"/>
          <p:cNvSpPr txBox="1"/>
          <p:nvPr/>
        </p:nvSpPr>
        <p:spPr>
          <a:xfrm>
            <a:off x="475488" y="2871216"/>
            <a:ext cx="2249424" cy="25603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Target gearing</a:t>
            </a:r>
            <a:endParaRPr lang="en-US" sz="880" dirty="0"/>
          </a:p>
        </p:txBody>
      </p:sp>
      <p:sp>
        <p:nvSpPr>
          <p:cNvPr id="67" name="Shape 64"/>
          <p:cNvSpPr/>
          <p:nvPr/>
        </p:nvSpPr>
        <p:spPr>
          <a:xfrm>
            <a:off x="2788920" y="2871216"/>
            <a:ext cx="960120" cy="256032"/>
          </a:xfrm>
          <a:prstGeom prst="rect">
            <a:avLst/>
          </a:prstGeom>
          <a:solidFill>
            <a:srgbClr val="F7F9FB"/>
          </a:solidFill>
          <a:ln w="6350">
            <a:solidFill>
              <a:srgbClr val="D3DCE5"/>
            </a:solidFill>
            <a:prstDash val="solid"/>
          </a:ln>
        </p:spPr>
      </p:sp>
      <p:sp>
        <p:nvSpPr>
          <p:cNvPr id="68" name="Text 65"/>
          <p:cNvSpPr txBox="1"/>
          <p:nvPr/>
        </p:nvSpPr>
        <p:spPr>
          <a:xfrm>
            <a:off x="2852928" y="2871216"/>
            <a:ext cx="832104" cy="256032"/>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10%</a:t>
            </a:r>
            <a:endParaRPr lang="en-US" sz="880" dirty="0"/>
          </a:p>
        </p:txBody>
      </p:sp>
      <p:sp>
        <p:nvSpPr>
          <p:cNvPr id="69" name="Shape 66"/>
          <p:cNvSpPr/>
          <p:nvPr/>
        </p:nvSpPr>
        <p:spPr>
          <a:xfrm>
            <a:off x="3749040" y="2871216"/>
            <a:ext cx="3017520" cy="256032"/>
          </a:xfrm>
          <a:prstGeom prst="rect">
            <a:avLst/>
          </a:prstGeom>
          <a:solidFill>
            <a:srgbClr val="F7F9FB"/>
          </a:solidFill>
          <a:ln w="6350">
            <a:solidFill>
              <a:srgbClr val="D3DCE5"/>
            </a:solidFill>
            <a:prstDash val="solid"/>
          </a:ln>
        </p:spPr>
      </p:sp>
      <p:sp>
        <p:nvSpPr>
          <p:cNvPr id="70" name="Text 67"/>
          <p:cNvSpPr txBox="1"/>
          <p:nvPr/>
        </p:nvSpPr>
        <p:spPr>
          <a:xfrm>
            <a:off x="3813048" y="2871216"/>
            <a:ext cx="2889504" cy="25603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Through-cycle; PLS is net cash by A$1.44bn</a:t>
            </a:r>
            <a:endParaRPr lang="en-US" sz="880" dirty="0"/>
          </a:p>
        </p:txBody>
      </p:sp>
      <p:sp>
        <p:nvSpPr>
          <p:cNvPr id="71" name="Shape 68"/>
          <p:cNvSpPr/>
          <p:nvPr/>
        </p:nvSpPr>
        <p:spPr>
          <a:xfrm>
            <a:off x="6766560" y="2871216"/>
            <a:ext cx="777240" cy="256032"/>
          </a:xfrm>
          <a:prstGeom prst="rect">
            <a:avLst/>
          </a:prstGeom>
          <a:solidFill>
            <a:srgbClr val="F7F9FB"/>
          </a:solidFill>
          <a:ln w="6350">
            <a:solidFill>
              <a:srgbClr val="D3DCE5"/>
            </a:solidFill>
            <a:prstDash val="solid"/>
          </a:ln>
        </p:spPr>
      </p:sp>
      <p:sp>
        <p:nvSpPr>
          <p:cNvPr id="72" name="Text 69"/>
          <p:cNvSpPr txBox="1"/>
          <p:nvPr/>
        </p:nvSpPr>
        <p:spPr>
          <a:xfrm>
            <a:off x="6830568" y="2871216"/>
            <a:ext cx="649224" cy="256032"/>
          </a:xfrm>
          <a:prstGeom prst="rect">
            <a:avLst/>
          </a:prstGeom>
          <a:noFill/>
          <a:ln/>
        </p:spPr>
        <p:txBody>
          <a:bodyPr wrap="square" lIns="0" tIns="0" rIns="0" bIns="0" rtlCol="0" anchor="ctr"/>
          <a:lstStyle/>
          <a:p>
            <a:pPr algn="ctr" indent="0" marL="0">
              <a:buNone/>
            </a:pPr>
            <a:r>
              <a:rPr lang="en-US" sz="880" dirty="0">
                <a:solidFill>
                  <a:srgbClr val="C2610A"/>
                </a:solidFill>
                <a:latin typeface="Calibri" pitchFamily="34" charset="0"/>
                <a:ea typeface="Calibri" pitchFamily="34" charset="-122"/>
                <a:cs typeface="Calibri" pitchFamily="34" charset="-120"/>
              </a:rPr>
              <a:t>Estimate</a:t>
            </a:r>
            <a:endParaRPr lang="en-US" sz="880" dirty="0"/>
          </a:p>
        </p:txBody>
      </p:sp>
      <p:sp>
        <p:nvSpPr>
          <p:cNvPr id="73" name="Shape 70"/>
          <p:cNvSpPr/>
          <p:nvPr/>
        </p:nvSpPr>
        <p:spPr>
          <a:xfrm>
            <a:off x="411480" y="3127248"/>
            <a:ext cx="2377440" cy="256032"/>
          </a:xfrm>
          <a:prstGeom prst="rect">
            <a:avLst/>
          </a:prstGeom>
          <a:solidFill>
            <a:srgbClr val="D6EBE7"/>
          </a:solidFill>
          <a:ln w="6350">
            <a:solidFill>
              <a:srgbClr val="D3DCE5"/>
            </a:solidFill>
            <a:prstDash val="solid"/>
          </a:ln>
        </p:spPr>
      </p:sp>
      <p:sp>
        <p:nvSpPr>
          <p:cNvPr id="74" name="Text 71"/>
          <p:cNvSpPr txBox="1"/>
          <p:nvPr/>
        </p:nvSpPr>
        <p:spPr>
          <a:xfrm>
            <a:off x="475488" y="3127248"/>
            <a:ext cx="2249424" cy="25603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WACC</a:t>
            </a:r>
            <a:endParaRPr lang="en-US" sz="880" dirty="0"/>
          </a:p>
        </p:txBody>
      </p:sp>
      <p:sp>
        <p:nvSpPr>
          <p:cNvPr id="75" name="Shape 72"/>
          <p:cNvSpPr/>
          <p:nvPr/>
        </p:nvSpPr>
        <p:spPr>
          <a:xfrm>
            <a:off x="2788920" y="3127248"/>
            <a:ext cx="960120" cy="256032"/>
          </a:xfrm>
          <a:prstGeom prst="rect">
            <a:avLst/>
          </a:prstGeom>
          <a:solidFill>
            <a:srgbClr val="D6EBE7"/>
          </a:solidFill>
          <a:ln w="6350">
            <a:solidFill>
              <a:srgbClr val="D3DCE5"/>
            </a:solidFill>
            <a:prstDash val="solid"/>
          </a:ln>
        </p:spPr>
      </p:sp>
      <p:sp>
        <p:nvSpPr>
          <p:cNvPr id="76" name="Text 73"/>
          <p:cNvSpPr txBox="1"/>
          <p:nvPr/>
        </p:nvSpPr>
        <p:spPr>
          <a:xfrm>
            <a:off x="2852928" y="3127248"/>
            <a:ext cx="832104" cy="256032"/>
          </a:xfrm>
          <a:prstGeom prst="rect">
            <a:avLst/>
          </a:prstGeom>
          <a:noFill/>
          <a:ln/>
        </p:spPr>
        <p:txBody>
          <a:bodyPr wrap="square" lIns="0" tIns="0" rIns="0" bIns="0" rtlCol="0" anchor="ctr"/>
          <a:lstStyle/>
          <a:p>
            <a:pPr algn="ctr" indent="0" marL="0">
              <a:buNone/>
            </a:pPr>
            <a:r>
              <a:rPr lang="en-US" sz="880" b="1" dirty="0">
                <a:solidFill>
                  <a:srgbClr val="0E7C6B"/>
                </a:solidFill>
                <a:latin typeface="Calibri" pitchFamily="34" charset="0"/>
                <a:ea typeface="Calibri" pitchFamily="34" charset="-122"/>
                <a:cs typeface="Calibri" pitchFamily="34" charset="-120"/>
              </a:rPr>
              <a:t>8.88%</a:t>
            </a:r>
            <a:endParaRPr lang="en-US" sz="880" dirty="0"/>
          </a:p>
        </p:txBody>
      </p:sp>
      <p:sp>
        <p:nvSpPr>
          <p:cNvPr id="77" name="Shape 74"/>
          <p:cNvSpPr/>
          <p:nvPr/>
        </p:nvSpPr>
        <p:spPr>
          <a:xfrm>
            <a:off x="3749040" y="3127248"/>
            <a:ext cx="3017520" cy="256032"/>
          </a:xfrm>
          <a:prstGeom prst="rect">
            <a:avLst/>
          </a:prstGeom>
          <a:solidFill>
            <a:srgbClr val="D6EBE7"/>
          </a:solidFill>
          <a:ln w="6350">
            <a:solidFill>
              <a:srgbClr val="D3DCE5"/>
            </a:solidFill>
            <a:prstDash val="solid"/>
          </a:ln>
        </p:spPr>
      </p:sp>
      <p:sp>
        <p:nvSpPr>
          <p:cNvPr id="78" name="Text 75"/>
          <p:cNvSpPr txBox="1"/>
          <p:nvPr/>
        </p:nvSpPr>
        <p:spPr>
          <a:xfrm>
            <a:off x="3813048" y="3127248"/>
            <a:ext cx="2889504" cy="25603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90% equity, 10% debt after tax</a:t>
            </a:r>
            <a:endParaRPr lang="en-US" sz="880" dirty="0"/>
          </a:p>
        </p:txBody>
      </p:sp>
      <p:sp>
        <p:nvSpPr>
          <p:cNvPr id="79" name="Shape 76"/>
          <p:cNvSpPr/>
          <p:nvPr/>
        </p:nvSpPr>
        <p:spPr>
          <a:xfrm>
            <a:off x="6766560" y="3127248"/>
            <a:ext cx="777240" cy="256032"/>
          </a:xfrm>
          <a:prstGeom prst="rect">
            <a:avLst/>
          </a:prstGeom>
          <a:solidFill>
            <a:srgbClr val="D6EBE7"/>
          </a:solidFill>
          <a:ln w="6350">
            <a:solidFill>
              <a:srgbClr val="D3DCE5"/>
            </a:solidFill>
            <a:prstDash val="solid"/>
          </a:ln>
        </p:spPr>
      </p:sp>
      <p:sp>
        <p:nvSpPr>
          <p:cNvPr id="80" name="Text 77"/>
          <p:cNvSpPr txBox="1"/>
          <p:nvPr/>
        </p:nvSpPr>
        <p:spPr>
          <a:xfrm>
            <a:off x="6830568" y="3127248"/>
            <a:ext cx="649224" cy="256032"/>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Derived</a:t>
            </a:r>
            <a:endParaRPr lang="en-US" sz="880" dirty="0"/>
          </a:p>
        </p:txBody>
      </p:sp>
      <p:sp>
        <p:nvSpPr>
          <p:cNvPr id="81" name="Shape 78"/>
          <p:cNvSpPr/>
          <p:nvPr/>
        </p:nvSpPr>
        <p:spPr>
          <a:xfrm>
            <a:off x="411480" y="3493008"/>
            <a:ext cx="3200400" cy="292608"/>
          </a:xfrm>
          <a:prstGeom prst="rect">
            <a:avLst/>
          </a:prstGeom>
          <a:solidFill>
            <a:srgbClr val="10233A"/>
          </a:solidFill>
          <a:ln/>
        </p:spPr>
      </p:sp>
      <p:sp>
        <p:nvSpPr>
          <p:cNvPr id="82" name="Text 79"/>
          <p:cNvSpPr txBox="1"/>
          <p:nvPr/>
        </p:nvSpPr>
        <p:spPr>
          <a:xfrm>
            <a:off x="475488" y="3493008"/>
            <a:ext cx="307238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Base case DCF</a:t>
            </a:r>
            <a:endParaRPr lang="en-US" sz="900" dirty="0"/>
          </a:p>
        </p:txBody>
      </p:sp>
      <p:sp>
        <p:nvSpPr>
          <p:cNvPr id="83" name="Shape 80"/>
          <p:cNvSpPr/>
          <p:nvPr/>
        </p:nvSpPr>
        <p:spPr>
          <a:xfrm>
            <a:off x="3611880" y="3493008"/>
            <a:ext cx="1188720" cy="292608"/>
          </a:xfrm>
          <a:prstGeom prst="rect">
            <a:avLst/>
          </a:prstGeom>
          <a:solidFill>
            <a:srgbClr val="10233A"/>
          </a:solidFill>
          <a:ln/>
        </p:spPr>
      </p:sp>
      <p:sp>
        <p:nvSpPr>
          <p:cNvPr id="84" name="Text 81"/>
          <p:cNvSpPr txBox="1"/>
          <p:nvPr/>
        </p:nvSpPr>
        <p:spPr>
          <a:xfrm>
            <a:off x="3675888" y="3493008"/>
            <a:ext cx="106070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A$m</a:t>
            </a:r>
            <a:endParaRPr lang="en-US" sz="900" dirty="0"/>
          </a:p>
        </p:txBody>
      </p:sp>
      <p:sp>
        <p:nvSpPr>
          <p:cNvPr id="85" name="Shape 82"/>
          <p:cNvSpPr/>
          <p:nvPr/>
        </p:nvSpPr>
        <p:spPr>
          <a:xfrm>
            <a:off x="4800600" y="3493008"/>
            <a:ext cx="1874520" cy="292608"/>
          </a:xfrm>
          <a:prstGeom prst="rect">
            <a:avLst/>
          </a:prstGeom>
          <a:solidFill>
            <a:srgbClr val="10233A"/>
          </a:solidFill>
          <a:ln/>
        </p:spPr>
      </p:sp>
      <p:sp>
        <p:nvSpPr>
          <p:cNvPr id="86" name="Text 83"/>
          <p:cNvSpPr txBox="1"/>
          <p:nvPr/>
        </p:nvSpPr>
        <p:spPr>
          <a:xfrm>
            <a:off x="4864608" y="3493008"/>
            <a:ext cx="1746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Per share</a:t>
            </a:r>
            <a:endParaRPr lang="en-US" sz="900" dirty="0"/>
          </a:p>
        </p:txBody>
      </p:sp>
      <p:sp>
        <p:nvSpPr>
          <p:cNvPr id="87" name="Shape 84"/>
          <p:cNvSpPr/>
          <p:nvPr/>
        </p:nvSpPr>
        <p:spPr>
          <a:xfrm>
            <a:off x="6675120" y="3493008"/>
            <a:ext cx="868680" cy="292608"/>
          </a:xfrm>
          <a:prstGeom prst="rect">
            <a:avLst/>
          </a:prstGeom>
          <a:solidFill>
            <a:srgbClr val="10233A"/>
          </a:solidFill>
          <a:ln/>
        </p:spPr>
      </p:sp>
      <p:sp>
        <p:nvSpPr>
          <p:cNvPr id="88" name="Text 85"/>
          <p:cNvSpPr txBox="1"/>
          <p:nvPr/>
        </p:nvSpPr>
        <p:spPr>
          <a:xfrm>
            <a:off x="6739128" y="3493008"/>
            <a:ext cx="74066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9" name="Shape 86"/>
          <p:cNvSpPr/>
          <p:nvPr/>
        </p:nvSpPr>
        <p:spPr>
          <a:xfrm>
            <a:off x="411480" y="3785616"/>
            <a:ext cx="3200400" cy="228600"/>
          </a:xfrm>
          <a:prstGeom prst="rect">
            <a:avLst/>
          </a:prstGeom>
          <a:solidFill>
            <a:srgbClr val="FFFFFF"/>
          </a:solidFill>
          <a:ln w="6350">
            <a:solidFill>
              <a:srgbClr val="D3DCE5"/>
            </a:solidFill>
            <a:prstDash val="solid"/>
          </a:ln>
        </p:spPr>
      </p:sp>
      <p:sp>
        <p:nvSpPr>
          <p:cNvPr id="90" name="Text 87"/>
          <p:cNvSpPr txBox="1"/>
          <p:nvPr/>
        </p:nvSpPr>
        <p:spPr>
          <a:xfrm>
            <a:off x="475488" y="3785616"/>
            <a:ext cx="3072384" cy="2286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PV of explicit forecast, FY27-FY36</a:t>
            </a:r>
            <a:endParaRPr lang="en-US" sz="880" dirty="0"/>
          </a:p>
        </p:txBody>
      </p:sp>
      <p:sp>
        <p:nvSpPr>
          <p:cNvPr id="91" name="Shape 88"/>
          <p:cNvSpPr/>
          <p:nvPr/>
        </p:nvSpPr>
        <p:spPr>
          <a:xfrm>
            <a:off x="3611880" y="3785616"/>
            <a:ext cx="1188720" cy="228600"/>
          </a:xfrm>
          <a:prstGeom prst="rect">
            <a:avLst/>
          </a:prstGeom>
          <a:solidFill>
            <a:srgbClr val="FFFFFF"/>
          </a:solidFill>
          <a:ln w="6350">
            <a:solidFill>
              <a:srgbClr val="D3DCE5"/>
            </a:solidFill>
            <a:prstDash val="solid"/>
          </a:ln>
        </p:spPr>
      </p:sp>
      <p:sp>
        <p:nvSpPr>
          <p:cNvPr id="92" name="Text 89"/>
          <p:cNvSpPr txBox="1"/>
          <p:nvPr/>
        </p:nvSpPr>
        <p:spPr>
          <a:xfrm>
            <a:off x="3675888" y="3785616"/>
            <a:ext cx="1060704" cy="228600"/>
          </a:xfrm>
          <a:prstGeom prst="rect">
            <a:avLst/>
          </a:prstGeom>
          <a:noFill/>
          <a:ln/>
        </p:spPr>
        <p:txBody>
          <a:bodyPr wrap="square" lIns="0" tIns="0" rIns="0" bIns="0" rtlCol="0" anchor="ctr"/>
          <a:lstStyle/>
          <a:p>
            <a:pPr algn="r" indent="0" marL="0">
              <a:buNone/>
            </a:pPr>
            <a:r>
              <a:rPr lang="en-US" sz="880" dirty="0">
                <a:solidFill>
                  <a:srgbClr val="1B2733"/>
                </a:solidFill>
                <a:latin typeface="Calibri" pitchFamily="34" charset="0"/>
                <a:ea typeface="Calibri" pitchFamily="34" charset="-122"/>
                <a:cs typeface="Calibri" pitchFamily="34" charset="-120"/>
              </a:rPr>
              <a:t>9,661</a:t>
            </a:r>
            <a:endParaRPr lang="en-US" sz="880" dirty="0"/>
          </a:p>
        </p:txBody>
      </p:sp>
      <p:sp>
        <p:nvSpPr>
          <p:cNvPr id="93" name="Shape 90"/>
          <p:cNvSpPr/>
          <p:nvPr/>
        </p:nvSpPr>
        <p:spPr>
          <a:xfrm>
            <a:off x="4800600" y="3785616"/>
            <a:ext cx="1874520" cy="228600"/>
          </a:xfrm>
          <a:prstGeom prst="rect">
            <a:avLst/>
          </a:prstGeom>
          <a:solidFill>
            <a:srgbClr val="FFFFFF"/>
          </a:solidFill>
          <a:ln w="6350">
            <a:solidFill>
              <a:srgbClr val="D3DCE5"/>
            </a:solidFill>
            <a:prstDash val="solid"/>
          </a:ln>
        </p:spPr>
      </p:sp>
      <p:sp>
        <p:nvSpPr>
          <p:cNvPr id="94" name="Text 91"/>
          <p:cNvSpPr txBox="1"/>
          <p:nvPr/>
        </p:nvSpPr>
        <p:spPr>
          <a:xfrm>
            <a:off x="4864608" y="3785616"/>
            <a:ext cx="1746504" cy="2286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Value per share</a:t>
            </a:r>
            <a:endParaRPr lang="en-US" sz="880" dirty="0"/>
          </a:p>
        </p:txBody>
      </p:sp>
      <p:sp>
        <p:nvSpPr>
          <p:cNvPr id="95" name="Shape 92"/>
          <p:cNvSpPr/>
          <p:nvPr/>
        </p:nvSpPr>
        <p:spPr>
          <a:xfrm>
            <a:off x="6675120" y="3785616"/>
            <a:ext cx="868680" cy="228600"/>
          </a:xfrm>
          <a:prstGeom prst="rect">
            <a:avLst/>
          </a:prstGeom>
          <a:solidFill>
            <a:srgbClr val="FFFFFF"/>
          </a:solidFill>
          <a:ln w="6350">
            <a:solidFill>
              <a:srgbClr val="D3DCE5"/>
            </a:solidFill>
            <a:prstDash val="solid"/>
          </a:ln>
        </p:spPr>
      </p:sp>
      <p:sp>
        <p:nvSpPr>
          <p:cNvPr id="96" name="Text 93"/>
          <p:cNvSpPr txBox="1"/>
          <p:nvPr/>
        </p:nvSpPr>
        <p:spPr>
          <a:xfrm>
            <a:off x="6739128" y="3785616"/>
            <a:ext cx="740664" cy="228600"/>
          </a:xfrm>
          <a:prstGeom prst="rect">
            <a:avLst/>
          </a:prstGeom>
          <a:noFill/>
          <a:ln/>
        </p:spPr>
        <p:txBody>
          <a:bodyPr wrap="square" lIns="0" tIns="0" rIns="0" bIns="0" rtlCol="0" anchor="ctr"/>
          <a:lstStyle/>
          <a:p>
            <a:pPr algn="r" indent="0" marL="0">
              <a:buNone/>
            </a:pPr>
            <a:r>
              <a:rPr lang="en-US" sz="880" b="1" dirty="0">
                <a:solidFill>
                  <a:srgbClr val="0E7C6B"/>
                </a:solidFill>
                <a:latin typeface="Calibri" pitchFamily="34" charset="0"/>
                <a:ea typeface="Calibri" pitchFamily="34" charset="-122"/>
                <a:cs typeface="Calibri" pitchFamily="34" charset="-120"/>
              </a:rPr>
              <a:t>6.50</a:t>
            </a:r>
            <a:endParaRPr lang="en-US" sz="880" dirty="0"/>
          </a:p>
        </p:txBody>
      </p:sp>
      <p:sp>
        <p:nvSpPr>
          <p:cNvPr id="97" name="Shape 94"/>
          <p:cNvSpPr/>
          <p:nvPr/>
        </p:nvSpPr>
        <p:spPr>
          <a:xfrm>
            <a:off x="411480" y="4014216"/>
            <a:ext cx="3200400" cy="228600"/>
          </a:xfrm>
          <a:prstGeom prst="rect">
            <a:avLst/>
          </a:prstGeom>
          <a:solidFill>
            <a:srgbClr val="F7F9FB"/>
          </a:solidFill>
          <a:ln w="6350">
            <a:solidFill>
              <a:srgbClr val="D3DCE5"/>
            </a:solidFill>
            <a:prstDash val="solid"/>
          </a:ln>
        </p:spPr>
      </p:sp>
      <p:sp>
        <p:nvSpPr>
          <p:cNvPr id="98" name="Text 95"/>
          <p:cNvSpPr txBox="1"/>
          <p:nvPr/>
        </p:nvSpPr>
        <p:spPr>
          <a:xfrm>
            <a:off x="475488" y="4014216"/>
            <a:ext cx="3072384" cy="2286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PV of terminal value (annuity)</a:t>
            </a:r>
            <a:endParaRPr lang="en-US" sz="880" dirty="0"/>
          </a:p>
        </p:txBody>
      </p:sp>
      <p:sp>
        <p:nvSpPr>
          <p:cNvPr id="99" name="Shape 96"/>
          <p:cNvSpPr/>
          <p:nvPr/>
        </p:nvSpPr>
        <p:spPr>
          <a:xfrm>
            <a:off x="3611880" y="4014216"/>
            <a:ext cx="1188720" cy="228600"/>
          </a:xfrm>
          <a:prstGeom prst="rect">
            <a:avLst/>
          </a:prstGeom>
          <a:solidFill>
            <a:srgbClr val="F7F9FB"/>
          </a:solidFill>
          <a:ln w="6350">
            <a:solidFill>
              <a:srgbClr val="D3DCE5"/>
            </a:solidFill>
            <a:prstDash val="solid"/>
          </a:ln>
        </p:spPr>
      </p:sp>
      <p:sp>
        <p:nvSpPr>
          <p:cNvPr id="100" name="Text 97"/>
          <p:cNvSpPr txBox="1"/>
          <p:nvPr/>
        </p:nvSpPr>
        <p:spPr>
          <a:xfrm>
            <a:off x="3675888" y="4014216"/>
            <a:ext cx="1060704" cy="228600"/>
          </a:xfrm>
          <a:prstGeom prst="rect">
            <a:avLst/>
          </a:prstGeom>
          <a:noFill/>
          <a:ln/>
        </p:spPr>
        <p:txBody>
          <a:bodyPr wrap="square" lIns="0" tIns="0" rIns="0" bIns="0" rtlCol="0" anchor="ctr"/>
          <a:lstStyle/>
          <a:p>
            <a:pPr algn="r" indent="0" marL="0">
              <a:buNone/>
            </a:pPr>
            <a:r>
              <a:rPr lang="en-US" sz="880" dirty="0">
                <a:solidFill>
                  <a:srgbClr val="1B2733"/>
                </a:solidFill>
                <a:latin typeface="Calibri" pitchFamily="34" charset="0"/>
                <a:ea typeface="Calibri" pitchFamily="34" charset="-122"/>
                <a:cs typeface="Calibri" pitchFamily="34" charset="-120"/>
              </a:rPr>
              <a:t>9,894</a:t>
            </a:r>
            <a:endParaRPr lang="en-US" sz="880" dirty="0"/>
          </a:p>
        </p:txBody>
      </p:sp>
      <p:sp>
        <p:nvSpPr>
          <p:cNvPr id="101" name="Shape 98"/>
          <p:cNvSpPr/>
          <p:nvPr/>
        </p:nvSpPr>
        <p:spPr>
          <a:xfrm>
            <a:off x="4800600" y="4014216"/>
            <a:ext cx="1874520" cy="228600"/>
          </a:xfrm>
          <a:prstGeom prst="rect">
            <a:avLst/>
          </a:prstGeom>
          <a:solidFill>
            <a:srgbClr val="F7F9FB"/>
          </a:solidFill>
          <a:ln w="6350">
            <a:solidFill>
              <a:srgbClr val="D3DCE5"/>
            </a:solidFill>
            <a:prstDash val="solid"/>
          </a:ln>
        </p:spPr>
      </p:sp>
      <p:sp>
        <p:nvSpPr>
          <p:cNvPr id="102" name="Text 99"/>
          <p:cNvSpPr txBox="1"/>
          <p:nvPr/>
        </p:nvSpPr>
        <p:spPr>
          <a:xfrm>
            <a:off x="4864608" y="4014216"/>
            <a:ext cx="1746504" cy="2286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Last close</a:t>
            </a:r>
            <a:endParaRPr lang="en-US" sz="880" dirty="0"/>
          </a:p>
        </p:txBody>
      </p:sp>
      <p:sp>
        <p:nvSpPr>
          <p:cNvPr id="103" name="Shape 100"/>
          <p:cNvSpPr/>
          <p:nvPr/>
        </p:nvSpPr>
        <p:spPr>
          <a:xfrm>
            <a:off x="6675120" y="4014216"/>
            <a:ext cx="868680" cy="228600"/>
          </a:xfrm>
          <a:prstGeom prst="rect">
            <a:avLst/>
          </a:prstGeom>
          <a:solidFill>
            <a:srgbClr val="F7F9FB"/>
          </a:solidFill>
          <a:ln w="6350">
            <a:solidFill>
              <a:srgbClr val="D3DCE5"/>
            </a:solidFill>
            <a:prstDash val="solid"/>
          </a:ln>
        </p:spPr>
      </p:sp>
      <p:sp>
        <p:nvSpPr>
          <p:cNvPr id="104" name="Text 101"/>
          <p:cNvSpPr txBox="1"/>
          <p:nvPr/>
        </p:nvSpPr>
        <p:spPr>
          <a:xfrm>
            <a:off x="6739128" y="4014216"/>
            <a:ext cx="740664" cy="228600"/>
          </a:xfrm>
          <a:prstGeom prst="rect">
            <a:avLst/>
          </a:prstGeom>
          <a:noFill/>
          <a:ln/>
        </p:spPr>
        <p:txBody>
          <a:bodyPr wrap="square" lIns="0" tIns="0" rIns="0" bIns="0" rtlCol="0" anchor="ctr"/>
          <a:lstStyle/>
          <a:p>
            <a:pPr algn="r" indent="0" marL="0">
              <a:buNone/>
            </a:pPr>
            <a:r>
              <a:rPr lang="en-US" sz="880" dirty="0">
                <a:solidFill>
                  <a:srgbClr val="1B2733"/>
                </a:solidFill>
                <a:latin typeface="Calibri" pitchFamily="34" charset="0"/>
                <a:ea typeface="Calibri" pitchFamily="34" charset="-122"/>
                <a:cs typeface="Calibri" pitchFamily="34" charset="-120"/>
              </a:rPr>
              <a:t>5.48</a:t>
            </a:r>
            <a:endParaRPr lang="en-US" sz="880" dirty="0"/>
          </a:p>
        </p:txBody>
      </p:sp>
      <p:sp>
        <p:nvSpPr>
          <p:cNvPr id="105" name="Shape 102"/>
          <p:cNvSpPr/>
          <p:nvPr/>
        </p:nvSpPr>
        <p:spPr>
          <a:xfrm>
            <a:off x="411480" y="4242816"/>
            <a:ext cx="3200400" cy="228600"/>
          </a:xfrm>
          <a:prstGeom prst="rect">
            <a:avLst/>
          </a:prstGeom>
          <a:solidFill>
            <a:srgbClr val="FFFFFF"/>
          </a:solidFill>
          <a:ln w="6350">
            <a:solidFill>
              <a:srgbClr val="D3DCE5"/>
            </a:solidFill>
            <a:prstDash val="solid"/>
          </a:ln>
        </p:spPr>
      </p:sp>
      <p:sp>
        <p:nvSpPr>
          <p:cNvPr id="106" name="Text 103"/>
          <p:cNvSpPr txBox="1"/>
          <p:nvPr/>
        </p:nvSpPr>
        <p:spPr>
          <a:xfrm>
            <a:off x="475488" y="4242816"/>
            <a:ext cx="3072384" cy="2286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Enterprise value</a:t>
            </a:r>
            <a:endParaRPr lang="en-US" sz="880" dirty="0"/>
          </a:p>
        </p:txBody>
      </p:sp>
      <p:sp>
        <p:nvSpPr>
          <p:cNvPr id="107" name="Shape 104"/>
          <p:cNvSpPr/>
          <p:nvPr/>
        </p:nvSpPr>
        <p:spPr>
          <a:xfrm>
            <a:off x="3611880" y="4242816"/>
            <a:ext cx="1188720" cy="228600"/>
          </a:xfrm>
          <a:prstGeom prst="rect">
            <a:avLst/>
          </a:prstGeom>
          <a:solidFill>
            <a:srgbClr val="FFFFFF"/>
          </a:solidFill>
          <a:ln w="6350">
            <a:solidFill>
              <a:srgbClr val="D3DCE5"/>
            </a:solidFill>
            <a:prstDash val="solid"/>
          </a:ln>
        </p:spPr>
      </p:sp>
      <p:sp>
        <p:nvSpPr>
          <p:cNvPr id="108" name="Text 105"/>
          <p:cNvSpPr txBox="1"/>
          <p:nvPr/>
        </p:nvSpPr>
        <p:spPr>
          <a:xfrm>
            <a:off x="3675888" y="4242816"/>
            <a:ext cx="1060704" cy="228600"/>
          </a:xfrm>
          <a:prstGeom prst="rect">
            <a:avLst/>
          </a:prstGeom>
          <a:noFill/>
          <a:ln/>
        </p:spPr>
        <p:txBody>
          <a:bodyPr wrap="square" lIns="0" tIns="0" rIns="0" bIns="0" rtlCol="0" anchor="ctr"/>
          <a:lstStyle/>
          <a:p>
            <a:pPr algn="r" indent="0" marL="0">
              <a:buNone/>
            </a:pPr>
            <a:r>
              <a:rPr lang="en-US" sz="880" b="1" dirty="0">
                <a:solidFill>
                  <a:srgbClr val="1B2733"/>
                </a:solidFill>
                <a:latin typeface="Calibri" pitchFamily="34" charset="0"/>
                <a:ea typeface="Calibri" pitchFamily="34" charset="-122"/>
                <a:cs typeface="Calibri" pitchFamily="34" charset="-120"/>
              </a:rPr>
              <a:t>19,581</a:t>
            </a:r>
            <a:endParaRPr lang="en-US" sz="880" dirty="0"/>
          </a:p>
        </p:txBody>
      </p:sp>
      <p:sp>
        <p:nvSpPr>
          <p:cNvPr id="109" name="Shape 106"/>
          <p:cNvSpPr/>
          <p:nvPr/>
        </p:nvSpPr>
        <p:spPr>
          <a:xfrm>
            <a:off x="4800600" y="4242816"/>
            <a:ext cx="1874520" cy="228600"/>
          </a:xfrm>
          <a:prstGeom prst="rect">
            <a:avLst/>
          </a:prstGeom>
          <a:solidFill>
            <a:srgbClr val="FFFFFF"/>
          </a:solidFill>
          <a:ln w="6350">
            <a:solidFill>
              <a:srgbClr val="D3DCE5"/>
            </a:solidFill>
            <a:prstDash val="solid"/>
          </a:ln>
        </p:spPr>
      </p:sp>
      <p:sp>
        <p:nvSpPr>
          <p:cNvPr id="110" name="Text 107"/>
          <p:cNvSpPr txBox="1"/>
          <p:nvPr/>
        </p:nvSpPr>
        <p:spPr>
          <a:xfrm>
            <a:off x="4864608" y="4242816"/>
            <a:ext cx="1746504" cy="2286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Implied upside</a:t>
            </a:r>
            <a:endParaRPr lang="en-US" sz="880" dirty="0"/>
          </a:p>
        </p:txBody>
      </p:sp>
      <p:sp>
        <p:nvSpPr>
          <p:cNvPr id="111" name="Shape 108"/>
          <p:cNvSpPr/>
          <p:nvPr/>
        </p:nvSpPr>
        <p:spPr>
          <a:xfrm>
            <a:off x="6675120" y="4242816"/>
            <a:ext cx="868680" cy="228600"/>
          </a:xfrm>
          <a:prstGeom prst="rect">
            <a:avLst/>
          </a:prstGeom>
          <a:solidFill>
            <a:srgbClr val="FFFFFF"/>
          </a:solidFill>
          <a:ln w="6350">
            <a:solidFill>
              <a:srgbClr val="D3DCE5"/>
            </a:solidFill>
            <a:prstDash val="solid"/>
          </a:ln>
        </p:spPr>
      </p:sp>
      <p:sp>
        <p:nvSpPr>
          <p:cNvPr id="112" name="Text 109"/>
          <p:cNvSpPr txBox="1"/>
          <p:nvPr/>
        </p:nvSpPr>
        <p:spPr>
          <a:xfrm>
            <a:off x="6739128" y="4242816"/>
            <a:ext cx="740664" cy="228600"/>
          </a:xfrm>
          <a:prstGeom prst="rect">
            <a:avLst/>
          </a:prstGeom>
          <a:noFill/>
          <a:ln/>
        </p:spPr>
        <p:txBody>
          <a:bodyPr wrap="square" lIns="0" tIns="0" rIns="0" bIns="0" rtlCol="0" anchor="ctr"/>
          <a:lstStyle/>
          <a:p>
            <a:pPr algn="r" indent="0" marL="0">
              <a:buNone/>
            </a:pPr>
            <a:r>
              <a:rPr lang="en-US" sz="880" b="1" dirty="0">
                <a:solidFill>
                  <a:srgbClr val="0E7C6B"/>
                </a:solidFill>
                <a:latin typeface="Calibri" pitchFamily="34" charset="0"/>
                <a:ea typeface="Calibri" pitchFamily="34" charset="-122"/>
                <a:cs typeface="Calibri" pitchFamily="34" charset="-120"/>
              </a:rPr>
              <a:t>+19.1%</a:t>
            </a:r>
            <a:endParaRPr lang="en-US" sz="880" dirty="0"/>
          </a:p>
        </p:txBody>
      </p:sp>
      <p:sp>
        <p:nvSpPr>
          <p:cNvPr id="113" name="Shape 110"/>
          <p:cNvSpPr/>
          <p:nvPr/>
        </p:nvSpPr>
        <p:spPr>
          <a:xfrm>
            <a:off x="411480" y="4471416"/>
            <a:ext cx="3200400" cy="228600"/>
          </a:xfrm>
          <a:prstGeom prst="rect">
            <a:avLst/>
          </a:prstGeom>
          <a:solidFill>
            <a:srgbClr val="F7F9FB"/>
          </a:solidFill>
          <a:ln w="6350">
            <a:solidFill>
              <a:srgbClr val="D3DCE5"/>
            </a:solidFill>
            <a:prstDash val="solid"/>
          </a:ln>
        </p:spPr>
      </p:sp>
      <p:sp>
        <p:nvSpPr>
          <p:cNvPr id="114" name="Text 111"/>
          <p:cNvSpPr txBox="1"/>
          <p:nvPr/>
        </p:nvSpPr>
        <p:spPr>
          <a:xfrm>
            <a:off x="475488" y="4471416"/>
            <a:ext cx="3072384" cy="2286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Net cash</a:t>
            </a:r>
            <a:endParaRPr lang="en-US" sz="880" dirty="0"/>
          </a:p>
        </p:txBody>
      </p:sp>
      <p:sp>
        <p:nvSpPr>
          <p:cNvPr id="115" name="Shape 112"/>
          <p:cNvSpPr/>
          <p:nvPr/>
        </p:nvSpPr>
        <p:spPr>
          <a:xfrm>
            <a:off x="3611880" y="4471416"/>
            <a:ext cx="1188720" cy="228600"/>
          </a:xfrm>
          <a:prstGeom prst="rect">
            <a:avLst/>
          </a:prstGeom>
          <a:solidFill>
            <a:srgbClr val="F7F9FB"/>
          </a:solidFill>
          <a:ln w="6350">
            <a:solidFill>
              <a:srgbClr val="D3DCE5"/>
            </a:solidFill>
            <a:prstDash val="solid"/>
          </a:ln>
        </p:spPr>
      </p:sp>
      <p:sp>
        <p:nvSpPr>
          <p:cNvPr id="116" name="Text 113"/>
          <p:cNvSpPr txBox="1"/>
          <p:nvPr/>
        </p:nvSpPr>
        <p:spPr>
          <a:xfrm>
            <a:off x="3675888" y="4471416"/>
            <a:ext cx="1060704" cy="228600"/>
          </a:xfrm>
          <a:prstGeom prst="rect">
            <a:avLst/>
          </a:prstGeom>
          <a:noFill/>
          <a:ln/>
        </p:spPr>
        <p:txBody>
          <a:bodyPr wrap="square" lIns="0" tIns="0" rIns="0" bIns="0" rtlCol="0" anchor="ctr"/>
          <a:lstStyle/>
          <a:p>
            <a:pPr algn="r" indent="0" marL="0">
              <a:buNone/>
            </a:pPr>
            <a:r>
              <a:rPr lang="en-US" sz="880" dirty="0">
                <a:solidFill>
                  <a:srgbClr val="1B2733"/>
                </a:solidFill>
                <a:latin typeface="Calibri" pitchFamily="34" charset="0"/>
                <a:ea typeface="Calibri" pitchFamily="34" charset="-122"/>
                <a:cs typeface="Calibri" pitchFamily="34" charset="-120"/>
              </a:rPr>
              <a:t>1,437</a:t>
            </a:r>
            <a:endParaRPr lang="en-US" sz="880" dirty="0"/>
          </a:p>
        </p:txBody>
      </p:sp>
      <p:sp>
        <p:nvSpPr>
          <p:cNvPr id="117" name="Shape 114"/>
          <p:cNvSpPr/>
          <p:nvPr/>
        </p:nvSpPr>
        <p:spPr>
          <a:xfrm>
            <a:off x="4800600" y="4471416"/>
            <a:ext cx="1874520" cy="228600"/>
          </a:xfrm>
          <a:prstGeom prst="rect">
            <a:avLst/>
          </a:prstGeom>
          <a:solidFill>
            <a:srgbClr val="F7F9FB"/>
          </a:solidFill>
          <a:ln w="6350">
            <a:solidFill>
              <a:srgbClr val="D3DCE5"/>
            </a:solidFill>
            <a:prstDash val="solid"/>
          </a:ln>
        </p:spPr>
      </p:sp>
      <p:sp>
        <p:nvSpPr>
          <p:cNvPr id="118" name="Text 115"/>
          <p:cNvSpPr txBox="1"/>
          <p:nvPr/>
        </p:nvSpPr>
        <p:spPr>
          <a:xfrm>
            <a:off x="4864608" y="4471416"/>
            <a:ext cx="1746504" cy="2286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Terminal value as a share of EV</a:t>
            </a:r>
            <a:endParaRPr lang="en-US" sz="880" dirty="0"/>
          </a:p>
        </p:txBody>
      </p:sp>
      <p:sp>
        <p:nvSpPr>
          <p:cNvPr id="119" name="Shape 116"/>
          <p:cNvSpPr/>
          <p:nvPr/>
        </p:nvSpPr>
        <p:spPr>
          <a:xfrm>
            <a:off x="6675120" y="4471416"/>
            <a:ext cx="868680" cy="228600"/>
          </a:xfrm>
          <a:prstGeom prst="rect">
            <a:avLst/>
          </a:prstGeom>
          <a:solidFill>
            <a:srgbClr val="F7F9FB"/>
          </a:solidFill>
          <a:ln w="6350">
            <a:solidFill>
              <a:srgbClr val="D3DCE5"/>
            </a:solidFill>
            <a:prstDash val="solid"/>
          </a:ln>
        </p:spPr>
      </p:sp>
      <p:sp>
        <p:nvSpPr>
          <p:cNvPr id="120" name="Text 117"/>
          <p:cNvSpPr txBox="1"/>
          <p:nvPr/>
        </p:nvSpPr>
        <p:spPr>
          <a:xfrm>
            <a:off x="6739128" y="4471416"/>
            <a:ext cx="740664" cy="228600"/>
          </a:xfrm>
          <a:prstGeom prst="rect">
            <a:avLst/>
          </a:prstGeom>
          <a:noFill/>
          <a:ln/>
        </p:spPr>
        <p:txBody>
          <a:bodyPr wrap="square" lIns="0" tIns="0" rIns="0" bIns="0" rtlCol="0" anchor="ctr"/>
          <a:lstStyle/>
          <a:p>
            <a:pPr algn="r" indent="0" marL="0">
              <a:buNone/>
            </a:pPr>
            <a:r>
              <a:rPr lang="en-US" sz="880" dirty="0">
                <a:solidFill>
                  <a:srgbClr val="1B2733"/>
                </a:solidFill>
                <a:latin typeface="Calibri" pitchFamily="34" charset="0"/>
                <a:ea typeface="Calibri" pitchFamily="34" charset="-122"/>
                <a:cs typeface="Calibri" pitchFamily="34" charset="-120"/>
              </a:rPr>
              <a:t>50.7%</a:t>
            </a:r>
            <a:endParaRPr lang="en-US" sz="880" dirty="0"/>
          </a:p>
        </p:txBody>
      </p:sp>
      <p:sp>
        <p:nvSpPr>
          <p:cNvPr id="121" name="Shape 118"/>
          <p:cNvSpPr/>
          <p:nvPr/>
        </p:nvSpPr>
        <p:spPr>
          <a:xfrm>
            <a:off x="411480" y="4773168"/>
            <a:ext cx="7132320" cy="1261872"/>
          </a:xfrm>
          <a:prstGeom prst="rect">
            <a:avLst/>
          </a:prstGeom>
          <a:solidFill>
            <a:srgbClr val="F7F9FB"/>
          </a:solidFill>
          <a:ln w="9525">
            <a:solidFill>
              <a:srgbClr val="D3DCE5"/>
            </a:solidFill>
            <a:prstDash val="solid"/>
          </a:ln>
        </p:spPr>
      </p:sp>
      <p:sp>
        <p:nvSpPr>
          <p:cNvPr id="122" name="Text 119"/>
          <p:cNvSpPr txBox="1"/>
          <p:nvPr/>
        </p:nvSpPr>
        <p:spPr>
          <a:xfrm>
            <a:off x="576072" y="4901184"/>
            <a:ext cx="680313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orebody runs out. So does the cash flow.</a:t>
            </a:r>
            <a:endParaRPr lang="en-US" sz="1150" dirty="0"/>
          </a:p>
        </p:txBody>
      </p:sp>
      <p:sp>
        <p:nvSpPr>
          <p:cNvPr id="123" name="Text 120"/>
          <p:cNvSpPr txBox="1"/>
          <p:nvPr/>
        </p:nvSpPr>
        <p:spPr>
          <a:xfrm>
            <a:off x="576072" y="5230368"/>
            <a:ext cx="6803136" cy="713232"/>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Pilgangoora's mineable base is 334.5Mt: the 446Mt resource at a 75% conversion assumption. Mass pull is 17.5%, from a 1.19% reserve grade at 76.5% recovery into a 5.2% concentrate. On the base-case profile the mine consumes 104.0Mt by FY36 and exits at 14.3Mt of ore a year, leaving 230.5Mt - about 16.1 years.</a:t>
            </a:r>
            <a:endParaRPr lang="en-US" sz="920" dirty="0"/>
          </a:p>
        </p:txBody>
      </p:sp>
      <p:sp>
        <p:nvSpPr>
          <p:cNvPr id="124" name="Shape 121"/>
          <p:cNvSpPr/>
          <p:nvPr/>
        </p:nvSpPr>
        <p:spPr>
          <a:xfrm>
            <a:off x="7744968" y="1298448"/>
            <a:ext cx="4041648" cy="4736592"/>
          </a:xfrm>
          <a:prstGeom prst="rect">
            <a:avLst/>
          </a:prstGeom>
          <a:solidFill>
            <a:srgbClr val="FBEBD9"/>
          </a:solidFill>
          <a:ln w="9525">
            <a:solidFill>
              <a:srgbClr val="E8C9A3"/>
            </a:solidFill>
            <a:prstDash val="solid"/>
          </a:ln>
        </p:spPr>
      </p:sp>
      <p:sp>
        <p:nvSpPr>
          <p:cNvPr id="125" name="Text 122"/>
          <p:cNvSpPr txBox="1"/>
          <p:nvPr/>
        </p:nvSpPr>
        <p:spPr>
          <a:xfrm>
            <a:off x="7927848" y="1444752"/>
            <a:ext cx="3657600" cy="292608"/>
          </a:xfrm>
          <a:prstGeom prst="rect">
            <a:avLst/>
          </a:prstGeom>
          <a:noFill/>
          <a:ln/>
        </p:spPr>
        <p:txBody>
          <a:bodyPr wrap="square" lIns="0" tIns="0" rIns="0" bIns="0" rtlCol="0" anchor="ctr"/>
          <a:lstStyle/>
          <a:p>
            <a:pPr indent="0" marL="0">
              <a:buNone/>
            </a:pPr>
            <a:r>
              <a:rPr lang="en-US" sz="1200" b="1" dirty="0">
                <a:solidFill>
                  <a:srgbClr val="C2610A"/>
                </a:solidFill>
                <a:latin typeface="Calibri" pitchFamily="34" charset="0"/>
                <a:ea typeface="Calibri" pitchFamily="34" charset="-122"/>
                <a:cs typeface="Calibri" pitchFamily="34" charset="-120"/>
              </a:rPr>
              <a:t>What that choice costs us</a:t>
            </a:r>
            <a:endParaRPr lang="en-US" sz="1200" dirty="0"/>
          </a:p>
        </p:txBody>
      </p:sp>
      <p:sp>
        <p:nvSpPr>
          <p:cNvPr id="126" name="Text 123"/>
          <p:cNvSpPr txBox="1"/>
          <p:nvPr/>
        </p:nvSpPr>
        <p:spPr>
          <a:xfrm>
            <a:off x="7927848" y="1865376"/>
            <a:ext cx="3657600" cy="566928"/>
          </a:xfrm>
          <a:prstGeom prst="rect">
            <a:avLst/>
          </a:prstGeom>
          <a:noFill/>
          <a:ln/>
        </p:spPr>
        <p:txBody>
          <a:bodyPr wrap="square" lIns="0" tIns="0" rIns="0" bIns="0" rtlCol="0" anchor="ctr"/>
          <a:lstStyle/>
          <a:p>
            <a:pPr indent="0" marL="0">
              <a:buNone/>
            </a:pPr>
            <a:r>
              <a:rPr lang="en-US" sz="3000" b="1" dirty="0">
                <a:solidFill>
                  <a:srgbClr val="8C9BA9"/>
                </a:solidFill>
                <a:latin typeface="Cambria" pitchFamily="34" charset="0"/>
                <a:ea typeface="Cambria" pitchFamily="34" charset="-122"/>
                <a:cs typeface="Cambria" pitchFamily="34" charset="-120"/>
              </a:rPr>
              <a:t>A$19.0bn</a:t>
            </a:r>
            <a:endParaRPr lang="en-US" sz="3000" dirty="0"/>
          </a:p>
        </p:txBody>
      </p:sp>
      <p:sp>
        <p:nvSpPr>
          <p:cNvPr id="127" name="Text 124"/>
          <p:cNvSpPr txBox="1"/>
          <p:nvPr/>
        </p:nvSpPr>
        <p:spPr>
          <a:xfrm>
            <a:off x="7927848" y="2432304"/>
            <a:ext cx="3657600" cy="402336"/>
          </a:xfrm>
          <a:prstGeom prst="rect">
            <a:avLst/>
          </a:prstGeom>
          <a:noFill/>
          <a:ln/>
        </p:spPr>
        <p:txBody>
          <a:bodyPr wrap="square" lIns="0" tIns="0" rIns="0" bIns="0" rtlCol="0" anchor="t"/>
          <a:lstStyle/>
          <a:p>
            <a:pPr indent="0" marL="0">
              <a:lnSpc>
                <a:spcPct val="110000"/>
              </a:lnSpc>
              <a:buNone/>
            </a:pPr>
            <a:r>
              <a:rPr lang="en-US" sz="920" dirty="0">
                <a:solidFill>
                  <a:srgbClr val="5F7183"/>
                </a:solidFill>
                <a:latin typeface="Calibri" pitchFamily="34" charset="0"/>
                <a:ea typeface="Calibri" pitchFamily="34" charset="-122"/>
                <a:cs typeface="Calibri" pitchFamily="34" charset="-120"/>
              </a:rPr>
              <a:t>if we grew the final year's cash flow at 2.5% forever</a:t>
            </a:r>
            <a:endParaRPr lang="en-US" sz="920" dirty="0"/>
          </a:p>
        </p:txBody>
      </p:sp>
      <p:sp>
        <p:nvSpPr>
          <p:cNvPr id="128" name="Text 125"/>
          <p:cNvSpPr txBox="1"/>
          <p:nvPr/>
        </p:nvSpPr>
        <p:spPr>
          <a:xfrm>
            <a:off x="7927848" y="2999232"/>
            <a:ext cx="3657600" cy="566928"/>
          </a:xfrm>
          <a:prstGeom prst="rect">
            <a:avLst/>
          </a:prstGeom>
          <a:noFill/>
          <a:ln/>
        </p:spPr>
        <p:txBody>
          <a:bodyPr wrap="square" lIns="0" tIns="0" rIns="0" bIns="0" rtlCol="0" anchor="ctr"/>
          <a:lstStyle/>
          <a:p>
            <a:pPr indent="0" marL="0">
              <a:buNone/>
            </a:pPr>
            <a:r>
              <a:rPr lang="en-US" sz="3000" b="1" dirty="0">
                <a:solidFill>
                  <a:srgbClr val="C2610A"/>
                </a:solidFill>
                <a:latin typeface="Cambria" pitchFamily="34" charset="0"/>
                <a:ea typeface="Cambria" pitchFamily="34" charset="-122"/>
                <a:cs typeface="Cambria" pitchFamily="34" charset="-120"/>
              </a:rPr>
              <a:t>A$9.9bn</a:t>
            </a:r>
            <a:endParaRPr lang="en-US" sz="3000" dirty="0"/>
          </a:p>
        </p:txBody>
      </p:sp>
      <p:sp>
        <p:nvSpPr>
          <p:cNvPr id="129" name="Text 126"/>
          <p:cNvSpPr txBox="1"/>
          <p:nvPr/>
        </p:nvSpPr>
        <p:spPr>
          <a:xfrm>
            <a:off x="7927848" y="3566160"/>
            <a:ext cx="3657600" cy="457200"/>
          </a:xfrm>
          <a:prstGeom prst="rect">
            <a:avLst/>
          </a:prstGeom>
          <a:noFill/>
          <a:ln/>
        </p:spPr>
        <p:txBody>
          <a:bodyPr wrap="square" lIns="0" tIns="0" rIns="0" bIns="0" rtlCol="0" anchor="t"/>
          <a:lstStyle/>
          <a:p>
            <a:pPr indent="0" marL="0">
              <a:lnSpc>
                <a:spcPct val="110000"/>
              </a:lnSpc>
              <a:buNone/>
            </a:pPr>
            <a:r>
              <a:rPr lang="en-US" sz="920" b="1" dirty="0">
                <a:solidFill>
                  <a:srgbClr val="C2610A"/>
                </a:solidFill>
                <a:latin typeface="Calibri" pitchFamily="34" charset="0"/>
                <a:ea typeface="Calibri" pitchFamily="34" charset="-122"/>
                <a:cs typeface="Calibri" pitchFamily="34" charset="-120"/>
              </a:rPr>
              <a:t>as a 16-year annuity over the ore that is actually left - what we use</a:t>
            </a:r>
            <a:endParaRPr lang="en-US" sz="920" dirty="0"/>
          </a:p>
        </p:txBody>
      </p:sp>
      <p:sp>
        <p:nvSpPr>
          <p:cNvPr id="130" name="Shape 127"/>
          <p:cNvSpPr/>
          <p:nvPr/>
        </p:nvSpPr>
        <p:spPr>
          <a:xfrm>
            <a:off x="7927848" y="4114800"/>
            <a:ext cx="3657600" cy="10973"/>
          </a:xfrm>
          <a:prstGeom prst="rect">
            <a:avLst/>
          </a:prstGeom>
          <a:solidFill>
            <a:srgbClr val="E0BC94"/>
          </a:solidFill>
          <a:ln/>
        </p:spPr>
      </p:sp>
      <p:sp>
        <p:nvSpPr>
          <p:cNvPr id="131" name="Text 128"/>
          <p:cNvSpPr txBox="1"/>
          <p:nvPr/>
        </p:nvSpPr>
        <p:spPr>
          <a:xfrm>
            <a:off x="7927848" y="4261104"/>
            <a:ext cx="3657600" cy="274320"/>
          </a:xfrm>
          <a:prstGeom prst="rect">
            <a:avLst/>
          </a:prstGeom>
          <a:noFill/>
          <a:ln/>
        </p:spPr>
        <p:txBody>
          <a:bodyPr wrap="square" lIns="0" tIns="0" rIns="0" bIns="0" rtlCol="0" anchor="ctr"/>
          <a:lstStyle/>
          <a:p>
            <a:pPr indent="0" marL="0">
              <a:buNone/>
            </a:pPr>
            <a:r>
              <a:rPr lang="en-US" sz="1050" b="1" dirty="0">
                <a:solidFill>
                  <a:srgbClr val="C2610A"/>
                </a:solidFill>
                <a:latin typeface="Calibri" pitchFamily="34" charset="0"/>
                <a:ea typeface="Calibri" pitchFamily="34" charset="-122"/>
                <a:cs typeface="Calibri" pitchFamily="34" charset="-120"/>
              </a:rPr>
              <a:t>Why it matters here more than usual</a:t>
            </a:r>
            <a:endParaRPr lang="en-US" sz="1050" dirty="0"/>
          </a:p>
        </p:txBody>
      </p:sp>
      <p:sp>
        <p:nvSpPr>
          <p:cNvPr id="132" name="Text 129"/>
          <p:cNvSpPr txBox="1"/>
          <p:nvPr/>
        </p:nvSpPr>
        <p:spPr>
          <a:xfrm>
            <a:off x="7927848" y="4572000"/>
            <a:ext cx="3675888" cy="1353312"/>
          </a:xfrm>
          <a:prstGeom prst="rect">
            <a:avLst/>
          </a:prstGeom>
          <a:noFill/>
          <a:ln/>
        </p:spPr>
        <p:txBody>
          <a:bodyPr wrap="square" lIns="0" tIns="0" rIns="0" bIns="0" rtlCol="0" anchor="t"/>
          <a:lstStyle/>
          <a:p>
            <a:pPr indent="0" marL="0">
              <a:lnSpc>
                <a:spcPct val="110000"/>
              </a:lnSpc>
              <a:buNone/>
            </a:pPr>
            <a:r>
              <a:rPr lang="en-US" sz="900" dirty="0">
                <a:solidFill>
                  <a:srgbClr val="1B2733"/>
                </a:solidFill>
                <a:latin typeface="Calibri" pitchFamily="34" charset="0"/>
                <a:ea typeface="Calibri" pitchFamily="34" charset="-122"/>
                <a:cs typeface="Calibri" pitchFamily="34" charset="-120"/>
              </a:rPr>
              <a:t>P2000 roughly doubles the mining rate. Doubling throughput without restating reserves halves the mine life, so an expansion that looks purely additive on volume is partly just faster depletion. A growing perpetuity hides that entirely. The annuity forces us to pay for it.</a:t>
            </a:r>
            <a:endParaRPr lang="en-US" sz="900" dirty="0"/>
          </a:p>
          <a:p>
            <a:pPr indent="0" marL="0">
              <a:lnSpc>
                <a:spcPct val="110000"/>
              </a:lnSpc>
              <a:buNone/>
            </a:pPr>
            <a:endParaRPr lang="en-US" sz="900" dirty="0"/>
          </a:p>
          <a:p>
            <a:pPr indent="0" marL="0">
              <a:lnSpc>
                <a:spcPct val="110000"/>
              </a:lnSpc>
              <a:buNone/>
            </a:pPr>
            <a:r>
              <a:rPr lang="en-US" sz="900" dirty="0">
                <a:solidFill>
                  <a:srgbClr val="1B2733"/>
                </a:solidFill>
                <a:latin typeface="Calibri" pitchFamily="34" charset="0"/>
                <a:ea typeface="Calibri" pitchFamily="34" charset="-122"/>
                <a:cs typeface="Calibri" pitchFamily="34" charset="-120"/>
              </a:rPr>
              <a:t>Terminal value is 50.7% of enterprise value on our approach. On a perpetuity it would have been about 68%, with most of the answer resting on an assumption no orebody can honour.</a:t>
            </a:r>
            <a:endParaRPr lang="en-US" sz="900" dirty="0"/>
          </a:p>
        </p:txBody>
      </p:sp>
      <p:sp>
        <p:nvSpPr>
          <p:cNvPr id="133" name="Text 130"/>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Assumptions and DCF sheets. Discounting uses a mid-year convention. The 75% resource-to-reserve conversion is a key judgement: the 214Mt Ore Reserve alone, last stated in August 2023 and not restated since the June 2025 resource upgrade, would not support the modelled expansion.</a:t>
            </a:r>
            <a:endParaRPr lang="en-US" sz="720" dirty="0"/>
          </a:p>
        </p:txBody>
      </p:sp>
      <p:sp>
        <p:nvSpPr>
          <p:cNvPr id="134" name="Text 131"/>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Text 2"/>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5" name="Text 3"/>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6" name="Text 4"/>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Shared Value</a:t>
            </a:r>
            <a:endParaRPr lang="en-US" sz="850" dirty="0"/>
          </a:p>
        </p:txBody>
      </p:sp>
      <p:sp>
        <p:nvSpPr>
          <p:cNvPr id="7" name="Shape 5"/>
          <p:cNvSpPr/>
          <p:nvPr/>
        </p:nvSpPr>
        <p:spPr>
          <a:xfrm>
            <a:off x="7533742" y="6400800"/>
            <a:ext cx="1335024" cy="274320"/>
          </a:xfrm>
          <a:prstGeom prst="roundRect">
            <a:avLst>
              <a:gd name="adj" fmla="val 20000"/>
            </a:avLst>
          </a:prstGeom>
          <a:solidFill>
            <a:srgbClr val="10233A"/>
          </a:solidFill>
          <a:ln/>
        </p:spPr>
      </p:sp>
      <p:sp>
        <p:nvSpPr>
          <p:cNvPr id="8" name="Text 6"/>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Valuation</a:t>
            </a:r>
            <a:endParaRPr lang="en-US" sz="850" dirty="0"/>
          </a:p>
        </p:txBody>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Base A$6.53, bear A$2.30, bull A$8.96. Our own Monte Carlo puts the odds of being right at 47%, so we build the position rather than take it in one.</a:t>
            </a:r>
            <a:endParaRPr lang="en-US" sz="15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The range, and what has to be true</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Text 14"/>
          <p:cNvSpPr txBox="1"/>
          <p:nvPr/>
        </p:nvSpPr>
        <p:spPr>
          <a:xfrm>
            <a:off x="411480" y="1316736"/>
            <a:ext cx="2331720" cy="237744"/>
          </a:xfrm>
          <a:prstGeom prst="rect">
            <a:avLst/>
          </a:prstGeom>
          <a:noFill/>
          <a:ln/>
        </p:spPr>
        <p:txBody>
          <a:bodyPr wrap="square" lIns="0" tIns="0" rIns="0" bIns="0" rtlCol="0" anchor="ctr"/>
          <a:lstStyle/>
          <a:p>
            <a:pPr algn="l" indent="0" marL="0">
              <a:buNone/>
            </a:pPr>
            <a:r>
              <a:rPr lang="en-US" sz="900" b="1" dirty="0">
                <a:solidFill>
                  <a:srgbClr val="10233A"/>
                </a:solidFill>
                <a:latin typeface="Calibri" pitchFamily="34" charset="0"/>
                <a:ea typeface="Calibri" pitchFamily="34" charset="-122"/>
                <a:cs typeface="Calibri" pitchFamily="34" charset="-120"/>
              </a:rPr>
              <a:t>Methodology</a:t>
            </a:r>
            <a:endParaRPr lang="en-US" sz="900" dirty="0"/>
          </a:p>
        </p:txBody>
      </p:sp>
      <p:sp>
        <p:nvSpPr>
          <p:cNvPr id="18" name="Text 15"/>
          <p:cNvSpPr txBox="1"/>
          <p:nvPr/>
        </p:nvSpPr>
        <p:spPr>
          <a:xfrm>
            <a:off x="2743200" y="1316736"/>
            <a:ext cx="4526280" cy="237744"/>
          </a:xfrm>
          <a:prstGeom prst="rect">
            <a:avLst/>
          </a:prstGeom>
          <a:noFill/>
          <a:ln/>
        </p:spPr>
        <p:txBody>
          <a:bodyPr wrap="square" lIns="0" tIns="0" rIns="0" bIns="0" rtlCol="0" anchor="ctr"/>
          <a:lstStyle/>
          <a:p>
            <a:pPr algn="l" indent="0" marL="0">
              <a:buNone/>
            </a:pPr>
            <a:endParaRPr lang="en-US" sz="900" dirty="0"/>
          </a:p>
        </p:txBody>
      </p:sp>
      <p:sp>
        <p:nvSpPr>
          <p:cNvPr id="19" name="Text 16"/>
          <p:cNvSpPr txBox="1"/>
          <p:nvPr/>
        </p:nvSpPr>
        <p:spPr>
          <a:xfrm>
            <a:off x="7269480" y="1316736"/>
            <a:ext cx="658368" cy="237744"/>
          </a:xfrm>
          <a:prstGeom prst="rect">
            <a:avLst/>
          </a:prstGeom>
          <a:noFill/>
          <a:ln/>
        </p:spPr>
        <p:txBody>
          <a:bodyPr wrap="square" lIns="0" tIns="0" rIns="0" bIns="0" rtlCol="0" anchor="ctr"/>
          <a:lstStyle/>
          <a:p>
            <a:pPr algn="ctr" indent="0" marL="0">
              <a:buNone/>
            </a:pPr>
            <a:r>
              <a:rPr lang="en-US" sz="900" b="1" dirty="0">
                <a:solidFill>
                  <a:srgbClr val="10233A"/>
                </a:solidFill>
                <a:latin typeface="Calibri" pitchFamily="34" charset="0"/>
                <a:ea typeface="Calibri" pitchFamily="34" charset="-122"/>
                <a:cs typeface="Calibri" pitchFamily="34" charset="-120"/>
              </a:rPr>
              <a:t>Weight</a:t>
            </a:r>
            <a:endParaRPr lang="en-US" sz="900" dirty="0"/>
          </a:p>
        </p:txBody>
      </p:sp>
      <p:sp>
        <p:nvSpPr>
          <p:cNvPr id="20" name="Text 17"/>
          <p:cNvSpPr txBox="1"/>
          <p:nvPr/>
        </p:nvSpPr>
        <p:spPr>
          <a:xfrm>
            <a:off x="7927848" y="1316736"/>
            <a:ext cx="713232" cy="237744"/>
          </a:xfrm>
          <a:prstGeom prst="rect">
            <a:avLst/>
          </a:prstGeom>
          <a:noFill/>
          <a:ln/>
        </p:spPr>
        <p:txBody>
          <a:bodyPr wrap="square" lIns="0" tIns="0" rIns="0" bIns="0" rtlCol="0" anchor="ctr"/>
          <a:lstStyle/>
          <a:p>
            <a:pPr algn="r" indent="0" marL="0">
              <a:buNone/>
            </a:pPr>
            <a:r>
              <a:rPr lang="en-US" sz="900" b="1" dirty="0">
                <a:solidFill>
                  <a:srgbClr val="10233A"/>
                </a:solidFill>
                <a:latin typeface="Calibri" pitchFamily="34" charset="0"/>
                <a:ea typeface="Calibri" pitchFamily="34" charset="-122"/>
                <a:cs typeface="Calibri" pitchFamily="34" charset="-120"/>
              </a:rPr>
              <a:t>Value</a:t>
            </a:r>
            <a:endParaRPr lang="en-US" sz="900" dirty="0"/>
          </a:p>
        </p:txBody>
      </p:sp>
      <p:sp>
        <p:nvSpPr>
          <p:cNvPr id="21" name="Text 18"/>
          <p:cNvSpPr txBox="1"/>
          <p:nvPr/>
        </p:nvSpPr>
        <p:spPr>
          <a:xfrm>
            <a:off x="8769096" y="1316736"/>
            <a:ext cx="3072384" cy="237744"/>
          </a:xfrm>
          <a:prstGeom prst="rect">
            <a:avLst/>
          </a:prstGeom>
          <a:noFill/>
          <a:ln/>
        </p:spPr>
        <p:txBody>
          <a:bodyPr wrap="square" lIns="0" tIns="0" rIns="0" bIns="0" rtlCol="0" anchor="ctr"/>
          <a:lstStyle/>
          <a:p>
            <a:pPr algn="l" indent="0" marL="0">
              <a:buNone/>
            </a:pPr>
            <a:r>
              <a:rPr lang="en-US" sz="900" b="1" dirty="0">
                <a:solidFill>
                  <a:srgbClr val="10233A"/>
                </a:solidFill>
                <a:latin typeface="Calibri" pitchFamily="34" charset="0"/>
                <a:ea typeface="Calibri" pitchFamily="34" charset="-122"/>
                <a:cs typeface="Calibri" pitchFamily="34" charset="-120"/>
              </a:rPr>
              <a:t>Basis</a:t>
            </a:r>
            <a:endParaRPr lang="en-US" sz="900" dirty="0"/>
          </a:p>
        </p:txBody>
      </p:sp>
      <p:sp>
        <p:nvSpPr>
          <p:cNvPr id="22" name="Shape 19"/>
          <p:cNvSpPr/>
          <p:nvPr/>
        </p:nvSpPr>
        <p:spPr>
          <a:xfrm>
            <a:off x="411480" y="1554480"/>
            <a:ext cx="11375136" cy="16459"/>
          </a:xfrm>
          <a:prstGeom prst="rect">
            <a:avLst/>
          </a:prstGeom>
          <a:solidFill>
            <a:srgbClr val="10233A"/>
          </a:solidFill>
          <a:ln/>
        </p:spPr>
      </p:sp>
      <p:sp>
        <p:nvSpPr>
          <p:cNvPr id="23" name="Shape 20"/>
          <p:cNvSpPr/>
          <p:nvPr/>
        </p:nvSpPr>
        <p:spPr>
          <a:xfrm>
            <a:off x="4497019" y="1682496"/>
            <a:ext cx="14630" cy="2596896"/>
          </a:xfrm>
          <a:prstGeom prst="rect">
            <a:avLst/>
          </a:prstGeom>
          <a:solidFill>
            <a:srgbClr val="A3282C"/>
          </a:solidFill>
          <a:ln/>
        </p:spPr>
      </p:sp>
      <p:sp>
        <p:nvSpPr>
          <p:cNvPr id="24" name="Shape 21"/>
          <p:cNvSpPr/>
          <p:nvPr/>
        </p:nvSpPr>
        <p:spPr>
          <a:xfrm>
            <a:off x="4767814" y="1682496"/>
            <a:ext cx="14630" cy="2596896"/>
          </a:xfrm>
          <a:prstGeom prst="rect">
            <a:avLst/>
          </a:prstGeom>
          <a:solidFill>
            <a:srgbClr val="10233A"/>
          </a:solidFill>
          <a:ln/>
        </p:spPr>
      </p:sp>
      <p:sp>
        <p:nvSpPr>
          <p:cNvPr id="25" name="Text 22"/>
          <p:cNvSpPr txBox="1"/>
          <p:nvPr/>
        </p:nvSpPr>
        <p:spPr>
          <a:xfrm>
            <a:off x="411480" y="1645920"/>
            <a:ext cx="2240280" cy="329184"/>
          </a:xfrm>
          <a:prstGeom prst="rect">
            <a:avLst/>
          </a:prstGeom>
          <a:noFill/>
          <a:ln/>
        </p:spPr>
        <p:txBody>
          <a:bodyPr wrap="square" lIns="0" tIns="0" rIns="0" bIns="0" rtlCol="0" anchor="ctr"/>
          <a:lstStyle/>
          <a:p>
            <a:pPr indent="0" marL="0">
              <a:buNone/>
            </a:pPr>
            <a:r>
              <a:rPr lang="en-US" sz="880" b="1" dirty="0">
                <a:solidFill>
                  <a:srgbClr val="1B2733"/>
                </a:solidFill>
                <a:latin typeface="Calibri" pitchFamily="34" charset="0"/>
                <a:ea typeface="Calibri" pitchFamily="34" charset="-122"/>
                <a:cs typeface="Calibri" pitchFamily="34" charset="-120"/>
              </a:rPr>
              <a:t>DCF, base case</a:t>
            </a:r>
            <a:endParaRPr lang="en-US" sz="880" dirty="0"/>
          </a:p>
        </p:txBody>
      </p:sp>
      <p:sp>
        <p:nvSpPr>
          <p:cNvPr id="26" name="Shape 23"/>
          <p:cNvSpPr/>
          <p:nvPr/>
        </p:nvSpPr>
        <p:spPr>
          <a:xfrm>
            <a:off x="4889599" y="1728216"/>
            <a:ext cx="91440" cy="164592"/>
          </a:xfrm>
          <a:prstGeom prst="roundRect">
            <a:avLst>
              <a:gd name="adj" fmla="val 40000"/>
            </a:avLst>
          </a:prstGeom>
          <a:solidFill>
            <a:srgbClr val="10A07E"/>
          </a:solidFill>
          <a:ln/>
        </p:spPr>
      </p:sp>
      <p:sp>
        <p:nvSpPr>
          <p:cNvPr id="27" name="Text 24"/>
          <p:cNvSpPr txBox="1"/>
          <p:nvPr/>
        </p:nvSpPr>
        <p:spPr>
          <a:xfrm>
            <a:off x="3937406" y="1645920"/>
            <a:ext cx="484632" cy="329184"/>
          </a:xfrm>
          <a:prstGeom prst="rect">
            <a:avLst/>
          </a:prstGeom>
          <a:noFill/>
          <a:ln/>
        </p:spPr>
        <p:txBody>
          <a:bodyPr wrap="square" lIns="0" tIns="0" rIns="0" bIns="0" rtlCol="0" anchor="ctr"/>
          <a:lstStyle/>
          <a:p>
            <a:pPr algn="r" indent="0" marL="0">
              <a:buNone/>
            </a:pPr>
            <a:r>
              <a:rPr lang="en-US" sz="740" dirty="0">
                <a:solidFill>
                  <a:srgbClr val="5F7183"/>
                </a:solidFill>
                <a:latin typeface="Calibri" pitchFamily="34" charset="0"/>
                <a:ea typeface="Calibri" pitchFamily="34" charset="-122"/>
                <a:cs typeface="Calibri" pitchFamily="34" charset="-120"/>
              </a:rPr>
              <a:t>6.53</a:t>
            </a:r>
            <a:endParaRPr lang="en-US" sz="740" dirty="0"/>
          </a:p>
        </p:txBody>
      </p:sp>
      <p:sp>
        <p:nvSpPr>
          <p:cNvPr id="28" name="Text 25"/>
          <p:cNvSpPr txBox="1"/>
          <p:nvPr/>
        </p:nvSpPr>
        <p:spPr>
          <a:xfrm>
            <a:off x="7269480" y="1645920"/>
            <a:ext cx="658368" cy="329184"/>
          </a:xfrm>
          <a:prstGeom prst="rect">
            <a:avLst/>
          </a:prstGeom>
          <a:noFill/>
          <a:ln/>
        </p:spPr>
        <p:txBody>
          <a:bodyPr wrap="square" lIns="0" tIns="0" rIns="0" bIns="0" rtlCol="0" anchor="ctr"/>
          <a:lstStyle/>
          <a:p>
            <a:pPr algn="ctr" indent="0" marL="0">
              <a:buNone/>
            </a:pPr>
            <a:r>
              <a:rPr lang="en-US" sz="860" b="1" dirty="0">
                <a:solidFill>
                  <a:srgbClr val="10233A"/>
                </a:solidFill>
                <a:latin typeface="Calibri" pitchFamily="34" charset="0"/>
                <a:ea typeface="Calibri" pitchFamily="34" charset="-122"/>
                <a:cs typeface="Calibri" pitchFamily="34" charset="-120"/>
              </a:rPr>
              <a:t>60%</a:t>
            </a:r>
            <a:endParaRPr lang="en-US" sz="860" dirty="0"/>
          </a:p>
        </p:txBody>
      </p:sp>
      <p:sp>
        <p:nvSpPr>
          <p:cNvPr id="29" name="Text 26"/>
          <p:cNvSpPr txBox="1"/>
          <p:nvPr/>
        </p:nvSpPr>
        <p:spPr>
          <a:xfrm>
            <a:off x="7927848" y="1645920"/>
            <a:ext cx="713232" cy="329184"/>
          </a:xfrm>
          <a:prstGeom prst="rect">
            <a:avLst/>
          </a:prstGeom>
          <a:noFill/>
          <a:ln/>
        </p:spPr>
        <p:txBody>
          <a:bodyPr wrap="square" lIns="0" tIns="0" rIns="0" bIns="0" rtlCol="0" anchor="ctr"/>
          <a:lstStyle/>
          <a:p>
            <a:pPr algn="r" indent="0" marL="0">
              <a:buNone/>
            </a:pPr>
            <a:r>
              <a:rPr lang="en-US" sz="880" b="1" dirty="0">
                <a:solidFill>
                  <a:srgbClr val="10233A"/>
                </a:solidFill>
                <a:latin typeface="Calibri" pitchFamily="34" charset="0"/>
                <a:ea typeface="Calibri" pitchFamily="34" charset="-122"/>
                <a:cs typeface="Calibri" pitchFamily="34" charset="-120"/>
              </a:rPr>
              <a:t>A$6.53</a:t>
            </a:r>
            <a:endParaRPr lang="en-US" sz="880" dirty="0"/>
          </a:p>
        </p:txBody>
      </p:sp>
      <p:sp>
        <p:nvSpPr>
          <p:cNvPr id="30" name="Text 27"/>
          <p:cNvSpPr txBox="1"/>
          <p:nvPr/>
        </p:nvSpPr>
        <p:spPr>
          <a:xfrm>
            <a:off x="8769096" y="1645920"/>
            <a:ext cx="3072384" cy="329184"/>
          </a:xfrm>
          <a:prstGeom prst="rect">
            <a:avLst/>
          </a:prstGeom>
          <a:noFill/>
          <a:ln/>
        </p:spPr>
        <p:txBody>
          <a:bodyPr wrap="square" lIns="0" tIns="0" rIns="0" bIns="0" rtlCol="0" anchor="ctr"/>
          <a:lstStyle/>
          <a:p>
            <a:pPr indent="0" marL="0">
              <a:lnSpc>
                <a:spcPct val="100000"/>
              </a:lnSpc>
              <a:buNone/>
            </a:pPr>
            <a:r>
              <a:rPr lang="en-US" sz="730" dirty="0">
                <a:solidFill>
                  <a:srgbClr val="5F7183"/>
                </a:solidFill>
                <a:latin typeface="Calibri" pitchFamily="34" charset="0"/>
                <a:ea typeface="Calibri" pitchFamily="34" charset="-122"/>
                <a:cs typeface="Calibri" pitchFamily="34" charset="-120"/>
              </a:rPr>
              <a:t>WACC 8.88% from the case's prescribed inputs; terminal value an annuity over remaining ore</a:t>
            </a:r>
            <a:endParaRPr lang="en-US" sz="730" dirty="0"/>
          </a:p>
        </p:txBody>
      </p:sp>
      <p:sp>
        <p:nvSpPr>
          <p:cNvPr id="31" name="Shape 28"/>
          <p:cNvSpPr/>
          <p:nvPr/>
        </p:nvSpPr>
        <p:spPr>
          <a:xfrm>
            <a:off x="411480" y="2011680"/>
            <a:ext cx="11375136" cy="365760"/>
          </a:xfrm>
          <a:prstGeom prst="rect">
            <a:avLst/>
          </a:prstGeom>
          <a:solidFill>
            <a:srgbClr val="F7F9FB"/>
          </a:solidFill>
          <a:ln/>
        </p:spPr>
      </p:sp>
      <p:sp>
        <p:nvSpPr>
          <p:cNvPr id="32" name="Text 29"/>
          <p:cNvSpPr txBox="1"/>
          <p:nvPr/>
        </p:nvSpPr>
        <p:spPr>
          <a:xfrm>
            <a:off x="411480" y="2029968"/>
            <a:ext cx="2240280" cy="329184"/>
          </a:xfrm>
          <a:prstGeom prst="rect">
            <a:avLst/>
          </a:prstGeom>
          <a:noFill/>
          <a:ln/>
        </p:spPr>
        <p:txBody>
          <a:bodyPr wrap="square" lIns="0" tIns="0" rIns="0" bIns="0" rtlCol="0" anchor="ctr"/>
          <a:lstStyle/>
          <a:p>
            <a:pPr indent="0" marL="0">
              <a:buNone/>
            </a:pPr>
            <a:r>
              <a:rPr lang="en-US" sz="880" b="1" dirty="0">
                <a:solidFill>
                  <a:srgbClr val="1B2733"/>
                </a:solidFill>
                <a:latin typeface="Calibri" pitchFamily="34" charset="0"/>
                <a:ea typeface="Calibri" pitchFamily="34" charset="-122"/>
                <a:cs typeface="Calibri" pitchFamily="34" charset="-120"/>
              </a:rPr>
              <a:t>DCF, bear to bull</a:t>
            </a:r>
            <a:endParaRPr lang="en-US" sz="880" dirty="0"/>
          </a:p>
        </p:txBody>
      </p:sp>
      <p:sp>
        <p:nvSpPr>
          <p:cNvPr id="33" name="Shape 30"/>
          <p:cNvSpPr/>
          <p:nvPr/>
        </p:nvSpPr>
        <p:spPr>
          <a:xfrm>
            <a:off x="3194182" y="2112264"/>
            <a:ext cx="2743625" cy="164592"/>
          </a:xfrm>
          <a:prstGeom prst="roundRect">
            <a:avLst>
              <a:gd name="adj" fmla="val 22222"/>
            </a:avLst>
          </a:prstGeom>
          <a:solidFill>
            <a:srgbClr val="1D6FD9"/>
          </a:solidFill>
          <a:ln/>
        </p:spPr>
      </p:sp>
      <p:sp>
        <p:nvSpPr>
          <p:cNvPr id="34" name="Text 31"/>
          <p:cNvSpPr txBox="1"/>
          <p:nvPr/>
        </p:nvSpPr>
        <p:spPr>
          <a:xfrm>
            <a:off x="2645542" y="2029968"/>
            <a:ext cx="484632" cy="329184"/>
          </a:xfrm>
          <a:prstGeom prst="rect">
            <a:avLst/>
          </a:prstGeom>
          <a:noFill/>
          <a:ln/>
        </p:spPr>
        <p:txBody>
          <a:bodyPr wrap="square" lIns="0" tIns="0" rIns="0" bIns="0" rtlCol="0" anchor="ctr"/>
          <a:lstStyle/>
          <a:p>
            <a:pPr algn="r" indent="0" marL="0">
              <a:buNone/>
            </a:pPr>
            <a:r>
              <a:rPr lang="en-US" sz="740" dirty="0">
                <a:solidFill>
                  <a:srgbClr val="5F7183"/>
                </a:solidFill>
                <a:latin typeface="Calibri" pitchFamily="34" charset="0"/>
                <a:ea typeface="Calibri" pitchFamily="34" charset="-122"/>
                <a:cs typeface="Calibri" pitchFamily="34" charset="-120"/>
              </a:rPr>
              <a:t>2.30</a:t>
            </a:r>
            <a:endParaRPr lang="en-US" sz="740" dirty="0"/>
          </a:p>
        </p:txBody>
      </p:sp>
      <p:sp>
        <p:nvSpPr>
          <p:cNvPr id="35" name="Text 32"/>
          <p:cNvSpPr txBox="1"/>
          <p:nvPr/>
        </p:nvSpPr>
        <p:spPr>
          <a:xfrm>
            <a:off x="5983527" y="2029968"/>
            <a:ext cx="484632" cy="329184"/>
          </a:xfrm>
          <a:prstGeom prst="rect">
            <a:avLst/>
          </a:prstGeom>
          <a:noFill/>
          <a:ln/>
        </p:spPr>
        <p:txBody>
          <a:bodyPr wrap="square" lIns="0" tIns="0" rIns="0" bIns="0" rtlCol="0" anchor="ctr"/>
          <a:lstStyle/>
          <a:p>
            <a:pPr algn="l" indent="0" marL="0">
              <a:buNone/>
            </a:pPr>
            <a:r>
              <a:rPr lang="en-US" sz="740" dirty="0">
                <a:solidFill>
                  <a:srgbClr val="5F7183"/>
                </a:solidFill>
                <a:latin typeface="Calibri" pitchFamily="34" charset="0"/>
                <a:ea typeface="Calibri" pitchFamily="34" charset="-122"/>
                <a:cs typeface="Calibri" pitchFamily="34" charset="-120"/>
              </a:rPr>
              <a:t>8.96</a:t>
            </a:r>
            <a:endParaRPr lang="en-US" sz="740" dirty="0"/>
          </a:p>
        </p:txBody>
      </p:sp>
      <p:sp>
        <p:nvSpPr>
          <p:cNvPr id="36" name="Text 33"/>
          <p:cNvSpPr txBox="1"/>
          <p:nvPr/>
        </p:nvSpPr>
        <p:spPr>
          <a:xfrm>
            <a:off x="7269480" y="2029968"/>
            <a:ext cx="658368" cy="329184"/>
          </a:xfrm>
          <a:prstGeom prst="rect">
            <a:avLst/>
          </a:prstGeom>
          <a:noFill/>
          <a:ln/>
        </p:spPr>
        <p:txBody>
          <a:bodyPr wrap="square" lIns="0" tIns="0" rIns="0" bIns="0" rtlCol="0" anchor="ctr"/>
          <a:lstStyle/>
          <a:p>
            <a:pPr algn="ctr" indent="0" marL="0">
              <a:buNone/>
            </a:pPr>
            <a:r>
              <a:rPr lang="en-US" sz="860" dirty="0">
                <a:solidFill>
                  <a:srgbClr val="8C9BA9"/>
                </a:solidFill>
                <a:latin typeface="Calibri" pitchFamily="34" charset="0"/>
                <a:ea typeface="Calibri" pitchFamily="34" charset="-122"/>
                <a:cs typeface="Calibri" pitchFamily="34" charset="-120"/>
              </a:rPr>
              <a:t>-</a:t>
            </a:r>
            <a:endParaRPr lang="en-US" sz="860" dirty="0"/>
          </a:p>
        </p:txBody>
      </p:sp>
      <p:sp>
        <p:nvSpPr>
          <p:cNvPr id="37" name="Text 34"/>
          <p:cNvSpPr txBox="1"/>
          <p:nvPr/>
        </p:nvSpPr>
        <p:spPr>
          <a:xfrm>
            <a:off x="7927848" y="2029968"/>
            <a:ext cx="713232" cy="329184"/>
          </a:xfrm>
          <a:prstGeom prst="rect">
            <a:avLst/>
          </a:prstGeom>
          <a:noFill/>
          <a:ln/>
        </p:spPr>
        <p:txBody>
          <a:bodyPr wrap="square" lIns="0" tIns="0" rIns="0" bIns="0" rtlCol="0" anchor="ctr"/>
          <a:lstStyle/>
          <a:p>
            <a:pPr algn="r" indent="0" marL="0">
              <a:buNone/>
            </a:pPr>
            <a:r>
              <a:rPr lang="en-US" sz="880" b="1" dirty="0">
                <a:solidFill>
                  <a:srgbClr val="10233A"/>
                </a:solidFill>
                <a:latin typeface="Calibri" pitchFamily="34" charset="0"/>
                <a:ea typeface="Calibri" pitchFamily="34" charset="-122"/>
                <a:cs typeface="Calibri" pitchFamily="34" charset="-120"/>
              </a:rPr>
              <a:t>A$5.63</a:t>
            </a:r>
            <a:endParaRPr lang="en-US" sz="880" dirty="0"/>
          </a:p>
        </p:txBody>
      </p:sp>
      <p:sp>
        <p:nvSpPr>
          <p:cNvPr id="38" name="Text 35"/>
          <p:cNvSpPr txBox="1"/>
          <p:nvPr/>
        </p:nvSpPr>
        <p:spPr>
          <a:xfrm>
            <a:off x="8769096" y="2029968"/>
            <a:ext cx="3072384" cy="329184"/>
          </a:xfrm>
          <a:prstGeom prst="rect">
            <a:avLst/>
          </a:prstGeom>
          <a:noFill/>
          <a:ln/>
        </p:spPr>
        <p:txBody>
          <a:bodyPr wrap="square" lIns="0" tIns="0" rIns="0" bIns="0" rtlCol="0" anchor="ctr"/>
          <a:lstStyle/>
          <a:p>
            <a:pPr indent="0" marL="0">
              <a:lnSpc>
                <a:spcPct val="100000"/>
              </a:lnSpc>
              <a:buNone/>
            </a:pPr>
            <a:r>
              <a:rPr lang="en-US" sz="730" dirty="0">
                <a:solidFill>
                  <a:srgbClr val="5F7183"/>
                </a:solidFill>
                <a:latin typeface="Calibri" pitchFamily="34" charset="0"/>
                <a:ea typeface="Calibri" pitchFamily="34" charset="-122"/>
                <a:cs typeface="Calibri" pitchFamily="34" charset="-120"/>
              </a:rPr>
              <a:t>Every bad outcome at once against every good one. Shown to frame asymmetry</a:t>
            </a:r>
            <a:endParaRPr lang="en-US" sz="730" dirty="0"/>
          </a:p>
        </p:txBody>
      </p:sp>
      <p:sp>
        <p:nvSpPr>
          <p:cNvPr id="39" name="Text 36"/>
          <p:cNvSpPr txBox="1"/>
          <p:nvPr/>
        </p:nvSpPr>
        <p:spPr>
          <a:xfrm>
            <a:off x="411480" y="2414016"/>
            <a:ext cx="2240280" cy="329184"/>
          </a:xfrm>
          <a:prstGeom prst="rect">
            <a:avLst/>
          </a:prstGeom>
          <a:noFill/>
          <a:ln/>
        </p:spPr>
        <p:txBody>
          <a:bodyPr wrap="square" lIns="0" tIns="0" rIns="0" bIns="0" rtlCol="0" anchor="ctr"/>
          <a:lstStyle/>
          <a:p>
            <a:pPr indent="0" marL="0">
              <a:buNone/>
            </a:pPr>
            <a:r>
              <a:rPr lang="en-US" sz="880" b="1" dirty="0">
                <a:solidFill>
                  <a:srgbClr val="1B2733"/>
                </a:solidFill>
                <a:latin typeface="Calibri" pitchFamily="34" charset="0"/>
                <a:ea typeface="Calibri" pitchFamily="34" charset="-122"/>
                <a:cs typeface="Calibri" pitchFamily="34" charset="-120"/>
              </a:rPr>
              <a:t>Monte Carlo, P25 to P75</a:t>
            </a:r>
            <a:endParaRPr lang="en-US" sz="880" dirty="0"/>
          </a:p>
        </p:txBody>
      </p:sp>
      <p:sp>
        <p:nvSpPr>
          <p:cNvPr id="40" name="Shape 37"/>
          <p:cNvSpPr/>
          <p:nvPr/>
        </p:nvSpPr>
        <p:spPr>
          <a:xfrm>
            <a:off x="3537356" y="2496312"/>
            <a:ext cx="1859890" cy="164592"/>
          </a:xfrm>
          <a:prstGeom prst="roundRect">
            <a:avLst>
              <a:gd name="adj" fmla="val 22222"/>
            </a:avLst>
          </a:prstGeom>
          <a:solidFill>
            <a:srgbClr val="9C2BAD"/>
          </a:solidFill>
          <a:ln/>
        </p:spPr>
      </p:sp>
      <p:sp>
        <p:nvSpPr>
          <p:cNvPr id="41" name="Text 38"/>
          <p:cNvSpPr txBox="1"/>
          <p:nvPr/>
        </p:nvSpPr>
        <p:spPr>
          <a:xfrm>
            <a:off x="2988716" y="2414016"/>
            <a:ext cx="484632" cy="329184"/>
          </a:xfrm>
          <a:prstGeom prst="rect">
            <a:avLst/>
          </a:prstGeom>
          <a:noFill/>
          <a:ln/>
        </p:spPr>
        <p:txBody>
          <a:bodyPr wrap="square" lIns="0" tIns="0" rIns="0" bIns="0" rtlCol="0" anchor="ctr"/>
          <a:lstStyle/>
          <a:p>
            <a:pPr algn="r" indent="0" marL="0">
              <a:buNone/>
            </a:pPr>
            <a:r>
              <a:rPr lang="en-US" sz="740" dirty="0">
                <a:solidFill>
                  <a:srgbClr val="5F7183"/>
                </a:solidFill>
                <a:latin typeface="Calibri" pitchFamily="34" charset="0"/>
                <a:ea typeface="Calibri" pitchFamily="34" charset="-122"/>
                <a:cs typeface="Calibri" pitchFamily="34" charset="-120"/>
              </a:rPr>
              <a:t>3.13</a:t>
            </a:r>
            <a:endParaRPr lang="en-US" sz="740" dirty="0"/>
          </a:p>
        </p:txBody>
      </p:sp>
      <p:sp>
        <p:nvSpPr>
          <p:cNvPr id="42" name="Text 39"/>
          <p:cNvSpPr txBox="1"/>
          <p:nvPr/>
        </p:nvSpPr>
        <p:spPr>
          <a:xfrm>
            <a:off x="5442966" y="2414016"/>
            <a:ext cx="484632" cy="329184"/>
          </a:xfrm>
          <a:prstGeom prst="rect">
            <a:avLst/>
          </a:prstGeom>
          <a:noFill/>
          <a:ln/>
        </p:spPr>
        <p:txBody>
          <a:bodyPr wrap="square" lIns="0" tIns="0" rIns="0" bIns="0" rtlCol="0" anchor="ctr"/>
          <a:lstStyle/>
          <a:p>
            <a:pPr algn="l" indent="0" marL="0">
              <a:buNone/>
            </a:pPr>
            <a:r>
              <a:rPr lang="en-US" sz="740" dirty="0">
                <a:solidFill>
                  <a:srgbClr val="5F7183"/>
                </a:solidFill>
                <a:latin typeface="Calibri" pitchFamily="34" charset="0"/>
                <a:ea typeface="Calibri" pitchFamily="34" charset="-122"/>
                <a:cs typeface="Calibri" pitchFamily="34" charset="-120"/>
              </a:rPr>
              <a:t>7.65</a:t>
            </a:r>
            <a:endParaRPr lang="en-US" sz="740" dirty="0"/>
          </a:p>
        </p:txBody>
      </p:sp>
      <p:sp>
        <p:nvSpPr>
          <p:cNvPr id="43" name="Text 40"/>
          <p:cNvSpPr txBox="1"/>
          <p:nvPr/>
        </p:nvSpPr>
        <p:spPr>
          <a:xfrm>
            <a:off x="7269480" y="2414016"/>
            <a:ext cx="658368" cy="329184"/>
          </a:xfrm>
          <a:prstGeom prst="rect">
            <a:avLst/>
          </a:prstGeom>
          <a:noFill/>
          <a:ln/>
        </p:spPr>
        <p:txBody>
          <a:bodyPr wrap="square" lIns="0" tIns="0" rIns="0" bIns="0" rtlCol="0" anchor="ctr"/>
          <a:lstStyle/>
          <a:p>
            <a:pPr algn="ctr" indent="0" marL="0">
              <a:buNone/>
            </a:pPr>
            <a:r>
              <a:rPr lang="en-US" sz="860" dirty="0">
                <a:solidFill>
                  <a:srgbClr val="8C9BA9"/>
                </a:solidFill>
                <a:latin typeface="Calibri" pitchFamily="34" charset="0"/>
                <a:ea typeface="Calibri" pitchFamily="34" charset="-122"/>
                <a:cs typeface="Calibri" pitchFamily="34" charset="-120"/>
              </a:rPr>
              <a:t>-</a:t>
            </a:r>
            <a:endParaRPr lang="en-US" sz="860" dirty="0"/>
          </a:p>
        </p:txBody>
      </p:sp>
      <p:sp>
        <p:nvSpPr>
          <p:cNvPr id="44" name="Text 41"/>
          <p:cNvSpPr txBox="1"/>
          <p:nvPr/>
        </p:nvSpPr>
        <p:spPr>
          <a:xfrm>
            <a:off x="7927848" y="2414016"/>
            <a:ext cx="713232" cy="329184"/>
          </a:xfrm>
          <a:prstGeom prst="rect">
            <a:avLst/>
          </a:prstGeom>
          <a:noFill/>
          <a:ln/>
        </p:spPr>
        <p:txBody>
          <a:bodyPr wrap="square" lIns="0" tIns="0" rIns="0" bIns="0" rtlCol="0" anchor="ctr"/>
          <a:lstStyle/>
          <a:p>
            <a:pPr algn="r" indent="0" marL="0">
              <a:buNone/>
            </a:pPr>
            <a:r>
              <a:rPr lang="en-US" sz="880" b="1" dirty="0">
                <a:solidFill>
                  <a:srgbClr val="10233A"/>
                </a:solidFill>
                <a:latin typeface="Calibri" pitchFamily="34" charset="0"/>
                <a:ea typeface="Calibri" pitchFamily="34" charset="-122"/>
                <a:cs typeface="Calibri" pitchFamily="34" charset="-120"/>
              </a:rPr>
              <a:t>A$5.39</a:t>
            </a:r>
            <a:endParaRPr lang="en-US" sz="880" dirty="0"/>
          </a:p>
        </p:txBody>
      </p:sp>
      <p:sp>
        <p:nvSpPr>
          <p:cNvPr id="45" name="Text 42"/>
          <p:cNvSpPr txBox="1"/>
          <p:nvPr/>
        </p:nvSpPr>
        <p:spPr>
          <a:xfrm>
            <a:off x="8769096" y="2414016"/>
            <a:ext cx="3072384" cy="329184"/>
          </a:xfrm>
          <a:prstGeom prst="rect">
            <a:avLst/>
          </a:prstGeom>
          <a:noFill/>
          <a:ln/>
        </p:spPr>
        <p:txBody>
          <a:bodyPr wrap="square" lIns="0" tIns="0" rIns="0" bIns="0" rtlCol="0" anchor="ctr"/>
          <a:lstStyle/>
          <a:p>
            <a:pPr indent="0" marL="0">
              <a:lnSpc>
                <a:spcPct val="100000"/>
              </a:lnSpc>
              <a:buNone/>
            </a:pPr>
            <a:r>
              <a:rPr lang="en-US" sz="730" dirty="0">
                <a:solidFill>
                  <a:srgbClr val="5F7183"/>
                </a:solidFill>
                <a:latin typeface="Calibri" pitchFamily="34" charset="0"/>
                <a:ea typeface="Calibri" pitchFamily="34" charset="-122"/>
                <a:cs typeface="Calibri" pitchFamily="34" charset="-120"/>
              </a:rPr>
              <a:t>20,000 trials randomising price, cost, WACC, reserve conversion and both growth decisions</a:t>
            </a:r>
            <a:endParaRPr lang="en-US" sz="730" dirty="0"/>
          </a:p>
        </p:txBody>
      </p:sp>
      <p:sp>
        <p:nvSpPr>
          <p:cNvPr id="46" name="Shape 43"/>
          <p:cNvSpPr/>
          <p:nvPr/>
        </p:nvSpPr>
        <p:spPr>
          <a:xfrm>
            <a:off x="411480" y="2779776"/>
            <a:ext cx="11375136" cy="365760"/>
          </a:xfrm>
          <a:prstGeom prst="rect">
            <a:avLst/>
          </a:prstGeom>
          <a:solidFill>
            <a:srgbClr val="F7F9FB"/>
          </a:solidFill>
          <a:ln/>
        </p:spPr>
      </p:sp>
      <p:sp>
        <p:nvSpPr>
          <p:cNvPr id="47" name="Text 44"/>
          <p:cNvSpPr txBox="1"/>
          <p:nvPr/>
        </p:nvSpPr>
        <p:spPr>
          <a:xfrm>
            <a:off x="411480" y="2798064"/>
            <a:ext cx="2240280" cy="329184"/>
          </a:xfrm>
          <a:prstGeom prst="rect">
            <a:avLst/>
          </a:prstGeom>
          <a:noFill/>
          <a:ln/>
        </p:spPr>
        <p:txBody>
          <a:bodyPr wrap="square" lIns="0" tIns="0" rIns="0" bIns="0" rtlCol="0" anchor="ctr"/>
          <a:lstStyle/>
          <a:p>
            <a:pPr indent="0" marL="0">
              <a:buNone/>
            </a:pPr>
            <a:r>
              <a:rPr lang="en-US" sz="880" b="1" dirty="0">
                <a:solidFill>
                  <a:srgbClr val="1B2733"/>
                </a:solidFill>
                <a:latin typeface="Calibri" pitchFamily="34" charset="0"/>
                <a:ea typeface="Calibri" pitchFamily="34" charset="-122"/>
                <a:cs typeface="Calibri" pitchFamily="34" charset="-120"/>
              </a:rPr>
              <a:t>Trading comparables</a:t>
            </a:r>
            <a:endParaRPr lang="en-US" sz="880" dirty="0"/>
          </a:p>
        </p:txBody>
      </p:sp>
      <p:sp>
        <p:nvSpPr>
          <p:cNvPr id="48" name="Shape 45"/>
          <p:cNvSpPr/>
          <p:nvPr/>
        </p:nvSpPr>
        <p:spPr>
          <a:xfrm>
            <a:off x="4202966" y="2880360"/>
            <a:ext cx="663717" cy="164592"/>
          </a:xfrm>
          <a:prstGeom prst="roundRect">
            <a:avLst>
              <a:gd name="adj" fmla="val 22222"/>
            </a:avLst>
          </a:prstGeom>
          <a:solidFill>
            <a:srgbClr val="10A07E"/>
          </a:solidFill>
          <a:ln/>
        </p:spPr>
      </p:sp>
      <p:sp>
        <p:nvSpPr>
          <p:cNvPr id="49" name="Text 46"/>
          <p:cNvSpPr txBox="1"/>
          <p:nvPr/>
        </p:nvSpPr>
        <p:spPr>
          <a:xfrm>
            <a:off x="3654326" y="2798064"/>
            <a:ext cx="484632" cy="329184"/>
          </a:xfrm>
          <a:prstGeom prst="rect">
            <a:avLst/>
          </a:prstGeom>
          <a:noFill/>
          <a:ln/>
        </p:spPr>
        <p:txBody>
          <a:bodyPr wrap="square" lIns="0" tIns="0" rIns="0" bIns="0" rtlCol="0" anchor="ctr"/>
          <a:lstStyle/>
          <a:p>
            <a:pPr algn="r" indent="0" marL="0">
              <a:buNone/>
            </a:pPr>
            <a:r>
              <a:rPr lang="en-US" sz="740" dirty="0">
                <a:solidFill>
                  <a:srgbClr val="5F7183"/>
                </a:solidFill>
                <a:latin typeface="Calibri" pitchFamily="34" charset="0"/>
                <a:ea typeface="Calibri" pitchFamily="34" charset="-122"/>
                <a:cs typeface="Calibri" pitchFamily="34" charset="-120"/>
              </a:rPr>
              <a:t>4.75</a:t>
            </a:r>
            <a:endParaRPr lang="en-US" sz="740" dirty="0"/>
          </a:p>
        </p:txBody>
      </p:sp>
      <p:sp>
        <p:nvSpPr>
          <p:cNvPr id="50" name="Text 47"/>
          <p:cNvSpPr txBox="1"/>
          <p:nvPr/>
        </p:nvSpPr>
        <p:spPr>
          <a:xfrm>
            <a:off x="4912404" y="2798064"/>
            <a:ext cx="484632" cy="329184"/>
          </a:xfrm>
          <a:prstGeom prst="rect">
            <a:avLst/>
          </a:prstGeom>
          <a:noFill/>
          <a:ln/>
        </p:spPr>
        <p:txBody>
          <a:bodyPr wrap="square" lIns="0" tIns="0" rIns="0" bIns="0" rtlCol="0" anchor="ctr"/>
          <a:lstStyle/>
          <a:p>
            <a:pPr algn="l" indent="0" marL="0">
              <a:buNone/>
            </a:pPr>
            <a:r>
              <a:rPr lang="en-US" sz="740" dirty="0">
                <a:solidFill>
                  <a:srgbClr val="5F7183"/>
                </a:solidFill>
                <a:latin typeface="Calibri" pitchFamily="34" charset="0"/>
                <a:ea typeface="Calibri" pitchFamily="34" charset="-122"/>
                <a:cs typeface="Calibri" pitchFamily="34" charset="-120"/>
              </a:rPr>
              <a:t>6.36</a:t>
            </a:r>
            <a:endParaRPr lang="en-US" sz="740" dirty="0"/>
          </a:p>
        </p:txBody>
      </p:sp>
      <p:sp>
        <p:nvSpPr>
          <p:cNvPr id="51" name="Text 48"/>
          <p:cNvSpPr txBox="1"/>
          <p:nvPr/>
        </p:nvSpPr>
        <p:spPr>
          <a:xfrm>
            <a:off x="7269480" y="2798064"/>
            <a:ext cx="658368" cy="329184"/>
          </a:xfrm>
          <a:prstGeom prst="rect">
            <a:avLst/>
          </a:prstGeom>
          <a:noFill/>
          <a:ln/>
        </p:spPr>
        <p:txBody>
          <a:bodyPr wrap="square" lIns="0" tIns="0" rIns="0" bIns="0" rtlCol="0" anchor="ctr"/>
          <a:lstStyle/>
          <a:p>
            <a:pPr algn="ctr" indent="0" marL="0">
              <a:buNone/>
            </a:pPr>
            <a:r>
              <a:rPr lang="en-US" sz="860" b="1" dirty="0">
                <a:solidFill>
                  <a:srgbClr val="10233A"/>
                </a:solidFill>
                <a:latin typeface="Calibri" pitchFamily="34" charset="0"/>
                <a:ea typeface="Calibri" pitchFamily="34" charset="-122"/>
                <a:cs typeface="Calibri" pitchFamily="34" charset="-120"/>
              </a:rPr>
              <a:t>40%</a:t>
            </a:r>
            <a:endParaRPr lang="en-US" sz="860" dirty="0"/>
          </a:p>
        </p:txBody>
      </p:sp>
      <p:sp>
        <p:nvSpPr>
          <p:cNvPr id="52" name="Text 49"/>
          <p:cNvSpPr txBox="1"/>
          <p:nvPr/>
        </p:nvSpPr>
        <p:spPr>
          <a:xfrm>
            <a:off x="7927848" y="2798064"/>
            <a:ext cx="713232" cy="329184"/>
          </a:xfrm>
          <a:prstGeom prst="rect">
            <a:avLst/>
          </a:prstGeom>
          <a:noFill/>
          <a:ln/>
        </p:spPr>
        <p:txBody>
          <a:bodyPr wrap="square" lIns="0" tIns="0" rIns="0" bIns="0" rtlCol="0" anchor="ctr"/>
          <a:lstStyle/>
          <a:p>
            <a:pPr algn="r" indent="0" marL="0">
              <a:buNone/>
            </a:pPr>
            <a:r>
              <a:rPr lang="en-US" sz="880" b="1" dirty="0">
                <a:solidFill>
                  <a:srgbClr val="10233A"/>
                </a:solidFill>
                <a:latin typeface="Calibri" pitchFamily="34" charset="0"/>
                <a:ea typeface="Calibri" pitchFamily="34" charset="-122"/>
                <a:cs typeface="Calibri" pitchFamily="34" charset="-120"/>
              </a:rPr>
              <a:t>A$5.55</a:t>
            </a:r>
            <a:endParaRPr lang="en-US" sz="880" dirty="0"/>
          </a:p>
        </p:txBody>
      </p:sp>
      <p:sp>
        <p:nvSpPr>
          <p:cNvPr id="53" name="Text 50"/>
          <p:cNvSpPr txBox="1"/>
          <p:nvPr/>
        </p:nvSpPr>
        <p:spPr>
          <a:xfrm>
            <a:off x="8769096" y="2798064"/>
            <a:ext cx="3072384" cy="329184"/>
          </a:xfrm>
          <a:prstGeom prst="rect">
            <a:avLst/>
          </a:prstGeom>
          <a:noFill/>
          <a:ln/>
        </p:spPr>
        <p:txBody>
          <a:bodyPr wrap="square" lIns="0" tIns="0" rIns="0" bIns="0" rtlCol="0" anchor="ctr"/>
          <a:lstStyle/>
          <a:p>
            <a:pPr indent="0" marL="0">
              <a:lnSpc>
                <a:spcPct val="100000"/>
              </a:lnSpc>
              <a:buNone/>
            </a:pPr>
            <a:r>
              <a:rPr lang="en-US" sz="730" dirty="0">
                <a:solidFill>
                  <a:srgbClr val="5F7183"/>
                </a:solidFill>
                <a:latin typeface="Calibri" pitchFamily="34" charset="0"/>
                <a:ea typeface="Calibri" pitchFamily="34" charset="-122"/>
                <a:cs typeface="Calibri" pitchFamily="34" charset="-120"/>
              </a:rPr>
              <a:t>8.0x to 11.0x FY27E EBITDA against a diversified peer median near 7.8x</a:t>
            </a:r>
            <a:endParaRPr lang="en-US" sz="730" dirty="0"/>
          </a:p>
        </p:txBody>
      </p:sp>
      <p:sp>
        <p:nvSpPr>
          <p:cNvPr id="54" name="Text 51"/>
          <p:cNvSpPr txBox="1"/>
          <p:nvPr/>
        </p:nvSpPr>
        <p:spPr>
          <a:xfrm>
            <a:off x="411480" y="3182112"/>
            <a:ext cx="2240280" cy="329184"/>
          </a:xfrm>
          <a:prstGeom prst="rect">
            <a:avLst/>
          </a:prstGeom>
          <a:noFill/>
          <a:ln/>
        </p:spPr>
        <p:txBody>
          <a:bodyPr wrap="square" lIns="0" tIns="0" rIns="0" bIns="0" rtlCol="0" anchor="ctr"/>
          <a:lstStyle/>
          <a:p>
            <a:pPr indent="0" marL="0">
              <a:buNone/>
            </a:pPr>
            <a:r>
              <a:rPr lang="en-US" sz="880" b="1" dirty="0">
                <a:solidFill>
                  <a:srgbClr val="1B2733"/>
                </a:solidFill>
                <a:latin typeface="Calibri" pitchFamily="34" charset="0"/>
                <a:ea typeface="Calibri" pitchFamily="34" charset="-122"/>
                <a:cs typeface="Calibri" pitchFamily="34" charset="-120"/>
              </a:rPr>
              <a:t>Precedent transactions</a:t>
            </a:r>
            <a:endParaRPr lang="en-US" sz="880" dirty="0"/>
          </a:p>
        </p:txBody>
      </p:sp>
      <p:sp>
        <p:nvSpPr>
          <p:cNvPr id="55" name="Shape 52"/>
          <p:cNvSpPr/>
          <p:nvPr/>
        </p:nvSpPr>
        <p:spPr>
          <a:xfrm>
            <a:off x="4935319" y="3264408"/>
            <a:ext cx="717045" cy="164592"/>
          </a:xfrm>
          <a:prstGeom prst="roundRect">
            <a:avLst>
              <a:gd name="adj" fmla="val 22222"/>
            </a:avLst>
          </a:prstGeom>
          <a:solidFill>
            <a:srgbClr val="5F7183"/>
          </a:solidFill>
          <a:ln/>
        </p:spPr>
      </p:sp>
      <p:sp>
        <p:nvSpPr>
          <p:cNvPr id="56" name="Text 53"/>
          <p:cNvSpPr txBox="1"/>
          <p:nvPr/>
        </p:nvSpPr>
        <p:spPr>
          <a:xfrm>
            <a:off x="3937406" y="3182112"/>
            <a:ext cx="484632" cy="329184"/>
          </a:xfrm>
          <a:prstGeom prst="rect">
            <a:avLst/>
          </a:prstGeom>
          <a:noFill/>
          <a:ln/>
        </p:spPr>
        <p:txBody>
          <a:bodyPr wrap="square" lIns="0" tIns="0" rIns="0" bIns="0" rtlCol="0" anchor="ctr"/>
          <a:lstStyle/>
          <a:p>
            <a:pPr algn="r" indent="0" marL="0">
              <a:buNone/>
            </a:pPr>
            <a:r>
              <a:rPr lang="en-US" sz="740" dirty="0">
                <a:solidFill>
                  <a:srgbClr val="5F7183"/>
                </a:solidFill>
                <a:latin typeface="Calibri" pitchFamily="34" charset="0"/>
                <a:ea typeface="Calibri" pitchFamily="34" charset="-122"/>
                <a:cs typeface="Calibri" pitchFamily="34" charset="-120"/>
              </a:rPr>
              <a:t>6.53</a:t>
            </a:r>
            <a:endParaRPr lang="en-US" sz="740" dirty="0"/>
          </a:p>
        </p:txBody>
      </p:sp>
      <p:sp>
        <p:nvSpPr>
          <p:cNvPr id="57" name="Text 54"/>
          <p:cNvSpPr txBox="1"/>
          <p:nvPr/>
        </p:nvSpPr>
        <p:spPr>
          <a:xfrm>
            <a:off x="5698084" y="3182112"/>
            <a:ext cx="484632" cy="329184"/>
          </a:xfrm>
          <a:prstGeom prst="rect">
            <a:avLst/>
          </a:prstGeom>
          <a:noFill/>
          <a:ln/>
        </p:spPr>
        <p:txBody>
          <a:bodyPr wrap="square" lIns="0" tIns="0" rIns="0" bIns="0" rtlCol="0" anchor="ctr"/>
          <a:lstStyle/>
          <a:p>
            <a:pPr algn="l" indent="0" marL="0">
              <a:buNone/>
            </a:pPr>
            <a:r>
              <a:rPr lang="en-US" sz="740" dirty="0">
                <a:solidFill>
                  <a:srgbClr val="5F7183"/>
                </a:solidFill>
                <a:latin typeface="Calibri" pitchFamily="34" charset="0"/>
                <a:ea typeface="Calibri" pitchFamily="34" charset="-122"/>
                <a:cs typeface="Calibri" pitchFamily="34" charset="-120"/>
              </a:rPr>
              <a:t>8.27</a:t>
            </a:r>
            <a:endParaRPr lang="en-US" sz="740" dirty="0"/>
          </a:p>
        </p:txBody>
      </p:sp>
      <p:sp>
        <p:nvSpPr>
          <p:cNvPr id="58" name="Text 55"/>
          <p:cNvSpPr txBox="1"/>
          <p:nvPr/>
        </p:nvSpPr>
        <p:spPr>
          <a:xfrm>
            <a:off x="7269480" y="3182112"/>
            <a:ext cx="658368" cy="329184"/>
          </a:xfrm>
          <a:prstGeom prst="rect">
            <a:avLst/>
          </a:prstGeom>
          <a:noFill/>
          <a:ln/>
        </p:spPr>
        <p:txBody>
          <a:bodyPr wrap="square" lIns="0" tIns="0" rIns="0" bIns="0" rtlCol="0" anchor="ctr"/>
          <a:lstStyle/>
          <a:p>
            <a:pPr algn="ctr" indent="0" marL="0">
              <a:buNone/>
            </a:pPr>
            <a:r>
              <a:rPr lang="en-US" sz="860" dirty="0">
                <a:solidFill>
                  <a:srgbClr val="8C9BA9"/>
                </a:solidFill>
                <a:latin typeface="Calibri" pitchFamily="34" charset="0"/>
                <a:ea typeface="Calibri" pitchFamily="34" charset="-122"/>
                <a:cs typeface="Calibri" pitchFamily="34" charset="-120"/>
              </a:rPr>
              <a:t>-</a:t>
            </a:r>
            <a:endParaRPr lang="en-US" sz="860" dirty="0"/>
          </a:p>
        </p:txBody>
      </p:sp>
      <p:sp>
        <p:nvSpPr>
          <p:cNvPr id="59" name="Text 56"/>
          <p:cNvSpPr txBox="1"/>
          <p:nvPr/>
        </p:nvSpPr>
        <p:spPr>
          <a:xfrm>
            <a:off x="7927848" y="3182112"/>
            <a:ext cx="713232" cy="329184"/>
          </a:xfrm>
          <a:prstGeom prst="rect">
            <a:avLst/>
          </a:prstGeom>
          <a:noFill/>
          <a:ln/>
        </p:spPr>
        <p:txBody>
          <a:bodyPr wrap="square" lIns="0" tIns="0" rIns="0" bIns="0" rtlCol="0" anchor="ctr"/>
          <a:lstStyle/>
          <a:p>
            <a:pPr algn="r" indent="0" marL="0">
              <a:buNone/>
            </a:pPr>
            <a:r>
              <a:rPr lang="en-US" sz="880" b="1" dirty="0">
                <a:solidFill>
                  <a:srgbClr val="10233A"/>
                </a:solidFill>
                <a:latin typeface="Calibri" pitchFamily="34" charset="0"/>
                <a:ea typeface="Calibri" pitchFamily="34" charset="-122"/>
                <a:cs typeface="Calibri" pitchFamily="34" charset="-120"/>
              </a:rPr>
              <a:t>A$7.40</a:t>
            </a:r>
            <a:endParaRPr lang="en-US" sz="880" dirty="0"/>
          </a:p>
        </p:txBody>
      </p:sp>
      <p:sp>
        <p:nvSpPr>
          <p:cNvPr id="60" name="Text 57"/>
          <p:cNvSpPr txBox="1"/>
          <p:nvPr/>
        </p:nvSpPr>
        <p:spPr>
          <a:xfrm>
            <a:off x="8769096" y="3182112"/>
            <a:ext cx="3072384" cy="329184"/>
          </a:xfrm>
          <a:prstGeom prst="rect">
            <a:avLst/>
          </a:prstGeom>
          <a:noFill/>
          <a:ln/>
        </p:spPr>
        <p:txBody>
          <a:bodyPr wrap="square" lIns="0" tIns="0" rIns="0" bIns="0" rtlCol="0" anchor="ctr"/>
          <a:lstStyle/>
          <a:p>
            <a:pPr indent="0" marL="0">
              <a:lnSpc>
                <a:spcPct val="100000"/>
              </a:lnSpc>
              <a:buNone/>
            </a:pPr>
            <a:r>
              <a:rPr lang="en-US" sz="730" dirty="0">
                <a:solidFill>
                  <a:srgbClr val="5F7183"/>
                </a:solidFill>
                <a:latin typeface="Calibri" pitchFamily="34" charset="0"/>
                <a:ea typeface="Calibri" pitchFamily="34" charset="-122"/>
                <a:cs typeface="Calibri" pitchFamily="34" charset="-120"/>
              </a:rPr>
              <a:t>Reference only: we found no consistent transaction multiple</a:t>
            </a:r>
            <a:endParaRPr lang="en-US" sz="730" dirty="0"/>
          </a:p>
        </p:txBody>
      </p:sp>
      <p:sp>
        <p:nvSpPr>
          <p:cNvPr id="61" name="Shape 58"/>
          <p:cNvSpPr/>
          <p:nvPr/>
        </p:nvSpPr>
        <p:spPr>
          <a:xfrm>
            <a:off x="411480" y="3547872"/>
            <a:ext cx="11375136" cy="365760"/>
          </a:xfrm>
          <a:prstGeom prst="rect">
            <a:avLst/>
          </a:prstGeom>
          <a:solidFill>
            <a:srgbClr val="F7F9FB"/>
          </a:solidFill>
          <a:ln/>
        </p:spPr>
      </p:sp>
      <p:sp>
        <p:nvSpPr>
          <p:cNvPr id="62" name="Text 59"/>
          <p:cNvSpPr txBox="1"/>
          <p:nvPr/>
        </p:nvSpPr>
        <p:spPr>
          <a:xfrm>
            <a:off x="411480" y="3566160"/>
            <a:ext cx="2240280" cy="329184"/>
          </a:xfrm>
          <a:prstGeom prst="rect">
            <a:avLst/>
          </a:prstGeom>
          <a:noFill/>
          <a:ln/>
        </p:spPr>
        <p:txBody>
          <a:bodyPr wrap="square" lIns="0" tIns="0" rIns="0" bIns="0" rtlCol="0" anchor="ctr"/>
          <a:lstStyle/>
          <a:p>
            <a:pPr indent="0" marL="0">
              <a:buNone/>
            </a:pPr>
            <a:r>
              <a:rPr lang="en-US" sz="880" b="1" dirty="0">
                <a:solidFill>
                  <a:srgbClr val="1B2733"/>
                </a:solidFill>
                <a:latin typeface="Calibri" pitchFamily="34" charset="0"/>
                <a:ea typeface="Calibri" pitchFamily="34" charset="-122"/>
                <a:cs typeface="Calibri" pitchFamily="34" charset="-120"/>
              </a:rPr>
              <a:t>Broker targets</a:t>
            </a:r>
            <a:endParaRPr lang="en-US" sz="880" dirty="0"/>
          </a:p>
        </p:txBody>
      </p:sp>
      <p:sp>
        <p:nvSpPr>
          <p:cNvPr id="63" name="Shape 60"/>
          <p:cNvSpPr/>
          <p:nvPr/>
        </p:nvSpPr>
        <p:spPr>
          <a:xfrm>
            <a:off x="3278124" y="3648456"/>
            <a:ext cx="1781708" cy="164592"/>
          </a:xfrm>
          <a:prstGeom prst="roundRect">
            <a:avLst>
              <a:gd name="adj" fmla="val 22222"/>
            </a:avLst>
          </a:prstGeom>
          <a:solidFill>
            <a:srgbClr val="5F7183"/>
          </a:solidFill>
          <a:ln/>
        </p:spPr>
      </p:sp>
      <p:sp>
        <p:nvSpPr>
          <p:cNvPr id="64" name="Text 61"/>
          <p:cNvSpPr txBox="1"/>
          <p:nvPr/>
        </p:nvSpPr>
        <p:spPr>
          <a:xfrm>
            <a:off x="2729484" y="3566160"/>
            <a:ext cx="484632" cy="329184"/>
          </a:xfrm>
          <a:prstGeom prst="rect">
            <a:avLst/>
          </a:prstGeom>
          <a:noFill/>
          <a:ln/>
        </p:spPr>
        <p:txBody>
          <a:bodyPr wrap="square" lIns="0" tIns="0" rIns="0" bIns="0" rtlCol="0" anchor="ctr"/>
          <a:lstStyle/>
          <a:p>
            <a:pPr algn="r" indent="0" marL="0">
              <a:buNone/>
            </a:pPr>
            <a:r>
              <a:rPr lang="en-US" sz="740" dirty="0">
                <a:solidFill>
                  <a:srgbClr val="5F7183"/>
                </a:solidFill>
                <a:latin typeface="Calibri" pitchFamily="34" charset="0"/>
                <a:ea typeface="Calibri" pitchFamily="34" charset="-122"/>
                <a:cs typeface="Calibri" pitchFamily="34" charset="-120"/>
              </a:rPr>
              <a:t>2.50</a:t>
            </a:r>
            <a:endParaRPr lang="en-US" sz="740" dirty="0"/>
          </a:p>
        </p:txBody>
      </p:sp>
      <p:sp>
        <p:nvSpPr>
          <p:cNvPr id="65" name="Text 62"/>
          <p:cNvSpPr txBox="1"/>
          <p:nvPr/>
        </p:nvSpPr>
        <p:spPr>
          <a:xfrm>
            <a:off x="5105552" y="3566160"/>
            <a:ext cx="484632" cy="329184"/>
          </a:xfrm>
          <a:prstGeom prst="rect">
            <a:avLst/>
          </a:prstGeom>
          <a:noFill/>
          <a:ln/>
        </p:spPr>
        <p:txBody>
          <a:bodyPr wrap="square" lIns="0" tIns="0" rIns="0" bIns="0" rtlCol="0" anchor="ctr"/>
          <a:lstStyle/>
          <a:p>
            <a:pPr algn="l" indent="0" marL="0">
              <a:buNone/>
            </a:pPr>
            <a:r>
              <a:rPr lang="en-US" sz="740" dirty="0">
                <a:solidFill>
                  <a:srgbClr val="5F7183"/>
                </a:solidFill>
                <a:latin typeface="Calibri" pitchFamily="34" charset="0"/>
                <a:ea typeface="Calibri" pitchFamily="34" charset="-122"/>
                <a:cs typeface="Calibri" pitchFamily="34" charset="-120"/>
              </a:rPr>
              <a:t>6.83</a:t>
            </a:r>
            <a:endParaRPr lang="en-US" sz="740" dirty="0"/>
          </a:p>
        </p:txBody>
      </p:sp>
      <p:sp>
        <p:nvSpPr>
          <p:cNvPr id="66" name="Text 63"/>
          <p:cNvSpPr txBox="1"/>
          <p:nvPr/>
        </p:nvSpPr>
        <p:spPr>
          <a:xfrm>
            <a:off x="7269480" y="3566160"/>
            <a:ext cx="658368" cy="329184"/>
          </a:xfrm>
          <a:prstGeom prst="rect">
            <a:avLst/>
          </a:prstGeom>
          <a:noFill/>
          <a:ln/>
        </p:spPr>
        <p:txBody>
          <a:bodyPr wrap="square" lIns="0" tIns="0" rIns="0" bIns="0" rtlCol="0" anchor="ctr"/>
          <a:lstStyle/>
          <a:p>
            <a:pPr algn="ctr" indent="0" marL="0">
              <a:buNone/>
            </a:pPr>
            <a:r>
              <a:rPr lang="en-US" sz="860" dirty="0">
                <a:solidFill>
                  <a:srgbClr val="8C9BA9"/>
                </a:solidFill>
                <a:latin typeface="Calibri" pitchFamily="34" charset="0"/>
                <a:ea typeface="Calibri" pitchFamily="34" charset="-122"/>
                <a:cs typeface="Calibri" pitchFamily="34" charset="-120"/>
              </a:rPr>
              <a:t>-</a:t>
            </a:r>
            <a:endParaRPr lang="en-US" sz="860" dirty="0"/>
          </a:p>
        </p:txBody>
      </p:sp>
      <p:sp>
        <p:nvSpPr>
          <p:cNvPr id="67" name="Text 64"/>
          <p:cNvSpPr txBox="1"/>
          <p:nvPr/>
        </p:nvSpPr>
        <p:spPr>
          <a:xfrm>
            <a:off x="7927848" y="3566160"/>
            <a:ext cx="713232" cy="329184"/>
          </a:xfrm>
          <a:prstGeom prst="rect">
            <a:avLst/>
          </a:prstGeom>
          <a:noFill/>
          <a:ln/>
        </p:spPr>
        <p:txBody>
          <a:bodyPr wrap="square" lIns="0" tIns="0" rIns="0" bIns="0" rtlCol="0" anchor="ctr"/>
          <a:lstStyle/>
          <a:p>
            <a:pPr algn="r" indent="0" marL="0">
              <a:buNone/>
            </a:pPr>
            <a:r>
              <a:rPr lang="en-US" sz="880" b="1" dirty="0">
                <a:solidFill>
                  <a:srgbClr val="10233A"/>
                </a:solidFill>
                <a:latin typeface="Calibri" pitchFamily="34" charset="0"/>
                <a:ea typeface="Calibri" pitchFamily="34" charset="-122"/>
                <a:cs typeface="Calibri" pitchFamily="34" charset="-120"/>
              </a:rPr>
              <a:t>A$4.67</a:t>
            </a:r>
            <a:endParaRPr lang="en-US" sz="880" dirty="0"/>
          </a:p>
        </p:txBody>
      </p:sp>
      <p:sp>
        <p:nvSpPr>
          <p:cNvPr id="68" name="Text 65"/>
          <p:cNvSpPr txBox="1"/>
          <p:nvPr/>
        </p:nvSpPr>
        <p:spPr>
          <a:xfrm>
            <a:off x="8769096" y="3566160"/>
            <a:ext cx="3072384" cy="329184"/>
          </a:xfrm>
          <a:prstGeom prst="rect">
            <a:avLst/>
          </a:prstGeom>
          <a:noFill/>
          <a:ln/>
        </p:spPr>
        <p:txBody>
          <a:bodyPr wrap="square" lIns="0" tIns="0" rIns="0" bIns="0" rtlCol="0" anchor="ctr"/>
          <a:lstStyle/>
          <a:p>
            <a:pPr indent="0" marL="0">
              <a:lnSpc>
                <a:spcPct val="100000"/>
              </a:lnSpc>
              <a:buNone/>
            </a:pPr>
            <a:r>
              <a:rPr lang="en-US" sz="730" dirty="0">
                <a:solidFill>
                  <a:srgbClr val="5F7183"/>
                </a:solidFill>
                <a:latin typeface="Calibri" pitchFamily="34" charset="0"/>
                <a:ea typeface="Calibri" pitchFamily="34" charset="-122"/>
                <a:cs typeface="Calibri" pitchFamily="34" charset="-120"/>
              </a:rPr>
              <a:t>Full individual spread across 17-20 analysts. Our target sits inside it</a:t>
            </a:r>
            <a:endParaRPr lang="en-US" sz="730" dirty="0"/>
          </a:p>
        </p:txBody>
      </p:sp>
      <p:sp>
        <p:nvSpPr>
          <p:cNvPr id="69" name="Text 66"/>
          <p:cNvSpPr txBox="1"/>
          <p:nvPr/>
        </p:nvSpPr>
        <p:spPr>
          <a:xfrm>
            <a:off x="411480" y="3950208"/>
            <a:ext cx="2240280" cy="329184"/>
          </a:xfrm>
          <a:prstGeom prst="rect">
            <a:avLst/>
          </a:prstGeom>
          <a:noFill/>
          <a:ln/>
        </p:spPr>
        <p:txBody>
          <a:bodyPr wrap="square" lIns="0" tIns="0" rIns="0" bIns="0" rtlCol="0" anchor="ctr"/>
          <a:lstStyle/>
          <a:p>
            <a:pPr indent="0" marL="0">
              <a:buNone/>
            </a:pPr>
            <a:r>
              <a:rPr lang="en-US" sz="880" b="1" dirty="0">
                <a:solidFill>
                  <a:srgbClr val="1B2733"/>
                </a:solidFill>
                <a:latin typeface="Calibri" pitchFamily="34" charset="0"/>
                <a:ea typeface="Calibri" pitchFamily="34" charset="-122"/>
                <a:cs typeface="Calibri" pitchFamily="34" charset="-120"/>
              </a:rPr>
              <a:t>52-week traded range</a:t>
            </a:r>
            <a:endParaRPr lang="en-US" sz="880" dirty="0"/>
          </a:p>
        </p:txBody>
      </p:sp>
      <p:sp>
        <p:nvSpPr>
          <p:cNvPr id="70" name="Shape 67"/>
          <p:cNvSpPr/>
          <p:nvPr/>
        </p:nvSpPr>
        <p:spPr>
          <a:xfrm>
            <a:off x="3035351" y="4032504"/>
            <a:ext cx="2016252" cy="164592"/>
          </a:xfrm>
          <a:prstGeom prst="roundRect">
            <a:avLst>
              <a:gd name="adj" fmla="val 22222"/>
            </a:avLst>
          </a:prstGeom>
          <a:solidFill>
            <a:srgbClr val="8C9BA9"/>
          </a:solidFill>
          <a:ln/>
        </p:spPr>
      </p:sp>
      <p:sp>
        <p:nvSpPr>
          <p:cNvPr id="71" name="Text 68"/>
          <p:cNvSpPr txBox="1"/>
          <p:nvPr/>
        </p:nvSpPr>
        <p:spPr>
          <a:xfrm>
            <a:off x="2486711" y="3950208"/>
            <a:ext cx="484632" cy="329184"/>
          </a:xfrm>
          <a:prstGeom prst="rect">
            <a:avLst/>
          </a:prstGeom>
          <a:noFill/>
          <a:ln/>
        </p:spPr>
        <p:txBody>
          <a:bodyPr wrap="square" lIns="0" tIns="0" rIns="0" bIns="0" rtlCol="0" anchor="ctr"/>
          <a:lstStyle/>
          <a:p>
            <a:pPr algn="r" indent="0" marL="0">
              <a:buNone/>
            </a:pPr>
            <a:r>
              <a:rPr lang="en-US" sz="740" dirty="0">
                <a:solidFill>
                  <a:srgbClr val="5F7183"/>
                </a:solidFill>
                <a:latin typeface="Calibri" pitchFamily="34" charset="0"/>
                <a:ea typeface="Calibri" pitchFamily="34" charset="-122"/>
                <a:cs typeface="Calibri" pitchFamily="34" charset="-120"/>
              </a:rPr>
              <a:t>1.91</a:t>
            </a:r>
            <a:endParaRPr lang="en-US" sz="740" dirty="0"/>
          </a:p>
        </p:txBody>
      </p:sp>
      <p:sp>
        <p:nvSpPr>
          <p:cNvPr id="72" name="Text 69"/>
          <p:cNvSpPr txBox="1"/>
          <p:nvPr/>
        </p:nvSpPr>
        <p:spPr>
          <a:xfrm>
            <a:off x="5097323" y="3950208"/>
            <a:ext cx="484632" cy="329184"/>
          </a:xfrm>
          <a:prstGeom prst="rect">
            <a:avLst/>
          </a:prstGeom>
          <a:noFill/>
          <a:ln/>
        </p:spPr>
        <p:txBody>
          <a:bodyPr wrap="square" lIns="0" tIns="0" rIns="0" bIns="0" rtlCol="0" anchor="ctr"/>
          <a:lstStyle/>
          <a:p>
            <a:pPr algn="l" indent="0" marL="0">
              <a:buNone/>
            </a:pPr>
            <a:r>
              <a:rPr lang="en-US" sz="740" dirty="0">
                <a:solidFill>
                  <a:srgbClr val="5F7183"/>
                </a:solidFill>
                <a:latin typeface="Calibri" pitchFamily="34" charset="0"/>
                <a:ea typeface="Calibri" pitchFamily="34" charset="-122"/>
                <a:cs typeface="Calibri" pitchFamily="34" charset="-120"/>
              </a:rPr>
              <a:t>6.81</a:t>
            </a:r>
            <a:endParaRPr lang="en-US" sz="740" dirty="0"/>
          </a:p>
        </p:txBody>
      </p:sp>
      <p:sp>
        <p:nvSpPr>
          <p:cNvPr id="73" name="Text 70"/>
          <p:cNvSpPr txBox="1"/>
          <p:nvPr/>
        </p:nvSpPr>
        <p:spPr>
          <a:xfrm>
            <a:off x="7269480" y="3950208"/>
            <a:ext cx="658368" cy="329184"/>
          </a:xfrm>
          <a:prstGeom prst="rect">
            <a:avLst/>
          </a:prstGeom>
          <a:noFill/>
          <a:ln/>
        </p:spPr>
        <p:txBody>
          <a:bodyPr wrap="square" lIns="0" tIns="0" rIns="0" bIns="0" rtlCol="0" anchor="ctr"/>
          <a:lstStyle/>
          <a:p>
            <a:pPr algn="ctr" indent="0" marL="0">
              <a:buNone/>
            </a:pPr>
            <a:r>
              <a:rPr lang="en-US" sz="860" dirty="0">
                <a:solidFill>
                  <a:srgbClr val="8C9BA9"/>
                </a:solidFill>
                <a:latin typeface="Calibri" pitchFamily="34" charset="0"/>
                <a:ea typeface="Calibri" pitchFamily="34" charset="-122"/>
                <a:cs typeface="Calibri" pitchFamily="34" charset="-120"/>
              </a:rPr>
              <a:t>-</a:t>
            </a:r>
            <a:endParaRPr lang="en-US" sz="860" dirty="0"/>
          </a:p>
        </p:txBody>
      </p:sp>
      <p:sp>
        <p:nvSpPr>
          <p:cNvPr id="74" name="Text 71"/>
          <p:cNvSpPr txBox="1"/>
          <p:nvPr/>
        </p:nvSpPr>
        <p:spPr>
          <a:xfrm>
            <a:off x="7927848" y="3950208"/>
            <a:ext cx="713232" cy="329184"/>
          </a:xfrm>
          <a:prstGeom prst="rect">
            <a:avLst/>
          </a:prstGeom>
          <a:noFill/>
          <a:ln/>
        </p:spPr>
        <p:txBody>
          <a:bodyPr wrap="square" lIns="0" tIns="0" rIns="0" bIns="0" rtlCol="0" anchor="ctr"/>
          <a:lstStyle/>
          <a:p>
            <a:pPr algn="r" indent="0" marL="0">
              <a:buNone/>
            </a:pPr>
            <a:r>
              <a:rPr lang="en-US" sz="880" b="1" dirty="0">
                <a:solidFill>
                  <a:srgbClr val="10233A"/>
                </a:solidFill>
                <a:latin typeface="Calibri" pitchFamily="34" charset="0"/>
                <a:ea typeface="Calibri" pitchFamily="34" charset="-122"/>
                <a:cs typeface="Calibri" pitchFamily="34" charset="-120"/>
              </a:rPr>
              <a:t>A$4.36</a:t>
            </a:r>
            <a:endParaRPr lang="en-US" sz="880" dirty="0"/>
          </a:p>
        </p:txBody>
      </p:sp>
      <p:sp>
        <p:nvSpPr>
          <p:cNvPr id="75" name="Text 72"/>
          <p:cNvSpPr txBox="1"/>
          <p:nvPr/>
        </p:nvSpPr>
        <p:spPr>
          <a:xfrm>
            <a:off x="8769096" y="3950208"/>
            <a:ext cx="3072384" cy="329184"/>
          </a:xfrm>
          <a:prstGeom prst="rect">
            <a:avLst/>
          </a:prstGeom>
          <a:noFill/>
          <a:ln/>
        </p:spPr>
        <p:txBody>
          <a:bodyPr wrap="square" lIns="0" tIns="0" rIns="0" bIns="0" rtlCol="0" anchor="ctr"/>
          <a:lstStyle/>
          <a:p>
            <a:pPr indent="0" marL="0">
              <a:lnSpc>
                <a:spcPct val="100000"/>
              </a:lnSpc>
              <a:buNone/>
            </a:pPr>
            <a:r>
              <a:rPr lang="en-US" sz="730" dirty="0">
                <a:solidFill>
                  <a:srgbClr val="5F7183"/>
                </a:solidFill>
                <a:latin typeface="Calibri" pitchFamily="34" charset="0"/>
                <a:ea typeface="Calibri" pitchFamily="34" charset="-122"/>
                <a:cs typeface="Calibri" pitchFamily="34" charset="-120"/>
              </a:rPr>
              <a:t>Where the market has paid</a:t>
            </a:r>
            <a:endParaRPr lang="en-US" sz="730" dirty="0"/>
          </a:p>
        </p:txBody>
      </p:sp>
      <p:sp>
        <p:nvSpPr>
          <p:cNvPr id="76" name="Text 73"/>
          <p:cNvSpPr txBox="1"/>
          <p:nvPr/>
        </p:nvSpPr>
        <p:spPr>
          <a:xfrm>
            <a:off x="3352190" y="4288536"/>
            <a:ext cx="1115568" cy="201168"/>
          </a:xfrm>
          <a:prstGeom prst="rect">
            <a:avLst/>
          </a:prstGeom>
          <a:noFill/>
          <a:ln/>
        </p:spPr>
        <p:txBody>
          <a:bodyPr wrap="square" lIns="0" tIns="0" rIns="0" bIns="0" rtlCol="0" anchor="ctr"/>
          <a:lstStyle/>
          <a:p>
            <a:pPr algn="r" indent="0" marL="0">
              <a:buNone/>
            </a:pPr>
            <a:r>
              <a:rPr lang="en-US" sz="780" b="1" dirty="0">
                <a:solidFill>
                  <a:srgbClr val="A3282C"/>
                </a:solidFill>
                <a:latin typeface="Calibri" pitchFamily="34" charset="0"/>
                <a:ea typeface="Calibri" pitchFamily="34" charset="-122"/>
                <a:cs typeface="Calibri" pitchFamily="34" charset="-120"/>
              </a:rPr>
              <a:t>Last close 5.48</a:t>
            </a:r>
            <a:endParaRPr lang="en-US" sz="780" dirty="0"/>
          </a:p>
        </p:txBody>
      </p:sp>
      <p:sp>
        <p:nvSpPr>
          <p:cNvPr id="77" name="Text 74"/>
          <p:cNvSpPr txBox="1"/>
          <p:nvPr/>
        </p:nvSpPr>
        <p:spPr>
          <a:xfrm>
            <a:off x="4820849" y="4288536"/>
            <a:ext cx="1115568" cy="201168"/>
          </a:xfrm>
          <a:prstGeom prst="rect">
            <a:avLst/>
          </a:prstGeom>
          <a:noFill/>
          <a:ln/>
        </p:spPr>
        <p:txBody>
          <a:bodyPr wrap="square" lIns="0" tIns="0" rIns="0" bIns="0" rtlCol="0" anchor="ctr"/>
          <a:lstStyle/>
          <a:p>
            <a:pPr algn="l" indent="0" marL="0">
              <a:buNone/>
            </a:pPr>
            <a:r>
              <a:rPr lang="en-US" sz="780" b="1" dirty="0">
                <a:solidFill>
                  <a:srgbClr val="10233A"/>
                </a:solidFill>
                <a:latin typeface="Calibri" pitchFamily="34" charset="0"/>
                <a:ea typeface="Calibri" pitchFamily="34" charset="-122"/>
                <a:cs typeface="Calibri" pitchFamily="34" charset="-120"/>
              </a:rPr>
              <a:t>Target 6.14</a:t>
            </a:r>
            <a:endParaRPr lang="en-US" sz="780" dirty="0"/>
          </a:p>
        </p:txBody>
      </p:sp>
      <p:sp>
        <p:nvSpPr>
          <p:cNvPr id="78" name="Text 75"/>
          <p:cNvSpPr txBox="1"/>
          <p:nvPr/>
        </p:nvSpPr>
        <p:spPr>
          <a:xfrm>
            <a:off x="411480" y="4535424"/>
            <a:ext cx="5806440" cy="256032"/>
          </a:xfrm>
          <a:prstGeom prst="rect">
            <a:avLst/>
          </a:prstGeom>
          <a:noFill/>
          <a:ln/>
        </p:spPr>
        <p:txBody>
          <a:bodyPr wrap="square" lIns="0" tIns="0" rIns="0" bIns="0" rtlCol="0" anchor="ctr"/>
          <a:lstStyle/>
          <a:p>
            <a:pPr algn="l" indent="0" marL="0">
              <a:buNone/>
            </a:pPr>
            <a:r>
              <a:rPr lang="en-US" sz="1000" b="1" dirty="0">
                <a:solidFill>
                  <a:srgbClr val="10233A"/>
                </a:solidFill>
                <a:latin typeface="Calibri" pitchFamily="34" charset="0"/>
                <a:ea typeface="Calibri" pitchFamily="34" charset="-122"/>
                <a:cs typeface="Calibri" pitchFamily="34" charset="-120"/>
              </a:rPr>
              <a:t>Base-case value per share against realised price and unit cost (A$)</a:t>
            </a:r>
            <a:endParaRPr lang="en-US" sz="1000" dirty="0"/>
          </a:p>
        </p:txBody>
      </p:sp>
      <p:sp>
        <p:nvSpPr>
          <p:cNvPr id="79" name="Shape 76"/>
          <p:cNvSpPr/>
          <p:nvPr/>
        </p:nvSpPr>
        <p:spPr>
          <a:xfrm>
            <a:off x="411480" y="4791456"/>
            <a:ext cx="5806440" cy="13716"/>
          </a:xfrm>
          <a:prstGeom prst="rect">
            <a:avLst/>
          </a:prstGeom>
          <a:solidFill>
            <a:srgbClr val="10233A"/>
          </a:solidFill>
          <a:ln/>
        </p:spPr>
      </p:sp>
      <p:sp>
        <p:nvSpPr>
          <p:cNvPr id="80" name="Shape 77"/>
          <p:cNvSpPr/>
          <p:nvPr/>
        </p:nvSpPr>
        <p:spPr>
          <a:xfrm>
            <a:off x="1417320" y="4937760"/>
            <a:ext cx="960120" cy="187452"/>
          </a:xfrm>
          <a:prstGeom prst="rect">
            <a:avLst/>
          </a:prstGeom>
          <a:solidFill>
            <a:srgbClr val="10233A"/>
          </a:solidFill>
          <a:ln/>
        </p:spPr>
      </p:sp>
      <p:sp>
        <p:nvSpPr>
          <p:cNvPr id="81" name="Text 78"/>
          <p:cNvSpPr txBox="1"/>
          <p:nvPr/>
        </p:nvSpPr>
        <p:spPr>
          <a:xfrm>
            <a:off x="1417320" y="4937760"/>
            <a:ext cx="960120" cy="187452"/>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-20%</a:t>
            </a:r>
            <a:endParaRPr lang="en-US" sz="780" dirty="0"/>
          </a:p>
        </p:txBody>
      </p:sp>
      <p:sp>
        <p:nvSpPr>
          <p:cNvPr id="82" name="Shape 79"/>
          <p:cNvSpPr/>
          <p:nvPr/>
        </p:nvSpPr>
        <p:spPr>
          <a:xfrm>
            <a:off x="2377440" y="4937760"/>
            <a:ext cx="960120" cy="187452"/>
          </a:xfrm>
          <a:prstGeom prst="rect">
            <a:avLst/>
          </a:prstGeom>
          <a:solidFill>
            <a:srgbClr val="10233A"/>
          </a:solidFill>
          <a:ln/>
        </p:spPr>
      </p:sp>
      <p:sp>
        <p:nvSpPr>
          <p:cNvPr id="83" name="Text 80"/>
          <p:cNvSpPr txBox="1"/>
          <p:nvPr/>
        </p:nvSpPr>
        <p:spPr>
          <a:xfrm>
            <a:off x="2377440" y="4937760"/>
            <a:ext cx="960120" cy="187452"/>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-10%</a:t>
            </a:r>
            <a:endParaRPr lang="en-US" sz="780" dirty="0"/>
          </a:p>
        </p:txBody>
      </p:sp>
      <p:sp>
        <p:nvSpPr>
          <p:cNvPr id="84" name="Shape 81"/>
          <p:cNvSpPr/>
          <p:nvPr/>
        </p:nvSpPr>
        <p:spPr>
          <a:xfrm>
            <a:off x="3337560" y="4937760"/>
            <a:ext cx="960120" cy="187452"/>
          </a:xfrm>
          <a:prstGeom prst="rect">
            <a:avLst/>
          </a:prstGeom>
          <a:solidFill>
            <a:srgbClr val="10233A"/>
          </a:solidFill>
          <a:ln/>
        </p:spPr>
      </p:sp>
      <p:sp>
        <p:nvSpPr>
          <p:cNvPr id="85" name="Text 82"/>
          <p:cNvSpPr txBox="1"/>
          <p:nvPr/>
        </p:nvSpPr>
        <p:spPr>
          <a:xfrm>
            <a:off x="3337560" y="4937760"/>
            <a:ext cx="960120" cy="187452"/>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+0%</a:t>
            </a:r>
            <a:endParaRPr lang="en-US" sz="780" dirty="0"/>
          </a:p>
        </p:txBody>
      </p:sp>
      <p:sp>
        <p:nvSpPr>
          <p:cNvPr id="86" name="Shape 83"/>
          <p:cNvSpPr/>
          <p:nvPr/>
        </p:nvSpPr>
        <p:spPr>
          <a:xfrm>
            <a:off x="4297680" y="4937760"/>
            <a:ext cx="960120" cy="187452"/>
          </a:xfrm>
          <a:prstGeom prst="rect">
            <a:avLst/>
          </a:prstGeom>
          <a:solidFill>
            <a:srgbClr val="10233A"/>
          </a:solidFill>
          <a:ln/>
        </p:spPr>
      </p:sp>
      <p:sp>
        <p:nvSpPr>
          <p:cNvPr id="87" name="Text 84"/>
          <p:cNvSpPr txBox="1"/>
          <p:nvPr/>
        </p:nvSpPr>
        <p:spPr>
          <a:xfrm>
            <a:off x="4297680" y="4937760"/>
            <a:ext cx="960120" cy="187452"/>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+10%</a:t>
            </a:r>
            <a:endParaRPr lang="en-US" sz="780" dirty="0"/>
          </a:p>
        </p:txBody>
      </p:sp>
      <p:sp>
        <p:nvSpPr>
          <p:cNvPr id="88" name="Shape 85"/>
          <p:cNvSpPr/>
          <p:nvPr/>
        </p:nvSpPr>
        <p:spPr>
          <a:xfrm>
            <a:off x="5257800" y="4937760"/>
            <a:ext cx="960120" cy="187452"/>
          </a:xfrm>
          <a:prstGeom prst="rect">
            <a:avLst/>
          </a:prstGeom>
          <a:solidFill>
            <a:srgbClr val="10233A"/>
          </a:solidFill>
          <a:ln/>
        </p:spPr>
      </p:sp>
      <p:sp>
        <p:nvSpPr>
          <p:cNvPr id="89" name="Text 86"/>
          <p:cNvSpPr txBox="1"/>
          <p:nvPr/>
        </p:nvSpPr>
        <p:spPr>
          <a:xfrm>
            <a:off x="5257800" y="4937760"/>
            <a:ext cx="960120" cy="187452"/>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+20%</a:t>
            </a:r>
            <a:endParaRPr lang="en-US" sz="780" dirty="0"/>
          </a:p>
        </p:txBody>
      </p:sp>
      <p:sp>
        <p:nvSpPr>
          <p:cNvPr id="90" name="Text 87"/>
          <p:cNvSpPr txBox="1"/>
          <p:nvPr/>
        </p:nvSpPr>
        <p:spPr>
          <a:xfrm>
            <a:off x="411480" y="4937760"/>
            <a:ext cx="987552" cy="187452"/>
          </a:xfrm>
          <a:prstGeom prst="rect">
            <a:avLst/>
          </a:prstGeom>
          <a:noFill/>
          <a:ln/>
        </p:spPr>
        <p:txBody>
          <a:bodyPr wrap="square" lIns="0" tIns="0" rIns="0" bIns="0" rtlCol="0" anchor="ctr"/>
          <a:lstStyle/>
          <a:p>
            <a:pPr algn="r" indent="0" marL="0">
              <a:buNone/>
            </a:pPr>
            <a:r>
              <a:rPr lang="en-US" sz="740" b="1" dirty="0">
                <a:solidFill>
                  <a:srgbClr val="5F7183"/>
                </a:solidFill>
                <a:latin typeface="Calibri" pitchFamily="34" charset="0"/>
                <a:ea typeface="Calibri" pitchFamily="34" charset="-122"/>
                <a:cs typeface="Calibri" pitchFamily="34" charset="-120"/>
              </a:rPr>
              <a:t>Unit cost</a:t>
            </a:r>
            <a:endParaRPr lang="en-US" sz="740" dirty="0"/>
          </a:p>
        </p:txBody>
      </p:sp>
      <p:sp>
        <p:nvSpPr>
          <p:cNvPr id="91" name="Shape 88"/>
          <p:cNvSpPr/>
          <p:nvPr/>
        </p:nvSpPr>
        <p:spPr>
          <a:xfrm>
            <a:off x="411480" y="5125212"/>
            <a:ext cx="987552" cy="187452"/>
          </a:xfrm>
          <a:prstGeom prst="rect">
            <a:avLst/>
          </a:prstGeom>
          <a:solidFill>
            <a:srgbClr val="10233A"/>
          </a:solidFill>
          <a:ln/>
        </p:spPr>
      </p:sp>
      <p:sp>
        <p:nvSpPr>
          <p:cNvPr id="92" name="Text 89"/>
          <p:cNvSpPr txBox="1"/>
          <p:nvPr/>
        </p:nvSpPr>
        <p:spPr>
          <a:xfrm>
            <a:off x="411480" y="5125212"/>
            <a:ext cx="987552" cy="187452"/>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-10%</a:t>
            </a:r>
            <a:endParaRPr lang="en-US" sz="780" dirty="0"/>
          </a:p>
        </p:txBody>
      </p:sp>
      <p:sp>
        <p:nvSpPr>
          <p:cNvPr id="93" name="Shape 90"/>
          <p:cNvSpPr/>
          <p:nvPr/>
        </p:nvSpPr>
        <p:spPr>
          <a:xfrm>
            <a:off x="1417320" y="5125212"/>
            <a:ext cx="960120" cy="187452"/>
          </a:xfrm>
          <a:prstGeom prst="rect">
            <a:avLst/>
          </a:prstGeom>
          <a:solidFill>
            <a:srgbClr val="F7E2E2"/>
          </a:solidFill>
          <a:ln w="6350">
            <a:solidFill>
              <a:srgbClr val="D3DCE5"/>
            </a:solidFill>
            <a:prstDash val="solid"/>
          </a:ln>
        </p:spPr>
      </p:sp>
      <p:sp>
        <p:nvSpPr>
          <p:cNvPr id="94" name="Text 91"/>
          <p:cNvSpPr txBox="1"/>
          <p:nvPr/>
        </p:nvSpPr>
        <p:spPr>
          <a:xfrm>
            <a:off x="1417320" y="5125212"/>
            <a:ext cx="960120" cy="187452"/>
          </a:xfrm>
          <a:prstGeom prst="rect">
            <a:avLst/>
          </a:prstGeom>
          <a:noFill/>
          <a:ln/>
        </p:spPr>
        <p:txBody>
          <a:bodyPr wrap="square" lIns="0" tIns="0" rIns="0" bIns="0" rtlCol="0" anchor="ctr"/>
          <a:lstStyle/>
          <a:p>
            <a:pPr algn="ctr" indent="0" marL="0">
              <a:buNone/>
            </a:pPr>
            <a:r>
              <a:rPr lang="en-US" sz="800" dirty="0">
                <a:solidFill>
                  <a:srgbClr val="A3282C"/>
                </a:solidFill>
                <a:latin typeface="Calibri" pitchFamily="34" charset="0"/>
                <a:ea typeface="Calibri" pitchFamily="34" charset="-122"/>
                <a:cs typeface="Calibri" pitchFamily="34" charset="-120"/>
              </a:rPr>
              <a:t>4.01</a:t>
            </a:r>
            <a:endParaRPr lang="en-US" sz="800" dirty="0"/>
          </a:p>
        </p:txBody>
      </p:sp>
      <p:sp>
        <p:nvSpPr>
          <p:cNvPr id="95" name="Shape 92"/>
          <p:cNvSpPr/>
          <p:nvPr/>
        </p:nvSpPr>
        <p:spPr>
          <a:xfrm>
            <a:off x="2377440" y="5125212"/>
            <a:ext cx="960120" cy="187452"/>
          </a:xfrm>
          <a:prstGeom prst="rect">
            <a:avLst/>
          </a:prstGeom>
          <a:solidFill>
            <a:srgbClr val="F7E2E2"/>
          </a:solidFill>
          <a:ln w="6350">
            <a:solidFill>
              <a:srgbClr val="D3DCE5"/>
            </a:solidFill>
            <a:prstDash val="solid"/>
          </a:ln>
        </p:spPr>
      </p:sp>
      <p:sp>
        <p:nvSpPr>
          <p:cNvPr id="96" name="Text 93"/>
          <p:cNvSpPr txBox="1"/>
          <p:nvPr/>
        </p:nvSpPr>
        <p:spPr>
          <a:xfrm>
            <a:off x="2377440" y="5125212"/>
            <a:ext cx="960120" cy="187452"/>
          </a:xfrm>
          <a:prstGeom prst="rect">
            <a:avLst/>
          </a:prstGeom>
          <a:noFill/>
          <a:ln/>
        </p:spPr>
        <p:txBody>
          <a:bodyPr wrap="square" lIns="0" tIns="0" rIns="0" bIns="0" rtlCol="0" anchor="ctr"/>
          <a:lstStyle/>
          <a:p>
            <a:pPr algn="ctr" indent="0" marL="0">
              <a:buNone/>
            </a:pPr>
            <a:r>
              <a:rPr lang="en-US" sz="800" dirty="0">
                <a:solidFill>
                  <a:srgbClr val="A3282C"/>
                </a:solidFill>
                <a:latin typeface="Calibri" pitchFamily="34" charset="0"/>
                <a:ea typeface="Calibri" pitchFamily="34" charset="-122"/>
                <a:cs typeface="Calibri" pitchFamily="34" charset="-120"/>
              </a:rPr>
              <a:t>5.45</a:t>
            </a:r>
            <a:endParaRPr lang="en-US" sz="800" dirty="0"/>
          </a:p>
        </p:txBody>
      </p:sp>
      <p:sp>
        <p:nvSpPr>
          <p:cNvPr id="97" name="Shape 94"/>
          <p:cNvSpPr/>
          <p:nvPr/>
        </p:nvSpPr>
        <p:spPr>
          <a:xfrm>
            <a:off x="3337560" y="5125212"/>
            <a:ext cx="960120" cy="187452"/>
          </a:xfrm>
          <a:prstGeom prst="rect">
            <a:avLst/>
          </a:prstGeom>
          <a:solidFill>
            <a:srgbClr val="F7F9FB"/>
          </a:solidFill>
          <a:ln w="6350">
            <a:solidFill>
              <a:srgbClr val="D3DCE5"/>
            </a:solidFill>
            <a:prstDash val="solid"/>
          </a:ln>
        </p:spPr>
      </p:sp>
      <p:sp>
        <p:nvSpPr>
          <p:cNvPr id="98" name="Text 95"/>
          <p:cNvSpPr txBox="1"/>
          <p:nvPr/>
        </p:nvSpPr>
        <p:spPr>
          <a:xfrm>
            <a:off x="3337560" y="5125212"/>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6.89</a:t>
            </a:r>
            <a:endParaRPr lang="en-US" sz="800" dirty="0"/>
          </a:p>
        </p:txBody>
      </p:sp>
      <p:sp>
        <p:nvSpPr>
          <p:cNvPr id="99" name="Shape 96"/>
          <p:cNvSpPr/>
          <p:nvPr/>
        </p:nvSpPr>
        <p:spPr>
          <a:xfrm>
            <a:off x="4297680" y="5125212"/>
            <a:ext cx="960120" cy="187452"/>
          </a:xfrm>
          <a:prstGeom prst="rect">
            <a:avLst/>
          </a:prstGeom>
          <a:solidFill>
            <a:srgbClr val="F7F9FB"/>
          </a:solidFill>
          <a:ln w="6350">
            <a:solidFill>
              <a:srgbClr val="D3DCE5"/>
            </a:solidFill>
            <a:prstDash val="solid"/>
          </a:ln>
        </p:spPr>
      </p:sp>
      <p:sp>
        <p:nvSpPr>
          <p:cNvPr id="100" name="Text 97"/>
          <p:cNvSpPr txBox="1"/>
          <p:nvPr/>
        </p:nvSpPr>
        <p:spPr>
          <a:xfrm>
            <a:off x="4297680" y="5125212"/>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8.33</a:t>
            </a:r>
            <a:endParaRPr lang="en-US" sz="800" dirty="0"/>
          </a:p>
        </p:txBody>
      </p:sp>
      <p:sp>
        <p:nvSpPr>
          <p:cNvPr id="101" name="Shape 98"/>
          <p:cNvSpPr/>
          <p:nvPr/>
        </p:nvSpPr>
        <p:spPr>
          <a:xfrm>
            <a:off x="5257800" y="5125212"/>
            <a:ext cx="960120" cy="187452"/>
          </a:xfrm>
          <a:prstGeom prst="rect">
            <a:avLst/>
          </a:prstGeom>
          <a:solidFill>
            <a:srgbClr val="F7F9FB"/>
          </a:solidFill>
          <a:ln w="6350">
            <a:solidFill>
              <a:srgbClr val="D3DCE5"/>
            </a:solidFill>
            <a:prstDash val="solid"/>
          </a:ln>
        </p:spPr>
      </p:sp>
      <p:sp>
        <p:nvSpPr>
          <p:cNvPr id="102" name="Text 99"/>
          <p:cNvSpPr txBox="1"/>
          <p:nvPr/>
        </p:nvSpPr>
        <p:spPr>
          <a:xfrm>
            <a:off x="5257800" y="5125212"/>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9.76</a:t>
            </a:r>
            <a:endParaRPr lang="en-US" sz="800" dirty="0"/>
          </a:p>
        </p:txBody>
      </p:sp>
      <p:sp>
        <p:nvSpPr>
          <p:cNvPr id="103" name="Shape 100"/>
          <p:cNvSpPr/>
          <p:nvPr/>
        </p:nvSpPr>
        <p:spPr>
          <a:xfrm>
            <a:off x="411480" y="5312664"/>
            <a:ext cx="987552" cy="187452"/>
          </a:xfrm>
          <a:prstGeom prst="rect">
            <a:avLst/>
          </a:prstGeom>
          <a:solidFill>
            <a:srgbClr val="10233A"/>
          </a:solidFill>
          <a:ln/>
        </p:spPr>
      </p:sp>
      <p:sp>
        <p:nvSpPr>
          <p:cNvPr id="104" name="Text 101"/>
          <p:cNvSpPr txBox="1"/>
          <p:nvPr/>
        </p:nvSpPr>
        <p:spPr>
          <a:xfrm>
            <a:off x="411480" y="5312664"/>
            <a:ext cx="987552" cy="187452"/>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-5%</a:t>
            </a:r>
            <a:endParaRPr lang="en-US" sz="780" dirty="0"/>
          </a:p>
        </p:txBody>
      </p:sp>
      <p:sp>
        <p:nvSpPr>
          <p:cNvPr id="105" name="Shape 102"/>
          <p:cNvSpPr/>
          <p:nvPr/>
        </p:nvSpPr>
        <p:spPr>
          <a:xfrm>
            <a:off x="1417320" y="5312664"/>
            <a:ext cx="960120" cy="187452"/>
          </a:xfrm>
          <a:prstGeom prst="rect">
            <a:avLst/>
          </a:prstGeom>
          <a:solidFill>
            <a:srgbClr val="F7E2E2"/>
          </a:solidFill>
          <a:ln w="6350">
            <a:solidFill>
              <a:srgbClr val="D3DCE5"/>
            </a:solidFill>
            <a:prstDash val="solid"/>
          </a:ln>
        </p:spPr>
      </p:sp>
      <p:sp>
        <p:nvSpPr>
          <p:cNvPr id="106" name="Text 103"/>
          <p:cNvSpPr txBox="1"/>
          <p:nvPr/>
        </p:nvSpPr>
        <p:spPr>
          <a:xfrm>
            <a:off x="1417320" y="5312664"/>
            <a:ext cx="960120" cy="187452"/>
          </a:xfrm>
          <a:prstGeom prst="rect">
            <a:avLst/>
          </a:prstGeom>
          <a:noFill/>
          <a:ln/>
        </p:spPr>
        <p:txBody>
          <a:bodyPr wrap="square" lIns="0" tIns="0" rIns="0" bIns="0" rtlCol="0" anchor="ctr"/>
          <a:lstStyle/>
          <a:p>
            <a:pPr algn="ctr" indent="0" marL="0">
              <a:buNone/>
            </a:pPr>
            <a:r>
              <a:rPr lang="en-US" sz="800" dirty="0">
                <a:solidFill>
                  <a:srgbClr val="A3282C"/>
                </a:solidFill>
                <a:latin typeface="Calibri" pitchFamily="34" charset="0"/>
                <a:ea typeface="Calibri" pitchFamily="34" charset="-122"/>
                <a:cs typeface="Calibri" pitchFamily="34" charset="-120"/>
              </a:rPr>
              <a:t>3.83</a:t>
            </a:r>
            <a:endParaRPr lang="en-US" sz="800" dirty="0"/>
          </a:p>
        </p:txBody>
      </p:sp>
      <p:sp>
        <p:nvSpPr>
          <p:cNvPr id="107" name="Shape 104"/>
          <p:cNvSpPr/>
          <p:nvPr/>
        </p:nvSpPr>
        <p:spPr>
          <a:xfrm>
            <a:off x="2377440" y="5312664"/>
            <a:ext cx="960120" cy="187452"/>
          </a:xfrm>
          <a:prstGeom prst="rect">
            <a:avLst/>
          </a:prstGeom>
          <a:solidFill>
            <a:srgbClr val="F7E2E2"/>
          </a:solidFill>
          <a:ln w="6350">
            <a:solidFill>
              <a:srgbClr val="D3DCE5"/>
            </a:solidFill>
            <a:prstDash val="solid"/>
          </a:ln>
        </p:spPr>
      </p:sp>
      <p:sp>
        <p:nvSpPr>
          <p:cNvPr id="108" name="Text 105"/>
          <p:cNvSpPr txBox="1"/>
          <p:nvPr/>
        </p:nvSpPr>
        <p:spPr>
          <a:xfrm>
            <a:off x="2377440" y="5312664"/>
            <a:ext cx="960120" cy="187452"/>
          </a:xfrm>
          <a:prstGeom prst="rect">
            <a:avLst/>
          </a:prstGeom>
          <a:noFill/>
          <a:ln/>
        </p:spPr>
        <p:txBody>
          <a:bodyPr wrap="square" lIns="0" tIns="0" rIns="0" bIns="0" rtlCol="0" anchor="ctr"/>
          <a:lstStyle/>
          <a:p>
            <a:pPr algn="ctr" indent="0" marL="0">
              <a:buNone/>
            </a:pPr>
            <a:r>
              <a:rPr lang="en-US" sz="800" dirty="0">
                <a:solidFill>
                  <a:srgbClr val="A3282C"/>
                </a:solidFill>
                <a:latin typeface="Calibri" pitchFamily="34" charset="0"/>
                <a:ea typeface="Calibri" pitchFamily="34" charset="-122"/>
                <a:cs typeface="Calibri" pitchFamily="34" charset="-120"/>
              </a:rPr>
              <a:t>5.27</a:t>
            </a:r>
            <a:endParaRPr lang="en-US" sz="800" dirty="0"/>
          </a:p>
        </p:txBody>
      </p:sp>
      <p:sp>
        <p:nvSpPr>
          <p:cNvPr id="109" name="Shape 106"/>
          <p:cNvSpPr/>
          <p:nvPr/>
        </p:nvSpPr>
        <p:spPr>
          <a:xfrm>
            <a:off x="3337560" y="5312664"/>
            <a:ext cx="960120" cy="187452"/>
          </a:xfrm>
          <a:prstGeom prst="rect">
            <a:avLst/>
          </a:prstGeom>
          <a:solidFill>
            <a:srgbClr val="F7F9FB"/>
          </a:solidFill>
          <a:ln w="6350">
            <a:solidFill>
              <a:srgbClr val="D3DCE5"/>
            </a:solidFill>
            <a:prstDash val="solid"/>
          </a:ln>
        </p:spPr>
      </p:sp>
      <p:sp>
        <p:nvSpPr>
          <p:cNvPr id="110" name="Text 107"/>
          <p:cNvSpPr txBox="1"/>
          <p:nvPr/>
        </p:nvSpPr>
        <p:spPr>
          <a:xfrm>
            <a:off x="3337560" y="5312664"/>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6.71</a:t>
            </a:r>
            <a:endParaRPr lang="en-US" sz="800" dirty="0"/>
          </a:p>
        </p:txBody>
      </p:sp>
      <p:sp>
        <p:nvSpPr>
          <p:cNvPr id="111" name="Shape 108"/>
          <p:cNvSpPr/>
          <p:nvPr/>
        </p:nvSpPr>
        <p:spPr>
          <a:xfrm>
            <a:off x="4297680" y="5312664"/>
            <a:ext cx="960120" cy="187452"/>
          </a:xfrm>
          <a:prstGeom prst="rect">
            <a:avLst/>
          </a:prstGeom>
          <a:solidFill>
            <a:srgbClr val="F7F9FB"/>
          </a:solidFill>
          <a:ln w="6350">
            <a:solidFill>
              <a:srgbClr val="D3DCE5"/>
            </a:solidFill>
            <a:prstDash val="solid"/>
          </a:ln>
        </p:spPr>
      </p:sp>
      <p:sp>
        <p:nvSpPr>
          <p:cNvPr id="112" name="Text 109"/>
          <p:cNvSpPr txBox="1"/>
          <p:nvPr/>
        </p:nvSpPr>
        <p:spPr>
          <a:xfrm>
            <a:off x="4297680" y="5312664"/>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8.15</a:t>
            </a:r>
            <a:endParaRPr lang="en-US" sz="800" dirty="0"/>
          </a:p>
        </p:txBody>
      </p:sp>
      <p:sp>
        <p:nvSpPr>
          <p:cNvPr id="113" name="Shape 110"/>
          <p:cNvSpPr/>
          <p:nvPr/>
        </p:nvSpPr>
        <p:spPr>
          <a:xfrm>
            <a:off x="5257800" y="5312664"/>
            <a:ext cx="960120" cy="187452"/>
          </a:xfrm>
          <a:prstGeom prst="rect">
            <a:avLst/>
          </a:prstGeom>
          <a:solidFill>
            <a:srgbClr val="F7F9FB"/>
          </a:solidFill>
          <a:ln w="6350">
            <a:solidFill>
              <a:srgbClr val="D3DCE5"/>
            </a:solidFill>
            <a:prstDash val="solid"/>
          </a:ln>
        </p:spPr>
      </p:sp>
      <p:sp>
        <p:nvSpPr>
          <p:cNvPr id="114" name="Text 111"/>
          <p:cNvSpPr txBox="1"/>
          <p:nvPr/>
        </p:nvSpPr>
        <p:spPr>
          <a:xfrm>
            <a:off x="5257800" y="5312664"/>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9.58</a:t>
            </a:r>
            <a:endParaRPr lang="en-US" sz="800" dirty="0"/>
          </a:p>
        </p:txBody>
      </p:sp>
      <p:sp>
        <p:nvSpPr>
          <p:cNvPr id="115" name="Shape 112"/>
          <p:cNvSpPr/>
          <p:nvPr/>
        </p:nvSpPr>
        <p:spPr>
          <a:xfrm>
            <a:off x="411480" y="5500116"/>
            <a:ext cx="987552" cy="187452"/>
          </a:xfrm>
          <a:prstGeom prst="rect">
            <a:avLst/>
          </a:prstGeom>
          <a:solidFill>
            <a:srgbClr val="10233A"/>
          </a:solidFill>
          <a:ln/>
        </p:spPr>
      </p:sp>
      <p:sp>
        <p:nvSpPr>
          <p:cNvPr id="116" name="Text 113"/>
          <p:cNvSpPr txBox="1"/>
          <p:nvPr/>
        </p:nvSpPr>
        <p:spPr>
          <a:xfrm>
            <a:off x="411480" y="5500116"/>
            <a:ext cx="987552" cy="187452"/>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+0%</a:t>
            </a:r>
            <a:endParaRPr lang="en-US" sz="780" dirty="0"/>
          </a:p>
        </p:txBody>
      </p:sp>
      <p:sp>
        <p:nvSpPr>
          <p:cNvPr id="117" name="Shape 114"/>
          <p:cNvSpPr/>
          <p:nvPr/>
        </p:nvSpPr>
        <p:spPr>
          <a:xfrm>
            <a:off x="1417320" y="5500116"/>
            <a:ext cx="960120" cy="187452"/>
          </a:xfrm>
          <a:prstGeom prst="rect">
            <a:avLst/>
          </a:prstGeom>
          <a:solidFill>
            <a:srgbClr val="F7E2E2"/>
          </a:solidFill>
          <a:ln w="6350">
            <a:solidFill>
              <a:srgbClr val="D3DCE5"/>
            </a:solidFill>
            <a:prstDash val="solid"/>
          </a:ln>
        </p:spPr>
      </p:sp>
      <p:sp>
        <p:nvSpPr>
          <p:cNvPr id="118" name="Text 115"/>
          <p:cNvSpPr txBox="1"/>
          <p:nvPr/>
        </p:nvSpPr>
        <p:spPr>
          <a:xfrm>
            <a:off x="1417320" y="5500116"/>
            <a:ext cx="960120" cy="187452"/>
          </a:xfrm>
          <a:prstGeom prst="rect">
            <a:avLst/>
          </a:prstGeom>
          <a:noFill/>
          <a:ln/>
        </p:spPr>
        <p:txBody>
          <a:bodyPr wrap="square" lIns="0" tIns="0" rIns="0" bIns="0" rtlCol="0" anchor="ctr"/>
          <a:lstStyle/>
          <a:p>
            <a:pPr algn="ctr" indent="0" marL="0">
              <a:buNone/>
            </a:pPr>
            <a:r>
              <a:rPr lang="en-US" sz="800" dirty="0">
                <a:solidFill>
                  <a:srgbClr val="A3282C"/>
                </a:solidFill>
                <a:latin typeface="Calibri" pitchFamily="34" charset="0"/>
                <a:ea typeface="Calibri" pitchFamily="34" charset="-122"/>
                <a:cs typeface="Calibri" pitchFamily="34" charset="-120"/>
              </a:rPr>
              <a:t>3.65</a:t>
            </a:r>
            <a:endParaRPr lang="en-US" sz="800" dirty="0"/>
          </a:p>
        </p:txBody>
      </p:sp>
      <p:sp>
        <p:nvSpPr>
          <p:cNvPr id="119" name="Shape 116"/>
          <p:cNvSpPr/>
          <p:nvPr/>
        </p:nvSpPr>
        <p:spPr>
          <a:xfrm>
            <a:off x="2377440" y="5500116"/>
            <a:ext cx="960120" cy="187452"/>
          </a:xfrm>
          <a:prstGeom prst="rect">
            <a:avLst/>
          </a:prstGeom>
          <a:solidFill>
            <a:srgbClr val="F7E2E2"/>
          </a:solidFill>
          <a:ln w="6350">
            <a:solidFill>
              <a:srgbClr val="D3DCE5"/>
            </a:solidFill>
            <a:prstDash val="solid"/>
          </a:ln>
        </p:spPr>
      </p:sp>
      <p:sp>
        <p:nvSpPr>
          <p:cNvPr id="120" name="Text 117"/>
          <p:cNvSpPr txBox="1"/>
          <p:nvPr/>
        </p:nvSpPr>
        <p:spPr>
          <a:xfrm>
            <a:off x="2377440" y="5500116"/>
            <a:ext cx="960120" cy="187452"/>
          </a:xfrm>
          <a:prstGeom prst="rect">
            <a:avLst/>
          </a:prstGeom>
          <a:noFill/>
          <a:ln/>
        </p:spPr>
        <p:txBody>
          <a:bodyPr wrap="square" lIns="0" tIns="0" rIns="0" bIns="0" rtlCol="0" anchor="ctr"/>
          <a:lstStyle/>
          <a:p>
            <a:pPr algn="ctr" indent="0" marL="0">
              <a:buNone/>
            </a:pPr>
            <a:r>
              <a:rPr lang="en-US" sz="800" dirty="0">
                <a:solidFill>
                  <a:srgbClr val="A3282C"/>
                </a:solidFill>
                <a:latin typeface="Calibri" pitchFamily="34" charset="0"/>
                <a:ea typeface="Calibri" pitchFamily="34" charset="-122"/>
                <a:cs typeface="Calibri" pitchFamily="34" charset="-120"/>
              </a:rPr>
              <a:t>5.09</a:t>
            </a:r>
            <a:endParaRPr lang="en-US" sz="800" dirty="0"/>
          </a:p>
        </p:txBody>
      </p:sp>
      <p:sp>
        <p:nvSpPr>
          <p:cNvPr id="121" name="Shape 118"/>
          <p:cNvSpPr/>
          <p:nvPr/>
        </p:nvSpPr>
        <p:spPr>
          <a:xfrm>
            <a:off x="3337560" y="5500116"/>
            <a:ext cx="960120" cy="187452"/>
          </a:xfrm>
          <a:prstGeom prst="rect">
            <a:avLst/>
          </a:prstGeom>
          <a:solidFill>
            <a:srgbClr val="D6EBE7"/>
          </a:solidFill>
          <a:ln w="6350">
            <a:solidFill>
              <a:srgbClr val="D3DCE5"/>
            </a:solidFill>
            <a:prstDash val="solid"/>
          </a:ln>
        </p:spPr>
      </p:sp>
      <p:sp>
        <p:nvSpPr>
          <p:cNvPr id="122" name="Text 119"/>
          <p:cNvSpPr txBox="1"/>
          <p:nvPr/>
        </p:nvSpPr>
        <p:spPr>
          <a:xfrm>
            <a:off x="3337560" y="5500116"/>
            <a:ext cx="960120" cy="187452"/>
          </a:xfrm>
          <a:prstGeom prst="rect">
            <a:avLst/>
          </a:prstGeom>
          <a:noFill/>
          <a:ln/>
        </p:spPr>
        <p:txBody>
          <a:bodyPr wrap="square" lIns="0" tIns="0" rIns="0" bIns="0" rtlCol="0" anchor="ctr"/>
          <a:lstStyle/>
          <a:p>
            <a:pPr algn="ctr" indent="0" marL="0">
              <a:buNone/>
            </a:pPr>
            <a:r>
              <a:rPr lang="en-US" sz="800" b="1" dirty="0">
                <a:solidFill>
                  <a:srgbClr val="0E7C6B"/>
                </a:solidFill>
                <a:latin typeface="Calibri" pitchFamily="34" charset="0"/>
                <a:ea typeface="Calibri" pitchFamily="34" charset="-122"/>
                <a:cs typeface="Calibri" pitchFamily="34" charset="-120"/>
              </a:rPr>
              <a:t>6.53</a:t>
            </a:r>
            <a:endParaRPr lang="en-US" sz="800" dirty="0"/>
          </a:p>
        </p:txBody>
      </p:sp>
      <p:sp>
        <p:nvSpPr>
          <p:cNvPr id="123" name="Shape 120"/>
          <p:cNvSpPr/>
          <p:nvPr/>
        </p:nvSpPr>
        <p:spPr>
          <a:xfrm>
            <a:off x="4297680" y="5500116"/>
            <a:ext cx="960120" cy="187452"/>
          </a:xfrm>
          <a:prstGeom prst="rect">
            <a:avLst/>
          </a:prstGeom>
          <a:solidFill>
            <a:srgbClr val="F7F9FB"/>
          </a:solidFill>
          <a:ln w="6350">
            <a:solidFill>
              <a:srgbClr val="D3DCE5"/>
            </a:solidFill>
            <a:prstDash val="solid"/>
          </a:ln>
        </p:spPr>
      </p:sp>
      <p:sp>
        <p:nvSpPr>
          <p:cNvPr id="124" name="Text 121"/>
          <p:cNvSpPr txBox="1"/>
          <p:nvPr/>
        </p:nvSpPr>
        <p:spPr>
          <a:xfrm>
            <a:off x="4297680" y="5500116"/>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7.97</a:t>
            </a:r>
            <a:endParaRPr lang="en-US" sz="800" dirty="0"/>
          </a:p>
        </p:txBody>
      </p:sp>
      <p:sp>
        <p:nvSpPr>
          <p:cNvPr id="125" name="Shape 122"/>
          <p:cNvSpPr/>
          <p:nvPr/>
        </p:nvSpPr>
        <p:spPr>
          <a:xfrm>
            <a:off x="5257800" y="5500116"/>
            <a:ext cx="960120" cy="187452"/>
          </a:xfrm>
          <a:prstGeom prst="rect">
            <a:avLst/>
          </a:prstGeom>
          <a:solidFill>
            <a:srgbClr val="F7F9FB"/>
          </a:solidFill>
          <a:ln w="6350">
            <a:solidFill>
              <a:srgbClr val="D3DCE5"/>
            </a:solidFill>
            <a:prstDash val="solid"/>
          </a:ln>
        </p:spPr>
      </p:sp>
      <p:sp>
        <p:nvSpPr>
          <p:cNvPr id="126" name="Text 123"/>
          <p:cNvSpPr txBox="1"/>
          <p:nvPr/>
        </p:nvSpPr>
        <p:spPr>
          <a:xfrm>
            <a:off x="5257800" y="5500116"/>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9.40</a:t>
            </a:r>
            <a:endParaRPr lang="en-US" sz="800" dirty="0"/>
          </a:p>
        </p:txBody>
      </p:sp>
      <p:sp>
        <p:nvSpPr>
          <p:cNvPr id="127" name="Shape 124"/>
          <p:cNvSpPr/>
          <p:nvPr/>
        </p:nvSpPr>
        <p:spPr>
          <a:xfrm>
            <a:off x="411480" y="5687568"/>
            <a:ext cx="987552" cy="187452"/>
          </a:xfrm>
          <a:prstGeom prst="rect">
            <a:avLst/>
          </a:prstGeom>
          <a:solidFill>
            <a:srgbClr val="10233A"/>
          </a:solidFill>
          <a:ln/>
        </p:spPr>
      </p:sp>
      <p:sp>
        <p:nvSpPr>
          <p:cNvPr id="128" name="Text 125"/>
          <p:cNvSpPr txBox="1"/>
          <p:nvPr/>
        </p:nvSpPr>
        <p:spPr>
          <a:xfrm>
            <a:off x="411480" y="5687568"/>
            <a:ext cx="987552" cy="187452"/>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+5%</a:t>
            </a:r>
            <a:endParaRPr lang="en-US" sz="780" dirty="0"/>
          </a:p>
        </p:txBody>
      </p:sp>
      <p:sp>
        <p:nvSpPr>
          <p:cNvPr id="129" name="Shape 126"/>
          <p:cNvSpPr/>
          <p:nvPr/>
        </p:nvSpPr>
        <p:spPr>
          <a:xfrm>
            <a:off x="1417320" y="5687568"/>
            <a:ext cx="960120" cy="187452"/>
          </a:xfrm>
          <a:prstGeom prst="rect">
            <a:avLst/>
          </a:prstGeom>
          <a:solidFill>
            <a:srgbClr val="F7E2E2"/>
          </a:solidFill>
          <a:ln w="6350">
            <a:solidFill>
              <a:srgbClr val="D3DCE5"/>
            </a:solidFill>
            <a:prstDash val="solid"/>
          </a:ln>
        </p:spPr>
      </p:sp>
      <p:sp>
        <p:nvSpPr>
          <p:cNvPr id="130" name="Text 127"/>
          <p:cNvSpPr txBox="1"/>
          <p:nvPr/>
        </p:nvSpPr>
        <p:spPr>
          <a:xfrm>
            <a:off x="1417320" y="5687568"/>
            <a:ext cx="960120" cy="187452"/>
          </a:xfrm>
          <a:prstGeom prst="rect">
            <a:avLst/>
          </a:prstGeom>
          <a:noFill/>
          <a:ln/>
        </p:spPr>
        <p:txBody>
          <a:bodyPr wrap="square" lIns="0" tIns="0" rIns="0" bIns="0" rtlCol="0" anchor="ctr"/>
          <a:lstStyle/>
          <a:p>
            <a:pPr algn="ctr" indent="0" marL="0">
              <a:buNone/>
            </a:pPr>
            <a:r>
              <a:rPr lang="en-US" sz="800" dirty="0">
                <a:solidFill>
                  <a:srgbClr val="A3282C"/>
                </a:solidFill>
                <a:latin typeface="Calibri" pitchFamily="34" charset="0"/>
                <a:ea typeface="Calibri" pitchFamily="34" charset="-122"/>
                <a:cs typeface="Calibri" pitchFamily="34" charset="-120"/>
              </a:rPr>
              <a:t>3.47</a:t>
            </a:r>
            <a:endParaRPr lang="en-US" sz="800" dirty="0"/>
          </a:p>
        </p:txBody>
      </p:sp>
      <p:sp>
        <p:nvSpPr>
          <p:cNvPr id="131" name="Shape 128"/>
          <p:cNvSpPr/>
          <p:nvPr/>
        </p:nvSpPr>
        <p:spPr>
          <a:xfrm>
            <a:off x="2377440" y="5687568"/>
            <a:ext cx="960120" cy="187452"/>
          </a:xfrm>
          <a:prstGeom prst="rect">
            <a:avLst/>
          </a:prstGeom>
          <a:solidFill>
            <a:srgbClr val="F7E2E2"/>
          </a:solidFill>
          <a:ln w="6350">
            <a:solidFill>
              <a:srgbClr val="D3DCE5"/>
            </a:solidFill>
            <a:prstDash val="solid"/>
          </a:ln>
        </p:spPr>
      </p:sp>
      <p:sp>
        <p:nvSpPr>
          <p:cNvPr id="132" name="Text 129"/>
          <p:cNvSpPr txBox="1"/>
          <p:nvPr/>
        </p:nvSpPr>
        <p:spPr>
          <a:xfrm>
            <a:off x="2377440" y="5687568"/>
            <a:ext cx="960120" cy="187452"/>
          </a:xfrm>
          <a:prstGeom prst="rect">
            <a:avLst/>
          </a:prstGeom>
          <a:noFill/>
          <a:ln/>
        </p:spPr>
        <p:txBody>
          <a:bodyPr wrap="square" lIns="0" tIns="0" rIns="0" bIns="0" rtlCol="0" anchor="ctr"/>
          <a:lstStyle/>
          <a:p>
            <a:pPr algn="ctr" indent="0" marL="0">
              <a:buNone/>
            </a:pPr>
            <a:r>
              <a:rPr lang="en-US" sz="800" dirty="0">
                <a:solidFill>
                  <a:srgbClr val="A3282C"/>
                </a:solidFill>
                <a:latin typeface="Calibri" pitchFamily="34" charset="0"/>
                <a:ea typeface="Calibri" pitchFamily="34" charset="-122"/>
                <a:cs typeface="Calibri" pitchFamily="34" charset="-120"/>
              </a:rPr>
              <a:t>4.91</a:t>
            </a:r>
            <a:endParaRPr lang="en-US" sz="800" dirty="0"/>
          </a:p>
        </p:txBody>
      </p:sp>
      <p:sp>
        <p:nvSpPr>
          <p:cNvPr id="133" name="Shape 130"/>
          <p:cNvSpPr/>
          <p:nvPr/>
        </p:nvSpPr>
        <p:spPr>
          <a:xfrm>
            <a:off x="3337560" y="5687568"/>
            <a:ext cx="960120" cy="187452"/>
          </a:xfrm>
          <a:prstGeom prst="rect">
            <a:avLst/>
          </a:prstGeom>
          <a:solidFill>
            <a:srgbClr val="F7F9FB"/>
          </a:solidFill>
          <a:ln w="6350">
            <a:solidFill>
              <a:srgbClr val="D3DCE5"/>
            </a:solidFill>
            <a:prstDash val="solid"/>
          </a:ln>
        </p:spPr>
      </p:sp>
      <p:sp>
        <p:nvSpPr>
          <p:cNvPr id="134" name="Text 131"/>
          <p:cNvSpPr txBox="1"/>
          <p:nvPr/>
        </p:nvSpPr>
        <p:spPr>
          <a:xfrm>
            <a:off x="3337560" y="5687568"/>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6.35</a:t>
            </a:r>
            <a:endParaRPr lang="en-US" sz="800" dirty="0"/>
          </a:p>
        </p:txBody>
      </p:sp>
      <p:sp>
        <p:nvSpPr>
          <p:cNvPr id="135" name="Shape 132"/>
          <p:cNvSpPr/>
          <p:nvPr/>
        </p:nvSpPr>
        <p:spPr>
          <a:xfrm>
            <a:off x="4297680" y="5687568"/>
            <a:ext cx="960120" cy="187452"/>
          </a:xfrm>
          <a:prstGeom prst="rect">
            <a:avLst/>
          </a:prstGeom>
          <a:solidFill>
            <a:srgbClr val="F7F9FB"/>
          </a:solidFill>
          <a:ln w="6350">
            <a:solidFill>
              <a:srgbClr val="D3DCE5"/>
            </a:solidFill>
            <a:prstDash val="solid"/>
          </a:ln>
        </p:spPr>
      </p:sp>
      <p:sp>
        <p:nvSpPr>
          <p:cNvPr id="136" name="Text 133"/>
          <p:cNvSpPr txBox="1"/>
          <p:nvPr/>
        </p:nvSpPr>
        <p:spPr>
          <a:xfrm>
            <a:off x="4297680" y="5687568"/>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7.78</a:t>
            </a:r>
            <a:endParaRPr lang="en-US" sz="800" dirty="0"/>
          </a:p>
        </p:txBody>
      </p:sp>
      <p:sp>
        <p:nvSpPr>
          <p:cNvPr id="137" name="Shape 134"/>
          <p:cNvSpPr/>
          <p:nvPr/>
        </p:nvSpPr>
        <p:spPr>
          <a:xfrm>
            <a:off x="5257800" y="5687568"/>
            <a:ext cx="960120" cy="187452"/>
          </a:xfrm>
          <a:prstGeom prst="rect">
            <a:avLst/>
          </a:prstGeom>
          <a:solidFill>
            <a:srgbClr val="F7F9FB"/>
          </a:solidFill>
          <a:ln w="6350">
            <a:solidFill>
              <a:srgbClr val="D3DCE5"/>
            </a:solidFill>
            <a:prstDash val="solid"/>
          </a:ln>
        </p:spPr>
      </p:sp>
      <p:sp>
        <p:nvSpPr>
          <p:cNvPr id="138" name="Text 135"/>
          <p:cNvSpPr txBox="1"/>
          <p:nvPr/>
        </p:nvSpPr>
        <p:spPr>
          <a:xfrm>
            <a:off x="5257800" y="5687568"/>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9.22</a:t>
            </a:r>
            <a:endParaRPr lang="en-US" sz="800" dirty="0"/>
          </a:p>
        </p:txBody>
      </p:sp>
      <p:sp>
        <p:nvSpPr>
          <p:cNvPr id="139" name="Shape 136"/>
          <p:cNvSpPr/>
          <p:nvPr/>
        </p:nvSpPr>
        <p:spPr>
          <a:xfrm>
            <a:off x="411480" y="5875020"/>
            <a:ext cx="987552" cy="187452"/>
          </a:xfrm>
          <a:prstGeom prst="rect">
            <a:avLst/>
          </a:prstGeom>
          <a:solidFill>
            <a:srgbClr val="10233A"/>
          </a:solidFill>
          <a:ln/>
        </p:spPr>
      </p:sp>
      <p:sp>
        <p:nvSpPr>
          <p:cNvPr id="140" name="Text 137"/>
          <p:cNvSpPr txBox="1"/>
          <p:nvPr/>
        </p:nvSpPr>
        <p:spPr>
          <a:xfrm>
            <a:off x="411480" y="5875020"/>
            <a:ext cx="987552" cy="187452"/>
          </a:xfrm>
          <a:prstGeom prst="rect">
            <a:avLst/>
          </a:prstGeom>
          <a:noFill/>
          <a:ln/>
        </p:spPr>
        <p:txBody>
          <a:bodyPr wrap="square" lIns="0" tIns="0" rIns="0" bIns="0" rtlCol="0" anchor="ctr"/>
          <a:lstStyle/>
          <a:p>
            <a:pPr algn="ctr" indent="0" marL="0">
              <a:buNone/>
            </a:pPr>
            <a:r>
              <a:rPr lang="en-US" sz="780" b="1" dirty="0">
                <a:solidFill>
                  <a:srgbClr val="FFFFFF"/>
                </a:solidFill>
                <a:latin typeface="Calibri" pitchFamily="34" charset="0"/>
                <a:ea typeface="Calibri" pitchFamily="34" charset="-122"/>
                <a:cs typeface="Calibri" pitchFamily="34" charset="-120"/>
              </a:rPr>
              <a:t>+10%</a:t>
            </a:r>
            <a:endParaRPr lang="en-US" sz="780" dirty="0"/>
          </a:p>
        </p:txBody>
      </p:sp>
      <p:sp>
        <p:nvSpPr>
          <p:cNvPr id="141" name="Shape 138"/>
          <p:cNvSpPr/>
          <p:nvPr/>
        </p:nvSpPr>
        <p:spPr>
          <a:xfrm>
            <a:off x="1417320" y="5875020"/>
            <a:ext cx="960120" cy="187452"/>
          </a:xfrm>
          <a:prstGeom prst="rect">
            <a:avLst/>
          </a:prstGeom>
          <a:solidFill>
            <a:srgbClr val="F7E2E2"/>
          </a:solidFill>
          <a:ln w="6350">
            <a:solidFill>
              <a:srgbClr val="D3DCE5"/>
            </a:solidFill>
            <a:prstDash val="solid"/>
          </a:ln>
        </p:spPr>
      </p:sp>
      <p:sp>
        <p:nvSpPr>
          <p:cNvPr id="142" name="Text 139"/>
          <p:cNvSpPr txBox="1"/>
          <p:nvPr/>
        </p:nvSpPr>
        <p:spPr>
          <a:xfrm>
            <a:off x="1417320" y="5875020"/>
            <a:ext cx="960120" cy="187452"/>
          </a:xfrm>
          <a:prstGeom prst="rect">
            <a:avLst/>
          </a:prstGeom>
          <a:noFill/>
          <a:ln/>
        </p:spPr>
        <p:txBody>
          <a:bodyPr wrap="square" lIns="0" tIns="0" rIns="0" bIns="0" rtlCol="0" anchor="ctr"/>
          <a:lstStyle/>
          <a:p>
            <a:pPr algn="ctr" indent="0" marL="0">
              <a:buNone/>
            </a:pPr>
            <a:r>
              <a:rPr lang="en-US" sz="800" dirty="0">
                <a:solidFill>
                  <a:srgbClr val="A3282C"/>
                </a:solidFill>
                <a:latin typeface="Calibri" pitchFamily="34" charset="0"/>
                <a:ea typeface="Calibri" pitchFamily="34" charset="-122"/>
                <a:cs typeface="Calibri" pitchFamily="34" charset="-120"/>
              </a:rPr>
              <a:t>3.29</a:t>
            </a:r>
            <a:endParaRPr lang="en-US" sz="800" dirty="0"/>
          </a:p>
        </p:txBody>
      </p:sp>
      <p:sp>
        <p:nvSpPr>
          <p:cNvPr id="143" name="Shape 140"/>
          <p:cNvSpPr/>
          <p:nvPr/>
        </p:nvSpPr>
        <p:spPr>
          <a:xfrm>
            <a:off x="2377440" y="5875020"/>
            <a:ext cx="960120" cy="187452"/>
          </a:xfrm>
          <a:prstGeom prst="rect">
            <a:avLst/>
          </a:prstGeom>
          <a:solidFill>
            <a:srgbClr val="F7E2E2"/>
          </a:solidFill>
          <a:ln w="6350">
            <a:solidFill>
              <a:srgbClr val="D3DCE5"/>
            </a:solidFill>
            <a:prstDash val="solid"/>
          </a:ln>
        </p:spPr>
      </p:sp>
      <p:sp>
        <p:nvSpPr>
          <p:cNvPr id="144" name="Text 141"/>
          <p:cNvSpPr txBox="1"/>
          <p:nvPr/>
        </p:nvSpPr>
        <p:spPr>
          <a:xfrm>
            <a:off x="2377440" y="5875020"/>
            <a:ext cx="960120" cy="187452"/>
          </a:xfrm>
          <a:prstGeom prst="rect">
            <a:avLst/>
          </a:prstGeom>
          <a:noFill/>
          <a:ln/>
        </p:spPr>
        <p:txBody>
          <a:bodyPr wrap="square" lIns="0" tIns="0" rIns="0" bIns="0" rtlCol="0" anchor="ctr"/>
          <a:lstStyle/>
          <a:p>
            <a:pPr algn="ctr" indent="0" marL="0">
              <a:buNone/>
            </a:pPr>
            <a:r>
              <a:rPr lang="en-US" sz="800" dirty="0">
                <a:solidFill>
                  <a:srgbClr val="A3282C"/>
                </a:solidFill>
                <a:latin typeface="Calibri" pitchFamily="34" charset="0"/>
                <a:ea typeface="Calibri" pitchFamily="34" charset="-122"/>
                <a:cs typeface="Calibri" pitchFamily="34" charset="-120"/>
              </a:rPr>
              <a:t>4.73</a:t>
            </a:r>
            <a:endParaRPr lang="en-US" sz="800" dirty="0"/>
          </a:p>
        </p:txBody>
      </p:sp>
      <p:sp>
        <p:nvSpPr>
          <p:cNvPr id="145" name="Shape 142"/>
          <p:cNvSpPr/>
          <p:nvPr/>
        </p:nvSpPr>
        <p:spPr>
          <a:xfrm>
            <a:off x="3337560" y="5875020"/>
            <a:ext cx="960120" cy="187452"/>
          </a:xfrm>
          <a:prstGeom prst="rect">
            <a:avLst/>
          </a:prstGeom>
          <a:solidFill>
            <a:srgbClr val="F7F9FB"/>
          </a:solidFill>
          <a:ln w="6350">
            <a:solidFill>
              <a:srgbClr val="D3DCE5"/>
            </a:solidFill>
            <a:prstDash val="solid"/>
          </a:ln>
        </p:spPr>
      </p:sp>
      <p:sp>
        <p:nvSpPr>
          <p:cNvPr id="146" name="Text 143"/>
          <p:cNvSpPr txBox="1"/>
          <p:nvPr/>
        </p:nvSpPr>
        <p:spPr>
          <a:xfrm>
            <a:off x="3337560" y="5875020"/>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6.17</a:t>
            </a:r>
            <a:endParaRPr lang="en-US" sz="800" dirty="0"/>
          </a:p>
        </p:txBody>
      </p:sp>
      <p:sp>
        <p:nvSpPr>
          <p:cNvPr id="147" name="Shape 144"/>
          <p:cNvSpPr/>
          <p:nvPr/>
        </p:nvSpPr>
        <p:spPr>
          <a:xfrm>
            <a:off x="4297680" y="5875020"/>
            <a:ext cx="960120" cy="187452"/>
          </a:xfrm>
          <a:prstGeom prst="rect">
            <a:avLst/>
          </a:prstGeom>
          <a:solidFill>
            <a:srgbClr val="F7F9FB"/>
          </a:solidFill>
          <a:ln w="6350">
            <a:solidFill>
              <a:srgbClr val="D3DCE5"/>
            </a:solidFill>
            <a:prstDash val="solid"/>
          </a:ln>
        </p:spPr>
      </p:sp>
      <p:sp>
        <p:nvSpPr>
          <p:cNvPr id="148" name="Text 145"/>
          <p:cNvSpPr txBox="1"/>
          <p:nvPr/>
        </p:nvSpPr>
        <p:spPr>
          <a:xfrm>
            <a:off x="4297680" y="5875020"/>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7.60</a:t>
            </a:r>
            <a:endParaRPr lang="en-US" sz="800" dirty="0"/>
          </a:p>
        </p:txBody>
      </p:sp>
      <p:sp>
        <p:nvSpPr>
          <p:cNvPr id="149" name="Shape 146"/>
          <p:cNvSpPr/>
          <p:nvPr/>
        </p:nvSpPr>
        <p:spPr>
          <a:xfrm>
            <a:off x="5257800" y="5875020"/>
            <a:ext cx="960120" cy="187452"/>
          </a:xfrm>
          <a:prstGeom prst="rect">
            <a:avLst/>
          </a:prstGeom>
          <a:solidFill>
            <a:srgbClr val="F7F9FB"/>
          </a:solidFill>
          <a:ln w="6350">
            <a:solidFill>
              <a:srgbClr val="D3DCE5"/>
            </a:solidFill>
            <a:prstDash val="solid"/>
          </a:ln>
        </p:spPr>
      </p:sp>
      <p:sp>
        <p:nvSpPr>
          <p:cNvPr id="150" name="Text 147"/>
          <p:cNvSpPr txBox="1"/>
          <p:nvPr/>
        </p:nvSpPr>
        <p:spPr>
          <a:xfrm>
            <a:off x="5257800" y="5875020"/>
            <a:ext cx="960120" cy="187452"/>
          </a:xfrm>
          <a:prstGeom prst="rect">
            <a:avLst/>
          </a:prstGeom>
          <a:noFill/>
          <a:ln/>
        </p:spPr>
        <p:txBody>
          <a:bodyPr wrap="square" lIns="0" tIns="0" rIns="0" bIns="0" rtlCol="0" anchor="ctr"/>
          <a:lstStyle/>
          <a:p>
            <a:pPr algn="ctr" indent="0" marL="0">
              <a:buNone/>
            </a:pPr>
            <a:r>
              <a:rPr lang="en-US" sz="800" dirty="0">
                <a:solidFill>
                  <a:srgbClr val="1B2733"/>
                </a:solidFill>
                <a:latin typeface="Calibri" pitchFamily="34" charset="0"/>
                <a:ea typeface="Calibri" pitchFamily="34" charset="-122"/>
                <a:cs typeface="Calibri" pitchFamily="34" charset="-120"/>
              </a:rPr>
              <a:t>9.04</a:t>
            </a:r>
            <a:endParaRPr lang="en-US" sz="800" dirty="0"/>
          </a:p>
        </p:txBody>
      </p:sp>
      <p:sp>
        <p:nvSpPr>
          <p:cNvPr id="151" name="Shape 148"/>
          <p:cNvSpPr/>
          <p:nvPr/>
        </p:nvSpPr>
        <p:spPr>
          <a:xfrm>
            <a:off x="6446520" y="4535424"/>
            <a:ext cx="5340096" cy="1572768"/>
          </a:xfrm>
          <a:prstGeom prst="rect">
            <a:avLst/>
          </a:prstGeom>
          <a:solidFill>
            <a:srgbClr val="EEF2F6"/>
          </a:solidFill>
          <a:ln w="9525">
            <a:solidFill>
              <a:srgbClr val="D3DCE5"/>
            </a:solidFill>
            <a:prstDash val="solid"/>
          </a:ln>
        </p:spPr>
      </p:sp>
      <p:sp>
        <p:nvSpPr>
          <p:cNvPr id="152" name="Text 149"/>
          <p:cNvSpPr txBox="1"/>
          <p:nvPr/>
        </p:nvSpPr>
        <p:spPr>
          <a:xfrm>
            <a:off x="6611112" y="4663440"/>
            <a:ext cx="501091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What has to be true, and where it breaks</a:t>
            </a:r>
            <a:endParaRPr lang="en-US" sz="1150" dirty="0"/>
          </a:p>
        </p:txBody>
      </p:sp>
      <p:sp>
        <p:nvSpPr>
          <p:cNvPr id="153" name="Text 150"/>
          <p:cNvSpPr txBox="1"/>
          <p:nvPr/>
        </p:nvSpPr>
        <p:spPr>
          <a:xfrm>
            <a:off x="6611112" y="4992624"/>
            <a:ext cx="5010912" cy="1024128"/>
          </a:xfrm>
          <a:prstGeom prst="rect">
            <a:avLst/>
          </a:prstGeom>
          <a:noFill/>
          <a:ln/>
        </p:spPr>
        <p:txBody>
          <a:bodyPr wrap="square" lIns="0" tIns="0" rIns="0" bIns="0" rtlCol="0" anchor="t"/>
          <a:lstStyle/>
          <a:p>
            <a:pPr indent="0" marL="0">
              <a:lnSpc>
                <a:spcPct val="105000"/>
              </a:lnSpc>
              <a:buNone/>
            </a:pPr>
            <a:r>
              <a:rPr lang="en-US" sz="850" dirty="0">
                <a:solidFill>
                  <a:srgbClr val="1B2733"/>
                </a:solidFill>
                <a:latin typeface="Calibri" pitchFamily="34" charset="0"/>
                <a:ea typeface="Calibri" pitchFamily="34" charset="-122"/>
                <a:cs typeface="Calibri" pitchFamily="34" charset="-120"/>
              </a:rPr>
              <a:t>Read across for the commodity call and down for operational delivery. Shaded cells sit below today's price. PLS needs realised prices no worse than about 8% below our base case to justify A$5.48, and that base case is already 11% below spot-implied realisation.</a:t>
            </a:r>
            <a:endParaRPr lang="en-US" sz="850" dirty="0"/>
          </a:p>
          <a:p>
            <a:pPr indent="0" marL="0">
              <a:lnSpc>
                <a:spcPct val="105000"/>
              </a:lnSpc>
              <a:buNone/>
            </a:pPr>
            <a:endParaRPr lang="en-US" sz="850" dirty="0"/>
          </a:p>
          <a:p>
            <a:pPr indent="0" marL="0">
              <a:lnSpc>
                <a:spcPct val="105000"/>
              </a:lnSpc>
              <a:buNone/>
            </a:pPr>
            <a:r>
              <a:rPr lang="en-US" sz="850" dirty="0">
                <a:solidFill>
                  <a:srgbClr val="1B2733"/>
                </a:solidFill>
                <a:latin typeface="Calibri" pitchFamily="34" charset="0"/>
                <a:ea typeface="Calibri" pitchFamily="34" charset="-122"/>
                <a:cs typeface="Calibri" pitchFamily="34" charset="-120"/>
              </a:rPr>
              <a:t>Against that: reward to risk is 1.09x, and 20,000 trials put the probability of intrinsic value beating today's price at 46.6%. Expected value clears the hurdle on a median that does not, so we build the position over several prints rather than take it in one.</a:t>
            </a:r>
            <a:endParaRPr lang="en-US" sz="850" dirty="0"/>
          </a:p>
        </p:txBody>
      </p:sp>
      <p:sp>
        <p:nvSpPr>
          <p:cNvPr id="154" name="Text 151"/>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Football Field and Sensitivity sheets; Monte Carlo per appendix E16. Broker range is the full individual analyst spread; vendor averages cluster A$4.50-5.70.</a:t>
            </a:r>
            <a:endParaRPr lang="en-US" sz="720" dirty="0"/>
          </a:p>
        </p:txBody>
      </p:sp>
      <p:sp>
        <p:nvSpPr>
          <p:cNvPr id="155" name="Text 152"/>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1572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Summary</a:t>
            </a:r>
            <a:endParaRPr lang="en-US" sz="850" dirty="0"/>
          </a:p>
        </p:txBody>
      </p:sp>
      <p:sp>
        <p:nvSpPr>
          <p:cNvPr id="3" name="Text 1"/>
          <p:cNvSpPr txBox="1"/>
          <p:nvPr/>
        </p:nvSpPr>
        <p:spPr>
          <a:xfrm>
            <a:off x="1919326"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Company</a:t>
            </a:r>
            <a:endParaRPr lang="en-US" sz="850" dirty="0"/>
          </a:p>
        </p:txBody>
      </p:sp>
      <p:sp>
        <p:nvSpPr>
          <p:cNvPr id="4" name="Text 2"/>
          <p:cNvSpPr txBox="1"/>
          <p:nvPr/>
        </p:nvSpPr>
        <p:spPr>
          <a:xfrm>
            <a:off x="332293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Industry</a:t>
            </a:r>
            <a:endParaRPr lang="en-US" sz="850" dirty="0"/>
          </a:p>
        </p:txBody>
      </p:sp>
      <p:sp>
        <p:nvSpPr>
          <p:cNvPr id="5" name="Text 3"/>
          <p:cNvSpPr txBox="1"/>
          <p:nvPr/>
        </p:nvSpPr>
        <p:spPr>
          <a:xfrm>
            <a:off x="4726534"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Thesis</a:t>
            </a:r>
            <a:endParaRPr lang="en-US" sz="850" dirty="0"/>
          </a:p>
        </p:txBody>
      </p:sp>
      <p:sp>
        <p:nvSpPr>
          <p:cNvPr id="6" name="Text 4"/>
          <p:cNvSpPr txBox="1"/>
          <p:nvPr/>
        </p:nvSpPr>
        <p:spPr>
          <a:xfrm>
            <a:off x="6130138"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Shared Value</a:t>
            </a:r>
            <a:endParaRPr lang="en-US" sz="850" dirty="0"/>
          </a:p>
        </p:txBody>
      </p:sp>
      <p:sp>
        <p:nvSpPr>
          <p:cNvPr id="7" name="Text 5"/>
          <p:cNvSpPr txBox="1"/>
          <p:nvPr/>
        </p:nvSpPr>
        <p:spPr>
          <a:xfrm>
            <a:off x="7533742"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Valuation</a:t>
            </a:r>
            <a:endParaRPr lang="en-US" sz="850" dirty="0"/>
          </a:p>
        </p:txBody>
      </p:sp>
      <p:sp>
        <p:nvSpPr>
          <p:cNvPr id="8" name="Shape 6"/>
          <p:cNvSpPr/>
          <p:nvPr/>
        </p:nvSpPr>
        <p:spPr>
          <a:xfrm>
            <a:off x="8937346" y="6400800"/>
            <a:ext cx="1335024" cy="274320"/>
          </a:xfrm>
          <a:prstGeom prst="roundRect">
            <a:avLst>
              <a:gd name="adj" fmla="val 20000"/>
            </a:avLst>
          </a:prstGeom>
          <a:solidFill>
            <a:srgbClr val="10233A"/>
          </a:solidFill>
          <a:ln/>
        </p:spPr>
      </p:sp>
      <p:sp>
        <p:nvSpPr>
          <p:cNvPr id="9" name="Text 7"/>
          <p:cNvSpPr txBox="1"/>
          <p:nvPr/>
        </p:nvSpPr>
        <p:spPr>
          <a:xfrm>
            <a:off x="8937346" y="6400800"/>
            <a:ext cx="1335024"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Risks</a:t>
            </a:r>
            <a:endParaRPr lang="en-US" sz="850" dirty="0"/>
          </a:p>
        </p:txBody>
      </p:sp>
      <p:sp>
        <p:nvSpPr>
          <p:cNvPr id="10" name="Text 8"/>
          <p:cNvSpPr txBox="1"/>
          <p:nvPr/>
        </p:nvSpPr>
        <p:spPr>
          <a:xfrm>
            <a:off x="10340950" y="6400800"/>
            <a:ext cx="1335024" cy="274320"/>
          </a:xfrm>
          <a:prstGeom prst="rect">
            <a:avLst/>
          </a:prstGeom>
          <a:noFill/>
          <a:ln/>
        </p:spPr>
        <p:txBody>
          <a:bodyPr wrap="square" lIns="0" tIns="0" rIns="0" bIns="0" rtlCol="0" anchor="ctr"/>
          <a:lstStyle/>
          <a:p>
            <a:pPr algn="ctr" indent="0" marL="0">
              <a:buNone/>
            </a:pPr>
            <a:r>
              <a:rPr lang="en-US" sz="850" dirty="0">
                <a:solidFill>
                  <a:srgbClr val="8C9BA9"/>
                </a:solidFill>
                <a:latin typeface="Calibri" pitchFamily="34" charset="0"/>
                <a:ea typeface="Calibri" pitchFamily="34" charset="-122"/>
                <a:cs typeface="Calibri" pitchFamily="34" charset="-120"/>
              </a:rPr>
              <a:t>Recommendation</a:t>
            </a:r>
            <a:endParaRPr lang="en-US" sz="850" dirty="0"/>
          </a:p>
        </p:txBody>
      </p:sp>
      <p:sp>
        <p:nvSpPr>
          <p:cNvPr id="12" name="Shape 9"/>
          <p:cNvSpPr/>
          <p:nvPr/>
        </p:nvSpPr>
        <p:spPr>
          <a:xfrm>
            <a:off x="0" y="0"/>
            <a:ext cx="12191695" cy="969264"/>
          </a:xfrm>
          <a:prstGeom prst="rect">
            <a:avLst/>
          </a:prstGeom>
          <a:solidFill>
            <a:srgbClr val="10233A"/>
          </a:solidFill>
          <a:ln/>
        </p:spPr>
      </p:sp>
      <p:sp>
        <p:nvSpPr>
          <p:cNvPr id="13" name="Text 10"/>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Every risk below has a named early-warning indicator, because a risk you cannot observe is not one you can manage.</a:t>
            </a:r>
            <a:endParaRPr lang="en-US" sz="1550" dirty="0"/>
          </a:p>
        </p:txBody>
      </p:sp>
      <p:sp>
        <p:nvSpPr>
          <p:cNvPr id="14" name="Text 11"/>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What would break this, and what would tell us first</a:t>
            </a:r>
            <a:endParaRPr lang="en-US" sz="1000" dirty="0"/>
          </a:p>
        </p:txBody>
      </p:sp>
      <p:sp>
        <p:nvSpPr>
          <p:cNvPr id="15" name="Shape 12"/>
          <p:cNvSpPr/>
          <p:nvPr/>
        </p:nvSpPr>
        <p:spPr>
          <a:xfrm>
            <a:off x="10716768" y="274320"/>
            <a:ext cx="1060704" cy="384048"/>
          </a:xfrm>
          <a:prstGeom prst="roundRect">
            <a:avLst>
              <a:gd name="adj" fmla="val 19048"/>
            </a:avLst>
          </a:prstGeom>
          <a:solidFill>
            <a:srgbClr val="0E7C6B"/>
          </a:solidFill>
          <a:ln/>
        </p:spPr>
      </p:sp>
      <p:sp>
        <p:nvSpPr>
          <p:cNvPr id="16" name="Text 13"/>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17" name="Shape 14"/>
          <p:cNvSpPr/>
          <p:nvPr/>
        </p:nvSpPr>
        <p:spPr>
          <a:xfrm>
            <a:off x="411480" y="1298448"/>
            <a:ext cx="2514600" cy="292608"/>
          </a:xfrm>
          <a:prstGeom prst="rect">
            <a:avLst/>
          </a:prstGeom>
          <a:solidFill>
            <a:srgbClr val="10233A"/>
          </a:solidFill>
          <a:ln/>
        </p:spPr>
      </p:sp>
      <p:sp>
        <p:nvSpPr>
          <p:cNvPr id="18" name="Text 15"/>
          <p:cNvSpPr txBox="1"/>
          <p:nvPr/>
        </p:nvSpPr>
        <p:spPr>
          <a:xfrm>
            <a:off x="475488" y="1298448"/>
            <a:ext cx="238658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p>
        </p:txBody>
      </p:sp>
      <p:sp>
        <p:nvSpPr>
          <p:cNvPr id="19" name="Shape 16"/>
          <p:cNvSpPr/>
          <p:nvPr/>
        </p:nvSpPr>
        <p:spPr>
          <a:xfrm>
            <a:off x="2926080" y="1298448"/>
            <a:ext cx="3520440" cy="292608"/>
          </a:xfrm>
          <a:prstGeom prst="rect">
            <a:avLst/>
          </a:prstGeom>
          <a:solidFill>
            <a:srgbClr val="10233A"/>
          </a:solidFill>
          <a:ln/>
        </p:spPr>
      </p:sp>
      <p:sp>
        <p:nvSpPr>
          <p:cNvPr id="20" name="Text 17"/>
          <p:cNvSpPr txBox="1"/>
          <p:nvPr/>
        </p:nvSpPr>
        <p:spPr>
          <a:xfrm>
            <a:off x="2990088" y="1298448"/>
            <a:ext cx="33924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 it bites</a:t>
            </a:r>
            <a:endParaRPr lang="en-US" sz="900" dirty="0"/>
          </a:p>
        </p:txBody>
      </p:sp>
      <p:sp>
        <p:nvSpPr>
          <p:cNvPr id="21" name="Shape 18"/>
          <p:cNvSpPr/>
          <p:nvPr/>
        </p:nvSpPr>
        <p:spPr>
          <a:xfrm>
            <a:off x="6446520" y="1298448"/>
            <a:ext cx="2834640" cy="292608"/>
          </a:xfrm>
          <a:prstGeom prst="rect">
            <a:avLst/>
          </a:prstGeom>
          <a:solidFill>
            <a:srgbClr val="10233A"/>
          </a:solidFill>
          <a:ln/>
        </p:spPr>
      </p:sp>
      <p:sp>
        <p:nvSpPr>
          <p:cNvPr id="22" name="Text 19"/>
          <p:cNvSpPr txBox="1"/>
          <p:nvPr/>
        </p:nvSpPr>
        <p:spPr>
          <a:xfrm>
            <a:off x="6510528" y="1298448"/>
            <a:ext cx="27066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Mitigant</a:t>
            </a:r>
            <a:endParaRPr lang="en-US" sz="900" dirty="0"/>
          </a:p>
        </p:txBody>
      </p:sp>
      <p:sp>
        <p:nvSpPr>
          <p:cNvPr id="23" name="Shape 20"/>
          <p:cNvSpPr/>
          <p:nvPr/>
        </p:nvSpPr>
        <p:spPr>
          <a:xfrm>
            <a:off x="9281160" y="1298448"/>
            <a:ext cx="2505456" cy="292608"/>
          </a:xfrm>
          <a:prstGeom prst="rect">
            <a:avLst/>
          </a:prstGeom>
          <a:solidFill>
            <a:srgbClr val="10233A"/>
          </a:solidFill>
          <a:ln/>
        </p:spPr>
      </p:sp>
      <p:sp>
        <p:nvSpPr>
          <p:cNvPr id="24" name="Text 21"/>
          <p:cNvSpPr txBox="1"/>
          <p:nvPr/>
        </p:nvSpPr>
        <p:spPr>
          <a:xfrm>
            <a:off x="9345168" y="1298448"/>
            <a:ext cx="237744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Our early warning</a:t>
            </a:r>
            <a:endParaRPr lang="en-US" sz="900" dirty="0"/>
          </a:p>
        </p:txBody>
      </p:sp>
      <p:sp>
        <p:nvSpPr>
          <p:cNvPr id="25" name="Shape 22"/>
          <p:cNvSpPr/>
          <p:nvPr/>
        </p:nvSpPr>
        <p:spPr>
          <a:xfrm>
            <a:off x="411480" y="1591056"/>
            <a:ext cx="2514600" cy="557784"/>
          </a:xfrm>
          <a:prstGeom prst="rect">
            <a:avLst/>
          </a:prstGeom>
          <a:solidFill>
            <a:srgbClr val="FFFFFF"/>
          </a:solidFill>
          <a:ln w="6350">
            <a:solidFill>
              <a:srgbClr val="D3DCE5"/>
            </a:solidFill>
            <a:prstDash val="solid"/>
          </a:ln>
        </p:spPr>
      </p:sp>
      <p:sp>
        <p:nvSpPr>
          <p:cNvPr id="26" name="Text 23"/>
          <p:cNvSpPr txBox="1"/>
          <p:nvPr/>
        </p:nvSpPr>
        <p:spPr>
          <a:xfrm>
            <a:off x="475488" y="1591056"/>
            <a:ext cx="2386584" cy="557784"/>
          </a:xfrm>
          <a:prstGeom prst="rect">
            <a:avLst/>
          </a:prstGeom>
          <a:noFill/>
          <a:ln/>
        </p:spPr>
        <p:txBody>
          <a:bodyPr wrap="square" lIns="0" tIns="0" rIns="0" bIns="0" rtlCol="0" anchor="ctr"/>
          <a:lstStyle/>
          <a:p>
            <a:pPr algn="l" indent="0" marL="0">
              <a:buNone/>
            </a:pPr>
            <a:r>
              <a:rPr lang="en-US" sz="830" b="1" dirty="0">
                <a:solidFill>
                  <a:srgbClr val="1B2733"/>
                </a:solidFill>
                <a:latin typeface="Calibri" pitchFamily="34" charset="0"/>
                <a:ea typeface="Calibri" pitchFamily="34" charset="-122"/>
                <a:cs typeface="Calibri" pitchFamily="34" charset="-120"/>
              </a:rPr>
              <a:t>Price relapse</a:t>
            </a:r>
            <a:endParaRPr lang="en-US" sz="830" dirty="0"/>
          </a:p>
        </p:txBody>
      </p:sp>
      <p:sp>
        <p:nvSpPr>
          <p:cNvPr id="27" name="Shape 24"/>
          <p:cNvSpPr/>
          <p:nvPr/>
        </p:nvSpPr>
        <p:spPr>
          <a:xfrm>
            <a:off x="2926080" y="1591056"/>
            <a:ext cx="3520440" cy="557784"/>
          </a:xfrm>
          <a:prstGeom prst="rect">
            <a:avLst/>
          </a:prstGeom>
          <a:solidFill>
            <a:srgbClr val="FFFFFF"/>
          </a:solidFill>
          <a:ln w="6350">
            <a:solidFill>
              <a:srgbClr val="D3DCE5"/>
            </a:solidFill>
            <a:prstDash val="solid"/>
          </a:ln>
        </p:spPr>
      </p:sp>
      <p:sp>
        <p:nvSpPr>
          <p:cNvPr id="28" name="Text 25"/>
          <p:cNvSpPr txBox="1"/>
          <p:nvPr/>
        </p:nvSpPr>
        <p:spPr>
          <a:xfrm>
            <a:off x="2990088" y="1591056"/>
            <a:ext cx="33924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Restart supply from Bald Hill, Finniss and Jianxiawo overwhelms demand and spodumene revisits the 2025 trough. Wood Mackenzie's base case says surplus until the early 2030s.</a:t>
            </a:r>
            <a:endParaRPr lang="en-US" sz="830" dirty="0"/>
          </a:p>
        </p:txBody>
      </p:sp>
      <p:sp>
        <p:nvSpPr>
          <p:cNvPr id="29" name="Shape 26"/>
          <p:cNvSpPr/>
          <p:nvPr/>
        </p:nvSpPr>
        <p:spPr>
          <a:xfrm>
            <a:off x="6446520" y="1591056"/>
            <a:ext cx="2834640" cy="557784"/>
          </a:xfrm>
          <a:prstGeom prst="rect">
            <a:avLst/>
          </a:prstGeom>
          <a:solidFill>
            <a:srgbClr val="FFFFFF"/>
          </a:solidFill>
          <a:ln w="6350">
            <a:solidFill>
              <a:srgbClr val="D3DCE5"/>
            </a:solidFill>
            <a:prstDash val="solid"/>
          </a:ln>
        </p:spPr>
      </p:sp>
      <p:sp>
        <p:nvSpPr>
          <p:cNvPr id="30" name="Text 27"/>
          <p:cNvSpPr txBox="1"/>
          <p:nvPr/>
        </p:nvSpPr>
        <p:spPr>
          <a:xfrm>
            <a:off x="6510528" y="1591056"/>
            <a:ext cx="27066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PLS earns cash where roughly a quarter of world supply does not, and holds A$2.29bn to wait.</a:t>
            </a:r>
            <a:endParaRPr lang="en-US" sz="830" dirty="0"/>
          </a:p>
        </p:txBody>
      </p:sp>
      <p:sp>
        <p:nvSpPr>
          <p:cNvPr id="31" name="Shape 28"/>
          <p:cNvSpPr/>
          <p:nvPr/>
        </p:nvSpPr>
        <p:spPr>
          <a:xfrm>
            <a:off x="9281160" y="1591056"/>
            <a:ext cx="2505456" cy="557784"/>
          </a:xfrm>
          <a:prstGeom prst="rect">
            <a:avLst/>
          </a:prstGeom>
          <a:solidFill>
            <a:srgbClr val="FFFFFF"/>
          </a:solidFill>
          <a:ln w="6350">
            <a:solidFill>
              <a:srgbClr val="D3DCE5"/>
            </a:solidFill>
            <a:prstDash val="solid"/>
          </a:ln>
        </p:spPr>
      </p:sp>
      <p:sp>
        <p:nvSpPr>
          <p:cNvPr id="32" name="Text 29"/>
          <p:cNvSpPr txBox="1"/>
          <p:nvPr/>
        </p:nvSpPr>
        <p:spPr>
          <a:xfrm>
            <a:off x="9345168" y="1591056"/>
            <a:ext cx="2377440"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Monthly SpodIX prints and Chinese carbonate inventory days.</a:t>
            </a:r>
            <a:endParaRPr lang="en-US" sz="830" dirty="0"/>
          </a:p>
        </p:txBody>
      </p:sp>
      <p:sp>
        <p:nvSpPr>
          <p:cNvPr id="33" name="Shape 30"/>
          <p:cNvSpPr/>
          <p:nvPr/>
        </p:nvSpPr>
        <p:spPr>
          <a:xfrm>
            <a:off x="411480" y="2148840"/>
            <a:ext cx="2514600" cy="557784"/>
          </a:xfrm>
          <a:prstGeom prst="rect">
            <a:avLst/>
          </a:prstGeom>
          <a:solidFill>
            <a:srgbClr val="F7F9FB"/>
          </a:solidFill>
          <a:ln w="6350">
            <a:solidFill>
              <a:srgbClr val="D3DCE5"/>
            </a:solidFill>
            <a:prstDash val="solid"/>
          </a:ln>
        </p:spPr>
      </p:sp>
      <p:sp>
        <p:nvSpPr>
          <p:cNvPr id="34" name="Text 31"/>
          <p:cNvSpPr txBox="1"/>
          <p:nvPr/>
        </p:nvSpPr>
        <p:spPr>
          <a:xfrm>
            <a:off x="475488" y="2148840"/>
            <a:ext cx="2386584" cy="557784"/>
          </a:xfrm>
          <a:prstGeom prst="rect">
            <a:avLst/>
          </a:prstGeom>
          <a:noFill/>
          <a:ln/>
        </p:spPr>
        <p:txBody>
          <a:bodyPr wrap="square" lIns="0" tIns="0" rIns="0" bIns="0" rtlCol="0" anchor="ctr"/>
          <a:lstStyle/>
          <a:p>
            <a:pPr algn="l" indent="0" marL="0">
              <a:buNone/>
            </a:pPr>
            <a:r>
              <a:rPr lang="en-US" sz="830" b="1" dirty="0">
                <a:solidFill>
                  <a:srgbClr val="1B2733"/>
                </a:solidFill>
                <a:latin typeface="Calibri" pitchFamily="34" charset="0"/>
                <a:ea typeface="Calibri" pitchFamily="34" charset="-122"/>
                <a:cs typeface="Calibri" pitchFamily="34" charset="-120"/>
              </a:rPr>
              <a:t>The re-rating is spent</a:t>
            </a:r>
            <a:endParaRPr lang="en-US" sz="830" dirty="0"/>
          </a:p>
        </p:txBody>
      </p:sp>
      <p:sp>
        <p:nvSpPr>
          <p:cNvPr id="35" name="Shape 32"/>
          <p:cNvSpPr/>
          <p:nvPr/>
        </p:nvSpPr>
        <p:spPr>
          <a:xfrm>
            <a:off x="2926080" y="2148840"/>
            <a:ext cx="3520440" cy="557784"/>
          </a:xfrm>
          <a:prstGeom prst="rect">
            <a:avLst/>
          </a:prstGeom>
          <a:solidFill>
            <a:srgbClr val="F7F9FB"/>
          </a:solidFill>
          <a:ln w="6350">
            <a:solidFill>
              <a:srgbClr val="D3DCE5"/>
            </a:solidFill>
            <a:prstDash val="solid"/>
          </a:ln>
        </p:spPr>
      </p:sp>
      <p:sp>
        <p:nvSpPr>
          <p:cNvPr id="36" name="Text 33"/>
          <p:cNvSpPr txBox="1"/>
          <p:nvPr/>
        </p:nvSpPr>
        <p:spPr>
          <a:xfrm>
            <a:off x="2990088" y="2148840"/>
            <a:ext cx="33924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Short interest fell from about 20% of shares - the most shorted stock on the ASX - to about 6.8%. Much of the tripling was covering, and that buyer is now gone.</a:t>
            </a:r>
            <a:endParaRPr lang="en-US" sz="830" dirty="0"/>
          </a:p>
        </p:txBody>
      </p:sp>
      <p:sp>
        <p:nvSpPr>
          <p:cNvPr id="37" name="Shape 34"/>
          <p:cNvSpPr/>
          <p:nvPr/>
        </p:nvSpPr>
        <p:spPr>
          <a:xfrm>
            <a:off x="6446520" y="2148840"/>
            <a:ext cx="2834640" cy="557784"/>
          </a:xfrm>
          <a:prstGeom prst="rect">
            <a:avLst/>
          </a:prstGeom>
          <a:solidFill>
            <a:srgbClr val="F7F9FB"/>
          </a:solidFill>
          <a:ln w="6350">
            <a:solidFill>
              <a:srgbClr val="D3DCE5"/>
            </a:solidFill>
            <a:prstDash val="solid"/>
          </a:ln>
        </p:spPr>
      </p:sp>
      <p:sp>
        <p:nvSpPr>
          <p:cNvPr id="38" name="Text 35"/>
          <p:cNvSpPr txBox="1"/>
          <p:nvPr/>
        </p:nvSpPr>
        <p:spPr>
          <a:xfrm>
            <a:off x="6510528" y="2148840"/>
            <a:ext cx="27066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We do not underwrite another squeeze. The target rests on earnings and the growth option, not on flow.</a:t>
            </a:r>
            <a:endParaRPr lang="en-US" sz="830" dirty="0"/>
          </a:p>
        </p:txBody>
      </p:sp>
      <p:sp>
        <p:nvSpPr>
          <p:cNvPr id="39" name="Shape 36"/>
          <p:cNvSpPr/>
          <p:nvPr/>
        </p:nvSpPr>
        <p:spPr>
          <a:xfrm>
            <a:off x="9281160" y="2148840"/>
            <a:ext cx="2505456" cy="557784"/>
          </a:xfrm>
          <a:prstGeom prst="rect">
            <a:avLst/>
          </a:prstGeom>
          <a:solidFill>
            <a:srgbClr val="F7F9FB"/>
          </a:solidFill>
          <a:ln w="6350">
            <a:solidFill>
              <a:srgbClr val="D3DCE5"/>
            </a:solidFill>
            <a:prstDash val="solid"/>
          </a:ln>
        </p:spPr>
      </p:sp>
      <p:sp>
        <p:nvSpPr>
          <p:cNvPr id="40" name="Text 37"/>
          <p:cNvSpPr txBox="1"/>
          <p:nvPr/>
        </p:nvSpPr>
        <p:spPr>
          <a:xfrm>
            <a:off x="9345168" y="2148840"/>
            <a:ext cx="2377440"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ASIC short position reports; a re-build above 10% would be a warning.</a:t>
            </a:r>
            <a:endParaRPr lang="en-US" sz="830" dirty="0"/>
          </a:p>
        </p:txBody>
      </p:sp>
      <p:sp>
        <p:nvSpPr>
          <p:cNvPr id="41" name="Shape 38"/>
          <p:cNvSpPr/>
          <p:nvPr/>
        </p:nvSpPr>
        <p:spPr>
          <a:xfrm>
            <a:off x="411480" y="2706624"/>
            <a:ext cx="2514600" cy="557784"/>
          </a:xfrm>
          <a:prstGeom prst="rect">
            <a:avLst/>
          </a:prstGeom>
          <a:solidFill>
            <a:srgbClr val="FFFFFF"/>
          </a:solidFill>
          <a:ln w="6350">
            <a:solidFill>
              <a:srgbClr val="D3DCE5"/>
            </a:solidFill>
            <a:prstDash val="solid"/>
          </a:ln>
        </p:spPr>
      </p:sp>
      <p:sp>
        <p:nvSpPr>
          <p:cNvPr id="42" name="Text 39"/>
          <p:cNvSpPr txBox="1"/>
          <p:nvPr/>
        </p:nvSpPr>
        <p:spPr>
          <a:xfrm>
            <a:off x="475488" y="2706624"/>
            <a:ext cx="2386584" cy="557784"/>
          </a:xfrm>
          <a:prstGeom prst="rect">
            <a:avLst/>
          </a:prstGeom>
          <a:noFill/>
          <a:ln/>
        </p:spPr>
        <p:txBody>
          <a:bodyPr wrap="square" lIns="0" tIns="0" rIns="0" bIns="0" rtlCol="0" anchor="ctr"/>
          <a:lstStyle/>
          <a:p>
            <a:pPr algn="l" indent="0" marL="0">
              <a:buNone/>
            </a:pPr>
            <a:r>
              <a:rPr lang="en-US" sz="830" b="1" dirty="0">
                <a:solidFill>
                  <a:srgbClr val="1B2733"/>
                </a:solidFill>
                <a:latin typeface="Calibri" pitchFamily="34" charset="0"/>
                <a:ea typeface="Calibri" pitchFamily="34" charset="-122"/>
                <a:cs typeface="Calibri" pitchFamily="34" charset="-120"/>
              </a:rPr>
              <a:t>P2000 slips or is shelved</a:t>
            </a:r>
            <a:endParaRPr lang="en-US" sz="830" dirty="0"/>
          </a:p>
        </p:txBody>
      </p:sp>
      <p:sp>
        <p:nvSpPr>
          <p:cNvPr id="43" name="Shape 40"/>
          <p:cNvSpPr/>
          <p:nvPr/>
        </p:nvSpPr>
        <p:spPr>
          <a:xfrm>
            <a:off x="2926080" y="2706624"/>
            <a:ext cx="3520440" cy="557784"/>
          </a:xfrm>
          <a:prstGeom prst="rect">
            <a:avLst/>
          </a:prstGeom>
          <a:solidFill>
            <a:srgbClr val="FFFFFF"/>
          </a:solidFill>
          <a:ln w="6350">
            <a:solidFill>
              <a:srgbClr val="D3DCE5"/>
            </a:solidFill>
            <a:prstDash val="solid"/>
          </a:ln>
        </p:spPr>
      </p:sp>
      <p:sp>
        <p:nvSpPr>
          <p:cNvPr id="44" name="Text 41"/>
          <p:cNvSpPr txBox="1"/>
          <p:nvPr/>
        </p:nvSpPr>
        <p:spPr>
          <a:xfrm>
            <a:off x="2990088" y="2706624"/>
            <a:ext cx="33924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The DFS is due in the December 2026 quarter and no FID has been taken. Our base case assumes first ore in mid-2029.</a:t>
            </a:r>
            <a:endParaRPr lang="en-US" sz="830" dirty="0"/>
          </a:p>
        </p:txBody>
      </p:sp>
      <p:sp>
        <p:nvSpPr>
          <p:cNvPr id="45" name="Shape 42"/>
          <p:cNvSpPr/>
          <p:nvPr/>
        </p:nvSpPr>
        <p:spPr>
          <a:xfrm>
            <a:off x="6446520" y="2706624"/>
            <a:ext cx="2834640" cy="557784"/>
          </a:xfrm>
          <a:prstGeom prst="rect">
            <a:avLst/>
          </a:prstGeom>
          <a:solidFill>
            <a:srgbClr val="FFFFFF"/>
          </a:solidFill>
          <a:ln w="6350">
            <a:solidFill>
              <a:srgbClr val="D3DCE5"/>
            </a:solidFill>
            <a:prstDash val="solid"/>
          </a:ln>
        </p:spPr>
      </p:sp>
      <p:sp>
        <p:nvSpPr>
          <p:cNvPr id="46" name="Text 43"/>
          <p:cNvSpPr txBox="1"/>
          <p:nvPr/>
        </p:nvSpPr>
        <p:spPr>
          <a:xfrm>
            <a:off x="6510528" y="2706624"/>
            <a:ext cx="27066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A$175m of pre-FID capital is already committed and the balance sheet can fund the A$1.2bn build.</a:t>
            </a:r>
            <a:endParaRPr lang="en-US" sz="830" dirty="0"/>
          </a:p>
        </p:txBody>
      </p:sp>
      <p:sp>
        <p:nvSpPr>
          <p:cNvPr id="47" name="Shape 44"/>
          <p:cNvSpPr/>
          <p:nvPr/>
        </p:nvSpPr>
        <p:spPr>
          <a:xfrm>
            <a:off x="9281160" y="2706624"/>
            <a:ext cx="2505456" cy="557784"/>
          </a:xfrm>
          <a:prstGeom prst="rect">
            <a:avLst/>
          </a:prstGeom>
          <a:solidFill>
            <a:srgbClr val="FFFFFF"/>
          </a:solidFill>
          <a:ln w="6350">
            <a:solidFill>
              <a:srgbClr val="D3DCE5"/>
            </a:solidFill>
            <a:prstDash val="solid"/>
          </a:ln>
        </p:spPr>
      </p:sp>
      <p:sp>
        <p:nvSpPr>
          <p:cNvPr id="48" name="Text 45"/>
          <p:cNvSpPr txBox="1"/>
          <p:nvPr/>
        </p:nvSpPr>
        <p:spPr>
          <a:xfrm>
            <a:off x="9345168" y="2706624"/>
            <a:ext cx="2377440"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The December quarter study outcome, and the FID decision itself.</a:t>
            </a:r>
            <a:endParaRPr lang="en-US" sz="830" dirty="0"/>
          </a:p>
        </p:txBody>
      </p:sp>
      <p:sp>
        <p:nvSpPr>
          <p:cNvPr id="49" name="Shape 46"/>
          <p:cNvSpPr/>
          <p:nvPr/>
        </p:nvSpPr>
        <p:spPr>
          <a:xfrm>
            <a:off x="411480" y="3264408"/>
            <a:ext cx="2514600" cy="557784"/>
          </a:xfrm>
          <a:prstGeom prst="rect">
            <a:avLst/>
          </a:prstGeom>
          <a:solidFill>
            <a:srgbClr val="F7F9FB"/>
          </a:solidFill>
          <a:ln w="6350">
            <a:solidFill>
              <a:srgbClr val="D3DCE5"/>
            </a:solidFill>
            <a:prstDash val="solid"/>
          </a:ln>
        </p:spPr>
      </p:sp>
      <p:sp>
        <p:nvSpPr>
          <p:cNvPr id="50" name="Text 47"/>
          <p:cNvSpPr txBox="1"/>
          <p:nvPr/>
        </p:nvSpPr>
        <p:spPr>
          <a:xfrm>
            <a:off x="475488" y="3264408"/>
            <a:ext cx="2386584" cy="557784"/>
          </a:xfrm>
          <a:prstGeom prst="rect">
            <a:avLst/>
          </a:prstGeom>
          <a:noFill/>
          <a:ln/>
        </p:spPr>
        <p:txBody>
          <a:bodyPr wrap="square" lIns="0" tIns="0" rIns="0" bIns="0" rtlCol="0" anchor="ctr"/>
          <a:lstStyle/>
          <a:p>
            <a:pPr algn="l" indent="0" marL="0">
              <a:buNone/>
            </a:pPr>
            <a:r>
              <a:rPr lang="en-US" sz="830" b="1" dirty="0">
                <a:solidFill>
                  <a:srgbClr val="1B2733"/>
                </a:solidFill>
                <a:latin typeface="Calibri" pitchFamily="34" charset="0"/>
                <a:ea typeface="Calibri" pitchFamily="34" charset="-122"/>
                <a:cs typeface="Calibri" pitchFamily="34" charset="-120"/>
              </a:rPr>
              <a:t>Single asset, single commodity</a:t>
            </a:r>
            <a:endParaRPr lang="en-US" sz="830" dirty="0"/>
          </a:p>
        </p:txBody>
      </p:sp>
      <p:sp>
        <p:nvSpPr>
          <p:cNvPr id="51" name="Shape 48"/>
          <p:cNvSpPr/>
          <p:nvPr/>
        </p:nvSpPr>
        <p:spPr>
          <a:xfrm>
            <a:off x="2926080" y="3264408"/>
            <a:ext cx="3520440" cy="557784"/>
          </a:xfrm>
          <a:prstGeom prst="rect">
            <a:avLst/>
          </a:prstGeom>
          <a:solidFill>
            <a:srgbClr val="F7F9FB"/>
          </a:solidFill>
          <a:ln w="6350">
            <a:solidFill>
              <a:srgbClr val="D3DCE5"/>
            </a:solidFill>
            <a:prstDash val="solid"/>
          </a:ln>
        </p:spPr>
      </p:sp>
      <p:sp>
        <p:nvSpPr>
          <p:cNvPr id="52" name="Text 49"/>
          <p:cNvSpPr txBox="1"/>
          <p:nvPr/>
        </p:nvSpPr>
        <p:spPr>
          <a:xfrm>
            <a:off x="2990088" y="3264408"/>
            <a:ext cx="33924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One orebody in one jurisdiction, and one price series that has moved by a factor of three in two years.</a:t>
            </a:r>
            <a:endParaRPr lang="en-US" sz="830" dirty="0"/>
          </a:p>
        </p:txBody>
      </p:sp>
      <p:sp>
        <p:nvSpPr>
          <p:cNvPr id="53" name="Shape 50"/>
          <p:cNvSpPr/>
          <p:nvPr/>
        </p:nvSpPr>
        <p:spPr>
          <a:xfrm>
            <a:off x="6446520" y="3264408"/>
            <a:ext cx="2834640" cy="557784"/>
          </a:xfrm>
          <a:prstGeom prst="rect">
            <a:avLst/>
          </a:prstGeom>
          <a:solidFill>
            <a:srgbClr val="F7F9FB"/>
          </a:solidFill>
          <a:ln w="6350">
            <a:solidFill>
              <a:srgbClr val="D3DCE5"/>
            </a:solidFill>
            <a:prstDash val="solid"/>
          </a:ln>
        </p:spPr>
      </p:sp>
      <p:sp>
        <p:nvSpPr>
          <p:cNvPr id="54" name="Text 51"/>
          <p:cNvSpPr txBox="1"/>
          <p:nvPr/>
        </p:nvSpPr>
        <p:spPr>
          <a:xfrm>
            <a:off x="6510528" y="3264408"/>
            <a:ext cx="27066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Colina adds a second jurisdiction from the 2030s. It is risked at 40% in our NAV and contributes nothing before FY32.</a:t>
            </a:r>
            <a:endParaRPr lang="en-US" sz="830" dirty="0"/>
          </a:p>
        </p:txBody>
      </p:sp>
      <p:sp>
        <p:nvSpPr>
          <p:cNvPr id="55" name="Shape 52"/>
          <p:cNvSpPr/>
          <p:nvPr/>
        </p:nvSpPr>
        <p:spPr>
          <a:xfrm>
            <a:off x="9281160" y="3264408"/>
            <a:ext cx="2505456" cy="557784"/>
          </a:xfrm>
          <a:prstGeom prst="rect">
            <a:avLst/>
          </a:prstGeom>
          <a:solidFill>
            <a:srgbClr val="F7F9FB"/>
          </a:solidFill>
          <a:ln w="6350">
            <a:solidFill>
              <a:srgbClr val="D3DCE5"/>
            </a:solidFill>
            <a:prstDash val="solid"/>
          </a:ln>
        </p:spPr>
      </p:sp>
      <p:sp>
        <p:nvSpPr>
          <p:cNvPr id="56" name="Text 53"/>
          <p:cNvSpPr txBox="1"/>
          <p:nvPr/>
        </p:nvSpPr>
        <p:spPr>
          <a:xfrm>
            <a:off x="9345168" y="3264408"/>
            <a:ext cx="2377440"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Any operational interruption at Pilgangoora; Pilbara weather and cyclone season.</a:t>
            </a:r>
            <a:endParaRPr lang="en-US" sz="830" dirty="0"/>
          </a:p>
        </p:txBody>
      </p:sp>
      <p:sp>
        <p:nvSpPr>
          <p:cNvPr id="57" name="Shape 54"/>
          <p:cNvSpPr/>
          <p:nvPr/>
        </p:nvSpPr>
        <p:spPr>
          <a:xfrm>
            <a:off x="411480" y="3822192"/>
            <a:ext cx="2514600" cy="557784"/>
          </a:xfrm>
          <a:prstGeom prst="rect">
            <a:avLst/>
          </a:prstGeom>
          <a:solidFill>
            <a:srgbClr val="FFFFFF"/>
          </a:solidFill>
          <a:ln w="6350">
            <a:solidFill>
              <a:srgbClr val="D3DCE5"/>
            </a:solidFill>
            <a:prstDash val="solid"/>
          </a:ln>
        </p:spPr>
      </p:sp>
      <p:sp>
        <p:nvSpPr>
          <p:cNvPr id="58" name="Text 55"/>
          <p:cNvSpPr txBox="1"/>
          <p:nvPr/>
        </p:nvSpPr>
        <p:spPr>
          <a:xfrm>
            <a:off x="475488" y="3822192"/>
            <a:ext cx="2386584" cy="557784"/>
          </a:xfrm>
          <a:prstGeom prst="rect">
            <a:avLst/>
          </a:prstGeom>
          <a:noFill/>
          <a:ln/>
        </p:spPr>
        <p:txBody>
          <a:bodyPr wrap="square" lIns="0" tIns="0" rIns="0" bIns="0" rtlCol="0" anchor="ctr"/>
          <a:lstStyle/>
          <a:p>
            <a:pPr algn="l" indent="0" marL="0">
              <a:buNone/>
            </a:pPr>
            <a:r>
              <a:rPr lang="en-US" sz="830" b="1" dirty="0">
                <a:solidFill>
                  <a:srgbClr val="1B2733"/>
                </a:solidFill>
                <a:latin typeface="Calibri" pitchFamily="34" charset="0"/>
                <a:ea typeface="Calibri" pitchFamily="34" charset="-122"/>
                <a:cs typeface="Calibri" pitchFamily="34" charset="-120"/>
              </a:rPr>
              <a:t>The carbon premium never arrives</a:t>
            </a:r>
            <a:endParaRPr lang="en-US" sz="830" dirty="0"/>
          </a:p>
        </p:txBody>
      </p:sp>
      <p:sp>
        <p:nvSpPr>
          <p:cNvPr id="59" name="Shape 56"/>
          <p:cNvSpPr/>
          <p:nvPr/>
        </p:nvSpPr>
        <p:spPr>
          <a:xfrm>
            <a:off x="2926080" y="3822192"/>
            <a:ext cx="3520440" cy="557784"/>
          </a:xfrm>
          <a:prstGeom prst="rect">
            <a:avLst/>
          </a:prstGeom>
          <a:solidFill>
            <a:srgbClr val="FFFFFF"/>
          </a:solidFill>
          <a:ln w="6350">
            <a:solidFill>
              <a:srgbClr val="D3DCE5"/>
            </a:solidFill>
            <a:prstDash val="solid"/>
          </a:ln>
        </p:spPr>
      </p:sp>
      <p:sp>
        <p:nvSpPr>
          <p:cNvPr id="60" name="Text 57"/>
          <p:cNvSpPr txBox="1"/>
          <p:nvPr/>
        </p:nvSpPr>
        <p:spPr>
          <a:xfrm>
            <a:off x="2990088" y="3822192"/>
            <a:ext cx="33924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Our level-one thesis assumes carbon intensity becomes a condition of sale. It may stay a preference that nobody pays for.</a:t>
            </a:r>
            <a:endParaRPr lang="en-US" sz="830" dirty="0"/>
          </a:p>
        </p:txBody>
      </p:sp>
      <p:sp>
        <p:nvSpPr>
          <p:cNvPr id="61" name="Shape 58"/>
          <p:cNvSpPr/>
          <p:nvPr/>
        </p:nvSpPr>
        <p:spPr>
          <a:xfrm>
            <a:off x="6446520" y="3822192"/>
            <a:ext cx="2834640" cy="557784"/>
          </a:xfrm>
          <a:prstGeom prst="rect">
            <a:avLst/>
          </a:prstGeom>
          <a:solidFill>
            <a:srgbClr val="FFFFFF"/>
          </a:solidFill>
          <a:ln w="6350">
            <a:solidFill>
              <a:srgbClr val="D3DCE5"/>
            </a:solidFill>
            <a:prstDash val="solid"/>
          </a:ln>
        </p:spPr>
      </p:sp>
      <p:sp>
        <p:nvSpPr>
          <p:cNvPr id="62" name="Text 59"/>
          <p:cNvSpPr txBox="1"/>
          <p:nvPr/>
        </p:nvSpPr>
        <p:spPr>
          <a:xfrm>
            <a:off x="6510528" y="3822192"/>
            <a:ext cx="27066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We have already priced this at zero inside the target and risked it at 25% outside it.</a:t>
            </a:r>
            <a:endParaRPr lang="en-US" sz="830" dirty="0"/>
          </a:p>
        </p:txBody>
      </p:sp>
      <p:sp>
        <p:nvSpPr>
          <p:cNvPr id="63" name="Shape 60"/>
          <p:cNvSpPr/>
          <p:nvPr/>
        </p:nvSpPr>
        <p:spPr>
          <a:xfrm>
            <a:off x="9281160" y="3822192"/>
            <a:ext cx="2505456" cy="557784"/>
          </a:xfrm>
          <a:prstGeom prst="rect">
            <a:avLst/>
          </a:prstGeom>
          <a:solidFill>
            <a:srgbClr val="FFFFFF"/>
          </a:solidFill>
          <a:ln w="6350">
            <a:solidFill>
              <a:srgbClr val="D3DCE5"/>
            </a:solidFill>
            <a:prstDash val="solid"/>
          </a:ln>
        </p:spPr>
      </p:sp>
      <p:sp>
        <p:nvSpPr>
          <p:cNvPr id="64" name="Text 61"/>
          <p:cNvSpPr txBox="1"/>
          <p:nvPr/>
        </p:nvSpPr>
        <p:spPr>
          <a:xfrm>
            <a:off x="9345168" y="3822192"/>
            <a:ext cx="2377440"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The first PLS contract with a disclosed carbon-linked term, or an EU declaration enforcement date.</a:t>
            </a:r>
            <a:endParaRPr lang="en-US" sz="830" dirty="0"/>
          </a:p>
        </p:txBody>
      </p:sp>
      <p:sp>
        <p:nvSpPr>
          <p:cNvPr id="65" name="Shape 62"/>
          <p:cNvSpPr/>
          <p:nvPr/>
        </p:nvSpPr>
        <p:spPr>
          <a:xfrm>
            <a:off x="411480" y="4379976"/>
            <a:ext cx="2514600" cy="557784"/>
          </a:xfrm>
          <a:prstGeom prst="rect">
            <a:avLst/>
          </a:prstGeom>
          <a:solidFill>
            <a:srgbClr val="F7F9FB"/>
          </a:solidFill>
          <a:ln w="6350">
            <a:solidFill>
              <a:srgbClr val="D3DCE5"/>
            </a:solidFill>
            <a:prstDash val="solid"/>
          </a:ln>
        </p:spPr>
      </p:sp>
      <p:sp>
        <p:nvSpPr>
          <p:cNvPr id="66" name="Text 63"/>
          <p:cNvSpPr txBox="1"/>
          <p:nvPr/>
        </p:nvSpPr>
        <p:spPr>
          <a:xfrm>
            <a:off x="475488" y="4379976"/>
            <a:ext cx="2386584" cy="557784"/>
          </a:xfrm>
          <a:prstGeom prst="rect">
            <a:avLst/>
          </a:prstGeom>
          <a:noFill/>
          <a:ln/>
        </p:spPr>
        <p:txBody>
          <a:bodyPr wrap="square" lIns="0" tIns="0" rIns="0" bIns="0" rtlCol="0" anchor="ctr"/>
          <a:lstStyle/>
          <a:p>
            <a:pPr algn="l" indent="0" marL="0">
              <a:buNone/>
            </a:pPr>
            <a:r>
              <a:rPr lang="en-US" sz="830" b="1" dirty="0">
                <a:solidFill>
                  <a:srgbClr val="1B2733"/>
                </a:solidFill>
                <a:latin typeface="Calibri" pitchFamily="34" charset="0"/>
                <a:ea typeface="Calibri" pitchFamily="34" charset="-122"/>
                <a:cs typeface="Calibri" pitchFamily="34" charset="-120"/>
              </a:rPr>
              <a:t>Reserve conversion disappoints</a:t>
            </a:r>
            <a:endParaRPr lang="en-US" sz="830" dirty="0"/>
          </a:p>
        </p:txBody>
      </p:sp>
      <p:sp>
        <p:nvSpPr>
          <p:cNvPr id="67" name="Shape 64"/>
          <p:cNvSpPr/>
          <p:nvPr/>
        </p:nvSpPr>
        <p:spPr>
          <a:xfrm>
            <a:off x="2926080" y="4379976"/>
            <a:ext cx="3520440" cy="557784"/>
          </a:xfrm>
          <a:prstGeom prst="rect">
            <a:avLst/>
          </a:prstGeom>
          <a:solidFill>
            <a:srgbClr val="F7F9FB"/>
          </a:solidFill>
          <a:ln w="6350">
            <a:solidFill>
              <a:srgbClr val="D3DCE5"/>
            </a:solidFill>
            <a:prstDash val="solid"/>
          </a:ln>
        </p:spPr>
      </p:sp>
      <p:sp>
        <p:nvSpPr>
          <p:cNvPr id="68" name="Text 65"/>
          <p:cNvSpPr txBox="1"/>
          <p:nvPr/>
        </p:nvSpPr>
        <p:spPr>
          <a:xfrm>
            <a:off x="2990088" y="4379976"/>
            <a:ext cx="33924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Our terminal value assumes 75% of the 446Mt resource converts. The Ore Reserve has not been restated since August 2023.</a:t>
            </a:r>
            <a:endParaRPr lang="en-US" sz="830" dirty="0"/>
          </a:p>
        </p:txBody>
      </p:sp>
      <p:sp>
        <p:nvSpPr>
          <p:cNvPr id="69" name="Shape 66"/>
          <p:cNvSpPr/>
          <p:nvPr/>
        </p:nvSpPr>
        <p:spPr>
          <a:xfrm>
            <a:off x="6446520" y="4379976"/>
            <a:ext cx="2834640" cy="557784"/>
          </a:xfrm>
          <a:prstGeom prst="rect">
            <a:avLst/>
          </a:prstGeom>
          <a:solidFill>
            <a:srgbClr val="F7F9FB"/>
          </a:solidFill>
          <a:ln w="6350">
            <a:solidFill>
              <a:srgbClr val="D3DCE5"/>
            </a:solidFill>
            <a:prstDash val="solid"/>
          </a:ln>
        </p:spPr>
      </p:sp>
      <p:sp>
        <p:nvSpPr>
          <p:cNvPr id="70" name="Text 67"/>
          <p:cNvSpPr txBox="1"/>
          <p:nvPr/>
        </p:nvSpPr>
        <p:spPr>
          <a:xfrm>
            <a:off x="6510528" y="4379976"/>
            <a:ext cx="2706624"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The 2025 resource upgrade lifted contained lithium 23%, which supports rather than undermines conversion.</a:t>
            </a:r>
            <a:endParaRPr lang="en-US" sz="830" dirty="0"/>
          </a:p>
        </p:txBody>
      </p:sp>
      <p:sp>
        <p:nvSpPr>
          <p:cNvPr id="71" name="Shape 68"/>
          <p:cNvSpPr/>
          <p:nvPr/>
        </p:nvSpPr>
        <p:spPr>
          <a:xfrm>
            <a:off x="9281160" y="4379976"/>
            <a:ext cx="2505456" cy="557784"/>
          </a:xfrm>
          <a:prstGeom prst="rect">
            <a:avLst/>
          </a:prstGeom>
          <a:solidFill>
            <a:srgbClr val="F7F9FB"/>
          </a:solidFill>
          <a:ln w="6350">
            <a:solidFill>
              <a:srgbClr val="D3DCE5"/>
            </a:solidFill>
            <a:prstDash val="solid"/>
          </a:ln>
        </p:spPr>
      </p:sp>
      <p:sp>
        <p:nvSpPr>
          <p:cNvPr id="72" name="Text 69"/>
          <p:cNvSpPr txBox="1"/>
          <p:nvPr/>
        </p:nvSpPr>
        <p:spPr>
          <a:xfrm>
            <a:off x="9345168" y="4379976"/>
            <a:ext cx="2377440" cy="557784"/>
          </a:xfrm>
          <a:prstGeom prst="rect">
            <a:avLst/>
          </a:prstGeom>
          <a:noFill/>
          <a:ln/>
        </p:spPr>
        <p:txBody>
          <a:bodyPr wrap="square" lIns="0" tIns="0" rIns="0" bIns="0" rtlCol="0" anchor="ctr"/>
          <a:lstStyle/>
          <a:p>
            <a:pPr algn="l" indent="0" marL="0">
              <a:buNone/>
            </a:pPr>
            <a:r>
              <a:rPr lang="en-US" sz="830" dirty="0">
                <a:solidFill>
                  <a:srgbClr val="1B2733"/>
                </a:solidFill>
                <a:latin typeface="Calibri" pitchFamily="34" charset="0"/>
                <a:ea typeface="Calibri" pitchFamily="34" charset="-122"/>
                <a:cs typeface="Calibri" pitchFamily="34" charset="-120"/>
              </a:rPr>
              <a:t>The next Ore Reserve statement. A conversion below 60% would cut the target by roughly A$0.40.</a:t>
            </a:r>
            <a:endParaRPr lang="en-US" sz="830" dirty="0"/>
          </a:p>
        </p:txBody>
      </p:sp>
      <p:sp>
        <p:nvSpPr>
          <p:cNvPr id="73" name="Shape 70"/>
          <p:cNvSpPr/>
          <p:nvPr/>
        </p:nvSpPr>
        <p:spPr>
          <a:xfrm>
            <a:off x="411480" y="5047488"/>
            <a:ext cx="11375136" cy="658368"/>
          </a:xfrm>
          <a:prstGeom prst="rect">
            <a:avLst/>
          </a:prstGeom>
          <a:solidFill>
            <a:srgbClr val="FBEBD9"/>
          </a:solidFill>
          <a:ln w="9525">
            <a:solidFill>
              <a:srgbClr val="E8C9A3"/>
            </a:solidFill>
            <a:prstDash val="solid"/>
          </a:ln>
        </p:spPr>
      </p:sp>
      <p:sp>
        <p:nvSpPr>
          <p:cNvPr id="74" name="Text 71"/>
          <p:cNvSpPr txBox="1"/>
          <p:nvPr/>
        </p:nvSpPr>
        <p:spPr>
          <a:xfrm>
            <a:off x="576072" y="5175504"/>
            <a:ext cx="11045952" cy="438912"/>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The risk we are most exposed to is the first one, and we have not hedged the language on it. If spodumene averages 20% below our base case across the forecast, the target falls to about A$3.80 and this recommendation is wrong.</a:t>
            </a:r>
            <a:endParaRPr lang="en-US" sz="940" dirty="0"/>
          </a:p>
        </p:txBody>
      </p:sp>
      <p:sp>
        <p:nvSpPr>
          <p:cNvPr id="75" name="Text 72"/>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ASIC short position reports via shortman.com.au (latest retrievable data 26 May 2026); Wood Mackenzie Lithium Energy Transition Outlook, 3 March 2026; PLS disclosures; team valuation model.</a:t>
            </a:r>
            <a:endParaRPr lang="en-US" sz="720" dirty="0"/>
          </a:p>
        </p:txBody>
      </p:sp>
      <p:sp>
        <p:nvSpPr>
          <p:cNvPr id="76" name="Text 73"/>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233A"/>
        </a:solidFill>
      </p:bgPr>
    </p:bg>
    <p:spTree>
      <p:nvGrpSpPr>
        <p:cNvPr id="1" name=""/>
        <p:cNvGrpSpPr/>
        <p:nvPr/>
      </p:nvGrpSpPr>
      <p:grpSpPr>
        <a:xfrm>
          <a:off x="0" y="0"/>
          <a:ext cx="0" cy="0"/>
          <a:chOff x="0" y="0"/>
          <a:chExt cx="0" cy="0"/>
        </a:xfrm>
      </p:grpSpPr>
      <p:sp>
        <p:nvSpPr>
          <p:cNvPr id="3" name="Text 0"/>
          <p:cNvSpPr txBox="1"/>
          <p:nvPr/>
        </p:nvSpPr>
        <p:spPr>
          <a:xfrm>
            <a:off x="411480" y="310896"/>
            <a:ext cx="731520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Recommendation</a:t>
            </a:r>
            <a:endParaRPr lang="en-US" sz="3000" dirty="0"/>
          </a:p>
        </p:txBody>
      </p:sp>
      <p:sp>
        <p:nvSpPr>
          <p:cNvPr id="4" name="Shape 1"/>
          <p:cNvSpPr/>
          <p:nvPr/>
        </p:nvSpPr>
        <p:spPr>
          <a:xfrm>
            <a:off x="411480" y="1005840"/>
            <a:ext cx="3246120" cy="2011680"/>
          </a:xfrm>
          <a:prstGeom prst="rect">
            <a:avLst/>
          </a:prstGeom>
          <a:solidFill>
            <a:srgbClr val="0E7C6B"/>
          </a:solidFill>
          <a:ln/>
        </p:spPr>
      </p:sp>
      <p:sp>
        <p:nvSpPr>
          <p:cNvPr id="5" name="Text 2"/>
          <p:cNvSpPr txBox="1"/>
          <p:nvPr/>
        </p:nvSpPr>
        <p:spPr>
          <a:xfrm>
            <a:off x="411480" y="1115568"/>
            <a:ext cx="3246120" cy="73152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BUY</a:t>
            </a:r>
            <a:endParaRPr lang="en-US" sz="4200" dirty="0"/>
          </a:p>
        </p:txBody>
      </p:sp>
      <p:sp>
        <p:nvSpPr>
          <p:cNvPr id="6" name="Text 3"/>
          <p:cNvSpPr txBox="1"/>
          <p:nvPr/>
        </p:nvSpPr>
        <p:spPr>
          <a:xfrm>
            <a:off x="411480" y="1847088"/>
            <a:ext cx="324612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A$6.14</a:t>
            </a:r>
            <a:endParaRPr lang="en-US" sz="2600" dirty="0"/>
          </a:p>
        </p:txBody>
      </p:sp>
      <p:sp>
        <p:nvSpPr>
          <p:cNvPr id="7" name="Text 4"/>
          <p:cNvSpPr txBox="1"/>
          <p:nvPr/>
        </p:nvSpPr>
        <p:spPr>
          <a:xfrm>
            <a:off x="411480" y="2340864"/>
            <a:ext cx="3246120" cy="566928"/>
          </a:xfrm>
          <a:prstGeom prst="rect">
            <a:avLst/>
          </a:prstGeom>
          <a:noFill/>
          <a:ln/>
        </p:spPr>
        <p:txBody>
          <a:bodyPr wrap="square" lIns="0" tIns="0" rIns="0" bIns="0" rtlCol="0" anchor="t"/>
          <a:lstStyle/>
          <a:p>
            <a:pPr algn="ctr" indent="0" marL="0">
              <a:lnSpc>
                <a:spcPct val="115000"/>
              </a:lnSpc>
              <a:buNone/>
            </a:pPr>
            <a:r>
              <a:rPr lang="en-US" sz="1000" dirty="0">
                <a:solidFill>
                  <a:srgbClr val="DDF0EB"/>
                </a:solidFill>
                <a:latin typeface="Calibri" pitchFamily="34" charset="0"/>
                <a:ea typeface="Calibri" pitchFamily="34" charset="-122"/>
                <a:cs typeface="Calibri" pitchFamily="34" charset="-120"/>
              </a:rPr>
              <a:t>12-month target   |   +12.0%</a:t>
            </a:r>
            <a:endParaRPr lang="en-US" sz="1000" dirty="0"/>
          </a:p>
          <a:p>
            <a:pPr algn="ctr" indent="0" marL="0">
              <a:lnSpc>
                <a:spcPct val="115000"/>
              </a:lnSpc>
              <a:buNone/>
            </a:pPr>
            <a:r>
              <a:rPr lang="en-US" sz="1000" dirty="0">
                <a:solidFill>
                  <a:srgbClr val="DDF0EB"/>
                </a:solidFill>
                <a:latin typeface="Calibri" pitchFamily="34" charset="0"/>
                <a:ea typeface="Calibri" pitchFamily="34" charset="-122"/>
                <a:cs typeface="Calibri" pitchFamily="34" charset="-120"/>
              </a:rPr>
              <a:t>Total return 13.6% vs benchmark 5.90%</a:t>
            </a:r>
            <a:endParaRPr lang="en-US" sz="1000" dirty="0"/>
          </a:p>
        </p:txBody>
      </p:sp>
      <p:sp>
        <p:nvSpPr>
          <p:cNvPr id="8" name="Text 5"/>
          <p:cNvSpPr txBox="1"/>
          <p:nvPr/>
        </p:nvSpPr>
        <p:spPr>
          <a:xfrm>
            <a:off x="3931920" y="1005840"/>
            <a:ext cx="2880360" cy="27432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The mandate is met</a:t>
            </a:r>
            <a:endParaRPr lang="en-US" sz="1150" dirty="0"/>
          </a:p>
        </p:txBody>
      </p:sp>
      <p:sp>
        <p:nvSpPr>
          <p:cNvPr id="9" name="Text 6"/>
          <p:cNvSpPr txBox="1"/>
          <p:nvPr/>
        </p:nvSpPr>
        <p:spPr>
          <a:xfrm>
            <a:off x="3931920" y="1271016"/>
            <a:ext cx="7818120" cy="402336"/>
          </a:xfrm>
          <a:prstGeom prst="rect">
            <a:avLst/>
          </a:prstGeom>
          <a:noFill/>
          <a:ln/>
        </p:spPr>
        <p:txBody>
          <a:bodyPr wrap="square" lIns="0" tIns="0" rIns="0" bIns="0" rtlCol="0" anchor="t"/>
          <a:lstStyle/>
          <a:p>
            <a:pPr indent="0" marL="0">
              <a:lnSpc>
                <a:spcPct val="108000"/>
              </a:lnSpc>
              <a:buNone/>
            </a:pPr>
            <a:r>
              <a:rPr lang="en-US" sz="950" dirty="0">
                <a:solidFill>
                  <a:srgbClr val="C9D8E6"/>
                </a:solidFill>
                <a:latin typeface="Calibri" pitchFamily="34" charset="0"/>
                <a:ea typeface="Calibri" pitchFamily="34" charset="-122"/>
                <a:cs typeface="Calibri" pitchFamily="34" charset="-120"/>
              </a:rPr>
              <a:t>A 13.6% expected total return against a benchmark that returned 5.90%, for outperformance of 7.7%. The fund needs 2%.</a:t>
            </a:r>
            <a:endParaRPr lang="en-US" sz="950" dirty="0"/>
          </a:p>
        </p:txBody>
      </p:sp>
      <p:sp>
        <p:nvSpPr>
          <p:cNvPr id="10" name="Text 7"/>
          <p:cNvSpPr txBox="1"/>
          <p:nvPr/>
        </p:nvSpPr>
        <p:spPr>
          <a:xfrm>
            <a:off x="3931920" y="1691640"/>
            <a:ext cx="2880360" cy="27432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The case is the shared value</a:t>
            </a:r>
            <a:endParaRPr lang="en-US" sz="1150" dirty="0"/>
          </a:p>
        </p:txBody>
      </p:sp>
      <p:sp>
        <p:nvSpPr>
          <p:cNvPr id="11" name="Text 8"/>
          <p:cNvSpPr txBox="1"/>
          <p:nvPr/>
        </p:nvSpPr>
        <p:spPr>
          <a:xfrm>
            <a:off x="3931920" y="1956816"/>
            <a:ext cx="7818120" cy="402336"/>
          </a:xfrm>
          <a:prstGeom prst="rect">
            <a:avLst/>
          </a:prstGeom>
          <a:noFill/>
          <a:ln/>
        </p:spPr>
        <p:txBody>
          <a:bodyPr wrap="square" lIns="0" tIns="0" rIns="0" bIns="0" rtlCol="0" anchor="t"/>
          <a:lstStyle/>
          <a:p>
            <a:pPr indent="0" marL="0">
              <a:lnSpc>
                <a:spcPct val="108000"/>
              </a:lnSpc>
              <a:buNone/>
            </a:pPr>
            <a:r>
              <a:rPr lang="en-US" sz="950" dirty="0">
                <a:solidFill>
                  <a:srgbClr val="C9D8E6"/>
                </a:solidFill>
                <a:latin typeface="Calibri" pitchFamily="34" charset="0"/>
                <a:ea typeface="Calibri" pitchFamily="34" charset="-122"/>
                <a:cs typeface="Calibri" pitchFamily="34" charset="-120"/>
              </a:rPr>
              <a:t>A$0.43 of the A$0.66 of upside - 66% - comes from ESG-linked operating decisions the market is not paying for.</a:t>
            </a:r>
            <a:endParaRPr lang="en-US" sz="950" dirty="0"/>
          </a:p>
        </p:txBody>
      </p:sp>
      <p:sp>
        <p:nvSpPr>
          <p:cNvPr id="12" name="Text 9"/>
          <p:cNvSpPr txBox="1"/>
          <p:nvPr/>
        </p:nvSpPr>
        <p:spPr>
          <a:xfrm>
            <a:off x="3931920" y="2377440"/>
            <a:ext cx="2880360" cy="27432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The option is free</a:t>
            </a:r>
            <a:endParaRPr lang="en-US" sz="1150" dirty="0"/>
          </a:p>
        </p:txBody>
      </p:sp>
      <p:sp>
        <p:nvSpPr>
          <p:cNvPr id="13" name="Text 10"/>
          <p:cNvSpPr txBox="1"/>
          <p:nvPr/>
        </p:nvSpPr>
        <p:spPr>
          <a:xfrm>
            <a:off x="3931920" y="2642616"/>
            <a:ext cx="7818120" cy="402336"/>
          </a:xfrm>
          <a:prstGeom prst="rect">
            <a:avLst/>
          </a:prstGeom>
          <a:noFill/>
          <a:ln/>
        </p:spPr>
        <p:txBody>
          <a:bodyPr wrap="square" lIns="0" tIns="0" rIns="0" bIns="0" rtlCol="0" anchor="t"/>
          <a:lstStyle/>
          <a:p>
            <a:pPr indent="0" marL="0">
              <a:lnSpc>
                <a:spcPct val="108000"/>
              </a:lnSpc>
              <a:buNone/>
            </a:pPr>
            <a:r>
              <a:rPr lang="en-US" sz="950" dirty="0">
                <a:solidFill>
                  <a:srgbClr val="C9D8E6"/>
                </a:solidFill>
                <a:latin typeface="Calibri" pitchFamily="34" charset="0"/>
                <a:ea typeface="Calibri" pitchFamily="34" charset="-122"/>
                <a:cs typeface="Calibri" pitchFamily="34" charset="-120"/>
              </a:rPr>
              <a:t>A further A$0.32 per share of low-carbon downstream value sits outside the target entirely. Nothing in this recommendation needs it to land.</a:t>
            </a:r>
            <a:endParaRPr lang="en-US" sz="950" dirty="0"/>
          </a:p>
        </p:txBody>
      </p:sp>
      <p:sp>
        <p:nvSpPr>
          <p:cNvPr id="14" name="Text 11"/>
          <p:cNvSpPr txBox="1"/>
          <p:nvPr/>
        </p:nvSpPr>
        <p:spPr>
          <a:xfrm>
            <a:off x="411480" y="3273552"/>
            <a:ext cx="7315200" cy="29260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Catalysts inside the investment horizon</a:t>
            </a:r>
            <a:endParaRPr lang="en-US" sz="1200" dirty="0"/>
          </a:p>
        </p:txBody>
      </p:sp>
      <p:sp>
        <p:nvSpPr>
          <p:cNvPr id="15" name="Shape 12"/>
          <p:cNvSpPr/>
          <p:nvPr/>
        </p:nvSpPr>
        <p:spPr>
          <a:xfrm>
            <a:off x="411480" y="3639312"/>
            <a:ext cx="11375136" cy="365760"/>
          </a:xfrm>
          <a:prstGeom prst="rect">
            <a:avLst/>
          </a:prstGeom>
          <a:solidFill>
            <a:srgbClr val="1B3A5A"/>
          </a:solidFill>
          <a:ln/>
        </p:spPr>
      </p:sp>
      <p:sp>
        <p:nvSpPr>
          <p:cNvPr id="16" name="Text 13"/>
          <p:cNvSpPr txBox="1"/>
          <p:nvPr/>
        </p:nvSpPr>
        <p:spPr>
          <a:xfrm>
            <a:off x="557784" y="3639312"/>
            <a:ext cx="1417320" cy="365760"/>
          </a:xfrm>
          <a:prstGeom prst="rect">
            <a:avLst/>
          </a:prstGeom>
          <a:noFill/>
          <a:ln/>
        </p:spPr>
        <p:txBody>
          <a:bodyPr wrap="square" lIns="0" tIns="0" rIns="0" bIns="0" rtlCol="0" anchor="ctr"/>
          <a:lstStyle/>
          <a:p>
            <a:pPr indent="0" marL="0">
              <a:buNone/>
            </a:pPr>
            <a:r>
              <a:rPr lang="en-US" sz="950" b="1" dirty="0">
                <a:solidFill>
                  <a:srgbClr val="0E7C6B"/>
                </a:solidFill>
                <a:latin typeface="Calibri" pitchFamily="34" charset="0"/>
                <a:ea typeface="Calibri" pitchFamily="34" charset="-122"/>
                <a:cs typeface="Calibri" pitchFamily="34" charset="-120"/>
              </a:rPr>
              <a:t>Sep-qtr 2026</a:t>
            </a:r>
            <a:endParaRPr lang="en-US" sz="950" dirty="0"/>
          </a:p>
        </p:txBody>
      </p:sp>
      <p:sp>
        <p:nvSpPr>
          <p:cNvPr id="17" name="Text 14"/>
          <p:cNvSpPr txBox="1"/>
          <p:nvPr/>
        </p:nvSpPr>
        <p:spPr>
          <a:xfrm>
            <a:off x="2057400" y="3639312"/>
            <a:ext cx="406908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First lithium phosphate from the mid-stream plant</a:t>
            </a:r>
            <a:endParaRPr lang="en-US" sz="950" dirty="0"/>
          </a:p>
        </p:txBody>
      </p:sp>
      <p:sp>
        <p:nvSpPr>
          <p:cNvPr id="18" name="Text 15"/>
          <p:cNvSpPr txBox="1"/>
          <p:nvPr/>
        </p:nvSpPr>
        <p:spPr>
          <a:xfrm>
            <a:off x="6217920" y="3639312"/>
            <a:ext cx="5440680" cy="365760"/>
          </a:xfrm>
          <a:prstGeom prst="rect">
            <a:avLst/>
          </a:prstGeom>
          <a:noFill/>
          <a:ln/>
        </p:spPr>
        <p:txBody>
          <a:bodyPr wrap="square" lIns="0" tIns="0" rIns="0" bIns="0" rtlCol="0" anchor="ctr"/>
          <a:lstStyle/>
          <a:p>
            <a:pPr indent="0" marL="0">
              <a:buNone/>
            </a:pPr>
            <a:r>
              <a:rPr lang="en-US" sz="900" dirty="0">
                <a:solidFill>
                  <a:srgbClr val="AFC3D4"/>
                </a:solidFill>
                <a:latin typeface="Calibri" pitchFamily="34" charset="0"/>
                <a:ea typeface="Calibri" pitchFamily="34" charset="-122"/>
                <a:cs typeface="Calibri" pitchFamily="34" charset="-120"/>
              </a:rPr>
              <a:t>Turns the level-one thesis from a plan into a product</a:t>
            </a:r>
            <a:endParaRPr lang="en-US" sz="900" dirty="0"/>
          </a:p>
        </p:txBody>
      </p:sp>
      <p:sp>
        <p:nvSpPr>
          <p:cNvPr id="19" name="Shape 16"/>
          <p:cNvSpPr/>
          <p:nvPr/>
        </p:nvSpPr>
        <p:spPr>
          <a:xfrm>
            <a:off x="411480" y="4041648"/>
            <a:ext cx="11375136" cy="365760"/>
          </a:xfrm>
          <a:prstGeom prst="rect">
            <a:avLst/>
          </a:prstGeom>
          <a:solidFill>
            <a:srgbClr val="16304C"/>
          </a:solidFill>
          <a:ln/>
        </p:spPr>
      </p:sp>
      <p:sp>
        <p:nvSpPr>
          <p:cNvPr id="20" name="Text 17"/>
          <p:cNvSpPr txBox="1"/>
          <p:nvPr/>
        </p:nvSpPr>
        <p:spPr>
          <a:xfrm>
            <a:off x="557784" y="4041648"/>
            <a:ext cx="1417320" cy="365760"/>
          </a:xfrm>
          <a:prstGeom prst="rect">
            <a:avLst/>
          </a:prstGeom>
          <a:noFill/>
          <a:ln/>
        </p:spPr>
        <p:txBody>
          <a:bodyPr wrap="square" lIns="0" tIns="0" rIns="0" bIns="0" rtlCol="0" anchor="ctr"/>
          <a:lstStyle/>
          <a:p>
            <a:pPr indent="0" marL="0">
              <a:buNone/>
            </a:pPr>
            <a:r>
              <a:rPr lang="en-US" sz="950" b="1" dirty="0">
                <a:solidFill>
                  <a:srgbClr val="0E7C6B"/>
                </a:solidFill>
                <a:latin typeface="Calibri" pitchFamily="34" charset="0"/>
                <a:ea typeface="Calibri" pitchFamily="34" charset="-122"/>
                <a:cs typeface="Calibri" pitchFamily="34" charset="-120"/>
              </a:rPr>
              <a:t>Oct 2026</a:t>
            </a:r>
            <a:endParaRPr lang="en-US" sz="950" dirty="0"/>
          </a:p>
        </p:txBody>
      </p:sp>
      <p:sp>
        <p:nvSpPr>
          <p:cNvPr id="21" name="Text 18"/>
          <p:cNvSpPr txBox="1"/>
          <p:nvPr/>
        </p:nvSpPr>
        <p:spPr>
          <a:xfrm>
            <a:off x="2057400" y="4041648"/>
            <a:ext cx="406908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September-quarter activities report</a:t>
            </a:r>
            <a:endParaRPr lang="en-US" sz="950" dirty="0"/>
          </a:p>
        </p:txBody>
      </p:sp>
      <p:sp>
        <p:nvSpPr>
          <p:cNvPr id="22" name="Text 19"/>
          <p:cNvSpPr txBox="1"/>
          <p:nvPr/>
        </p:nvSpPr>
        <p:spPr>
          <a:xfrm>
            <a:off x="6217920" y="4041648"/>
            <a:ext cx="5440680" cy="365760"/>
          </a:xfrm>
          <a:prstGeom prst="rect">
            <a:avLst/>
          </a:prstGeom>
          <a:noFill/>
          <a:ln/>
        </p:spPr>
        <p:txBody>
          <a:bodyPr wrap="square" lIns="0" tIns="0" rIns="0" bIns="0" rtlCol="0" anchor="ctr"/>
          <a:lstStyle/>
          <a:p>
            <a:pPr indent="0" marL="0">
              <a:buNone/>
            </a:pPr>
            <a:r>
              <a:rPr lang="en-US" sz="900" dirty="0">
                <a:solidFill>
                  <a:srgbClr val="AFC3D4"/>
                </a:solidFill>
                <a:latin typeface="Calibri" pitchFamily="34" charset="0"/>
                <a:ea typeface="Calibri" pitchFamily="34" charset="-122"/>
                <a:cs typeface="Calibri" pitchFamily="34" charset="-120"/>
              </a:rPr>
              <a:t>The first full quarter at the post-restart run rate, and the price print after the August fall</a:t>
            </a:r>
            <a:endParaRPr lang="en-US" sz="900" dirty="0"/>
          </a:p>
        </p:txBody>
      </p:sp>
      <p:sp>
        <p:nvSpPr>
          <p:cNvPr id="23" name="Shape 20"/>
          <p:cNvSpPr/>
          <p:nvPr/>
        </p:nvSpPr>
        <p:spPr>
          <a:xfrm>
            <a:off x="411480" y="4443984"/>
            <a:ext cx="11375136" cy="365760"/>
          </a:xfrm>
          <a:prstGeom prst="rect">
            <a:avLst/>
          </a:prstGeom>
          <a:solidFill>
            <a:srgbClr val="1B3A5A"/>
          </a:solidFill>
          <a:ln/>
        </p:spPr>
      </p:sp>
      <p:sp>
        <p:nvSpPr>
          <p:cNvPr id="24" name="Text 21"/>
          <p:cNvSpPr txBox="1"/>
          <p:nvPr/>
        </p:nvSpPr>
        <p:spPr>
          <a:xfrm>
            <a:off x="557784" y="4443984"/>
            <a:ext cx="1417320" cy="365760"/>
          </a:xfrm>
          <a:prstGeom prst="rect">
            <a:avLst/>
          </a:prstGeom>
          <a:noFill/>
          <a:ln/>
        </p:spPr>
        <p:txBody>
          <a:bodyPr wrap="square" lIns="0" tIns="0" rIns="0" bIns="0" rtlCol="0" anchor="ctr"/>
          <a:lstStyle/>
          <a:p>
            <a:pPr indent="0" marL="0">
              <a:buNone/>
            </a:pPr>
            <a:r>
              <a:rPr lang="en-US" sz="950" b="1" dirty="0">
                <a:solidFill>
                  <a:srgbClr val="0E7C6B"/>
                </a:solidFill>
                <a:latin typeface="Calibri" pitchFamily="34" charset="0"/>
                <a:ea typeface="Calibri" pitchFamily="34" charset="-122"/>
                <a:cs typeface="Calibri" pitchFamily="34" charset="-120"/>
              </a:rPr>
              <a:t>Dec-qtr 2026</a:t>
            </a:r>
            <a:endParaRPr lang="en-US" sz="950" dirty="0"/>
          </a:p>
        </p:txBody>
      </p:sp>
      <p:sp>
        <p:nvSpPr>
          <p:cNvPr id="25" name="Text 22"/>
          <p:cNvSpPr txBox="1"/>
          <p:nvPr/>
        </p:nvSpPr>
        <p:spPr>
          <a:xfrm>
            <a:off x="2057400" y="4443984"/>
            <a:ext cx="406908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P2000 definitive feasibility study</a:t>
            </a:r>
            <a:endParaRPr lang="en-US" sz="950" dirty="0"/>
          </a:p>
        </p:txBody>
      </p:sp>
      <p:sp>
        <p:nvSpPr>
          <p:cNvPr id="26" name="Text 23"/>
          <p:cNvSpPr txBox="1"/>
          <p:nvPr/>
        </p:nvSpPr>
        <p:spPr>
          <a:xfrm>
            <a:off x="6217920" y="4443984"/>
            <a:ext cx="5440680" cy="365760"/>
          </a:xfrm>
          <a:prstGeom prst="rect">
            <a:avLst/>
          </a:prstGeom>
          <a:noFill/>
          <a:ln/>
        </p:spPr>
        <p:txBody>
          <a:bodyPr wrap="square" lIns="0" tIns="0" rIns="0" bIns="0" rtlCol="0" anchor="ctr"/>
          <a:lstStyle/>
          <a:p>
            <a:pPr indent="0" marL="0">
              <a:buNone/>
            </a:pPr>
            <a:r>
              <a:rPr lang="en-US" sz="900" dirty="0">
                <a:solidFill>
                  <a:srgbClr val="AFC3D4"/>
                </a:solidFill>
                <a:latin typeface="Calibri" pitchFamily="34" charset="0"/>
                <a:ea typeface="Calibri" pitchFamily="34" charset="-122"/>
                <a:cs typeface="Calibri" pitchFamily="34" charset="-120"/>
              </a:rPr>
              <a:t>The single largest value event in the pipeline: A$2.6bn of NPV at PFS level</a:t>
            </a:r>
            <a:endParaRPr lang="en-US" sz="900" dirty="0"/>
          </a:p>
        </p:txBody>
      </p:sp>
      <p:sp>
        <p:nvSpPr>
          <p:cNvPr id="27" name="Shape 24"/>
          <p:cNvSpPr/>
          <p:nvPr/>
        </p:nvSpPr>
        <p:spPr>
          <a:xfrm>
            <a:off x="411480" y="4846320"/>
            <a:ext cx="11375136" cy="365760"/>
          </a:xfrm>
          <a:prstGeom prst="rect">
            <a:avLst/>
          </a:prstGeom>
          <a:solidFill>
            <a:srgbClr val="16304C"/>
          </a:solidFill>
          <a:ln/>
        </p:spPr>
      </p:sp>
      <p:sp>
        <p:nvSpPr>
          <p:cNvPr id="28" name="Text 25"/>
          <p:cNvSpPr txBox="1"/>
          <p:nvPr/>
        </p:nvSpPr>
        <p:spPr>
          <a:xfrm>
            <a:off x="557784" y="4846320"/>
            <a:ext cx="1417320" cy="365760"/>
          </a:xfrm>
          <a:prstGeom prst="rect">
            <a:avLst/>
          </a:prstGeom>
          <a:noFill/>
          <a:ln/>
        </p:spPr>
        <p:txBody>
          <a:bodyPr wrap="square" lIns="0" tIns="0" rIns="0" bIns="0" rtlCol="0" anchor="ctr"/>
          <a:lstStyle/>
          <a:p>
            <a:pPr indent="0" marL="0">
              <a:buNone/>
            </a:pPr>
            <a:r>
              <a:rPr lang="en-US" sz="950" b="1" dirty="0">
                <a:solidFill>
                  <a:srgbClr val="0E7C6B"/>
                </a:solidFill>
                <a:latin typeface="Calibri" pitchFamily="34" charset="0"/>
                <a:ea typeface="Calibri" pitchFamily="34" charset="-122"/>
                <a:cs typeface="Calibri" pitchFamily="34" charset="-120"/>
              </a:rPr>
              <a:t>Late 2026</a:t>
            </a:r>
            <a:endParaRPr lang="en-US" sz="950" dirty="0"/>
          </a:p>
        </p:txBody>
      </p:sp>
      <p:sp>
        <p:nvSpPr>
          <p:cNvPr id="29" name="Text 26"/>
          <p:cNvSpPr txBox="1"/>
          <p:nvPr/>
        </p:nvSpPr>
        <p:spPr>
          <a:xfrm>
            <a:off x="2057400" y="4846320"/>
            <a:ext cx="406908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P2000 final investment decision</a:t>
            </a:r>
            <a:endParaRPr lang="en-US" sz="950" dirty="0"/>
          </a:p>
        </p:txBody>
      </p:sp>
      <p:sp>
        <p:nvSpPr>
          <p:cNvPr id="30" name="Text 27"/>
          <p:cNvSpPr txBox="1"/>
          <p:nvPr/>
        </p:nvSpPr>
        <p:spPr>
          <a:xfrm>
            <a:off x="6217920" y="4846320"/>
            <a:ext cx="5440680" cy="365760"/>
          </a:xfrm>
          <a:prstGeom prst="rect">
            <a:avLst/>
          </a:prstGeom>
          <a:noFill/>
          <a:ln/>
        </p:spPr>
        <p:txBody>
          <a:bodyPr wrap="square" lIns="0" tIns="0" rIns="0" bIns="0" rtlCol="0" anchor="ctr"/>
          <a:lstStyle/>
          <a:p>
            <a:pPr indent="0" marL="0">
              <a:buNone/>
            </a:pPr>
            <a:r>
              <a:rPr lang="en-US" sz="900" dirty="0">
                <a:solidFill>
                  <a:srgbClr val="AFC3D4"/>
                </a:solidFill>
                <a:latin typeface="Calibri" pitchFamily="34" charset="0"/>
                <a:ea typeface="Calibri" pitchFamily="34" charset="-122"/>
                <a:cs typeface="Calibri" pitchFamily="34" charset="-120"/>
              </a:rPr>
              <a:t>A$175m of pre-FID capital is already spent; this converts the option</a:t>
            </a:r>
            <a:endParaRPr lang="en-US" sz="900" dirty="0"/>
          </a:p>
        </p:txBody>
      </p:sp>
      <p:sp>
        <p:nvSpPr>
          <p:cNvPr id="31" name="Shape 28"/>
          <p:cNvSpPr/>
          <p:nvPr/>
        </p:nvSpPr>
        <p:spPr>
          <a:xfrm>
            <a:off x="411480" y="5248656"/>
            <a:ext cx="11375136" cy="365760"/>
          </a:xfrm>
          <a:prstGeom prst="rect">
            <a:avLst/>
          </a:prstGeom>
          <a:solidFill>
            <a:srgbClr val="1B3A5A"/>
          </a:solidFill>
          <a:ln/>
        </p:spPr>
      </p:sp>
      <p:sp>
        <p:nvSpPr>
          <p:cNvPr id="32" name="Text 29"/>
          <p:cNvSpPr txBox="1"/>
          <p:nvPr/>
        </p:nvSpPr>
        <p:spPr>
          <a:xfrm>
            <a:off x="557784" y="5248656"/>
            <a:ext cx="1417320" cy="365760"/>
          </a:xfrm>
          <a:prstGeom prst="rect">
            <a:avLst/>
          </a:prstGeom>
          <a:noFill/>
          <a:ln/>
        </p:spPr>
        <p:txBody>
          <a:bodyPr wrap="square" lIns="0" tIns="0" rIns="0" bIns="0" rtlCol="0" anchor="ctr"/>
          <a:lstStyle/>
          <a:p>
            <a:pPr indent="0" marL="0">
              <a:buNone/>
            </a:pPr>
            <a:r>
              <a:rPr lang="en-US" sz="950" b="1" dirty="0">
                <a:solidFill>
                  <a:srgbClr val="0E7C6B"/>
                </a:solidFill>
                <a:latin typeface="Calibri" pitchFamily="34" charset="0"/>
                <a:ea typeface="Calibri" pitchFamily="34" charset="-122"/>
                <a:cs typeface="Calibri" pitchFamily="34" charset="-120"/>
              </a:rPr>
              <a:t>FY27</a:t>
            </a:r>
            <a:endParaRPr lang="en-US" sz="950" dirty="0"/>
          </a:p>
        </p:txBody>
      </p:sp>
      <p:sp>
        <p:nvSpPr>
          <p:cNvPr id="33" name="Text 30"/>
          <p:cNvSpPr txBox="1"/>
          <p:nvPr/>
        </p:nvSpPr>
        <p:spPr>
          <a:xfrm>
            <a:off x="2057400" y="5248656"/>
            <a:ext cx="406908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Ngungaju at steady state</a:t>
            </a:r>
            <a:endParaRPr lang="en-US" sz="950" dirty="0"/>
          </a:p>
        </p:txBody>
      </p:sp>
      <p:sp>
        <p:nvSpPr>
          <p:cNvPr id="34" name="Text 31"/>
          <p:cNvSpPr txBox="1"/>
          <p:nvPr/>
        </p:nvSpPr>
        <p:spPr>
          <a:xfrm>
            <a:off x="6217920" y="5248656"/>
            <a:ext cx="5440680" cy="365760"/>
          </a:xfrm>
          <a:prstGeom prst="rect">
            <a:avLst/>
          </a:prstGeom>
          <a:noFill/>
          <a:ln/>
        </p:spPr>
        <p:txBody>
          <a:bodyPr wrap="square" lIns="0" tIns="0" rIns="0" bIns="0" rtlCol="0" anchor="ctr"/>
          <a:lstStyle/>
          <a:p>
            <a:pPr indent="0" marL="0">
              <a:buNone/>
            </a:pPr>
            <a:r>
              <a:rPr lang="en-US" sz="900" dirty="0">
                <a:solidFill>
                  <a:srgbClr val="AFC3D4"/>
                </a:solidFill>
                <a:latin typeface="Calibri" pitchFamily="34" charset="0"/>
                <a:ea typeface="Calibri" pitchFamily="34" charset="-122"/>
                <a:cs typeface="Calibri" pitchFamily="34" charset="-120"/>
              </a:rPr>
              <a:t>Guidance implies 1,030-1,100kt, a 17-25% volume step-up</a:t>
            </a:r>
            <a:endParaRPr lang="en-US" sz="900" dirty="0"/>
          </a:p>
        </p:txBody>
      </p:sp>
      <p:sp>
        <p:nvSpPr>
          <p:cNvPr id="35" name="Text 32"/>
          <p:cNvSpPr txBox="1"/>
          <p:nvPr/>
        </p:nvSpPr>
        <p:spPr>
          <a:xfrm>
            <a:off x="411480" y="5760720"/>
            <a:ext cx="11375136" cy="475488"/>
          </a:xfrm>
          <a:prstGeom prst="rect">
            <a:avLst/>
          </a:prstGeom>
          <a:noFill/>
          <a:ln/>
        </p:spPr>
        <p:txBody>
          <a:bodyPr wrap="square" lIns="0" tIns="0" rIns="0" bIns="0" rtlCol="0" anchor="t"/>
          <a:lstStyle/>
          <a:p>
            <a:pPr indent="0" marL="0">
              <a:lnSpc>
                <a:spcPct val="110000"/>
              </a:lnSpc>
              <a:buNone/>
            </a:pPr>
            <a:r>
              <a:rPr lang="en-US" sz="950" i="1" dirty="0">
                <a:solidFill>
                  <a:srgbClr val="8FA8BE"/>
                </a:solidFill>
                <a:latin typeface="Calibri" pitchFamily="34" charset="0"/>
                <a:ea typeface="Calibri" pitchFamily="34" charset="-122"/>
                <a:cs typeface="Calibri" pitchFamily="34" charset="-120"/>
              </a:rPr>
              <a:t>We would revisit this recommendation if spodumene averages more than 20% below our base case, if the P2000 study is deferred beyond the December 2026 quarter, or if short interest rebuilds above 10% of shares on issue.</a:t>
            </a:r>
            <a:endParaRPr lang="en-US" sz="950" dirty="0"/>
          </a:p>
        </p:txBody>
      </p:sp>
      <p:sp>
        <p:nvSpPr>
          <p:cNvPr id="36" name="Text 33"/>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233A"/>
        </a:solidFill>
      </p:bgPr>
    </p:bg>
    <p:spTree>
      <p:nvGrpSpPr>
        <p:cNvPr id="1" name=""/>
        <p:cNvGrpSpPr/>
        <p:nvPr/>
      </p:nvGrpSpPr>
      <p:grpSpPr>
        <a:xfrm>
          <a:off x="0" y="0"/>
          <a:ext cx="0" cy="0"/>
          <a:chOff x="0" y="0"/>
          <a:chExt cx="0" cy="0"/>
        </a:xfrm>
      </p:grpSpPr>
      <p:sp>
        <p:nvSpPr>
          <p:cNvPr id="2" name="Text 0"/>
          <p:cNvSpPr txBox="1"/>
          <p:nvPr/>
        </p:nvSpPr>
        <p:spPr>
          <a:xfrm>
            <a:off x="411480" y="502920"/>
            <a:ext cx="7315200" cy="65836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APPENDIX</a:t>
            </a:r>
            <a:endParaRPr lang="en-US" sz="4000" dirty="0"/>
          </a:p>
        </p:txBody>
      </p:sp>
      <p:sp>
        <p:nvSpPr>
          <p:cNvPr id="3" name="Text 1"/>
          <p:cNvSpPr txBox="1"/>
          <p:nvPr/>
        </p:nvSpPr>
        <p:spPr>
          <a:xfrm>
            <a:off x="411480" y="1188720"/>
            <a:ext cx="10058400" cy="384048"/>
          </a:xfrm>
          <a:prstGeom prst="rect">
            <a:avLst/>
          </a:prstGeom>
          <a:noFill/>
          <a:ln/>
        </p:spPr>
        <p:txBody>
          <a:bodyPr wrap="square" lIns="0" tIns="0" rIns="0" bIns="0" rtlCol="0" anchor="t"/>
          <a:lstStyle/>
          <a:p>
            <a:pPr indent="0" marL="0">
              <a:buNone/>
            </a:pPr>
            <a:r>
              <a:rPr lang="en-US" sz="1200" dirty="0">
                <a:solidFill>
                  <a:srgbClr val="AFC3D4"/>
                </a:solidFill>
                <a:latin typeface="Calibri" pitchFamily="34" charset="0"/>
                <a:ea typeface="Calibri" pitchFamily="34" charset="-122"/>
                <a:cs typeface="Calibri" pitchFamily="34" charset="-120"/>
              </a:rPr>
              <a:t>Everything behind the fifteen slides: the asset, the market, the frameworks, the ESG evidence, the model, and what we could not verify.</a:t>
            </a:r>
            <a:endParaRPr lang="en-US" sz="1200" dirty="0"/>
          </a:p>
        </p:txBody>
      </p:sp>
      <p:sp>
        <p:nvSpPr>
          <p:cNvPr id="4" name="Shape 2"/>
          <p:cNvSpPr/>
          <p:nvPr/>
        </p:nvSpPr>
        <p:spPr>
          <a:xfrm>
            <a:off x="411480" y="1920240"/>
            <a:ext cx="3639312" cy="1883664"/>
          </a:xfrm>
          <a:prstGeom prst="rect">
            <a:avLst/>
          </a:prstGeom>
          <a:solidFill>
            <a:srgbClr val="16304C"/>
          </a:solidFill>
          <a:ln/>
        </p:spPr>
      </p:sp>
      <p:sp>
        <p:nvSpPr>
          <p:cNvPr id="5" name="Text 3"/>
          <p:cNvSpPr txBox="1"/>
          <p:nvPr/>
        </p:nvSpPr>
        <p:spPr>
          <a:xfrm>
            <a:off x="576072" y="2029968"/>
            <a:ext cx="457200" cy="310896"/>
          </a:xfrm>
          <a:prstGeom prst="rect">
            <a:avLst/>
          </a:prstGeom>
          <a:noFill/>
          <a:ln/>
        </p:spPr>
        <p:txBody>
          <a:bodyPr wrap="square" lIns="0" tIns="0" rIns="0" bIns="0" rtlCol="0" anchor="ctr"/>
          <a:lstStyle/>
          <a:p>
            <a:pPr indent="0" marL="0">
              <a:buNone/>
            </a:pPr>
            <a:r>
              <a:rPr lang="en-US" sz="1800" b="1" dirty="0">
                <a:solidFill>
                  <a:srgbClr val="0E7C6B"/>
                </a:solidFill>
                <a:latin typeface="Cambria" pitchFamily="34" charset="0"/>
                <a:ea typeface="Cambria" pitchFamily="34" charset="-122"/>
                <a:cs typeface="Cambria" pitchFamily="34" charset="-120"/>
              </a:rPr>
              <a:t>A</a:t>
            </a:r>
            <a:endParaRPr lang="en-US" sz="1800" dirty="0"/>
          </a:p>
        </p:txBody>
      </p:sp>
      <p:sp>
        <p:nvSpPr>
          <p:cNvPr id="6" name="Text 4"/>
          <p:cNvSpPr txBox="1"/>
          <p:nvPr/>
        </p:nvSpPr>
        <p:spPr>
          <a:xfrm>
            <a:off x="1069848" y="2029968"/>
            <a:ext cx="219456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Company and assets</a:t>
            </a:r>
            <a:endParaRPr lang="en-US" sz="1200" dirty="0"/>
          </a:p>
        </p:txBody>
      </p:sp>
      <p:sp>
        <p:nvSpPr>
          <p:cNvPr id="7" name="Text 5"/>
          <p:cNvSpPr txBox="1"/>
          <p:nvPr/>
        </p:nvSpPr>
        <p:spPr>
          <a:xfrm>
            <a:off x="3246120" y="2029968"/>
            <a:ext cx="685800" cy="310896"/>
          </a:xfrm>
          <a:prstGeom prst="rect">
            <a:avLst/>
          </a:prstGeom>
          <a:noFill/>
          <a:ln/>
        </p:spPr>
        <p:txBody>
          <a:bodyPr wrap="square" lIns="0" tIns="0" rIns="0" bIns="0" rtlCol="0" anchor="ctr"/>
          <a:lstStyle/>
          <a:p>
            <a:pPr algn="r" indent="0" marL="0">
              <a:buNone/>
            </a:pPr>
            <a:r>
              <a:rPr lang="en-US" sz="900" dirty="0">
                <a:solidFill>
                  <a:srgbClr val="8FA8BE"/>
                </a:solidFill>
                <a:latin typeface="Calibri" pitchFamily="34" charset="0"/>
                <a:ea typeface="Calibri" pitchFamily="34" charset="-122"/>
                <a:cs typeface="Calibri" pitchFamily="34" charset="-120"/>
              </a:rPr>
              <a:t>A1-A11</a:t>
            </a:r>
            <a:endParaRPr lang="en-US" sz="900" dirty="0"/>
          </a:p>
        </p:txBody>
      </p:sp>
      <p:sp>
        <p:nvSpPr>
          <p:cNvPr id="8" name="Text 6"/>
          <p:cNvSpPr txBox="1"/>
          <p:nvPr/>
        </p:nvSpPr>
        <p:spPr>
          <a:xfrm>
            <a:off x="594360" y="2395728"/>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Pilgangoora overview</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Resource, reserve and mine life</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P680 and ore sorting</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P1000</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P2000 expansion economics</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Ngungaju restart</a:t>
            </a:r>
            <a:endParaRPr lang="en-US" sz="800" dirty="0"/>
          </a:p>
        </p:txBody>
      </p:sp>
      <p:sp>
        <p:nvSpPr>
          <p:cNvPr id="9" name="Text 7"/>
          <p:cNvSpPr txBox="1"/>
          <p:nvPr/>
        </p:nvSpPr>
        <p:spPr>
          <a:xfrm>
            <a:off x="2276856" y="2395728"/>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Mid-stream plant</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POSCO joint venture</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Colina, Brazil</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Offtake portfolio</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Board and management</a:t>
            </a:r>
            <a:endParaRPr lang="en-US" sz="800" dirty="0"/>
          </a:p>
        </p:txBody>
      </p:sp>
      <p:sp>
        <p:nvSpPr>
          <p:cNvPr id="10" name="Shape 8"/>
          <p:cNvSpPr/>
          <p:nvPr/>
        </p:nvSpPr>
        <p:spPr>
          <a:xfrm>
            <a:off x="4215384" y="1920240"/>
            <a:ext cx="3639312" cy="1883664"/>
          </a:xfrm>
          <a:prstGeom prst="rect">
            <a:avLst/>
          </a:prstGeom>
          <a:solidFill>
            <a:srgbClr val="16304C"/>
          </a:solidFill>
          <a:ln/>
        </p:spPr>
      </p:sp>
      <p:sp>
        <p:nvSpPr>
          <p:cNvPr id="11" name="Text 9"/>
          <p:cNvSpPr txBox="1"/>
          <p:nvPr/>
        </p:nvSpPr>
        <p:spPr>
          <a:xfrm>
            <a:off x="4379976" y="2029968"/>
            <a:ext cx="457200" cy="310896"/>
          </a:xfrm>
          <a:prstGeom prst="rect">
            <a:avLst/>
          </a:prstGeom>
          <a:noFill/>
          <a:ln/>
        </p:spPr>
        <p:txBody>
          <a:bodyPr wrap="square" lIns="0" tIns="0" rIns="0" bIns="0" rtlCol="0" anchor="ctr"/>
          <a:lstStyle/>
          <a:p>
            <a:pPr indent="0" marL="0">
              <a:buNone/>
            </a:pPr>
            <a:r>
              <a:rPr lang="en-US" sz="1800" b="1" dirty="0">
                <a:solidFill>
                  <a:srgbClr val="0E7C6B"/>
                </a:solidFill>
                <a:latin typeface="Cambria" pitchFamily="34" charset="0"/>
                <a:ea typeface="Cambria" pitchFamily="34" charset="-122"/>
                <a:cs typeface="Cambria" pitchFamily="34" charset="-120"/>
              </a:rPr>
              <a:t>B</a:t>
            </a:r>
            <a:endParaRPr lang="en-US" sz="1800" dirty="0"/>
          </a:p>
        </p:txBody>
      </p:sp>
      <p:sp>
        <p:nvSpPr>
          <p:cNvPr id="12" name="Text 10"/>
          <p:cNvSpPr txBox="1"/>
          <p:nvPr/>
        </p:nvSpPr>
        <p:spPr>
          <a:xfrm>
            <a:off x="4873752" y="2029968"/>
            <a:ext cx="219456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Industry</a:t>
            </a:r>
            <a:endParaRPr lang="en-US" sz="1200" dirty="0"/>
          </a:p>
        </p:txBody>
      </p:sp>
      <p:sp>
        <p:nvSpPr>
          <p:cNvPr id="13" name="Text 11"/>
          <p:cNvSpPr txBox="1"/>
          <p:nvPr/>
        </p:nvSpPr>
        <p:spPr>
          <a:xfrm>
            <a:off x="7050024" y="2029968"/>
            <a:ext cx="685800" cy="310896"/>
          </a:xfrm>
          <a:prstGeom prst="rect">
            <a:avLst/>
          </a:prstGeom>
          <a:noFill/>
          <a:ln/>
        </p:spPr>
        <p:txBody>
          <a:bodyPr wrap="square" lIns="0" tIns="0" rIns="0" bIns="0" rtlCol="0" anchor="ctr"/>
          <a:lstStyle/>
          <a:p>
            <a:pPr algn="r" indent="0" marL="0">
              <a:buNone/>
            </a:pPr>
            <a:r>
              <a:rPr lang="en-US" sz="900" dirty="0">
                <a:solidFill>
                  <a:srgbClr val="8FA8BE"/>
                </a:solidFill>
                <a:latin typeface="Calibri" pitchFamily="34" charset="0"/>
                <a:ea typeface="Calibri" pitchFamily="34" charset="-122"/>
                <a:cs typeface="Calibri" pitchFamily="34" charset="-120"/>
              </a:rPr>
              <a:t>B1-B12</a:t>
            </a:r>
            <a:endParaRPr lang="en-US" sz="900" dirty="0"/>
          </a:p>
        </p:txBody>
      </p:sp>
      <p:sp>
        <p:nvSpPr>
          <p:cNvPr id="14" name="Text 12"/>
          <p:cNvSpPr txBox="1"/>
          <p:nvPr/>
        </p:nvSpPr>
        <p:spPr>
          <a:xfrm>
            <a:off x="4398264" y="2395728"/>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The lithium value chain</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Price history</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Supply by country and source</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The Jianxiawo timeline</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Resource nationalism</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Restart supply tracker</a:t>
            </a:r>
            <a:endParaRPr lang="en-US" sz="800" dirty="0"/>
          </a:p>
        </p:txBody>
      </p:sp>
      <p:sp>
        <p:nvSpPr>
          <p:cNvPr id="15" name="Text 13"/>
          <p:cNvSpPr txBox="1"/>
          <p:nvPr/>
        </p:nvSpPr>
        <p:spPr>
          <a:xfrm>
            <a:off x="6080760" y="2395728"/>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Cost curve detail</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Electric-vehicle demand</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Storage demand</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Chemistry mix</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Market balance by forecaster</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Substitution and recycling risk</a:t>
            </a:r>
            <a:endParaRPr lang="en-US" sz="800" dirty="0"/>
          </a:p>
        </p:txBody>
      </p:sp>
      <p:sp>
        <p:nvSpPr>
          <p:cNvPr id="16" name="Shape 14"/>
          <p:cNvSpPr/>
          <p:nvPr/>
        </p:nvSpPr>
        <p:spPr>
          <a:xfrm>
            <a:off x="8019288" y="1920240"/>
            <a:ext cx="3639312" cy="1883664"/>
          </a:xfrm>
          <a:prstGeom prst="rect">
            <a:avLst/>
          </a:prstGeom>
          <a:solidFill>
            <a:srgbClr val="16304C"/>
          </a:solidFill>
          <a:ln/>
        </p:spPr>
      </p:sp>
      <p:sp>
        <p:nvSpPr>
          <p:cNvPr id="17" name="Text 15"/>
          <p:cNvSpPr txBox="1"/>
          <p:nvPr/>
        </p:nvSpPr>
        <p:spPr>
          <a:xfrm>
            <a:off x="8183880" y="2029968"/>
            <a:ext cx="457200" cy="310896"/>
          </a:xfrm>
          <a:prstGeom prst="rect">
            <a:avLst/>
          </a:prstGeom>
          <a:noFill/>
          <a:ln/>
        </p:spPr>
        <p:txBody>
          <a:bodyPr wrap="square" lIns="0" tIns="0" rIns="0" bIns="0" rtlCol="0" anchor="ctr"/>
          <a:lstStyle/>
          <a:p>
            <a:pPr indent="0" marL="0">
              <a:buNone/>
            </a:pPr>
            <a:r>
              <a:rPr lang="en-US" sz="1800" b="1" dirty="0">
                <a:solidFill>
                  <a:srgbClr val="0E7C6B"/>
                </a:solidFill>
                <a:latin typeface="Cambria" pitchFamily="34" charset="0"/>
                <a:ea typeface="Cambria" pitchFamily="34" charset="-122"/>
                <a:cs typeface="Cambria" pitchFamily="34" charset="-120"/>
              </a:rPr>
              <a:t>C</a:t>
            </a:r>
            <a:endParaRPr lang="en-US" sz="1800" dirty="0"/>
          </a:p>
        </p:txBody>
      </p:sp>
      <p:sp>
        <p:nvSpPr>
          <p:cNvPr id="18" name="Text 16"/>
          <p:cNvSpPr txBox="1"/>
          <p:nvPr/>
        </p:nvSpPr>
        <p:spPr>
          <a:xfrm>
            <a:off x="8677656" y="2029968"/>
            <a:ext cx="219456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Strategic frameworks</a:t>
            </a:r>
            <a:endParaRPr lang="en-US" sz="1200" dirty="0"/>
          </a:p>
        </p:txBody>
      </p:sp>
      <p:sp>
        <p:nvSpPr>
          <p:cNvPr id="19" name="Text 17"/>
          <p:cNvSpPr txBox="1"/>
          <p:nvPr/>
        </p:nvSpPr>
        <p:spPr>
          <a:xfrm>
            <a:off x="10853928" y="2029968"/>
            <a:ext cx="685800" cy="310896"/>
          </a:xfrm>
          <a:prstGeom prst="rect">
            <a:avLst/>
          </a:prstGeom>
          <a:noFill/>
          <a:ln/>
        </p:spPr>
        <p:txBody>
          <a:bodyPr wrap="square" lIns="0" tIns="0" rIns="0" bIns="0" rtlCol="0" anchor="ctr"/>
          <a:lstStyle/>
          <a:p>
            <a:pPr algn="r" indent="0" marL="0">
              <a:buNone/>
            </a:pPr>
            <a:r>
              <a:rPr lang="en-US" sz="900" dirty="0">
                <a:solidFill>
                  <a:srgbClr val="8FA8BE"/>
                </a:solidFill>
                <a:latin typeface="Calibri" pitchFamily="34" charset="0"/>
                <a:ea typeface="Calibri" pitchFamily="34" charset="-122"/>
                <a:cs typeface="Calibri" pitchFamily="34" charset="-120"/>
              </a:rPr>
              <a:t>C1-C6</a:t>
            </a:r>
            <a:endParaRPr lang="en-US" sz="900" dirty="0"/>
          </a:p>
        </p:txBody>
      </p:sp>
      <p:sp>
        <p:nvSpPr>
          <p:cNvPr id="20" name="Text 18"/>
          <p:cNvSpPr txBox="1"/>
          <p:nvPr/>
        </p:nvSpPr>
        <p:spPr>
          <a:xfrm>
            <a:off x="8202168" y="2395728"/>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Porter's five forces</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Helmer's seven powers</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Barriers to entry</a:t>
            </a:r>
            <a:endParaRPr lang="en-US" sz="800" dirty="0"/>
          </a:p>
        </p:txBody>
      </p:sp>
      <p:sp>
        <p:nvSpPr>
          <p:cNvPr id="21" name="Text 19"/>
          <p:cNvSpPr txBox="1"/>
          <p:nvPr/>
        </p:nvSpPr>
        <p:spPr>
          <a:xfrm>
            <a:off x="9884664" y="2395728"/>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SWOT</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Peer positioning</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Why not the other five</a:t>
            </a:r>
            <a:endParaRPr lang="en-US" sz="800" dirty="0"/>
          </a:p>
        </p:txBody>
      </p:sp>
      <p:sp>
        <p:nvSpPr>
          <p:cNvPr id="22" name="Shape 20"/>
          <p:cNvSpPr/>
          <p:nvPr/>
        </p:nvSpPr>
        <p:spPr>
          <a:xfrm>
            <a:off x="411480" y="4005072"/>
            <a:ext cx="3639312" cy="1883664"/>
          </a:xfrm>
          <a:prstGeom prst="rect">
            <a:avLst/>
          </a:prstGeom>
          <a:solidFill>
            <a:srgbClr val="16304C"/>
          </a:solidFill>
          <a:ln/>
        </p:spPr>
      </p:sp>
      <p:sp>
        <p:nvSpPr>
          <p:cNvPr id="23" name="Text 21"/>
          <p:cNvSpPr txBox="1"/>
          <p:nvPr/>
        </p:nvSpPr>
        <p:spPr>
          <a:xfrm>
            <a:off x="576072" y="4114800"/>
            <a:ext cx="457200" cy="310896"/>
          </a:xfrm>
          <a:prstGeom prst="rect">
            <a:avLst/>
          </a:prstGeom>
          <a:noFill/>
          <a:ln/>
        </p:spPr>
        <p:txBody>
          <a:bodyPr wrap="square" lIns="0" tIns="0" rIns="0" bIns="0" rtlCol="0" anchor="ctr"/>
          <a:lstStyle/>
          <a:p>
            <a:pPr indent="0" marL="0">
              <a:buNone/>
            </a:pPr>
            <a:r>
              <a:rPr lang="en-US" sz="1800" b="1" dirty="0">
                <a:solidFill>
                  <a:srgbClr val="0E7C6B"/>
                </a:solidFill>
                <a:latin typeface="Cambria" pitchFamily="34" charset="0"/>
                <a:ea typeface="Cambria" pitchFamily="34" charset="-122"/>
                <a:cs typeface="Cambria" pitchFamily="34" charset="-120"/>
              </a:rPr>
              <a:t>D</a:t>
            </a:r>
            <a:endParaRPr lang="en-US" sz="1800" dirty="0"/>
          </a:p>
        </p:txBody>
      </p:sp>
      <p:sp>
        <p:nvSpPr>
          <p:cNvPr id="24" name="Text 22"/>
          <p:cNvSpPr txBox="1"/>
          <p:nvPr/>
        </p:nvSpPr>
        <p:spPr>
          <a:xfrm>
            <a:off x="1069848" y="4114800"/>
            <a:ext cx="219456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ESG and shared value</a:t>
            </a:r>
            <a:endParaRPr lang="en-US" sz="1200" dirty="0"/>
          </a:p>
        </p:txBody>
      </p:sp>
      <p:sp>
        <p:nvSpPr>
          <p:cNvPr id="25" name="Text 23"/>
          <p:cNvSpPr txBox="1"/>
          <p:nvPr/>
        </p:nvSpPr>
        <p:spPr>
          <a:xfrm>
            <a:off x="3246120" y="4114800"/>
            <a:ext cx="685800" cy="310896"/>
          </a:xfrm>
          <a:prstGeom prst="rect">
            <a:avLst/>
          </a:prstGeom>
          <a:noFill/>
          <a:ln/>
        </p:spPr>
        <p:txBody>
          <a:bodyPr wrap="square" lIns="0" tIns="0" rIns="0" bIns="0" rtlCol="0" anchor="ctr"/>
          <a:lstStyle/>
          <a:p>
            <a:pPr algn="r" indent="0" marL="0">
              <a:buNone/>
            </a:pPr>
            <a:r>
              <a:rPr lang="en-US" sz="900" dirty="0">
                <a:solidFill>
                  <a:srgbClr val="8FA8BE"/>
                </a:solidFill>
                <a:latin typeface="Calibri" pitchFamily="34" charset="0"/>
                <a:ea typeface="Calibri" pitchFamily="34" charset="-122"/>
                <a:cs typeface="Calibri" pitchFamily="34" charset="-120"/>
              </a:rPr>
              <a:t>D1-D11</a:t>
            </a:r>
            <a:endParaRPr lang="en-US" sz="900" dirty="0"/>
          </a:p>
        </p:txBody>
      </p:sp>
      <p:sp>
        <p:nvSpPr>
          <p:cNvPr id="26" name="Text 24"/>
          <p:cNvSpPr txBox="1"/>
          <p:nvPr/>
        </p:nvSpPr>
        <p:spPr>
          <a:xfrm>
            <a:off x="594360" y="4480560"/>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Materiality now and in 2030</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Emissions and targets</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Power strategy</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Ore sorting case study</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Water</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Tailings and biodiversity</a:t>
            </a:r>
            <a:endParaRPr lang="en-US" sz="800" dirty="0"/>
          </a:p>
        </p:txBody>
      </p:sp>
      <p:sp>
        <p:nvSpPr>
          <p:cNvPr id="27" name="Text 25"/>
          <p:cNvSpPr txBox="1"/>
          <p:nvPr/>
        </p:nvSpPr>
        <p:spPr>
          <a:xfrm>
            <a:off x="2276856" y="4480560"/>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Traditional Owners</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Workforce and safety</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Governance</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ESG in remuneration</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Ratings and unverified items</a:t>
            </a:r>
            <a:endParaRPr lang="en-US" sz="800" dirty="0"/>
          </a:p>
        </p:txBody>
      </p:sp>
      <p:sp>
        <p:nvSpPr>
          <p:cNvPr id="28" name="Shape 26"/>
          <p:cNvSpPr/>
          <p:nvPr/>
        </p:nvSpPr>
        <p:spPr>
          <a:xfrm>
            <a:off x="4215384" y="4005072"/>
            <a:ext cx="3639312" cy="1883664"/>
          </a:xfrm>
          <a:prstGeom prst="rect">
            <a:avLst/>
          </a:prstGeom>
          <a:solidFill>
            <a:srgbClr val="16304C"/>
          </a:solidFill>
          <a:ln/>
        </p:spPr>
      </p:sp>
      <p:sp>
        <p:nvSpPr>
          <p:cNvPr id="29" name="Text 27"/>
          <p:cNvSpPr txBox="1"/>
          <p:nvPr/>
        </p:nvSpPr>
        <p:spPr>
          <a:xfrm>
            <a:off x="4379976" y="4114800"/>
            <a:ext cx="457200" cy="310896"/>
          </a:xfrm>
          <a:prstGeom prst="rect">
            <a:avLst/>
          </a:prstGeom>
          <a:noFill/>
          <a:ln/>
        </p:spPr>
        <p:txBody>
          <a:bodyPr wrap="square" lIns="0" tIns="0" rIns="0" bIns="0" rtlCol="0" anchor="ctr"/>
          <a:lstStyle/>
          <a:p>
            <a:pPr indent="0" marL="0">
              <a:buNone/>
            </a:pPr>
            <a:r>
              <a:rPr lang="en-US" sz="1800" b="1" dirty="0">
                <a:solidFill>
                  <a:srgbClr val="0E7C6B"/>
                </a:solidFill>
                <a:latin typeface="Cambria" pitchFamily="34" charset="0"/>
                <a:ea typeface="Cambria" pitchFamily="34" charset="-122"/>
                <a:cs typeface="Cambria" pitchFamily="34" charset="-120"/>
              </a:rPr>
              <a:t>E</a:t>
            </a:r>
            <a:endParaRPr lang="en-US" sz="1800" dirty="0"/>
          </a:p>
        </p:txBody>
      </p:sp>
      <p:sp>
        <p:nvSpPr>
          <p:cNvPr id="30" name="Text 28"/>
          <p:cNvSpPr txBox="1"/>
          <p:nvPr/>
        </p:nvSpPr>
        <p:spPr>
          <a:xfrm>
            <a:off x="4873752" y="4114800"/>
            <a:ext cx="219456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Valuation</a:t>
            </a:r>
            <a:endParaRPr lang="en-US" sz="1200" dirty="0"/>
          </a:p>
        </p:txBody>
      </p:sp>
      <p:sp>
        <p:nvSpPr>
          <p:cNvPr id="31" name="Text 29"/>
          <p:cNvSpPr txBox="1"/>
          <p:nvPr/>
        </p:nvSpPr>
        <p:spPr>
          <a:xfrm>
            <a:off x="7050024" y="4114800"/>
            <a:ext cx="685800" cy="310896"/>
          </a:xfrm>
          <a:prstGeom prst="rect">
            <a:avLst/>
          </a:prstGeom>
          <a:noFill/>
          <a:ln/>
        </p:spPr>
        <p:txBody>
          <a:bodyPr wrap="square" lIns="0" tIns="0" rIns="0" bIns="0" rtlCol="0" anchor="ctr"/>
          <a:lstStyle/>
          <a:p>
            <a:pPr algn="r" indent="0" marL="0">
              <a:buNone/>
            </a:pPr>
            <a:r>
              <a:rPr lang="en-US" sz="900" dirty="0">
                <a:solidFill>
                  <a:srgbClr val="8FA8BE"/>
                </a:solidFill>
                <a:latin typeface="Calibri" pitchFamily="34" charset="0"/>
                <a:ea typeface="Calibri" pitchFamily="34" charset="-122"/>
                <a:cs typeface="Calibri" pitchFamily="34" charset="-120"/>
              </a:rPr>
              <a:t>E1-E16</a:t>
            </a:r>
            <a:endParaRPr lang="en-US" sz="900" dirty="0"/>
          </a:p>
        </p:txBody>
      </p:sp>
      <p:sp>
        <p:nvSpPr>
          <p:cNvPr id="32" name="Text 30"/>
          <p:cNvSpPr txBox="1"/>
          <p:nvPr/>
        </p:nvSpPr>
        <p:spPr>
          <a:xfrm>
            <a:off x="4398264" y="4480560"/>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Model architecture</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WACC</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Price deck and convergence</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Production build</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Cost and capex build</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Income statement</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Balance sheet</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Cash flow</a:t>
            </a:r>
            <a:endParaRPr lang="en-US" sz="800" dirty="0"/>
          </a:p>
        </p:txBody>
      </p:sp>
      <p:sp>
        <p:nvSpPr>
          <p:cNvPr id="33" name="Text 31"/>
          <p:cNvSpPr txBox="1"/>
          <p:nvPr/>
        </p:nvSpPr>
        <p:spPr>
          <a:xfrm>
            <a:off x="6080760" y="4480560"/>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FCFF and DCF</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Bear case</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Bull case</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Mine life and terminal value</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Sensitivities</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Comparables and precedents</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Downstream option</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Monte Carlo simulation</a:t>
            </a:r>
            <a:endParaRPr lang="en-US" sz="800" dirty="0"/>
          </a:p>
        </p:txBody>
      </p:sp>
      <p:sp>
        <p:nvSpPr>
          <p:cNvPr id="34" name="Shape 32"/>
          <p:cNvSpPr/>
          <p:nvPr/>
        </p:nvSpPr>
        <p:spPr>
          <a:xfrm>
            <a:off x="8019288" y="4005072"/>
            <a:ext cx="3639312" cy="1883664"/>
          </a:xfrm>
          <a:prstGeom prst="rect">
            <a:avLst/>
          </a:prstGeom>
          <a:solidFill>
            <a:srgbClr val="16304C"/>
          </a:solidFill>
          <a:ln/>
        </p:spPr>
      </p:sp>
      <p:sp>
        <p:nvSpPr>
          <p:cNvPr id="35" name="Text 33"/>
          <p:cNvSpPr txBox="1"/>
          <p:nvPr/>
        </p:nvSpPr>
        <p:spPr>
          <a:xfrm>
            <a:off x="8183880" y="4114800"/>
            <a:ext cx="457200" cy="310896"/>
          </a:xfrm>
          <a:prstGeom prst="rect">
            <a:avLst/>
          </a:prstGeom>
          <a:noFill/>
          <a:ln/>
        </p:spPr>
        <p:txBody>
          <a:bodyPr wrap="square" lIns="0" tIns="0" rIns="0" bIns="0" rtlCol="0" anchor="ctr"/>
          <a:lstStyle/>
          <a:p>
            <a:pPr indent="0" marL="0">
              <a:buNone/>
            </a:pPr>
            <a:r>
              <a:rPr lang="en-US" sz="1800" b="1" dirty="0">
                <a:solidFill>
                  <a:srgbClr val="0E7C6B"/>
                </a:solidFill>
                <a:latin typeface="Cambria" pitchFamily="34" charset="0"/>
                <a:ea typeface="Cambria" pitchFamily="34" charset="-122"/>
                <a:cs typeface="Cambria" pitchFamily="34" charset="-120"/>
              </a:rPr>
              <a:t>F</a:t>
            </a:r>
            <a:endParaRPr lang="en-US" sz="1800" dirty="0"/>
          </a:p>
        </p:txBody>
      </p:sp>
      <p:sp>
        <p:nvSpPr>
          <p:cNvPr id="36" name="Text 34"/>
          <p:cNvSpPr txBox="1"/>
          <p:nvPr/>
        </p:nvSpPr>
        <p:spPr>
          <a:xfrm>
            <a:off x="8677656" y="4114800"/>
            <a:ext cx="2194560"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Risk and reference</a:t>
            </a:r>
            <a:endParaRPr lang="en-US" sz="1200" dirty="0"/>
          </a:p>
        </p:txBody>
      </p:sp>
      <p:sp>
        <p:nvSpPr>
          <p:cNvPr id="37" name="Text 35"/>
          <p:cNvSpPr txBox="1"/>
          <p:nvPr/>
        </p:nvSpPr>
        <p:spPr>
          <a:xfrm>
            <a:off x="10853928" y="4114800"/>
            <a:ext cx="685800" cy="310896"/>
          </a:xfrm>
          <a:prstGeom prst="rect">
            <a:avLst/>
          </a:prstGeom>
          <a:noFill/>
          <a:ln/>
        </p:spPr>
        <p:txBody>
          <a:bodyPr wrap="square" lIns="0" tIns="0" rIns="0" bIns="0" rtlCol="0" anchor="ctr"/>
          <a:lstStyle/>
          <a:p>
            <a:pPr algn="r" indent="0" marL="0">
              <a:buNone/>
            </a:pPr>
            <a:r>
              <a:rPr lang="en-US" sz="900" dirty="0">
                <a:solidFill>
                  <a:srgbClr val="8FA8BE"/>
                </a:solidFill>
                <a:latin typeface="Calibri" pitchFamily="34" charset="0"/>
                <a:ea typeface="Calibri" pitchFamily="34" charset="-122"/>
                <a:cs typeface="Calibri" pitchFamily="34" charset="-120"/>
              </a:rPr>
              <a:t>F1-F7</a:t>
            </a:r>
            <a:endParaRPr lang="en-US" sz="900" dirty="0"/>
          </a:p>
        </p:txBody>
      </p:sp>
      <p:sp>
        <p:nvSpPr>
          <p:cNvPr id="38" name="Text 36"/>
          <p:cNvSpPr txBox="1"/>
          <p:nvPr/>
        </p:nvSpPr>
        <p:spPr>
          <a:xfrm>
            <a:off x="8202168" y="4480560"/>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Full risk register</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Short interest</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Share price catalysts</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Broker views and register</a:t>
            </a:r>
            <a:endParaRPr lang="en-US" sz="800" dirty="0"/>
          </a:p>
        </p:txBody>
      </p:sp>
      <p:sp>
        <p:nvSpPr>
          <p:cNvPr id="39" name="Text 37"/>
          <p:cNvSpPr txBox="1"/>
          <p:nvPr/>
        </p:nvSpPr>
        <p:spPr>
          <a:xfrm>
            <a:off x="9884664" y="4480560"/>
            <a:ext cx="1645920" cy="1316736"/>
          </a:xfrm>
          <a:prstGeom prst="rect">
            <a:avLst/>
          </a:prstGeom>
          <a:noFill/>
          <a:ln/>
        </p:spPr>
        <p:txBody>
          <a:bodyPr wrap="square" lIns="0" tIns="0" rIns="0" bIns="0" rtlCol="0" anchor="t"/>
          <a:lstStyle/>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Gaps register</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Glossary</a:t>
            </a:r>
            <a:endParaRPr lang="en-US" sz="800" dirty="0"/>
          </a:p>
          <a:p>
            <a:pPr indent="0" marL="0">
              <a:lnSpc>
                <a:spcPct val="110000"/>
              </a:lnSpc>
              <a:buNone/>
            </a:pPr>
            <a:r>
              <a:rPr lang="en-US" sz="800" dirty="0">
                <a:solidFill>
                  <a:srgbClr val="C9D8E6"/>
                </a:solidFill>
                <a:latin typeface="Calibri" pitchFamily="34" charset="0"/>
                <a:ea typeface="Calibri" pitchFamily="34" charset="-122"/>
                <a:cs typeface="Calibri" pitchFamily="34" charset="-120"/>
              </a:rPr>
              <a:t>▪  Bibliography</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A single 100%-owned operation in the Pilbara with two processing plants, supplying customers in China and a joint venture in Korea.</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A1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514600" cy="9144"/>
          </a:xfrm>
          <a:prstGeom prst="rect">
            <a:avLst/>
          </a:prstGeom>
          <a:solidFill>
            <a:srgbClr val="10233A"/>
          </a:solidFill>
          <a:ln/>
        </p:spPr>
      </p:sp>
      <p:sp>
        <p:nvSpPr>
          <p:cNvPr id="8" name="Text 6"/>
          <p:cNvSpPr txBox="1"/>
          <p:nvPr/>
        </p:nvSpPr>
        <p:spPr>
          <a:xfrm>
            <a:off x="475488" y="1298448"/>
            <a:ext cx="2386584" cy="9144"/>
          </a:xfrm>
          <a:prstGeom prst="rect">
            <a:avLst/>
          </a:prstGeom>
          <a:noFill/>
          <a:ln/>
        </p:spPr>
        <p:txBody>
          <a:bodyPr wrap="square" lIns="0" tIns="0" rIns="0" bIns="0" rtlCol="0" anchor="ctr"/>
          <a:lstStyle/>
          <a:p>
            <a:pPr algn="l" indent="0" marL="0">
              <a:buNone/>
            </a:pPr>
            <a:endParaRPr lang="en-US" sz="900" dirty="0"/>
          </a:p>
        </p:txBody>
      </p:sp>
      <p:sp>
        <p:nvSpPr>
          <p:cNvPr id="9" name="Shape 7"/>
          <p:cNvSpPr/>
          <p:nvPr/>
        </p:nvSpPr>
        <p:spPr>
          <a:xfrm>
            <a:off x="2926080" y="1298448"/>
            <a:ext cx="8860536" cy="9144"/>
          </a:xfrm>
          <a:prstGeom prst="rect">
            <a:avLst/>
          </a:prstGeom>
          <a:solidFill>
            <a:srgbClr val="10233A"/>
          </a:solidFill>
          <a:ln/>
        </p:spPr>
      </p:sp>
      <p:sp>
        <p:nvSpPr>
          <p:cNvPr id="10" name="Text 8"/>
          <p:cNvSpPr txBox="1"/>
          <p:nvPr/>
        </p:nvSpPr>
        <p:spPr>
          <a:xfrm>
            <a:off x="2990088" y="1298448"/>
            <a:ext cx="8732520" cy="9144"/>
          </a:xfrm>
          <a:prstGeom prst="rect">
            <a:avLst/>
          </a:prstGeom>
          <a:noFill/>
          <a:ln/>
        </p:spPr>
        <p:txBody>
          <a:bodyPr wrap="square" lIns="0" tIns="0" rIns="0" bIns="0" rtlCol="0" anchor="ctr"/>
          <a:lstStyle/>
          <a:p>
            <a:pPr algn="l" indent="0" marL="0">
              <a:buNone/>
            </a:pPr>
            <a:endParaRPr lang="en-US" sz="900" dirty="0"/>
          </a:p>
        </p:txBody>
      </p:sp>
      <p:sp>
        <p:nvSpPr>
          <p:cNvPr id="11" name="Shape 9"/>
          <p:cNvSpPr/>
          <p:nvPr/>
        </p:nvSpPr>
        <p:spPr>
          <a:xfrm>
            <a:off x="411480" y="1307592"/>
            <a:ext cx="2514600" cy="306324"/>
          </a:xfrm>
          <a:prstGeom prst="rect">
            <a:avLst/>
          </a:prstGeom>
          <a:solidFill>
            <a:srgbClr val="FFFFFF"/>
          </a:solidFill>
          <a:ln w="6350">
            <a:solidFill>
              <a:srgbClr val="D3DCE5"/>
            </a:solidFill>
            <a:prstDash val="solid"/>
          </a:ln>
        </p:spPr>
      </p:sp>
      <p:sp>
        <p:nvSpPr>
          <p:cNvPr id="12" name="Text 10"/>
          <p:cNvSpPr txBox="1"/>
          <p:nvPr/>
        </p:nvSpPr>
        <p:spPr>
          <a:xfrm>
            <a:off x="475488" y="1307592"/>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Location</a:t>
            </a:r>
            <a:endParaRPr lang="en-US" sz="900" dirty="0"/>
          </a:p>
        </p:txBody>
      </p:sp>
      <p:sp>
        <p:nvSpPr>
          <p:cNvPr id="13" name="Shape 11"/>
          <p:cNvSpPr/>
          <p:nvPr/>
        </p:nvSpPr>
        <p:spPr>
          <a:xfrm>
            <a:off x="2926080" y="1307592"/>
            <a:ext cx="8860536" cy="306324"/>
          </a:xfrm>
          <a:prstGeom prst="rect">
            <a:avLst/>
          </a:prstGeom>
          <a:solidFill>
            <a:srgbClr val="FFFFFF"/>
          </a:solidFill>
          <a:ln w="6350">
            <a:solidFill>
              <a:srgbClr val="D3DCE5"/>
            </a:solidFill>
            <a:prstDash val="solid"/>
          </a:ln>
        </p:spPr>
      </p:sp>
      <p:sp>
        <p:nvSpPr>
          <p:cNvPr id="14" name="Text 12"/>
          <p:cNvSpPr txBox="1"/>
          <p:nvPr/>
        </p:nvSpPr>
        <p:spPr>
          <a:xfrm>
            <a:off x="2990088" y="1307592"/>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Pilbara region, Western Australia, about 120km from Port Hedland</a:t>
            </a:r>
            <a:endParaRPr lang="en-US" sz="900" dirty="0"/>
          </a:p>
        </p:txBody>
      </p:sp>
      <p:sp>
        <p:nvSpPr>
          <p:cNvPr id="15" name="Shape 13"/>
          <p:cNvSpPr/>
          <p:nvPr/>
        </p:nvSpPr>
        <p:spPr>
          <a:xfrm>
            <a:off x="411480" y="1613916"/>
            <a:ext cx="2514600" cy="306324"/>
          </a:xfrm>
          <a:prstGeom prst="rect">
            <a:avLst/>
          </a:prstGeom>
          <a:solidFill>
            <a:srgbClr val="F7F9FB"/>
          </a:solidFill>
          <a:ln w="6350">
            <a:solidFill>
              <a:srgbClr val="D3DCE5"/>
            </a:solidFill>
            <a:prstDash val="solid"/>
          </a:ln>
        </p:spPr>
      </p:sp>
      <p:sp>
        <p:nvSpPr>
          <p:cNvPr id="16" name="Text 14"/>
          <p:cNvSpPr txBox="1"/>
          <p:nvPr/>
        </p:nvSpPr>
        <p:spPr>
          <a:xfrm>
            <a:off x="475488" y="1613916"/>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Ownership</a:t>
            </a:r>
            <a:endParaRPr lang="en-US" sz="900" dirty="0"/>
          </a:p>
        </p:txBody>
      </p:sp>
      <p:sp>
        <p:nvSpPr>
          <p:cNvPr id="17" name="Shape 15"/>
          <p:cNvSpPr/>
          <p:nvPr/>
        </p:nvSpPr>
        <p:spPr>
          <a:xfrm>
            <a:off x="2926080" y="1613916"/>
            <a:ext cx="8860536" cy="306324"/>
          </a:xfrm>
          <a:prstGeom prst="rect">
            <a:avLst/>
          </a:prstGeom>
          <a:solidFill>
            <a:srgbClr val="F7F9FB"/>
          </a:solidFill>
          <a:ln w="6350">
            <a:solidFill>
              <a:srgbClr val="D3DCE5"/>
            </a:solidFill>
            <a:prstDash val="solid"/>
          </a:ln>
        </p:spPr>
      </p:sp>
      <p:sp>
        <p:nvSpPr>
          <p:cNvPr id="18" name="Text 16"/>
          <p:cNvSpPr txBox="1"/>
          <p:nvPr/>
        </p:nvSpPr>
        <p:spPr>
          <a:xfrm>
            <a:off x="2990088" y="1613916"/>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100% PLS Group</a:t>
            </a:r>
            <a:endParaRPr lang="en-US" sz="900" dirty="0"/>
          </a:p>
        </p:txBody>
      </p:sp>
      <p:sp>
        <p:nvSpPr>
          <p:cNvPr id="19" name="Shape 17"/>
          <p:cNvSpPr/>
          <p:nvPr/>
        </p:nvSpPr>
        <p:spPr>
          <a:xfrm>
            <a:off x="411480" y="1920240"/>
            <a:ext cx="2514600" cy="306324"/>
          </a:xfrm>
          <a:prstGeom prst="rect">
            <a:avLst/>
          </a:prstGeom>
          <a:solidFill>
            <a:srgbClr val="FFFFFF"/>
          </a:solidFill>
          <a:ln w="6350">
            <a:solidFill>
              <a:srgbClr val="D3DCE5"/>
            </a:solidFill>
            <a:prstDash val="solid"/>
          </a:ln>
        </p:spPr>
      </p:sp>
      <p:sp>
        <p:nvSpPr>
          <p:cNvPr id="20" name="Text 18"/>
          <p:cNvSpPr txBox="1"/>
          <p:nvPr/>
        </p:nvSpPr>
        <p:spPr>
          <a:xfrm>
            <a:off x="475488" y="1920240"/>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Mineral Resource</a:t>
            </a:r>
            <a:endParaRPr lang="en-US" sz="900" dirty="0"/>
          </a:p>
        </p:txBody>
      </p:sp>
      <p:sp>
        <p:nvSpPr>
          <p:cNvPr id="21" name="Shape 19"/>
          <p:cNvSpPr/>
          <p:nvPr/>
        </p:nvSpPr>
        <p:spPr>
          <a:xfrm>
            <a:off x="2926080" y="1920240"/>
            <a:ext cx="8860536" cy="306324"/>
          </a:xfrm>
          <a:prstGeom prst="rect">
            <a:avLst/>
          </a:prstGeom>
          <a:solidFill>
            <a:srgbClr val="FFFFFF"/>
          </a:solidFill>
          <a:ln w="6350">
            <a:solidFill>
              <a:srgbClr val="D3DCE5"/>
            </a:solidFill>
            <a:prstDash val="solid"/>
          </a:ln>
        </p:spPr>
      </p:sp>
      <p:sp>
        <p:nvSpPr>
          <p:cNvPr id="22" name="Text 20"/>
          <p:cNvSpPr txBox="1"/>
          <p:nvPr/>
        </p:nvSpPr>
        <p:spPr>
          <a:xfrm>
            <a:off x="2990088" y="1920240"/>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446Mt at 1.28% Li2O, containing 5.7Mt Li2O (June 2025 update, +23% contained lithium)</a:t>
            </a:r>
            <a:endParaRPr lang="en-US" sz="900" dirty="0"/>
          </a:p>
        </p:txBody>
      </p:sp>
      <p:sp>
        <p:nvSpPr>
          <p:cNvPr id="23" name="Shape 21"/>
          <p:cNvSpPr/>
          <p:nvPr/>
        </p:nvSpPr>
        <p:spPr>
          <a:xfrm>
            <a:off x="411480" y="2226564"/>
            <a:ext cx="2514600" cy="306324"/>
          </a:xfrm>
          <a:prstGeom prst="rect">
            <a:avLst/>
          </a:prstGeom>
          <a:solidFill>
            <a:srgbClr val="F7F9FB"/>
          </a:solidFill>
          <a:ln w="6350">
            <a:solidFill>
              <a:srgbClr val="D3DCE5"/>
            </a:solidFill>
            <a:prstDash val="solid"/>
          </a:ln>
        </p:spPr>
      </p:sp>
      <p:sp>
        <p:nvSpPr>
          <p:cNvPr id="24" name="Text 22"/>
          <p:cNvSpPr txBox="1"/>
          <p:nvPr/>
        </p:nvSpPr>
        <p:spPr>
          <a:xfrm>
            <a:off x="475488" y="2226564"/>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Measured and Indicated</a:t>
            </a:r>
            <a:endParaRPr lang="en-US" sz="900" dirty="0"/>
          </a:p>
        </p:txBody>
      </p:sp>
      <p:sp>
        <p:nvSpPr>
          <p:cNvPr id="25" name="Shape 23"/>
          <p:cNvSpPr/>
          <p:nvPr/>
        </p:nvSpPr>
        <p:spPr>
          <a:xfrm>
            <a:off x="2926080" y="2226564"/>
            <a:ext cx="8860536" cy="306324"/>
          </a:xfrm>
          <a:prstGeom prst="rect">
            <a:avLst/>
          </a:prstGeom>
          <a:solidFill>
            <a:srgbClr val="F7F9FB"/>
          </a:solidFill>
          <a:ln w="6350">
            <a:solidFill>
              <a:srgbClr val="D3DCE5"/>
            </a:solidFill>
            <a:prstDash val="solid"/>
          </a:ln>
        </p:spPr>
      </p:sp>
      <p:sp>
        <p:nvSpPr>
          <p:cNvPr id="26" name="Text 24"/>
          <p:cNvSpPr txBox="1"/>
          <p:nvPr/>
        </p:nvSpPr>
        <p:spPr>
          <a:xfrm>
            <a:off x="2990088" y="2226564"/>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376Mt at 1.29% Li2O</a:t>
            </a:r>
            <a:endParaRPr lang="en-US" sz="900" dirty="0"/>
          </a:p>
        </p:txBody>
      </p:sp>
      <p:sp>
        <p:nvSpPr>
          <p:cNvPr id="27" name="Shape 25"/>
          <p:cNvSpPr/>
          <p:nvPr/>
        </p:nvSpPr>
        <p:spPr>
          <a:xfrm>
            <a:off x="411480" y="2532888"/>
            <a:ext cx="2514600" cy="306324"/>
          </a:xfrm>
          <a:prstGeom prst="rect">
            <a:avLst/>
          </a:prstGeom>
          <a:solidFill>
            <a:srgbClr val="FFFFFF"/>
          </a:solidFill>
          <a:ln w="6350">
            <a:solidFill>
              <a:srgbClr val="D3DCE5"/>
            </a:solidFill>
            <a:prstDash val="solid"/>
          </a:ln>
        </p:spPr>
      </p:sp>
      <p:sp>
        <p:nvSpPr>
          <p:cNvPr id="28" name="Text 26"/>
          <p:cNvSpPr txBox="1"/>
          <p:nvPr/>
        </p:nvSpPr>
        <p:spPr>
          <a:xfrm>
            <a:off x="475488" y="2532888"/>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Ore Reserve</a:t>
            </a:r>
            <a:endParaRPr lang="en-US" sz="900" dirty="0"/>
          </a:p>
        </p:txBody>
      </p:sp>
      <p:sp>
        <p:nvSpPr>
          <p:cNvPr id="29" name="Shape 27"/>
          <p:cNvSpPr/>
          <p:nvPr/>
        </p:nvSpPr>
        <p:spPr>
          <a:xfrm>
            <a:off x="2926080" y="2532888"/>
            <a:ext cx="8860536" cy="306324"/>
          </a:xfrm>
          <a:prstGeom prst="rect">
            <a:avLst/>
          </a:prstGeom>
          <a:solidFill>
            <a:srgbClr val="FFFFFF"/>
          </a:solidFill>
          <a:ln w="6350">
            <a:solidFill>
              <a:srgbClr val="D3DCE5"/>
            </a:solidFill>
            <a:prstDash val="solid"/>
          </a:ln>
        </p:spPr>
      </p:sp>
      <p:sp>
        <p:nvSpPr>
          <p:cNvPr id="30" name="Text 28"/>
          <p:cNvSpPr txBox="1"/>
          <p:nvPr/>
        </p:nvSpPr>
        <p:spPr>
          <a:xfrm>
            <a:off x="2990088" y="2532888"/>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214Mt at 1.19% Li2O - stated August 2023 and not restated since the 2025 resource upgrade</a:t>
            </a:r>
            <a:endParaRPr lang="en-US" sz="900" dirty="0"/>
          </a:p>
        </p:txBody>
      </p:sp>
      <p:sp>
        <p:nvSpPr>
          <p:cNvPr id="31" name="Shape 29"/>
          <p:cNvSpPr/>
          <p:nvPr/>
        </p:nvSpPr>
        <p:spPr>
          <a:xfrm>
            <a:off x="411480" y="2839212"/>
            <a:ext cx="2514600" cy="306324"/>
          </a:xfrm>
          <a:prstGeom prst="rect">
            <a:avLst/>
          </a:prstGeom>
          <a:solidFill>
            <a:srgbClr val="F7F9FB"/>
          </a:solidFill>
          <a:ln w="6350">
            <a:solidFill>
              <a:srgbClr val="D3DCE5"/>
            </a:solidFill>
            <a:prstDash val="solid"/>
          </a:ln>
        </p:spPr>
      </p:sp>
      <p:sp>
        <p:nvSpPr>
          <p:cNvPr id="32" name="Text 30"/>
          <p:cNvSpPr txBox="1"/>
          <p:nvPr/>
        </p:nvSpPr>
        <p:spPr>
          <a:xfrm>
            <a:off x="475488" y="2839212"/>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Processing plants</a:t>
            </a:r>
            <a:endParaRPr lang="en-US" sz="900" dirty="0"/>
          </a:p>
        </p:txBody>
      </p:sp>
      <p:sp>
        <p:nvSpPr>
          <p:cNvPr id="33" name="Shape 31"/>
          <p:cNvSpPr/>
          <p:nvPr/>
        </p:nvSpPr>
        <p:spPr>
          <a:xfrm>
            <a:off x="2926080" y="2839212"/>
            <a:ext cx="8860536" cy="306324"/>
          </a:xfrm>
          <a:prstGeom prst="rect">
            <a:avLst/>
          </a:prstGeom>
          <a:solidFill>
            <a:srgbClr val="F7F9FB"/>
          </a:solidFill>
          <a:ln w="6350">
            <a:solidFill>
              <a:srgbClr val="D3DCE5"/>
            </a:solidFill>
            <a:prstDash val="solid"/>
          </a:ln>
        </p:spPr>
      </p:sp>
      <p:sp>
        <p:nvSpPr>
          <p:cNvPr id="34" name="Text 32"/>
          <p:cNvSpPr txBox="1"/>
          <p:nvPr/>
        </p:nvSpPr>
        <p:spPr>
          <a:xfrm>
            <a:off x="2990088" y="2839212"/>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Pilgan plant (about 1.0Mtpa after P1000) and Ngungaju plant (about 200ktpa, restarted July 2026)</a:t>
            </a:r>
            <a:endParaRPr lang="en-US" sz="900" dirty="0"/>
          </a:p>
        </p:txBody>
      </p:sp>
      <p:sp>
        <p:nvSpPr>
          <p:cNvPr id="35" name="Shape 33"/>
          <p:cNvSpPr/>
          <p:nvPr/>
        </p:nvSpPr>
        <p:spPr>
          <a:xfrm>
            <a:off x="411480" y="3145536"/>
            <a:ext cx="2514600" cy="306324"/>
          </a:xfrm>
          <a:prstGeom prst="rect">
            <a:avLst/>
          </a:prstGeom>
          <a:solidFill>
            <a:srgbClr val="FFFFFF"/>
          </a:solidFill>
          <a:ln w="6350">
            <a:solidFill>
              <a:srgbClr val="D3DCE5"/>
            </a:solidFill>
            <a:prstDash val="solid"/>
          </a:ln>
        </p:spPr>
      </p:sp>
      <p:sp>
        <p:nvSpPr>
          <p:cNvPr id="36" name="Text 34"/>
          <p:cNvSpPr txBox="1"/>
          <p:nvPr/>
        </p:nvSpPr>
        <p:spPr>
          <a:xfrm>
            <a:off x="475488" y="3145536"/>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Product</a:t>
            </a:r>
            <a:endParaRPr lang="en-US" sz="900" dirty="0"/>
          </a:p>
        </p:txBody>
      </p:sp>
      <p:sp>
        <p:nvSpPr>
          <p:cNvPr id="37" name="Shape 35"/>
          <p:cNvSpPr/>
          <p:nvPr/>
        </p:nvSpPr>
        <p:spPr>
          <a:xfrm>
            <a:off x="2926080" y="3145536"/>
            <a:ext cx="8860536" cy="306324"/>
          </a:xfrm>
          <a:prstGeom prst="rect">
            <a:avLst/>
          </a:prstGeom>
          <a:solidFill>
            <a:srgbClr val="FFFFFF"/>
          </a:solidFill>
          <a:ln w="6350">
            <a:solidFill>
              <a:srgbClr val="D3DCE5"/>
            </a:solidFill>
            <a:prstDash val="solid"/>
          </a:ln>
        </p:spPr>
      </p:sp>
      <p:sp>
        <p:nvSpPr>
          <p:cNvPr id="38" name="Text 36"/>
          <p:cNvSpPr txBox="1"/>
          <p:nvPr/>
        </p:nvSpPr>
        <p:spPr>
          <a:xfrm>
            <a:off x="2990088" y="3145536"/>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Spodumene concentrate at roughly 5.2% Li2O, shipped FOB Port Hedland</a:t>
            </a:r>
            <a:endParaRPr lang="en-US" sz="900" dirty="0"/>
          </a:p>
        </p:txBody>
      </p:sp>
      <p:sp>
        <p:nvSpPr>
          <p:cNvPr id="39" name="Shape 37"/>
          <p:cNvSpPr/>
          <p:nvPr/>
        </p:nvSpPr>
        <p:spPr>
          <a:xfrm>
            <a:off x="411480" y="3451860"/>
            <a:ext cx="2514600" cy="306324"/>
          </a:xfrm>
          <a:prstGeom prst="rect">
            <a:avLst/>
          </a:prstGeom>
          <a:solidFill>
            <a:srgbClr val="F7F9FB"/>
          </a:solidFill>
          <a:ln w="6350">
            <a:solidFill>
              <a:srgbClr val="D3DCE5"/>
            </a:solidFill>
            <a:prstDash val="solid"/>
          </a:ln>
        </p:spPr>
      </p:sp>
      <p:sp>
        <p:nvSpPr>
          <p:cNvPr id="40" name="Text 38"/>
          <p:cNvSpPr txBox="1"/>
          <p:nvPr/>
        </p:nvSpPr>
        <p:spPr>
          <a:xfrm>
            <a:off x="475488" y="3451860"/>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Lithia recovery</a:t>
            </a:r>
            <a:endParaRPr lang="en-US" sz="900" dirty="0"/>
          </a:p>
        </p:txBody>
      </p:sp>
      <p:sp>
        <p:nvSpPr>
          <p:cNvPr id="41" name="Shape 39"/>
          <p:cNvSpPr/>
          <p:nvPr/>
        </p:nvSpPr>
        <p:spPr>
          <a:xfrm>
            <a:off x="2926080" y="3451860"/>
            <a:ext cx="8860536" cy="306324"/>
          </a:xfrm>
          <a:prstGeom prst="rect">
            <a:avLst/>
          </a:prstGeom>
          <a:solidFill>
            <a:srgbClr val="F7F9FB"/>
          </a:solidFill>
          <a:ln w="6350">
            <a:solidFill>
              <a:srgbClr val="D3DCE5"/>
            </a:solidFill>
            <a:prstDash val="solid"/>
          </a:ln>
        </p:spPr>
      </p:sp>
      <p:sp>
        <p:nvSpPr>
          <p:cNvPr id="42" name="Text 40"/>
          <p:cNvSpPr txBox="1"/>
          <p:nvPr/>
        </p:nvSpPr>
        <p:spPr>
          <a:xfrm>
            <a:off x="2990088" y="3451860"/>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About 76.5% in FY26</a:t>
            </a:r>
            <a:endParaRPr lang="en-US" sz="900" dirty="0"/>
          </a:p>
        </p:txBody>
      </p:sp>
      <p:sp>
        <p:nvSpPr>
          <p:cNvPr id="43" name="Shape 41"/>
          <p:cNvSpPr/>
          <p:nvPr/>
        </p:nvSpPr>
        <p:spPr>
          <a:xfrm>
            <a:off x="411480" y="3758184"/>
            <a:ext cx="2514600" cy="306324"/>
          </a:xfrm>
          <a:prstGeom prst="rect">
            <a:avLst/>
          </a:prstGeom>
          <a:solidFill>
            <a:srgbClr val="FFFFFF"/>
          </a:solidFill>
          <a:ln w="6350">
            <a:solidFill>
              <a:srgbClr val="D3DCE5"/>
            </a:solidFill>
            <a:prstDash val="solid"/>
          </a:ln>
        </p:spPr>
      </p:sp>
      <p:sp>
        <p:nvSpPr>
          <p:cNvPr id="44" name="Text 42"/>
          <p:cNvSpPr txBox="1"/>
          <p:nvPr/>
        </p:nvSpPr>
        <p:spPr>
          <a:xfrm>
            <a:off x="475488" y="3758184"/>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FY26 production</a:t>
            </a:r>
            <a:endParaRPr lang="en-US" sz="900" dirty="0"/>
          </a:p>
        </p:txBody>
      </p:sp>
      <p:sp>
        <p:nvSpPr>
          <p:cNvPr id="45" name="Shape 43"/>
          <p:cNvSpPr/>
          <p:nvPr/>
        </p:nvSpPr>
        <p:spPr>
          <a:xfrm>
            <a:off x="2926080" y="3758184"/>
            <a:ext cx="8860536" cy="306324"/>
          </a:xfrm>
          <a:prstGeom prst="rect">
            <a:avLst/>
          </a:prstGeom>
          <a:solidFill>
            <a:srgbClr val="FFFFFF"/>
          </a:solidFill>
          <a:ln w="6350">
            <a:solidFill>
              <a:srgbClr val="D3DCE5"/>
            </a:solidFill>
            <a:prstDash val="solid"/>
          </a:ln>
        </p:spPr>
      </p:sp>
      <p:sp>
        <p:nvSpPr>
          <p:cNvPr id="46" name="Text 44"/>
          <p:cNvSpPr txBox="1"/>
          <p:nvPr/>
        </p:nvSpPr>
        <p:spPr>
          <a:xfrm>
            <a:off x="2990088" y="3758184"/>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879,500 dry metric tonnes, up 17%, ahead of guidance of 820,000-870,000t</a:t>
            </a:r>
            <a:endParaRPr lang="en-US" sz="900" dirty="0"/>
          </a:p>
        </p:txBody>
      </p:sp>
      <p:sp>
        <p:nvSpPr>
          <p:cNvPr id="47" name="Shape 45"/>
          <p:cNvSpPr/>
          <p:nvPr/>
        </p:nvSpPr>
        <p:spPr>
          <a:xfrm>
            <a:off x="411480" y="4064508"/>
            <a:ext cx="2514600" cy="306324"/>
          </a:xfrm>
          <a:prstGeom prst="rect">
            <a:avLst/>
          </a:prstGeom>
          <a:solidFill>
            <a:srgbClr val="F7F9FB"/>
          </a:solidFill>
          <a:ln w="6350">
            <a:solidFill>
              <a:srgbClr val="D3DCE5"/>
            </a:solidFill>
            <a:prstDash val="solid"/>
          </a:ln>
        </p:spPr>
      </p:sp>
      <p:sp>
        <p:nvSpPr>
          <p:cNvPr id="48" name="Text 46"/>
          <p:cNvSpPr txBox="1"/>
          <p:nvPr/>
        </p:nvSpPr>
        <p:spPr>
          <a:xfrm>
            <a:off x="475488" y="4064508"/>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Power</a:t>
            </a:r>
            <a:endParaRPr lang="en-US" sz="900" dirty="0"/>
          </a:p>
        </p:txBody>
      </p:sp>
      <p:sp>
        <p:nvSpPr>
          <p:cNvPr id="49" name="Shape 47"/>
          <p:cNvSpPr/>
          <p:nvPr/>
        </p:nvSpPr>
        <p:spPr>
          <a:xfrm>
            <a:off x="2926080" y="4064508"/>
            <a:ext cx="8860536" cy="306324"/>
          </a:xfrm>
          <a:prstGeom prst="rect">
            <a:avLst/>
          </a:prstGeom>
          <a:solidFill>
            <a:srgbClr val="F7F9FB"/>
          </a:solidFill>
          <a:ln w="6350">
            <a:solidFill>
              <a:srgbClr val="D3DCE5"/>
            </a:solidFill>
            <a:prstDash val="solid"/>
          </a:ln>
        </p:spPr>
      </p:sp>
      <p:sp>
        <p:nvSpPr>
          <p:cNvPr id="50" name="Text 48"/>
          <p:cNvSpPr txBox="1"/>
          <p:nvPr/>
        </p:nvSpPr>
        <p:spPr>
          <a:xfrm>
            <a:off x="2990088" y="4064508"/>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Site generation: gas gensets with LNG storage, displacing diesel; battery storage planned to firm future solar</a:t>
            </a:r>
            <a:endParaRPr lang="en-US" sz="900" dirty="0"/>
          </a:p>
        </p:txBody>
      </p:sp>
      <p:sp>
        <p:nvSpPr>
          <p:cNvPr id="51" name="Shape 49"/>
          <p:cNvSpPr/>
          <p:nvPr/>
        </p:nvSpPr>
        <p:spPr>
          <a:xfrm>
            <a:off x="411480" y="4370832"/>
            <a:ext cx="2514600" cy="306324"/>
          </a:xfrm>
          <a:prstGeom prst="rect">
            <a:avLst/>
          </a:prstGeom>
          <a:solidFill>
            <a:srgbClr val="FFFFFF"/>
          </a:solidFill>
          <a:ln w="6350">
            <a:solidFill>
              <a:srgbClr val="D3DCE5"/>
            </a:solidFill>
            <a:prstDash val="solid"/>
          </a:ln>
        </p:spPr>
      </p:sp>
      <p:sp>
        <p:nvSpPr>
          <p:cNvPr id="52" name="Text 50"/>
          <p:cNvSpPr txBox="1"/>
          <p:nvPr/>
        </p:nvSpPr>
        <p:spPr>
          <a:xfrm>
            <a:off x="475488" y="4370832"/>
            <a:ext cx="2386584" cy="306324"/>
          </a:xfrm>
          <a:prstGeom prst="rect">
            <a:avLst/>
          </a:prstGeom>
          <a:noFill/>
          <a:ln/>
        </p:spPr>
        <p:txBody>
          <a:bodyPr wrap="square" lIns="0" tIns="0" rIns="0" bIns="0" rtlCol="0" anchor="ctr"/>
          <a:lstStyle/>
          <a:p>
            <a:pPr algn="l" indent="0" marL="0">
              <a:buNone/>
            </a:pPr>
            <a:r>
              <a:rPr lang="en-US" sz="900" b="1" dirty="0">
                <a:solidFill>
                  <a:srgbClr val="1B2733"/>
                </a:solidFill>
                <a:latin typeface="Calibri" pitchFamily="34" charset="0"/>
                <a:ea typeface="Calibri" pitchFamily="34" charset="-122"/>
                <a:cs typeface="Calibri" pitchFamily="34" charset="-120"/>
              </a:rPr>
              <a:t>Water</a:t>
            </a:r>
            <a:endParaRPr lang="en-US" sz="900" dirty="0"/>
          </a:p>
        </p:txBody>
      </p:sp>
      <p:sp>
        <p:nvSpPr>
          <p:cNvPr id="53" name="Shape 51"/>
          <p:cNvSpPr/>
          <p:nvPr/>
        </p:nvSpPr>
        <p:spPr>
          <a:xfrm>
            <a:off x="2926080" y="4370832"/>
            <a:ext cx="8860536" cy="306324"/>
          </a:xfrm>
          <a:prstGeom prst="rect">
            <a:avLst/>
          </a:prstGeom>
          <a:solidFill>
            <a:srgbClr val="FFFFFF"/>
          </a:solidFill>
          <a:ln w="6350">
            <a:solidFill>
              <a:srgbClr val="D3DCE5"/>
            </a:solidFill>
            <a:prstDash val="solid"/>
          </a:ln>
        </p:spPr>
      </p:sp>
      <p:sp>
        <p:nvSpPr>
          <p:cNvPr id="54" name="Text 52"/>
          <p:cNvSpPr txBox="1"/>
          <p:nvPr/>
        </p:nvSpPr>
        <p:spPr>
          <a:xfrm>
            <a:off x="2990088" y="4370832"/>
            <a:ext cx="8732520" cy="306324"/>
          </a:xfrm>
          <a:prstGeom prst="rect">
            <a:avLst/>
          </a:prstGeom>
          <a:noFill/>
          <a:ln/>
        </p:spPr>
        <p:txBody>
          <a:bodyPr wrap="square" lIns="0" tIns="0" rIns="0" bIns="0" rtlCol="0" anchor="ctr"/>
          <a:lstStyle/>
          <a:p>
            <a:pPr algn="l" indent="0" marL="0">
              <a:buNone/>
            </a:pPr>
            <a:r>
              <a:rPr lang="en-US" sz="900" dirty="0">
                <a:solidFill>
                  <a:srgbClr val="1B2733"/>
                </a:solidFill>
                <a:latin typeface="Calibri" pitchFamily="34" charset="0"/>
                <a:ea typeface="Calibri" pitchFamily="34" charset="-122"/>
                <a:cs typeface="Calibri" pitchFamily="34" charset="-120"/>
              </a:rPr>
              <a:t>Saline groundwater from the Pilbara fractured-rock aquifer, with reverse osmosis on site for potable supply</a:t>
            </a:r>
            <a:endParaRPr lang="en-US" sz="900" dirty="0"/>
          </a:p>
        </p:txBody>
      </p:sp>
      <p:sp>
        <p:nvSpPr>
          <p:cNvPr id="55" name="Shape 53"/>
          <p:cNvSpPr/>
          <p:nvPr/>
        </p:nvSpPr>
        <p:spPr>
          <a:xfrm>
            <a:off x="411480" y="4864608"/>
            <a:ext cx="5577840" cy="1170432"/>
          </a:xfrm>
          <a:prstGeom prst="rect">
            <a:avLst/>
          </a:prstGeom>
          <a:solidFill>
            <a:srgbClr val="FBEBD9"/>
          </a:solidFill>
          <a:ln w="9525">
            <a:solidFill>
              <a:srgbClr val="E8C9A3"/>
            </a:solidFill>
            <a:prstDash val="solid"/>
          </a:ln>
        </p:spPr>
      </p:sp>
      <p:sp>
        <p:nvSpPr>
          <p:cNvPr id="56" name="Text 54"/>
          <p:cNvSpPr txBox="1"/>
          <p:nvPr/>
        </p:nvSpPr>
        <p:spPr>
          <a:xfrm>
            <a:off x="576072" y="4992624"/>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Why a single asset is the central risk</a:t>
            </a:r>
            <a:endParaRPr lang="en-US" sz="1150" dirty="0"/>
          </a:p>
        </p:txBody>
      </p:sp>
      <p:sp>
        <p:nvSpPr>
          <p:cNvPr id="57" name="Text 55"/>
          <p:cNvSpPr txBox="1"/>
          <p:nvPr/>
        </p:nvSpPr>
        <p:spPr>
          <a:xfrm>
            <a:off x="576072" y="5321808"/>
            <a:ext cx="5248656" cy="621792"/>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Everything in this recommendation rests on one orebody in one jurisdiction. There is no second mine to carry a bad quarter. Colina adds a second jurisdiction only from the 2030s, and we risk it at 40%. A cyclone season, a plant outage or a permitting dispute at Pilgangoora is not diversifiable inside this position.</a:t>
            </a:r>
            <a:endParaRPr lang="en-US" sz="900" dirty="0"/>
          </a:p>
        </p:txBody>
      </p:sp>
      <p:sp>
        <p:nvSpPr>
          <p:cNvPr id="58" name="Shape 56"/>
          <p:cNvSpPr/>
          <p:nvPr/>
        </p:nvSpPr>
        <p:spPr>
          <a:xfrm>
            <a:off x="6208776" y="4864608"/>
            <a:ext cx="5577840" cy="1170432"/>
          </a:xfrm>
          <a:prstGeom prst="rect">
            <a:avLst/>
          </a:prstGeom>
          <a:solidFill>
            <a:srgbClr val="D6EBE7"/>
          </a:solidFill>
          <a:ln w="9525">
            <a:solidFill>
              <a:srgbClr val="AFD3CC"/>
            </a:solidFill>
            <a:prstDash val="solid"/>
          </a:ln>
        </p:spPr>
      </p:sp>
      <p:sp>
        <p:nvSpPr>
          <p:cNvPr id="59" name="Text 57"/>
          <p:cNvSpPr txBox="1"/>
          <p:nvPr/>
        </p:nvSpPr>
        <p:spPr>
          <a:xfrm>
            <a:off x="6373368" y="4992624"/>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And why the orebody is nonetheless the reason to own it</a:t>
            </a:r>
            <a:endParaRPr lang="en-US" sz="1150" dirty="0"/>
          </a:p>
        </p:txBody>
      </p:sp>
      <p:sp>
        <p:nvSpPr>
          <p:cNvPr id="60" name="Text 58"/>
          <p:cNvSpPr txBox="1"/>
          <p:nvPr/>
        </p:nvSpPr>
        <p:spPr>
          <a:xfrm>
            <a:off x="6373368" y="5321808"/>
            <a:ext cx="5248656" cy="621792"/>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446Mt at 1.28% Li2O is one of the largest hard-rock lithium resources in the world, at a grade that keeps mass pull at 17.5% and unit costs near the bottom of the global curve. Scale and grade are not strategy - but they are what makes the strategy affordable, and they cannot be replicated by a competitor's decision.</a:t>
            </a:r>
            <a:endParaRPr lang="en-US" sz="900" dirty="0"/>
          </a:p>
        </p:txBody>
      </p:sp>
      <p:sp>
        <p:nvSpPr>
          <p:cNvPr id="61" name="Text 59"/>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Group resource update, June 2025; Ore Reserve statement, August 2023; FY26 results, 24 August 2026; mining-technology.com project profile.</a:t>
            </a:r>
            <a:endParaRPr lang="en-US" sz="720" dirty="0"/>
          </a:p>
        </p:txBody>
      </p:sp>
      <p:sp>
        <p:nvSpPr>
          <p:cNvPr id="62" name="Text 60"/>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A1</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The reserve alone does not support the expansion we model. We say so, show the conversion assumption, and sensitise it.</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A2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3840480" cy="292608"/>
          </a:xfrm>
          <a:prstGeom prst="rect">
            <a:avLst/>
          </a:prstGeom>
          <a:solidFill>
            <a:srgbClr val="10233A"/>
          </a:solidFill>
          <a:ln/>
        </p:spPr>
      </p:sp>
      <p:sp>
        <p:nvSpPr>
          <p:cNvPr id="8" name="Text 6"/>
          <p:cNvSpPr txBox="1"/>
          <p:nvPr/>
        </p:nvSpPr>
        <p:spPr>
          <a:xfrm>
            <a:off x="475488" y="1298448"/>
            <a:ext cx="371246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Step</a:t>
            </a:r>
            <a:endParaRPr lang="en-US" sz="900" dirty="0"/>
          </a:p>
        </p:txBody>
      </p:sp>
      <p:sp>
        <p:nvSpPr>
          <p:cNvPr id="9" name="Shape 7"/>
          <p:cNvSpPr/>
          <p:nvPr/>
        </p:nvSpPr>
        <p:spPr>
          <a:xfrm>
            <a:off x="4251960" y="1298448"/>
            <a:ext cx="1600200" cy="292608"/>
          </a:xfrm>
          <a:prstGeom prst="rect">
            <a:avLst/>
          </a:prstGeom>
          <a:solidFill>
            <a:srgbClr val="10233A"/>
          </a:solidFill>
          <a:ln/>
        </p:spPr>
      </p:sp>
      <p:sp>
        <p:nvSpPr>
          <p:cNvPr id="10" name="Text 8"/>
          <p:cNvSpPr txBox="1"/>
          <p:nvPr/>
        </p:nvSpPr>
        <p:spPr>
          <a:xfrm>
            <a:off x="4315968" y="1298448"/>
            <a:ext cx="147218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p>
        </p:txBody>
      </p:sp>
      <p:sp>
        <p:nvSpPr>
          <p:cNvPr id="11" name="Shape 9"/>
          <p:cNvSpPr/>
          <p:nvPr/>
        </p:nvSpPr>
        <p:spPr>
          <a:xfrm>
            <a:off x="5852160" y="1298448"/>
            <a:ext cx="5934456" cy="292608"/>
          </a:xfrm>
          <a:prstGeom prst="rect">
            <a:avLst/>
          </a:prstGeom>
          <a:solidFill>
            <a:srgbClr val="10233A"/>
          </a:solidFill>
          <a:ln/>
        </p:spPr>
      </p:sp>
      <p:sp>
        <p:nvSpPr>
          <p:cNvPr id="12" name="Text 10"/>
          <p:cNvSpPr txBox="1"/>
          <p:nvPr/>
        </p:nvSpPr>
        <p:spPr>
          <a:xfrm>
            <a:off x="5916168" y="1298448"/>
            <a:ext cx="580644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Working</a:t>
            </a:r>
            <a:endParaRPr lang="en-US" sz="900" dirty="0"/>
          </a:p>
        </p:txBody>
      </p:sp>
      <p:sp>
        <p:nvSpPr>
          <p:cNvPr id="13" name="Shape 11"/>
          <p:cNvSpPr/>
          <p:nvPr/>
        </p:nvSpPr>
        <p:spPr>
          <a:xfrm>
            <a:off x="411480" y="1591056"/>
            <a:ext cx="3840480" cy="274320"/>
          </a:xfrm>
          <a:prstGeom prst="rect">
            <a:avLst/>
          </a:prstGeom>
          <a:solidFill>
            <a:srgbClr val="FFFFFF"/>
          </a:solidFill>
          <a:ln w="6350">
            <a:solidFill>
              <a:srgbClr val="D3DCE5"/>
            </a:solidFill>
            <a:prstDash val="solid"/>
          </a:ln>
        </p:spPr>
      </p:sp>
      <p:sp>
        <p:nvSpPr>
          <p:cNvPr id="14" name="Text 12"/>
          <p:cNvSpPr txBox="1"/>
          <p:nvPr/>
        </p:nvSpPr>
        <p:spPr>
          <a:xfrm>
            <a:off x="475488" y="159105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Mineral Resource</a:t>
            </a:r>
            <a:endParaRPr lang="en-US" sz="880" dirty="0"/>
          </a:p>
        </p:txBody>
      </p:sp>
      <p:sp>
        <p:nvSpPr>
          <p:cNvPr id="15" name="Shape 13"/>
          <p:cNvSpPr/>
          <p:nvPr/>
        </p:nvSpPr>
        <p:spPr>
          <a:xfrm>
            <a:off x="4251960" y="1591056"/>
            <a:ext cx="1600200" cy="274320"/>
          </a:xfrm>
          <a:prstGeom prst="rect">
            <a:avLst/>
          </a:prstGeom>
          <a:solidFill>
            <a:srgbClr val="FFFFFF"/>
          </a:solidFill>
          <a:ln w="6350">
            <a:solidFill>
              <a:srgbClr val="D3DCE5"/>
            </a:solidFill>
            <a:prstDash val="solid"/>
          </a:ln>
        </p:spPr>
      </p:sp>
      <p:sp>
        <p:nvSpPr>
          <p:cNvPr id="16" name="Text 14"/>
          <p:cNvSpPr txBox="1"/>
          <p:nvPr/>
        </p:nvSpPr>
        <p:spPr>
          <a:xfrm>
            <a:off x="4315968" y="159105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446.0 Mt</a:t>
            </a:r>
            <a:endParaRPr lang="en-US" sz="880" dirty="0"/>
          </a:p>
        </p:txBody>
      </p:sp>
      <p:sp>
        <p:nvSpPr>
          <p:cNvPr id="17" name="Shape 15"/>
          <p:cNvSpPr/>
          <p:nvPr/>
        </p:nvSpPr>
        <p:spPr>
          <a:xfrm>
            <a:off x="5852160" y="1591056"/>
            <a:ext cx="5934456" cy="274320"/>
          </a:xfrm>
          <a:prstGeom prst="rect">
            <a:avLst/>
          </a:prstGeom>
          <a:solidFill>
            <a:srgbClr val="FFFFFF"/>
          </a:solidFill>
          <a:ln w="6350">
            <a:solidFill>
              <a:srgbClr val="D3DCE5"/>
            </a:solidFill>
            <a:prstDash val="solid"/>
          </a:ln>
        </p:spPr>
      </p:sp>
      <p:sp>
        <p:nvSpPr>
          <p:cNvPr id="18" name="Text 16"/>
          <p:cNvSpPr txBox="1"/>
          <p:nvPr/>
        </p:nvSpPr>
        <p:spPr>
          <a:xfrm>
            <a:off x="5916168" y="159105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At 1.28% Li2O, containing 5.7Mt Li2O. June 2025 update.</a:t>
            </a:r>
            <a:endParaRPr lang="en-US" sz="880" dirty="0"/>
          </a:p>
        </p:txBody>
      </p:sp>
      <p:sp>
        <p:nvSpPr>
          <p:cNvPr id="19" name="Shape 17"/>
          <p:cNvSpPr/>
          <p:nvPr/>
        </p:nvSpPr>
        <p:spPr>
          <a:xfrm>
            <a:off x="411480" y="1865376"/>
            <a:ext cx="3840480" cy="274320"/>
          </a:xfrm>
          <a:prstGeom prst="rect">
            <a:avLst/>
          </a:prstGeom>
          <a:solidFill>
            <a:srgbClr val="FBEBD9"/>
          </a:solidFill>
          <a:ln w="6350">
            <a:solidFill>
              <a:srgbClr val="D3DCE5"/>
            </a:solidFill>
            <a:prstDash val="solid"/>
          </a:ln>
        </p:spPr>
      </p:sp>
      <p:sp>
        <p:nvSpPr>
          <p:cNvPr id="20" name="Text 18"/>
          <p:cNvSpPr txBox="1"/>
          <p:nvPr/>
        </p:nvSpPr>
        <p:spPr>
          <a:xfrm>
            <a:off x="475488" y="186537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Resource-to-reserve conversion</a:t>
            </a:r>
            <a:endParaRPr lang="en-US" sz="880" dirty="0"/>
          </a:p>
        </p:txBody>
      </p:sp>
      <p:sp>
        <p:nvSpPr>
          <p:cNvPr id="21" name="Shape 19"/>
          <p:cNvSpPr/>
          <p:nvPr/>
        </p:nvSpPr>
        <p:spPr>
          <a:xfrm>
            <a:off x="4251960" y="1865376"/>
            <a:ext cx="1600200" cy="274320"/>
          </a:xfrm>
          <a:prstGeom prst="rect">
            <a:avLst/>
          </a:prstGeom>
          <a:solidFill>
            <a:srgbClr val="FBEBD9"/>
          </a:solidFill>
          <a:ln w="6350">
            <a:solidFill>
              <a:srgbClr val="D3DCE5"/>
            </a:solidFill>
            <a:prstDash val="solid"/>
          </a:ln>
        </p:spPr>
      </p:sp>
      <p:sp>
        <p:nvSpPr>
          <p:cNvPr id="22" name="Text 20"/>
          <p:cNvSpPr txBox="1"/>
          <p:nvPr/>
        </p:nvSpPr>
        <p:spPr>
          <a:xfrm>
            <a:off x="4315968" y="186537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75%</a:t>
            </a:r>
            <a:endParaRPr lang="en-US" sz="880" dirty="0"/>
          </a:p>
        </p:txBody>
      </p:sp>
      <p:sp>
        <p:nvSpPr>
          <p:cNvPr id="23" name="Shape 21"/>
          <p:cNvSpPr/>
          <p:nvPr/>
        </p:nvSpPr>
        <p:spPr>
          <a:xfrm>
            <a:off x="5852160" y="1865376"/>
            <a:ext cx="5934456" cy="274320"/>
          </a:xfrm>
          <a:prstGeom prst="rect">
            <a:avLst/>
          </a:prstGeom>
          <a:solidFill>
            <a:srgbClr val="FBEBD9"/>
          </a:solidFill>
          <a:ln w="6350">
            <a:solidFill>
              <a:srgbClr val="D3DCE5"/>
            </a:solidFill>
            <a:prstDash val="solid"/>
          </a:ln>
        </p:spPr>
      </p:sp>
      <p:sp>
        <p:nvSpPr>
          <p:cNvPr id="24" name="Text 22"/>
          <p:cNvSpPr txBox="1"/>
          <p:nvPr/>
        </p:nvSpPr>
        <p:spPr>
          <a:xfrm>
            <a:off x="5916168" y="186537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Our assumption. The single most important judgement on this page.</a:t>
            </a:r>
            <a:endParaRPr lang="en-US" sz="880" dirty="0"/>
          </a:p>
        </p:txBody>
      </p:sp>
      <p:sp>
        <p:nvSpPr>
          <p:cNvPr id="25" name="Shape 23"/>
          <p:cNvSpPr/>
          <p:nvPr/>
        </p:nvSpPr>
        <p:spPr>
          <a:xfrm>
            <a:off x="411480" y="2139696"/>
            <a:ext cx="3840480" cy="274320"/>
          </a:xfrm>
          <a:prstGeom prst="rect">
            <a:avLst/>
          </a:prstGeom>
          <a:solidFill>
            <a:srgbClr val="FFFFFF"/>
          </a:solidFill>
          <a:ln w="6350">
            <a:solidFill>
              <a:srgbClr val="D3DCE5"/>
            </a:solidFill>
            <a:prstDash val="solid"/>
          </a:ln>
        </p:spPr>
      </p:sp>
      <p:sp>
        <p:nvSpPr>
          <p:cNvPr id="26" name="Text 24"/>
          <p:cNvSpPr txBox="1"/>
          <p:nvPr/>
        </p:nvSpPr>
        <p:spPr>
          <a:xfrm>
            <a:off x="475488" y="213969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Mineable ore base</a:t>
            </a:r>
            <a:endParaRPr lang="en-US" sz="880" dirty="0"/>
          </a:p>
        </p:txBody>
      </p:sp>
      <p:sp>
        <p:nvSpPr>
          <p:cNvPr id="27" name="Shape 25"/>
          <p:cNvSpPr/>
          <p:nvPr/>
        </p:nvSpPr>
        <p:spPr>
          <a:xfrm>
            <a:off x="4251960" y="2139696"/>
            <a:ext cx="1600200" cy="274320"/>
          </a:xfrm>
          <a:prstGeom prst="rect">
            <a:avLst/>
          </a:prstGeom>
          <a:solidFill>
            <a:srgbClr val="FFFFFF"/>
          </a:solidFill>
          <a:ln w="6350">
            <a:solidFill>
              <a:srgbClr val="D3DCE5"/>
            </a:solidFill>
            <a:prstDash val="solid"/>
          </a:ln>
        </p:spPr>
      </p:sp>
      <p:sp>
        <p:nvSpPr>
          <p:cNvPr id="28" name="Text 26"/>
          <p:cNvSpPr txBox="1"/>
          <p:nvPr/>
        </p:nvSpPr>
        <p:spPr>
          <a:xfrm>
            <a:off x="4315968" y="213969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334.5 Mt</a:t>
            </a:r>
            <a:endParaRPr lang="en-US" sz="880" dirty="0"/>
          </a:p>
        </p:txBody>
      </p:sp>
      <p:sp>
        <p:nvSpPr>
          <p:cNvPr id="29" name="Shape 27"/>
          <p:cNvSpPr/>
          <p:nvPr/>
        </p:nvSpPr>
        <p:spPr>
          <a:xfrm>
            <a:off x="5852160" y="2139696"/>
            <a:ext cx="5934456" cy="274320"/>
          </a:xfrm>
          <a:prstGeom prst="rect">
            <a:avLst/>
          </a:prstGeom>
          <a:solidFill>
            <a:srgbClr val="FFFFFF"/>
          </a:solidFill>
          <a:ln w="6350">
            <a:solidFill>
              <a:srgbClr val="D3DCE5"/>
            </a:solidFill>
            <a:prstDash val="solid"/>
          </a:ln>
        </p:spPr>
      </p:sp>
      <p:sp>
        <p:nvSpPr>
          <p:cNvPr id="30" name="Text 28"/>
          <p:cNvSpPr txBox="1"/>
          <p:nvPr/>
        </p:nvSpPr>
        <p:spPr>
          <a:xfrm>
            <a:off x="5916168" y="213969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446.0 x 75%</a:t>
            </a:r>
            <a:endParaRPr lang="en-US" sz="880" dirty="0"/>
          </a:p>
        </p:txBody>
      </p:sp>
      <p:sp>
        <p:nvSpPr>
          <p:cNvPr id="31" name="Shape 29"/>
          <p:cNvSpPr/>
          <p:nvPr/>
        </p:nvSpPr>
        <p:spPr>
          <a:xfrm>
            <a:off x="411480" y="2414016"/>
            <a:ext cx="3840480" cy="274320"/>
          </a:xfrm>
          <a:prstGeom prst="rect">
            <a:avLst/>
          </a:prstGeom>
          <a:solidFill>
            <a:srgbClr val="F7F9FB"/>
          </a:solidFill>
          <a:ln w="6350">
            <a:solidFill>
              <a:srgbClr val="D3DCE5"/>
            </a:solidFill>
            <a:prstDash val="solid"/>
          </a:ln>
        </p:spPr>
      </p:sp>
      <p:sp>
        <p:nvSpPr>
          <p:cNvPr id="32" name="Text 30"/>
          <p:cNvSpPr txBox="1"/>
          <p:nvPr/>
        </p:nvSpPr>
        <p:spPr>
          <a:xfrm>
            <a:off x="475488" y="241401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Reserve grade</a:t>
            </a:r>
            <a:endParaRPr lang="en-US" sz="880" dirty="0"/>
          </a:p>
        </p:txBody>
      </p:sp>
      <p:sp>
        <p:nvSpPr>
          <p:cNvPr id="33" name="Shape 31"/>
          <p:cNvSpPr/>
          <p:nvPr/>
        </p:nvSpPr>
        <p:spPr>
          <a:xfrm>
            <a:off x="4251960" y="2414016"/>
            <a:ext cx="1600200" cy="274320"/>
          </a:xfrm>
          <a:prstGeom prst="rect">
            <a:avLst/>
          </a:prstGeom>
          <a:solidFill>
            <a:srgbClr val="F7F9FB"/>
          </a:solidFill>
          <a:ln w="6350">
            <a:solidFill>
              <a:srgbClr val="D3DCE5"/>
            </a:solidFill>
            <a:prstDash val="solid"/>
          </a:ln>
        </p:spPr>
      </p:sp>
      <p:sp>
        <p:nvSpPr>
          <p:cNvPr id="34" name="Text 32"/>
          <p:cNvSpPr txBox="1"/>
          <p:nvPr/>
        </p:nvSpPr>
        <p:spPr>
          <a:xfrm>
            <a:off x="4315968" y="241401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1.19% Li2O</a:t>
            </a:r>
            <a:endParaRPr lang="en-US" sz="880" dirty="0"/>
          </a:p>
        </p:txBody>
      </p:sp>
      <p:sp>
        <p:nvSpPr>
          <p:cNvPr id="35" name="Shape 33"/>
          <p:cNvSpPr/>
          <p:nvPr/>
        </p:nvSpPr>
        <p:spPr>
          <a:xfrm>
            <a:off x="5852160" y="2414016"/>
            <a:ext cx="5934456" cy="274320"/>
          </a:xfrm>
          <a:prstGeom prst="rect">
            <a:avLst/>
          </a:prstGeom>
          <a:solidFill>
            <a:srgbClr val="F7F9FB"/>
          </a:solidFill>
          <a:ln w="6350">
            <a:solidFill>
              <a:srgbClr val="D3DCE5"/>
            </a:solidFill>
            <a:prstDash val="solid"/>
          </a:ln>
        </p:spPr>
      </p:sp>
      <p:sp>
        <p:nvSpPr>
          <p:cNvPr id="36" name="Text 34"/>
          <p:cNvSpPr txBox="1"/>
          <p:nvPr/>
        </p:nvSpPr>
        <p:spPr>
          <a:xfrm>
            <a:off x="5916168" y="241401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Per the August 2023 Ore Reserve statement</a:t>
            </a:r>
            <a:endParaRPr lang="en-US" sz="880" dirty="0"/>
          </a:p>
        </p:txBody>
      </p:sp>
      <p:sp>
        <p:nvSpPr>
          <p:cNvPr id="37" name="Shape 35"/>
          <p:cNvSpPr/>
          <p:nvPr/>
        </p:nvSpPr>
        <p:spPr>
          <a:xfrm>
            <a:off x="411480" y="2688336"/>
            <a:ext cx="3840480" cy="274320"/>
          </a:xfrm>
          <a:prstGeom prst="rect">
            <a:avLst/>
          </a:prstGeom>
          <a:solidFill>
            <a:srgbClr val="FFFFFF"/>
          </a:solidFill>
          <a:ln w="6350">
            <a:solidFill>
              <a:srgbClr val="D3DCE5"/>
            </a:solidFill>
            <a:prstDash val="solid"/>
          </a:ln>
        </p:spPr>
      </p:sp>
      <p:sp>
        <p:nvSpPr>
          <p:cNvPr id="38" name="Text 36"/>
          <p:cNvSpPr txBox="1"/>
          <p:nvPr/>
        </p:nvSpPr>
        <p:spPr>
          <a:xfrm>
            <a:off x="475488" y="268833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Lithia recovery</a:t>
            </a:r>
            <a:endParaRPr lang="en-US" sz="880" dirty="0"/>
          </a:p>
        </p:txBody>
      </p:sp>
      <p:sp>
        <p:nvSpPr>
          <p:cNvPr id="39" name="Shape 37"/>
          <p:cNvSpPr/>
          <p:nvPr/>
        </p:nvSpPr>
        <p:spPr>
          <a:xfrm>
            <a:off x="4251960" y="2688336"/>
            <a:ext cx="1600200" cy="274320"/>
          </a:xfrm>
          <a:prstGeom prst="rect">
            <a:avLst/>
          </a:prstGeom>
          <a:solidFill>
            <a:srgbClr val="FFFFFF"/>
          </a:solidFill>
          <a:ln w="6350">
            <a:solidFill>
              <a:srgbClr val="D3DCE5"/>
            </a:solidFill>
            <a:prstDash val="solid"/>
          </a:ln>
        </p:spPr>
      </p:sp>
      <p:sp>
        <p:nvSpPr>
          <p:cNvPr id="40" name="Text 38"/>
          <p:cNvSpPr txBox="1"/>
          <p:nvPr/>
        </p:nvSpPr>
        <p:spPr>
          <a:xfrm>
            <a:off x="4315968" y="268833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76.5%</a:t>
            </a:r>
            <a:endParaRPr lang="en-US" sz="880" dirty="0"/>
          </a:p>
        </p:txBody>
      </p:sp>
      <p:sp>
        <p:nvSpPr>
          <p:cNvPr id="41" name="Shape 39"/>
          <p:cNvSpPr/>
          <p:nvPr/>
        </p:nvSpPr>
        <p:spPr>
          <a:xfrm>
            <a:off x="5852160" y="2688336"/>
            <a:ext cx="5934456" cy="274320"/>
          </a:xfrm>
          <a:prstGeom prst="rect">
            <a:avLst/>
          </a:prstGeom>
          <a:solidFill>
            <a:srgbClr val="FFFFFF"/>
          </a:solidFill>
          <a:ln w="6350">
            <a:solidFill>
              <a:srgbClr val="D3DCE5"/>
            </a:solidFill>
            <a:prstDash val="solid"/>
          </a:ln>
        </p:spPr>
      </p:sp>
      <p:sp>
        <p:nvSpPr>
          <p:cNvPr id="42" name="Text 40"/>
          <p:cNvSpPr txBox="1"/>
          <p:nvPr/>
        </p:nvSpPr>
        <p:spPr>
          <a:xfrm>
            <a:off x="5916168" y="268833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FY26 reported</a:t>
            </a:r>
            <a:endParaRPr lang="en-US" sz="880" dirty="0"/>
          </a:p>
        </p:txBody>
      </p:sp>
      <p:sp>
        <p:nvSpPr>
          <p:cNvPr id="43" name="Shape 41"/>
          <p:cNvSpPr/>
          <p:nvPr/>
        </p:nvSpPr>
        <p:spPr>
          <a:xfrm>
            <a:off x="411480" y="2962656"/>
            <a:ext cx="3840480" cy="274320"/>
          </a:xfrm>
          <a:prstGeom prst="rect">
            <a:avLst/>
          </a:prstGeom>
          <a:solidFill>
            <a:srgbClr val="F7F9FB"/>
          </a:solidFill>
          <a:ln w="6350">
            <a:solidFill>
              <a:srgbClr val="D3DCE5"/>
            </a:solidFill>
            <a:prstDash val="solid"/>
          </a:ln>
        </p:spPr>
      </p:sp>
      <p:sp>
        <p:nvSpPr>
          <p:cNvPr id="44" name="Text 42"/>
          <p:cNvSpPr txBox="1"/>
          <p:nvPr/>
        </p:nvSpPr>
        <p:spPr>
          <a:xfrm>
            <a:off x="475488" y="296265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Concentrate grade</a:t>
            </a:r>
            <a:endParaRPr lang="en-US" sz="880" dirty="0"/>
          </a:p>
        </p:txBody>
      </p:sp>
      <p:sp>
        <p:nvSpPr>
          <p:cNvPr id="45" name="Shape 43"/>
          <p:cNvSpPr/>
          <p:nvPr/>
        </p:nvSpPr>
        <p:spPr>
          <a:xfrm>
            <a:off x="4251960" y="2962656"/>
            <a:ext cx="1600200" cy="274320"/>
          </a:xfrm>
          <a:prstGeom prst="rect">
            <a:avLst/>
          </a:prstGeom>
          <a:solidFill>
            <a:srgbClr val="F7F9FB"/>
          </a:solidFill>
          <a:ln w="6350">
            <a:solidFill>
              <a:srgbClr val="D3DCE5"/>
            </a:solidFill>
            <a:prstDash val="solid"/>
          </a:ln>
        </p:spPr>
      </p:sp>
      <p:sp>
        <p:nvSpPr>
          <p:cNvPr id="46" name="Text 44"/>
          <p:cNvSpPr txBox="1"/>
          <p:nvPr/>
        </p:nvSpPr>
        <p:spPr>
          <a:xfrm>
            <a:off x="4315968" y="296265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5.2% Li2O</a:t>
            </a:r>
            <a:endParaRPr lang="en-US" sz="880" dirty="0"/>
          </a:p>
        </p:txBody>
      </p:sp>
      <p:sp>
        <p:nvSpPr>
          <p:cNvPr id="47" name="Shape 45"/>
          <p:cNvSpPr/>
          <p:nvPr/>
        </p:nvSpPr>
        <p:spPr>
          <a:xfrm>
            <a:off x="5852160" y="2962656"/>
            <a:ext cx="5934456" cy="274320"/>
          </a:xfrm>
          <a:prstGeom prst="rect">
            <a:avLst/>
          </a:prstGeom>
          <a:solidFill>
            <a:srgbClr val="F7F9FB"/>
          </a:solidFill>
          <a:ln w="6350">
            <a:solidFill>
              <a:srgbClr val="D3DCE5"/>
            </a:solidFill>
            <a:prstDash val="solid"/>
          </a:ln>
        </p:spPr>
      </p:sp>
      <p:sp>
        <p:nvSpPr>
          <p:cNvPr id="48" name="Text 46"/>
          <p:cNvSpPr txBox="1"/>
          <p:nvPr/>
        </p:nvSpPr>
        <p:spPr>
          <a:xfrm>
            <a:off x="5916168" y="296265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PLS ships roughly SC5.2, below the SC6 benchmark</a:t>
            </a:r>
            <a:endParaRPr lang="en-US" sz="880" dirty="0"/>
          </a:p>
        </p:txBody>
      </p:sp>
      <p:sp>
        <p:nvSpPr>
          <p:cNvPr id="49" name="Shape 47"/>
          <p:cNvSpPr/>
          <p:nvPr/>
        </p:nvSpPr>
        <p:spPr>
          <a:xfrm>
            <a:off x="411480" y="3236976"/>
            <a:ext cx="3840480" cy="274320"/>
          </a:xfrm>
          <a:prstGeom prst="rect">
            <a:avLst/>
          </a:prstGeom>
          <a:solidFill>
            <a:srgbClr val="EEF2F6"/>
          </a:solidFill>
          <a:ln w="6350">
            <a:solidFill>
              <a:srgbClr val="D3DCE5"/>
            </a:solidFill>
            <a:prstDash val="solid"/>
          </a:ln>
        </p:spPr>
      </p:sp>
      <p:sp>
        <p:nvSpPr>
          <p:cNvPr id="50" name="Text 48"/>
          <p:cNvSpPr txBox="1"/>
          <p:nvPr/>
        </p:nvSpPr>
        <p:spPr>
          <a:xfrm>
            <a:off x="475488" y="323697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Mass pull</a:t>
            </a:r>
            <a:endParaRPr lang="en-US" sz="880" dirty="0"/>
          </a:p>
        </p:txBody>
      </p:sp>
      <p:sp>
        <p:nvSpPr>
          <p:cNvPr id="51" name="Shape 49"/>
          <p:cNvSpPr/>
          <p:nvPr/>
        </p:nvSpPr>
        <p:spPr>
          <a:xfrm>
            <a:off x="4251960" y="3236976"/>
            <a:ext cx="1600200" cy="274320"/>
          </a:xfrm>
          <a:prstGeom prst="rect">
            <a:avLst/>
          </a:prstGeom>
          <a:solidFill>
            <a:srgbClr val="EEF2F6"/>
          </a:solidFill>
          <a:ln w="6350">
            <a:solidFill>
              <a:srgbClr val="D3DCE5"/>
            </a:solidFill>
            <a:prstDash val="solid"/>
          </a:ln>
        </p:spPr>
      </p:sp>
      <p:sp>
        <p:nvSpPr>
          <p:cNvPr id="52" name="Text 50"/>
          <p:cNvSpPr txBox="1"/>
          <p:nvPr/>
        </p:nvSpPr>
        <p:spPr>
          <a:xfrm>
            <a:off x="4315968" y="323697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17.5%</a:t>
            </a:r>
            <a:endParaRPr lang="en-US" sz="880" dirty="0"/>
          </a:p>
        </p:txBody>
      </p:sp>
      <p:sp>
        <p:nvSpPr>
          <p:cNvPr id="53" name="Shape 51"/>
          <p:cNvSpPr/>
          <p:nvPr/>
        </p:nvSpPr>
        <p:spPr>
          <a:xfrm>
            <a:off x="5852160" y="3236976"/>
            <a:ext cx="5934456" cy="274320"/>
          </a:xfrm>
          <a:prstGeom prst="rect">
            <a:avLst/>
          </a:prstGeom>
          <a:solidFill>
            <a:srgbClr val="EEF2F6"/>
          </a:solidFill>
          <a:ln w="6350">
            <a:solidFill>
              <a:srgbClr val="D3DCE5"/>
            </a:solidFill>
            <a:prstDash val="solid"/>
          </a:ln>
        </p:spPr>
      </p:sp>
      <p:sp>
        <p:nvSpPr>
          <p:cNvPr id="54" name="Text 52"/>
          <p:cNvSpPr txBox="1"/>
          <p:nvPr/>
        </p:nvSpPr>
        <p:spPr>
          <a:xfrm>
            <a:off x="5916168" y="323697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1.19% x 76.5% / 5.2% - tonnes of concentrate per tonne of ore</a:t>
            </a:r>
            <a:endParaRPr lang="en-US" sz="880" dirty="0"/>
          </a:p>
        </p:txBody>
      </p:sp>
      <p:sp>
        <p:nvSpPr>
          <p:cNvPr id="55" name="Shape 53"/>
          <p:cNvSpPr/>
          <p:nvPr/>
        </p:nvSpPr>
        <p:spPr>
          <a:xfrm>
            <a:off x="411480" y="3511296"/>
            <a:ext cx="3840480" cy="274320"/>
          </a:xfrm>
          <a:prstGeom prst="rect">
            <a:avLst/>
          </a:prstGeom>
          <a:solidFill>
            <a:srgbClr val="F7F9FB"/>
          </a:solidFill>
          <a:ln w="6350">
            <a:solidFill>
              <a:srgbClr val="D3DCE5"/>
            </a:solidFill>
            <a:prstDash val="solid"/>
          </a:ln>
        </p:spPr>
      </p:sp>
      <p:sp>
        <p:nvSpPr>
          <p:cNvPr id="56" name="Text 54"/>
          <p:cNvSpPr txBox="1"/>
          <p:nvPr/>
        </p:nvSpPr>
        <p:spPr>
          <a:xfrm>
            <a:off x="475488" y="351129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Concentrate FY27-FY36, base case</a:t>
            </a:r>
            <a:endParaRPr lang="en-US" sz="880" dirty="0"/>
          </a:p>
        </p:txBody>
      </p:sp>
      <p:sp>
        <p:nvSpPr>
          <p:cNvPr id="57" name="Shape 55"/>
          <p:cNvSpPr/>
          <p:nvPr/>
        </p:nvSpPr>
        <p:spPr>
          <a:xfrm>
            <a:off x="4251960" y="3511296"/>
            <a:ext cx="1600200" cy="274320"/>
          </a:xfrm>
          <a:prstGeom prst="rect">
            <a:avLst/>
          </a:prstGeom>
          <a:solidFill>
            <a:srgbClr val="F7F9FB"/>
          </a:solidFill>
          <a:ln w="6350">
            <a:solidFill>
              <a:srgbClr val="D3DCE5"/>
            </a:solidFill>
            <a:prstDash val="solid"/>
          </a:ln>
        </p:spPr>
      </p:sp>
      <p:sp>
        <p:nvSpPr>
          <p:cNvPr id="58" name="Text 56"/>
          <p:cNvSpPr txBox="1"/>
          <p:nvPr/>
        </p:nvSpPr>
        <p:spPr>
          <a:xfrm>
            <a:off x="4315968" y="351129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18.2 Mt</a:t>
            </a:r>
            <a:endParaRPr lang="en-US" sz="880" dirty="0"/>
          </a:p>
        </p:txBody>
      </p:sp>
      <p:sp>
        <p:nvSpPr>
          <p:cNvPr id="59" name="Shape 57"/>
          <p:cNvSpPr/>
          <p:nvPr/>
        </p:nvSpPr>
        <p:spPr>
          <a:xfrm>
            <a:off x="5852160" y="3511296"/>
            <a:ext cx="5934456" cy="274320"/>
          </a:xfrm>
          <a:prstGeom prst="rect">
            <a:avLst/>
          </a:prstGeom>
          <a:solidFill>
            <a:srgbClr val="F7F9FB"/>
          </a:solidFill>
          <a:ln w="6350">
            <a:solidFill>
              <a:srgbClr val="D3DCE5"/>
            </a:solidFill>
            <a:prstDash val="solid"/>
          </a:ln>
        </p:spPr>
      </p:sp>
      <p:sp>
        <p:nvSpPr>
          <p:cNvPr id="60" name="Text 58"/>
          <p:cNvSpPr txBox="1"/>
          <p:nvPr/>
        </p:nvSpPr>
        <p:spPr>
          <a:xfrm>
            <a:off x="5916168" y="351129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Sum of the modelled production profile</a:t>
            </a:r>
            <a:endParaRPr lang="en-US" sz="880" dirty="0"/>
          </a:p>
        </p:txBody>
      </p:sp>
      <p:sp>
        <p:nvSpPr>
          <p:cNvPr id="61" name="Shape 59"/>
          <p:cNvSpPr/>
          <p:nvPr/>
        </p:nvSpPr>
        <p:spPr>
          <a:xfrm>
            <a:off x="411480" y="3785616"/>
            <a:ext cx="3840480" cy="274320"/>
          </a:xfrm>
          <a:prstGeom prst="rect">
            <a:avLst/>
          </a:prstGeom>
          <a:solidFill>
            <a:srgbClr val="FFFFFF"/>
          </a:solidFill>
          <a:ln w="6350">
            <a:solidFill>
              <a:srgbClr val="D3DCE5"/>
            </a:solidFill>
            <a:prstDash val="solid"/>
          </a:ln>
        </p:spPr>
      </p:sp>
      <p:sp>
        <p:nvSpPr>
          <p:cNvPr id="62" name="Text 60"/>
          <p:cNvSpPr txBox="1"/>
          <p:nvPr/>
        </p:nvSpPr>
        <p:spPr>
          <a:xfrm>
            <a:off x="475488" y="378561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Ore consumed to FY36</a:t>
            </a:r>
            <a:endParaRPr lang="en-US" sz="880" dirty="0"/>
          </a:p>
        </p:txBody>
      </p:sp>
      <p:sp>
        <p:nvSpPr>
          <p:cNvPr id="63" name="Shape 61"/>
          <p:cNvSpPr/>
          <p:nvPr/>
        </p:nvSpPr>
        <p:spPr>
          <a:xfrm>
            <a:off x="4251960" y="3785616"/>
            <a:ext cx="1600200" cy="274320"/>
          </a:xfrm>
          <a:prstGeom prst="rect">
            <a:avLst/>
          </a:prstGeom>
          <a:solidFill>
            <a:srgbClr val="FFFFFF"/>
          </a:solidFill>
          <a:ln w="6350">
            <a:solidFill>
              <a:srgbClr val="D3DCE5"/>
            </a:solidFill>
            <a:prstDash val="solid"/>
          </a:ln>
        </p:spPr>
      </p:sp>
      <p:sp>
        <p:nvSpPr>
          <p:cNvPr id="64" name="Text 62"/>
          <p:cNvSpPr txBox="1"/>
          <p:nvPr/>
        </p:nvSpPr>
        <p:spPr>
          <a:xfrm>
            <a:off x="4315968" y="378561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104.0 Mt</a:t>
            </a:r>
            <a:endParaRPr lang="en-US" sz="880" dirty="0"/>
          </a:p>
        </p:txBody>
      </p:sp>
      <p:sp>
        <p:nvSpPr>
          <p:cNvPr id="65" name="Shape 63"/>
          <p:cNvSpPr/>
          <p:nvPr/>
        </p:nvSpPr>
        <p:spPr>
          <a:xfrm>
            <a:off x="5852160" y="3785616"/>
            <a:ext cx="5934456" cy="274320"/>
          </a:xfrm>
          <a:prstGeom prst="rect">
            <a:avLst/>
          </a:prstGeom>
          <a:solidFill>
            <a:srgbClr val="FFFFFF"/>
          </a:solidFill>
          <a:ln w="6350">
            <a:solidFill>
              <a:srgbClr val="D3DCE5"/>
            </a:solidFill>
            <a:prstDash val="solid"/>
          </a:ln>
        </p:spPr>
      </p:sp>
      <p:sp>
        <p:nvSpPr>
          <p:cNvPr id="66" name="Text 64"/>
          <p:cNvSpPr txBox="1"/>
          <p:nvPr/>
        </p:nvSpPr>
        <p:spPr>
          <a:xfrm>
            <a:off x="5916168" y="378561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18.2 / 17.5%</a:t>
            </a:r>
            <a:endParaRPr lang="en-US" sz="880" dirty="0"/>
          </a:p>
        </p:txBody>
      </p:sp>
      <p:sp>
        <p:nvSpPr>
          <p:cNvPr id="67" name="Shape 65"/>
          <p:cNvSpPr/>
          <p:nvPr/>
        </p:nvSpPr>
        <p:spPr>
          <a:xfrm>
            <a:off x="411480" y="4059936"/>
            <a:ext cx="3840480" cy="274320"/>
          </a:xfrm>
          <a:prstGeom prst="rect">
            <a:avLst/>
          </a:prstGeom>
          <a:solidFill>
            <a:srgbClr val="F7F9FB"/>
          </a:solidFill>
          <a:ln w="6350">
            <a:solidFill>
              <a:srgbClr val="D3DCE5"/>
            </a:solidFill>
            <a:prstDash val="solid"/>
          </a:ln>
        </p:spPr>
      </p:sp>
      <p:sp>
        <p:nvSpPr>
          <p:cNvPr id="68" name="Text 66"/>
          <p:cNvSpPr txBox="1"/>
          <p:nvPr/>
        </p:nvSpPr>
        <p:spPr>
          <a:xfrm>
            <a:off x="475488" y="405993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Ore remaining after FY36</a:t>
            </a:r>
            <a:endParaRPr lang="en-US" sz="880" dirty="0"/>
          </a:p>
        </p:txBody>
      </p:sp>
      <p:sp>
        <p:nvSpPr>
          <p:cNvPr id="69" name="Shape 67"/>
          <p:cNvSpPr/>
          <p:nvPr/>
        </p:nvSpPr>
        <p:spPr>
          <a:xfrm>
            <a:off x="4251960" y="4059936"/>
            <a:ext cx="1600200" cy="274320"/>
          </a:xfrm>
          <a:prstGeom prst="rect">
            <a:avLst/>
          </a:prstGeom>
          <a:solidFill>
            <a:srgbClr val="F7F9FB"/>
          </a:solidFill>
          <a:ln w="6350">
            <a:solidFill>
              <a:srgbClr val="D3DCE5"/>
            </a:solidFill>
            <a:prstDash val="solid"/>
          </a:ln>
        </p:spPr>
      </p:sp>
      <p:sp>
        <p:nvSpPr>
          <p:cNvPr id="70" name="Text 68"/>
          <p:cNvSpPr txBox="1"/>
          <p:nvPr/>
        </p:nvSpPr>
        <p:spPr>
          <a:xfrm>
            <a:off x="4315968" y="405993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230.5 Mt</a:t>
            </a:r>
            <a:endParaRPr lang="en-US" sz="880" dirty="0"/>
          </a:p>
        </p:txBody>
      </p:sp>
      <p:sp>
        <p:nvSpPr>
          <p:cNvPr id="71" name="Shape 69"/>
          <p:cNvSpPr/>
          <p:nvPr/>
        </p:nvSpPr>
        <p:spPr>
          <a:xfrm>
            <a:off x="5852160" y="4059936"/>
            <a:ext cx="5934456" cy="274320"/>
          </a:xfrm>
          <a:prstGeom prst="rect">
            <a:avLst/>
          </a:prstGeom>
          <a:solidFill>
            <a:srgbClr val="F7F9FB"/>
          </a:solidFill>
          <a:ln w="6350">
            <a:solidFill>
              <a:srgbClr val="D3DCE5"/>
            </a:solidFill>
            <a:prstDash val="solid"/>
          </a:ln>
        </p:spPr>
      </p:sp>
      <p:sp>
        <p:nvSpPr>
          <p:cNvPr id="72" name="Text 70"/>
          <p:cNvSpPr txBox="1"/>
          <p:nvPr/>
        </p:nvSpPr>
        <p:spPr>
          <a:xfrm>
            <a:off x="5916168" y="405993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334.5 - 104.0</a:t>
            </a:r>
            <a:endParaRPr lang="en-US" sz="880" dirty="0"/>
          </a:p>
        </p:txBody>
      </p:sp>
      <p:sp>
        <p:nvSpPr>
          <p:cNvPr id="73" name="Shape 71"/>
          <p:cNvSpPr/>
          <p:nvPr/>
        </p:nvSpPr>
        <p:spPr>
          <a:xfrm>
            <a:off x="411480" y="4334256"/>
            <a:ext cx="3840480" cy="274320"/>
          </a:xfrm>
          <a:prstGeom prst="rect">
            <a:avLst/>
          </a:prstGeom>
          <a:solidFill>
            <a:srgbClr val="FFFFFF"/>
          </a:solidFill>
          <a:ln w="6350">
            <a:solidFill>
              <a:srgbClr val="D3DCE5"/>
            </a:solidFill>
            <a:prstDash val="solid"/>
          </a:ln>
        </p:spPr>
      </p:sp>
      <p:sp>
        <p:nvSpPr>
          <p:cNvPr id="74" name="Text 72"/>
          <p:cNvSpPr txBox="1"/>
          <p:nvPr/>
        </p:nvSpPr>
        <p:spPr>
          <a:xfrm>
            <a:off x="475488" y="433425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Exit mining rate</a:t>
            </a:r>
            <a:endParaRPr lang="en-US" sz="880" dirty="0"/>
          </a:p>
        </p:txBody>
      </p:sp>
      <p:sp>
        <p:nvSpPr>
          <p:cNvPr id="75" name="Shape 73"/>
          <p:cNvSpPr/>
          <p:nvPr/>
        </p:nvSpPr>
        <p:spPr>
          <a:xfrm>
            <a:off x="4251960" y="4334256"/>
            <a:ext cx="1600200" cy="274320"/>
          </a:xfrm>
          <a:prstGeom prst="rect">
            <a:avLst/>
          </a:prstGeom>
          <a:solidFill>
            <a:srgbClr val="FFFFFF"/>
          </a:solidFill>
          <a:ln w="6350">
            <a:solidFill>
              <a:srgbClr val="D3DCE5"/>
            </a:solidFill>
            <a:prstDash val="solid"/>
          </a:ln>
        </p:spPr>
      </p:sp>
      <p:sp>
        <p:nvSpPr>
          <p:cNvPr id="76" name="Text 74"/>
          <p:cNvSpPr txBox="1"/>
          <p:nvPr/>
        </p:nvSpPr>
        <p:spPr>
          <a:xfrm>
            <a:off x="4315968" y="433425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14.3 Mt p.a.</a:t>
            </a:r>
            <a:endParaRPr lang="en-US" sz="880" dirty="0"/>
          </a:p>
        </p:txBody>
      </p:sp>
      <p:sp>
        <p:nvSpPr>
          <p:cNvPr id="77" name="Shape 75"/>
          <p:cNvSpPr/>
          <p:nvPr/>
        </p:nvSpPr>
        <p:spPr>
          <a:xfrm>
            <a:off x="5852160" y="4334256"/>
            <a:ext cx="5934456" cy="274320"/>
          </a:xfrm>
          <a:prstGeom prst="rect">
            <a:avLst/>
          </a:prstGeom>
          <a:solidFill>
            <a:srgbClr val="FFFFFF"/>
          </a:solidFill>
          <a:ln w="6350">
            <a:solidFill>
              <a:srgbClr val="D3DCE5"/>
            </a:solidFill>
            <a:prstDash val="solid"/>
          </a:ln>
        </p:spPr>
      </p:sp>
      <p:sp>
        <p:nvSpPr>
          <p:cNvPr id="78" name="Text 76"/>
          <p:cNvSpPr txBox="1"/>
          <p:nvPr/>
        </p:nvSpPr>
        <p:spPr>
          <a:xfrm>
            <a:off x="5916168" y="433425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FY36 concentrate of 2,500kt / 17.5%</a:t>
            </a:r>
            <a:endParaRPr lang="en-US" sz="880" dirty="0"/>
          </a:p>
        </p:txBody>
      </p:sp>
      <p:sp>
        <p:nvSpPr>
          <p:cNvPr id="79" name="Shape 77"/>
          <p:cNvSpPr/>
          <p:nvPr/>
        </p:nvSpPr>
        <p:spPr>
          <a:xfrm>
            <a:off x="411480" y="4608576"/>
            <a:ext cx="3840480" cy="274320"/>
          </a:xfrm>
          <a:prstGeom prst="rect">
            <a:avLst/>
          </a:prstGeom>
          <a:solidFill>
            <a:srgbClr val="D6EBE7"/>
          </a:solidFill>
          <a:ln w="6350">
            <a:solidFill>
              <a:srgbClr val="D3DCE5"/>
            </a:solidFill>
            <a:prstDash val="solid"/>
          </a:ln>
        </p:spPr>
      </p:sp>
      <p:sp>
        <p:nvSpPr>
          <p:cNvPr id="80" name="Text 78"/>
          <p:cNvSpPr txBox="1"/>
          <p:nvPr/>
        </p:nvSpPr>
        <p:spPr>
          <a:xfrm>
            <a:off x="475488" y="4608576"/>
            <a:ext cx="3712464" cy="27432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Remaining mine life</a:t>
            </a:r>
            <a:endParaRPr lang="en-US" sz="880" dirty="0"/>
          </a:p>
        </p:txBody>
      </p:sp>
      <p:sp>
        <p:nvSpPr>
          <p:cNvPr id="81" name="Shape 79"/>
          <p:cNvSpPr/>
          <p:nvPr/>
        </p:nvSpPr>
        <p:spPr>
          <a:xfrm>
            <a:off x="4251960" y="4608576"/>
            <a:ext cx="1600200" cy="274320"/>
          </a:xfrm>
          <a:prstGeom prst="rect">
            <a:avLst/>
          </a:prstGeom>
          <a:solidFill>
            <a:srgbClr val="D6EBE7"/>
          </a:solidFill>
          <a:ln w="6350">
            <a:solidFill>
              <a:srgbClr val="D3DCE5"/>
            </a:solidFill>
            <a:prstDash val="solid"/>
          </a:ln>
        </p:spPr>
      </p:sp>
      <p:sp>
        <p:nvSpPr>
          <p:cNvPr id="82" name="Text 80"/>
          <p:cNvSpPr txBox="1"/>
          <p:nvPr/>
        </p:nvSpPr>
        <p:spPr>
          <a:xfrm>
            <a:off x="4315968" y="4608576"/>
            <a:ext cx="1472184" cy="27432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16.1 years</a:t>
            </a:r>
            <a:endParaRPr lang="en-US" sz="880" dirty="0"/>
          </a:p>
        </p:txBody>
      </p:sp>
      <p:sp>
        <p:nvSpPr>
          <p:cNvPr id="83" name="Shape 81"/>
          <p:cNvSpPr/>
          <p:nvPr/>
        </p:nvSpPr>
        <p:spPr>
          <a:xfrm>
            <a:off x="5852160" y="4608576"/>
            <a:ext cx="5934456" cy="274320"/>
          </a:xfrm>
          <a:prstGeom prst="rect">
            <a:avLst/>
          </a:prstGeom>
          <a:solidFill>
            <a:srgbClr val="D6EBE7"/>
          </a:solidFill>
          <a:ln w="6350">
            <a:solidFill>
              <a:srgbClr val="D3DCE5"/>
            </a:solidFill>
            <a:prstDash val="solid"/>
          </a:ln>
        </p:spPr>
      </p:sp>
      <p:sp>
        <p:nvSpPr>
          <p:cNvPr id="84" name="Text 82"/>
          <p:cNvSpPr txBox="1"/>
          <p:nvPr/>
        </p:nvSpPr>
        <p:spPr>
          <a:xfrm>
            <a:off x="5916168" y="4608576"/>
            <a:ext cx="5806440" cy="27432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230.5 / 14.3 - the annuity period in our terminal value</a:t>
            </a:r>
            <a:endParaRPr lang="en-US" sz="880" dirty="0"/>
          </a:p>
        </p:txBody>
      </p:sp>
      <p:sp>
        <p:nvSpPr>
          <p:cNvPr id="85" name="Shape 83"/>
          <p:cNvSpPr/>
          <p:nvPr/>
        </p:nvSpPr>
        <p:spPr>
          <a:xfrm>
            <a:off x="411480" y="5010912"/>
            <a:ext cx="11375136" cy="932688"/>
          </a:xfrm>
          <a:prstGeom prst="rect">
            <a:avLst/>
          </a:prstGeom>
          <a:solidFill>
            <a:srgbClr val="EEF2F6"/>
          </a:solidFill>
          <a:ln w="9525">
            <a:solidFill>
              <a:srgbClr val="D3DCE5"/>
            </a:solidFill>
            <a:prstDash val="solid"/>
          </a:ln>
        </p:spPr>
      </p:sp>
      <p:sp>
        <p:nvSpPr>
          <p:cNvPr id="86" name="Text 84"/>
          <p:cNvSpPr txBox="1"/>
          <p:nvPr/>
        </p:nvSpPr>
        <p:spPr>
          <a:xfrm>
            <a:off x="576072" y="5138928"/>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What happens if conversion disappoints</a:t>
            </a:r>
            <a:endParaRPr lang="en-US" sz="1150" dirty="0"/>
          </a:p>
        </p:txBody>
      </p:sp>
      <p:sp>
        <p:nvSpPr>
          <p:cNvPr id="87" name="Text 85"/>
          <p:cNvSpPr txBox="1"/>
          <p:nvPr/>
        </p:nvSpPr>
        <p:spPr>
          <a:xfrm>
            <a:off x="576072" y="5468112"/>
            <a:ext cx="11045952" cy="384048"/>
          </a:xfrm>
          <a:prstGeom prst="rect">
            <a:avLst/>
          </a:prstGeom>
          <a:noFill/>
          <a:ln/>
        </p:spPr>
        <p:txBody>
          <a:bodyPr wrap="square" lIns="0" tIns="0" rIns="0" bIns="0" rtlCol="0" anchor="t"/>
          <a:lstStyle/>
          <a:p>
            <a:pPr indent="0" marL="0">
              <a:lnSpc>
                <a:spcPct val="105000"/>
              </a:lnSpc>
              <a:buNone/>
            </a:pPr>
            <a:r>
              <a:rPr lang="en-US" sz="740" dirty="0">
                <a:solidFill>
                  <a:srgbClr val="1B2733"/>
                </a:solidFill>
                <a:latin typeface="Calibri" pitchFamily="34" charset="0"/>
                <a:ea typeface="Calibri" pitchFamily="34" charset="-122"/>
                <a:cs typeface="Calibri" pitchFamily="34" charset="-120"/>
              </a:rPr>
              <a:t>At 60% conversion the mineable base falls to 267.6Mt, remaining life drops to about 11.4 years, and our target falls by roughly A$0.40 per share. At 90% it rises to 401.4Mt and about 20.8 years, adding roughly A$0.30. The Ore Reserve has not been restated since August 2023, so the next reserve statement moves the valuation in either direction. We have flagged it in the risk register rather than assuming the 2025 resource upgrade converts automatically.</a:t>
            </a:r>
            <a:endParaRPr lang="en-US" sz="740" dirty="0"/>
          </a:p>
        </p:txBody>
      </p:sp>
      <p:sp>
        <p:nvSpPr>
          <p:cNvPr id="88" name="Text 86"/>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resource and reserve statements; FY26 results; team valuation model, Assumptions sheet. Mass pull and mine life are computed live in the workbook, not typed.</a:t>
            </a:r>
            <a:endParaRPr lang="en-US" sz="720" dirty="0"/>
          </a:p>
        </p:txBody>
      </p:sp>
      <p:sp>
        <p:nvSpPr>
          <p:cNvPr id="89" name="Text 87"/>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The clearest example in this business of an environmental improvement and a cost improvement being the same decision.</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A3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Text 5"/>
          <p:cNvSpPr txBox="1"/>
          <p:nvPr/>
        </p:nvSpPr>
        <p:spPr>
          <a:xfrm>
            <a:off x="411480" y="1298448"/>
            <a:ext cx="2651760" cy="566928"/>
          </a:xfrm>
          <a:prstGeom prst="rect">
            <a:avLst/>
          </a:prstGeom>
          <a:noFill/>
          <a:ln/>
        </p:spPr>
        <p:txBody>
          <a:bodyPr wrap="square" lIns="0" tIns="0" rIns="0" bIns="0" rtlCol="0" anchor="b"/>
          <a:lstStyle/>
          <a:p>
            <a:pPr algn="l" indent="0" marL="0">
              <a:buNone/>
            </a:pPr>
            <a:r>
              <a:rPr lang="en-US" sz="3000" b="1" dirty="0">
                <a:solidFill>
                  <a:srgbClr val="10233A"/>
                </a:solidFill>
                <a:latin typeface="Cambria" pitchFamily="34" charset="0"/>
                <a:ea typeface="Cambria" pitchFamily="34" charset="-122"/>
                <a:cs typeface="Cambria" pitchFamily="34" charset="-120"/>
              </a:rPr>
              <a:t>A$103m</a:t>
            </a:r>
            <a:endParaRPr lang="en-US" sz="3000" dirty="0"/>
          </a:p>
        </p:txBody>
      </p:sp>
      <p:sp>
        <p:nvSpPr>
          <p:cNvPr id="8" name="Text 6"/>
          <p:cNvSpPr txBox="1"/>
          <p:nvPr/>
        </p:nvSpPr>
        <p:spPr>
          <a:xfrm>
            <a:off x="411480" y="1847088"/>
            <a:ext cx="265176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P680 capital cost</a:t>
            </a:r>
            <a:endParaRPr lang="en-US" sz="1000" dirty="0"/>
          </a:p>
        </p:txBody>
      </p:sp>
      <p:sp>
        <p:nvSpPr>
          <p:cNvPr id="9" name="Text 7"/>
          <p:cNvSpPr txBox="1"/>
          <p:nvPr/>
        </p:nvSpPr>
        <p:spPr>
          <a:xfrm>
            <a:off x="411480" y="2066544"/>
            <a:ext cx="265176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Part-funded by a Northern Australia Infrastructure Facility debt facility of up to A$125m.</a:t>
            </a:r>
            <a:endParaRPr lang="en-US" sz="850" dirty="0"/>
          </a:p>
        </p:txBody>
      </p:sp>
      <p:sp>
        <p:nvSpPr>
          <p:cNvPr id="10" name="Text 8"/>
          <p:cNvSpPr txBox="1"/>
          <p:nvPr/>
        </p:nvSpPr>
        <p:spPr>
          <a:xfrm>
            <a:off x="3291840" y="1298448"/>
            <a:ext cx="2651760" cy="566928"/>
          </a:xfrm>
          <a:prstGeom prst="rect">
            <a:avLst/>
          </a:prstGeom>
          <a:noFill/>
          <a:ln/>
        </p:spPr>
        <p:txBody>
          <a:bodyPr wrap="square" lIns="0" tIns="0" rIns="0" bIns="0" rtlCol="0" anchor="b"/>
          <a:lstStyle/>
          <a:p>
            <a:pPr algn="l" indent="0" marL="0">
              <a:buNone/>
            </a:pPr>
            <a:r>
              <a:rPr lang="en-US" sz="3000" b="1" dirty="0">
                <a:solidFill>
                  <a:srgbClr val="0E7C6B"/>
                </a:solidFill>
                <a:latin typeface="Cambria" pitchFamily="34" charset="0"/>
                <a:ea typeface="Cambria" pitchFamily="34" charset="-122"/>
                <a:cs typeface="Cambria" pitchFamily="34" charset="-120"/>
              </a:rPr>
              <a:t>&gt;1,000 t/h</a:t>
            </a:r>
            <a:endParaRPr lang="en-US" sz="3000" dirty="0"/>
          </a:p>
        </p:txBody>
      </p:sp>
      <p:sp>
        <p:nvSpPr>
          <p:cNvPr id="11" name="Text 9"/>
          <p:cNvSpPr txBox="1"/>
          <p:nvPr/>
        </p:nvSpPr>
        <p:spPr>
          <a:xfrm>
            <a:off x="3291840" y="1847088"/>
            <a:ext cx="265176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Sorting capacity</a:t>
            </a:r>
            <a:endParaRPr lang="en-US" sz="1000" dirty="0"/>
          </a:p>
        </p:txBody>
      </p:sp>
      <p:sp>
        <p:nvSpPr>
          <p:cNvPr id="12" name="Text 10"/>
          <p:cNvSpPr txBox="1"/>
          <p:nvPr/>
        </p:nvSpPr>
        <p:spPr>
          <a:xfrm>
            <a:off x="3291840" y="2066544"/>
            <a:ext cx="265176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A TOMRA sensor-based sorter, described by the supplier as the largest in lithium.</a:t>
            </a:r>
            <a:endParaRPr lang="en-US" sz="850" dirty="0"/>
          </a:p>
        </p:txBody>
      </p:sp>
      <p:sp>
        <p:nvSpPr>
          <p:cNvPr id="13" name="Text 11"/>
          <p:cNvSpPr txBox="1"/>
          <p:nvPr/>
        </p:nvSpPr>
        <p:spPr>
          <a:xfrm>
            <a:off x="6172200" y="1298448"/>
            <a:ext cx="2651760" cy="566928"/>
          </a:xfrm>
          <a:prstGeom prst="rect">
            <a:avLst/>
          </a:prstGeom>
          <a:noFill/>
          <a:ln/>
        </p:spPr>
        <p:txBody>
          <a:bodyPr wrap="square" lIns="0" tIns="0" rIns="0" bIns="0" rtlCol="0" anchor="b"/>
          <a:lstStyle/>
          <a:p>
            <a:pPr algn="l" indent="0" marL="0">
              <a:buNone/>
            </a:pPr>
            <a:r>
              <a:rPr lang="en-US" sz="3000" b="1" dirty="0">
                <a:solidFill>
                  <a:srgbClr val="10233A"/>
                </a:solidFill>
                <a:latin typeface="Cambria" pitchFamily="34" charset="0"/>
                <a:ea typeface="Cambria" pitchFamily="34" charset="-122"/>
                <a:cs typeface="Cambria" pitchFamily="34" charset="-120"/>
              </a:rPr>
              <a:t>Aug 2024</a:t>
            </a:r>
            <a:endParaRPr lang="en-US" sz="3000" dirty="0"/>
          </a:p>
        </p:txBody>
      </p:sp>
      <p:sp>
        <p:nvSpPr>
          <p:cNvPr id="14" name="Text 12"/>
          <p:cNvSpPr txBox="1"/>
          <p:nvPr/>
        </p:nvSpPr>
        <p:spPr>
          <a:xfrm>
            <a:off x="6172200" y="1847088"/>
            <a:ext cx="265176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Commissioned</a:t>
            </a:r>
            <a:endParaRPr lang="en-US" sz="1000" dirty="0"/>
          </a:p>
        </p:txBody>
      </p:sp>
      <p:sp>
        <p:nvSpPr>
          <p:cNvPr id="15" name="Text 13"/>
          <p:cNvSpPr txBox="1"/>
          <p:nvPr/>
        </p:nvSpPr>
        <p:spPr>
          <a:xfrm>
            <a:off x="6172200" y="2066544"/>
            <a:ext cx="265176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Followed by the P1000 ramp, which lifted combined capacity to about 1.0Mtpa.</a:t>
            </a:r>
            <a:endParaRPr lang="en-US" sz="850" dirty="0"/>
          </a:p>
        </p:txBody>
      </p:sp>
      <p:sp>
        <p:nvSpPr>
          <p:cNvPr id="16" name="Text 14"/>
          <p:cNvSpPr txBox="1"/>
          <p:nvPr/>
        </p:nvSpPr>
        <p:spPr>
          <a:xfrm>
            <a:off x="9052560" y="1298448"/>
            <a:ext cx="2734056" cy="566928"/>
          </a:xfrm>
          <a:prstGeom prst="rect">
            <a:avLst/>
          </a:prstGeom>
          <a:noFill/>
          <a:ln/>
        </p:spPr>
        <p:txBody>
          <a:bodyPr wrap="square" lIns="0" tIns="0" rIns="0" bIns="0" rtlCol="0" anchor="b"/>
          <a:lstStyle/>
          <a:p>
            <a:pPr algn="l" indent="0" marL="0">
              <a:buNone/>
            </a:pPr>
            <a:r>
              <a:rPr lang="en-US" sz="3000" b="1" dirty="0">
                <a:solidFill>
                  <a:srgbClr val="0E7C6B"/>
                </a:solidFill>
                <a:latin typeface="Cambria" pitchFamily="34" charset="0"/>
                <a:ea typeface="Cambria" pitchFamily="34" charset="-122"/>
                <a:cs typeface="Cambria" pitchFamily="34" charset="-120"/>
              </a:rPr>
              <a:t>A$30/t</a:t>
            </a:r>
            <a:endParaRPr lang="en-US" sz="3000" dirty="0"/>
          </a:p>
        </p:txBody>
      </p:sp>
      <p:sp>
        <p:nvSpPr>
          <p:cNvPr id="17" name="Text 15"/>
          <p:cNvSpPr txBox="1"/>
          <p:nvPr/>
        </p:nvSpPr>
        <p:spPr>
          <a:xfrm>
            <a:off x="9052560" y="1847088"/>
            <a:ext cx="2734056"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Our attribution</a:t>
            </a:r>
            <a:endParaRPr lang="en-US" sz="1000" dirty="0"/>
          </a:p>
        </p:txBody>
      </p:sp>
      <p:sp>
        <p:nvSpPr>
          <p:cNvPr id="18" name="Text 16"/>
          <p:cNvSpPr txBox="1"/>
          <p:nvPr/>
        </p:nvSpPr>
        <p:spPr>
          <a:xfrm>
            <a:off x="9052560" y="2066544"/>
            <a:ext cx="2734056"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Roughly half of the A$58/t fall in FY26 unit costs, with the remainder from volume scale.</a:t>
            </a:r>
            <a:endParaRPr lang="en-US" sz="850" dirty="0"/>
          </a:p>
        </p:txBody>
      </p:sp>
      <p:sp>
        <p:nvSpPr>
          <p:cNvPr id="19" name="Shape 17"/>
          <p:cNvSpPr/>
          <p:nvPr/>
        </p:nvSpPr>
        <p:spPr>
          <a:xfrm>
            <a:off x="411480" y="2779776"/>
            <a:ext cx="5577840" cy="2103120"/>
          </a:xfrm>
          <a:prstGeom prst="rect">
            <a:avLst/>
          </a:prstGeom>
          <a:solidFill>
            <a:srgbClr val="D6EBE7"/>
          </a:solidFill>
          <a:ln w="9525">
            <a:solidFill>
              <a:srgbClr val="AFD3CC"/>
            </a:solidFill>
            <a:prstDash val="solid"/>
          </a:ln>
        </p:spPr>
      </p:sp>
      <p:sp>
        <p:nvSpPr>
          <p:cNvPr id="20" name="Text 18"/>
          <p:cNvSpPr txBox="1"/>
          <p:nvPr/>
        </p:nvSpPr>
        <p:spPr>
          <a:xfrm>
            <a:off x="576072" y="2907792"/>
            <a:ext cx="5266944"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How sensor-based sorting works, and why it cuts two things at once</a:t>
            </a:r>
            <a:endParaRPr lang="en-US" sz="1150" dirty="0"/>
          </a:p>
        </p:txBody>
      </p:sp>
      <p:sp>
        <p:nvSpPr>
          <p:cNvPr id="21" name="Text 19"/>
          <p:cNvSpPr txBox="1"/>
          <p:nvPr/>
        </p:nvSpPr>
        <p:spPr>
          <a:xfrm>
            <a:off x="594360" y="3346704"/>
            <a:ext cx="5212080" cy="142646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Ore is scanned and barren rock is ejected before it reaches crushing and flotation.</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Fewer tonnes are milled for the same contained lithium, so energy per tonne of product falls.</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The same mechanism lowers unit cost, because milling and flotation are the expensive steps.</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Waste that never enters the plant also never enters the tailings stream.</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This is Porter and Kramer's second level: an environmental problem solved in a way that lowers cost, rather than an offset purchased after the fact.</a:t>
            </a:r>
            <a:endParaRPr lang="en-US" sz="830" dirty="0"/>
          </a:p>
        </p:txBody>
      </p:sp>
      <p:sp>
        <p:nvSpPr>
          <p:cNvPr id="22" name="Shape 20"/>
          <p:cNvSpPr/>
          <p:nvPr/>
        </p:nvSpPr>
        <p:spPr>
          <a:xfrm>
            <a:off x="6208776" y="2779776"/>
            <a:ext cx="5577840" cy="2103120"/>
          </a:xfrm>
          <a:prstGeom prst="rect">
            <a:avLst/>
          </a:prstGeom>
          <a:solidFill>
            <a:srgbClr val="FBEBD9"/>
          </a:solidFill>
          <a:ln w="9525">
            <a:solidFill>
              <a:srgbClr val="E8C9A3"/>
            </a:solidFill>
            <a:prstDash val="solid"/>
          </a:ln>
        </p:spPr>
      </p:sp>
      <p:sp>
        <p:nvSpPr>
          <p:cNvPr id="23" name="Text 21"/>
          <p:cNvSpPr txBox="1"/>
          <p:nvPr/>
        </p:nvSpPr>
        <p:spPr>
          <a:xfrm>
            <a:off x="6373368" y="2907792"/>
            <a:ext cx="5266944" cy="365760"/>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The honest limits of this claim</a:t>
            </a:r>
            <a:endParaRPr lang="en-US" sz="1150" dirty="0"/>
          </a:p>
        </p:txBody>
      </p:sp>
      <p:sp>
        <p:nvSpPr>
          <p:cNvPr id="24" name="Text 22"/>
          <p:cNvSpPr txBox="1"/>
          <p:nvPr/>
        </p:nvSpPr>
        <p:spPr>
          <a:xfrm>
            <a:off x="6391656" y="3346704"/>
            <a:ext cx="5212080" cy="142646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880" dirty="0">
                <a:solidFill>
                  <a:srgbClr val="1B2733"/>
                </a:solidFill>
                <a:latin typeface="Calibri" pitchFamily="34" charset="0"/>
                <a:ea typeface="Calibri" pitchFamily="34" charset="-122"/>
                <a:cs typeface="Calibri" pitchFamily="34" charset="-120"/>
              </a:rPr>
              <a:t>PLS does not disclose an energy saving per tonne attributable to the sorter, so our A$30/t is an attribution, not a disclosure.</a:t>
            </a:r>
            <a:endParaRPr lang="en-US" sz="880" dirty="0"/>
          </a:p>
          <a:p>
            <a:pPr marL="342900" indent="-342900">
              <a:lnSpc>
                <a:spcPct val="100000"/>
              </a:lnSpc>
              <a:spcAft>
                <a:spcPts val="500"/>
              </a:spcAft>
              <a:buSzPct val="100000"/>
              <a:buChar char="▪"/>
            </a:pPr>
            <a:r>
              <a:rPr lang="en-US" sz="880" dirty="0">
                <a:solidFill>
                  <a:srgbClr val="1B2733"/>
                </a:solidFill>
                <a:latin typeface="Calibri" pitchFamily="34" charset="0"/>
                <a:ea typeface="Calibri" pitchFamily="34" charset="-122"/>
                <a:cs typeface="Calibri" pitchFamily="34" charset="-120"/>
              </a:rPr>
              <a:t>Trade press reported a 10% quarter-on-quarter unit cost reduction during the P1000 ramp; we could not verify the exact quarters, so we did not build on it.</a:t>
            </a:r>
            <a:endParaRPr lang="en-US" sz="880" dirty="0"/>
          </a:p>
          <a:p>
            <a:pPr marL="342900" indent="-342900">
              <a:lnSpc>
                <a:spcPct val="100000"/>
              </a:lnSpc>
              <a:spcAft>
                <a:spcPts val="500"/>
              </a:spcAft>
              <a:buSzPct val="100000"/>
              <a:buChar char="▪"/>
            </a:pPr>
            <a:r>
              <a:rPr lang="en-US" sz="880" dirty="0">
                <a:solidFill>
                  <a:srgbClr val="1B2733"/>
                </a:solidFill>
                <a:latin typeface="Calibri" pitchFamily="34" charset="0"/>
                <a:ea typeface="Calibri" pitchFamily="34" charset="-122"/>
                <a:cs typeface="Calibri" pitchFamily="34" charset="-120"/>
              </a:rPr>
              <a:t>Ore sorting is available to any operator with the capital. It is a cost advantage today, not a durable moat.</a:t>
            </a:r>
            <a:endParaRPr lang="en-US" sz="880" dirty="0"/>
          </a:p>
          <a:p>
            <a:pPr marL="342900" indent="-342900">
              <a:lnSpc>
                <a:spcPct val="100000"/>
              </a:lnSpc>
              <a:spcAft>
                <a:spcPts val="500"/>
              </a:spcAft>
              <a:buSzPct val="100000"/>
              <a:buChar char="▪"/>
            </a:pPr>
            <a:r>
              <a:rPr lang="en-US" sz="880" dirty="0">
                <a:solidFill>
                  <a:srgbClr val="1B2733"/>
                </a:solidFill>
                <a:latin typeface="Calibri" pitchFamily="34" charset="0"/>
                <a:ea typeface="Calibri" pitchFamily="34" charset="-122"/>
                <a:cs typeface="Calibri" pitchFamily="34" charset="-120"/>
              </a:rPr>
              <a:t>We would put a request for disclosed energy intensity per tonne to management, and have listed it as an engagement ask.</a:t>
            </a:r>
            <a:endParaRPr lang="en-US" sz="880" dirty="0"/>
          </a:p>
        </p:txBody>
      </p:sp>
      <p:sp>
        <p:nvSpPr>
          <p:cNvPr id="25" name="Text 23"/>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TOMRA Mining; Global Mining Review; Northern Australia Infrastructure Facility project page; PLS FY26 results. The A$30/t figure is the team's attribution, derived on slide 9 of the main deck.</a:t>
            </a:r>
            <a:endParaRPr lang="en-US" sz="720" dirty="0"/>
          </a:p>
        </p:txBody>
      </p:sp>
      <p:sp>
        <p:nvSpPr>
          <p:cNvPr id="26" name="Text 24"/>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Three completed expansions in four years took nameplate from about 500ktpa to roughly 1.2Mtpa including Ngungaju.</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A4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103120" cy="292608"/>
          </a:xfrm>
          <a:prstGeom prst="rect">
            <a:avLst/>
          </a:prstGeom>
          <a:solidFill>
            <a:srgbClr val="10233A"/>
          </a:solidFill>
          <a:ln/>
        </p:spPr>
      </p:sp>
      <p:sp>
        <p:nvSpPr>
          <p:cNvPr id="8" name="Text 6"/>
          <p:cNvSpPr txBox="1"/>
          <p:nvPr/>
        </p:nvSpPr>
        <p:spPr>
          <a:xfrm>
            <a:off x="475488" y="1298448"/>
            <a:ext cx="19751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Project</a:t>
            </a:r>
            <a:endParaRPr lang="en-US" sz="900" dirty="0"/>
          </a:p>
        </p:txBody>
      </p:sp>
      <p:sp>
        <p:nvSpPr>
          <p:cNvPr id="9" name="Shape 7"/>
          <p:cNvSpPr/>
          <p:nvPr/>
        </p:nvSpPr>
        <p:spPr>
          <a:xfrm>
            <a:off x="2514600" y="1298448"/>
            <a:ext cx="1417320" cy="292608"/>
          </a:xfrm>
          <a:prstGeom prst="rect">
            <a:avLst/>
          </a:prstGeom>
          <a:solidFill>
            <a:srgbClr val="10233A"/>
          </a:solidFill>
          <a:ln/>
        </p:spPr>
      </p:sp>
      <p:sp>
        <p:nvSpPr>
          <p:cNvPr id="10" name="Text 8"/>
          <p:cNvSpPr txBox="1"/>
          <p:nvPr/>
        </p:nvSpPr>
        <p:spPr>
          <a:xfrm>
            <a:off x="2578608" y="1298448"/>
            <a:ext cx="128930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p>
        </p:txBody>
      </p:sp>
      <p:sp>
        <p:nvSpPr>
          <p:cNvPr id="11" name="Shape 9"/>
          <p:cNvSpPr/>
          <p:nvPr/>
        </p:nvSpPr>
        <p:spPr>
          <a:xfrm>
            <a:off x="3931920" y="1298448"/>
            <a:ext cx="2697480" cy="292608"/>
          </a:xfrm>
          <a:prstGeom prst="rect">
            <a:avLst/>
          </a:prstGeom>
          <a:solidFill>
            <a:srgbClr val="10233A"/>
          </a:solidFill>
          <a:ln/>
        </p:spPr>
      </p:sp>
      <p:sp>
        <p:nvSpPr>
          <p:cNvPr id="12" name="Text 10"/>
          <p:cNvSpPr txBox="1"/>
          <p:nvPr/>
        </p:nvSpPr>
        <p:spPr>
          <a:xfrm>
            <a:off x="3995928" y="1298448"/>
            <a:ext cx="256946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Capital</a:t>
            </a:r>
            <a:endParaRPr lang="en-US" sz="900" dirty="0"/>
          </a:p>
        </p:txBody>
      </p:sp>
      <p:sp>
        <p:nvSpPr>
          <p:cNvPr id="13" name="Shape 11"/>
          <p:cNvSpPr/>
          <p:nvPr/>
        </p:nvSpPr>
        <p:spPr>
          <a:xfrm>
            <a:off x="6629400" y="1298448"/>
            <a:ext cx="1417320" cy="292608"/>
          </a:xfrm>
          <a:prstGeom prst="rect">
            <a:avLst/>
          </a:prstGeom>
          <a:solidFill>
            <a:srgbClr val="10233A"/>
          </a:solidFill>
          <a:ln/>
        </p:spPr>
      </p:sp>
      <p:sp>
        <p:nvSpPr>
          <p:cNvPr id="14" name="Text 12"/>
          <p:cNvSpPr txBox="1"/>
          <p:nvPr/>
        </p:nvSpPr>
        <p:spPr>
          <a:xfrm>
            <a:off x="6693408" y="1298448"/>
            <a:ext cx="128930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Timing</a:t>
            </a:r>
            <a:endParaRPr lang="en-US" sz="900" dirty="0"/>
          </a:p>
        </p:txBody>
      </p:sp>
      <p:sp>
        <p:nvSpPr>
          <p:cNvPr id="15" name="Shape 13"/>
          <p:cNvSpPr/>
          <p:nvPr/>
        </p:nvSpPr>
        <p:spPr>
          <a:xfrm>
            <a:off x="8046720" y="1298448"/>
            <a:ext cx="3739896" cy="292608"/>
          </a:xfrm>
          <a:prstGeom prst="rect">
            <a:avLst/>
          </a:prstGeom>
          <a:solidFill>
            <a:srgbClr val="10233A"/>
          </a:solidFill>
          <a:ln/>
        </p:spPr>
      </p:sp>
      <p:sp>
        <p:nvSpPr>
          <p:cNvPr id="16" name="Text 14"/>
          <p:cNvSpPr txBox="1"/>
          <p:nvPr/>
        </p:nvSpPr>
        <p:spPr>
          <a:xfrm>
            <a:off x="8110728" y="1298448"/>
            <a:ext cx="361188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Scope</a:t>
            </a:r>
            <a:endParaRPr lang="en-US" sz="900" dirty="0"/>
          </a:p>
        </p:txBody>
      </p:sp>
      <p:sp>
        <p:nvSpPr>
          <p:cNvPr id="17" name="Shape 15"/>
          <p:cNvSpPr/>
          <p:nvPr/>
        </p:nvSpPr>
        <p:spPr>
          <a:xfrm>
            <a:off x="411480" y="1591056"/>
            <a:ext cx="2103120" cy="429768"/>
          </a:xfrm>
          <a:prstGeom prst="rect">
            <a:avLst/>
          </a:prstGeom>
          <a:solidFill>
            <a:srgbClr val="D6EBE7"/>
          </a:solidFill>
          <a:ln w="6350">
            <a:solidFill>
              <a:srgbClr val="D3DCE5"/>
            </a:solidFill>
            <a:prstDash val="solid"/>
          </a:ln>
        </p:spPr>
      </p:sp>
      <p:sp>
        <p:nvSpPr>
          <p:cNvPr id="18" name="Text 16"/>
          <p:cNvSpPr txBox="1"/>
          <p:nvPr/>
        </p:nvSpPr>
        <p:spPr>
          <a:xfrm>
            <a:off x="475488" y="1591056"/>
            <a:ext cx="1975104" cy="4297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P680</a:t>
            </a:r>
            <a:endParaRPr lang="en-US" sz="860" dirty="0"/>
          </a:p>
        </p:txBody>
      </p:sp>
      <p:sp>
        <p:nvSpPr>
          <p:cNvPr id="19" name="Shape 17"/>
          <p:cNvSpPr/>
          <p:nvPr/>
        </p:nvSpPr>
        <p:spPr>
          <a:xfrm>
            <a:off x="2514600" y="1591056"/>
            <a:ext cx="1417320" cy="429768"/>
          </a:xfrm>
          <a:prstGeom prst="rect">
            <a:avLst/>
          </a:prstGeom>
          <a:solidFill>
            <a:srgbClr val="D6EBE7"/>
          </a:solidFill>
          <a:ln w="6350">
            <a:solidFill>
              <a:srgbClr val="D3DCE5"/>
            </a:solidFill>
            <a:prstDash val="solid"/>
          </a:ln>
        </p:spPr>
      </p:sp>
      <p:sp>
        <p:nvSpPr>
          <p:cNvPr id="20" name="Text 18"/>
          <p:cNvSpPr txBox="1"/>
          <p:nvPr/>
        </p:nvSpPr>
        <p:spPr>
          <a:xfrm>
            <a:off x="2578608" y="1591056"/>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Complete</a:t>
            </a:r>
            <a:endParaRPr lang="en-US" sz="860" dirty="0"/>
          </a:p>
        </p:txBody>
      </p:sp>
      <p:sp>
        <p:nvSpPr>
          <p:cNvPr id="21" name="Shape 19"/>
          <p:cNvSpPr/>
          <p:nvPr/>
        </p:nvSpPr>
        <p:spPr>
          <a:xfrm>
            <a:off x="3931920" y="1591056"/>
            <a:ext cx="2697480" cy="429768"/>
          </a:xfrm>
          <a:prstGeom prst="rect">
            <a:avLst/>
          </a:prstGeom>
          <a:solidFill>
            <a:srgbClr val="D6EBE7"/>
          </a:solidFill>
          <a:ln w="6350">
            <a:solidFill>
              <a:srgbClr val="D3DCE5"/>
            </a:solidFill>
            <a:prstDash val="solid"/>
          </a:ln>
        </p:spPr>
      </p:sp>
      <p:sp>
        <p:nvSpPr>
          <p:cNvPr id="22" name="Text 20"/>
          <p:cNvSpPr txBox="1"/>
          <p:nvPr/>
        </p:nvSpPr>
        <p:spPr>
          <a:xfrm>
            <a:off x="3995928" y="1591056"/>
            <a:ext cx="2569464"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A$103m</a:t>
            </a:r>
            <a:endParaRPr lang="en-US" sz="860" dirty="0"/>
          </a:p>
        </p:txBody>
      </p:sp>
      <p:sp>
        <p:nvSpPr>
          <p:cNvPr id="23" name="Shape 21"/>
          <p:cNvSpPr/>
          <p:nvPr/>
        </p:nvSpPr>
        <p:spPr>
          <a:xfrm>
            <a:off x="6629400" y="1591056"/>
            <a:ext cx="1417320" cy="429768"/>
          </a:xfrm>
          <a:prstGeom prst="rect">
            <a:avLst/>
          </a:prstGeom>
          <a:solidFill>
            <a:srgbClr val="D6EBE7"/>
          </a:solidFill>
          <a:ln w="6350">
            <a:solidFill>
              <a:srgbClr val="D3DCE5"/>
            </a:solidFill>
            <a:prstDash val="solid"/>
          </a:ln>
        </p:spPr>
      </p:sp>
      <p:sp>
        <p:nvSpPr>
          <p:cNvPr id="24" name="Text 22"/>
          <p:cNvSpPr txBox="1"/>
          <p:nvPr/>
        </p:nvSpPr>
        <p:spPr>
          <a:xfrm>
            <a:off x="6693408" y="1591056"/>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Aug 2024</a:t>
            </a:r>
            <a:endParaRPr lang="en-US" sz="860" dirty="0"/>
          </a:p>
        </p:txBody>
      </p:sp>
      <p:sp>
        <p:nvSpPr>
          <p:cNvPr id="25" name="Shape 23"/>
          <p:cNvSpPr/>
          <p:nvPr/>
        </p:nvSpPr>
        <p:spPr>
          <a:xfrm>
            <a:off x="8046720" y="1591056"/>
            <a:ext cx="3739896" cy="429768"/>
          </a:xfrm>
          <a:prstGeom prst="rect">
            <a:avLst/>
          </a:prstGeom>
          <a:solidFill>
            <a:srgbClr val="D6EBE7"/>
          </a:solidFill>
          <a:ln w="6350">
            <a:solidFill>
              <a:srgbClr val="D3DCE5"/>
            </a:solidFill>
            <a:prstDash val="solid"/>
          </a:ln>
        </p:spPr>
      </p:sp>
      <p:sp>
        <p:nvSpPr>
          <p:cNvPr id="26" name="Text 24"/>
          <p:cNvSpPr txBox="1"/>
          <p:nvPr/>
        </p:nvSpPr>
        <p:spPr>
          <a:xfrm>
            <a:off x="8110728" y="1591056"/>
            <a:ext cx="3611880"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Crushing and ore sorting. Lifted the Pilgan plant to about 640-680ktpa.</a:t>
            </a:r>
            <a:endParaRPr lang="en-US" sz="860" dirty="0"/>
          </a:p>
        </p:txBody>
      </p:sp>
      <p:sp>
        <p:nvSpPr>
          <p:cNvPr id="27" name="Shape 25"/>
          <p:cNvSpPr/>
          <p:nvPr/>
        </p:nvSpPr>
        <p:spPr>
          <a:xfrm>
            <a:off x="411480" y="2020824"/>
            <a:ext cx="2103120" cy="429768"/>
          </a:xfrm>
          <a:prstGeom prst="rect">
            <a:avLst/>
          </a:prstGeom>
          <a:solidFill>
            <a:srgbClr val="D6EBE7"/>
          </a:solidFill>
          <a:ln w="6350">
            <a:solidFill>
              <a:srgbClr val="D3DCE5"/>
            </a:solidFill>
            <a:prstDash val="solid"/>
          </a:ln>
        </p:spPr>
      </p:sp>
      <p:sp>
        <p:nvSpPr>
          <p:cNvPr id="28" name="Text 26"/>
          <p:cNvSpPr txBox="1"/>
          <p:nvPr/>
        </p:nvSpPr>
        <p:spPr>
          <a:xfrm>
            <a:off x="475488" y="2020824"/>
            <a:ext cx="1975104" cy="4297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P1000</a:t>
            </a:r>
            <a:endParaRPr lang="en-US" sz="860" dirty="0"/>
          </a:p>
        </p:txBody>
      </p:sp>
      <p:sp>
        <p:nvSpPr>
          <p:cNvPr id="29" name="Shape 27"/>
          <p:cNvSpPr/>
          <p:nvPr/>
        </p:nvSpPr>
        <p:spPr>
          <a:xfrm>
            <a:off x="2514600" y="2020824"/>
            <a:ext cx="1417320" cy="429768"/>
          </a:xfrm>
          <a:prstGeom prst="rect">
            <a:avLst/>
          </a:prstGeom>
          <a:solidFill>
            <a:srgbClr val="D6EBE7"/>
          </a:solidFill>
          <a:ln w="6350">
            <a:solidFill>
              <a:srgbClr val="D3DCE5"/>
            </a:solidFill>
            <a:prstDash val="solid"/>
          </a:ln>
        </p:spPr>
      </p:sp>
      <p:sp>
        <p:nvSpPr>
          <p:cNvPr id="30" name="Text 28"/>
          <p:cNvSpPr txBox="1"/>
          <p:nvPr/>
        </p:nvSpPr>
        <p:spPr>
          <a:xfrm>
            <a:off x="2578608" y="2020824"/>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Complete</a:t>
            </a:r>
            <a:endParaRPr lang="en-US" sz="860" dirty="0"/>
          </a:p>
        </p:txBody>
      </p:sp>
      <p:sp>
        <p:nvSpPr>
          <p:cNvPr id="31" name="Shape 29"/>
          <p:cNvSpPr/>
          <p:nvPr/>
        </p:nvSpPr>
        <p:spPr>
          <a:xfrm>
            <a:off x="3931920" y="2020824"/>
            <a:ext cx="2697480" cy="429768"/>
          </a:xfrm>
          <a:prstGeom prst="rect">
            <a:avLst/>
          </a:prstGeom>
          <a:solidFill>
            <a:srgbClr val="D6EBE7"/>
          </a:solidFill>
          <a:ln w="6350">
            <a:solidFill>
              <a:srgbClr val="D3DCE5"/>
            </a:solidFill>
            <a:prstDash val="solid"/>
          </a:ln>
        </p:spPr>
      </p:sp>
      <p:sp>
        <p:nvSpPr>
          <p:cNvPr id="32" name="Text 30"/>
          <p:cNvSpPr txBox="1"/>
          <p:nvPr/>
        </p:nvSpPr>
        <p:spPr>
          <a:xfrm>
            <a:off x="3995928" y="2020824"/>
            <a:ext cx="2569464"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A$375m</a:t>
            </a:r>
            <a:endParaRPr lang="en-US" sz="860" dirty="0"/>
          </a:p>
        </p:txBody>
      </p:sp>
      <p:sp>
        <p:nvSpPr>
          <p:cNvPr id="33" name="Shape 31"/>
          <p:cNvSpPr/>
          <p:nvPr/>
        </p:nvSpPr>
        <p:spPr>
          <a:xfrm>
            <a:off x="6629400" y="2020824"/>
            <a:ext cx="1417320" cy="429768"/>
          </a:xfrm>
          <a:prstGeom prst="rect">
            <a:avLst/>
          </a:prstGeom>
          <a:solidFill>
            <a:srgbClr val="D6EBE7"/>
          </a:solidFill>
          <a:ln w="6350">
            <a:solidFill>
              <a:srgbClr val="D3DCE5"/>
            </a:solidFill>
            <a:prstDash val="solid"/>
          </a:ln>
        </p:spPr>
      </p:sp>
      <p:sp>
        <p:nvSpPr>
          <p:cNvPr id="34" name="Text 32"/>
          <p:cNvSpPr txBox="1"/>
          <p:nvPr/>
        </p:nvSpPr>
        <p:spPr>
          <a:xfrm>
            <a:off x="6693408" y="2020824"/>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2025</a:t>
            </a:r>
            <a:endParaRPr lang="en-US" sz="860" dirty="0"/>
          </a:p>
        </p:txBody>
      </p:sp>
      <p:sp>
        <p:nvSpPr>
          <p:cNvPr id="35" name="Shape 33"/>
          <p:cNvSpPr/>
          <p:nvPr/>
        </p:nvSpPr>
        <p:spPr>
          <a:xfrm>
            <a:off x="8046720" y="2020824"/>
            <a:ext cx="3739896" cy="429768"/>
          </a:xfrm>
          <a:prstGeom prst="rect">
            <a:avLst/>
          </a:prstGeom>
          <a:solidFill>
            <a:srgbClr val="D6EBE7"/>
          </a:solidFill>
          <a:ln w="6350">
            <a:solidFill>
              <a:srgbClr val="D3DCE5"/>
            </a:solidFill>
            <a:prstDash val="solid"/>
          </a:ln>
        </p:spPr>
      </p:sp>
      <p:sp>
        <p:nvSpPr>
          <p:cNvPr id="36" name="Text 34"/>
          <p:cNvSpPr txBox="1"/>
          <p:nvPr/>
        </p:nvSpPr>
        <p:spPr>
          <a:xfrm>
            <a:off x="8110728" y="2020824"/>
            <a:ext cx="3611880"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Lifted combined Pilgangoora concentrate capacity to about 1.0Mtpa.</a:t>
            </a:r>
            <a:endParaRPr lang="en-US" sz="860" dirty="0"/>
          </a:p>
        </p:txBody>
      </p:sp>
      <p:sp>
        <p:nvSpPr>
          <p:cNvPr id="37" name="Shape 35"/>
          <p:cNvSpPr/>
          <p:nvPr/>
        </p:nvSpPr>
        <p:spPr>
          <a:xfrm>
            <a:off x="411480" y="2450592"/>
            <a:ext cx="2103120" cy="429768"/>
          </a:xfrm>
          <a:prstGeom prst="rect">
            <a:avLst/>
          </a:prstGeom>
          <a:solidFill>
            <a:srgbClr val="D6EBE7"/>
          </a:solidFill>
          <a:ln w="6350">
            <a:solidFill>
              <a:srgbClr val="D3DCE5"/>
            </a:solidFill>
            <a:prstDash val="solid"/>
          </a:ln>
        </p:spPr>
      </p:sp>
      <p:sp>
        <p:nvSpPr>
          <p:cNvPr id="38" name="Text 36"/>
          <p:cNvSpPr txBox="1"/>
          <p:nvPr/>
        </p:nvSpPr>
        <p:spPr>
          <a:xfrm>
            <a:off x="475488" y="2450592"/>
            <a:ext cx="1975104" cy="4297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Ngungaju restart</a:t>
            </a:r>
            <a:endParaRPr lang="en-US" sz="860" dirty="0"/>
          </a:p>
        </p:txBody>
      </p:sp>
      <p:sp>
        <p:nvSpPr>
          <p:cNvPr id="39" name="Shape 37"/>
          <p:cNvSpPr/>
          <p:nvPr/>
        </p:nvSpPr>
        <p:spPr>
          <a:xfrm>
            <a:off x="2514600" y="2450592"/>
            <a:ext cx="1417320" cy="429768"/>
          </a:xfrm>
          <a:prstGeom prst="rect">
            <a:avLst/>
          </a:prstGeom>
          <a:solidFill>
            <a:srgbClr val="D6EBE7"/>
          </a:solidFill>
          <a:ln w="6350">
            <a:solidFill>
              <a:srgbClr val="D3DCE5"/>
            </a:solidFill>
            <a:prstDash val="solid"/>
          </a:ln>
        </p:spPr>
      </p:sp>
      <p:sp>
        <p:nvSpPr>
          <p:cNvPr id="40" name="Text 38"/>
          <p:cNvSpPr txBox="1"/>
          <p:nvPr/>
        </p:nvSpPr>
        <p:spPr>
          <a:xfrm>
            <a:off x="2578608" y="2450592"/>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Complete</a:t>
            </a:r>
            <a:endParaRPr lang="en-US" sz="860" dirty="0"/>
          </a:p>
        </p:txBody>
      </p:sp>
      <p:sp>
        <p:nvSpPr>
          <p:cNvPr id="41" name="Shape 39"/>
          <p:cNvSpPr/>
          <p:nvPr/>
        </p:nvSpPr>
        <p:spPr>
          <a:xfrm>
            <a:off x="3931920" y="2450592"/>
            <a:ext cx="2697480" cy="429768"/>
          </a:xfrm>
          <a:prstGeom prst="rect">
            <a:avLst/>
          </a:prstGeom>
          <a:solidFill>
            <a:srgbClr val="D6EBE7"/>
          </a:solidFill>
          <a:ln w="6350">
            <a:solidFill>
              <a:srgbClr val="D3DCE5"/>
            </a:solidFill>
            <a:prstDash val="solid"/>
          </a:ln>
        </p:spPr>
      </p:sp>
      <p:sp>
        <p:nvSpPr>
          <p:cNvPr id="42" name="Text 40"/>
          <p:cNvSpPr txBox="1"/>
          <p:nvPr/>
        </p:nvSpPr>
        <p:spPr>
          <a:xfrm>
            <a:off x="3995928" y="2450592"/>
            <a:ext cx="2569464"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Restart cost not disclosed</a:t>
            </a:r>
            <a:endParaRPr lang="en-US" sz="860" dirty="0"/>
          </a:p>
        </p:txBody>
      </p:sp>
      <p:sp>
        <p:nvSpPr>
          <p:cNvPr id="43" name="Shape 41"/>
          <p:cNvSpPr/>
          <p:nvPr/>
        </p:nvSpPr>
        <p:spPr>
          <a:xfrm>
            <a:off x="6629400" y="2450592"/>
            <a:ext cx="1417320" cy="429768"/>
          </a:xfrm>
          <a:prstGeom prst="rect">
            <a:avLst/>
          </a:prstGeom>
          <a:solidFill>
            <a:srgbClr val="D6EBE7"/>
          </a:solidFill>
          <a:ln w="6350">
            <a:solidFill>
              <a:srgbClr val="D3DCE5"/>
            </a:solidFill>
            <a:prstDash val="solid"/>
          </a:ln>
        </p:spPr>
      </p:sp>
      <p:sp>
        <p:nvSpPr>
          <p:cNvPr id="44" name="Text 42"/>
          <p:cNvSpPr txBox="1"/>
          <p:nvPr/>
        </p:nvSpPr>
        <p:spPr>
          <a:xfrm>
            <a:off x="6693408" y="2450592"/>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Jul 2026</a:t>
            </a:r>
            <a:endParaRPr lang="en-US" sz="860" dirty="0"/>
          </a:p>
        </p:txBody>
      </p:sp>
      <p:sp>
        <p:nvSpPr>
          <p:cNvPr id="45" name="Shape 43"/>
          <p:cNvSpPr/>
          <p:nvPr/>
        </p:nvSpPr>
        <p:spPr>
          <a:xfrm>
            <a:off x="8046720" y="2450592"/>
            <a:ext cx="3739896" cy="429768"/>
          </a:xfrm>
          <a:prstGeom prst="rect">
            <a:avLst/>
          </a:prstGeom>
          <a:solidFill>
            <a:srgbClr val="D6EBE7"/>
          </a:solidFill>
          <a:ln w="6350">
            <a:solidFill>
              <a:srgbClr val="D3DCE5"/>
            </a:solidFill>
            <a:prstDash val="solid"/>
          </a:ln>
        </p:spPr>
      </p:sp>
      <p:sp>
        <p:nvSpPr>
          <p:cNvPr id="46" name="Text 44"/>
          <p:cNvSpPr txBox="1"/>
          <p:nvPr/>
        </p:nvSpPr>
        <p:spPr>
          <a:xfrm>
            <a:off x="8110728" y="2450592"/>
            <a:ext cx="3611880"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About 200ktpa returned to service after being idled in December 2024.</a:t>
            </a:r>
            <a:endParaRPr lang="en-US" sz="860" dirty="0"/>
          </a:p>
        </p:txBody>
      </p:sp>
      <p:sp>
        <p:nvSpPr>
          <p:cNvPr id="47" name="Shape 45"/>
          <p:cNvSpPr/>
          <p:nvPr/>
        </p:nvSpPr>
        <p:spPr>
          <a:xfrm>
            <a:off x="411480" y="2880360"/>
            <a:ext cx="2103120" cy="429768"/>
          </a:xfrm>
          <a:prstGeom prst="rect">
            <a:avLst/>
          </a:prstGeom>
          <a:solidFill>
            <a:srgbClr val="EEF2F6"/>
          </a:solidFill>
          <a:ln w="6350">
            <a:solidFill>
              <a:srgbClr val="D3DCE5"/>
            </a:solidFill>
            <a:prstDash val="solid"/>
          </a:ln>
        </p:spPr>
      </p:sp>
      <p:sp>
        <p:nvSpPr>
          <p:cNvPr id="48" name="Text 46"/>
          <p:cNvSpPr txBox="1"/>
          <p:nvPr/>
        </p:nvSpPr>
        <p:spPr>
          <a:xfrm>
            <a:off x="475488" y="2880360"/>
            <a:ext cx="1975104" cy="4297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Mid-stream demonstration</a:t>
            </a:r>
            <a:endParaRPr lang="en-US" sz="860" dirty="0"/>
          </a:p>
        </p:txBody>
      </p:sp>
      <p:sp>
        <p:nvSpPr>
          <p:cNvPr id="49" name="Shape 47"/>
          <p:cNvSpPr/>
          <p:nvPr/>
        </p:nvSpPr>
        <p:spPr>
          <a:xfrm>
            <a:off x="2514600" y="2880360"/>
            <a:ext cx="1417320" cy="429768"/>
          </a:xfrm>
          <a:prstGeom prst="rect">
            <a:avLst/>
          </a:prstGeom>
          <a:solidFill>
            <a:srgbClr val="EEF2F6"/>
          </a:solidFill>
          <a:ln w="6350">
            <a:solidFill>
              <a:srgbClr val="D3DCE5"/>
            </a:solidFill>
            <a:prstDash val="solid"/>
          </a:ln>
        </p:spPr>
      </p:sp>
      <p:sp>
        <p:nvSpPr>
          <p:cNvPr id="50" name="Text 48"/>
          <p:cNvSpPr txBox="1"/>
          <p:nvPr/>
        </p:nvSpPr>
        <p:spPr>
          <a:xfrm>
            <a:off x="2578608" y="2880360"/>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Commissioning</a:t>
            </a:r>
            <a:endParaRPr lang="en-US" sz="860" dirty="0"/>
          </a:p>
        </p:txBody>
      </p:sp>
      <p:sp>
        <p:nvSpPr>
          <p:cNvPr id="51" name="Shape 49"/>
          <p:cNvSpPr/>
          <p:nvPr/>
        </p:nvSpPr>
        <p:spPr>
          <a:xfrm>
            <a:off x="3931920" y="2880360"/>
            <a:ext cx="2697480" cy="429768"/>
          </a:xfrm>
          <a:prstGeom prst="rect">
            <a:avLst/>
          </a:prstGeom>
          <a:solidFill>
            <a:srgbClr val="EEF2F6"/>
          </a:solidFill>
          <a:ln w="6350">
            <a:solidFill>
              <a:srgbClr val="D3DCE5"/>
            </a:solidFill>
            <a:prstDash val="solid"/>
          </a:ln>
        </p:spPr>
      </p:sp>
      <p:sp>
        <p:nvSpPr>
          <p:cNvPr id="52" name="Text 50"/>
          <p:cNvSpPr txBox="1"/>
          <p:nvPr/>
        </p:nvSpPr>
        <p:spPr>
          <a:xfrm>
            <a:off x="3995928" y="2880360"/>
            <a:ext cx="2569464"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Milestone payments to Calix of at least A$11.4m identified</a:t>
            </a:r>
            <a:endParaRPr lang="en-US" sz="860" dirty="0"/>
          </a:p>
        </p:txBody>
      </p:sp>
      <p:sp>
        <p:nvSpPr>
          <p:cNvPr id="53" name="Shape 51"/>
          <p:cNvSpPr/>
          <p:nvPr/>
        </p:nvSpPr>
        <p:spPr>
          <a:xfrm>
            <a:off x="6629400" y="2880360"/>
            <a:ext cx="1417320" cy="429768"/>
          </a:xfrm>
          <a:prstGeom prst="rect">
            <a:avLst/>
          </a:prstGeom>
          <a:solidFill>
            <a:srgbClr val="EEF2F6"/>
          </a:solidFill>
          <a:ln w="6350">
            <a:solidFill>
              <a:srgbClr val="D3DCE5"/>
            </a:solidFill>
            <a:prstDash val="solid"/>
          </a:ln>
        </p:spPr>
      </p:sp>
      <p:sp>
        <p:nvSpPr>
          <p:cNvPr id="54" name="Text 52"/>
          <p:cNvSpPr txBox="1"/>
          <p:nvPr/>
        </p:nvSpPr>
        <p:spPr>
          <a:xfrm>
            <a:off x="6693408" y="2880360"/>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Opened Jun 2026</a:t>
            </a:r>
            <a:endParaRPr lang="en-US" sz="860" dirty="0"/>
          </a:p>
        </p:txBody>
      </p:sp>
      <p:sp>
        <p:nvSpPr>
          <p:cNvPr id="55" name="Shape 53"/>
          <p:cNvSpPr/>
          <p:nvPr/>
        </p:nvSpPr>
        <p:spPr>
          <a:xfrm>
            <a:off x="8046720" y="2880360"/>
            <a:ext cx="3739896" cy="429768"/>
          </a:xfrm>
          <a:prstGeom prst="rect">
            <a:avLst/>
          </a:prstGeom>
          <a:solidFill>
            <a:srgbClr val="EEF2F6"/>
          </a:solidFill>
          <a:ln w="6350">
            <a:solidFill>
              <a:srgbClr val="D3DCE5"/>
            </a:solidFill>
            <a:prstDash val="solid"/>
          </a:ln>
        </p:spPr>
      </p:sp>
      <p:sp>
        <p:nvSpPr>
          <p:cNvPr id="56" name="Text 54"/>
          <p:cNvSpPr txBox="1"/>
          <p:nvPr/>
        </p:nvSpPr>
        <p:spPr>
          <a:xfrm>
            <a:off x="8110728" y="2880360"/>
            <a:ext cx="3611880"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Electric calcination to lithium phosphate. First production guided for the September 2026 quarter.</a:t>
            </a:r>
            <a:endParaRPr lang="en-US" sz="860" dirty="0"/>
          </a:p>
        </p:txBody>
      </p:sp>
      <p:sp>
        <p:nvSpPr>
          <p:cNvPr id="57" name="Shape 55"/>
          <p:cNvSpPr/>
          <p:nvPr/>
        </p:nvSpPr>
        <p:spPr>
          <a:xfrm>
            <a:off x="411480" y="3310128"/>
            <a:ext cx="2103120" cy="429768"/>
          </a:xfrm>
          <a:prstGeom prst="rect">
            <a:avLst/>
          </a:prstGeom>
          <a:solidFill>
            <a:srgbClr val="FBEBD9"/>
          </a:solidFill>
          <a:ln w="6350">
            <a:solidFill>
              <a:srgbClr val="D3DCE5"/>
            </a:solidFill>
            <a:prstDash val="solid"/>
          </a:ln>
        </p:spPr>
      </p:sp>
      <p:sp>
        <p:nvSpPr>
          <p:cNvPr id="58" name="Text 56"/>
          <p:cNvSpPr txBox="1"/>
          <p:nvPr/>
        </p:nvSpPr>
        <p:spPr>
          <a:xfrm>
            <a:off x="475488" y="3310128"/>
            <a:ext cx="1975104" cy="4297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P2000</a:t>
            </a:r>
            <a:endParaRPr lang="en-US" sz="860" dirty="0"/>
          </a:p>
        </p:txBody>
      </p:sp>
      <p:sp>
        <p:nvSpPr>
          <p:cNvPr id="59" name="Shape 57"/>
          <p:cNvSpPr/>
          <p:nvPr/>
        </p:nvSpPr>
        <p:spPr>
          <a:xfrm>
            <a:off x="2514600" y="3310128"/>
            <a:ext cx="1417320" cy="429768"/>
          </a:xfrm>
          <a:prstGeom prst="rect">
            <a:avLst/>
          </a:prstGeom>
          <a:solidFill>
            <a:srgbClr val="FBEBD9"/>
          </a:solidFill>
          <a:ln w="6350">
            <a:solidFill>
              <a:srgbClr val="D3DCE5"/>
            </a:solidFill>
            <a:prstDash val="solid"/>
          </a:ln>
        </p:spPr>
      </p:sp>
      <p:sp>
        <p:nvSpPr>
          <p:cNvPr id="60" name="Text 58"/>
          <p:cNvSpPr txBox="1"/>
          <p:nvPr/>
        </p:nvSpPr>
        <p:spPr>
          <a:xfrm>
            <a:off x="2578608" y="3310128"/>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Pre-FID</a:t>
            </a:r>
            <a:endParaRPr lang="en-US" sz="860" dirty="0"/>
          </a:p>
        </p:txBody>
      </p:sp>
      <p:sp>
        <p:nvSpPr>
          <p:cNvPr id="61" name="Shape 59"/>
          <p:cNvSpPr/>
          <p:nvPr/>
        </p:nvSpPr>
        <p:spPr>
          <a:xfrm>
            <a:off x="3931920" y="3310128"/>
            <a:ext cx="2697480" cy="429768"/>
          </a:xfrm>
          <a:prstGeom prst="rect">
            <a:avLst/>
          </a:prstGeom>
          <a:solidFill>
            <a:srgbClr val="FBEBD9"/>
          </a:solidFill>
          <a:ln w="6350">
            <a:solidFill>
              <a:srgbClr val="D3DCE5"/>
            </a:solidFill>
            <a:prstDash val="solid"/>
          </a:ln>
        </p:spPr>
      </p:sp>
      <p:sp>
        <p:nvSpPr>
          <p:cNvPr id="62" name="Text 60"/>
          <p:cNvSpPr txBox="1"/>
          <p:nvPr/>
        </p:nvSpPr>
        <p:spPr>
          <a:xfrm>
            <a:off x="3995928" y="3310128"/>
            <a:ext cx="2569464"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About A$1.2bn at PFS level; A$175m pre-FID approved</a:t>
            </a:r>
            <a:endParaRPr lang="en-US" sz="860" dirty="0"/>
          </a:p>
        </p:txBody>
      </p:sp>
      <p:sp>
        <p:nvSpPr>
          <p:cNvPr id="63" name="Shape 61"/>
          <p:cNvSpPr/>
          <p:nvPr/>
        </p:nvSpPr>
        <p:spPr>
          <a:xfrm>
            <a:off x="6629400" y="3310128"/>
            <a:ext cx="1417320" cy="429768"/>
          </a:xfrm>
          <a:prstGeom prst="rect">
            <a:avLst/>
          </a:prstGeom>
          <a:solidFill>
            <a:srgbClr val="FBEBD9"/>
          </a:solidFill>
          <a:ln w="6350">
            <a:solidFill>
              <a:srgbClr val="D3DCE5"/>
            </a:solidFill>
            <a:prstDash val="solid"/>
          </a:ln>
        </p:spPr>
      </p:sp>
      <p:sp>
        <p:nvSpPr>
          <p:cNvPr id="64" name="Text 62"/>
          <p:cNvSpPr txBox="1"/>
          <p:nvPr/>
        </p:nvSpPr>
        <p:spPr>
          <a:xfrm>
            <a:off x="6693408" y="3310128"/>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DFS Dec-qtr 2026</a:t>
            </a:r>
            <a:endParaRPr lang="en-US" sz="860" dirty="0"/>
          </a:p>
        </p:txBody>
      </p:sp>
      <p:sp>
        <p:nvSpPr>
          <p:cNvPr id="65" name="Shape 63"/>
          <p:cNvSpPr/>
          <p:nvPr/>
        </p:nvSpPr>
        <p:spPr>
          <a:xfrm>
            <a:off x="8046720" y="3310128"/>
            <a:ext cx="3739896" cy="429768"/>
          </a:xfrm>
          <a:prstGeom prst="rect">
            <a:avLst/>
          </a:prstGeom>
          <a:solidFill>
            <a:srgbClr val="FBEBD9"/>
          </a:solidFill>
          <a:ln w="6350">
            <a:solidFill>
              <a:srgbClr val="D3DCE5"/>
            </a:solidFill>
            <a:prstDash val="solid"/>
          </a:ln>
        </p:spPr>
      </p:sp>
      <p:sp>
        <p:nvSpPr>
          <p:cNvPr id="66" name="Text 64"/>
          <p:cNvSpPr txBox="1"/>
          <p:nvPr/>
        </p:nvSpPr>
        <p:spPr>
          <a:xfrm>
            <a:off x="8110728" y="3310128"/>
            <a:ext cx="3611880"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 new flotation plant taking total capacity above 2.0Mtpa. First ore guided mid-2029 if sanctioned.</a:t>
            </a:r>
            <a:endParaRPr lang="en-US" sz="860" dirty="0"/>
          </a:p>
        </p:txBody>
      </p:sp>
      <p:sp>
        <p:nvSpPr>
          <p:cNvPr id="67" name="Shape 65"/>
          <p:cNvSpPr/>
          <p:nvPr/>
        </p:nvSpPr>
        <p:spPr>
          <a:xfrm>
            <a:off x="411480" y="3739896"/>
            <a:ext cx="2103120" cy="429768"/>
          </a:xfrm>
          <a:prstGeom prst="rect">
            <a:avLst/>
          </a:prstGeom>
          <a:solidFill>
            <a:srgbClr val="FBEBD9"/>
          </a:solidFill>
          <a:ln w="6350">
            <a:solidFill>
              <a:srgbClr val="D3DCE5"/>
            </a:solidFill>
            <a:prstDash val="solid"/>
          </a:ln>
        </p:spPr>
      </p:sp>
      <p:sp>
        <p:nvSpPr>
          <p:cNvPr id="68" name="Text 66"/>
          <p:cNvSpPr txBox="1"/>
          <p:nvPr/>
        </p:nvSpPr>
        <p:spPr>
          <a:xfrm>
            <a:off x="475488" y="3739896"/>
            <a:ext cx="1975104" cy="4297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Colina, Brazil</a:t>
            </a:r>
            <a:endParaRPr lang="en-US" sz="860" dirty="0"/>
          </a:p>
        </p:txBody>
      </p:sp>
      <p:sp>
        <p:nvSpPr>
          <p:cNvPr id="69" name="Shape 67"/>
          <p:cNvSpPr/>
          <p:nvPr/>
        </p:nvSpPr>
        <p:spPr>
          <a:xfrm>
            <a:off x="2514600" y="3739896"/>
            <a:ext cx="1417320" cy="429768"/>
          </a:xfrm>
          <a:prstGeom prst="rect">
            <a:avLst/>
          </a:prstGeom>
          <a:solidFill>
            <a:srgbClr val="FBEBD9"/>
          </a:solidFill>
          <a:ln w="6350">
            <a:solidFill>
              <a:srgbClr val="D3DCE5"/>
            </a:solidFill>
            <a:prstDash val="solid"/>
          </a:ln>
        </p:spPr>
      </p:sp>
      <p:sp>
        <p:nvSpPr>
          <p:cNvPr id="70" name="Text 68"/>
          <p:cNvSpPr txBox="1"/>
          <p:nvPr/>
        </p:nvSpPr>
        <p:spPr>
          <a:xfrm>
            <a:off x="2578608" y="3739896"/>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Study</a:t>
            </a:r>
            <a:endParaRPr lang="en-US" sz="860" dirty="0"/>
          </a:p>
        </p:txBody>
      </p:sp>
      <p:sp>
        <p:nvSpPr>
          <p:cNvPr id="71" name="Shape 69"/>
          <p:cNvSpPr/>
          <p:nvPr/>
        </p:nvSpPr>
        <p:spPr>
          <a:xfrm>
            <a:off x="3931920" y="3739896"/>
            <a:ext cx="2697480" cy="429768"/>
          </a:xfrm>
          <a:prstGeom prst="rect">
            <a:avLst/>
          </a:prstGeom>
          <a:solidFill>
            <a:srgbClr val="FBEBD9"/>
          </a:solidFill>
          <a:ln w="6350">
            <a:solidFill>
              <a:srgbClr val="D3DCE5"/>
            </a:solidFill>
            <a:prstDash val="solid"/>
          </a:ln>
        </p:spPr>
      </p:sp>
      <p:sp>
        <p:nvSpPr>
          <p:cNvPr id="72" name="Text 70"/>
          <p:cNvSpPr txBox="1"/>
          <p:nvPr/>
        </p:nvSpPr>
        <p:spPr>
          <a:xfrm>
            <a:off x="3995928" y="3739896"/>
            <a:ext cx="2569464"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A$45-55m of FY27 spend</a:t>
            </a:r>
            <a:endParaRPr lang="en-US" sz="860" dirty="0"/>
          </a:p>
        </p:txBody>
      </p:sp>
      <p:sp>
        <p:nvSpPr>
          <p:cNvPr id="73" name="Shape 71"/>
          <p:cNvSpPr/>
          <p:nvPr/>
        </p:nvSpPr>
        <p:spPr>
          <a:xfrm>
            <a:off x="6629400" y="3739896"/>
            <a:ext cx="1417320" cy="429768"/>
          </a:xfrm>
          <a:prstGeom prst="rect">
            <a:avLst/>
          </a:prstGeom>
          <a:solidFill>
            <a:srgbClr val="FBEBD9"/>
          </a:solidFill>
          <a:ln w="6350">
            <a:solidFill>
              <a:srgbClr val="D3DCE5"/>
            </a:solidFill>
            <a:prstDash val="solid"/>
          </a:ln>
        </p:spPr>
      </p:sp>
      <p:sp>
        <p:nvSpPr>
          <p:cNvPr id="74" name="Text 72"/>
          <p:cNvSpPr txBox="1"/>
          <p:nvPr/>
        </p:nvSpPr>
        <p:spPr>
          <a:xfrm>
            <a:off x="6693408" y="3739896"/>
            <a:ext cx="1289304" cy="429768"/>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DFS Dec-qtr 2027</a:t>
            </a:r>
            <a:endParaRPr lang="en-US" sz="860" dirty="0"/>
          </a:p>
        </p:txBody>
      </p:sp>
      <p:sp>
        <p:nvSpPr>
          <p:cNvPr id="75" name="Shape 73"/>
          <p:cNvSpPr/>
          <p:nvPr/>
        </p:nvSpPr>
        <p:spPr>
          <a:xfrm>
            <a:off x="8046720" y="3739896"/>
            <a:ext cx="3739896" cy="429768"/>
          </a:xfrm>
          <a:prstGeom prst="rect">
            <a:avLst/>
          </a:prstGeom>
          <a:solidFill>
            <a:srgbClr val="FBEBD9"/>
          </a:solidFill>
          <a:ln w="6350">
            <a:solidFill>
              <a:srgbClr val="D3DCE5"/>
            </a:solidFill>
            <a:prstDash val="solid"/>
          </a:ln>
        </p:spPr>
      </p:sp>
      <p:sp>
        <p:nvSpPr>
          <p:cNvPr id="76" name="Text 74"/>
          <p:cNvSpPr txBox="1"/>
          <p:nvPr/>
        </p:nvSpPr>
        <p:spPr>
          <a:xfrm>
            <a:off x="8110728" y="3739896"/>
            <a:ext cx="3611880" cy="4297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77.7Mt at 1.24% Li2O. No final investment decision taken.</a:t>
            </a:r>
            <a:endParaRPr lang="en-US" sz="860" dirty="0"/>
          </a:p>
        </p:txBody>
      </p:sp>
      <p:sp>
        <p:nvSpPr>
          <p:cNvPr id="77" name="Shape 75"/>
          <p:cNvSpPr/>
          <p:nvPr/>
        </p:nvSpPr>
        <p:spPr>
          <a:xfrm>
            <a:off x="411480" y="4224528"/>
            <a:ext cx="5577840" cy="1298448"/>
          </a:xfrm>
          <a:prstGeom prst="rect">
            <a:avLst/>
          </a:prstGeom>
          <a:solidFill>
            <a:srgbClr val="D6EBE7"/>
          </a:solidFill>
          <a:ln w="9525">
            <a:solidFill>
              <a:srgbClr val="AFD3CC"/>
            </a:solidFill>
            <a:prstDash val="solid"/>
          </a:ln>
        </p:spPr>
      </p:sp>
      <p:sp>
        <p:nvSpPr>
          <p:cNvPr id="78" name="Text 76"/>
          <p:cNvSpPr txBox="1"/>
          <p:nvPr/>
        </p:nvSpPr>
        <p:spPr>
          <a:xfrm>
            <a:off x="576072" y="4352544"/>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What the completed column tells you</a:t>
            </a:r>
            <a:endParaRPr lang="en-US" sz="1150" dirty="0"/>
          </a:p>
        </p:txBody>
      </p:sp>
      <p:sp>
        <p:nvSpPr>
          <p:cNvPr id="79" name="Text 77"/>
          <p:cNvSpPr txBox="1"/>
          <p:nvPr/>
        </p:nvSpPr>
        <p:spPr>
          <a:xfrm>
            <a:off x="576072" y="4681728"/>
            <a:ext cx="5248656" cy="749808"/>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The three shaded green rows are done and inside the FY26 cost base. That is the record we underwrite: PLS has delivered three expansions through the worst lithium downturn in a decade, on an asset that kept producing while peers idled. Execution risk on P2000 should be judged against that record, not against a blank sheet.</a:t>
            </a:r>
            <a:endParaRPr lang="en-US" sz="900" dirty="0"/>
          </a:p>
        </p:txBody>
      </p:sp>
      <p:sp>
        <p:nvSpPr>
          <p:cNvPr id="80" name="Shape 78"/>
          <p:cNvSpPr/>
          <p:nvPr/>
        </p:nvSpPr>
        <p:spPr>
          <a:xfrm>
            <a:off x="6208776" y="4224528"/>
            <a:ext cx="5577840" cy="1298448"/>
          </a:xfrm>
          <a:prstGeom prst="rect">
            <a:avLst/>
          </a:prstGeom>
          <a:solidFill>
            <a:srgbClr val="FBEBD9"/>
          </a:solidFill>
          <a:ln w="9525">
            <a:solidFill>
              <a:srgbClr val="E8C9A3"/>
            </a:solidFill>
            <a:prstDash val="solid"/>
          </a:ln>
        </p:spPr>
      </p:sp>
      <p:sp>
        <p:nvSpPr>
          <p:cNvPr id="81" name="Text 79"/>
          <p:cNvSpPr txBox="1"/>
          <p:nvPr/>
        </p:nvSpPr>
        <p:spPr>
          <a:xfrm>
            <a:off x="6373368" y="4352544"/>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And what the amber column costs</a:t>
            </a:r>
            <a:endParaRPr lang="en-US" sz="1150" dirty="0"/>
          </a:p>
        </p:txBody>
      </p:sp>
      <p:sp>
        <p:nvSpPr>
          <p:cNvPr id="82" name="Text 80"/>
          <p:cNvSpPr txBox="1"/>
          <p:nvPr/>
        </p:nvSpPr>
        <p:spPr>
          <a:xfrm>
            <a:off x="6373368" y="4681728"/>
            <a:ext cx="5248656" cy="749808"/>
          </a:xfrm>
          <a:prstGeom prst="rect">
            <a:avLst/>
          </a:prstGeom>
          <a:noFill/>
          <a:ln/>
        </p:spPr>
        <p:txBody>
          <a:bodyPr wrap="square" lIns="0" tIns="0" rIns="0" bIns="0" rtlCol="0" anchor="t"/>
          <a:lstStyle/>
          <a:p>
            <a:pPr indent="0" marL="0">
              <a:lnSpc>
                <a:spcPct val="105000"/>
              </a:lnSpc>
              <a:buNone/>
            </a:pPr>
            <a:r>
              <a:rPr lang="en-US" sz="890" dirty="0">
                <a:solidFill>
                  <a:srgbClr val="1B2733"/>
                </a:solidFill>
                <a:latin typeface="Calibri" pitchFamily="34" charset="0"/>
                <a:ea typeface="Calibri" pitchFamily="34" charset="-122"/>
                <a:cs typeface="Calibri" pitchFamily="34" charset="-120"/>
              </a:rPr>
              <a:t>The two amber rows are options, not plans. Neither has an FID. Our base case sanctions P2000 in late 2026 and Colina after the December 2027 study; our bear case sanctions neither, and that single difference is most of the gap between A$6.53 and A$2.30. The growth pipeline is where the value is and where the risk is, and it is the same pipeline.</a:t>
            </a:r>
            <a:endParaRPr lang="en-US" sz="890" dirty="0"/>
          </a:p>
        </p:txBody>
      </p:sp>
      <p:sp>
        <p:nvSpPr>
          <p:cNvPr id="83" name="Text 81"/>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and Calix announcements; mining-technology.com; NAIF; PLS FY26 results and FY27 guidance. Capital figures are as disclosed at the time of each announcement.</a:t>
            </a:r>
            <a:endParaRPr lang="en-US" sz="720" dirty="0"/>
          </a:p>
        </p:txBody>
      </p:sp>
      <p:sp>
        <p:nvSpPr>
          <p:cNvPr id="84" name="Text 82"/>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A$2.6bn of incremental NPV at pre-feasibility level, a study due in the December 2026 quarter, and A$175m already committed to keep it on schedule.</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A5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Text 5"/>
          <p:cNvSpPr txBox="1"/>
          <p:nvPr/>
        </p:nvSpPr>
        <p:spPr>
          <a:xfrm>
            <a:off x="411480" y="1298448"/>
            <a:ext cx="2651760" cy="566928"/>
          </a:xfrm>
          <a:prstGeom prst="rect">
            <a:avLst/>
          </a:prstGeom>
          <a:noFill/>
          <a:ln/>
        </p:spPr>
        <p:txBody>
          <a:bodyPr wrap="square" lIns="0" tIns="0" rIns="0" bIns="0" rtlCol="0" anchor="b"/>
          <a:lstStyle/>
          <a:p>
            <a:pPr algn="l" indent="0" marL="0">
              <a:buNone/>
            </a:pPr>
            <a:r>
              <a:rPr lang="en-US" sz="3000" b="1" dirty="0">
                <a:solidFill>
                  <a:srgbClr val="0E7C6B"/>
                </a:solidFill>
                <a:latin typeface="Cambria" pitchFamily="34" charset="0"/>
                <a:ea typeface="Cambria" pitchFamily="34" charset="-122"/>
                <a:cs typeface="Cambria" pitchFamily="34" charset="-120"/>
              </a:rPr>
              <a:t>A$2.6bn</a:t>
            </a:r>
            <a:endParaRPr lang="en-US" sz="3000" dirty="0"/>
          </a:p>
        </p:txBody>
      </p:sp>
      <p:sp>
        <p:nvSpPr>
          <p:cNvPr id="8" name="Text 6"/>
          <p:cNvSpPr txBox="1"/>
          <p:nvPr/>
        </p:nvSpPr>
        <p:spPr>
          <a:xfrm>
            <a:off x="411480" y="1847088"/>
            <a:ext cx="265176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Incremental NPV</a:t>
            </a:r>
            <a:endParaRPr lang="en-US" sz="1000" dirty="0"/>
          </a:p>
        </p:txBody>
      </p:sp>
      <p:sp>
        <p:nvSpPr>
          <p:cNvPr id="9" name="Text 7"/>
          <p:cNvSpPr txBox="1"/>
          <p:nvPr/>
        </p:nvSpPr>
        <p:spPr>
          <a:xfrm>
            <a:off x="411480" y="2066544"/>
            <a:ext cx="265176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At pre-feasibility level, June 2024. Not a company target for the final project.</a:t>
            </a:r>
            <a:endParaRPr lang="en-US" sz="850" dirty="0"/>
          </a:p>
        </p:txBody>
      </p:sp>
      <p:sp>
        <p:nvSpPr>
          <p:cNvPr id="10" name="Text 8"/>
          <p:cNvSpPr txBox="1"/>
          <p:nvPr/>
        </p:nvSpPr>
        <p:spPr>
          <a:xfrm>
            <a:off x="3291840" y="1298448"/>
            <a:ext cx="2651760" cy="566928"/>
          </a:xfrm>
          <a:prstGeom prst="rect">
            <a:avLst/>
          </a:prstGeom>
          <a:noFill/>
          <a:ln/>
        </p:spPr>
        <p:txBody>
          <a:bodyPr wrap="square" lIns="0" tIns="0" rIns="0" bIns="0" rtlCol="0" anchor="b"/>
          <a:lstStyle/>
          <a:p>
            <a:pPr algn="l" indent="0" marL="0">
              <a:buNone/>
            </a:pPr>
            <a:r>
              <a:rPr lang="en-US" sz="3000" b="1" dirty="0">
                <a:solidFill>
                  <a:srgbClr val="0E7C6B"/>
                </a:solidFill>
                <a:latin typeface="Cambria" pitchFamily="34" charset="0"/>
                <a:ea typeface="Cambria" pitchFamily="34" charset="-122"/>
                <a:cs typeface="Cambria" pitchFamily="34" charset="-120"/>
              </a:rPr>
              <a:t>55%</a:t>
            </a:r>
            <a:endParaRPr lang="en-US" sz="3000" dirty="0"/>
          </a:p>
        </p:txBody>
      </p:sp>
      <p:sp>
        <p:nvSpPr>
          <p:cNvPr id="11" name="Text 9"/>
          <p:cNvSpPr txBox="1"/>
          <p:nvPr/>
        </p:nvSpPr>
        <p:spPr>
          <a:xfrm>
            <a:off x="3291840" y="1847088"/>
            <a:ext cx="265176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IRR at PFS</a:t>
            </a:r>
            <a:endParaRPr lang="en-US" sz="1000" dirty="0"/>
          </a:p>
        </p:txBody>
      </p:sp>
      <p:sp>
        <p:nvSpPr>
          <p:cNvPr id="12" name="Text 10"/>
          <p:cNvSpPr txBox="1"/>
          <p:nvPr/>
        </p:nvSpPr>
        <p:spPr>
          <a:xfrm>
            <a:off x="3291840" y="2066544"/>
            <a:ext cx="265176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On the same pre-feasibility basis.</a:t>
            </a:r>
            <a:endParaRPr lang="en-US" sz="850" dirty="0"/>
          </a:p>
        </p:txBody>
      </p:sp>
      <p:sp>
        <p:nvSpPr>
          <p:cNvPr id="13" name="Text 11"/>
          <p:cNvSpPr txBox="1"/>
          <p:nvPr/>
        </p:nvSpPr>
        <p:spPr>
          <a:xfrm>
            <a:off x="6172200" y="1298448"/>
            <a:ext cx="2651760" cy="566928"/>
          </a:xfrm>
          <a:prstGeom prst="rect">
            <a:avLst/>
          </a:prstGeom>
          <a:noFill/>
          <a:ln/>
        </p:spPr>
        <p:txBody>
          <a:bodyPr wrap="square" lIns="0" tIns="0" rIns="0" bIns="0" rtlCol="0" anchor="b"/>
          <a:lstStyle/>
          <a:p>
            <a:pPr algn="l" indent="0" marL="0">
              <a:buNone/>
            </a:pPr>
            <a:r>
              <a:rPr lang="en-US" sz="3000" b="1" dirty="0">
                <a:solidFill>
                  <a:srgbClr val="10233A"/>
                </a:solidFill>
                <a:latin typeface="Cambria" pitchFamily="34" charset="0"/>
                <a:ea typeface="Cambria" pitchFamily="34" charset="-122"/>
                <a:cs typeface="Cambria" pitchFamily="34" charset="-120"/>
              </a:rPr>
              <a:t>~A$1.2bn</a:t>
            </a:r>
            <a:endParaRPr lang="en-US" sz="3000" dirty="0"/>
          </a:p>
        </p:txBody>
      </p:sp>
      <p:sp>
        <p:nvSpPr>
          <p:cNvPr id="14" name="Text 12"/>
          <p:cNvSpPr txBox="1"/>
          <p:nvPr/>
        </p:nvSpPr>
        <p:spPr>
          <a:xfrm>
            <a:off x="6172200" y="1847088"/>
            <a:ext cx="265176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Estimated capital</a:t>
            </a:r>
            <a:endParaRPr lang="en-US" sz="1000" dirty="0"/>
          </a:p>
        </p:txBody>
      </p:sp>
      <p:sp>
        <p:nvSpPr>
          <p:cNvPr id="15" name="Text 13"/>
          <p:cNvSpPr txBox="1"/>
          <p:nvPr/>
        </p:nvSpPr>
        <p:spPr>
          <a:xfrm>
            <a:off x="6172200" y="2066544"/>
            <a:ext cx="265176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For a new flotation plant alongside the existing Pilgangoora facilities.</a:t>
            </a:r>
            <a:endParaRPr lang="en-US" sz="850" dirty="0"/>
          </a:p>
        </p:txBody>
      </p:sp>
      <p:sp>
        <p:nvSpPr>
          <p:cNvPr id="16" name="Text 14"/>
          <p:cNvSpPr txBox="1"/>
          <p:nvPr/>
        </p:nvSpPr>
        <p:spPr>
          <a:xfrm>
            <a:off x="9052560" y="1298448"/>
            <a:ext cx="2734056" cy="566928"/>
          </a:xfrm>
          <a:prstGeom prst="rect">
            <a:avLst/>
          </a:prstGeom>
          <a:noFill/>
          <a:ln/>
        </p:spPr>
        <p:txBody>
          <a:bodyPr wrap="square" lIns="0" tIns="0" rIns="0" bIns="0" rtlCol="0" anchor="b"/>
          <a:lstStyle/>
          <a:p>
            <a:pPr algn="l" indent="0" marL="0">
              <a:buNone/>
            </a:pPr>
            <a:r>
              <a:rPr lang="en-US" sz="3000" b="1" dirty="0">
                <a:solidFill>
                  <a:srgbClr val="10233A"/>
                </a:solidFill>
                <a:latin typeface="Cambria" pitchFamily="34" charset="0"/>
                <a:ea typeface="Cambria" pitchFamily="34" charset="-122"/>
                <a:cs typeface="Cambria" pitchFamily="34" charset="-120"/>
              </a:rPr>
              <a:t>1.9 Mtpa</a:t>
            </a:r>
            <a:endParaRPr lang="en-US" sz="3000" dirty="0"/>
          </a:p>
        </p:txBody>
      </p:sp>
      <p:sp>
        <p:nvSpPr>
          <p:cNvPr id="17" name="Text 15"/>
          <p:cNvSpPr txBox="1"/>
          <p:nvPr/>
        </p:nvSpPr>
        <p:spPr>
          <a:xfrm>
            <a:off x="9052560" y="1847088"/>
            <a:ext cx="2734056"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Average over 10 years</a:t>
            </a:r>
            <a:endParaRPr lang="en-US" sz="1000" dirty="0"/>
          </a:p>
        </p:txBody>
      </p:sp>
      <p:sp>
        <p:nvSpPr>
          <p:cNvPr id="18" name="Text 16"/>
          <p:cNvSpPr txBox="1"/>
          <p:nvPr/>
        </p:nvSpPr>
        <p:spPr>
          <a:xfrm>
            <a:off x="9052560" y="2066544"/>
            <a:ext cx="2734056"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At about 5.2% grade, taking total capacity above 2.0Mtpa.</a:t>
            </a:r>
            <a:endParaRPr lang="en-US" sz="850" dirty="0"/>
          </a:p>
        </p:txBody>
      </p:sp>
      <p:sp>
        <p:nvSpPr>
          <p:cNvPr id="19" name="Shape 17"/>
          <p:cNvSpPr/>
          <p:nvPr/>
        </p:nvSpPr>
        <p:spPr>
          <a:xfrm>
            <a:off x="411480" y="2688336"/>
            <a:ext cx="2788920" cy="292608"/>
          </a:xfrm>
          <a:prstGeom prst="rect">
            <a:avLst/>
          </a:prstGeom>
          <a:solidFill>
            <a:srgbClr val="10233A"/>
          </a:solidFill>
          <a:ln/>
        </p:spPr>
      </p:sp>
      <p:sp>
        <p:nvSpPr>
          <p:cNvPr id="20" name="Text 18"/>
          <p:cNvSpPr txBox="1"/>
          <p:nvPr/>
        </p:nvSpPr>
        <p:spPr>
          <a:xfrm>
            <a:off x="475488" y="2688336"/>
            <a:ext cx="26609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Milestone</a:t>
            </a:r>
            <a:endParaRPr lang="en-US" sz="900" dirty="0"/>
          </a:p>
        </p:txBody>
      </p:sp>
      <p:sp>
        <p:nvSpPr>
          <p:cNvPr id="21" name="Shape 19"/>
          <p:cNvSpPr/>
          <p:nvPr/>
        </p:nvSpPr>
        <p:spPr>
          <a:xfrm>
            <a:off x="3200400" y="2688336"/>
            <a:ext cx="1920240" cy="292608"/>
          </a:xfrm>
          <a:prstGeom prst="rect">
            <a:avLst/>
          </a:prstGeom>
          <a:solidFill>
            <a:srgbClr val="10233A"/>
          </a:solidFill>
          <a:ln/>
        </p:spPr>
      </p:sp>
      <p:sp>
        <p:nvSpPr>
          <p:cNvPr id="22" name="Text 20"/>
          <p:cNvSpPr txBox="1"/>
          <p:nvPr/>
        </p:nvSpPr>
        <p:spPr>
          <a:xfrm>
            <a:off x="3264408" y="2688336"/>
            <a:ext cx="179222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p>
        </p:txBody>
      </p:sp>
      <p:sp>
        <p:nvSpPr>
          <p:cNvPr id="23" name="Shape 21"/>
          <p:cNvSpPr/>
          <p:nvPr/>
        </p:nvSpPr>
        <p:spPr>
          <a:xfrm>
            <a:off x="5120640" y="2688336"/>
            <a:ext cx="6665976" cy="292608"/>
          </a:xfrm>
          <a:prstGeom prst="rect">
            <a:avLst/>
          </a:prstGeom>
          <a:solidFill>
            <a:srgbClr val="10233A"/>
          </a:solidFill>
          <a:ln/>
        </p:spPr>
      </p:sp>
      <p:sp>
        <p:nvSpPr>
          <p:cNvPr id="24" name="Text 22"/>
          <p:cNvSpPr txBox="1"/>
          <p:nvPr/>
        </p:nvSpPr>
        <p:spPr>
          <a:xfrm>
            <a:off x="5184648" y="2688336"/>
            <a:ext cx="653796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Detail</a:t>
            </a:r>
            <a:endParaRPr lang="en-US" sz="900" dirty="0"/>
          </a:p>
        </p:txBody>
      </p:sp>
      <p:sp>
        <p:nvSpPr>
          <p:cNvPr id="25" name="Shape 23"/>
          <p:cNvSpPr/>
          <p:nvPr/>
        </p:nvSpPr>
        <p:spPr>
          <a:xfrm>
            <a:off x="411480" y="2980944"/>
            <a:ext cx="2788920" cy="347472"/>
          </a:xfrm>
          <a:prstGeom prst="rect">
            <a:avLst/>
          </a:prstGeom>
          <a:solidFill>
            <a:srgbClr val="FFFFFF"/>
          </a:solidFill>
          <a:ln w="6350">
            <a:solidFill>
              <a:srgbClr val="D3DCE5"/>
            </a:solidFill>
            <a:prstDash val="solid"/>
          </a:ln>
        </p:spPr>
      </p:sp>
      <p:sp>
        <p:nvSpPr>
          <p:cNvPr id="26" name="Text 24"/>
          <p:cNvSpPr txBox="1"/>
          <p:nvPr/>
        </p:nvSpPr>
        <p:spPr>
          <a:xfrm>
            <a:off x="475488" y="2980944"/>
            <a:ext cx="2660904" cy="34747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Pre-feasibility study</a:t>
            </a:r>
            <a:endParaRPr lang="en-US" sz="880" dirty="0"/>
          </a:p>
        </p:txBody>
      </p:sp>
      <p:sp>
        <p:nvSpPr>
          <p:cNvPr id="27" name="Shape 25"/>
          <p:cNvSpPr/>
          <p:nvPr/>
        </p:nvSpPr>
        <p:spPr>
          <a:xfrm>
            <a:off x="3200400" y="2980944"/>
            <a:ext cx="1920240" cy="347472"/>
          </a:xfrm>
          <a:prstGeom prst="rect">
            <a:avLst/>
          </a:prstGeom>
          <a:solidFill>
            <a:srgbClr val="FFFFFF"/>
          </a:solidFill>
          <a:ln w="6350">
            <a:solidFill>
              <a:srgbClr val="D3DCE5"/>
            </a:solidFill>
            <a:prstDash val="solid"/>
          </a:ln>
        </p:spPr>
      </p:sp>
      <p:sp>
        <p:nvSpPr>
          <p:cNvPr id="28" name="Text 26"/>
          <p:cNvSpPr txBox="1"/>
          <p:nvPr/>
        </p:nvSpPr>
        <p:spPr>
          <a:xfrm>
            <a:off x="3264408" y="2980944"/>
            <a:ext cx="1792224" cy="347472"/>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Complete, Jun 2024</a:t>
            </a:r>
            <a:endParaRPr lang="en-US" sz="880" dirty="0"/>
          </a:p>
        </p:txBody>
      </p:sp>
      <p:sp>
        <p:nvSpPr>
          <p:cNvPr id="29" name="Shape 27"/>
          <p:cNvSpPr/>
          <p:nvPr/>
        </p:nvSpPr>
        <p:spPr>
          <a:xfrm>
            <a:off x="5120640" y="2980944"/>
            <a:ext cx="6665976" cy="347472"/>
          </a:xfrm>
          <a:prstGeom prst="rect">
            <a:avLst/>
          </a:prstGeom>
          <a:solidFill>
            <a:srgbClr val="FFFFFF"/>
          </a:solidFill>
          <a:ln w="6350">
            <a:solidFill>
              <a:srgbClr val="D3DCE5"/>
            </a:solidFill>
            <a:prstDash val="solid"/>
          </a:ln>
        </p:spPr>
      </p:sp>
      <p:sp>
        <p:nvSpPr>
          <p:cNvPr id="30" name="Text 28"/>
          <p:cNvSpPr txBox="1"/>
          <p:nvPr/>
        </p:nvSpPr>
        <p:spPr>
          <a:xfrm>
            <a:off x="5184648" y="2980944"/>
            <a:ext cx="6537960" cy="34747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A$2.6bn incremental NPV, 55% IRR, about A$1.2bn capital, 1.9Mtpa average over the first ten years.</a:t>
            </a:r>
            <a:endParaRPr lang="en-US" sz="880" dirty="0"/>
          </a:p>
        </p:txBody>
      </p:sp>
      <p:sp>
        <p:nvSpPr>
          <p:cNvPr id="31" name="Shape 29"/>
          <p:cNvSpPr/>
          <p:nvPr/>
        </p:nvSpPr>
        <p:spPr>
          <a:xfrm>
            <a:off x="411480" y="3328416"/>
            <a:ext cx="2788920" cy="347472"/>
          </a:xfrm>
          <a:prstGeom prst="rect">
            <a:avLst/>
          </a:prstGeom>
          <a:solidFill>
            <a:srgbClr val="F7F9FB"/>
          </a:solidFill>
          <a:ln w="6350">
            <a:solidFill>
              <a:srgbClr val="D3DCE5"/>
            </a:solidFill>
            <a:prstDash val="solid"/>
          </a:ln>
        </p:spPr>
      </p:sp>
      <p:sp>
        <p:nvSpPr>
          <p:cNvPr id="32" name="Text 30"/>
          <p:cNvSpPr txBox="1"/>
          <p:nvPr/>
        </p:nvSpPr>
        <p:spPr>
          <a:xfrm>
            <a:off x="475488" y="3328416"/>
            <a:ext cx="2660904" cy="34747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Pre-FID capital approved</a:t>
            </a:r>
            <a:endParaRPr lang="en-US" sz="880" dirty="0"/>
          </a:p>
        </p:txBody>
      </p:sp>
      <p:sp>
        <p:nvSpPr>
          <p:cNvPr id="33" name="Shape 31"/>
          <p:cNvSpPr/>
          <p:nvPr/>
        </p:nvSpPr>
        <p:spPr>
          <a:xfrm>
            <a:off x="3200400" y="3328416"/>
            <a:ext cx="1920240" cy="347472"/>
          </a:xfrm>
          <a:prstGeom prst="rect">
            <a:avLst/>
          </a:prstGeom>
          <a:solidFill>
            <a:srgbClr val="F7F9FB"/>
          </a:solidFill>
          <a:ln w="6350">
            <a:solidFill>
              <a:srgbClr val="D3DCE5"/>
            </a:solidFill>
            <a:prstDash val="solid"/>
          </a:ln>
        </p:spPr>
      </p:sp>
      <p:sp>
        <p:nvSpPr>
          <p:cNvPr id="34" name="Text 32"/>
          <p:cNvSpPr txBox="1"/>
          <p:nvPr/>
        </p:nvSpPr>
        <p:spPr>
          <a:xfrm>
            <a:off x="3264408" y="3328416"/>
            <a:ext cx="1792224" cy="347472"/>
          </a:xfrm>
          <a:prstGeom prst="rect">
            <a:avLst/>
          </a:prstGeom>
          <a:noFill/>
          <a:ln/>
        </p:spPr>
        <p:txBody>
          <a:bodyPr wrap="square" lIns="0" tIns="0" rIns="0" bIns="0" rtlCol="0" anchor="ctr"/>
          <a:lstStyle/>
          <a:p>
            <a:pPr algn="ctr" indent="0" marL="0">
              <a:buNone/>
            </a:pPr>
            <a:r>
              <a:rPr lang="en-US" sz="880" b="1" dirty="0">
                <a:solidFill>
                  <a:srgbClr val="0E7C6B"/>
                </a:solidFill>
                <a:latin typeface="Calibri" pitchFamily="34" charset="0"/>
                <a:ea typeface="Calibri" pitchFamily="34" charset="-122"/>
                <a:cs typeface="Calibri" pitchFamily="34" charset="-120"/>
              </a:rPr>
              <a:t>Approved, Jun 2026</a:t>
            </a:r>
            <a:endParaRPr lang="en-US" sz="880" dirty="0"/>
          </a:p>
        </p:txBody>
      </p:sp>
      <p:sp>
        <p:nvSpPr>
          <p:cNvPr id="35" name="Shape 33"/>
          <p:cNvSpPr/>
          <p:nvPr/>
        </p:nvSpPr>
        <p:spPr>
          <a:xfrm>
            <a:off x="5120640" y="3328416"/>
            <a:ext cx="6665976" cy="347472"/>
          </a:xfrm>
          <a:prstGeom prst="rect">
            <a:avLst/>
          </a:prstGeom>
          <a:solidFill>
            <a:srgbClr val="F7F9FB"/>
          </a:solidFill>
          <a:ln w="6350">
            <a:solidFill>
              <a:srgbClr val="D3DCE5"/>
            </a:solidFill>
            <a:prstDash val="solid"/>
          </a:ln>
        </p:spPr>
      </p:sp>
      <p:sp>
        <p:nvSpPr>
          <p:cNvPr id="36" name="Text 34"/>
          <p:cNvSpPr txBox="1"/>
          <p:nvPr/>
        </p:nvSpPr>
        <p:spPr>
          <a:xfrm>
            <a:off x="5184648" y="3328416"/>
            <a:ext cx="6537960" cy="34747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About A$175m for early engineering, long-lead procurement, site preparation and study advancement, explicitly to preserve optionality.</a:t>
            </a:r>
            <a:endParaRPr lang="en-US" sz="880" dirty="0"/>
          </a:p>
        </p:txBody>
      </p:sp>
      <p:sp>
        <p:nvSpPr>
          <p:cNvPr id="37" name="Shape 35"/>
          <p:cNvSpPr/>
          <p:nvPr/>
        </p:nvSpPr>
        <p:spPr>
          <a:xfrm>
            <a:off x="411480" y="3675888"/>
            <a:ext cx="2788920" cy="347472"/>
          </a:xfrm>
          <a:prstGeom prst="rect">
            <a:avLst/>
          </a:prstGeom>
          <a:solidFill>
            <a:srgbClr val="FFFFFF"/>
          </a:solidFill>
          <a:ln w="6350">
            <a:solidFill>
              <a:srgbClr val="D3DCE5"/>
            </a:solidFill>
            <a:prstDash val="solid"/>
          </a:ln>
        </p:spPr>
      </p:sp>
      <p:sp>
        <p:nvSpPr>
          <p:cNvPr id="38" name="Text 36"/>
          <p:cNvSpPr txBox="1"/>
          <p:nvPr/>
        </p:nvSpPr>
        <p:spPr>
          <a:xfrm>
            <a:off x="475488" y="3675888"/>
            <a:ext cx="2660904" cy="34747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Definitive feasibility study</a:t>
            </a:r>
            <a:endParaRPr lang="en-US" sz="880" dirty="0"/>
          </a:p>
        </p:txBody>
      </p:sp>
      <p:sp>
        <p:nvSpPr>
          <p:cNvPr id="39" name="Shape 37"/>
          <p:cNvSpPr/>
          <p:nvPr/>
        </p:nvSpPr>
        <p:spPr>
          <a:xfrm>
            <a:off x="3200400" y="3675888"/>
            <a:ext cx="1920240" cy="347472"/>
          </a:xfrm>
          <a:prstGeom prst="rect">
            <a:avLst/>
          </a:prstGeom>
          <a:solidFill>
            <a:srgbClr val="FFFFFF"/>
          </a:solidFill>
          <a:ln w="6350">
            <a:solidFill>
              <a:srgbClr val="D3DCE5"/>
            </a:solidFill>
            <a:prstDash val="solid"/>
          </a:ln>
        </p:spPr>
      </p:sp>
      <p:sp>
        <p:nvSpPr>
          <p:cNvPr id="40" name="Text 38"/>
          <p:cNvSpPr txBox="1"/>
          <p:nvPr/>
        </p:nvSpPr>
        <p:spPr>
          <a:xfrm>
            <a:off x="3264408" y="3675888"/>
            <a:ext cx="1792224" cy="347472"/>
          </a:xfrm>
          <a:prstGeom prst="rect">
            <a:avLst/>
          </a:prstGeom>
          <a:noFill/>
          <a:ln/>
        </p:spPr>
        <p:txBody>
          <a:bodyPr wrap="square" lIns="0" tIns="0" rIns="0" bIns="0" rtlCol="0" anchor="ctr"/>
          <a:lstStyle/>
          <a:p>
            <a:pPr algn="ctr" indent="0" marL="0">
              <a:buNone/>
            </a:pPr>
            <a:r>
              <a:rPr lang="en-US" sz="880" b="1" dirty="0">
                <a:solidFill>
                  <a:srgbClr val="C2610A"/>
                </a:solidFill>
                <a:latin typeface="Calibri" pitchFamily="34" charset="0"/>
                <a:ea typeface="Calibri" pitchFamily="34" charset="-122"/>
                <a:cs typeface="Calibri" pitchFamily="34" charset="-120"/>
              </a:rPr>
              <a:t>Due Dec-qtr 2026</a:t>
            </a:r>
            <a:endParaRPr lang="en-US" sz="880" dirty="0"/>
          </a:p>
        </p:txBody>
      </p:sp>
      <p:sp>
        <p:nvSpPr>
          <p:cNvPr id="41" name="Shape 39"/>
          <p:cNvSpPr/>
          <p:nvPr/>
        </p:nvSpPr>
        <p:spPr>
          <a:xfrm>
            <a:off x="5120640" y="3675888"/>
            <a:ext cx="6665976" cy="347472"/>
          </a:xfrm>
          <a:prstGeom prst="rect">
            <a:avLst/>
          </a:prstGeom>
          <a:solidFill>
            <a:srgbClr val="FFFFFF"/>
          </a:solidFill>
          <a:ln w="6350">
            <a:solidFill>
              <a:srgbClr val="D3DCE5"/>
            </a:solidFill>
            <a:prstDash val="solid"/>
          </a:ln>
        </p:spPr>
      </p:sp>
      <p:sp>
        <p:nvSpPr>
          <p:cNvPr id="42" name="Text 40"/>
          <p:cNvSpPr txBox="1"/>
          <p:nvPr/>
        </p:nvSpPr>
        <p:spPr>
          <a:xfrm>
            <a:off x="5184648" y="3675888"/>
            <a:ext cx="6537960" cy="34747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Originally flagged for the December 2025 quarter and since moved out a year. Inside our investment horizon.</a:t>
            </a:r>
            <a:endParaRPr lang="en-US" sz="880" dirty="0"/>
          </a:p>
        </p:txBody>
      </p:sp>
      <p:sp>
        <p:nvSpPr>
          <p:cNvPr id="43" name="Shape 41"/>
          <p:cNvSpPr/>
          <p:nvPr/>
        </p:nvSpPr>
        <p:spPr>
          <a:xfrm>
            <a:off x="411480" y="4023360"/>
            <a:ext cx="2788920" cy="347472"/>
          </a:xfrm>
          <a:prstGeom prst="rect">
            <a:avLst/>
          </a:prstGeom>
          <a:solidFill>
            <a:srgbClr val="F7F9FB"/>
          </a:solidFill>
          <a:ln w="6350">
            <a:solidFill>
              <a:srgbClr val="D3DCE5"/>
            </a:solidFill>
            <a:prstDash val="solid"/>
          </a:ln>
        </p:spPr>
      </p:sp>
      <p:sp>
        <p:nvSpPr>
          <p:cNvPr id="44" name="Text 42"/>
          <p:cNvSpPr txBox="1"/>
          <p:nvPr/>
        </p:nvSpPr>
        <p:spPr>
          <a:xfrm>
            <a:off x="475488" y="4023360"/>
            <a:ext cx="2660904" cy="34747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Final investment decision</a:t>
            </a:r>
            <a:endParaRPr lang="en-US" sz="880" dirty="0"/>
          </a:p>
        </p:txBody>
      </p:sp>
      <p:sp>
        <p:nvSpPr>
          <p:cNvPr id="45" name="Shape 43"/>
          <p:cNvSpPr/>
          <p:nvPr/>
        </p:nvSpPr>
        <p:spPr>
          <a:xfrm>
            <a:off x="3200400" y="4023360"/>
            <a:ext cx="1920240" cy="347472"/>
          </a:xfrm>
          <a:prstGeom prst="rect">
            <a:avLst/>
          </a:prstGeom>
          <a:solidFill>
            <a:srgbClr val="F7F9FB"/>
          </a:solidFill>
          <a:ln w="6350">
            <a:solidFill>
              <a:srgbClr val="D3DCE5"/>
            </a:solidFill>
            <a:prstDash val="solid"/>
          </a:ln>
        </p:spPr>
      </p:sp>
      <p:sp>
        <p:nvSpPr>
          <p:cNvPr id="46" name="Text 44"/>
          <p:cNvSpPr txBox="1"/>
          <p:nvPr/>
        </p:nvSpPr>
        <p:spPr>
          <a:xfrm>
            <a:off x="3264408" y="4023360"/>
            <a:ext cx="1792224" cy="347472"/>
          </a:xfrm>
          <a:prstGeom prst="rect">
            <a:avLst/>
          </a:prstGeom>
          <a:noFill/>
          <a:ln/>
        </p:spPr>
        <p:txBody>
          <a:bodyPr wrap="square" lIns="0" tIns="0" rIns="0" bIns="0" rtlCol="0" anchor="ctr"/>
          <a:lstStyle/>
          <a:p>
            <a:pPr algn="ctr" indent="0" marL="0">
              <a:buNone/>
            </a:pPr>
            <a:r>
              <a:rPr lang="en-US" sz="880" b="1" dirty="0">
                <a:solidFill>
                  <a:srgbClr val="A3282C"/>
                </a:solidFill>
                <a:latin typeface="Calibri" pitchFamily="34" charset="0"/>
                <a:ea typeface="Calibri" pitchFamily="34" charset="-122"/>
                <a:cs typeface="Calibri" pitchFamily="34" charset="-120"/>
              </a:rPr>
              <a:t>Not taken</a:t>
            </a:r>
            <a:endParaRPr lang="en-US" sz="880" dirty="0"/>
          </a:p>
        </p:txBody>
      </p:sp>
      <p:sp>
        <p:nvSpPr>
          <p:cNvPr id="47" name="Shape 45"/>
          <p:cNvSpPr/>
          <p:nvPr/>
        </p:nvSpPr>
        <p:spPr>
          <a:xfrm>
            <a:off x="5120640" y="4023360"/>
            <a:ext cx="6665976" cy="347472"/>
          </a:xfrm>
          <a:prstGeom prst="rect">
            <a:avLst/>
          </a:prstGeom>
          <a:solidFill>
            <a:srgbClr val="F7F9FB"/>
          </a:solidFill>
          <a:ln w="6350">
            <a:solidFill>
              <a:srgbClr val="D3DCE5"/>
            </a:solidFill>
            <a:prstDash val="solid"/>
          </a:ln>
        </p:spPr>
      </p:sp>
      <p:sp>
        <p:nvSpPr>
          <p:cNvPr id="48" name="Text 46"/>
          <p:cNvSpPr txBox="1"/>
          <p:nvPr/>
        </p:nvSpPr>
        <p:spPr>
          <a:xfrm>
            <a:off x="5184648" y="4023360"/>
            <a:ext cx="6537960" cy="34747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Expected late 2026, conditional on study outcomes, funding capacity and market conditions.</a:t>
            </a:r>
            <a:endParaRPr lang="en-US" sz="880" dirty="0"/>
          </a:p>
        </p:txBody>
      </p:sp>
      <p:sp>
        <p:nvSpPr>
          <p:cNvPr id="49" name="Shape 47"/>
          <p:cNvSpPr/>
          <p:nvPr/>
        </p:nvSpPr>
        <p:spPr>
          <a:xfrm>
            <a:off x="411480" y="4370832"/>
            <a:ext cx="2788920" cy="347472"/>
          </a:xfrm>
          <a:prstGeom prst="rect">
            <a:avLst/>
          </a:prstGeom>
          <a:solidFill>
            <a:srgbClr val="FFFFFF"/>
          </a:solidFill>
          <a:ln w="6350">
            <a:solidFill>
              <a:srgbClr val="D3DCE5"/>
            </a:solidFill>
            <a:prstDash val="solid"/>
          </a:ln>
        </p:spPr>
      </p:sp>
      <p:sp>
        <p:nvSpPr>
          <p:cNvPr id="50" name="Text 48"/>
          <p:cNvSpPr txBox="1"/>
          <p:nvPr/>
        </p:nvSpPr>
        <p:spPr>
          <a:xfrm>
            <a:off x="475488" y="4370832"/>
            <a:ext cx="2660904" cy="34747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First ore</a:t>
            </a:r>
            <a:endParaRPr lang="en-US" sz="880" dirty="0"/>
          </a:p>
        </p:txBody>
      </p:sp>
      <p:sp>
        <p:nvSpPr>
          <p:cNvPr id="51" name="Shape 49"/>
          <p:cNvSpPr/>
          <p:nvPr/>
        </p:nvSpPr>
        <p:spPr>
          <a:xfrm>
            <a:off x="3200400" y="4370832"/>
            <a:ext cx="1920240" cy="347472"/>
          </a:xfrm>
          <a:prstGeom prst="rect">
            <a:avLst/>
          </a:prstGeom>
          <a:solidFill>
            <a:srgbClr val="FFFFFF"/>
          </a:solidFill>
          <a:ln w="6350">
            <a:solidFill>
              <a:srgbClr val="D3DCE5"/>
            </a:solidFill>
            <a:prstDash val="solid"/>
          </a:ln>
        </p:spPr>
      </p:sp>
      <p:sp>
        <p:nvSpPr>
          <p:cNvPr id="52" name="Text 50"/>
          <p:cNvSpPr txBox="1"/>
          <p:nvPr/>
        </p:nvSpPr>
        <p:spPr>
          <a:xfrm>
            <a:off x="3264408" y="4370832"/>
            <a:ext cx="1792224" cy="347472"/>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Guided mid-2029</a:t>
            </a:r>
            <a:endParaRPr lang="en-US" sz="880" dirty="0"/>
          </a:p>
        </p:txBody>
      </p:sp>
      <p:sp>
        <p:nvSpPr>
          <p:cNvPr id="53" name="Shape 51"/>
          <p:cNvSpPr/>
          <p:nvPr/>
        </p:nvSpPr>
        <p:spPr>
          <a:xfrm>
            <a:off x="5120640" y="4370832"/>
            <a:ext cx="6665976" cy="347472"/>
          </a:xfrm>
          <a:prstGeom prst="rect">
            <a:avLst/>
          </a:prstGeom>
          <a:solidFill>
            <a:srgbClr val="FFFFFF"/>
          </a:solidFill>
          <a:ln w="6350">
            <a:solidFill>
              <a:srgbClr val="D3DCE5"/>
            </a:solidFill>
            <a:prstDash val="solid"/>
          </a:ln>
        </p:spPr>
      </p:sp>
      <p:sp>
        <p:nvSpPr>
          <p:cNvPr id="54" name="Text 52"/>
          <p:cNvSpPr txBox="1"/>
          <p:nvPr/>
        </p:nvSpPr>
        <p:spPr>
          <a:xfrm>
            <a:off x="5184648" y="4370832"/>
            <a:ext cx="6537960" cy="34747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Equivalent to FY30 on PLS's June year end. Our base case assumes 250kt in FY30 ramping to 885kt by FY33.</a:t>
            </a:r>
            <a:endParaRPr lang="en-US" sz="880" dirty="0"/>
          </a:p>
        </p:txBody>
      </p:sp>
      <p:sp>
        <p:nvSpPr>
          <p:cNvPr id="55" name="Shape 53"/>
          <p:cNvSpPr/>
          <p:nvPr/>
        </p:nvSpPr>
        <p:spPr>
          <a:xfrm>
            <a:off x="411480" y="4718304"/>
            <a:ext cx="2788920" cy="347472"/>
          </a:xfrm>
          <a:prstGeom prst="rect">
            <a:avLst/>
          </a:prstGeom>
          <a:solidFill>
            <a:srgbClr val="F7F9FB"/>
          </a:solidFill>
          <a:ln w="6350">
            <a:solidFill>
              <a:srgbClr val="D3DCE5"/>
            </a:solidFill>
            <a:prstDash val="solid"/>
          </a:ln>
        </p:spPr>
      </p:sp>
      <p:sp>
        <p:nvSpPr>
          <p:cNvPr id="56" name="Text 54"/>
          <p:cNvSpPr txBox="1"/>
          <p:nvPr/>
        </p:nvSpPr>
        <p:spPr>
          <a:xfrm>
            <a:off x="475488" y="4718304"/>
            <a:ext cx="2660904" cy="347472"/>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Underground option</a:t>
            </a:r>
            <a:endParaRPr lang="en-US" sz="880" dirty="0"/>
          </a:p>
        </p:txBody>
      </p:sp>
      <p:sp>
        <p:nvSpPr>
          <p:cNvPr id="57" name="Shape 55"/>
          <p:cNvSpPr/>
          <p:nvPr/>
        </p:nvSpPr>
        <p:spPr>
          <a:xfrm>
            <a:off x="3200400" y="4718304"/>
            <a:ext cx="1920240" cy="347472"/>
          </a:xfrm>
          <a:prstGeom prst="rect">
            <a:avLst/>
          </a:prstGeom>
          <a:solidFill>
            <a:srgbClr val="F7F9FB"/>
          </a:solidFill>
          <a:ln w="6350">
            <a:solidFill>
              <a:srgbClr val="D3DCE5"/>
            </a:solidFill>
            <a:prstDash val="solid"/>
          </a:ln>
        </p:spPr>
      </p:sp>
      <p:sp>
        <p:nvSpPr>
          <p:cNvPr id="58" name="Text 56"/>
          <p:cNvSpPr txBox="1"/>
          <p:nvPr/>
        </p:nvSpPr>
        <p:spPr>
          <a:xfrm>
            <a:off x="3264408" y="4718304"/>
            <a:ext cx="1792224" cy="347472"/>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Under study</a:t>
            </a:r>
            <a:endParaRPr lang="en-US" sz="880" dirty="0"/>
          </a:p>
        </p:txBody>
      </p:sp>
      <p:sp>
        <p:nvSpPr>
          <p:cNvPr id="59" name="Shape 57"/>
          <p:cNvSpPr/>
          <p:nvPr/>
        </p:nvSpPr>
        <p:spPr>
          <a:xfrm>
            <a:off x="5120640" y="4718304"/>
            <a:ext cx="6665976" cy="347472"/>
          </a:xfrm>
          <a:prstGeom prst="rect">
            <a:avLst/>
          </a:prstGeom>
          <a:solidFill>
            <a:srgbClr val="F7F9FB"/>
          </a:solidFill>
          <a:ln w="6350">
            <a:solidFill>
              <a:srgbClr val="D3DCE5"/>
            </a:solidFill>
            <a:prstDash val="solid"/>
          </a:ln>
        </p:spPr>
      </p:sp>
      <p:sp>
        <p:nvSpPr>
          <p:cNvPr id="60" name="Text 58"/>
          <p:cNvSpPr txBox="1"/>
          <p:nvPr/>
        </p:nvSpPr>
        <p:spPr>
          <a:xfrm>
            <a:off x="5184648" y="4718304"/>
            <a:ext cx="6537960" cy="347472"/>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An underground mining option is being assessed to further improve project economics.</a:t>
            </a:r>
            <a:endParaRPr lang="en-US" sz="880" dirty="0"/>
          </a:p>
        </p:txBody>
      </p:sp>
      <p:sp>
        <p:nvSpPr>
          <p:cNvPr id="61" name="Shape 59"/>
          <p:cNvSpPr/>
          <p:nvPr/>
        </p:nvSpPr>
        <p:spPr>
          <a:xfrm>
            <a:off x="411480" y="5175504"/>
            <a:ext cx="11375136" cy="859536"/>
          </a:xfrm>
          <a:prstGeom prst="rect">
            <a:avLst/>
          </a:prstGeom>
          <a:solidFill>
            <a:srgbClr val="EEF2F6"/>
          </a:solidFill>
          <a:ln w="9525">
            <a:solidFill>
              <a:srgbClr val="D3DCE5"/>
            </a:solidFill>
            <a:prstDash val="solid"/>
          </a:ln>
        </p:spPr>
      </p:sp>
      <p:sp>
        <p:nvSpPr>
          <p:cNvPr id="62" name="Text 60"/>
          <p:cNvSpPr txBox="1"/>
          <p:nvPr/>
        </p:nvSpPr>
        <p:spPr>
          <a:xfrm>
            <a:off x="576072" y="5303520"/>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How we treat it, and why we do not simply take the A$2.6bn</a:t>
            </a:r>
            <a:endParaRPr lang="en-US" sz="1150" dirty="0"/>
          </a:p>
        </p:txBody>
      </p:sp>
      <p:sp>
        <p:nvSpPr>
          <p:cNvPr id="63" name="Text 61"/>
          <p:cNvSpPr txBox="1"/>
          <p:nvPr/>
        </p:nvSpPr>
        <p:spPr>
          <a:xfrm>
            <a:off x="576072" y="5632704"/>
            <a:ext cx="11045952" cy="310896"/>
          </a:xfrm>
          <a:prstGeom prst="rect">
            <a:avLst/>
          </a:prstGeom>
          <a:noFill/>
          <a:ln/>
        </p:spPr>
        <p:txBody>
          <a:bodyPr wrap="square" lIns="0" tIns="0" rIns="0" bIns="0" rtlCol="0" anchor="t"/>
          <a:lstStyle/>
          <a:p>
            <a:pPr indent="0" marL="0">
              <a:lnSpc>
                <a:spcPct val="105000"/>
              </a:lnSpc>
              <a:buNone/>
            </a:pPr>
            <a:r>
              <a:rPr lang="en-US" sz="730" dirty="0">
                <a:solidFill>
                  <a:srgbClr val="1B2733"/>
                </a:solidFill>
                <a:latin typeface="Calibri" pitchFamily="34" charset="0"/>
                <a:ea typeface="Calibri" pitchFamily="34" charset="-122"/>
                <a:cs typeface="Calibri" pitchFamily="34" charset="-120"/>
              </a:rPr>
              <a:t>The A$2.6bn is a pre-feasibility number from June 2024, struck before the price collapse and recovery. We do not add it to our valuation. We model the production profile it implies inside the DCF, so it is exposed to our price deck and our cost assumptions rather than the company's. In the risked sum-of-the-parts we carry P2000 at 70%: a study that is due but not delivered, and a board that has committed A$175m but not the remaining A$1.0bn.</a:t>
            </a:r>
            <a:endParaRPr lang="en-US" sz="730" dirty="0"/>
          </a:p>
        </p:txBody>
      </p:sp>
      <p:sp>
        <p:nvSpPr>
          <p:cNvPr id="64" name="Text 62"/>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P2000 pre-feasibility study announcement, 21 June 2024; PLS pre-FID capital approval, June 2026; FY27 guidance. PFS-level economics carry the usual accuracy range and are superseded by a definitive study.</a:t>
            </a:r>
            <a:endParaRPr lang="en-US" sz="720" dirty="0"/>
          </a:p>
        </p:txBody>
      </p:sp>
      <p:sp>
        <p:nvSpPr>
          <p:cNvPr id="65" name="Text 63"/>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A5</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Idled in December 2024 when prices collapsed, restarted in July 2026 when they recovered. It is the clearest evidence that PLS manages capacity to the cycle.</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A6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874520" cy="292608"/>
          </a:xfrm>
          <a:prstGeom prst="rect">
            <a:avLst/>
          </a:prstGeom>
          <a:solidFill>
            <a:srgbClr val="10233A"/>
          </a:solidFill>
          <a:ln/>
        </p:spPr>
      </p:sp>
      <p:sp>
        <p:nvSpPr>
          <p:cNvPr id="8" name="Text 6"/>
          <p:cNvSpPr txBox="1"/>
          <p:nvPr/>
        </p:nvSpPr>
        <p:spPr>
          <a:xfrm>
            <a:off x="475488" y="1298448"/>
            <a:ext cx="1746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Date</a:t>
            </a:r>
            <a:endParaRPr lang="en-US" sz="900" dirty="0"/>
          </a:p>
        </p:txBody>
      </p:sp>
      <p:sp>
        <p:nvSpPr>
          <p:cNvPr id="9" name="Shape 7"/>
          <p:cNvSpPr/>
          <p:nvPr/>
        </p:nvSpPr>
        <p:spPr>
          <a:xfrm>
            <a:off x="2286000" y="1298448"/>
            <a:ext cx="3246120" cy="292608"/>
          </a:xfrm>
          <a:prstGeom prst="rect">
            <a:avLst/>
          </a:prstGeom>
          <a:solidFill>
            <a:srgbClr val="10233A"/>
          </a:solidFill>
          <a:ln/>
        </p:spPr>
      </p:sp>
      <p:sp>
        <p:nvSpPr>
          <p:cNvPr id="10" name="Text 8"/>
          <p:cNvSpPr txBox="1"/>
          <p:nvPr/>
        </p:nvSpPr>
        <p:spPr>
          <a:xfrm>
            <a:off x="2350008" y="1298448"/>
            <a:ext cx="31181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Event</a:t>
            </a:r>
            <a:endParaRPr lang="en-US" sz="900" dirty="0"/>
          </a:p>
        </p:txBody>
      </p:sp>
      <p:sp>
        <p:nvSpPr>
          <p:cNvPr id="11" name="Shape 9"/>
          <p:cNvSpPr/>
          <p:nvPr/>
        </p:nvSpPr>
        <p:spPr>
          <a:xfrm>
            <a:off x="5532120" y="1298448"/>
            <a:ext cx="6254496" cy="292608"/>
          </a:xfrm>
          <a:prstGeom prst="rect">
            <a:avLst/>
          </a:prstGeom>
          <a:solidFill>
            <a:srgbClr val="10233A"/>
          </a:solidFill>
          <a:ln/>
        </p:spPr>
      </p:sp>
      <p:sp>
        <p:nvSpPr>
          <p:cNvPr id="12" name="Text 10"/>
          <p:cNvSpPr txBox="1"/>
          <p:nvPr/>
        </p:nvSpPr>
        <p:spPr>
          <a:xfrm>
            <a:off x="5596128" y="1298448"/>
            <a:ext cx="612648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it tells you</a:t>
            </a:r>
            <a:endParaRPr lang="en-US" sz="900" dirty="0"/>
          </a:p>
        </p:txBody>
      </p:sp>
      <p:sp>
        <p:nvSpPr>
          <p:cNvPr id="13" name="Shape 11"/>
          <p:cNvSpPr/>
          <p:nvPr/>
        </p:nvSpPr>
        <p:spPr>
          <a:xfrm>
            <a:off x="411480" y="1591056"/>
            <a:ext cx="1874520" cy="457200"/>
          </a:xfrm>
          <a:prstGeom prst="rect">
            <a:avLst/>
          </a:prstGeom>
          <a:solidFill>
            <a:srgbClr val="FFFFFF"/>
          </a:solidFill>
          <a:ln w="6350">
            <a:solidFill>
              <a:srgbClr val="D3DCE5"/>
            </a:solidFill>
            <a:prstDash val="solid"/>
          </a:ln>
        </p:spPr>
      </p:sp>
      <p:sp>
        <p:nvSpPr>
          <p:cNvPr id="14" name="Text 12"/>
          <p:cNvSpPr txBox="1"/>
          <p:nvPr/>
        </p:nvSpPr>
        <p:spPr>
          <a:xfrm>
            <a:off x="475488" y="1591056"/>
            <a:ext cx="1746504" cy="4572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Dec 2024</a:t>
            </a:r>
            <a:endParaRPr lang="en-US" sz="880" dirty="0"/>
          </a:p>
        </p:txBody>
      </p:sp>
      <p:sp>
        <p:nvSpPr>
          <p:cNvPr id="15" name="Shape 13"/>
          <p:cNvSpPr/>
          <p:nvPr/>
        </p:nvSpPr>
        <p:spPr>
          <a:xfrm>
            <a:off x="2286000" y="1591056"/>
            <a:ext cx="3246120" cy="457200"/>
          </a:xfrm>
          <a:prstGeom prst="rect">
            <a:avLst/>
          </a:prstGeom>
          <a:solidFill>
            <a:srgbClr val="FFFFFF"/>
          </a:solidFill>
          <a:ln w="6350">
            <a:solidFill>
              <a:srgbClr val="D3DCE5"/>
            </a:solidFill>
            <a:prstDash val="solid"/>
          </a:ln>
        </p:spPr>
      </p:sp>
      <p:sp>
        <p:nvSpPr>
          <p:cNvPr id="16" name="Text 14"/>
          <p:cNvSpPr txBox="1"/>
          <p:nvPr/>
        </p:nvSpPr>
        <p:spPr>
          <a:xfrm>
            <a:off x="2350008" y="1591056"/>
            <a:ext cx="3118104"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Placed into care and maintenance</a:t>
            </a:r>
            <a:endParaRPr lang="en-US" sz="880" dirty="0"/>
          </a:p>
        </p:txBody>
      </p:sp>
      <p:sp>
        <p:nvSpPr>
          <p:cNvPr id="17" name="Shape 15"/>
          <p:cNvSpPr/>
          <p:nvPr/>
        </p:nvSpPr>
        <p:spPr>
          <a:xfrm>
            <a:off x="5532120" y="1591056"/>
            <a:ext cx="6254496" cy="457200"/>
          </a:xfrm>
          <a:prstGeom prst="rect">
            <a:avLst/>
          </a:prstGeom>
          <a:solidFill>
            <a:srgbClr val="FFFFFF"/>
          </a:solidFill>
          <a:ln w="6350">
            <a:solidFill>
              <a:srgbClr val="D3DCE5"/>
            </a:solidFill>
            <a:prstDash val="solid"/>
          </a:ln>
        </p:spPr>
      </p:sp>
      <p:sp>
        <p:nvSpPr>
          <p:cNvPr id="18" name="Text 16"/>
          <p:cNvSpPr txBox="1"/>
          <p:nvPr/>
        </p:nvSpPr>
        <p:spPr>
          <a:xfrm>
            <a:off x="5596128" y="1591056"/>
            <a:ext cx="6126480"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PLS cut production guidance and idled about 200ktpa of capacity rather than sell tonnes below cost into a collapsing market.</a:t>
            </a:r>
            <a:endParaRPr lang="en-US" sz="880" dirty="0"/>
          </a:p>
        </p:txBody>
      </p:sp>
      <p:sp>
        <p:nvSpPr>
          <p:cNvPr id="19" name="Shape 17"/>
          <p:cNvSpPr/>
          <p:nvPr/>
        </p:nvSpPr>
        <p:spPr>
          <a:xfrm>
            <a:off x="411480" y="2048256"/>
            <a:ext cx="1874520" cy="457200"/>
          </a:xfrm>
          <a:prstGeom prst="rect">
            <a:avLst/>
          </a:prstGeom>
          <a:solidFill>
            <a:srgbClr val="F7F9FB"/>
          </a:solidFill>
          <a:ln w="6350">
            <a:solidFill>
              <a:srgbClr val="D3DCE5"/>
            </a:solidFill>
            <a:prstDash val="solid"/>
          </a:ln>
        </p:spPr>
      </p:sp>
      <p:sp>
        <p:nvSpPr>
          <p:cNvPr id="20" name="Text 18"/>
          <p:cNvSpPr txBox="1"/>
          <p:nvPr/>
        </p:nvSpPr>
        <p:spPr>
          <a:xfrm>
            <a:off x="475488" y="2048256"/>
            <a:ext cx="1746504" cy="4572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FY25</a:t>
            </a:r>
            <a:endParaRPr lang="en-US" sz="880" dirty="0"/>
          </a:p>
        </p:txBody>
      </p:sp>
      <p:sp>
        <p:nvSpPr>
          <p:cNvPr id="21" name="Shape 19"/>
          <p:cNvSpPr/>
          <p:nvPr/>
        </p:nvSpPr>
        <p:spPr>
          <a:xfrm>
            <a:off x="2286000" y="2048256"/>
            <a:ext cx="3246120" cy="457200"/>
          </a:xfrm>
          <a:prstGeom prst="rect">
            <a:avLst/>
          </a:prstGeom>
          <a:solidFill>
            <a:srgbClr val="F7F9FB"/>
          </a:solidFill>
          <a:ln w="6350">
            <a:solidFill>
              <a:srgbClr val="D3DCE5"/>
            </a:solidFill>
            <a:prstDash val="solid"/>
          </a:ln>
        </p:spPr>
      </p:sp>
      <p:sp>
        <p:nvSpPr>
          <p:cNvPr id="22" name="Text 20"/>
          <p:cNvSpPr txBox="1"/>
          <p:nvPr/>
        </p:nvSpPr>
        <p:spPr>
          <a:xfrm>
            <a:off x="2350008" y="2048256"/>
            <a:ext cx="3118104"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Operated Pilgan only</a:t>
            </a:r>
            <a:endParaRPr lang="en-US" sz="880" dirty="0"/>
          </a:p>
        </p:txBody>
      </p:sp>
      <p:sp>
        <p:nvSpPr>
          <p:cNvPr id="23" name="Shape 21"/>
          <p:cNvSpPr/>
          <p:nvPr/>
        </p:nvSpPr>
        <p:spPr>
          <a:xfrm>
            <a:off x="5532120" y="2048256"/>
            <a:ext cx="6254496" cy="457200"/>
          </a:xfrm>
          <a:prstGeom prst="rect">
            <a:avLst/>
          </a:prstGeom>
          <a:solidFill>
            <a:srgbClr val="F7F9FB"/>
          </a:solidFill>
          <a:ln w="6350">
            <a:solidFill>
              <a:srgbClr val="D3DCE5"/>
            </a:solidFill>
            <a:prstDash val="solid"/>
          </a:ln>
        </p:spPr>
      </p:sp>
      <p:sp>
        <p:nvSpPr>
          <p:cNvPr id="24" name="Text 22"/>
          <p:cNvSpPr txBox="1"/>
          <p:nvPr/>
        </p:nvSpPr>
        <p:spPr>
          <a:xfrm>
            <a:off x="5596128" y="2048256"/>
            <a:ext cx="6126480"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Production of 755.6kt at A$627/t. The company stayed cash generative at an underlying EBITDA of A$97m through the worst of the cycle.</a:t>
            </a:r>
            <a:endParaRPr lang="en-US" sz="880" dirty="0"/>
          </a:p>
        </p:txBody>
      </p:sp>
      <p:sp>
        <p:nvSpPr>
          <p:cNvPr id="25" name="Shape 23"/>
          <p:cNvSpPr/>
          <p:nvPr/>
        </p:nvSpPr>
        <p:spPr>
          <a:xfrm>
            <a:off x="411480" y="2505456"/>
            <a:ext cx="1874520" cy="457200"/>
          </a:xfrm>
          <a:prstGeom prst="rect">
            <a:avLst/>
          </a:prstGeom>
          <a:solidFill>
            <a:srgbClr val="FFFFFF"/>
          </a:solidFill>
          <a:ln w="6350">
            <a:solidFill>
              <a:srgbClr val="D3DCE5"/>
            </a:solidFill>
            <a:prstDash val="solid"/>
          </a:ln>
        </p:spPr>
      </p:sp>
      <p:sp>
        <p:nvSpPr>
          <p:cNvPr id="26" name="Text 24"/>
          <p:cNvSpPr txBox="1"/>
          <p:nvPr/>
        </p:nvSpPr>
        <p:spPr>
          <a:xfrm>
            <a:off x="475488" y="2505456"/>
            <a:ext cx="1746504" cy="4572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2026</a:t>
            </a:r>
            <a:endParaRPr lang="en-US" sz="880" dirty="0"/>
          </a:p>
        </p:txBody>
      </p:sp>
      <p:sp>
        <p:nvSpPr>
          <p:cNvPr id="27" name="Shape 25"/>
          <p:cNvSpPr/>
          <p:nvPr/>
        </p:nvSpPr>
        <p:spPr>
          <a:xfrm>
            <a:off x="2286000" y="2505456"/>
            <a:ext cx="3246120" cy="457200"/>
          </a:xfrm>
          <a:prstGeom prst="rect">
            <a:avLst/>
          </a:prstGeom>
          <a:solidFill>
            <a:srgbClr val="FFFFFF"/>
          </a:solidFill>
          <a:ln w="6350">
            <a:solidFill>
              <a:srgbClr val="D3DCE5"/>
            </a:solidFill>
            <a:prstDash val="solid"/>
          </a:ln>
        </p:spPr>
      </p:sp>
      <p:sp>
        <p:nvSpPr>
          <p:cNvPr id="28" name="Text 26"/>
          <p:cNvSpPr txBox="1"/>
          <p:nvPr/>
        </p:nvSpPr>
        <p:spPr>
          <a:xfrm>
            <a:off x="2350008" y="2505456"/>
            <a:ext cx="3118104"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Restart approved</a:t>
            </a:r>
            <a:endParaRPr lang="en-US" sz="880" dirty="0"/>
          </a:p>
        </p:txBody>
      </p:sp>
      <p:sp>
        <p:nvSpPr>
          <p:cNvPr id="29" name="Shape 27"/>
          <p:cNvSpPr/>
          <p:nvPr/>
        </p:nvSpPr>
        <p:spPr>
          <a:xfrm>
            <a:off x="5532120" y="2505456"/>
            <a:ext cx="6254496" cy="457200"/>
          </a:xfrm>
          <a:prstGeom prst="rect">
            <a:avLst/>
          </a:prstGeom>
          <a:solidFill>
            <a:srgbClr val="FFFFFF"/>
          </a:solidFill>
          <a:ln w="6350">
            <a:solidFill>
              <a:srgbClr val="D3DCE5"/>
            </a:solidFill>
            <a:prstDash val="solid"/>
          </a:ln>
        </p:spPr>
      </p:sp>
      <p:sp>
        <p:nvSpPr>
          <p:cNvPr id="30" name="Text 28"/>
          <p:cNvSpPr txBox="1"/>
          <p:nvPr/>
        </p:nvSpPr>
        <p:spPr>
          <a:xfrm>
            <a:off x="5596128" y="2505456"/>
            <a:ext cx="6126480"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Cited improved market conditions and ongoing customer demand.</a:t>
            </a:r>
            <a:endParaRPr lang="en-US" sz="880" dirty="0"/>
          </a:p>
        </p:txBody>
      </p:sp>
      <p:sp>
        <p:nvSpPr>
          <p:cNvPr id="31" name="Shape 29"/>
          <p:cNvSpPr/>
          <p:nvPr/>
        </p:nvSpPr>
        <p:spPr>
          <a:xfrm>
            <a:off x="411480" y="2962656"/>
            <a:ext cx="1874520" cy="457200"/>
          </a:xfrm>
          <a:prstGeom prst="rect">
            <a:avLst/>
          </a:prstGeom>
          <a:solidFill>
            <a:srgbClr val="F7F9FB"/>
          </a:solidFill>
          <a:ln w="6350">
            <a:solidFill>
              <a:srgbClr val="D3DCE5"/>
            </a:solidFill>
            <a:prstDash val="solid"/>
          </a:ln>
        </p:spPr>
      </p:sp>
      <p:sp>
        <p:nvSpPr>
          <p:cNvPr id="32" name="Text 30"/>
          <p:cNvSpPr txBox="1"/>
          <p:nvPr/>
        </p:nvSpPr>
        <p:spPr>
          <a:xfrm>
            <a:off x="475488" y="2962656"/>
            <a:ext cx="1746504" cy="4572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Jul 2026</a:t>
            </a:r>
            <a:endParaRPr lang="en-US" sz="880" dirty="0"/>
          </a:p>
        </p:txBody>
      </p:sp>
      <p:sp>
        <p:nvSpPr>
          <p:cNvPr id="33" name="Shape 31"/>
          <p:cNvSpPr/>
          <p:nvPr/>
        </p:nvSpPr>
        <p:spPr>
          <a:xfrm>
            <a:off x="2286000" y="2962656"/>
            <a:ext cx="3246120" cy="457200"/>
          </a:xfrm>
          <a:prstGeom prst="rect">
            <a:avLst/>
          </a:prstGeom>
          <a:solidFill>
            <a:srgbClr val="F7F9FB"/>
          </a:solidFill>
          <a:ln w="6350">
            <a:solidFill>
              <a:srgbClr val="D3DCE5"/>
            </a:solidFill>
            <a:prstDash val="solid"/>
          </a:ln>
        </p:spPr>
      </p:sp>
      <p:sp>
        <p:nvSpPr>
          <p:cNvPr id="34" name="Text 32"/>
          <p:cNvSpPr txBox="1"/>
          <p:nvPr/>
        </p:nvSpPr>
        <p:spPr>
          <a:xfrm>
            <a:off x="2350008" y="2962656"/>
            <a:ext cx="3118104" cy="457200"/>
          </a:xfrm>
          <a:prstGeom prst="rect">
            <a:avLst/>
          </a:prstGeom>
          <a:noFill/>
          <a:ln/>
        </p:spPr>
        <p:txBody>
          <a:bodyPr wrap="square" lIns="0" tIns="0" rIns="0" bIns="0" rtlCol="0" anchor="ctr"/>
          <a:lstStyle/>
          <a:p>
            <a:pPr algn="l" indent="0" marL="0">
              <a:buNone/>
            </a:pPr>
            <a:r>
              <a:rPr lang="en-US" sz="880" b="1" dirty="0">
                <a:solidFill>
                  <a:srgbClr val="0E7C6B"/>
                </a:solidFill>
                <a:latin typeface="Calibri" pitchFamily="34" charset="0"/>
                <a:ea typeface="Calibri" pitchFamily="34" charset="-122"/>
                <a:cs typeface="Calibri" pitchFamily="34" charset="-120"/>
              </a:rPr>
              <a:t>Restarted</a:t>
            </a:r>
            <a:endParaRPr lang="en-US" sz="880" dirty="0"/>
          </a:p>
        </p:txBody>
      </p:sp>
      <p:sp>
        <p:nvSpPr>
          <p:cNvPr id="35" name="Shape 33"/>
          <p:cNvSpPr/>
          <p:nvPr/>
        </p:nvSpPr>
        <p:spPr>
          <a:xfrm>
            <a:off x="5532120" y="2962656"/>
            <a:ext cx="6254496" cy="457200"/>
          </a:xfrm>
          <a:prstGeom prst="rect">
            <a:avLst/>
          </a:prstGeom>
          <a:solidFill>
            <a:srgbClr val="F7F9FB"/>
          </a:solidFill>
          <a:ln w="6350">
            <a:solidFill>
              <a:srgbClr val="D3DCE5"/>
            </a:solidFill>
            <a:prstDash val="solid"/>
          </a:ln>
        </p:spPr>
      </p:sp>
      <p:sp>
        <p:nvSpPr>
          <p:cNvPr id="36" name="Text 34"/>
          <p:cNvSpPr txBox="1"/>
          <p:nvPr/>
        </p:nvSpPr>
        <p:spPr>
          <a:xfrm>
            <a:off x="5596128" y="2962656"/>
            <a:ext cx="6126480"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Just after the FY26 year end. Steady state targeted within the first four months of FY27.</a:t>
            </a:r>
            <a:endParaRPr lang="en-US" sz="880" dirty="0"/>
          </a:p>
        </p:txBody>
      </p:sp>
      <p:sp>
        <p:nvSpPr>
          <p:cNvPr id="37" name="Shape 35"/>
          <p:cNvSpPr/>
          <p:nvPr/>
        </p:nvSpPr>
        <p:spPr>
          <a:xfrm>
            <a:off x="411480" y="3419856"/>
            <a:ext cx="1874520" cy="457200"/>
          </a:xfrm>
          <a:prstGeom prst="rect">
            <a:avLst/>
          </a:prstGeom>
          <a:solidFill>
            <a:srgbClr val="FFFFFF"/>
          </a:solidFill>
          <a:ln w="6350">
            <a:solidFill>
              <a:srgbClr val="D3DCE5"/>
            </a:solidFill>
            <a:prstDash val="solid"/>
          </a:ln>
        </p:spPr>
      </p:sp>
      <p:sp>
        <p:nvSpPr>
          <p:cNvPr id="38" name="Text 36"/>
          <p:cNvSpPr txBox="1"/>
          <p:nvPr/>
        </p:nvSpPr>
        <p:spPr>
          <a:xfrm>
            <a:off x="475488" y="3419856"/>
            <a:ext cx="1746504" cy="4572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FY27</a:t>
            </a:r>
            <a:endParaRPr lang="en-US" sz="880" dirty="0"/>
          </a:p>
        </p:txBody>
      </p:sp>
      <p:sp>
        <p:nvSpPr>
          <p:cNvPr id="39" name="Shape 37"/>
          <p:cNvSpPr/>
          <p:nvPr/>
        </p:nvSpPr>
        <p:spPr>
          <a:xfrm>
            <a:off x="2286000" y="3419856"/>
            <a:ext cx="3246120" cy="457200"/>
          </a:xfrm>
          <a:prstGeom prst="rect">
            <a:avLst/>
          </a:prstGeom>
          <a:solidFill>
            <a:srgbClr val="FFFFFF"/>
          </a:solidFill>
          <a:ln w="6350">
            <a:solidFill>
              <a:srgbClr val="D3DCE5"/>
            </a:solidFill>
            <a:prstDash val="solid"/>
          </a:ln>
        </p:spPr>
      </p:sp>
      <p:sp>
        <p:nvSpPr>
          <p:cNvPr id="40" name="Text 38"/>
          <p:cNvSpPr txBox="1"/>
          <p:nvPr/>
        </p:nvSpPr>
        <p:spPr>
          <a:xfrm>
            <a:off x="2350008" y="3419856"/>
            <a:ext cx="3118104"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Guidance 1,030-1,100kt</a:t>
            </a:r>
            <a:endParaRPr lang="en-US" sz="880" dirty="0"/>
          </a:p>
        </p:txBody>
      </p:sp>
      <p:sp>
        <p:nvSpPr>
          <p:cNvPr id="41" name="Shape 39"/>
          <p:cNvSpPr/>
          <p:nvPr/>
        </p:nvSpPr>
        <p:spPr>
          <a:xfrm>
            <a:off x="5532120" y="3419856"/>
            <a:ext cx="6254496" cy="457200"/>
          </a:xfrm>
          <a:prstGeom prst="rect">
            <a:avLst/>
          </a:prstGeom>
          <a:solidFill>
            <a:srgbClr val="FFFFFF"/>
          </a:solidFill>
          <a:ln w="6350">
            <a:solidFill>
              <a:srgbClr val="D3DCE5"/>
            </a:solidFill>
            <a:prstDash val="solid"/>
          </a:ln>
        </p:spPr>
      </p:sp>
      <p:sp>
        <p:nvSpPr>
          <p:cNvPr id="42" name="Text 40"/>
          <p:cNvSpPr txBox="1"/>
          <p:nvPr/>
        </p:nvSpPr>
        <p:spPr>
          <a:xfrm>
            <a:off x="5596128" y="3419856"/>
            <a:ext cx="6126480"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A 17-25% volume step-up, with unit costs guided A$575-625/t because Ngungaju tonnes cost more than the Pilgan average.</a:t>
            </a:r>
            <a:endParaRPr lang="en-US" sz="880" dirty="0"/>
          </a:p>
        </p:txBody>
      </p:sp>
      <p:sp>
        <p:nvSpPr>
          <p:cNvPr id="43" name="Shape 41"/>
          <p:cNvSpPr/>
          <p:nvPr/>
        </p:nvSpPr>
        <p:spPr>
          <a:xfrm>
            <a:off x="411480" y="4005072"/>
            <a:ext cx="5577840" cy="1883664"/>
          </a:xfrm>
          <a:prstGeom prst="rect">
            <a:avLst/>
          </a:prstGeom>
          <a:solidFill>
            <a:srgbClr val="D6EBE7"/>
          </a:solidFill>
          <a:ln w="9525">
            <a:solidFill>
              <a:srgbClr val="AFD3CC"/>
            </a:solidFill>
            <a:prstDash val="solid"/>
          </a:ln>
        </p:spPr>
      </p:sp>
      <p:sp>
        <p:nvSpPr>
          <p:cNvPr id="44" name="Text 42"/>
          <p:cNvSpPr txBox="1"/>
          <p:nvPr/>
        </p:nvSpPr>
        <p:spPr>
          <a:xfrm>
            <a:off x="576072" y="4133088"/>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Why this matters more than the tonnes</a:t>
            </a:r>
            <a:endParaRPr lang="en-US" sz="1150" dirty="0"/>
          </a:p>
        </p:txBody>
      </p:sp>
      <p:sp>
        <p:nvSpPr>
          <p:cNvPr id="45" name="Text 43"/>
          <p:cNvSpPr txBox="1"/>
          <p:nvPr/>
        </p:nvSpPr>
        <p:spPr>
          <a:xfrm>
            <a:off x="576072" y="4462272"/>
            <a:ext cx="5248656" cy="1335024"/>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Idling capacity is easy to announce and hard to do: it means writing off fixed costs, standing down a workforce and telling customers no. PLS did it, held the balance sheet through the trough, bought Latin Resources in scrip at the bottom, and restarted when the price justified it.</a:t>
            </a:r>
            <a:endParaRPr lang="en-US" sz="920" dirty="0"/>
          </a:p>
          <a:p>
            <a:pPr indent="0" marL="0">
              <a:lnSpc>
                <a:spcPct val="105000"/>
              </a:lnSpc>
              <a:buNone/>
            </a:pPr>
            <a:endParaRPr lang="en-US" sz="920" dirty="0"/>
          </a:p>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That is the behaviour the cost-curve slide predicts. A producer at the low end of the curve gets to choose when to supply. A producer at the high end has the choice made for it.</a:t>
            </a:r>
            <a:endParaRPr lang="en-US" sz="920" dirty="0"/>
          </a:p>
        </p:txBody>
      </p:sp>
      <p:sp>
        <p:nvSpPr>
          <p:cNvPr id="46" name="Shape 44"/>
          <p:cNvSpPr/>
          <p:nvPr/>
        </p:nvSpPr>
        <p:spPr>
          <a:xfrm>
            <a:off x="6208776" y="4005072"/>
            <a:ext cx="5577840" cy="1883664"/>
          </a:xfrm>
          <a:prstGeom prst="rect">
            <a:avLst/>
          </a:prstGeom>
          <a:solidFill>
            <a:srgbClr val="FBEBD9"/>
          </a:solidFill>
          <a:ln w="9525">
            <a:solidFill>
              <a:srgbClr val="E8C9A3"/>
            </a:solidFill>
            <a:prstDash val="solid"/>
          </a:ln>
        </p:spPr>
      </p:sp>
      <p:sp>
        <p:nvSpPr>
          <p:cNvPr id="47" name="Text 45"/>
          <p:cNvSpPr txBox="1"/>
          <p:nvPr/>
        </p:nvSpPr>
        <p:spPr>
          <a:xfrm>
            <a:off x="6373368" y="4133088"/>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The cost consequence we do not hide</a:t>
            </a:r>
            <a:endParaRPr lang="en-US" sz="1150" dirty="0"/>
          </a:p>
        </p:txBody>
      </p:sp>
      <p:sp>
        <p:nvSpPr>
          <p:cNvPr id="48" name="Text 46"/>
          <p:cNvSpPr txBox="1"/>
          <p:nvPr/>
        </p:nvSpPr>
        <p:spPr>
          <a:xfrm>
            <a:off x="6373368" y="4462272"/>
            <a:ext cx="5248656" cy="1335024"/>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Restarting Ngungaju raises the average unit cost. FY27 guidance of A$575-625/t is above the A$569/t achieved in FY26, and the company attributes the step-up to the Ngungaju mix.</a:t>
            </a:r>
            <a:endParaRPr lang="en-US" sz="920" dirty="0"/>
          </a:p>
          <a:p>
            <a:pPr indent="0" marL="0">
              <a:lnSpc>
                <a:spcPct val="105000"/>
              </a:lnSpc>
              <a:buNone/>
            </a:pPr>
            <a:endParaRPr lang="en-US" sz="920" dirty="0"/>
          </a:p>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Our base case uses A$600/t for FY27, the guidance midpoint, falling to A$565/t by the 2030s as P2000 volume dilutes fixed costs. In the bear case we assume Ngungaju is throttled back to 120kt from FY30 rather than shut, because a restart-capable plant is worth more idle than closed.</a:t>
            </a:r>
            <a:endParaRPr lang="en-US" sz="920" dirty="0"/>
          </a:p>
        </p:txBody>
      </p:sp>
      <p:sp>
        <p:nvSpPr>
          <p:cNvPr id="49" name="Text 47"/>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announcements on Ngungaju care and maintenance (December 2024) and restart (2026); FY26 results and FY27 guidance; Australian Mining, 'Ngungaju restart powers PLS towards one-million-tonne FY27'.</a:t>
            </a:r>
            <a:endParaRPr lang="en-US" sz="720" dirty="0"/>
          </a:p>
        </p:txBody>
      </p:sp>
      <p:sp>
        <p:nvSpPr>
          <p:cNvPr id="50" name="Text 48"/>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100% owned, opened June 2026, first production guided for the September 2026 quarter. It cuts emissions from the most energy-intensive step and moves PLS down the value chain.</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A7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Text 5"/>
          <p:cNvSpPr txBox="1"/>
          <p:nvPr/>
        </p:nvSpPr>
        <p:spPr>
          <a:xfrm>
            <a:off x="411480" y="1298448"/>
            <a:ext cx="2651760" cy="566928"/>
          </a:xfrm>
          <a:prstGeom prst="rect">
            <a:avLst/>
          </a:prstGeom>
          <a:noFill/>
          <a:ln/>
        </p:spPr>
        <p:txBody>
          <a:bodyPr wrap="square" lIns="0" tIns="0" rIns="0" bIns="0" rtlCol="0" anchor="b"/>
          <a:lstStyle/>
          <a:p>
            <a:pPr algn="l" indent="0" marL="0">
              <a:buNone/>
            </a:pPr>
            <a:r>
              <a:rPr lang="en-US" sz="3000" b="1" dirty="0">
                <a:solidFill>
                  <a:srgbClr val="0E7C6B"/>
                </a:solidFill>
                <a:latin typeface="Cambria" pitchFamily="34" charset="0"/>
                <a:ea typeface="Cambria" pitchFamily="34" charset="-122"/>
                <a:cs typeface="Cambria" pitchFamily="34" charset="-120"/>
              </a:rPr>
              <a:t>&gt;80%</a:t>
            </a:r>
            <a:endParaRPr lang="en-US" sz="3000" dirty="0"/>
          </a:p>
        </p:txBody>
      </p:sp>
      <p:sp>
        <p:nvSpPr>
          <p:cNvPr id="8" name="Text 6"/>
          <p:cNvSpPr txBox="1"/>
          <p:nvPr/>
        </p:nvSpPr>
        <p:spPr>
          <a:xfrm>
            <a:off x="411480" y="1847088"/>
            <a:ext cx="265176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Cut in calcination emissions</a:t>
            </a:r>
            <a:endParaRPr lang="en-US" sz="1000" dirty="0"/>
          </a:p>
        </p:txBody>
      </p:sp>
      <p:sp>
        <p:nvSpPr>
          <p:cNvPr id="9" name="Text 7"/>
          <p:cNvSpPr txBox="1"/>
          <p:nvPr/>
        </p:nvSpPr>
        <p:spPr>
          <a:xfrm>
            <a:off x="411480" y="2066544"/>
            <a:ext cx="265176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When the electric kiln is powered by renewables. Calcination is the most energy-intensive step in the chain.</a:t>
            </a:r>
            <a:endParaRPr lang="en-US" sz="850" dirty="0"/>
          </a:p>
        </p:txBody>
      </p:sp>
      <p:sp>
        <p:nvSpPr>
          <p:cNvPr id="10" name="Text 8"/>
          <p:cNvSpPr txBox="1"/>
          <p:nvPr/>
        </p:nvSpPr>
        <p:spPr>
          <a:xfrm>
            <a:off x="3291840" y="1298448"/>
            <a:ext cx="2651760" cy="566928"/>
          </a:xfrm>
          <a:prstGeom prst="rect">
            <a:avLst/>
          </a:prstGeom>
          <a:noFill/>
          <a:ln/>
        </p:spPr>
        <p:txBody>
          <a:bodyPr wrap="square" lIns="0" tIns="0" rIns="0" bIns="0" rtlCol="0" anchor="b"/>
          <a:lstStyle/>
          <a:p>
            <a:pPr algn="l" indent="0" marL="0">
              <a:buNone/>
            </a:pPr>
            <a:r>
              <a:rPr lang="en-US" sz="3000" b="1" dirty="0">
                <a:solidFill>
                  <a:srgbClr val="10233A"/>
                </a:solidFill>
                <a:latin typeface="Cambria" pitchFamily="34" charset="0"/>
                <a:ea typeface="Cambria" pitchFamily="34" charset="-122"/>
                <a:cs typeface="Cambria" pitchFamily="34" charset="-120"/>
              </a:rPr>
              <a:t>5 Jun 2026</a:t>
            </a:r>
            <a:endParaRPr lang="en-US" sz="3000" dirty="0"/>
          </a:p>
        </p:txBody>
      </p:sp>
      <p:sp>
        <p:nvSpPr>
          <p:cNvPr id="11" name="Text 9"/>
          <p:cNvSpPr txBox="1"/>
          <p:nvPr/>
        </p:nvSpPr>
        <p:spPr>
          <a:xfrm>
            <a:off x="3291840" y="1847088"/>
            <a:ext cx="265176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Officially opened</a:t>
            </a:r>
            <a:endParaRPr lang="en-US" sz="1000" dirty="0"/>
          </a:p>
        </p:txBody>
      </p:sp>
      <p:sp>
        <p:nvSpPr>
          <p:cNvPr id="12" name="Text 10"/>
          <p:cNvSpPr txBox="1"/>
          <p:nvPr/>
        </p:nvSpPr>
        <p:spPr>
          <a:xfrm>
            <a:off x="3291840" y="2066544"/>
            <a:ext cx="265176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Attended by the WA Premier and the then-Chair of the Australian Renewable Energy Agency.</a:t>
            </a:r>
            <a:endParaRPr lang="en-US" sz="850" dirty="0"/>
          </a:p>
        </p:txBody>
      </p:sp>
      <p:sp>
        <p:nvSpPr>
          <p:cNvPr id="13" name="Text 11"/>
          <p:cNvSpPr txBox="1"/>
          <p:nvPr/>
        </p:nvSpPr>
        <p:spPr>
          <a:xfrm>
            <a:off x="6172200" y="1298448"/>
            <a:ext cx="2651760" cy="566928"/>
          </a:xfrm>
          <a:prstGeom prst="rect">
            <a:avLst/>
          </a:prstGeom>
          <a:noFill/>
          <a:ln/>
        </p:spPr>
        <p:txBody>
          <a:bodyPr wrap="square" lIns="0" tIns="0" rIns="0" bIns="0" rtlCol="0" anchor="b"/>
          <a:lstStyle/>
          <a:p>
            <a:pPr algn="l" indent="0" marL="0">
              <a:buNone/>
            </a:pPr>
            <a:r>
              <a:rPr lang="en-US" sz="2750" b="1" dirty="0">
                <a:solidFill>
                  <a:srgbClr val="C2610A"/>
                </a:solidFill>
                <a:latin typeface="Cambria" pitchFamily="34" charset="0"/>
                <a:ea typeface="Cambria" pitchFamily="34" charset="-122"/>
                <a:cs typeface="Cambria" pitchFamily="34" charset="-120"/>
              </a:rPr>
              <a:t>Sep-qtr 2026</a:t>
            </a:r>
            <a:endParaRPr lang="en-US" sz="2750" dirty="0"/>
          </a:p>
        </p:txBody>
      </p:sp>
      <p:sp>
        <p:nvSpPr>
          <p:cNvPr id="14" name="Text 12"/>
          <p:cNvSpPr txBox="1"/>
          <p:nvPr/>
        </p:nvSpPr>
        <p:spPr>
          <a:xfrm>
            <a:off x="6172200" y="1847088"/>
            <a:ext cx="2651760"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First production</a:t>
            </a:r>
            <a:endParaRPr lang="en-US" sz="1000" dirty="0"/>
          </a:p>
        </p:txBody>
      </p:sp>
      <p:sp>
        <p:nvSpPr>
          <p:cNvPr id="15" name="Text 13"/>
          <p:cNvSpPr txBox="1"/>
          <p:nvPr/>
        </p:nvSpPr>
        <p:spPr>
          <a:xfrm>
            <a:off x="6172200" y="2066544"/>
            <a:ext cx="2651760"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First spodumene calcination and lithium phosphate production. Inside our investment horizon.</a:t>
            </a:r>
            <a:endParaRPr lang="en-US" sz="850" dirty="0"/>
          </a:p>
        </p:txBody>
      </p:sp>
      <p:sp>
        <p:nvSpPr>
          <p:cNvPr id="16" name="Text 14"/>
          <p:cNvSpPr txBox="1"/>
          <p:nvPr/>
        </p:nvSpPr>
        <p:spPr>
          <a:xfrm>
            <a:off x="9052560" y="1298448"/>
            <a:ext cx="2734056" cy="566928"/>
          </a:xfrm>
          <a:prstGeom prst="rect">
            <a:avLst/>
          </a:prstGeom>
          <a:noFill/>
          <a:ln/>
        </p:spPr>
        <p:txBody>
          <a:bodyPr wrap="square" lIns="0" tIns="0" rIns="0" bIns="0" rtlCol="0" anchor="b"/>
          <a:lstStyle/>
          <a:p>
            <a:pPr algn="l" indent="0" marL="0">
              <a:buNone/>
            </a:pPr>
            <a:r>
              <a:rPr lang="en-US" sz="3000" b="1" dirty="0">
                <a:solidFill>
                  <a:srgbClr val="0E7C6B"/>
                </a:solidFill>
                <a:latin typeface="Cambria" pitchFamily="34" charset="0"/>
                <a:ea typeface="Cambria" pitchFamily="34" charset="-122"/>
                <a:cs typeface="Cambria" pitchFamily="34" charset="-120"/>
              </a:rPr>
              <a:t>A$0.21</a:t>
            </a:r>
            <a:endParaRPr lang="en-US" sz="3000" dirty="0"/>
          </a:p>
        </p:txBody>
      </p:sp>
      <p:sp>
        <p:nvSpPr>
          <p:cNvPr id="17" name="Text 15"/>
          <p:cNvSpPr txBox="1"/>
          <p:nvPr/>
        </p:nvSpPr>
        <p:spPr>
          <a:xfrm>
            <a:off x="9052560" y="1847088"/>
            <a:ext cx="2734056" cy="237744"/>
          </a:xfrm>
          <a:prstGeom prst="rect">
            <a:avLst/>
          </a:prstGeom>
          <a:noFill/>
          <a:ln/>
        </p:spPr>
        <p:txBody>
          <a:bodyPr wrap="square" lIns="0" tIns="0" rIns="0" bIns="0" rtlCol="0" anchor="t"/>
          <a:lstStyle/>
          <a:p>
            <a:pPr algn="l" indent="0" marL="0">
              <a:buNone/>
            </a:pPr>
            <a:r>
              <a:rPr lang="en-US" sz="1000" b="1" dirty="0">
                <a:solidFill>
                  <a:srgbClr val="1B2733"/>
                </a:solidFill>
                <a:latin typeface="Calibri" pitchFamily="34" charset="0"/>
                <a:ea typeface="Calibri" pitchFamily="34" charset="-122"/>
                <a:cs typeface="Calibri" pitchFamily="34" charset="-120"/>
              </a:rPr>
              <a:t>Risked value per share</a:t>
            </a:r>
            <a:endParaRPr lang="en-US" sz="1000" dirty="0"/>
          </a:p>
        </p:txBody>
      </p:sp>
      <p:sp>
        <p:nvSpPr>
          <p:cNvPr id="18" name="Text 16"/>
          <p:cNvSpPr txBox="1"/>
          <p:nvPr/>
        </p:nvSpPr>
        <p:spPr>
          <a:xfrm>
            <a:off x="9052560" y="2066544"/>
            <a:ext cx="2734056" cy="457200"/>
          </a:xfrm>
          <a:prstGeom prst="rect">
            <a:avLst/>
          </a:prstGeom>
          <a:noFill/>
          <a:ln/>
        </p:spPr>
        <p:txBody>
          <a:bodyPr wrap="square" lIns="0" tIns="0" rIns="0" bIns="0" rtlCol="0" anchor="t"/>
          <a:lstStyle/>
          <a:p>
            <a:pPr algn="l" indent="0" marL="0">
              <a:buNone/>
            </a:pPr>
            <a:r>
              <a:rPr lang="en-US" sz="850" dirty="0">
                <a:solidFill>
                  <a:srgbClr val="5F7183"/>
                </a:solidFill>
                <a:latin typeface="Calibri" pitchFamily="34" charset="0"/>
                <a:ea typeface="Calibri" pitchFamily="34" charset="-122"/>
                <a:cs typeface="Calibri" pitchFamily="34" charset="-120"/>
              </a:rPr>
              <a:t>Our estimate at a 45% probability, held outside the target price.</a:t>
            </a:r>
            <a:endParaRPr lang="en-US" sz="850" dirty="0"/>
          </a:p>
        </p:txBody>
      </p:sp>
      <p:sp>
        <p:nvSpPr>
          <p:cNvPr id="19" name="Shape 17"/>
          <p:cNvSpPr/>
          <p:nvPr/>
        </p:nvSpPr>
        <p:spPr>
          <a:xfrm>
            <a:off x="411480" y="2779776"/>
            <a:ext cx="5577840" cy="2121408"/>
          </a:xfrm>
          <a:prstGeom prst="rect">
            <a:avLst/>
          </a:prstGeom>
          <a:solidFill>
            <a:srgbClr val="D6EBE7"/>
          </a:solidFill>
          <a:ln w="9525">
            <a:solidFill>
              <a:srgbClr val="AFD3CC"/>
            </a:solidFill>
            <a:prstDash val="solid"/>
          </a:ln>
        </p:spPr>
      </p:sp>
      <p:sp>
        <p:nvSpPr>
          <p:cNvPr id="20" name="Text 18"/>
          <p:cNvSpPr txBox="1"/>
          <p:nvPr/>
        </p:nvSpPr>
        <p:spPr>
          <a:xfrm>
            <a:off x="576072" y="2907792"/>
            <a:ext cx="5266944"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What it does</a:t>
            </a:r>
            <a:endParaRPr lang="en-US" sz="1150" dirty="0"/>
          </a:p>
        </p:txBody>
      </p:sp>
      <p:sp>
        <p:nvSpPr>
          <p:cNvPr id="21" name="Text 19"/>
          <p:cNvSpPr txBox="1"/>
          <p:nvPr/>
        </p:nvSpPr>
        <p:spPr>
          <a:xfrm>
            <a:off x="594360" y="3346704"/>
            <a:ext cx="5212080" cy="1444752"/>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750" dirty="0">
                <a:solidFill>
                  <a:srgbClr val="1B2733"/>
                </a:solidFill>
                <a:latin typeface="Calibri" pitchFamily="34" charset="0"/>
                <a:ea typeface="Calibri" pitchFamily="34" charset="-122"/>
                <a:cs typeface="Calibri" pitchFamily="34" charset="-120"/>
              </a:rPr>
              <a:t>Calix electric-kiln technology replaces fossil-fired calcination with electric heat that can be renewably powered.</a:t>
            </a:r>
            <a:endParaRPr lang="en-US" sz="750" dirty="0"/>
          </a:p>
          <a:p>
            <a:pPr marL="342900" indent="-342900">
              <a:lnSpc>
                <a:spcPct val="100000"/>
              </a:lnSpc>
              <a:spcAft>
                <a:spcPts val="500"/>
              </a:spcAft>
              <a:buSzPct val="100000"/>
              <a:buChar char="▪"/>
            </a:pPr>
            <a:r>
              <a:rPr lang="en-US" sz="750" dirty="0">
                <a:solidFill>
                  <a:srgbClr val="1B2733"/>
                </a:solidFill>
                <a:latin typeface="Calibri" pitchFamily="34" charset="0"/>
                <a:ea typeface="Calibri" pitchFamily="34" charset="-122"/>
                <a:cs typeface="Calibri" pitchFamily="34" charset="-120"/>
              </a:rPr>
              <a:t>The output is lithium phosphate, a mid-stream product, rather than raw concentrate.</a:t>
            </a:r>
            <a:endParaRPr lang="en-US" sz="750" dirty="0"/>
          </a:p>
          <a:p>
            <a:pPr marL="342900" indent="-342900">
              <a:lnSpc>
                <a:spcPct val="100000"/>
              </a:lnSpc>
              <a:spcAft>
                <a:spcPts val="500"/>
              </a:spcAft>
              <a:buSzPct val="100000"/>
              <a:buChar char="▪"/>
            </a:pPr>
            <a:r>
              <a:rPr lang="en-US" sz="750" dirty="0">
                <a:solidFill>
                  <a:srgbClr val="1B2733"/>
                </a:solidFill>
                <a:latin typeface="Calibri" pitchFamily="34" charset="0"/>
                <a:ea typeface="Calibri" pitchFamily="34" charset="-122"/>
                <a:cs typeface="Calibri" pitchFamily="34" charset="-120"/>
              </a:rPr>
              <a:t>PLS captures conversion margin it currently cedes to third-party converters, most of them Chinese.</a:t>
            </a:r>
            <a:endParaRPr lang="en-US" sz="750" dirty="0"/>
          </a:p>
          <a:p>
            <a:pPr marL="342900" indent="-342900">
              <a:lnSpc>
                <a:spcPct val="100000"/>
              </a:lnSpc>
              <a:spcAft>
                <a:spcPts val="500"/>
              </a:spcAft>
              <a:buSzPct val="100000"/>
              <a:buChar char="▪"/>
            </a:pPr>
            <a:r>
              <a:rPr lang="en-US" sz="750" dirty="0">
                <a:solidFill>
                  <a:srgbClr val="1B2733"/>
                </a:solidFill>
                <a:latin typeface="Calibri" pitchFamily="34" charset="0"/>
                <a:ea typeface="Calibri" pitchFamily="34" charset="-122"/>
                <a:cs typeface="Calibri" pitchFamily="34" charset="-120"/>
              </a:rPr>
              <a:t>Full heat cycles of the electric calciner were completed successfully as at the July 2026 quarterly, demonstrating design-spec power draw and heating range.</a:t>
            </a:r>
            <a:endParaRPr lang="en-US" sz="750" dirty="0"/>
          </a:p>
          <a:p>
            <a:pPr marL="342900" indent="-342900">
              <a:lnSpc>
                <a:spcPct val="100000"/>
              </a:lnSpc>
              <a:spcAft>
                <a:spcPts val="500"/>
              </a:spcAft>
              <a:buSzPct val="100000"/>
              <a:buChar char="▪"/>
            </a:pPr>
            <a:r>
              <a:rPr lang="en-US" sz="750" dirty="0">
                <a:solidFill>
                  <a:srgbClr val="1B2733"/>
                </a:solidFill>
                <a:latin typeface="Calibri" pitchFamily="34" charset="0"/>
                <a:ea typeface="Calibri" pitchFamily="34" charset="-122"/>
                <a:cs typeface="Calibri" pitchFamily="34" charset="-120"/>
              </a:rPr>
              <a:t>Supported by the Australian Renewable Energy Agency; the exact grant amount was not found in our sources.</a:t>
            </a:r>
            <a:endParaRPr lang="en-US" sz="750" dirty="0"/>
          </a:p>
        </p:txBody>
      </p:sp>
      <p:sp>
        <p:nvSpPr>
          <p:cNvPr id="22" name="Shape 20"/>
          <p:cNvSpPr/>
          <p:nvPr/>
        </p:nvSpPr>
        <p:spPr>
          <a:xfrm>
            <a:off x="6208776" y="2779776"/>
            <a:ext cx="5577840" cy="2121408"/>
          </a:xfrm>
          <a:prstGeom prst="rect">
            <a:avLst/>
          </a:prstGeom>
          <a:solidFill>
            <a:srgbClr val="FBEBD9"/>
          </a:solidFill>
          <a:ln w="9525">
            <a:solidFill>
              <a:srgbClr val="E8C9A3"/>
            </a:solidFill>
            <a:prstDash val="solid"/>
          </a:ln>
        </p:spPr>
      </p:sp>
      <p:sp>
        <p:nvSpPr>
          <p:cNvPr id="23" name="Text 21"/>
          <p:cNvSpPr txBox="1"/>
          <p:nvPr/>
        </p:nvSpPr>
        <p:spPr>
          <a:xfrm>
            <a:off x="6373368" y="2907792"/>
            <a:ext cx="5266944" cy="365760"/>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Why we still carry it outside the target</a:t>
            </a:r>
            <a:endParaRPr lang="en-US" sz="1150" dirty="0"/>
          </a:p>
        </p:txBody>
      </p:sp>
      <p:sp>
        <p:nvSpPr>
          <p:cNvPr id="24" name="Text 22"/>
          <p:cNvSpPr txBox="1"/>
          <p:nvPr/>
        </p:nvSpPr>
        <p:spPr>
          <a:xfrm>
            <a:off x="6391656" y="3346704"/>
            <a:ext cx="5212080" cy="1444752"/>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750" dirty="0">
                <a:solidFill>
                  <a:srgbClr val="1B2733"/>
                </a:solidFill>
                <a:latin typeface="Calibri" pitchFamily="34" charset="0"/>
                <a:ea typeface="Calibri" pitchFamily="34" charset="-122"/>
                <a:cs typeface="Calibri" pitchFamily="34" charset="-120"/>
              </a:rPr>
              <a:t>It is a demonstration plant. Nothing at demonstration scale is a revenue line until it produces.</a:t>
            </a:r>
            <a:endParaRPr lang="en-US" sz="750" dirty="0"/>
          </a:p>
          <a:p>
            <a:pPr marL="342900" indent="-342900">
              <a:lnSpc>
                <a:spcPct val="100000"/>
              </a:lnSpc>
              <a:spcAft>
                <a:spcPts val="500"/>
              </a:spcAft>
              <a:buSzPct val="100000"/>
              <a:buChar char="▪"/>
            </a:pPr>
            <a:r>
              <a:rPr lang="en-US" sz="750" dirty="0">
                <a:solidFill>
                  <a:srgbClr val="1B2733"/>
                </a:solidFill>
                <a:latin typeface="Calibri" pitchFamily="34" charset="0"/>
                <a:ea typeface="Calibri" pitchFamily="34" charset="-122"/>
                <a:cs typeface="Calibri" pitchFamily="34" charset="-120"/>
              </a:rPr>
              <a:t>First production is guided for the current quarter, so we are one quarterly report away from knowing.</a:t>
            </a:r>
            <a:endParaRPr lang="en-US" sz="750" dirty="0"/>
          </a:p>
          <a:p>
            <a:pPr marL="342900" indent="-342900">
              <a:lnSpc>
                <a:spcPct val="100000"/>
              </a:lnSpc>
              <a:spcAft>
                <a:spcPts val="500"/>
              </a:spcAft>
              <a:buSzPct val="100000"/>
              <a:buChar char="▪"/>
            </a:pPr>
            <a:r>
              <a:rPr lang="en-US" sz="750" dirty="0">
                <a:solidFill>
                  <a:srgbClr val="1B2733"/>
                </a:solidFill>
                <a:latin typeface="Calibri" pitchFamily="34" charset="0"/>
                <a:ea typeface="Calibri" pitchFamily="34" charset="-122"/>
                <a:cs typeface="Calibri" pitchFamily="34" charset="-120"/>
              </a:rPr>
              <a:t>Scale-up beyond the demonstration unit is not funded and not announced.</a:t>
            </a:r>
            <a:endParaRPr lang="en-US" sz="750" dirty="0"/>
          </a:p>
          <a:p>
            <a:pPr marL="342900" indent="-342900">
              <a:lnSpc>
                <a:spcPct val="100000"/>
              </a:lnSpc>
              <a:spcAft>
                <a:spcPts val="500"/>
              </a:spcAft>
              <a:buSzPct val="100000"/>
              <a:buChar char="▪"/>
            </a:pPr>
            <a:r>
              <a:rPr lang="en-US" sz="750" dirty="0">
                <a:solidFill>
                  <a:srgbClr val="1B2733"/>
                </a:solidFill>
                <a:latin typeface="Calibri" pitchFamily="34" charset="0"/>
                <a:ea typeface="Calibri" pitchFamily="34" charset="-122"/>
                <a:cs typeface="Calibri" pitchFamily="34" charset="-120"/>
              </a:rPr>
              <a:t>We therefore size it at A$1,536m unrisked, apply a 45% probability, and keep the resulting A$0.21 per share out of the A$6.14 target.</a:t>
            </a:r>
            <a:endParaRPr lang="en-US" sz="750" dirty="0"/>
          </a:p>
          <a:p>
            <a:pPr marL="342900" indent="-342900">
              <a:lnSpc>
                <a:spcPct val="100000"/>
              </a:lnSpc>
              <a:spcAft>
                <a:spcPts val="500"/>
              </a:spcAft>
              <a:buSzPct val="100000"/>
              <a:buChar char="▪"/>
            </a:pPr>
            <a:r>
              <a:rPr lang="en-US" sz="750" dirty="0">
                <a:solidFill>
                  <a:srgbClr val="1B2733"/>
                </a:solidFill>
                <a:latin typeface="Calibri" pitchFamily="34" charset="0"/>
                <a:ea typeface="Calibri" pitchFamily="34" charset="-122"/>
                <a:cs typeface="Calibri" pitchFamily="34" charset="-120"/>
              </a:rPr>
              <a:t>If it works, this is the single most important thing PLS does this decade, because it converts an ESG claim into a product specification.</a:t>
            </a:r>
            <a:endParaRPr lang="en-US" sz="750" dirty="0"/>
          </a:p>
        </p:txBody>
      </p:sp>
      <p:sp>
        <p:nvSpPr>
          <p:cNvPr id="25" name="Text 23"/>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and Calix announcements; ARENA, 'ARENA backs low emissions lithium refining in WA'; PLS June-2026 quarterly activities report. The &gt;80% figure is the reduction in calcination emissions specifically, not in PLS's total footprint.</a:t>
            </a:r>
            <a:endParaRPr lang="en-US" sz="720" dirty="0"/>
          </a:p>
        </p:txBody>
      </p:sp>
      <p:sp>
        <p:nvSpPr>
          <p:cNvPr id="26" name="Text 24"/>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18% of a 43,000 tonne per year lithium hydroxide plant in Korea, with an option to lift the stake to 30%. Small in earnings, strategically disproportionate.</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A8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788920" cy="9144"/>
          </a:xfrm>
          <a:prstGeom prst="rect">
            <a:avLst/>
          </a:prstGeom>
          <a:solidFill>
            <a:srgbClr val="10233A"/>
          </a:solidFill>
          <a:ln/>
        </p:spPr>
      </p:sp>
      <p:sp>
        <p:nvSpPr>
          <p:cNvPr id="8" name="Text 6"/>
          <p:cNvSpPr txBox="1"/>
          <p:nvPr/>
        </p:nvSpPr>
        <p:spPr>
          <a:xfrm>
            <a:off x="475488" y="1298448"/>
            <a:ext cx="2660904" cy="9144"/>
          </a:xfrm>
          <a:prstGeom prst="rect">
            <a:avLst/>
          </a:prstGeom>
          <a:noFill/>
          <a:ln/>
        </p:spPr>
        <p:txBody>
          <a:bodyPr wrap="square" lIns="0" tIns="0" rIns="0" bIns="0" rtlCol="0" anchor="ctr"/>
          <a:lstStyle/>
          <a:p>
            <a:pPr algn="l" indent="0" marL="0">
              <a:buNone/>
            </a:pPr>
            <a:endParaRPr lang="en-US" sz="900" dirty="0"/>
          </a:p>
        </p:txBody>
      </p:sp>
      <p:sp>
        <p:nvSpPr>
          <p:cNvPr id="9" name="Shape 7"/>
          <p:cNvSpPr/>
          <p:nvPr/>
        </p:nvSpPr>
        <p:spPr>
          <a:xfrm>
            <a:off x="3200400" y="1298448"/>
            <a:ext cx="8586216" cy="9144"/>
          </a:xfrm>
          <a:prstGeom prst="rect">
            <a:avLst/>
          </a:prstGeom>
          <a:solidFill>
            <a:srgbClr val="10233A"/>
          </a:solidFill>
          <a:ln/>
        </p:spPr>
      </p:sp>
      <p:sp>
        <p:nvSpPr>
          <p:cNvPr id="10" name="Text 8"/>
          <p:cNvSpPr txBox="1"/>
          <p:nvPr/>
        </p:nvSpPr>
        <p:spPr>
          <a:xfrm>
            <a:off x="3264408" y="1298448"/>
            <a:ext cx="8458200" cy="9144"/>
          </a:xfrm>
          <a:prstGeom prst="rect">
            <a:avLst/>
          </a:prstGeom>
          <a:noFill/>
          <a:ln/>
        </p:spPr>
        <p:txBody>
          <a:bodyPr wrap="square" lIns="0" tIns="0" rIns="0" bIns="0" rtlCol="0" anchor="ctr"/>
          <a:lstStyle/>
          <a:p>
            <a:pPr algn="l" indent="0" marL="0">
              <a:buNone/>
            </a:pPr>
            <a:endParaRPr lang="en-US" sz="900" dirty="0"/>
          </a:p>
        </p:txBody>
      </p:sp>
      <p:sp>
        <p:nvSpPr>
          <p:cNvPr id="11" name="Shape 9"/>
          <p:cNvSpPr/>
          <p:nvPr/>
        </p:nvSpPr>
        <p:spPr>
          <a:xfrm>
            <a:off x="411480" y="1307592"/>
            <a:ext cx="2788920" cy="384048"/>
          </a:xfrm>
          <a:prstGeom prst="rect">
            <a:avLst/>
          </a:prstGeom>
          <a:solidFill>
            <a:srgbClr val="FFFFFF"/>
          </a:solidFill>
          <a:ln w="6350">
            <a:solidFill>
              <a:srgbClr val="D3DCE5"/>
            </a:solidFill>
            <a:prstDash val="solid"/>
          </a:ln>
        </p:spPr>
      </p:sp>
      <p:sp>
        <p:nvSpPr>
          <p:cNvPr id="12" name="Text 10"/>
          <p:cNvSpPr txBox="1"/>
          <p:nvPr/>
        </p:nvSpPr>
        <p:spPr>
          <a:xfrm>
            <a:off x="475488" y="1307592"/>
            <a:ext cx="2660904" cy="38404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Vehicle</a:t>
            </a:r>
            <a:endParaRPr lang="en-US" sz="880" dirty="0"/>
          </a:p>
        </p:txBody>
      </p:sp>
      <p:sp>
        <p:nvSpPr>
          <p:cNvPr id="13" name="Shape 11"/>
          <p:cNvSpPr/>
          <p:nvPr/>
        </p:nvSpPr>
        <p:spPr>
          <a:xfrm>
            <a:off x="3200400" y="1307592"/>
            <a:ext cx="8586216" cy="384048"/>
          </a:xfrm>
          <a:prstGeom prst="rect">
            <a:avLst/>
          </a:prstGeom>
          <a:solidFill>
            <a:srgbClr val="FFFFFF"/>
          </a:solidFill>
          <a:ln w="6350">
            <a:solidFill>
              <a:srgbClr val="D3DCE5"/>
            </a:solidFill>
            <a:prstDash val="solid"/>
          </a:ln>
        </p:spPr>
      </p:sp>
      <p:sp>
        <p:nvSpPr>
          <p:cNvPr id="14" name="Text 12"/>
          <p:cNvSpPr txBox="1"/>
          <p:nvPr/>
        </p:nvSpPr>
        <p:spPr>
          <a:xfrm>
            <a:off x="3264408" y="1307592"/>
            <a:ext cx="8458200" cy="38404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POSCO Pilbara Lithium Solution, Gwangyang, South Korea</a:t>
            </a:r>
            <a:endParaRPr lang="en-US" sz="880" dirty="0"/>
          </a:p>
        </p:txBody>
      </p:sp>
      <p:sp>
        <p:nvSpPr>
          <p:cNvPr id="15" name="Shape 13"/>
          <p:cNvSpPr/>
          <p:nvPr/>
        </p:nvSpPr>
        <p:spPr>
          <a:xfrm>
            <a:off x="411480" y="1691640"/>
            <a:ext cx="2788920" cy="384048"/>
          </a:xfrm>
          <a:prstGeom prst="rect">
            <a:avLst/>
          </a:prstGeom>
          <a:solidFill>
            <a:srgbClr val="F7F9FB"/>
          </a:solidFill>
          <a:ln w="6350">
            <a:solidFill>
              <a:srgbClr val="D3DCE5"/>
            </a:solidFill>
            <a:prstDash val="solid"/>
          </a:ln>
        </p:spPr>
      </p:sp>
      <p:sp>
        <p:nvSpPr>
          <p:cNvPr id="16" name="Text 14"/>
          <p:cNvSpPr txBox="1"/>
          <p:nvPr/>
        </p:nvSpPr>
        <p:spPr>
          <a:xfrm>
            <a:off x="475488" y="1691640"/>
            <a:ext cx="2660904" cy="38404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Ownership</a:t>
            </a:r>
            <a:endParaRPr lang="en-US" sz="880" dirty="0"/>
          </a:p>
        </p:txBody>
      </p:sp>
      <p:sp>
        <p:nvSpPr>
          <p:cNvPr id="17" name="Shape 15"/>
          <p:cNvSpPr/>
          <p:nvPr/>
        </p:nvSpPr>
        <p:spPr>
          <a:xfrm>
            <a:off x="3200400" y="1691640"/>
            <a:ext cx="8586216" cy="384048"/>
          </a:xfrm>
          <a:prstGeom prst="rect">
            <a:avLst/>
          </a:prstGeom>
          <a:solidFill>
            <a:srgbClr val="F7F9FB"/>
          </a:solidFill>
          <a:ln w="6350">
            <a:solidFill>
              <a:srgbClr val="D3DCE5"/>
            </a:solidFill>
            <a:prstDash val="solid"/>
          </a:ln>
        </p:spPr>
      </p:sp>
      <p:sp>
        <p:nvSpPr>
          <p:cNvPr id="18" name="Text 16"/>
          <p:cNvSpPr txBox="1"/>
          <p:nvPr/>
        </p:nvSpPr>
        <p:spPr>
          <a:xfrm>
            <a:off x="3264408" y="1691640"/>
            <a:ext cx="8458200" cy="38404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POSCO Holdings 82%, PLS Group 18%, with a PLS option to increase to 30% at any time up to 18 months after Train 2 reaches 90% of nameplate</a:t>
            </a:r>
            <a:endParaRPr lang="en-US" sz="880" dirty="0"/>
          </a:p>
        </p:txBody>
      </p:sp>
      <p:sp>
        <p:nvSpPr>
          <p:cNvPr id="19" name="Shape 17"/>
          <p:cNvSpPr/>
          <p:nvPr/>
        </p:nvSpPr>
        <p:spPr>
          <a:xfrm>
            <a:off x="411480" y="2075688"/>
            <a:ext cx="2788920" cy="384048"/>
          </a:xfrm>
          <a:prstGeom prst="rect">
            <a:avLst/>
          </a:prstGeom>
          <a:solidFill>
            <a:srgbClr val="FFFFFF"/>
          </a:solidFill>
          <a:ln w="6350">
            <a:solidFill>
              <a:srgbClr val="D3DCE5"/>
            </a:solidFill>
            <a:prstDash val="solid"/>
          </a:ln>
        </p:spPr>
      </p:sp>
      <p:sp>
        <p:nvSpPr>
          <p:cNvPr id="20" name="Text 18"/>
          <p:cNvSpPr txBox="1"/>
          <p:nvPr/>
        </p:nvSpPr>
        <p:spPr>
          <a:xfrm>
            <a:off x="475488" y="2075688"/>
            <a:ext cx="2660904" cy="38404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Capacity</a:t>
            </a:r>
            <a:endParaRPr lang="en-US" sz="880" dirty="0"/>
          </a:p>
        </p:txBody>
      </p:sp>
      <p:sp>
        <p:nvSpPr>
          <p:cNvPr id="21" name="Shape 19"/>
          <p:cNvSpPr/>
          <p:nvPr/>
        </p:nvSpPr>
        <p:spPr>
          <a:xfrm>
            <a:off x="3200400" y="2075688"/>
            <a:ext cx="8586216" cy="384048"/>
          </a:xfrm>
          <a:prstGeom prst="rect">
            <a:avLst/>
          </a:prstGeom>
          <a:solidFill>
            <a:srgbClr val="FFFFFF"/>
          </a:solidFill>
          <a:ln w="6350">
            <a:solidFill>
              <a:srgbClr val="D3DCE5"/>
            </a:solidFill>
            <a:prstDash val="solid"/>
          </a:ln>
        </p:spPr>
      </p:sp>
      <p:sp>
        <p:nvSpPr>
          <p:cNvPr id="22" name="Text 20"/>
          <p:cNvSpPr txBox="1"/>
          <p:nvPr/>
        </p:nvSpPr>
        <p:spPr>
          <a:xfrm>
            <a:off x="3264408" y="2075688"/>
            <a:ext cx="8458200" cy="38404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Two trains, 43,000 tonnes per year of lithium hydroxide monohydrate combined - described as enough for roughly one million electric vehicles a year</a:t>
            </a:r>
            <a:endParaRPr lang="en-US" sz="880" dirty="0"/>
          </a:p>
        </p:txBody>
      </p:sp>
      <p:sp>
        <p:nvSpPr>
          <p:cNvPr id="23" name="Shape 21"/>
          <p:cNvSpPr/>
          <p:nvPr/>
        </p:nvSpPr>
        <p:spPr>
          <a:xfrm>
            <a:off x="411480" y="2459736"/>
            <a:ext cx="2788920" cy="384048"/>
          </a:xfrm>
          <a:prstGeom prst="rect">
            <a:avLst/>
          </a:prstGeom>
          <a:solidFill>
            <a:srgbClr val="F7F9FB"/>
          </a:solidFill>
          <a:ln w="6350">
            <a:solidFill>
              <a:srgbClr val="D3DCE5"/>
            </a:solidFill>
            <a:prstDash val="solid"/>
          </a:ln>
        </p:spPr>
      </p:sp>
      <p:sp>
        <p:nvSpPr>
          <p:cNvPr id="24" name="Text 22"/>
          <p:cNvSpPr txBox="1"/>
          <p:nvPr/>
        </p:nvSpPr>
        <p:spPr>
          <a:xfrm>
            <a:off x="475488" y="2459736"/>
            <a:ext cx="2660904" cy="38404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Status</a:t>
            </a:r>
            <a:endParaRPr lang="en-US" sz="880" dirty="0"/>
          </a:p>
        </p:txBody>
      </p:sp>
      <p:sp>
        <p:nvSpPr>
          <p:cNvPr id="25" name="Shape 23"/>
          <p:cNvSpPr/>
          <p:nvPr/>
        </p:nvSpPr>
        <p:spPr>
          <a:xfrm>
            <a:off x="3200400" y="2459736"/>
            <a:ext cx="8586216" cy="384048"/>
          </a:xfrm>
          <a:prstGeom prst="rect">
            <a:avLst/>
          </a:prstGeom>
          <a:solidFill>
            <a:srgbClr val="F7F9FB"/>
          </a:solidFill>
          <a:ln w="6350">
            <a:solidFill>
              <a:srgbClr val="D3DCE5"/>
            </a:solidFill>
            <a:prstDash val="solid"/>
          </a:ln>
        </p:spPr>
      </p:sp>
      <p:sp>
        <p:nvSpPr>
          <p:cNvPr id="26" name="Text 24"/>
          <p:cNvSpPr txBox="1"/>
          <p:nvPr/>
        </p:nvSpPr>
        <p:spPr>
          <a:xfrm>
            <a:off x="3264408" y="2459736"/>
            <a:ext cx="8458200" cy="38404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Train 1 began ramping in 2024; Train 2 construction complete and ramping over 12-18 months post-commissioning</a:t>
            </a:r>
            <a:endParaRPr lang="en-US" sz="880" dirty="0"/>
          </a:p>
        </p:txBody>
      </p:sp>
      <p:sp>
        <p:nvSpPr>
          <p:cNvPr id="27" name="Shape 25"/>
          <p:cNvSpPr/>
          <p:nvPr/>
        </p:nvSpPr>
        <p:spPr>
          <a:xfrm>
            <a:off x="411480" y="2843784"/>
            <a:ext cx="2788920" cy="384048"/>
          </a:xfrm>
          <a:prstGeom prst="rect">
            <a:avLst/>
          </a:prstGeom>
          <a:solidFill>
            <a:srgbClr val="FFFFFF"/>
          </a:solidFill>
          <a:ln w="6350">
            <a:solidFill>
              <a:srgbClr val="D3DCE5"/>
            </a:solidFill>
            <a:prstDash val="solid"/>
          </a:ln>
        </p:spPr>
      </p:sp>
      <p:sp>
        <p:nvSpPr>
          <p:cNvPr id="28" name="Text 26"/>
          <p:cNvSpPr txBox="1"/>
          <p:nvPr/>
        </p:nvSpPr>
        <p:spPr>
          <a:xfrm>
            <a:off x="475488" y="2843784"/>
            <a:ext cx="2660904" cy="38404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Feedstock</a:t>
            </a:r>
            <a:endParaRPr lang="en-US" sz="880" dirty="0"/>
          </a:p>
        </p:txBody>
      </p:sp>
      <p:sp>
        <p:nvSpPr>
          <p:cNvPr id="29" name="Shape 27"/>
          <p:cNvSpPr/>
          <p:nvPr/>
        </p:nvSpPr>
        <p:spPr>
          <a:xfrm>
            <a:off x="3200400" y="2843784"/>
            <a:ext cx="8586216" cy="384048"/>
          </a:xfrm>
          <a:prstGeom prst="rect">
            <a:avLst/>
          </a:prstGeom>
          <a:solidFill>
            <a:srgbClr val="FFFFFF"/>
          </a:solidFill>
          <a:ln w="6350">
            <a:solidFill>
              <a:srgbClr val="D3DCE5"/>
            </a:solidFill>
            <a:prstDash val="solid"/>
          </a:ln>
        </p:spPr>
      </p:sp>
      <p:sp>
        <p:nvSpPr>
          <p:cNvPr id="30" name="Text 28"/>
          <p:cNvSpPr txBox="1"/>
          <p:nvPr/>
        </p:nvSpPr>
        <p:spPr>
          <a:xfrm>
            <a:off x="3264408" y="2843784"/>
            <a:ext cx="8458200" cy="38404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PLS supplies spodumene concentrate from Pilgangoora under a long-term arrangement</a:t>
            </a:r>
            <a:endParaRPr lang="en-US" sz="880" dirty="0"/>
          </a:p>
        </p:txBody>
      </p:sp>
      <p:sp>
        <p:nvSpPr>
          <p:cNvPr id="31" name="Shape 29"/>
          <p:cNvSpPr/>
          <p:nvPr/>
        </p:nvSpPr>
        <p:spPr>
          <a:xfrm>
            <a:off x="411480" y="3227832"/>
            <a:ext cx="2788920" cy="384048"/>
          </a:xfrm>
          <a:prstGeom prst="rect">
            <a:avLst/>
          </a:prstGeom>
          <a:solidFill>
            <a:srgbClr val="D6EBE7"/>
          </a:solidFill>
          <a:ln w="6350">
            <a:solidFill>
              <a:srgbClr val="D3DCE5"/>
            </a:solidFill>
            <a:prstDash val="solid"/>
          </a:ln>
        </p:spPr>
      </p:sp>
      <p:sp>
        <p:nvSpPr>
          <p:cNvPr id="32" name="Text 30"/>
          <p:cNvSpPr txBox="1"/>
          <p:nvPr/>
        </p:nvSpPr>
        <p:spPr>
          <a:xfrm>
            <a:off x="475488" y="3227832"/>
            <a:ext cx="2660904" cy="38404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Why it matters</a:t>
            </a:r>
            <a:endParaRPr lang="en-US" sz="880" dirty="0"/>
          </a:p>
        </p:txBody>
      </p:sp>
      <p:sp>
        <p:nvSpPr>
          <p:cNvPr id="33" name="Shape 31"/>
          <p:cNvSpPr/>
          <p:nvPr/>
        </p:nvSpPr>
        <p:spPr>
          <a:xfrm>
            <a:off x="3200400" y="3227832"/>
            <a:ext cx="8586216" cy="384048"/>
          </a:xfrm>
          <a:prstGeom prst="rect">
            <a:avLst/>
          </a:prstGeom>
          <a:solidFill>
            <a:srgbClr val="D6EBE7"/>
          </a:solidFill>
          <a:ln w="6350">
            <a:solidFill>
              <a:srgbClr val="D3DCE5"/>
            </a:solidFill>
            <a:prstDash val="solid"/>
          </a:ln>
        </p:spPr>
      </p:sp>
      <p:sp>
        <p:nvSpPr>
          <p:cNvPr id="34" name="Text 32"/>
          <p:cNvSpPr txBox="1"/>
          <p:nvPr/>
        </p:nvSpPr>
        <p:spPr>
          <a:xfrm>
            <a:off x="3264408" y="3227832"/>
            <a:ext cx="8458200" cy="38404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It is a conversion route that is not in China, at the moment US foreign-entity-of-concern rules and EU provenance requirements are making that a purchasing criterion</a:t>
            </a:r>
            <a:endParaRPr lang="en-US" sz="880" dirty="0"/>
          </a:p>
        </p:txBody>
      </p:sp>
      <p:sp>
        <p:nvSpPr>
          <p:cNvPr id="35" name="Shape 33"/>
          <p:cNvSpPr/>
          <p:nvPr/>
        </p:nvSpPr>
        <p:spPr>
          <a:xfrm>
            <a:off x="411480" y="3611880"/>
            <a:ext cx="2788920" cy="384048"/>
          </a:xfrm>
          <a:prstGeom prst="rect">
            <a:avLst/>
          </a:prstGeom>
          <a:solidFill>
            <a:srgbClr val="FBEBD9"/>
          </a:solidFill>
          <a:ln w="6350">
            <a:solidFill>
              <a:srgbClr val="D3DCE5"/>
            </a:solidFill>
            <a:prstDash val="solid"/>
          </a:ln>
        </p:spPr>
      </p:sp>
      <p:sp>
        <p:nvSpPr>
          <p:cNvPr id="36" name="Text 34"/>
          <p:cNvSpPr txBox="1"/>
          <p:nvPr/>
        </p:nvSpPr>
        <p:spPr>
          <a:xfrm>
            <a:off x="475488" y="3611880"/>
            <a:ext cx="2660904" cy="384048"/>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What we could not verify</a:t>
            </a:r>
            <a:endParaRPr lang="en-US" sz="880" dirty="0"/>
          </a:p>
        </p:txBody>
      </p:sp>
      <p:sp>
        <p:nvSpPr>
          <p:cNvPr id="37" name="Shape 35"/>
          <p:cNvSpPr/>
          <p:nvPr/>
        </p:nvSpPr>
        <p:spPr>
          <a:xfrm>
            <a:off x="3200400" y="3611880"/>
            <a:ext cx="8586216" cy="384048"/>
          </a:xfrm>
          <a:prstGeom prst="rect">
            <a:avLst/>
          </a:prstGeom>
          <a:solidFill>
            <a:srgbClr val="FBEBD9"/>
          </a:solidFill>
          <a:ln w="6350">
            <a:solidFill>
              <a:srgbClr val="D3DCE5"/>
            </a:solidFill>
            <a:prstDash val="solid"/>
          </a:ln>
        </p:spPr>
      </p:sp>
      <p:sp>
        <p:nvSpPr>
          <p:cNvPr id="38" name="Text 36"/>
          <p:cNvSpPr txBox="1"/>
          <p:nvPr/>
        </p:nvSpPr>
        <p:spPr>
          <a:xfrm>
            <a:off x="3264408" y="3611880"/>
            <a:ext cx="8458200" cy="384048"/>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Whether any impairment or writedown has been taken on the investment. We searched and found none, but treat that as unconfirmed rather than as evidence of none</a:t>
            </a:r>
            <a:endParaRPr lang="en-US" sz="880" dirty="0"/>
          </a:p>
        </p:txBody>
      </p:sp>
      <p:sp>
        <p:nvSpPr>
          <p:cNvPr id="39" name="Shape 37"/>
          <p:cNvSpPr/>
          <p:nvPr/>
        </p:nvSpPr>
        <p:spPr>
          <a:xfrm>
            <a:off x="411480" y="4224528"/>
            <a:ext cx="11375136" cy="1810512"/>
          </a:xfrm>
          <a:prstGeom prst="rect">
            <a:avLst/>
          </a:prstGeom>
          <a:solidFill>
            <a:srgbClr val="EEF2F6"/>
          </a:solidFill>
          <a:ln w="9525">
            <a:solidFill>
              <a:srgbClr val="D3DCE5"/>
            </a:solidFill>
            <a:prstDash val="solid"/>
          </a:ln>
        </p:spPr>
      </p:sp>
      <p:sp>
        <p:nvSpPr>
          <p:cNvPr id="40" name="Text 38"/>
          <p:cNvSpPr txBox="1"/>
          <p:nvPr/>
        </p:nvSpPr>
        <p:spPr>
          <a:xfrm>
            <a:off x="576072" y="4352544"/>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How we value it, and why the option to 30% matters more than the 18%</a:t>
            </a:r>
            <a:endParaRPr lang="en-US" sz="1150" dirty="0"/>
          </a:p>
        </p:txBody>
      </p:sp>
      <p:sp>
        <p:nvSpPr>
          <p:cNvPr id="41" name="Text 39"/>
          <p:cNvSpPr txBox="1"/>
          <p:nvPr/>
        </p:nvSpPr>
        <p:spPr>
          <a:xfrm>
            <a:off x="576072" y="4681728"/>
            <a:ext cx="11045952" cy="1261872"/>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We size the joint venture at 43,000 tonnes a year, an assumed A$4,200 per tonne conversion margin and an 18% share, giving about A$32.5m of attributable EBITDA, capitalised at 8x for A$260m and risked at 70% - the lowest risking of the three downstream levers, because both trains are built. That is A$0.06 per share, which is not why this asset matters.</a:t>
            </a:r>
            <a:endParaRPr lang="en-US" sz="920" dirty="0"/>
          </a:p>
          <a:p>
            <a:pPr indent="0" marL="0">
              <a:lnSpc>
                <a:spcPct val="105000"/>
              </a:lnSpc>
              <a:buNone/>
            </a:pPr>
            <a:endParaRPr lang="en-US" sz="920" dirty="0"/>
          </a:p>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It matters because it is a call option on Korean conversion capacity struck before provenance became a purchasing criterion. Lifting the stake from 18% to 30% would raise attributable earnings by two thirds at a price agreed years ago. We have not valued that option, which makes our downstream number conservative.</a:t>
            </a:r>
            <a:endParaRPr lang="en-US" sz="920" dirty="0"/>
          </a:p>
        </p:txBody>
      </p:sp>
      <p:sp>
        <p:nvSpPr>
          <p:cNvPr id="42" name="Text 40"/>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POSCO Newsroom; PLS announcements; KED Global; chemengonline.com. Conversion margin is the team's assumption; PLS does not disclose joint-venture unit economics.</a:t>
            </a:r>
            <a:endParaRPr lang="en-US" sz="720" dirty="0"/>
          </a:p>
        </p:txBody>
      </p:sp>
      <p:sp>
        <p:nvSpPr>
          <p:cNvPr id="43" name="Text 41"/>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Acquired in all-scrip at the bottom of the cycle. Real optionality, but no final investment decision, no permits and no production before the 2030s on our numbers.</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A9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788920" cy="9144"/>
          </a:xfrm>
          <a:prstGeom prst="rect">
            <a:avLst/>
          </a:prstGeom>
          <a:solidFill>
            <a:srgbClr val="10233A"/>
          </a:solidFill>
          <a:ln/>
        </p:spPr>
      </p:sp>
      <p:sp>
        <p:nvSpPr>
          <p:cNvPr id="8" name="Text 6"/>
          <p:cNvSpPr txBox="1"/>
          <p:nvPr/>
        </p:nvSpPr>
        <p:spPr>
          <a:xfrm>
            <a:off x="475488" y="1298448"/>
            <a:ext cx="2660904" cy="9144"/>
          </a:xfrm>
          <a:prstGeom prst="rect">
            <a:avLst/>
          </a:prstGeom>
          <a:noFill/>
          <a:ln/>
        </p:spPr>
        <p:txBody>
          <a:bodyPr wrap="square" lIns="0" tIns="0" rIns="0" bIns="0" rtlCol="0" anchor="ctr"/>
          <a:lstStyle/>
          <a:p>
            <a:pPr algn="l" indent="0" marL="0">
              <a:buNone/>
            </a:pPr>
            <a:endParaRPr lang="en-US" sz="900" dirty="0"/>
          </a:p>
        </p:txBody>
      </p:sp>
      <p:sp>
        <p:nvSpPr>
          <p:cNvPr id="9" name="Shape 7"/>
          <p:cNvSpPr/>
          <p:nvPr/>
        </p:nvSpPr>
        <p:spPr>
          <a:xfrm>
            <a:off x="3200400" y="1298448"/>
            <a:ext cx="8586216" cy="9144"/>
          </a:xfrm>
          <a:prstGeom prst="rect">
            <a:avLst/>
          </a:prstGeom>
          <a:solidFill>
            <a:srgbClr val="10233A"/>
          </a:solidFill>
          <a:ln/>
        </p:spPr>
      </p:sp>
      <p:sp>
        <p:nvSpPr>
          <p:cNvPr id="10" name="Text 8"/>
          <p:cNvSpPr txBox="1"/>
          <p:nvPr/>
        </p:nvSpPr>
        <p:spPr>
          <a:xfrm>
            <a:off x="3264408" y="1298448"/>
            <a:ext cx="8458200" cy="9144"/>
          </a:xfrm>
          <a:prstGeom prst="rect">
            <a:avLst/>
          </a:prstGeom>
          <a:noFill/>
          <a:ln/>
        </p:spPr>
        <p:txBody>
          <a:bodyPr wrap="square" lIns="0" tIns="0" rIns="0" bIns="0" rtlCol="0" anchor="ctr"/>
          <a:lstStyle/>
          <a:p>
            <a:pPr algn="l" indent="0" marL="0">
              <a:buNone/>
            </a:pPr>
            <a:endParaRPr lang="en-US" sz="900" dirty="0"/>
          </a:p>
        </p:txBody>
      </p:sp>
      <p:sp>
        <p:nvSpPr>
          <p:cNvPr id="11" name="Shape 9"/>
          <p:cNvSpPr/>
          <p:nvPr/>
        </p:nvSpPr>
        <p:spPr>
          <a:xfrm>
            <a:off x="411480" y="1307592"/>
            <a:ext cx="2788920" cy="315468"/>
          </a:xfrm>
          <a:prstGeom prst="rect">
            <a:avLst/>
          </a:prstGeom>
          <a:solidFill>
            <a:srgbClr val="FFFFFF"/>
          </a:solidFill>
          <a:ln w="6350">
            <a:solidFill>
              <a:srgbClr val="D3DCE5"/>
            </a:solidFill>
            <a:prstDash val="solid"/>
          </a:ln>
        </p:spPr>
      </p:sp>
      <p:sp>
        <p:nvSpPr>
          <p:cNvPr id="12" name="Text 10"/>
          <p:cNvSpPr txBox="1"/>
          <p:nvPr/>
        </p:nvSpPr>
        <p:spPr>
          <a:xfrm>
            <a:off x="475488" y="1307592"/>
            <a:ext cx="2660904" cy="3154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How PLS got it</a:t>
            </a:r>
            <a:endParaRPr lang="en-US" sz="860" dirty="0"/>
          </a:p>
        </p:txBody>
      </p:sp>
      <p:sp>
        <p:nvSpPr>
          <p:cNvPr id="13" name="Shape 11"/>
          <p:cNvSpPr/>
          <p:nvPr/>
        </p:nvSpPr>
        <p:spPr>
          <a:xfrm>
            <a:off x="3200400" y="1307592"/>
            <a:ext cx="8586216" cy="315468"/>
          </a:xfrm>
          <a:prstGeom prst="rect">
            <a:avLst/>
          </a:prstGeom>
          <a:solidFill>
            <a:srgbClr val="FFFFFF"/>
          </a:solidFill>
          <a:ln w="6350">
            <a:solidFill>
              <a:srgbClr val="D3DCE5"/>
            </a:solidFill>
            <a:prstDash val="solid"/>
          </a:ln>
        </p:spPr>
      </p:sp>
      <p:sp>
        <p:nvSpPr>
          <p:cNvPr id="14" name="Text 12"/>
          <p:cNvSpPr txBox="1"/>
          <p:nvPr/>
        </p:nvSpPr>
        <p:spPr>
          <a:xfrm>
            <a:off x="3264408" y="1307592"/>
            <a:ext cx="8458200" cy="3154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Takeover of Latin Resources, announced 15 August 2024, legally effective January 2025. All scrip at 0.07 PLS shares per Latin share, about A$560m implied</a:t>
            </a:r>
            <a:endParaRPr lang="en-US" sz="860" dirty="0"/>
          </a:p>
        </p:txBody>
      </p:sp>
      <p:sp>
        <p:nvSpPr>
          <p:cNvPr id="15" name="Shape 13"/>
          <p:cNvSpPr/>
          <p:nvPr/>
        </p:nvSpPr>
        <p:spPr>
          <a:xfrm>
            <a:off x="411480" y="1623060"/>
            <a:ext cx="2788920" cy="315468"/>
          </a:xfrm>
          <a:prstGeom prst="rect">
            <a:avLst/>
          </a:prstGeom>
          <a:solidFill>
            <a:srgbClr val="F7F9FB"/>
          </a:solidFill>
          <a:ln w="6350">
            <a:solidFill>
              <a:srgbClr val="D3DCE5"/>
            </a:solidFill>
            <a:prstDash val="solid"/>
          </a:ln>
        </p:spPr>
      </p:sp>
      <p:sp>
        <p:nvSpPr>
          <p:cNvPr id="16" name="Text 14"/>
          <p:cNvSpPr txBox="1"/>
          <p:nvPr/>
        </p:nvSpPr>
        <p:spPr>
          <a:xfrm>
            <a:off x="475488" y="1623060"/>
            <a:ext cx="2660904" cy="3154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Why all-scrip mattered</a:t>
            </a:r>
            <a:endParaRPr lang="en-US" sz="860" dirty="0"/>
          </a:p>
        </p:txBody>
      </p:sp>
      <p:sp>
        <p:nvSpPr>
          <p:cNvPr id="17" name="Shape 15"/>
          <p:cNvSpPr/>
          <p:nvPr/>
        </p:nvSpPr>
        <p:spPr>
          <a:xfrm>
            <a:off x="3200400" y="1623060"/>
            <a:ext cx="8586216" cy="315468"/>
          </a:xfrm>
          <a:prstGeom prst="rect">
            <a:avLst/>
          </a:prstGeom>
          <a:solidFill>
            <a:srgbClr val="F7F9FB"/>
          </a:solidFill>
          <a:ln w="6350">
            <a:solidFill>
              <a:srgbClr val="D3DCE5"/>
            </a:solidFill>
            <a:prstDash val="solid"/>
          </a:ln>
        </p:spPr>
      </p:sp>
      <p:sp>
        <p:nvSpPr>
          <p:cNvPr id="18" name="Text 16"/>
          <p:cNvSpPr txBox="1"/>
          <p:nvPr/>
        </p:nvSpPr>
        <p:spPr>
          <a:xfrm>
            <a:off x="3264408" y="1623060"/>
            <a:ext cx="8458200" cy="3154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It preserved PLS's net-cash position through the trough. No cash left the balance sheet to buy a second orebody</a:t>
            </a:r>
            <a:endParaRPr lang="en-US" sz="860" dirty="0"/>
          </a:p>
        </p:txBody>
      </p:sp>
      <p:sp>
        <p:nvSpPr>
          <p:cNvPr id="19" name="Shape 17"/>
          <p:cNvSpPr/>
          <p:nvPr/>
        </p:nvSpPr>
        <p:spPr>
          <a:xfrm>
            <a:off x="411480" y="1938528"/>
            <a:ext cx="2788920" cy="315468"/>
          </a:xfrm>
          <a:prstGeom prst="rect">
            <a:avLst/>
          </a:prstGeom>
          <a:solidFill>
            <a:srgbClr val="FFFFFF"/>
          </a:solidFill>
          <a:ln w="6350">
            <a:solidFill>
              <a:srgbClr val="D3DCE5"/>
            </a:solidFill>
            <a:prstDash val="solid"/>
          </a:ln>
        </p:spPr>
      </p:sp>
      <p:sp>
        <p:nvSpPr>
          <p:cNvPr id="20" name="Text 18"/>
          <p:cNvSpPr txBox="1"/>
          <p:nvPr/>
        </p:nvSpPr>
        <p:spPr>
          <a:xfrm>
            <a:off x="475488" y="1938528"/>
            <a:ext cx="2660904" cy="3154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Resource</a:t>
            </a:r>
            <a:endParaRPr lang="en-US" sz="860" dirty="0"/>
          </a:p>
        </p:txBody>
      </p:sp>
      <p:sp>
        <p:nvSpPr>
          <p:cNvPr id="21" name="Shape 19"/>
          <p:cNvSpPr/>
          <p:nvPr/>
        </p:nvSpPr>
        <p:spPr>
          <a:xfrm>
            <a:off x="3200400" y="1938528"/>
            <a:ext cx="8586216" cy="315468"/>
          </a:xfrm>
          <a:prstGeom prst="rect">
            <a:avLst/>
          </a:prstGeom>
          <a:solidFill>
            <a:srgbClr val="FFFFFF"/>
          </a:solidFill>
          <a:ln w="6350">
            <a:solidFill>
              <a:srgbClr val="D3DCE5"/>
            </a:solidFill>
            <a:prstDash val="solid"/>
          </a:ln>
        </p:spPr>
      </p:sp>
      <p:sp>
        <p:nvSpPr>
          <p:cNvPr id="22" name="Text 20"/>
          <p:cNvSpPr txBox="1"/>
          <p:nvPr/>
        </p:nvSpPr>
        <p:spPr>
          <a:xfrm>
            <a:off x="3264408" y="1938528"/>
            <a:ext cx="8458200" cy="3154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77.7Mt at 1.24% Li2O, carried over from Latin Resources. We could not confirm any update since acquisition</a:t>
            </a:r>
            <a:endParaRPr lang="en-US" sz="860" dirty="0"/>
          </a:p>
        </p:txBody>
      </p:sp>
      <p:sp>
        <p:nvSpPr>
          <p:cNvPr id="23" name="Shape 21"/>
          <p:cNvSpPr/>
          <p:nvPr/>
        </p:nvSpPr>
        <p:spPr>
          <a:xfrm>
            <a:off x="411480" y="2253996"/>
            <a:ext cx="2788920" cy="315468"/>
          </a:xfrm>
          <a:prstGeom prst="rect">
            <a:avLst/>
          </a:prstGeom>
          <a:solidFill>
            <a:srgbClr val="F7F9FB"/>
          </a:solidFill>
          <a:ln w="6350">
            <a:solidFill>
              <a:srgbClr val="D3DCE5"/>
            </a:solidFill>
            <a:prstDash val="solid"/>
          </a:ln>
        </p:spPr>
      </p:sp>
      <p:sp>
        <p:nvSpPr>
          <p:cNvPr id="24" name="Text 22"/>
          <p:cNvSpPr txBox="1"/>
          <p:nvPr/>
        </p:nvSpPr>
        <p:spPr>
          <a:xfrm>
            <a:off x="475488" y="2253996"/>
            <a:ext cx="2660904" cy="3154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Location</a:t>
            </a:r>
            <a:endParaRPr lang="en-US" sz="860" dirty="0"/>
          </a:p>
        </p:txBody>
      </p:sp>
      <p:sp>
        <p:nvSpPr>
          <p:cNvPr id="25" name="Shape 23"/>
          <p:cNvSpPr/>
          <p:nvPr/>
        </p:nvSpPr>
        <p:spPr>
          <a:xfrm>
            <a:off x="3200400" y="2253996"/>
            <a:ext cx="8586216" cy="315468"/>
          </a:xfrm>
          <a:prstGeom prst="rect">
            <a:avLst/>
          </a:prstGeom>
          <a:solidFill>
            <a:srgbClr val="F7F9FB"/>
          </a:solidFill>
          <a:ln w="6350">
            <a:solidFill>
              <a:srgbClr val="D3DCE5"/>
            </a:solidFill>
            <a:prstDash val="solid"/>
          </a:ln>
        </p:spPr>
      </p:sp>
      <p:sp>
        <p:nvSpPr>
          <p:cNvPr id="26" name="Text 24"/>
          <p:cNvSpPr txBox="1"/>
          <p:nvPr/>
        </p:nvSpPr>
        <p:spPr>
          <a:xfrm>
            <a:off x="3264408" y="2253996"/>
            <a:ext cx="8458200" cy="3154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Salinas, Minas Gerais, in the Vale do Jequitinhonha - Brazil's so-called Lithium Valley</a:t>
            </a:r>
            <a:endParaRPr lang="en-US" sz="860" dirty="0"/>
          </a:p>
        </p:txBody>
      </p:sp>
      <p:sp>
        <p:nvSpPr>
          <p:cNvPr id="27" name="Shape 25"/>
          <p:cNvSpPr/>
          <p:nvPr/>
        </p:nvSpPr>
        <p:spPr>
          <a:xfrm>
            <a:off x="411480" y="2569464"/>
            <a:ext cx="2788920" cy="315468"/>
          </a:xfrm>
          <a:prstGeom prst="rect">
            <a:avLst/>
          </a:prstGeom>
          <a:solidFill>
            <a:srgbClr val="FFFFFF"/>
          </a:solidFill>
          <a:ln w="6350">
            <a:solidFill>
              <a:srgbClr val="D3DCE5"/>
            </a:solidFill>
            <a:prstDash val="solid"/>
          </a:ln>
        </p:spPr>
      </p:sp>
      <p:sp>
        <p:nvSpPr>
          <p:cNvPr id="28" name="Text 26"/>
          <p:cNvSpPr txBox="1"/>
          <p:nvPr/>
        </p:nvSpPr>
        <p:spPr>
          <a:xfrm>
            <a:off x="475488" y="2569464"/>
            <a:ext cx="2660904" cy="3154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Feasibility study</a:t>
            </a:r>
            <a:endParaRPr lang="en-US" sz="860" dirty="0"/>
          </a:p>
        </p:txBody>
      </p:sp>
      <p:sp>
        <p:nvSpPr>
          <p:cNvPr id="29" name="Shape 27"/>
          <p:cNvSpPr/>
          <p:nvPr/>
        </p:nvSpPr>
        <p:spPr>
          <a:xfrm>
            <a:off x="3200400" y="2569464"/>
            <a:ext cx="8586216" cy="315468"/>
          </a:xfrm>
          <a:prstGeom prst="rect">
            <a:avLst/>
          </a:prstGeom>
          <a:solidFill>
            <a:srgbClr val="FFFFFF"/>
          </a:solidFill>
          <a:ln w="6350">
            <a:solidFill>
              <a:srgbClr val="D3DCE5"/>
            </a:solidFill>
            <a:prstDash val="solid"/>
          </a:ln>
        </p:spPr>
      </p:sp>
      <p:sp>
        <p:nvSpPr>
          <p:cNvPr id="30" name="Text 28"/>
          <p:cNvSpPr txBox="1"/>
          <p:nvPr/>
        </p:nvSpPr>
        <p:spPr>
          <a:xfrm>
            <a:off x="3264408" y="2569464"/>
            <a:ext cx="8458200" cy="3154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Outcomes targeted for the December 2027 quarter</a:t>
            </a:r>
            <a:endParaRPr lang="en-US" sz="860" dirty="0"/>
          </a:p>
        </p:txBody>
      </p:sp>
      <p:sp>
        <p:nvSpPr>
          <p:cNvPr id="31" name="Shape 29"/>
          <p:cNvSpPr/>
          <p:nvPr/>
        </p:nvSpPr>
        <p:spPr>
          <a:xfrm>
            <a:off x="411480" y="2884932"/>
            <a:ext cx="2788920" cy="315468"/>
          </a:xfrm>
          <a:prstGeom prst="rect">
            <a:avLst/>
          </a:prstGeom>
          <a:solidFill>
            <a:srgbClr val="F7F9FB"/>
          </a:solidFill>
          <a:ln w="6350">
            <a:solidFill>
              <a:srgbClr val="D3DCE5"/>
            </a:solidFill>
            <a:prstDash val="solid"/>
          </a:ln>
        </p:spPr>
      </p:sp>
      <p:sp>
        <p:nvSpPr>
          <p:cNvPr id="32" name="Text 30"/>
          <p:cNvSpPr txBox="1"/>
          <p:nvPr/>
        </p:nvSpPr>
        <p:spPr>
          <a:xfrm>
            <a:off x="475488" y="2884932"/>
            <a:ext cx="2660904" cy="3154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Final investment decision</a:t>
            </a:r>
            <a:endParaRPr lang="en-US" sz="860" dirty="0"/>
          </a:p>
        </p:txBody>
      </p:sp>
      <p:sp>
        <p:nvSpPr>
          <p:cNvPr id="33" name="Shape 31"/>
          <p:cNvSpPr/>
          <p:nvPr/>
        </p:nvSpPr>
        <p:spPr>
          <a:xfrm>
            <a:off x="3200400" y="2884932"/>
            <a:ext cx="8586216" cy="315468"/>
          </a:xfrm>
          <a:prstGeom prst="rect">
            <a:avLst/>
          </a:prstGeom>
          <a:solidFill>
            <a:srgbClr val="F7F9FB"/>
          </a:solidFill>
          <a:ln w="6350">
            <a:solidFill>
              <a:srgbClr val="D3DCE5"/>
            </a:solidFill>
            <a:prstDash val="solid"/>
          </a:ln>
        </p:spPr>
      </p:sp>
      <p:sp>
        <p:nvSpPr>
          <p:cNvPr id="34" name="Text 32"/>
          <p:cNvSpPr txBox="1"/>
          <p:nvPr/>
        </p:nvSpPr>
        <p:spPr>
          <a:xfrm>
            <a:off x="3264408" y="2884932"/>
            <a:ext cx="8458200" cy="3154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Not taken. PLS says it will consider one after studies, exploration and permitting, taking market conditions into account</a:t>
            </a:r>
            <a:endParaRPr lang="en-US" sz="860" dirty="0"/>
          </a:p>
        </p:txBody>
      </p:sp>
      <p:sp>
        <p:nvSpPr>
          <p:cNvPr id="35" name="Shape 33"/>
          <p:cNvSpPr/>
          <p:nvPr/>
        </p:nvSpPr>
        <p:spPr>
          <a:xfrm>
            <a:off x="411480" y="3200400"/>
            <a:ext cx="2788920" cy="315468"/>
          </a:xfrm>
          <a:prstGeom prst="rect">
            <a:avLst/>
          </a:prstGeom>
          <a:solidFill>
            <a:srgbClr val="FFFFFF"/>
          </a:solidFill>
          <a:ln w="6350">
            <a:solidFill>
              <a:srgbClr val="D3DCE5"/>
            </a:solidFill>
            <a:prstDash val="solid"/>
          </a:ln>
        </p:spPr>
      </p:sp>
      <p:sp>
        <p:nvSpPr>
          <p:cNvPr id="36" name="Text 34"/>
          <p:cNvSpPr txBox="1"/>
          <p:nvPr/>
        </p:nvSpPr>
        <p:spPr>
          <a:xfrm>
            <a:off x="475488" y="3200400"/>
            <a:ext cx="2660904" cy="3154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FY27 spend</a:t>
            </a:r>
            <a:endParaRPr lang="en-US" sz="860" dirty="0"/>
          </a:p>
        </p:txBody>
      </p:sp>
      <p:sp>
        <p:nvSpPr>
          <p:cNvPr id="37" name="Shape 35"/>
          <p:cNvSpPr/>
          <p:nvPr/>
        </p:nvSpPr>
        <p:spPr>
          <a:xfrm>
            <a:off x="3200400" y="3200400"/>
            <a:ext cx="8586216" cy="315468"/>
          </a:xfrm>
          <a:prstGeom prst="rect">
            <a:avLst/>
          </a:prstGeom>
          <a:solidFill>
            <a:srgbClr val="FFFFFF"/>
          </a:solidFill>
          <a:ln w="6350">
            <a:solidFill>
              <a:srgbClr val="D3DCE5"/>
            </a:solidFill>
            <a:prstDash val="solid"/>
          </a:ln>
        </p:spPr>
      </p:sp>
      <p:sp>
        <p:nvSpPr>
          <p:cNvPr id="38" name="Text 36"/>
          <p:cNvSpPr txBox="1"/>
          <p:nvPr/>
        </p:nvSpPr>
        <p:spPr>
          <a:xfrm>
            <a:off x="3264408" y="3200400"/>
            <a:ext cx="8458200" cy="3154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A$45-55m</a:t>
            </a:r>
            <a:endParaRPr lang="en-US" sz="860" dirty="0"/>
          </a:p>
        </p:txBody>
      </p:sp>
      <p:sp>
        <p:nvSpPr>
          <p:cNvPr id="39" name="Shape 37"/>
          <p:cNvSpPr/>
          <p:nvPr/>
        </p:nvSpPr>
        <p:spPr>
          <a:xfrm>
            <a:off x="411480" y="3515868"/>
            <a:ext cx="2788920" cy="315468"/>
          </a:xfrm>
          <a:prstGeom prst="rect">
            <a:avLst/>
          </a:prstGeom>
          <a:solidFill>
            <a:srgbClr val="F7F9FB"/>
          </a:solidFill>
          <a:ln w="6350">
            <a:solidFill>
              <a:srgbClr val="D3DCE5"/>
            </a:solidFill>
            <a:prstDash val="solid"/>
          </a:ln>
        </p:spPr>
      </p:sp>
      <p:sp>
        <p:nvSpPr>
          <p:cNvPr id="40" name="Text 38"/>
          <p:cNvSpPr txBox="1"/>
          <p:nvPr/>
        </p:nvSpPr>
        <p:spPr>
          <a:xfrm>
            <a:off x="475488" y="3515868"/>
            <a:ext cx="2660904" cy="3154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Since year end</a:t>
            </a:r>
            <a:endParaRPr lang="en-US" sz="860" dirty="0"/>
          </a:p>
        </p:txBody>
      </p:sp>
      <p:sp>
        <p:nvSpPr>
          <p:cNvPr id="41" name="Shape 39"/>
          <p:cNvSpPr/>
          <p:nvPr/>
        </p:nvSpPr>
        <p:spPr>
          <a:xfrm>
            <a:off x="3200400" y="3515868"/>
            <a:ext cx="8586216" cy="315468"/>
          </a:xfrm>
          <a:prstGeom prst="rect">
            <a:avLst/>
          </a:prstGeom>
          <a:solidFill>
            <a:srgbClr val="F7F9FB"/>
          </a:solidFill>
          <a:ln w="6350">
            <a:solidFill>
              <a:srgbClr val="D3DCE5"/>
            </a:solidFill>
            <a:prstDash val="solid"/>
          </a:ln>
        </p:spPr>
      </p:sp>
      <p:sp>
        <p:nvSpPr>
          <p:cNvPr id="42" name="Text 40"/>
          <p:cNvSpPr txBox="1"/>
          <p:nvPr/>
        </p:nvSpPr>
        <p:spPr>
          <a:xfrm>
            <a:off x="3264408" y="3515868"/>
            <a:ext cx="8458200" cy="3154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About A$50m spent acquiring tenements adjacent to Colina from Lithium Ionic</a:t>
            </a:r>
            <a:endParaRPr lang="en-US" sz="860" dirty="0"/>
          </a:p>
        </p:txBody>
      </p:sp>
      <p:sp>
        <p:nvSpPr>
          <p:cNvPr id="43" name="Shape 41"/>
          <p:cNvSpPr/>
          <p:nvPr/>
        </p:nvSpPr>
        <p:spPr>
          <a:xfrm>
            <a:off x="411480" y="3831336"/>
            <a:ext cx="2788920" cy="315468"/>
          </a:xfrm>
          <a:prstGeom prst="rect">
            <a:avLst/>
          </a:prstGeom>
          <a:solidFill>
            <a:srgbClr val="FFFFFF"/>
          </a:solidFill>
          <a:ln w="6350">
            <a:solidFill>
              <a:srgbClr val="D3DCE5"/>
            </a:solidFill>
            <a:prstDash val="solid"/>
          </a:ln>
        </p:spPr>
      </p:sp>
      <p:sp>
        <p:nvSpPr>
          <p:cNvPr id="44" name="Text 42"/>
          <p:cNvSpPr txBox="1"/>
          <p:nvPr/>
        </p:nvSpPr>
        <p:spPr>
          <a:xfrm>
            <a:off x="475488" y="3831336"/>
            <a:ext cx="2660904" cy="31546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Community</a:t>
            </a:r>
            <a:endParaRPr lang="en-US" sz="860" dirty="0"/>
          </a:p>
        </p:txBody>
      </p:sp>
      <p:sp>
        <p:nvSpPr>
          <p:cNvPr id="45" name="Shape 43"/>
          <p:cNvSpPr/>
          <p:nvPr/>
        </p:nvSpPr>
        <p:spPr>
          <a:xfrm>
            <a:off x="3200400" y="3831336"/>
            <a:ext cx="8586216" cy="315468"/>
          </a:xfrm>
          <a:prstGeom prst="rect">
            <a:avLst/>
          </a:prstGeom>
          <a:solidFill>
            <a:srgbClr val="FFFFFF"/>
          </a:solidFill>
          <a:ln w="6350">
            <a:solidFill>
              <a:srgbClr val="D3DCE5"/>
            </a:solidFill>
            <a:prstDash val="solid"/>
          </a:ln>
        </p:spPr>
      </p:sp>
      <p:sp>
        <p:nvSpPr>
          <p:cNvPr id="46" name="Text 44"/>
          <p:cNvSpPr txBox="1"/>
          <p:nvPr/>
        </p:nvSpPr>
        <p:spPr>
          <a:xfrm>
            <a:off x="3264408" y="3831336"/>
            <a:ext cx="8458200" cy="31546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Company messaging cites roughly 300 direct and indirect jobs via the revitalisation of a flour factory - a level-three cluster initiative</a:t>
            </a:r>
            <a:endParaRPr lang="en-US" sz="860" dirty="0"/>
          </a:p>
        </p:txBody>
      </p:sp>
      <p:sp>
        <p:nvSpPr>
          <p:cNvPr id="47" name="Shape 45"/>
          <p:cNvSpPr/>
          <p:nvPr/>
        </p:nvSpPr>
        <p:spPr>
          <a:xfrm>
            <a:off x="411480" y="4361688"/>
            <a:ext cx="5577840" cy="1188720"/>
          </a:xfrm>
          <a:prstGeom prst="rect">
            <a:avLst/>
          </a:prstGeom>
          <a:solidFill>
            <a:srgbClr val="EEF2F6"/>
          </a:solidFill>
          <a:ln w="9525">
            <a:solidFill>
              <a:srgbClr val="D3DCE5"/>
            </a:solidFill>
            <a:prstDash val="solid"/>
          </a:ln>
        </p:spPr>
      </p:sp>
      <p:sp>
        <p:nvSpPr>
          <p:cNvPr id="48" name="Text 46"/>
          <p:cNvSpPr txBox="1"/>
          <p:nvPr/>
        </p:nvSpPr>
        <p:spPr>
          <a:xfrm>
            <a:off x="576072" y="4489704"/>
            <a:ext cx="524865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Our treatment</a:t>
            </a:r>
            <a:endParaRPr lang="en-US" sz="1150" dirty="0"/>
          </a:p>
        </p:txBody>
      </p:sp>
      <p:sp>
        <p:nvSpPr>
          <p:cNvPr id="49" name="Text 47"/>
          <p:cNvSpPr txBox="1"/>
          <p:nvPr/>
        </p:nvSpPr>
        <p:spPr>
          <a:xfrm>
            <a:off x="576072" y="4818888"/>
            <a:ext cx="5248656" cy="640080"/>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First production assumed FY32, ramping to about 500ktpa by FY35. This is our modelling assumption and not a company target - PLS has not adopted Latin Resources' original 2026 first-production plan. In the sum-of-the-parts we risk Colina at 40%, the harshest risking we apply to any asset, because the study is more than a year away.</a:t>
            </a:r>
            <a:endParaRPr lang="en-US" sz="900" dirty="0"/>
          </a:p>
        </p:txBody>
      </p:sp>
      <p:sp>
        <p:nvSpPr>
          <p:cNvPr id="50" name="Shape 48"/>
          <p:cNvSpPr/>
          <p:nvPr/>
        </p:nvSpPr>
        <p:spPr>
          <a:xfrm>
            <a:off x="6208776" y="4361688"/>
            <a:ext cx="5577840" cy="1188720"/>
          </a:xfrm>
          <a:prstGeom prst="rect">
            <a:avLst/>
          </a:prstGeom>
          <a:solidFill>
            <a:srgbClr val="FBEBD9"/>
          </a:solidFill>
          <a:ln w="9525">
            <a:solidFill>
              <a:srgbClr val="E8C9A3"/>
            </a:solidFill>
            <a:prstDash val="solid"/>
          </a:ln>
        </p:spPr>
      </p:sp>
      <p:sp>
        <p:nvSpPr>
          <p:cNvPr id="51" name="Text 49"/>
          <p:cNvSpPr txBox="1"/>
          <p:nvPr/>
        </p:nvSpPr>
        <p:spPr>
          <a:xfrm>
            <a:off x="6373368" y="4489704"/>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The shared-value angle we did not overstate</a:t>
            </a:r>
            <a:endParaRPr lang="en-US" sz="1150" dirty="0"/>
          </a:p>
        </p:txBody>
      </p:sp>
      <p:sp>
        <p:nvSpPr>
          <p:cNvPr id="52" name="Text 50"/>
          <p:cNvSpPr txBox="1"/>
          <p:nvPr/>
        </p:nvSpPr>
        <p:spPr>
          <a:xfrm>
            <a:off x="6373368" y="4818888"/>
            <a:ext cx="5248656" cy="640080"/>
          </a:xfrm>
          <a:prstGeom prst="rect">
            <a:avLst/>
          </a:prstGeom>
          <a:noFill/>
          <a:ln/>
        </p:spPr>
        <p:txBody>
          <a:bodyPr wrap="square" lIns="0" tIns="0" rIns="0" bIns="0" rtlCol="0" anchor="t"/>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The Jequitinhonha valley is one of Brazil's poorest regions, and a flour-factory revitalisation supporting 300 jobs is a genuine cluster investment in Porter and Kramer's third sense. It is also, at this stage, a company claim we could not independently verify, and it contributes nothing to the valuation. We report it as evidence of intent, not of impact.</a:t>
            </a:r>
            <a:endParaRPr lang="en-US" sz="870" dirty="0"/>
          </a:p>
        </p:txBody>
      </p:sp>
      <p:sp>
        <p:nvSpPr>
          <p:cNvPr id="53" name="Text 51"/>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and Latin Resources announcements; mining.com.au; mining.com. The 77.7Mt resource is as reported by Latin Resources pre-acquisition; we found no restatement under PLS ownership.</a:t>
            </a:r>
            <a:endParaRPr lang="en-US" sz="720" dirty="0"/>
          </a:p>
        </p:txBody>
      </p:sp>
      <p:sp>
        <p:nvSpPr>
          <p:cNvPr id="54" name="Text 52"/>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PLS sells at prevailing market prices rather than under fixed-price contracts. It captured the recovery in full, and it would capture a relapse in full too.</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A10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423160" cy="292608"/>
          </a:xfrm>
          <a:prstGeom prst="rect">
            <a:avLst/>
          </a:prstGeom>
          <a:solidFill>
            <a:srgbClr val="10233A"/>
          </a:solidFill>
          <a:ln/>
        </p:spPr>
      </p:sp>
      <p:sp>
        <p:nvSpPr>
          <p:cNvPr id="8" name="Text 6"/>
          <p:cNvSpPr txBox="1"/>
          <p:nvPr/>
        </p:nvSpPr>
        <p:spPr>
          <a:xfrm>
            <a:off x="475488" y="1298448"/>
            <a:ext cx="229514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Counterparty</a:t>
            </a:r>
            <a:endParaRPr lang="en-US" sz="900" dirty="0"/>
          </a:p>
        </p:txBody>
      </p:sp>
      <p:sp>
        <p:nvSpPr>
          <p:cNvPr id="9" name="Shape 7"/>
          <p:cNvSpPr/>
          <p:nvPr/>
        </p:nvSpPr>
        <p:spPr>
          <a:xfrm>
            <a:off x="2834640" y="1298448"/>
            <a:ext cx="4754880" cy="292608"/>
          </a:xfrm>
          <a:prstGeom prst="rect">
            <a:avLst/>
          </a:prstGeom>
          <a:solidFill>
            <a:srgbClr val="10233A"/>
          </a:solidFill>
          <a:ln/>
        </p:spPr>
      </p:sp>
      <p:sp>
        <p:nvSpPr>
          <p:cNvPr id="10" name="Text 8"/>
          <p:cNvSpPr txBox="1"/>
          <p:nvPr/>
        </p:nvSpPr>
        <p:spPr>
          <a:xfrm>
            <a:off x="2898648" y="1298448"/>
            <a:ext cx="462686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Terms as disclosed</a:t>
            </a:r>
            <a:endParaRPr lang="en-US" sz="900" dirty="0"/>
          </a:p>
        </p:txBody>
      </p:sp>
      <p:sp>
        <p:nvSpPr>
          <p:cNvPr id="11" name="Shape 9"/>
          <p:cNvSpPr/>
          <p:nvPr/>
        </p:nvSpPr>
        <p:spPr>
          <a:xfrm>
            <a:off x="7589520" y="1298448"/>
            <a:ext cx="4197096" cy="292608"/>
          </a:xfrm>
          <a:prstGeom prst="rect">
            <a:avLst/>
          </a:prstGeom>
          <a:solidFill>
            <a:srgbClr val="10233A"/>
          </a:solidFill>
          <a:ln/>
        </p:spPr>
      </p:sp>
      <p:sp>
        <p:nvSpPr>
          <p:cNvPr id="12" name="Text 10"/>
          <p:cNvSpPr txBox="1"/>
          <p:nvPr/>
        </p:nvSpPr>
        <p:spPr>
          <a:xfrm>
            <a:off x="7653528" y="1298448"/>
            <a:ext cx="406908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Pricing mechanism</a:t>
            </a:r>
            <a:endParaRPr lang="en-US" sz="900" dirty="0"/>
          </a:p>
        </p:txBody>
      </p:sp>
      <p:sp>
        <p:nvSpPr>
          <p:cNvPr id="13" name="Shape 11"/>
          <p:cNvSpPr/>
          <p:nvPr/>
        </p:nvSpPr>
        <p:spPr>
          <a:xfrm>
            <a:off x="411480" y="1591056"/>
            <a:ext cx="2423160" cy="475488"/>
          </a:xfrm>
          <a:prstGeom prst="rect">
            <a:avLst/>
          </a:prstGeom>
          <a:solidFill>
            <a:srgbClr val="FFFFFF"/>
          </a:solidFill>
          <a:ln w="6350">
            <a:solidFill>
              <a:srgbClr val="D3DCE5"/>
            </a:solidFill>
            <a:prstDash val="solid"/>
          </a:ln>
        </p:spPr>
      </p:sp>
      <p:sp>
        <p:nvSpPr>
          <p:cNvPr id="14" name="Text 12"/>
          <p:cNvSpPr txBox="1"/>
          <p:nvPr/>
        </p:nvSpPr>
        <p:spPr>
          <a:xfrm>
            <a:off x="475488" y="1591056"/>
            <a:ext cx="2295144" cy="47548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Ganfeng Lithium</a:t>
            </a:r>
            <a:endParaRPr lang="en-US" sz="850" dirty="0"/>
          </a:p>
        </p:txBody>
      </p:sp>
      <p:sp>
        <p:nvSpPr>
          <p:cNvPr id="15" name="Shape 13"/>
          <p:cNvSpPr/>
          <p:nvPr/>
        </p:nvSpPr>
        <p:spPr>
          <a:xfrm>
            <a:off x="2834640" y="1591056"/>
            <a:ext cx="4754880" cy="475488"/>
          </a:xfrm>
          <a:prstGeom prst="rect">
            <a:avLst/>
          </a:prstGeom>
          <a:solidFill>
            <a:srgbClr val="FFFFFF"/>
          </a:solidFill>
          <a:ln w="6350">
            <a:solidFill>
              <a:srgbClr val="D3DCE5"/>
            </a:solidFill>
            <a:prstDash val="solid"/>
          </a:ln>
        </p:spPr>
      </p:sp>
      <p:sp>
        <p:nvSpPr>
          <p:cNvPr id="16" name="Text 14"/>
          <p:cNvSpPr txBox="1"/>
          <p:nvPr/>
        </p:nvSpPr>
        <p:spPr>
          <a:xfrm>
            <a:off x="2898648" y="1591056"/>
            <a:ext cx="4626864"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Original 2017 agreement for 160ktpa. Amended January 2024: 310kt in 2024, a further 100kt in 2025 with an option to 150kt, and 100kt in 2026 with an option to 150kt</a:t>
            </a:r>
            <a:endParaRPr lang="en-US" sz="850" dirty="0"/>
          </a:p>
        </p:txBody>
      </p:sp>
      <p:sp>
        <p:nvSpPr>
          <p:cNvPr id="17" name="Shape 15"/>
          <p:cNvSpPr/>
          <p:nvPr/>
        </p:nvSpPr>
        <p:spPr>
          <a:xfrm>
            <a:off x="7589520" y="1591056"/>
            <a:ext cx="4197096" cy="475488"/>
          </a:xfrm>
          <a:prstGeom prst="rect">
            <a:avLst/>
          </a:prstGeom>
          <a:solidFill>
            <a:srgbClr val="FFFFFF"/>
          </a:solidFill>
          <a:ln w="6350">
            <a:solidFill>
              <a:srgbClr val="D3DCE5"/>
            </a:solidFill>
            <a:prstDash val="solid"/>
          </a:ln>
        </p:spPr>
      </p:sp>
      <p:sp>
        <p:nvSpPr>
          <p:cNvPr id="18" name="Text 16"/>
          <p:cNvSpPr txBox="1"/>
          <p:nvPr/>
        </p:nvSpPr>
        <p:spPr>
          <a:xfrm>
            <a:off x="7653528" y="1591056"/>
            <a:ext cx="4069080"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Prevailing market price</a:t>
            </a:r>
            <a:endParaRPr lang="en-US" sz="850" dirty="0"/>
          </a:p>
        </p:txBody>
      </p:sp>
      <p:sp>
        <p:nvSpPr>
          <p:cNvPr id="19" name="Shape 17"/>
          <p:cNvSpPr/>
          <p:nvPr/>
        </p:nvSpPr>
        <p:spPr>
          <a:xfrm>
            <a:off x="411480" y="2066544"/>
            <a:ext cx="2423160" cy="475488"/>
          </a:xfrm>
          <a:prstGeom prst="rect">
            <a:avLst/>
          </a:prstGeom>
          <a:solidFill>
            <a:srgbClr val="F7F9FB"/>
          </a:solidFill>
          <a:ln w="6350">
            <a:solidFill>
              <a:srgbClr val="D3DCE5"/>
            </a:solidFill>
            <a:prstDash val="solid"/>
          </a:ln>
        </p:spPr>
      </p:sp>
      <p:sp>
        <p:nvSpPr>
          <p:cNvPr id="20" name="Text 18"/>
          <p:cNvSpPr txBox="1"/>
          <p:nvPr/>
        </p:nvSpPr>
        <p:spPr>
          <a:xfrm>
            <a:off x="475488" y="2066544"/>
            <a:ext cx="2295144" cy="47548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Chengxin Lithium</a:t>
            </a:r>
            <a:endParaRPr lang="en-US" sz="850" dirty="0"/>
          </a:p>
        </p:txBody>
      </p:sp>
      <p:sp>
        <p:nvSpPr>
          <p:cNvPr id="21" name="Shape 19"/>
          <p:cNvSpPr/>
          <p:nvPr/>
        </p:nvSpPr>
        <p:spPr>
          <a:xfrm>
            <a:off x="2834640" y="2066544"/>
            <a:ext cx="4754880" cy="475488"/>
          </a:xfrm>
          <a:prstGeom prst="rect">
            <a:avLst/>
          </a:prstGeom>
          <a:solidFill>
            <a:srgbClr val="F7F9FB"/>
          </a:solidFill>
          <a:ln w="6350">
            <a:solidFill>
              <a:srgbClr val="D3DCE5"/>
            </a:solidFill>
            <a:prstDash val="solid"/>
          </a:ln>
        </p:spPr>
      </p:sp>
      <p:sp>
        <p:nvSpPr>
          <p:cNvPr id="22" name="Text 20"/>
          <p:cNvSpPr txBox="1"/>
          <p:nvPr/>
        </p:nvSpPr>
        <p:spPr>
          <a:xfrm>
            <a:off x="2898648" y="2066544"/>
            <a:ext cx="4626864"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85kt in 2024, 150kt in 2025, 150kt in 2026</a:t>
            </a:r>
            <a:endParaRPr lang="en-US" sz="850" dirty="0"/>
          </a:p>
        </p:txBody>
      </p:sp>
      <p:sp>
        <p:nvSpPr>
          <p:cNvPr id="23" name="Shape 21"/>
          <p:cNvSpPr/>
          <p:nvPr/>
        </p:nvSpPr>
        <p:spPr>
          <a:xfrm>
            <a:off x="7589520" y="2066544"/>
            <a:ext cx="4197096" cy="475488"/>
          </a:xfrm>
          <a:prstGeom prst="rect">
            <a:avLst/>
          </a:prstGeom>
          <a:solidFill>
            <a:srgbClr val="F7F9FB"/>
          </a:solidFill>
          <a:ln w="6350">
            <a:solidFill>
              <a:srgbClr val="D3DCE5"/>
            </a:solidFill>
            <a:prstDash val="solid"/>
          </a:ln>
        </p:spPr>
      </p:sp>
      <p:sp>
        <p:nvSpPr>
          <p:cNvPr id="24" name="Text 22"/>
          <p:cNvSpPr txBox="1"/>
          <p:nvPr/>
        </p:nvSpPr>
        <p:spPr>
          <a:xfrm>
            <a:off x="7653528" y="2066544"/>
            <a:ext cx="4069080"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Prevailing market price</a:t>
            </a:r>
            <a:endParaRPr lang="en-US" sz="850" dirty="0"/>
          </a:p>
        </p:txBody>
      </p:sp>
      <p:sp>
        <p:nvSpPr>
          <p:cNvPr id="25" name="Shape 23"/>
          <p:cNvSpPr/>
          <p:nvPr/>
        </p:nvSpPr>
        <p:spPr>
          <a:xfrm>
            <a:off x="411480" y="2542032"/>
            <a:ext cx="2423160" cy="475488"/>
          </a:xfrm>
          <a:prstGeom prst="rect">
            <a:avLst/>
          </a:prstGeom>
          <a:solidFill>
            <a:srgbClr val="FFFFFF"/>
          </a:solidFill>
          <a:ln w="6350">
            <a:solidFill>
              <a:srgbClr val="D3DCE5"/>
            </a:solidFill>
            <a:prstDash val="solid"/>
          </a:ln>
        </p:spPr>
      </p:sp>
      <p:sp>
        <p:nvSpPr>
          <p:cNvPr id="26" name="Text 24"/>
          <p:cNvSpPr txBox="1"/>
          <p:nvPr/>
        </p:nvSpPr>
        <p:spPr>
          <a:xfrm>
            <a:off x="475488" y="2542032"/>
            <a:ext cx="2295144" cy="47548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Sichuan Yahua</a:t>
            </a:r>
            <a:endParaRPr lang="en-US" sz="850" dirty="0"/>
          </a:p>
        </p:txBody>
      </p:sp>
      <p:sp>
        <p:nvSpPr>
          <p:cNvPr id="27" name="Shape 25"/>
          <p:cNvSpPr/>
          <p:nvPr/>
        </p:nvSpPr>
        <p:spPr>
          <a:xfrm>
            <a:off x="2834640" y="2542032"/>
            <a:ext cx="4754880" cy="475488"/>
          </a:xfrm>
          <a:prstGeom prst="rect">
            <a:avLst/>
          </a:prstGeom>
          <a:solidFill>
            <a:srgbClr val="FFFFFF"/>
          </a:solidFill>
          <a:ln w="6350">
            <a:solidFill>
              <a:srgbClr val="D3DCE5"/>
            </a:solidFill>
            <a:prstDash val="solid"/>
          </a:ln>
        </p:spPr>
      </p:sp>
      <p:sp>
        <p:nvSpPr>
          <p:cNvPr id="28" name="Text 26"/>
          <p:cNvSpPr txBox="1"/>
          <p:nvPr/>
        </p:nvSpPr>
        <p:spPr>
          <a:xfrm>
            <a:off x="2898648" y="2542032"/>
            <a:ext cx="4626864"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Three-year deal: 20-80kt in 2024, then 100-160kt in each of 2025 and 2026</a:t>
            </a:r>
            <a:endParaRPr lang="en-US" sz="850" dirty="0"/>
          </a:p>
        </p:txBody>
      </p:sp>
      <p:sp>
        <p:nvSpPr>
          <p:cNvPr id="29" name="Shape 27"/>
          <p:cNvSpPr/>
          <p:nvPr/>
        </p:nvSpPr>
        <p:spPr>
          <a:xfrm>
            <a:off x="7589520" y="2542032"/>
            <a:ext cx="4197096" cy="475488"/>
          </a:xfrm>
          <a:prstGeom prst="rect">
            <a:avLst/>
          </a:prstGeom>
          <a:solidFill>
            <a:srgbClr val="FFFFFF"/>
          </a:solidFill>
          <a:ln w="6350">
            <a:solidFill>
              <a:srgbClr val="D3DCE5"/>
            </a:solidFill>
            <a:prstDash val="solid"/>
          </a:ln>
        </p:spPr>
      </p:sp>
      <p:sp>
        <p:nvSpPr>
          <p:cNvPr id="30" name="Text 28"/>
          <p:cNvSpPr txBox="1"/>
          <p:nvPr/>
        </p:nvSpPr>
        <p:spPr>
          <a:xfrm>
            <a:off x="7653528" y="2542032"/>
            <a:ext cx="4069080"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Not disclosed in our sources</a:t>
            </a:r>
            <a:endParaRPr lang="en-US" sz="850" dirty="0"/>
          </a:p>
        </p:txBody>
      </p:sp>
      <p:sp>
        <p:nvSpPr>
          <p:cNvPr id="31" name="Shape 29"/>
          <p:cNvSpPr/>
          <p:nvPr/>
        </p:nvSpPr>
        <p:spPr>
          <a:xfrm>
            <a:off x="411480" y="3017520"/>
            <a:ext cx="2423160" cy="475488"/>
          </a:xfrm>
          <a:prstGeom prst="rect">
            <a:avLst/>
          </a:prstGeom>
          <a:solidFill>
            <a:srgbClr val="F7F9FB"/>
          </a:solidFill>
          <a:ln w="6350">
            <a:solidFill>
              <a:srgbClr val="D3DCE5"/>
            </a:solidFill>
            <a:prstDash val="solid"/>
          </a:ln>
        </p:spPr>
      </p:sp>
      <p:sp>
        <p:nvSpPr>
          <p:cNvPr id="32" name="Text 30"/>
          <p:cNvSpPr txBox="1"/>
          <p:nvPr/>
        </p:nvSpPr>
        <p:spPr>
          <a:xfrm>
            <a:off x="475488" y="3017520"/>
            <a:ext cx="2295144" cy="47548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Canmax</a:t>
            </a:r>
            <a:endParaRPr lang="en-US" sz="850" dirty="0"/>
          </a:p>
        </p:txBody>
      </p:sp>
      <p:sp>
        <p:nvSpPr>
          <p:cNvPr id="33" name="Shape 31"/>
          <p:cNvSpPr/>
          <p:nvPr/>
        </p:nvSpPr>
        <p:spPr>
          <a:xfrm>
            <a:off x="2834640" y="3017520"/>
            <a:ext cx="4754880" cy="475488"/>
          </a:xfrm>
          <a:prstGeom prst="rect">
            <a:avLst/>
          </a:prstGeom>
          <a:solidFill>
            <a:srgbClr val="F7F9FB"/>
          </a:solidFill>
          <a:ln w="6350">
            <a:solidFill>
              <a:srgbClr val="D3DCE5"/>
            </a:solidFill>
            <a:prstDash val="solid"/>
          </a:ln>
        </p:spPr>
      </p:sp>
      <p:sp>
        <p:nvSpPr>
          <p:cNvPr id="34" name="Text 32"/>
          <p:cNvSpPr txBox="1"/>
          <p:nvPr/>
        </p:nvSpPr>
        <p:spPr>
          <a:xfrm>
            <a:off x="2898648" y="3017520"/>
            <a:ext cx="4626864"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150ktpa with an option to increase, described as a two-year agreement</a:t>
            </a:r>
            <a:endParaRPr lang="en-US" sz="850" dirty="0"/>
          </a:p>
        </p:txBody>
      </p:sp>
      <p:sp>
        <p:nvSpPr>
          <p:cNvPr id="35" name="Shape 33"/>
          <p:cNvSpPr/>
          <p:nvPr/>
        </p:nvSpPr>
        <p:spPr>
          <a:xfrm>
            <a:off x="7589520" y="3017520"/>
            <a:ext cx="4197096" cy="475488"/>
          </a:xfrm>
          <a:prstGeom prst="rect">
            <a:avLst/>
          </a:prstGeom>
          <a:solidFill>
            <a:srgbClr val="F7F9FB"/>
          </a:solidFill>
          <a:ln w="6350">
            <a:solidFill>
              <a:srgbClr val="D3DCE5"/>
            </a:solidFill>
            <a:prstDash val="solid"/>
          </a:ln>
        </p:spPr>
      </p:sp>
      <p:sp>
        <p:nvSpPr>
          <p:cNvPr id="36" name="Text 34"/>
          <p:cNvSpPr txBox="1"/>
          <p:nvPr/>
        </p:nvSpPr>
        <p:spPr>
          <a:xfrm>
            <a:off x="7653528" y="3017520"/>
            <a:ext cx="4069080"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Not disclosed in our sources</a:t>
            </a:r>
            <a:endParaRPr lang="en-US" sz="850" dirty="0"/>
          </a:p>
        </p:txBody>
      </p:sp>
      <p:sp>
        <p:nvSpPr>
          <p:cNvPr id="37" name="Shape 35"/>
          <p:cNvSpPr/>
          <p:nvPr/>
        </p:nvSpPr>
        <p:spPr>
          <a:xfrm>
            <a:off x="411480" y="3493008"/>
            <a:ext cx="2423160" cy="475488"/>
          </a:xfrm>
          <a:prstGeom prst="rect">
            <a:avLst/>
          </a:prstGeom>
          <a:solidFill>
            <a:srgbClr val="FFFFFF"/>
          </a:solidFill>
          <a:ln w="6350">
            <a:solidFill>
              <a:srgbClr val="D3DCE5"/>
            </a:solidFill>
            <a:prstDash val="solid"/>
          </a:ln>
        </p:spPr>
      </p:sp>
      <p:sp>
        <p:nvSpPr>
          <p:cNvPr id="38" name="Text 36"/>
          <p:cNvSpPr txBox="1"/>
          <p:nvPr/>
        </p:nvSpPr>
        <p:spPr>
          <a:xfrm>
            <a:off x="475488" y="3493008"/>
            <a:ext cx="2295144" cy="47548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POSCO</a:t>
            </a:r>
            <a:endParaRPr lang="en-US" sz="850" dirty="0"/>
          </a:p>
        </p:txBody>
      </p:sp>
      <p:sp>
        <p:nvSpPr>
          <p:cNvPr id="39" name="Shape 37"/>
          <p:cNvSpPr/>
          <p:nvPr/>
        </p:nvSpPr>
        <p:spPr>
          <a:xfrm>
            <a:off x="2834640" y="3493008"/>
            <a:ext cx="4754880" cy="475488"/>
          </a:xfrm>
          <a:prstGeom prst="rect">
            <a:avLst/>
          </a:prstGeom>
          <a:solidFill>
            <a:srgbClr val="FFFFFF"/>
          </a:solidFill>
          <a:ln w="6350">
            <a:solidFill>
              <a:srgbClr val="D3DCE5"/>
            </a:solidFill>
            <a:prstDash val="solid"/>
          </a:ln>
        </p:spPr>
      </p:sp>
      <p:sp>
        <p:nvSpPr>
          <p:cNvPr id="40" name="Text 38"/>
          <p:cNvSpPr txBox="1"/>
          <p:nvPr/>
        </p:nvSpPr>
        <p:spPr>
          <a:xfrm>
            <a:off x="2898648" y="3493008"/>
            <a:ext cx="4626864"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Long-term concentrate feedstock into the Gwangyang joint venture</a:t>
            </a:r>
            <a:endParaRPr lang="en-US" sz="850" dirty="0"/>
          </a:p>
        </p:txBody>
      </p:sp>
      <p:sp>
        <p:nvSpPr>
          <p:cNvPr id="41" name="Shape 39"/>
          <p:cNvSpPr/>
          <p:nvPr/>
        </p:nvSpPr>
        <p:spPr>
          <a:xfrm>
            <a:off x="7589520" y="3493008"/>
            <a:ext cx="4197096" cy="475488"/>
          </a:xfrm>
          <a:prstGeom prst="rect">
            <a:avLst/>
          </a:prstGeom>
          <a:solidFill>
            <a:srgbClr val="FFFFFF"/>
          </a:solidFill>
          <a:ln w="6350">
            <a:solidFill>
              <a:srgbClr val="D3DCE5"/>
            </a:solidFill>
            <a:prstDash val="solid"/>
          </a:ln>
        </p:spPr>
      </p:sp>
      <p:sp>
        <p:nvSpPr>
          <p:cNvPr id="42" name="Text 40"/>
          <p:cNvSpPr txBox="1"/>
          <p:nvPr/>
        </p:nvSpPr>
        <p:spPr>
          <a:xfrm>
            <a:off x="7653528" y="3493008"/>
            <a:ext cx="4069080"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Linked to joint-venture requirements</a:t>
            </a:r>
            <a:endParaRPr lang="en-US" sz="850" dirty="0"/>
          </a:p>
        </p:txBody>
      </p:sp>
      <p:sp>
        <p:nvSpPr>
          <p:cNvPr id="43" name="Shape 41"/>
          <p:cNvSpPr/>
          <p:nvPr/>
        </p:nvSpPr>
        <p:spPr>
          <a:xfrm>
            <a:off x="411480" y="3968496"/>
            <a:ext cx="2423160" cy="475488"/>
          </a:xfrm>
          <a:prstGeom prst="rect">
            <a:avLst/>
          </a:prstGeom>
          <a:solidFill>
            <a:srgbClr val="F7F9FB"/>
          </a:solidFill>
          <a:ln w="6350">
            <a:solidFill>
              <a:srgbClr val="D3DCE5"/>
            </a:solidFill>
            <a:prstDash val="solid"/>
          </a:ln>
        </p:spPr>
      </p:sp>
      <p:sp>
        <p:nvSpPr>
          <p:cNvPr id="44" name="Text 42"/>
          <p:cNvSpPr txBox="1"/>
          <p:nvPr/>
        </p:nvSpPr>
        <p:spPr>
          <a:xfrm>
            <a:off x="475488" y="3968496"/>
            <a:ext cx="2295144" cy="47548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Yibin Tianyi</a:t>
            </a:r>
            <a:endParaRPr lang="en-US" sz="850" dirty="0"/>
          </a:p>
        </p:txBody>
      </p:sp>
      <p:sp>
        <p:nvSpPr>
          <p:cNvPr id="45" name="Shape 43"/>
          <p:cNvSpPr/>
          <p:nvPr/>
        </p:nvSpPr>
        <p:spPr>
          <a:xfrm>
            <a:off x="2834640" y="3968496"/>
            <a:ext cx="4754880" cy="475488"/>
          </a:xfrm>
          <a:prstGeom prst="rect">
            <a:avLst/>
          </a:prstGeom>
          <a:solidFill>
            <a:srgbClr val="F7F9FB"/>
          </a:solidFill>
          <a:ln w="6350">
            <a:solidFill>
              <a:srgbClr val="D3DCE5"/>
            </a:solidFill>
            <a:prstDash val="solid"/>
          </a:ln>
        </p:spPr>
      </p:sp>
      <p:sp>
        <p:nvSpPr>
          <p:cNvPr id="46" name="Text 44"/>
          <p:cNvSpPr txBox="1"/>
          <p:nvPr/>
        </p:nvSpPr>
        <p:spPr>
          <a:xfrm>
            <a:off x="2898648" y="3968496"/>
            <a:ext cx="4626864"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An additional spodumene offtake was signed; tonnage not disclosed in our sources</a:t>
            </a:r>
            <a:endParaRPr lang="en-US" sz="850" dirty="0"/>
          </a:p>
        </p:txBody>
      </p:sp>
      <p:sp>
        <p:nvSpPr>
          <p:cNvPr id="47" name="Shape 45"/>
          <p:cNvSpPr/>
          <p:nvPr/>
        </p:nvSpPr>
        <p:spPr>
          <a:xfrm>
            <a:off x="7589520" y="3968496"/>
            <a:ext cx="4197096" cy="475488"/>
          </a:xfrm>
          <a:prstGeom prst="rect">
            <a:avLst/>
          </a:prstGeom>
          <a:solidFill>
            <a:srgbClr val="F7F9FB"/>
          </a:solidFill>
          <a:ln w="6350">
            <a:solidFill>
              <a:srgbClr val="D3DCE5"/>
            </a:solidFill>
            <a:prstDash val="solid"/>
          </a:ln>
        </p:spPr>
      </p:sp>
      <p:sp>
        <p:nvSpPr>
          <p:cNvPr id="48" name="Text 46"/>
          <p:cNvSpPr txBox="1"/>
          <p:nvPr/>
        </p:nvSpPr>
        <p:spPr>
          <a:xfrm>
            <a:off x="7653528" y="3968496"/>
            <a:ext cx="4069080" cy="47548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Not disclosed</a:t>
            </a:r>
            <a:endParaRPr lang="en-US" sz="850" dirty="0"/>
          </a:p>
        </p:txBody>
      </p:sp>
      <p:sp>
        <p:nvSpPr>
          <p:cNvPr id="49" name="Shape 47"/>
          <p:cNvSpPr/>
          <p:nvPr/>
        </p:nvSpPr>
        <p:spPr>
          <a:xfrm>
            <a:off x="411480" y="4498848"/>
            <a:ext cx="5577840" cy="1554480"/>
          </a:xfrm>
          <a:prstGeom prst="rect">
            <a:avLst/>
          </a:prstGeom>
          <a:solidFill>
            <a:srgbClr val="D6EBE7"/>
          </a:solidFill>
          <a:ln w="9525">
            <a:solidFill>
              <a:srgbClr val="AFD3CC"/>
            </a:solidFill>
            <a:prstDash val="solid"/>
          </a:ln>
        </p:spPr>
      </p:sp>
      <p:sp>
        <p:nvSpPr>
          <p:cNvPr id="50" name="Text 48"/>
          <p:cNvSpPr txBox="1"/>
          <p:nvPr/>
        </p:nvSpPr>
        <p:spPr>
          <a:xfrm>
            <a:off x="576072" y="4626864"/>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What spot linkage did in FY26</a:t>
            </a:r>
            <a:endParaRPr lang="en-US" sz="1150" dirty="0"/>
          </a:p>
        </p:txBody>
      </p:sp>
      <p:sp>
        <p:nvSpPr>
          <p:cNvPr id="51" name="Text 49"/>
          <p:cNvSpPr txBox="1"/>
          <p:nvPr/>
        </p:nvSpPr>
        <p:spPr>
          <a:xfrm>
            <a:off x="576072" y="4956048"/>
            <a:ext cx="5248656" cy="1005840"/>
          </a:xfrm>
          <a:prstGeom prst="rect">
            <a:avLst/>
          </a:prstGeom>
          <a:noFill/>
          <a:ln/>
        </p:spPr>
        <p:txBody>
          <a:bodyPr wrap="square" lIns="0" tIns="0" rIns="0" bIns="0" rtlCol="0" anchor="t"/>
          <a:lstStyle/>
          <a:p>
            <a:pPr indent="0" marL="0">
              <a:lnSpc>
                <a:spcPct val="105000"/>
              </a:lnSpc>
              <a:buNone/>
            </a:pPr>
            <a:r>
              <a:rPr lang="en-US" sz="830" dirty="0">
                <a:solidFill>
                  <a:srgbClr val="1B2733"/>
                </a:solidFill>
                <a:latin typeface="Calibri" pitchFamily="34" charset="0"/>
                <a:ea typeface="Calibri" pitchFamily="34" charset="-122"/>
                <a:cs typeface="Calibri" pitchFamily="34" charset="-120"/>
              </a:rPr>
              <a:t>Realised prices moved from US$742/t in the September 2025 quarter to US$2,107/t in the June 2026 quarter, a factor of 2.8 inside one financial year. A fixed-price book would have muted both the collapse and the recovery. PLS took the full force of each.</a:t>
            </a:r>
            <a:endParaRPr lang="en-US" sz="830" dirty="0"/>
          </a:p>
          <a:p>
            <a:pPr indent="0" marL="0">
              <a:lnSpc>
                <a:spcPct val="105000"/>
              </a:lnSpc>
              <a:buNone/>
            </a:pPr>
            <a:endParaRPr lang="en-US" sz="830" dirty="0"/>
          </a:p>
          <a:p>
            <a:pPr indent="0" marL="0">
              <a:lnSpc>
                <a:spcPct val="105000"/>
              </a:lnSpc>
              <a:buNone/>
            </a:pPr>
            <a:r>
              <a:rPr lang="en-US" sz="830" dirty="0">
                <a:solidFill>
                  <a:srgbClr val="1B2733"/>
                </a:solidFill>
                <a:latin typeface="Calibri" pitchFamily="34" charset="0"/>
                <a:ea typeface="Calibri" pitchFamily="34" charset="-122"/>
                <a:cs typeface="Calibri" pitchFamily="34" charset="-120"/>
              </a:rPr>
              <a:t>Grade normalisation is confirmed in the company's own reporting: it discloses both an actual-grade and an SC6-equivalent realised price, so contracts are Li2O-linked to the industry benchmark.</a:t>
            </a:r>
            <a:endParaRPr lang="en-US" sz="830" dirty="0"/>
          </a:p>
        </p:txBody>
      </p:sp>
      <p:sp>
        <p:nvSpPr>
          <p:cNvPr id="52" name="Shape 50"/>
          <p:cNvSpPr/>
          <p:nvPr/>
        </p:nvSpPr>
        <p:spPr>
          <a:xfrm>
            <a:off x="6208776" y="4544568"/>
            <a:ext cx="5577840" cy="1298448"/>
          </a:xfrm>
          <a:prstGeom prst="rect">
            <a:avLst/>
          </a:prstGeom>
          <a:solidFill>
            <a:srgbClr val="FBEBD9"/>
          </a:solidFill>
          <a:ln w="9525">
            <a:solidFill>
              <a:srgbClr val="E8C9A3"/>
            </a:solidFill>
            <a:prstDash val="solid"/>
          </a:ln>
        </p:spPr>
      </p:sp>
      <p:sp>
        <p:nvSpPr>
          <p:cNvPr id="53" name="Text 51"/>
          <p:cNvSpPr txBox="1"/>
          <p:nvPr/>
        </p:nvSpPr>
        <p:spPr>
          <a:xfrm>
            <a:off x="6373368" y="4672584"/>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What we could not establish</a:t>
            </a:r>
            <a:endParaRPr lang="en-US" sz="1150" dirty="0"/>
          </a:p>
        </p:txBody>
      </p:sp>
      <p:sp>
        <p:nvSpPr>
          <p:cNvPr id="54" name="Text 52"/>
          <p:cNvSpPr txBox="1"/>
          <p:nvPr/>
        </p:nvSpPr>
        <p:spPr>
          <a:xfrm>
            <a:off x="6373368" y="5001768"/>
            <a:ext cx="5248656" cy="749808"/>
          </a:xfrm>
          <a:prstGeom prst="rect">
            <a:avLst/>
          </a:prstGeom>
          <a:noFill/>
          <a:ln/>
        </p:spPr>
        <p:txBody>
          <a:bodyPr wrap="square" lIns="0" tIns="0" rIns="0" bIns="0" rtlCol="0" anchor="t"/>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We could not find the exact contractual formula - whether grade adjustment is linear or stepped, which index is referenced, or whether an M+1 pricing lag applies. Several sources describe pricing simply as prevailing market price. We have therefore modelled realisation as a single blended price per tonne with a freight and timing adjustment calibrated to reported revenue, rather than pretending to a contract-level precision we do not have.</a:t>
            </a:r>
            <a:endParaRPr lang="en-US" sz="870" dirty="0"/>
          </a:p>
        </p:txBody>
      </p:sp>
      <p:sp>
        <p:nvSpPr>
          <p:cNvPr id="55" name="Text 53"/>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smallcaps.com.au; mining.com; miningweekly.com; capitalbrief.com; fastmarkets.com; mysteel.net; PLS quarterly activities reports. Where a term is marked not disclosed, it was searched for and not found.</a:t>
            </a:r>
            <a:endParaRPr lang="en-US" sz="720" dirty="0"/>
          </a:p>
        </p:txBody>
      </p:sp>
      <p:sp>
        <p:nvSpPr>
          <p:cNvPr id="56" name="Text 54"/>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A10</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A chair with rare-earths experience, a chief executive who has run the company through a full cycle, and a dedicated Sustainability Committee at board level.</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A11  Company and assets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331720" cy="292608"/>
          </a:xfrm>
          <a:prstGeom prst="rect">
            <a:avLst/>
          </a:prstGeom>
          <a:solidFill>
            <a:srgbClr val="10233A"/>
          </a:solidFill>
          <a:ln/>
        </p:spPr>
      </p:sp>
      <p:sp>
        <p:nvSpPr>
          <p:cNvPr id="8" name="Text 6"/>
          <p:cNvSpPr txBox="1"/>
          <p:nvPr/>
        </p:nvSpPr>
        <p:spPr>
          <a:xfrm>
            <a:off x="475488" y="1298448"/>
            <a:ext cx="22037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Name</a:t>
            </a:r>
            <a:endParaRPr lang="en-US" sz="900" dirty="0"/>
          </a:p>
        </p:txBody>
      </p:sp>
      <p:sp>
        <p:nvSpPr>
          <p:cNvPr id="9" name="Shape 7"/>
          <p:cNvSpPr/>
          <p:nvPr/>
        </p:nvSpPr>
        <p:spPr>
          <a:xfrm>
            <a:off x="2743200" y="1298448"/>
            <a:ext cx="2834640" cy="292608"/>
          </a:xfrm>
          <a:prstGeom prst="rect">
            <a:avLst/>
          </a:prstGeom>
          <a:solidFill>
            <a:srgbClr val="10233A"/>
          </a:solidFill>
          <a:ln/>
        </p:spPr>
      </p:sp>
      <p:sp>
        <p:nvSpPr>
          <p:cNvPr id="10" name="Text 8"/>
          <p:cNvSpPr txBox="1"/>
          <p:nvPr/>
        </p:nvSpPr>
        <p:spPr>
          <a:xfrm>
            <a:off x="2807208" y="1298448"/>
            <a:ext cx="27066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Role</a:t>
            </a:r>
            <a:endParaRPr lang="en-US" sz="900" dirty="0"/>
          </a:p>
        </p:txBody>
      </p:sp>
      <p:sp>
        <p:nvSpPr>
          <p:cNvPr id="11" name="Shape 9"/>
          <p:cNvSpPr/>
          <p:nvPr/>
        </p:nvSpPr>
        <p:spPr>
          <a:xfrm>
            <a:off x="5577840" y="1298448"/>
            <a:ext cx="1143000" cy="292608"/>
          </a:xfrm>
          <a:prstGeom prst="rect">
            <a:avLst/>
          </a:prstGeom>
          <a:solidFill>
            <a:srgbClr val="10233A"/>
          </a:solidFill>
          <a:ln/>
        </p:spPr>
      </p:sp>
      <p:sp>
        <p:nvSpPr>
          <p:cNvPr id="12" name="Text 10"/>
          <p:cNvSpPr txBox="1"/>
          <p:nvPr/>
        </p:nvSpPr>
        <p:spPr>
          <a:xfrm>
            <a:off x="5641848" y="1298448"/>
            <a:ext cx="101498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Since</a:t>
            </a:r>
            <a:endParaRPr lang="en-US" sz="900" dirty="0"/>
          </a:p>
        </p:txBody>
      </p:sp>
      <p:sp>
        <p:nvSpPr>
          <p:cNvPr id="13" name="Shape 11"/>
          <p:cNvSpPr/>
          <p:nvPr/>
        </p:nvSpPr>
        <p:spPr>
          <a:xfrm>
            <a:off x="6720840" y="1298448"/>
            <a:ext cx="5065776" cy="292608"/>
          </a:xfrm>
          <a:prstGeom prst="rect">
            <a:avLst/>
          </a:prstGeom>
          <a:solidFill>
            <a:srgbClr val="10233A"/>
          </a:solidFill>
          <a:ln/>
        </p:spPr>
      </p:sp>
      <p:sp>
        <p:nvSpPr>
          <p:cNvPr id="14" name="Text 12"/>
          <p:cNvSpPr txBox="1"/>
          <p:nvPr/>
        </p:nvSpPr>
        <p:spPr>
          <a:xfrm>
            <a:off x="6784848" y="1298448"/>
            <a:ext cx="493776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Background</a:t>
            </a:r>
            <a:endParaRPr lang="en-US" sz="900" dirty="0"/>
          </a:p>
        </p:txBody>
      </p:sp>
      <p:sp>
        <p:nvSpPr>
          <p:cNvPr id="15" name="Shape 13"/>
          <p:cNvSpPr/>
          <p:nvPr/>
        </p:nvSpPr>
        <p:spPr>
          <a:xfrm>
            <a:off x="411480" y="1591056"/>
            <a:ext cx="2331720" cy="457200"/>
          </a:xfrm>
          <a:prstGeom prst="rect">
            <a:avLst/>
          </a:prstGeom>
          <a:solidFill>
            <a:srgbClr val="FFFFFF"/>
          </a:solidFill>
          <a:ln w="6350">
            <a:solidFill>
              <a:srgbClr val="D3DCE5"/>
            </a:solidFill>
            <a:prstDash val="solid"/>
          </a:ln>
        </p:spPr>
      </p:sp>
      <p:sp>
        <p:nvSpPr>
          <p:cNvPr id="16" name="Text 14"/>
          <p:cNvSpPr txBox="1"/>
          <p:nvPr/>
        </p:nvSpPr>
        <p:spPr>
          <a:xfrm>
            <a:off x="475488" y="1591056"/>
            <a:ext cx="2203704" cy="4572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Kathleen Conlon</a:t>
            </a:r>
            <a:endParaRPr lang="en-US" sz="880" dirty="0"/>
          </a:p>
        </p:txBody>
      </p:sp>
      <p:sp>
        <p:nvSpPr>
          <p:cNvPr id="17" name="Shape 15"/>
          <p:cNvSpPr/>
          <p:nvPr/>
        </p:nvSpPr>
        <p:spPr>
          <a:xfrm>
            <a:off x="2743200" y="1591056"/>
            <a:ext cx="2834640" cy="457200"/>
          </a:xfrm>
          <a:prstGeom prst="rect">
            <a:avLst/>
          </a:prstGeom>
          <a:solidFill>
            <a:srgbClr val="FFFFFF"/>
          </a:solidFill>
          <a:ln w="6350">
            <a:solidFill>
              <a:srgbClr val="D3DCE5"/>
            </a:solidFill>
            <a:prstDash val="solid"/>
          </a:ln>
        </p:spPr>
      </p:sp>
      <p:sp>
        <p:nvSpPr>
          <p:cNvPr id="18" name="Text 16"/>
          <p:cNvSpPr txBox="1"/>
          <p:nvPr/>
        </p:nvSpPr>
        <p:spPr>
          <a:xfrm>
            <a:off x="2807208" y="1591056"/>
            <a:ext cx="2706624"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Non-Executive Chair</a:t>
            </a:r>
            <a:endParaRPr lang="en-US" sz="880" dirty="0"/>
          </a:p>
        </p:txBody>
      </p:sp>
      <p:sp>
        <p:nvSpPr>
          <p:cNvPr id="19" name="Shape 17"/>
          <p:cNvSpPr/>
          <p:nvPr/>
        </p:nvSpPr>
        <p:spPr>
          <a:xfrm>
            <a:off x="5577840" y="1591056"/>
            <a:ext cx="1143000" cy="457200"/>
          </a:xfrm>
          <a:prstGeom prst="rect">
            <a:avLst/>
          </a:prstGeom>
          <a:solidFill>
            <a:srgbClr val="FFFFFF"/>
          </a:solidFill>
          <a:ln w="6350">
            <a:solidFill>
              <a:srgbClr val="D3DCE5"/>
            </a:solidFill>
            <a:prstDash val="solid"/>
          </a:ln>
        </p:spPr>
      </p:sp>
      <p:sp>
        <p:nvSpPr>
          <p:cNvPr id="20" name="Text 18"/>
          <p:cNvSpPr txBox="1"/>
          <p:nvPr/>
        </p:nvSpPr>
        <p:spPr>
          <a:xfrm>
            <a:off x="5641848" y="1591056"/>
            <a:ext cx="1014984" cy="45720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Feb 2024</a:t>
            </a:r>
            <a:endParaRPr lang="en-US" sz="880" dirty="0"/>
          </a:p>
        </p:txBody>
      </p:sp>
      <p:sp>
        <p:nvSpPr>
          <p:cNvPr id="21" name="Shape 19"/>
          <p:cNvSpPr/>
          <p:nvPr/>
        </p:nvSpPr>
        <p:spPr>
          <a:xfrm>
            <a:off x="6720840" y="1591056"/>
            <a:ext cx="5065776" cy="457200"/>
          </a:xfrm>
          <a:prstGeom prst="rect">
            <a:avLst/>
          </a:prstGeom>
          <a:solidFill>
            <a:srgbClr val="FFFFFF"/>
          </a:solidFill>
          <a:ln w="6350">
            <a:solidFill>
              <a:srgbClr val="D3DCE5"/>
            </a:solidFill>
            <a:prstDash val="solid"/>
          </a:ln>
        </p:spPr>
      </p:sp>
      <p:sp>
        <p:nvSpPr>
          <p:cNvPr id="22" name="Text 20"/>
          <p:cNvSpPr txBox="1"/>
          <p:nvPr/>
        </p:nvSpPr>
        <p:spPr>
          <a:xfrm>
            <a:off x="6784848" y="1591056"/>
            <a:ext cx="4937760"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Recently retired Chair of Lynas Rare Earths; non-executive director of Aristocrat Leisure and BlueScope Steel.</a:t>
            </a:r>
            <a:endParaRPr lang="en-US" sz="880" dirty="0"/>
          </a:p>
        </p:txBody>
      </p:sp>
      <p:sp>
        <p:nvSpPr>
          <p:cNvPr id="23" name="Shape 21"/>
          <p:cNvSpPr/>
          <p:nvPr/>
        </p:nvSpPr>
        <p:spPr>
          <a:xfrm>
            <a:off x="411480" y="2048256"/>
            <a:ext cx="2331720" cy="457200"/>
          </a:xfrm>
          <a:prstGeom prst="rect">
            <a:avLst/>
          </a:prstGeom>
          <a:solidFill>
            <a:srgbClr val="F7F9FB"/>
          </a:solidFill>
          <a:ln w="6350">
            <a:solidFill>
              <a:srgbClr val="D3DCE5"/>
            </a:solidFill>
            <a:prstDash val="solid"/>
          </a:ln>
        </p:spPr>
      </p:sp>
      <p:sp>
        <p:nvSpPr>
          <p:cNvPr id="24" name="Text 22"/>
          <p:cNvSpPr txBox="1"/>
          <p:nvPr/>
        </p:nvSpPr>
        <p:spPr>
          <a:xfrm>
            <a:off x="475488" y="2048256"/>
            <a:ext cx="2203704" cy="4572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Dale Henderson</a:t>
            </a:r>
            <a:endParaRPr lang="en-US" sz="880" dirty="0"/>
          </a:p>
        </p:txBody>
      </p:sp>
      <p:sp>
        <p:nvSpPr>
          <p:cNvPr id="25" name="Shape 23"/>
          <p:cNvSpPr/>
          <p:nvPr/>
        </p:nvSpPr>
        <p:spPr>
          <a:xfrm>
            <a:off x="2743200" y="2048256"/>
            <a:ext cx="2834640" cy="457200"/>
          </a:xfrm>
          <a:prstGeom prst="rect">
            <a:avLst/>
          </a:prstGeom>
          <a:solidFill>
            <a:srgbClr val="F7F9FB"/>
          </a:solidFill>
          <a:ln w="6350">
            <a:solidFill>
              <a:srgbClr val="D3DCE5"/>
            </a:solidFill>
            <a:prstDash val="solid"/>
          </a:ln>
        </p:spPr>
      </p:sp>
      <p:sp>
        <p:nvSpPr>
          <p:cNvPr id="26" name="Text 24"/>
          <p:cNvSpPr txBox="1"/>
          <p:nvPr/>
        </p:nvSpPr>
        <p:spPr>
          <a:xfrm>
            <a:off x="2807208" y="2048256"/>
            <a:ext cx="2706624"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Managing Director and CEO</a:t>
            </a:r>
            <a:endParaRPr lang="en-US" sz="880" dirty="0"/>
          </a:p>
        </p:txBody>
      </p:sp>
      <p:sp>
        <p:nvSpPr>
          <p:cNvPr id="27" name="Shape 25"/>
          <p:cNvSpPr/>
          <p:nvPr/>
        </p:nvSpPr>
        <p:spPr>
          <a:xfrm>
            <a:off x="5577840" y="2048256"/>
            <a:ext cx="1143000" cy="457200"/>
          </a:xfrm>
          <a:prstGeom prst="rect">
            <a:avLst/>
          </a:prstGeom>
          <a:solidFill>
            <a:srgbClr val="F7F9FB"/>
          </a:solidFill>
          <a:ln w="6350">
            <a:solidFill>
              <a:srgbClr val="D3DCE5"/>
            </a:solidFill>
            <a:prstDash val="solid"/>
          </a:ln>
        </p:spPr>
      </p:sp>
      <p:sp>
        <p:nvSpPr>
          <p:cNvPr id="28" name="Text 26"/>
          <p:cNvSpPr txBox="1"/>
          <p:nvPr/>
        </p:nvSpPr>
        <p:spPr>
          <a:xfrm>
            <a:off x="5641848" y="2048256"/>
            <a:ext cx="1014984" cy="45720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Jul 2022</a:t>
            </a:r>
            <a:endParaRPr lang="en-US" sz="880" dirty="0"/>
          </a:p>
        </p:txBody>
      </p:sp>
      <p:sp>
        <p:nvSpPr>
          <p:cNvPr id="29" name="Shape 27"/>
          <p:cNvSpPr/>
          <p:nvPr/>
        </p:nvSpPr>
        <p:spPr>
          <a:xfrm>
            <a:off x="6720840" y="2048256"/>
            <a:ext cx="5065776" cy="457200"/>
          </a:xfrm>
          <a:prstGeom prst="rect">
            <a:avLst/>
          </a:prstGeom>
          <a:solidFill>
            <a:srgbClr val="F7F9FB"/>
          </a:solidFill>
          <a:ln w="6350">
            <a:solidFill>
              <a:srgbClr val="D3DCE5"/>
            </a:solidFill>
            <a:prstDash val="solid"/>
          </a:ln>
        </p:spPr>
      </p:sp>
      <p:sp>
        <p:nvSpPr>
          <p:cNvPr id="30" name="Text 28"/>
          <p:cNvSpPr txBox="1"/>
          <p:nvPr/>
        </p:nvSpPr>
        <p:spPr>
          <a:xfrm>
            <a:off x="6784848" y="2048256"/>
            <a:ext cx="4937760"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Ran the company through the 2023-25 collapse and the 2026 recovery. Succeeded Ken Brinsden.</a:t>
            </a:r>
            <a:endParaRPr lang="en-US" sz="880" dirty="0"/>
          </a:p>
        </p:txBody>
      </p:sp>
      <p:sp>
        <p:nvSpPr>
          <p:cNvPr id="31" name="Shape 29"/>
          <p:cNvSpPr/>
          <p:nvPr/>
        </p:nvSpPr>
        <p:spPr>
          <a:xfrm>
            <a:off x="411480" y="2505456"/>
            <a:ext cx="2331720" cy="457200"/>
          </a:xfrm>
          <a:prstGeom prst="rect">
            <a:avLst/>
          </a:prstGeom>
          <a:solidFill>
            <a:srgbClr val="FFFFFF"/>
          </a:solidFill>
          <a:ln w="6350">
            <a:solidFill>
              <a:srgbClr val="D3DCE5"/>
            </a:solidFill>
            <a:prstDash val="solid"/>
          </a:ln>
        </p:spPr>
      </p:sp>
      <p:sp>
        <p:nvSpPr>
          <p:cNvPr id="32" name="Text 30"/>
          <p:cNvSpPr txBox="1"/>
          <p:nvPr/>
        </p:nvSpPr>
        <p:spPr>
          <a:xfrm>
            <a:off x="475488" y="2505456"/>
            <a:ext cx="2203704" cy="4572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Sally-Anne Layman</a:t>
            </a:r>
            <a:endParaRPr lang="en-US" sz="880" dirty="0"/>
          </a:p>
        </p:txBody>
      </p:sp>
      <p:sp>
        <p:nvSpPr>
          <p:cNvPr id="33" name="Shape 31"/>
          <p:cNvSpPr/>
          <p:nvPr/>
        </p:nvSpPr>
        <p:spPr>
          <a:xfrm>
            <a:off x="2743200" y="2505456"/>
            <a:ext cx="2834640" cy="457200"/>
          </a:xfrm>
          <a:prstGeom prst="rect">
            <a:avLst/>
          </a:prstGeom>
          <a:solidFill>
            <a:srgbClr val="FFFFFF"/>
          </a:solidFill>
          <a:ln w="6350">
            <a:solidFill>
              <a:srgbClr val="D3DCE5"/>
            </a:solidFill>
            <a:prstDash val="solid"/>
          </a:ln>
        </p:spPr>
      </p:sp>
      <p:sp>
        <p:nvSpPr>
          <p:cNvPr id="34" name="Text 32"/>
          <p:cNvSpPr txBox="1"/>
          <p:nvPr/>
        </p:nvSpPr>
        <p:spPr>
          <a:xfrm>
            <a:off x="2807208" y="2505456"/>
            <a:ext cx="2706624"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Non-Executive Director</a:t>
            </a:r>
            <a:endParaRPr lang="en-US" sz="880" dirty="0"/>
          </a:p>
        </p:txBody>
      </p:sp>
      <p:sp>
        <p:nvSpPr>
          <p:cNvPr id="35" name="Shape 33"/>
          <p:cNvSpPr/>
          <p:nvPr/>
        </p:nvSpPr>
        <p:spPr>
          <a:xfrm>
            <a:off x="5577840" y="2505456"/>
            <a:ext cx="1143000" cy="457200"/>
          </a:xfrm>
          <a:prstGeom prst="rect">
            <a:avLst/>
          </a:prstGeom>
          <a:solidFill>
            <a:srgbClr val="FFFFFF"/>
          </a:solidFill>
          <a:ln w="6350">
            <a:solidFill>
              <a:srgbClr val="D3DCE5"/>
            </a:solidFill>
            <a:prstDash val="solid"/>
          </a:ln>
        </p:spPr>
      </p:sp>
      <p:sp>
        <p:nvSpPr>
          <p:cNvPr id="36" name="Text 34"/>
          <p:cNvSpPr txBox="1"/>
          <p:nvPr/>
        </p:nvSpPr>
        <p:spPr>
          <a:xfrm>
            <a:off x="5641848" y="2505456"/>
            <a:ext cx="1014984" cy="45720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Apr 2018</a:t>
            </a:r>
            <a:endParaRPr lang="en-US" sz="880" dirty="0"/>
          </a:p>
        </p:txBody>
      </p:sp>
      <p:sp>
        <p:nvSpPr>
          <p:cNvPr id="37" name="Shape 35"/>
          <p:cNvSpPr/>
          <p:nvPr/>
        </p:nvSpPr>
        <p:spPr>
          <a:xfrm>
            <a:off x="6720840" y="2505456"/>
            <a:ext cx="5065776" cy="457200"/>
          </a:xfrm>
          <a:prstGeom prst="rect">
            <a:avLst/>
          </a:prstGeom>
          <a:solidFill>
            <a:srgbClr val="FFFFFF"/>
          </a:solidFill>
          <a:ln w="6350">
            <a:solidFill>
              <a:srgbClr val="D3DCE5"/>
            </a:solidFill>
            <a:prstDash val="solid"/>
          </a:ln>
        </p:spPr>
      </p:sp>
      <p:sp>
        <p:nvSpPr>
          <p:cNvPr id="38" name="Text 36"/>
          <p:cNvSpPr txBox="1"/>
          <p:nvPr/>
        </p:nvSpPr>
        <p:spPr>
          <a:xfrm>
            <a:off x="6784848" y="2505456"/>
            <a:ext cx="4937760"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Chairs the Sustainability Committee; sits on Audit and Risk; director of Beach Energy.</a:t>
            </a:r>
            <a:endParaRPr lang="en-US" sz="880" dirty="0"/>
          </a:p>
        </p:txBody>
      </p:sp>
      <p:sp>
        <p:nvSpPr>
          <p:cNvPr id="39" name="Shape 37"/>
          <p:cNvSpPr/>
          <p:nvPr/>
        </p:nvSpPr>
        <p:spPr>
          <a:xfrm>
            <a:off x="411480" y="2962656"/>
            <a:ext cx="2331720" cy="457200"/>
          </a:xfrm>
          <a:prstGeom prst="rect">
            <a:avLst/>
          </a:prstGeom>
          <a:solidFill>
            <a:srgbClr val="F7F9FB"/>
          </a:solidFill>
          <a:ln w="6350">
            <a:solidFill>
              <a:srgbClr val="D3DCE5"/>
            </a:solidFill>
            <a:prstDash val="solid"/>
          </a:ln>
        </p:spPr>
      </p:sp>
      <p:sp>
        <p:nvSpPr>
          <p:cNvPr id="40" name="Text 38"/>
          <p:cNvSpPr txBox="1"/>
          <p:nvPr/>
        </p:nvSpPr>
        <p:spPr>
          <a:xfrm>
            <a:off x="475488" y="2962656"/>
            <a:ext cx="2203704" cy="4572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Nicholas Cernotta</a:t>
            </a:r>
            <a:endParaRPr lang="en-US" sz="880" dirty="0"/>
          </a:p>
        </p:txBody>
      </p:sp>
      <p:sp>
        <p:nvSpPr>
          <p:cNvPr id="41" name="Shape 39"/>
          <p:cNvSpPr/>
          <p:nvPr/>
        </p:nvSpPr>
        <p:spPr>
          <a:xfrm>
            <a:off x="2743200" y="2962656"/>
            <a:ext cx="2834640" cy="457200"/>
          </a:xfrm>
          <a:prstGeom prst="rect">
            <a:avLst/>
          </a:prstGeom>
          <a:solidFill>
            <a:srgbClr val="F7F9FB"/>
          </a:solidFill>
          <a:ln w="6350">
            <a:solidFill>
              <a:srgbClr val="D3DCE5"/>
            </a:solidFill>
            <a:prstDash val="solid"/>
          </a:ln>
        </p:spPr>
      </p:sp>
      <p:sp>
        <p:nvSpPr>
          <p:cNvPr id="42" name="Text 40"/>
          <p:cNvSpPr txBox="1"/>
          <p:nvPr/>
        </p:nvSpPr>
        <p:spPr>
          <a:xfrm>
            <a:off x="2807208" y="2962656"/>
            <a:ext cx="2706624"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Non-Executive Director</a:t>
            </a:r>
            <a:endParaRPr lang="en-US" sz="880" dirty="0"/>
          </a:p>
        </p:txBody>
      </p:sp>
      <p:sp>
        <p:nvSpPr>
          <p:cNvPr id="43" name="Shape 41"/>
          <p:cNvSpPr/>
          <p:nvPr/>
        </p:nvSpPr>
        <p:spPr>
          <a:xfrm>
            <a:off x="5577840" y="2962656"/>
            <a:ext cx="1143000" cy="457200"/>
          </a:xfrm>
          <a:prstGeom prst="rect">
            <a:avLst/>
          </a:prstGeom>
          <a:solidFill>
            <a:srgbClr val="F7F9FB"/>
          </a:solidFill>
          <a:ln w="6350">
            <a:solidFill>
              <a:srgbClr val="D3DCE5"/>
            </a:solidFill>
            <a:prstDash val="solid"/>
          </a:ln>
        </p:spPr>
      </p:sp>
      <p:sp>
        <p:nvSpPr>
          <p:cNvPr id="44" name="Text 42"/>
          <p:cNvSpPr txBox="1"/>
          <p:nvPr/>
        </p:nvSpPr>
        <p:spPr>
          <a:xfrm>
            <a:off x="5641848" y="2962656"/>
            <a:ext cx="1014984" cy="45720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Feb 2017</a:t>
            </a:r>
            <a:endParaRPr lang="en-US" sz="880" dirty="0"/>
          </a:p>
        </p:txBody>
      </p:sp>
      <p:sp>
        <p:nvSpPr>
          <p:cNvPr id="45" name="Shape 43"/>
          <p:cNvSpPr/>
          <p:nvPr/>
        </p:nvSpPr>
        <p:spPr>
          <a:xfrm>
            <a:off x="6720840" y="2962656"/>
            <a:ext cx="5065776" cy="457200"/>
          </a:xfrm>
          <a:prstGeom prst="rect">
            <a:avLst/>
          </a:prstGeom>
          <a:solidFill>
            <a:srgbClr val="F7F9FB"/>
          </a:solidFill>
          <a:ln w="6350">
            <a:solidFill>
              <a:srgbClr val="D3DCE5"/>
            </a:solidFill>
            <a:prstDash val="solid"/>
          </a:ln>
        </p:spPr>
      </p:sp>
      <p:sp>
        <p:nvSpPr>
          <p:cNvPr id="46" name="Text 44"/>
          <p:cNvSpPr txBox="1"/>
          <p:nvPr/>
        </p:nvSpPr>
        <p:spPr>
          <a:xfrm>
            <a:off x="6784848" y="2962656"/>
            <a:ext cx="4937760"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Chairs the People and Culture Committee; member of the Sustainability Committee.</a:t>
            </a:r>
            <a:endParaRPr lang="en-US" sz="880" dirty="0"/>
          </a:p>
        </p:txBody>
      </p:sp>
      <p:sp>
        <p:nvSpPr>
          <p:cNvPr id="47" name="Shape 45"/>
          <p:cNvSpPr/>
          <p:nvPr/>
        </p:nvSpPr>
        <p:spPr>
          <a:xfrm>
            <a:off x="411480" y="3419856"/>
            <a:ext cx="2331720" cy="457200"/>
          </a:xfrm>
          <a:prstGeom prst="rect">
            <a:avLst/>
          </a:prstGeom>
          <a:solidFill>
            <a:srgbClr val="FFFFFF"/>
          </a:solidFill>
          <a:ln w="6350">
            <a:solidFill>
              <a:srgbClr val="D3DCE5"/>
            </a:solidFill>
            <a:prstDash val="solid"/>
          </a:ln>
        </p:spPr>
      </p:sp>
      <p:sp>
        <p:nvSpPr>
          <p:cNvPr id="48" name="Text 46"/>
          <p:cNvSpPr txBox="1"/>
          <p:nvPr/>
        </p:nvSpPr>
        <p:spPr>
          <a:xfrm>
            <a:off x="475488" y="3419856"/>
            <a:ext cx="2203704" cy="45720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Stephen Scudamore</a:t>
            </a:r>
            <a:endParaRPr lang="en-US" sz="880" dirty="0"/>
          </a:p>
        </p:txBody>
      </p:sp>
      <p:sp>
        <p:nvSpPr>
          <p:cNvPr id="49" name="Shape 47"/>
          <p:cNvSpPr/>
          <p:nvPr/>
        </p:nvSpPr>
        <p:spPr>
          <a:xfrm>
            <a:off x="2743200" y="3419856"/>
            <a:ext cx="2834640" cy="457200"/>
          </a:xfrm>
          <a:prstGeom prst="rect">
            <a:avLst/>
          </a:prstGeom>
          <a:solidFill>
            <a:srgbClr val="FFFFFF"/>
          </a:solidFill>
          <a:ln w="6350">
            <a:solidFill>
              <a:srgbClr val="D3DCE5"/>
            </a:solidFill>
            <a:prstDash val="solid"/>
          </a:ln>
        </p:spPr>
      </p:sp>
      <p:sp>
        <p:nvSpPr>
          <p:cNvPr id="50" name="Text 48"/>
          <p:cNvSpPr txBox="1"/>
          <p:nvPr/>
        </p:nvSpPr>
        <p:spPr>
          <a:xfrm>
            <a:off x="2807208" y="3419856"/>
            <a:ext cx="2706624"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Independent Non-Executive Director</a:t>
            </a:r>
            <a:endParaRPr lang="en-US" sz="880" dirty="0"/>
          </a:p>
        </p:txBody>
      </p:sp>
      <p:sp>
        <p:nvSpPr>
          <p:cNvPr id="51" name="Shape 49"/>
          <p:cNvSpPr/>
          <p:nvPr/>
        </p:nvSpPr>
        <p:spPr>
          <a:xfrm>
            <a:off x="5577840" y="3419856"/>
            <a:ext cx="1143000" cy="457200"/>
          </a:xfrm>
          <a:prstGeom prst="rect">
            <a:avLst/>
          </a:prstGeom>
          <a:solidFill>
            <a:srgbClr val="FFFFFF"/>
          </a:solidFill>
          <a:ln w="6350">
            <a:solidFill>
              <a:srgbClr val="D3DCE5"/>
            </a:solidFill>
            <a:prstDash val="solid"/>
          </a:ln>
        </p:spPr>
      </p:sp>
      <p:sp>
        <p:nvSpPr>
          <p:cNvPr id="52" name="Text 50"/>
          <p:cNvSpPr txBox="1"/>
          <p:nvPr/>
        </p:nvSpPr>
        <p:spPr>
          <a:xfrm>
            <a:off x="5641848" y="3419856"/>
            <a:ext cx="1014984" cy="457200"/>
          </a:xfrm>
          <a:prstGeom prst="rect">
            <a:avLst/>
          </a:prstGeom>
          <a:noFill/>
          <a:ln/>
        </p:spPr>
        <p:txBody>
          <a:bodyPr wrap="square" lIns="0" tIns="0" rIns="0" bIns="0" rtlCol="0" anchor="ctr"/>
          <a:lstStyle/>
          <a:p>
            <a:pPr algn="ctr" indent="0" marL="0">
              <a:buNone/>
            </a:pPr>
            <a:r>
              <a:rPr lang="en-US" sz="880" dirty="0">
                <a:solidFill>
                  <a:srgbClr val="1B2733"/>
                </a:solidFill>
                <a:latin typeface="Calibri" pitchFamily="34" charset="0"/>
                <a:ea typeface="Calibri" pitchFamily="34" charset="-122"/>
                <a:cs typeface="Calibri" pitchFamily="34" charset="-120"/>
              </a:rPr>
              <a:t>Not confirmed</a:t>
            </a:r>
            <a:endParaRPr lang="en-US" sz="880" dirty="0"/>
          </a:p>
        </p:txBody>
      </p:sp>
      <p:sp>
        <p:nvSpPr>
          <p:cNvPr id="53" name="Shape 51"/>
          <p:cNvSpPr/>
          <p:nvPr/>
        </p:nvSpPr>
        <p:spPr>
          <a:xfrm>
            <a:off x="6720840" y="3419856"/>
            <a:ext cx="5065776" cy="457200"/>
          </a:xfrm>
          <a:prstGeom prst="rect">
            <a:avLst/>
          </a:prstGeom>
          <a:solidFill>
            <a:srgbClr val="FFFFFF"/>
          </a:solidFill>
          <a:ln w="6350">
            <a:solidFill>
              <a:srgbClr val="D3DCE5"/>
            </a:solidFill>
            <a:prstDash val="solid"/>
          </a:ln>
        </p:spPr>
      </p:sp>
      <p:sp>
        <p:nvSpPr>
          <p:cNvPr id="54" name="Text 52"/>
          <p:cNvSpPr txBox="1"/>
          <p:nvPr/>
        </p:nvSpPr>
        <p:spPr>
          <a:xfrm>
            <a:off x="6784848" y="3419856"/>
            <a:ext cx="4937760" cy="45720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30 years with KPMG; non-executive director of Australis Oil &amp; Gas and Regis Resources.</a:t>
            </a:r>
            <a:endParaRPr lang="en-US" sz="880" dirty="0"/>
          </a:p>
        </p:txBody>
      </p:sp>
      <p:sp>
        <p:nvSpPr>
          <p:cNvPr id="55" name="Shape 53"/>
          <p:cNvSpPr/>
          <p:nvPr/>
        </p:nvSpPr>
        <p:spPr>
          <a:xfrm>
            <a:off x="411480" y="4059936"/>
            <a:ext cx="5577840" cy="1481328"/>
          </a:xfrm>
          <a:prstGeom prst="rect">
            <a:avLst/>
          </a:prstGeom>
          <a:solidFill>
            <a:srgbClr val="D6EBE7"/>
          </a:solidFill>
          <a:ln w="9525">
            <a:solidFill>
              <a:srgbClr val="AFD3CC"/>
            </a:solidFill>
            <a:prstDash val="solid"/>
          </a:ln>
        </p:spPr>
      </p:sp>
      <p:sp>
        <p:nvSpPr>
          <p:cNvPr id="56" name="Text 54"/>
          <p:cNvSpPr txBox="1"/>
          <p:nvPr/>
        </p:nvSpPr>
        <p:spPr>
          <a:xfrm>
            <a:off x="576072" y="4187952"/>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What the structure tells us</a:t>
            </a:r>
            <a:endParaRPr lang="en-US" sz="1150" dirty="0"/>
          </a:p>
        </p:txBody>
      </p:sp>
      <p:sp>
        <p:nvSpPr>
          <p:cNvPr id="57" name="Text 55"/>
          <p:cNvSpPr txBox="1"/>
          <p:nvPr/>
        </p:nvSpPr>
        <p:spPr>
          <a:xfrm>
            <a:off x="576072" y="4517136"/>
            <a:ext cx="5248656" cy="932688"/>
          </a:xfrm>
          <a:prstGeom prst="rect">
            <a:avLst/>
          </a:prstGeom>
          <a:noFill/>
          <a:ln/>
        </p:spPr>
        <p:txBody>
          <a:bodyPr wrap="square" lIns="0" tIns="0" rIns="0" bIns="0" rtlCol="0" anchor="t"/>
          <a:lstStyle/>
          <a:p>
            <a:pPr indent="0" marL="0">
              <a:lnSpc>
                <a:spcPct val="105000"/>
              </a:lnSpc>
              <a:buNone/>
            </a:pPr>
            <a:r>
              <a:rPr lang="en-US" sz="820" dirty="0">
                <a:solidFill>
                  <a:srgbClr val="1B2733"/>
                </a:solidFill>
                <a:latin typeface="Calibri" pitchFamily="34" charset="0"/>
                <a:ea typeface="Calibri" pitchFamily="34" charset="-122"/>
                <a:cs typeface="Calibri" pitchFamily="34" charset="-120"/>
              </a:rPr>
              <a:t>A named board Sustainability Committee, chaired by a long-tenured director who also sits on Audit and Risk, is a better signal than a sustainability report. It means ESG matters reach the board through a standing committee with a member who sees the financial reporting.</a:t>
            </a:r>
            <a:endParaRPr lang="en-US" sz="820" dirty="0"/>
          </a:p>
          <a:p>
            <a:pPr indent="0" marL="0">
              <a:lnSpc>
                <a:spcPct val="105000"/>
              </a:lnSpc>
              <a:buNone/>
            </a:pPr>
            <a:endParaRPr lang="en-US" sz="820" dirty="0"/>
          </a:p>
          <a:p>
            <a:pPr indent="0" marL="0">
              <a:lnSpc>
                <a:spcPct val="105000"/>
              </a:lnSpc>
              <a:buNone/>
            </a:pPr>
            <a:r>
              <a:rPr lang="en-US" sz="820" dirty="0">
                <a:solidFill>
                  <a:srgbClr val="1B2733"/>
                </a:solidFill>
                <a:latin typeface="Calibri" pitchFamily="34" charset="0"/>
                <a:ea typeface="Calibri" pitchFamily="34" charset="-122"/>
                <a:cs typeface="Calibri" pitchFamily="34" charset="-120"/>
              </a:rPr>
              <a:t>The chair's Lynas background is directly relevant: rare earths is the one other Australian critical-minerals sector that has had to argue provenance and processing to non-Chinese customers.</a:t>
            </a:r>
            <a:endParaRPr lang="en-US" sz="820" dirty="0"/>
          </a:p>
        </p:txBody>
      </p:sp>
      <p:sp>
        <p:nvSpPr>
          <p:cNvPr id="58" name="Shape 56"/>
          <p:cNvSpPr/>
          <p:nvPr/>
        </p:nvSpPr>
        <p:spPr>
          <a:xfrm>
            <a:off x="6208776" y="4059936"/>
            <a:ext cx="5577840" cy="1975104"/>
          </a:xfrm>
          <a:prstGeom prst="rect">
            <a:avLst/>
          </a:prstGeom>
          <a:solidFill>
            <a:srgbClr val="FBEBD9"/>
          </a:solidFill>
          <a:ln w="9525">
            <a:solidFill>
              <a:srgbClr val="E8C9A3"/>
            </a:solidFill>
            <a:prstDash val="solid"/>
          </a:ln>
        </p:spPr>
      </p:sp>
      <p:sp>
        <p:nvSpPr>
          <p:cNvPr id="59" name="Text 57"/>
          <p:cNvSpPr txBox="1"/>
          <p:nvPr/>
        </p:nvSpPr>
        <p:spPr>
          <a:xfrm>
            <a:off x="6373368" y="4187952"/>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What we could not confirm</a:t>
            </a:r>
            <a:endParaRPr lang="en-US" sz="1150" dirty="0"/>
          </a:p>
        </p:txBody>
      </p:sp>
      <p:sp>
        <p:nvSpPr>
          <p:cNvPr id="60" name="Text 58"/>
          <p:cNvSpPr txBox="1"/>
          <p:nvPr/>
        </p:nvSpPr>
        <p:spPr>
          <a:xfrm>
            <a:off x="6373368" y="4517136"/>
            <a:ext cx="5248656" cy="1426464"/>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Multiple sources describe the board as six members - five independent non-executive directors plus the chief executive - but we could positively identify only the five people listed. At least one director's identity could not be confirmed from the sources available to us, and company websites were not reachable from our research environment.</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We also could not verify whether ESG or sustainability metrics carry explicit weightings in short or long-term incentive scorecards. That is a material gap for a shared-value thesis and is listed in the gaps register.</a:t>
            </a:r>
            <a:endParaRPr lang="en-US" sz="900" dirty="0"/>
          </a:p>
        </p:txBody>
      </p:sp>
      <p:sp>
        <p:nvSpPr>
          <p:cNvPr id="61" name="Text 59"/>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Capital Brief; Mining Magazine; Mining Weekly; businessnews.com.au. PLS's own board page and 2025 Corporate Governance Statement were identified but could not be opened from our environment.</a:t>
            </a:r>
            <a:endParaRPr lang="en-US" sz="720" dirty="0"/>
          </a:p>
        </p:txBody>
      </p:sp>
      <p:sp>
        <p:nvSpPr>
          <p:cNvPr id="62" name="Text 60"/>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A11</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Five steps, and PLS is trying to move from the first one into the second. That move is the entire level-one thesis.</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B1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139696" cy="2103120"/>
          </a:xfrm>
          <a:prstGeom prst="rect">
            <a:avLst/>
          </a:prstGeom>
          <a:solidFill>
            <a:srgbClr val="D6EBE7"/>
          </a:solidFill>
          <a:ln w="9525">
            <a:solidFill>
              <a:srgbClr val="AFD3CC"/>
            </a:solidFill>
            <a:prstDash val="solid"/>
          </a:ln>
        </p:spPr>
      </p:sp>
      <p:sp>
        <p:nvSpPr>
          <p:cNvPr id="8" name="Text 6"/>
          <p:cNvSpPr txBox="1"/>
          <p:nvPr/>
        </p:nvSpPr>
        <p:spPr>
          <a:xfrm>
            <a:off x="539496" y="1389888"/>
            <a:ext cx="274320" cy="237744"/>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1</a:t>
            </a:r>
            <a:endParaRPr lang="en-US" sz="1000" dirty="0"/>
          </a:p>
        </p:txBody>
      </p:sp>
      <p:sp>
        <p:nvSpPr>
          <p:cNvPr id="9" name="Text 7"/>
          <p:cNvSpPr txBox="1"/>
          <p:nvPr/>
        </p:nvSpPr>
        <p:spPr>
          <a:xfrm>
            <a:off x="539496" y="1627632"/>
            <a:ext cx="1883664" cy="457200"/>
          </a:xfrm>
          <a:prstGeom prst="rect">
            <a:avLst/>
          </a:prstGeom>
          <a:noFill/>
          <a:ln/>
        </p:spPr>
        <p:txBody>
          <a:bodyPr wrap="square" lIns="0" tIns="0" rIns="0" bIns="0" rtlCol="0" anchor="t"/>
          <a:lstStyle/>
          <a:p>
            <a:pPr indent="0" marL="0">
              <a:buNone/>
            </a:pPr>
            <a:r>
              <a:rPr lang="en-US" sz="1050" b="1" dirty="0">
                <a:solidFill>
                  <a:srgbClr val="10233A"/>
                </a:solidFill>
                <a:latin typeface="Calibri" pitchFamily="34" charset="0"/>
                <a:ea typeface="Calibri" pitchFamily="34" charset="-122"/>
                <a:cs typeface="Calibri" pitchFamily="34" charset="-120"/>
              </a:rPr>
              <a:t>Mine and concentrate</a:t>
            </a:r>
            <a:endParaRPr lang="en-US" sz="1050" dirty="0"/>
          </a:p>
        </p:txBody>
      </p:sp>
      <p:sp>
        <p:nvSpPr>
          <p:cNvPr id="10" name="Text 8"/>
          <p:cNvSpPr txBox="1"/>
          <p:nvPr/>
        </p:nvSpPr>
        <p:spPr>
          <a:xfrm>
            <a:off x="539496" y="2121408"/>
            <a:ext cx="1883664" cy="932688"/>
          </a:xfrm>
          <a:prstGeom prst="rect">
            <a:avLst/>
          </a:prstGeom>
          <a:noFill/>
          <a:ln/>
        </p:spPr>
        <p:txBody>
          <a:bodyPr wrap="square" lIns="0" tIns="0" rIns="0" bIns="0" rtlCol="0" anchor="t"/>
          <a:lstStyle/>
          <a:p>
            <a:pPr indent="0" marL="0">
              <a:lnSpc>
                <a:spcPct val="106000"/>
              </a:lnSpc>
              <a:buNone/>
            </a:pPr>
            <a:r>
              <a:rPr lang="en-US" sz="820" dirty="0">
                <a:solidFill>
                  <a:srgbClr val="1B2733"/>
                </a:solidFill>
                <a:latin typeface="Calibri" pitchFamily="34" charset="0"/>
                <a:ea typeface="Calibri" pitchFamily="34" charset="-122"/>
                <a:cs typeface="Calibri" pitchFamily="34" charset="-120"/>
              </a:rPr>
              <a:t>Hard-rock pegmatite is mined, crushed, sorted and floated into spodumene concentrate at about 5.2-6.0% Li2O.</a:t>
            </a:r>
            <a:endParaRPr lang="en-US" sz="820" dirty="0"/>
          </a:p>
        </p:txBody>
      </p:sp>
      <p:sp>
        <p:nvSpPr>
          <p:cNvPr id="11" name="Text 9"/>
          <p:cNvSpPr txBox="1"/>
          <p:nvPr/>
        </p:nvSpPr>
        <p:spPr>
          <a:xfrm>
            <a:off x="539496" y="3090672"/>
            <a:ext cx="1883664" cy="237744"/>
          </a:xfrm>
          <a:prstGeom prst="rect">
            <a:avLst/>
          </a:prstGeom>
          <a:noFill/>
          <a:ln/>
        </p:spPr>
        <p:txBody>
          <a:bodyPr wrap="square" lIns="0" tIns="0" rIns="0" bIns="0" rtlCol="0" anchor="ctr"/>
          <a:lstStyle/>
          <a:p>
            <a:pPr indent="0" marL="0">
              <a:buNone/>
            </a:pPr>
            <a:r>
              <a:rPr lang="en-US" sz="850" b="1" dirty="0">
                <a:solidFill>
                  <a:srgbClr val="0E7C6B"/>
                </a:solidFill>
                <a:latin typeface="Calibri" pitchFamily="34" charset="0"/>
                <a:ea typeface="Calibri" pitchFamily="34" charset="-122"/>
                <a:cs typeface="Calibri" pitchFamily="34" charset="-120"/>
              </a:rPr>
              <a:t>PLS today</a:t>
            </a:r>
            <a:endParaRPr lang="en-US" sz="850" dirty="0"/>
          </a:p>
        </p:txBody>
      </p:sp>
      <p:sp>
        <p:nvSpPr>
          <p:cNvPr id="12" name="Shape 10"/>
          <p:cNvSpPr/>
          <p:nvPr/>
        </p:nvSpPr>
        <p:spPr>
          <a:xfrm>
            <a:off x="2697480" y="1298448"/>
            <a:ext cx="2139696" cy="2103120"/>
          </a:xfrm>
          <a:prstGeom prst="rect">
            <a:avLst/>
          </a:prstGeom>
          <a:solidFill>
            <a:srgbClr val="D6EBE7"/>
          </a:solidFill>
          <a:ln w="9525">
            <a:solidFill>
              <a:srgbClr val="AFD3CC"/>
            </a:solidFill>
            <a:prstDash val="solid"/>
          </a:ln>
        </p:spPr>
      </p:sp>
      <p:sp>
        <p:nvSpPr>
          <p:cNvPr id="13" name="Text 11"/>
          <p:cNvSpPr txBox="1"/>
          <p:nvPr/>
        </p:nvSpPr>
        <p:spPr>
          <a:xfrm>
            <a:off x="2825496" y="1389888"/>
            <a:ext cx="274320" cy="237744"/>
          </a:xfrm>
          <a:prstGeom prst="rect">
            <a:avLst/>
          </a:prstGeom>
          <a:noFill/>
          <a:ln/>
        </p:spPr>
        <p:txBody>
          <a:bodyPr wrap="square" lIns="0" tIns="0" rIns="0" bIns="0" rtlCol="0" anchor="ctr"/>
          <a:lstStyle/>
          <a:p>
            <a:pPr indent="0" marL="0">
              <a:buNone/>
            </a:pPr>
            <a:r>
              <a:rPr lang="en-US" sz="1000" b="1" dirty="0">
                <a:solidFill>
                  <a:srgbClr val="C2610A"/>
                </a:solidFill>
                <a:latin typeface="Calibri" pitchFamily="34" charset="0"/>
                <a:ea typeface="Calibri" pitchFamily="34" charset="-122"/>
                <a:cs typeface="Calibri" pitchFamily="34" charset="-120"/>
              </a:rPr>
              <a:t>2</a:t>
            </a:r>
            <a:endParaRPr lang="en-US" sz="1000" dirty="0"/>
          </a:p>
        </p:txBody>
      </p:sp>
      <p:sp>
        <p:nvSpPr>
          <p:cNvPr id="14" name="Text 12"/>
          <p:cNvSpPr txBox="1"/>
          <p:nvPr/>
        </p:nvSpPr>
        <p:spPr>
          <a:xfrm>
            <a:off x="2825496" y="1627632"/>
            <a:ext cx="1883664" cy="457200"/>
          </a:xfrm>
          <a:prstGeom prst="rect">
            <a:avLst/>
          </a:prstGeom>
          <a:noFill/>
          <a:ln/>
        </p:spPr>
        <p:txBody>
          <a:bodyPr wrap="square" lIns="0" tIns="0" rIns="0" bIns="0" rtlCol="0" anchor="t"/>
          <a:lstStyle/>
          <a:p>
            <a:pPr indent="0" marL="0">
              <a:buNone/>
            </a:pPr>
            <a:r>
              <a:rPr lang="en-US" sz="1050" b="1" dirty="0">
                <a:solidFill>
                  <a:srgbClr val="10233A"/>
                </a:solidFill>
                <a:latin typeface="Calibri" pitchFamily="34" charset="0"/>
                <a:ea typeface="Calibri" pitchFamily="34" charset="-122"/>
                <a:cs typeface="Calibri" pitchFamily="34" charset="-120"/>
              </a:rPr>
              <a:t>Calcine and convert</a:t>
            </a:r>
            <a:endParaRPr lang="en-US" sz="1050" dirty="0"/>
          </a:p>
        </p:txBody>
      </p:sp>
      <p:sp>
        <p:nvSpPr>
          <p:cNvPr id="15" name="Text 13"/>
          <p:cNvSpPr txBox="1"/>
          <p:nvPr/>
        </p:nvSpPr>
        <p:spPr>
          <a:xfrm>
            <a:off x="2825496" y="2121408"/>
            <a:ext cx="1883664" cy="932688"/>
          </a:xfrm>
          <a:prstGeom prst="rect">
            <a:avLst/>
          </a:prstGeom>
          <a:noFill/>
          <a:ln/>
        </p:spPr>
        <p:txBody>
          <a:bodyPr wrap="square" lIns="0" tIns="0" rIns="0" bIns="0" rtlCol="0" anchor="t"/>
          <a:lstStyle/>
          <a:p>
            <a:pPr indent="0" marL="0">
              <a:lnSpc>
                <a:spcPct val="106000"/>
              </a:lnSpc>
              <a:buNone/>
            </a:pPr>
            <a:r>
              <a:rPr lang="en-US" sz="820" dirty="0">
                <a:solidFill>
                  <a:srgbClr val="1B2733"/>
                </a:solidFill>
                <a:latin typeface="Calibri" pitchFamily="34" charset="0"/>
                <a:ea typeface="Calibri" pitchFamily="34" charset="-122"/>
                <a:cs typeface="Calibri" pitchFamily="34" charset="-120"/>
              </a:rPr>
              <a:t>Concentrate is calcined at high temperature, then leached into lithium carbonate or hydroxide. Most of this happens in China.</a:t>
            </a:r>
            <a:endParaRPr lang="en-US" sz="820" dirty="0"/>
          </a:p>
        </p:txBody>
      </p:sp>
      <p:sp>
        <p:nvSpPr>
          <p:cNvPr id="16" name="Text 14"/>
          <p:cNvSpPr txBox="1"/>
          <p:nvPr/>
        </p:nvSpPr>
        <p:spPr>
          <a:xfrm>
            <a:off x="2825496" y="3090672"/>
            <a:ext cx="1883664" cy="237744"/>
          </a:xfrm>
          <a:prstGeom prst="rect">
            <a:avLst/>
          </a:prstGeom>
          <a:noFill/>
          <a:ln/>
        </p:spPr>
        <p:txBody>
          <a:bodyPr wrap="square" lIns="0" tIns="0" rIns="0" bIns="0" rtlCol="0" anchor="ctr"/>
          <a:lstStyle/>
          <a:p>
            <a:pPr indent="0" marL="0">
              <a:buNone/>
            </a:pPr>
            <a:r>
              <a:rPr lang="en-US" sz="850" b="1" dirty="0">
                <a:solidFill>
                  <a:srgbClr val="C2610A"/>
                </a:solidFill>
                <a:latin typeface="Calibri" pitchFamily="34" charset="0"/>
                <a:ea typeface="Calibri" pitchFamily="34" charset="-122"/>
                <a:cs typeface="Calibri" pitchFamily="34" charset="-120"/>
              </a:rPr>
              <a:t>PLS is entering</a:t>
            </a:r>
            <a:endParaRPr lang="en-US" sz="850" dirty="0"/>
          </a:p>
        </p:txBody>
      </p:sp>
      <p:sp>
        <p:nvSpPr>
          <p:cNvPr id="17" name="Shape 15"/>
          <p:cNvSpPr/>
          <p:nvPr/>
        </p:nvSpPr>
        <p:spPr>
          <a:xfrm>
            <a:off x="4983480" y="1298448"/>
            <a:ext cx="2139696" cy="2103120"/>
          </a:xfrm>
          <a:prstGeom prst="rect">
            <a:avLst/>
          </a:prstGeom>
          <a:solidFill>
            <a:srgbClr val="F7F9FB"/>
          </a:solidFill>
          <a:ln w="9525">
            <a:solidFill>
              <a:srgbClr val="D3DCE5"/>
            </a:solidFill>
            <a:prstDash val="solid"/>
          </a:ln>
        </p:spPr>
      </p:sp>
      <p:sp>
        <p:nvSpPr>
          <p:cNvPr id="18" name="Text 16"/>
          <p:cNvSpPr txBox="1"/>
          <p:nvPr/>
        </p:nvSpPr>
        <p:spPr>
          <a:xfrm>
            <a:off x="5111496" y="1389888"/>
            <a:ext cx="274320" cy="237744"/>
          </a:xfrm>
          <a:prstGeom prst="rect">
            <a:avLst/>
          </a:prstGeom>
          <a:noFill/>
          <a:ln/>
        </p:spPr>
        <p:txBody>
          <a:bodyPr wrap="square" lIns="0" tIns="0" rIns="0" bIns="0" rtlCol="0" anchor="ctr"/>
          <a:lstStyle/>
          <a:p>
            <a:pPr indent="0" marL="0">
              <a:buNone/>
            </a:pPr>
            <a:r>
              <a:rPr lang="en-US" sz="1000" b="1" dirty="0">
                <a:solidFill>
                  <a:srgbClr val="8C9BA9"/>
                </a:solidFill>
                <a:latin typeface="Calibri" pitchFamily="34" charset="0"/>
                <a:ea typeface="Calibri" pitchFamily="34" charset="-122"/>
                <a:cs typeface="Calibri" pitchFamily="34" charset="-120"/>
              </a:rPr>
              <a:t>3</a:t>
            </a:r>
            <a:endParaRPr lang="en-US" sz="1000" dirty="0"/>
          </a:p>
        </p:txBody>
      </p:sp>
      <p:sp>
        <p:nvSpPr>
          <p:cNvPr id="19" name="Text 17"/>
          <p:cNvSpPr txBox="1"/>
          <p:nvPr/>
        </p:nvSpPr>
        <p:spPr>
          <a:xfrm>
            <a:off x="5111496" y="1627632"/>
            <a:ext cx="1883664" cy="457200"/>
          </a:xfrm>
          <a:prstGeom prst="rect">
            <a:avLst/>
          </a:prstGeom>
          <a:noFill/>
          <a:ln/>
        </p:spPr>
        <p:txBody>
          <a:bodyPr wrap="square" lIns="0" tIns="0" rIns="0" bIns="0" rtlCol="0" anchor="t"/>
          <a:lstStyle/>
          <a:p>
            <a:pPr indent="0" marL="0">
              <a:buNone/>
            </a:pPr>
            <a:r>
              <a:rPr lang="en-US" sz="1050" b="1" dirty="0">
                <a:solidFill>
                  <a:srgbClr val="10233A"/>
                </a:solidFill>
                <a:latin typeface="Calibri" pitchFamily="34" charset="0"/>
                <a:ea typeface="Calibri" pitchFamily="34" charset="-122"/>
                <a:cs typeface="Calibri" pitchFamily="34" charset="-120"/>
              </a:rPr>
              <a:t>Cathode active material</a:t>
            </a:r>
            <a:endParaRPr lang="en-US" sz="1050" dirty="0"/>
          </a:p>
        </p:txBody>
      </p:sp>
      <p:sp>
        <p:nvSpPr>
          <p:cNvPr id="20" name="Text 18"/>
          <p:cNvSpPr txBox="1"/>
          <p:nvPr/>
        </p:nvSpPr>
        <p:spPr>
          <a:xfrm>
            <a:off x="5111496" y="2121408"/>
            <a:ext cx="1883664" cy="932688"/>
          </a:xfrm>
          <a:prstGeom prst="rect">
            <a:avLst/>
          </a:prstGeom>
          <a:noFill/>
          <a:ln/>
        </p:spPr>
        <p:txBody>
          <a:bodyPr wrap="square" lIns="0" tIns="0" rIns="0" bIns="0" rtlCol="0" anchor="t"/>
          <a:lstStyle/>
          <a:p>
            <a:pPr indent="0" marL="0">
              <a:lnSpc>
                <a:spcPct val="106000"/>
              </a:lnSpc>
              <a:buNone/>
            </a:pPr>
            <a:r>
              <a:rPr lang="en-US" sz="820" dirty="0">
                <a:solidFill>
                  <a:srgbClr val="1B2733"/>
                </a:solidFill>
                <a:latin typeface="Calibri" pitchFamily="34" charset="0"/>
                <a:ea typeface="Calibri" pitchFamily="34" charset="-122"/>
                <a:cs typeface="Calibri" pitchFamily="34" charset="-120"/>
              </a:rPr>
              <a:t>Carbonate or hydroxide becomes cathode powder - LFP, NMC or others.</a:t>
            </a:r>
            <a:endParaRPr lang="en-US" sz="820" dirty="0"/>
          </a:p>
        </p:txBody>
      </p:sp>
      <p:sp>
        <p:nvSpPr>
          <p:cNvPr id="21" name="Text 19"/>
          <p:cNvSpPr txBox="1"/>
          <p:nvPr/>
        </p:nvSpPr>
        <p:spPr>
          <a:xfrm>
            <a:off x="5111496" y="3090672"/>
            <a:ext cx="1883664" cy="237744"/>
          </a:xfrm>
          <a:prstGeom prst="rect">
            <a:avLst/>
          </a:prstGeom>
          <a:noFill/>
          <a:ln/>
        </p:spPr>
        <p:txBody>
          <a:bodyPr wrap="square" lIns="0" tIns="0" rIns="0" bIns="0" rtlCol="0" anchor="ctr"/>
          <a:lstStyle/>
          <a:p>
            <a:pPr indent="0" marL="0">
              <a:buNone/>
            </a:pPr>
            <a:r>
              <a:rPr lang="en-US" sz="850" b="1" dirty="0">
                <a:solidFill>
                  <a:srgbClr val="8C9BA9"/>
                </a:solidFill>
                <a:latin typeface="Calibri" pitchFamily="34" charset="0"/>
                <a:ea typeface="Calibri" pitchFamily="34" charset="-122"/>
                <a:cs typeface="Calibri" pitchFamily="34" charset="-120"/>
              </a:rPr>
              <a:t>Not PLS</a:t>
            </a:r>
            <a:endParaRPr lang="en-US" sz="850" dirty="0"/>
          </a:p>
        </p:txBody>
      </p:sp>
      <p:sp>
        <p:nvSpPr>
          <p:cNvPr id="22" name="Shape 20"/>
          <p:cNvSpPr/>
          <p:nvPr/>
        </p:nvSpPr>
        <p:spPr>
          <a:xfrm>
            <a:off x="7269480" y="1298448"/>
            <a:ext cx="2139696" cy="2103120"/>
          </a:xfrm>
          <a:prstGeom prst="rect">
            <a:avLst/>
          </a:prstGeom>
          <a:solidFill>
            <a:srgbClr val="F7F9FB"/>
          </a:solidFill>
          <a:ln w="9525">
            <a:solidFill>
              <a:srgbClr val="D3DCE5"/>
            </a:solidFill>
            <a:prstDash val="solid"/>
          </a:ln>
        </p:spPr>
      </p:sp>
      <p:sp>
        <p:nvSpPr>
          <p:cNvPr id="23" name="Text 21"/>
          <p:cNvSpPr txBox="1"/>
          <p:nvPr/>
        </p:nvSpPr>
        <p:spPr>
          <a:xfrm>
            <a:off x="7397496" y="1389888"/>
            <a:ext cx="274320" cy="237744"/>
          </a:xfrm>
          <a:prstGeom prst="rect">
            <a:avLst/>
          </a:prstGeom>
          <a:noFill/>
          <a:ln/>
        </p:spPr>
        <p:txBody>
          <a:bodyPr wrap="square" lIns="0" tIns="0" rIns="0" bIns="0" rtlCol="0" anchor="ctr"/>
          <a:lstStyle/>
          <a:p>
            <a:pPr indent="0" marL="0">
              <a:buNone/>
            </a:pPr>
            <a:r>
              <a:rPr lang="en-US" sz="1000" b="1" dirty="0">
                <a:solidFill>
                  <a:srgbClr val="8C9BA9"/>
                </a:solidFill>
                <a:latin typeface="Calibri" pitchFamily="34" charset="0"/>
                <a:ea typeface="Calibri" pitchFamily="34" charset="-122"/>
                <a:cs typeface="Calibri" pitchFamily="34" charset="-120"/>
              </a:rPr>
              <a:t>4</a:t>
            </a:r>
            <a:endParaRPr lang="en-US" sz="1000" dirty="0"/>
          </a:p>
        </p:txBody>
      </p:sp>
      <p:sp>
        <p:nvSpPr>
          <p:cNvPr id="24" name="Text 22"/>
          <p:cNvSpPr txBox="1"/>
          <p:nvPr/>
        </p:nvSpPr>
        <p:spPr>
          <a:xfrm>
            <a:off x="7397496" y="1627632"/>
            <a:ext cx="1883664" cy="457200"/>
          </a:xfrm>
          <a:prstGeom prst="rect">
            <a:avLst/>
          </a:prstGeom>
          <a:noFill/>
          <a:ln/>
        </p:spPr>
        <p:txBody>
          <a:bodyPr wrap="square" lIns="0" tIns="0" rIns="0" bIns="0" rtlCol="0" anchor="t"/>
          <a:lstStyle/>
          <a:p>
            <a:pPr indent="0" marL="0">
              <a:buNone/>
            </a:pPr>
            <a:r>
              <a:rPr lang="en-US" sz="1050" b="1" dirty="0">
                <a:solidFill>
                  <a:srgbClr val="10233A"/>
                </a:solidFill>
                <a:latin typeface="Calibri" pitchFamily="34" charset="0"/>
                <a:ea typeface="Calibri" pitchFamily="34" charset="-122"/>
                <a:cs typeface="Calibri" pitchFamily="34" charset="-120"/>
              </a:rPr>
              <a:t>Cell and pack</a:t>
            </a:r>
            <a:endParaRPr lang="en-US" sz="1050" dirty="0"/>
          </a:p>
        </p:txBody>
      </p:sp>
      <p:sp>
        <p:nvSpPr>
          <p:cNvPr id="25" name="Text 23"/>
          <p:cNvSpPr txBox="1"/>
          <p:nvPr/>
        </p:nvSpPr>
        <p:spPr>
          <a:xfrm>
            <a:off x="7397496" y="2121408"/>
            <a:ext cx="1883664" cy="932688"/>
          </a:xfrm>
          <a:prstGeom prst="rect">
            <a:avLst/>
          </a:prstGeom>
          <a:noFill/>
          <a:ln/>
        </p:spPr>
        <p:txBody>
          <a:bodyPr wrap="square" lIns="0" tIns="0" rIns="0" bIns="0" rtlCol="0" anchor="t"/>
          <a:lstStyle/>
          <a:p>
            <a:pPr indent="0" marL="0">
              <a:lnSpc>
                <a:spcPct val="106000"/>
              </a:lnSpc>
              <a:buNone/>
            </a:pPr>
            <a:r>
              <a:rPr lang="en-US" sz="820" dirty="0">
                <a:solidFill>
                  <a:srgbClr val="1B2733"/>
                </a:solidFill>
                <a:latin typeface="Calibri" pitchFamily="34" charset="0"/>
                <a:ea typeface="Calibri" pitchFamily="34" charset="-122"/>
                <a:cs typeface="Calibri" pitchFamily="34" charset="-120"/>
              </a:rPr>
              <a:t>Cathode, anode, electrolyte and separator become a cell, then a module and a pack.</a:t>
            </a:r>
            <a:endParaRPr lang="en-US" sz="820" dirty="0"/>
          </a:p>
        </p:txBody>
      </p:sp>
      <p:sp>
        <p:nvSpPr>
          <p:cNvPr id="26" name="Text 24"/>
          <p:cNvSpPr txBox="1"/>
          <p:nvPr/>
        </p:nvSpPr>
        <p:spPr>
          <a:xfrm>
            <a:off x="7397496" y="3090672"/>
            <a:ext cx="1883664" cy="237744"/>
          </a:xfrm>
          <a:prstGeom prst="rect">
            <a:avLst/>
          </a:prstGeom>
          <a:noFill/>
          <a:ln/>
        </p:spPr>
        <p:txBody>
          <a:bodyPr wrap="square" lIns="0" tIns="0" rIns="0" bIns="0" rtlCol="0" anchor="ctr"/>
          <a:lstStyle/>
          <a:p>
            <a:pPr indent="0" marL="0">
              <a:buNone/>
            </a:pPr>
            <a:r>
              <a:rPr lang="en-US" sz="850" b="1" dirty="0">
                <a:solidFill>
                  <a:srgbClr val="8C9BA9"/>
                </a:solidFill>
                <a:latin typeface="Calibri" pitchFamily="34" charset="0"/>
                <a:ea typeface="Calibri" pitchFamily="34" charset="-122"/>
                <a:cs typeface="Calibri" pitchFamily="34" charset="-120"/>
              </a:rPr>
              <a:t>Not PLS</a:t>
            </a:r>
            <a:endParaRPr lang="en-US" sz="850" dirty="0"/>
          </a:p>
        </p:txBody>
      </p:sp>
      <p:sp>
        <p:nvSpPr>
          <p:cNvPr id="27" name="Shape 25"/>
          <p:cNvSpPr/>
          <p:nvPr/>
        </p:nvSpPr>
        <p:spPr>
          <a:xfrm>
            <a:off x="9555480" y="1298448"/>
            <a:ext cx="2139696" cy="2103120"/>
          </a:xfrm>
          <a:prstGeom prst="rect">
            <a:avLst/>
          </a:prstGeom>
          <a:solidFill>
            <a:srgbClr val="F7F9FB"/>
          </a:solidFill>
          <a:ln w="9525">
            <a:solidFill>
              <a:srgbClr val="D3DCE5"/>
            </a:solidFill>
            <a:prstDash val="solid"/>
          </a:ln>
        </p:spPr>
      </p:sp>
      <p:sp>
        <p:nvSpPr>
          <p:cNvPr id="28" name="Text 26"/>
          <p:cNvSpPr txBox="1"/>
          <p:nvPr/>
        </p:nvSpPr>
        <p:spPr>
          <a:xfrm>
            <a:off x="9683496" y="1389888"/>
            <a:ext cx="274320" cy="237744"/>
          </a:xfrm>
          <a:prstGeom prst="rect">
            <a:avLst/>
          </a:prstGeom>
          <a:noFill/>
          <a:ln/>
        </p:spPr>
        <p:txBody>
          <a:bodyPr wrap="square" lIns="0" tIns="0" rIns="0" bIns="0" rtlCol="0" anchor="ctr"/>
          <a:lstStyle/>
          <a:p>
            <a:pPr indent="0" marL="0">
              <a:buNone/>
            </a:pPr>
            <a:r>
              <a:rPr lang="en-US" sz="1000" b="1" dirty="0">
                <a:solidFill>
                  <a:srgbClr val="1C3A5E"/>
                </a:solidFill>
                <a:latin typeface="Calibri" pitchFamily="34" charset="0"/>
                <a:ea typeface="Calibri" pitchFamily="34" charset="-122"/>
                <a:cs typeface="Calibri" pitchFamily="34" charset="-120"/>
              </a:rPr>
              <a:t>5</a:t>
            </a:r>
            <a:endParaRPr lang="en-US" sz="1000" dirty="0"/>
          </a:p>
        </p:txBody>
      </p:sp>
      <p:sp>
        <p:nvSpPr>
          <p:cNvPr id="29" name="Text 27"/>
          <p:cNvSpPr txBox="1"/>
          <p:nvPr/>
        </p:nvSpPr>
        <p:spPr>
          <a:xfrm>
            <a:off x="9683496" y="1627632"/>
            <a:ext cx="1883664" cy="457200"/>
          </a:xfrm>
          <a:prstGeom prst="rect">
            <a:avLst/>
          </a:prstGeom>
          <a:noFill/>
          <a:ln/>
        </p:spPr>
        <p:txBody>
          <a:bodyPr wrap="square" lIns="0" tIns="0" rIns="0" bIns="0" rtlCol="0" anchor="t"/>
          <a:lstStyle/>
          <a:p>
            <a:pPr indent="0" marL="0">
              <a:buNone/>
            </a:pPr>
            <a:r>
              <a:rPr lang="en-US" sz="1050" b="1" dirty="0">
                <a:solidFill>
                  <a:srgbClr val="10233A"/>
                </a:solidFill>
                <a:latin typeface="Calibri" pitchFamily="34" charset="0"/>
                <a:ea typeface="Calibri" pitchFamily="34" charset="-122"/>
                <a:cs typeface="Calibri" pitchFamily="34" charset="-120"/>
              </a:rPr>
              <a:t>Vehicle or grid storage</a:t>
            </a:r>
            <a:endParaRPr lang="en-US" sz="1050" dirty="0"/>
          </a:p>
        </p:txBody>
      </p:sp>
      <p:sp>
        <p:nvSpPr>
          <p:cNvPr id="30" name="Text 28"/>
          <p:cNvSpPr txBox="1"/>
          <p:nvPr/>
        </p:nvSpPr>
        <p:spPr>
          <a:xfrm>
            <a:off x="9683496" y="2121408"/>
            <a:ext cx="1883664" cy="932688"/>
          </a:xfrm>
          <a:prstGeom prst="rect">
            <a:avLst/>
          </a:prstGeom>
          <a:noFill/>
          <a:ln/>
        </p:spPr>
        <p:txBody>
          <a:bodyPr wrap="square" lIns="0" tIns="0" rIns="0" bIns="0" rtlCol="0" anchor="t"/>
          <a:lstStyle/>
          <a:p>
            <a:pPr indent="0" marL="0">
              <a:lnSpc>
                <a:spcPct val="106000"/>
              </a:lnSpc>
              <a:buNone/>
            </a:pPr>
            <a:r>
              <a:rPr lang="en-US" sz="820" dirty="0">
                <a:solidFill>
                  <a:srgbClr val="1B2733"/>
                </a:solidFill>
                <a:latin typeface="Calibri" pitchFamily="34" charset="0"/>
                <a:ea typeface="Calibri" pitchFamily="34" charset="-122"/>
                <a:cs typeface="Calibri" pitchFamily="34" charset="-120"/>
              </a:rPr>
              <a:t>The pack goes into an electric vehicle or a grid-scale storage system.</a:t>
            </a:r>
            <a:endParaRPr lang="en-US" sz="820" dirty="0"/>
          </a:p>
        </p:txBody>
      </p:sp>
      <p:sp>
        <p:nvSpPr>
          <p:cNvPr id="31" name="Text 29"/>
          <p:cNvSpPr txBox="1"/>
          <p:nvPr/>
        </p:nvSpPr>
        <p:spPr>
          <a:xfrm>
            <a:off x="9683496" y="3090672"/>
            <a:ext cx="1883664" cy="237744"/>
          </a:xfrm>
          <a:prstGeom prst="rect">
            <a:avLst/>
          </a:prstGeom>
          <a:noFill/>
          <a:ln/>
        </p:spPr>
        <p:txBody>
          <a:bodyPr wrap="square" lIns="0" tIns="0" rIns="0" bIns="0" rtlCol="0" anchor="ctr"/>
          <a:lstStyle/>
          <a:p>
            <a:pPr indent="0" marL="0">
              <a:buNone/>
            </a:pPr>
            <a:r>
              <a:rPr lang="en-US" sz="850" b="1" dirty="0">
                <a:solidFill>
                  <a:srgbClr val="1C3A5E"/>
                </a:solidFill>
                <a:latin typeface="Calibri" pitchFamily="34" charset="0"/>
                <a:ea typeface="Calibri" pitchFamily="34" charset="-122"/>
                <a:cs typeface="Calibri" pitchFamily="34" charset="-120"/>
              </a:rPr>
              <a:t>The demand driver</a:t>
            </a:r>
            <a:endParaRPr lang="en-US" sz="850" dirty="0"/>
          </a:p>
        </p:txBody>
      </p:sp>
      <p:sp>
        <p:nvSpPr>
          <p:cNvPr id="32" name="Shape 30"/>
          <p:cNvSpPr/>
          <p:nvPr/>
        </p:nvSpPr>
        <p:spPr>
          <a:xfrm>
            <a:off x="411480" y="3566160"/>
            <a:ext cx="11375136" cy="1554480"/>
          </a:xfrm>
          <a:prstGeom prst="rect">
            <a:avLst/>
          </a:prstGeom>
          <a:solidFill>
            <a:srgbClr val="EEF2F6"/>
          </a:solidFill>
          <a:ln w="9525">
            <a:solidFill>
              <a:srgbClr val="D3DCE5"/>
            </a:solidFill>
            <a:prstDash val="solid"/>
          </a:ln>
        </p:spPr>
      </p:sp>
      <p:sp>
        <p:nvSpPr>
          <p:cNvPr id="33" name="Text 31"/>
          <p:cNvSpPr txBox="1"/>
          <p:nvPr/>
        </p:nvSpPr>
        <p:spPr>
          <a:xfrm>
            <a:off x="576072" y="3694176"/>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Where the value sits, and why step two is the one that matters</a:t>
            </a:r>
            <a:endParaRPr lang="en-US" sz="1150" dirty="0"/>
          </a:p>
        </p:txBody>
      </p:sp>
      <p:sp>
        <p:nvSpPr>
          <p:cNvPr id="34" name="Text 32"/>
          <p:cNvSpPr txBox="1"/>
          <p:nvPr/>
        </p:nvSpPr>
        <p:spPr>
          <a:xfrm>
            <a:off x="576072" y="4023360"/>
            <a:ext cx="11045952" cy="1005840"/>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A tonne of spodumene concentrate at US$1,750 contains roughly 0.13 tonnes of lithium carbonate equivalent. At US$18,000 per tonne of carbonate, that same lithium is worth about US$2,340 once converted - and conversion costs perhaps US$2,000-3,000 per tonne of carbonate. The spread is real but not enormous, and it is captured almost entirely outside Australia.</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The reason step two matters is not the margin. It is that calcination is where most of the embedded carbon in a battery's lithium enters the chain. Whoever controls calcination controls the carbon footprint that gets declared under the EU Battery Regulation. PLS is not entering conversion to capture a spread; it is entering to control a number that is about to become a condition of sale.</a:t>
            </a:r>
            <a:endParaRPr lang="en-US" sz="900" dirty="0"/>
          </a:p>
        </p:txBody>
      </p:sp>
      <p:sp>
        <p:nvSpPr>
          <p:cNvPr id="35" name="Text 33"/>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industry conversion ratios (roughly 7.5 tonnes of SC6 per tonne of LCE); Benchmark Mineral Intelligence price assessments; EU Regulation 2023/1542. Conversion cost is an indicative industry range, not a PLS disclosure.</a:t>
            </a:r>
            <a:endParaRPr lang="en-US" sz="720" dirty="0"/>
          </a:p>
        </p:txBody>
      </p:sp>
      <p:sp>
        <p:nvSpPr>
          <p:cNvPr id="36" name="Text 34"/>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B1</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Spodumene went from about US$8,000/t at the 2022 peak to roughly US$600-750/t in 2025, and back to about US$2,038-2,200/t by August 2026.</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B2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graphicFrame>
        <p:nvGraphicFramePr>
          <p:cNvPr id="7" name="Chart 0" descr=""/>
          <p:cNvGraphicFramePr/>
          <p:nvPr/>
        </p:nvGraphicFramePr>
        <p:xfrm>
          <a:off x="411480" y="1298448"/>
          <a:ext cx="6903720" cy="331012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525512" y="1298448"/>
            <a:ext cx="2331720" cy="292608"/>
          </a:xfrm>
          <a:prstGeom prst="rect">
            <a:avLst/>
          </a:prstGeom>
          <a:solidFill>
            <a:srgbClr val="10233A"/>
          </a:solidFill>
          <a:ln/>
        </p:spPr>
      </p:sp>
      <p:sp>
        <p:nvSpPr>
          <p:cNvPr id="9" name="Text 6"/>
          <p:cNvSpPr txBox="1"/>
          <p:nvPr/>
        </p:nvSpPr>
        <p:spPr>
          <a:xfrm>
            <a:off x="7589520" y="1298448"/>
            <a:ext cx="22037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Benchmark</a:t>
            </a:r>
            <a:endParaRPr lang="en-US" sz="900" dirty="0"/>
          </a:p>
        </p:txBody>
      </p:sp>
      <p:sp>
        <p:nvSpPr>
          <p:cNvPr id="10" name="Shape 7"/>
          <p:cNvSpPr/>
          <p:nvPr/>
        </p:nvSpPr>
        <p:spPr>
          <a:xfrm>
            <a:off x="9857232" y="1298448"/>
            <a:ext cx="1929384" cy="292608"/>
          </a:xfrm>
          <a:prstGeom prst="rect">
            <a:avLst/>
          </a:prstGeom>
          <a:solidFill>
            <a:srgbClr val="10233A"/>
          </a:solidFill>
          <a:ln/>
        </p:spPr>
      </p:sp>
      <p:sp>
        <p:nvSpPr>
          <p:cNvPr id="11" name="Text 8"/>
          <p:cNvSpPr txBox="1"/>
          <p:nvPr/>
        </p:nvSpPr>
        <p:spPr>
          <a:xfrm>
            <a:off x="9921240" y="1298448"/>
            <a:ext cx="1801368"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Level</a:t>
            </a:r>
            <a:endParaRPr lang="en-US" sz="900" dirty="0"/>
          </a:p>
        </p:txBody>
      </p:sp>
      <p:sp>
        <p:nvSpPr>
          <p:cNvPr id="12" name="Shape 9"/>
          <p:cNvSpPr/>
          <p:nvPr/>
        </p:nvSpPr>
        <p:spPr>
          <a:xfrm>
            <a:off x="7525512" y="1591056"/>
            <a:ext cx="2331720" cy="365760"/>
          </a:xfrm>
          <a:prstGeom prst="rect">
            <a:avLst/>
          </a:prstGeom>
          <a:solidFill>
            <a:srgbClr val="FFFFFF"/>
          </a:solidFill>
          <a:ln w="6350">
            <a:solidFill>
              <a:srgbClr val="D3DCE5"/>
            </a:solidFill>
            <a:prstDash val="solid"/>
          </a:ln>
        </p:spPr>
      </p:sp>
      <p:sp>
        <p:nvSpPr>
          <p:cNvPr id="13" name="Text 10"/>
          <p:cNvSpPr txBox="1"/>
          <p:nvPr/>
        </p:nvSpPr>
        <p:spPr>
          <a:xfrm>
            <a:off x="7589520" y="1591056"/>
            <a:ext cx="220370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Spodumene SC6, 2022 peak</a:t>
            </a:r>
            <a:endParaRPr lang="en-US" sz="850" dirty="0"/>
          </a:p>
        </p:txBody>
      </p:sp>
      <p:sp>
        <p:nvSpPr>
          <p:cNvPr id="14" name="Shape 11"/>
          <p:cNvSpPr/>
          <p:nvPr/>
        </p:nvSpPr>
        <p:spPr>
          <a:xfrm>
            <a:off x="9857232" y="1591056"/>
            <a:ext cx="1929384" cy="365760"/>
          </a:xfrm>
          <a:prstGeom prst="rect">
            <a:avLst/>
          </a:prstGeom>
          <a:solidFill>
            <a:srgbClr val="FFFFFF"/>
          </a:solidFill>
          <a:ln w="6350">
            <a:solidFill>
              <a:srgbClr val="D3DCE5"/>
            </a:solidFill>
            <a:prstDash val="solid"/>
          </a:ln>
        </p:spPr>
      </p:sp>
      <p:sp>
        <p:nvSpPr>
          <p:cNvPr id="15" name="Text 12"/>
          <p:cNvSpPr txBox="1"/>
          <p:nvPr/>
        </p:nvSpPr>
        <p:spPr>
          <a:xfrm>
            <a:off x="9921240" y="1591056"/>
            <a:ext cx="1801368" cy="365760"/>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~US$8,000/t</a:t>
            </a:r>
            <a:endParaRPr lang="en-US" sz="850" dirty="0"/>
          </a:p>
        </p:txBody>
      </p:sp>
      <p:sp>
        <p:nvSpPr>
          <p:cNvPr id="16" name="Shape 13"/>
          <p:cNvSpPr/>
          <p:nvPr/>
        </p:nvSpPr>
        <p:spPr>
          <a:xfrm>
            <a:off x="7525512" y="1956816"/>
            <a:ext cx="2331720" cy="365760"/>
          </a:xfrm>
          <a:prstGeom prst="rect">
            <a:avLst/>
          </a:prstGeom>
          <a:solidFill>
            <a:srgbClr val="F7F9FB"/>
          </a:solidFill>
          <a:ln w="6350">
            <a:solidFill>
              <a:srgbClr val="D3DCE5"/>
            </a:solidFill>
            <a:prstDash val="solid"/>
          </a:ln>
        </p:spPr>
      </p:sp>
      <p:sp>
        <p:nvSpPr>
          <p:cNvPr id="17" name="Text 14"/>
          <p:cNvSpPr txBox="1"/>
          <p:nvPr/>
        </p:nvSpPr>
        <p:spPr>
          <a:xfrm>
            <a:off x="7589520" y="1956816"/>
            <a:ext cx="220370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Spodumene SC6, 2025 trough</a:t>
            </a:r>
            <a:endParaRPr lang="en-US" sz="850" dirty="0"/>
          </a:p>
        </p:txBody>
      </p:sp>
      <p:sp>
        <p:nvSpPr>
          <p:cNvPr id="18" name="Shape 15"/>
          <p:cNvSpPr/>
          <p:nvPr/>
        </p:nvSpPr>
        <p:spPr>
          <a:xfrm>
            <a:off x="9857232" y="1956816"/>
            <a:ext cx="1929384" cy="365760"/>
          </a:xfrm>
          <a:prstGeom prst="rect">
            <a:avLst/>
          </a:prstGeom>
          <a:solidFill>
            <a:srgbClr val="F7F9FB"/>
          </a:solidFill>
          <a:ln w="6350">
            <a:solidFill>
              <a:srgbClr val="D3DCE5"/>
            </a:solidFill>
            <a:prstDash val="solid"/>
          </a:ln>
        </p:spPr>
      </p:sp>
      <p:sp>
        <p:nvSpPr>
          <p:cNvPr id="19" name="Text 16"/>
          <p:cNvSpPr txBox="1"/>
          <p:nvPr/>
        </p:nvSpPr>
        <p:spPr>
          <a:xfrm>
            <a:off x="9921240" y="1956816"/>
            <a:ext cx="1801368" cy="365760"/>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US$600-750/t</a:t>
            </a:r>
            <a:endParaRPr lang="en-US" sz="850" dirty="0"/>
          </a:p>
        </p:txBody>
      </p:sp>
      <p:sp>
        <p:nvSpPr>
          <p:cNvPr id="20" name="Shape 17"/>
          <p:cNvSpPr/>
          <p:nvPr/>
        </p:nvSpPr>
        <p:spPr>
          <a:xfrm>
            <a:off x="7525512" y="2322576"/>
            <a:ext cx="2331720" cy="365760"/>
          </a:xfrm>
          <a:prstGeom prst="rect">
            <a:avLst/>
          </a:prstGeom>
          <a:solidFill>
            <a:srgbClr val="FFFFFF"/>
          </a:solidFill>
          <a:ln w="6350">
            <a:solidFill>
              <a:srgbClr val="D3DCE5"/>
            </a:solidFill>
            <a:prstDash val="solid"/>
          </a:ln>
        </p:spPr>
      </p:sp>
      <p:sp>
        <p:nvSpPr>
          <p:cNvPr id="21" name="Text 18"/>
          <p:cNvSpPr txBox="1"/>
          <p:nvPr/>
        </p:nvSpPr>
        <p:spPr>
          <a:xfrm>
            <a:off x="7589520" y="2322576"/>
            <a:ext cx="220370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Spodumene SC6 FOB Australia, 12-Aug-26</a:t>
            </a:r>
            <a:endParaRPr lang="en-US" sz="850" dirty="0"/>
          </a:p>
        </p:txBody>
      </p:sp>
      <p:sp>
        <p:nvSpPr>
          <p:cNvPr id="22" name="Shape 19"/>
          <p:cNvSpPr/>
          <p:nvPr/>
        </p:nvSpPr>
        <p:spPr>
          <a:xfrm>
            <a:off x="9857232" y="2322576"/>
            <a:ext cx="1929384" cy="365760"/>
          </a:xfrm>
          <a:prstGeom prst="rect">
            <a:avLst/>
          </a:prstGeom>
          <a:solidFill>
            <a:srgbClr val="FFFFFF"/>
          </a:solidFill>
          <a:ln w="6350">
            <a:solidFill>
              <a:srgbClr val="D3DCE5"/>
            </a:solidFill>
            <a:prstDash val="solid"/>
          </a:ln>
        </p:spPr>
      </p:sp>
      <p:sp>
        <p:nvSpPr>
          <p:cNvPr id="23" name="Text 20"/>
          <p:cNvSpPr txBox="1"/>
          <p:nvPr/>
        </p:nvSpPr>
        <p:spPr>
          <a:xfrm>
            <a:off x="9921240" y="2322576"/>
            <a:ext cx="1801368" cy="365760"/>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US$2,038/t</a:t>
            </a:r>
            <a:endParaRPr lang="en-US" sz="850" dirty="0"/>
          </a:p>
        </p:txBody>
      </p:sp>
      <p:sp>
        <p:nvSpPr>
          <p:cNvPr id="24" name="Shape 21"/>
          <p:cNvSpPr/>
          <p:nvPr/>
        </p:nvSpPr>
        <p:spPr>
          <a:xfrm>
            <a:off x="7525512" y="2688336"/>
            <a:ext cx="2331720" cy="365760"/>
          </a:xfrm>
          <a:prstGeom prst="rect">
            <a:avLst/>
          </a:prstGeom>
          <a:solidFill>
            <a:srgbClr val="F7F9FB"/>
          </a:solidFill>
          <a:ln w="6350">
            <a:solidFill>
              <a:srgbClr val="D3DCE5"/>
            </a:solidFill>
            <a:prstDash val="solid"/>
          </a:ln>
        </p:spPr>
      </p:sp>
      <p:sp>
        <p:nvSpPr>
          <p:cNvPr id="25" name="Text 22"/>
          <p:cNvSpPr txBox="1"/>
          <p:nvPr/>
        </p:nvSpPr>
        <p:spPr>
          <a:xfrm>
            <a:off x="7589520" y="2688336"/>
            <a:ext cx="220370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Platts SpodIX CIF China, Aug-26</a:t>
            </a:r>
            <a:endParaRPr lang="en-US" sz="850" dirty="0"/>
          </a:p>
        </p:txBody>
      </p:sp>
      <p:sp>
        <p:nvSpPr>
          <p:cNvPr id="26" name="Shape 23"/>
          <p:cNvSpPr/>
          <p:nvPr/>
        </p:nvSpPr>
        <p:spPr>
          <a:xfrm>
            <a:off x="9857232" y="2688336"/>
            <a:ext cx="1929384" cy="365760"/>
          </a:xfrm>
          <a:prstGeom prst="rect">
            <a:avLst/>
          </a:prstGeom>
          <a:solidFill>
            <a:srgbClr val="F7F9FB"/>
          </a:solidFill>
          <a:ln w="6350">
            <a:solidFill>
              <a:srgbClr val="D3DCE5"/>
            </a:solidFill>
            <a:prstDash val="solid"/>
          </a:ln>
        </p:spPr>
      </p:sp>
      <p:sp>
        <p:nvSpPr>
          <p:cNvPr id="27" name="Text 24"/>
          <p:cNvSpPr txBox="1"/>
          <p:nvPr/>
        </p:nvSpPr>
        <p:spPr>
          <a:xfrm>
            <a:off x="9921240" y="2688336"/>
            <a:ext cx="1801368" cy="365760"/>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US$2,200/t</a:t>
            </a:r>
            <a:endParaRPr lang="en-US" sz="850" dirty="0"/>
          </a:p>
        </p:txBody>
      </p:sp>
      <p:sp>
        <p:nvSpPr>
          <p:cNvPr id="28" name="Shape 25"/>
          <p:cNvSpPr/>
          <p:nvPr/>
        </p:nvSpPr>
        <p:spPr>
          <a:xfrm>
            <a:off x="7525512" y="3054096"/>
            <a:ext cx="2331720" cy="365760"/>
          </a:xfrm>
          <a:prstGeom prst="rect">
            <a:avLst/>
          </a:prstGeom>
          <a:solidFill>
            <a:srgbClr val="FFFFFF"/>
          </a:solidFill>
          <a:ln w="6350">
            <a:solidFill>
              <a:srgbClr val="D3DCE5"/>
            </a:solidFill>
            <a:prstDash val="solid"/>
          </a:ln>
        </p:spPr>
      </p:sp>
      <p:sp>
        <p:nvSpPr>
          <p:cNvPr id="29" name="Text 26"/>
          <p:cNvSpPr txBox="1"/>
          <p:nvPr/>
        </p:nvSpPr>
        <p:spPr>
          <a:xfrm>
            <a:off x="7589520" y="3054096"/>
            <a:ext cx="220370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Weekly move in that August print</a:t>
            </a:r>
            <a:endParaRPr lang="en-US" sz="850" dirty="0"/>
          </a:p>
        </p:txBody>
      </p:sp>
      <p:sp>
        <p:nvSpPr>
          <p:cNvPr id="30" name="Shape 27"/>
          <p:cNvSpPr/>
          <p:nvPr/>
        </p:nvSpPr>
        <p:spPr>
          <a:xfrm>
            <a:off x="9857232" y="3054096"/>
            <a:ext cx="1929384" cy="365760"/>
          </a:xfrm>
          <a:prstGeom prst="rect">
            <a:avLst/>
          </a:prstGeom>
          <a:solidFill>
            <a:srgbClr val="FFFFFF"/>
          </a:solidFill>
          <a:ln w="6350">
            <a:solidFill>
              <a:srgbClr val="D3DCE5"/>
            </a:solidFill>
            <a:prstDash val="solid"/>
          </a:ln>
        </p:spPr>
      </p:sp>
      <p:sp>
        <p:nvSpPr>
          <p:cNvPr id="31" name="Text 28"/>
          <p:cNvSpPr txBox="1"/>
          <p:nvPr/>
        </p:nvSpPr>
        <p:spPr>
          <a:xfrm>
            <a:off x="9921240" y="3054096"/>
            <a:ext cx="1801368" cy="365760"/>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-US$270/t</a:t>
            </a:r>
            <a:endParaRPr lang="en-US" sz="850" dirty="0"/>
          </a:p>
        </p:txBody>
      </p:sp>
      <p:sp>
        <p:nvSpPr>
          <p:cNvPr id="32" name="Shape 29"/>
          <p:cNvSpPr/>
          <p:nvPr/>
        </p:nvSpPr>
        <p:spPr>
          <a:xfrm>
            <a:off x="7525512" y="3419856"/>
            <a:ext cx="2331720" cy="365760"/>
          </a:xfrm>
          <a:prstGeom prst="rect">
            <a:avLst/>
          </a:prstGeom>
          <a:solidFill>
            <a:srgbClr val="F7F9FB"/>
          </a:solidFill>
          <a:ln w="6350">
            <a:solidFill>
              <a:srgbClr val="D3DCE5"/>
            </a:solidFill>
            <a:prstDash val="solid"/>
          </a:ln>
        </p:spPr>
      </p:sp>
      <p:sp>
        <p:nvSpPr>
          <p:cNvPr id="33" name="Text 30"/>
          <p:cNvSpPr txBox="1"/>
          <p:nvPr/>
        </p:nvSpPr>
        <p:spPr>
          <a:xfrm>
            <a:off x="7589520" y="3419856"/>
            <a:ext cx="220370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Lithium carbonate, 12-Aug-26</a:t>
            </a:r>
            <a:endParaRPr lang="en-US" sz="850" dirty="0"/>
          </a:p>
        </p:txBody>
      </p:sp>
      <p:sp>
        <p:nvSpPr>
          <p:cNvPr id="34" name="Shape 31"/>
          <p:cNvSpPr/>
          <p:nvPr/>
        </p:nvSpPr>
        <p:spPr>
          <a:xfrm>
            <a:off x="9857232" y="3419856"/>
            <a:ext cx="1929384" cy="365760"/>
          </a:xfrm>
          <a:prstGeom prst="rect">
            <a:avLst/>
          </a:prstGeom>
          <a:solidFill>
            <a:srgbClr val="F7F9FB"/>
          </a:solidFill>
          <a:ln w="6350">
            <a:solidFill>
              <a:srgbClr val="D3DCE5"/>
            </a:solidFill>
            <a:prstDash val="solid"/>
          </a:ln>
        </p:spPr>
      </p:sp>
      <p:sp>
        <p:nvSpPr>
          <p:cNvPr id="35" name="Text 32"/>
          <p:cNvSpPr txBox="1"/>
          <p:nvPr/>
        </p:nvSpPr>
        <p:spPr>
          <a:xfrm>
            <a:off x="9921240" y="3419856"/>
            <a:ext cx="1801368" cy="365760"/>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US$18,310/t</a:t>
            </a:r>
            <a:endParaRPr lang="en-US" sz="850" dirty="0"/>
          </a:p>
        </p:txBody>
      </p:sp>
      <p:sp>
        <p:nvSpPr>
          <p:cNvPr id="36" name="Shape 33"/>
          <p:cNvSpPr/>
          <p:nvPr/>
        </p:nvSpPr>
        <p:spPr>
          <a:xfrm>
            <a:off x="7525512" y="3785616"/>
            <a:ext cx="2331720" cy="365760"/>
          </a:xfrm>
          <a:prstGeom prst="rect">
            <a:avLst/>
          </a:prstGeom>
          <a:solidFill>
            <a:srgbClr val="FFFFFF"/>
          </a:solidFill>
          <a:ln w="6350">
            <a:solidFill>
              <a:srgbClr val="D3DCE5"/>
            </a:solidFill>
            <a:prstDash val="solid"/>
          </a:ln>
        </p:spPr>
      </p:sp>
      <p:sp>
        <p:nvSpPr>
          <p:cNvPr id="37" name="Text 34"/>
          <p:cNvSpPr txBox="1"/>
          <p:nvPr/>
        </p:nvSpPr>
        <p:spPr>
          <a:xfrm>
            <a:off x="7589520" y="3785616"/>
            <a:ext cx="220370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Lithium carbonate, China, 4-Sep-26</a:t>
            </a:r>
            <a:endParaRPr lang="en-US" sz="850" dirty="0"/>
          </a:p>
        </p:txBody>
      </p:sp>
      <p:sp>
        <p:nvSpPr>
          <p:cNvPr id="38" name="Shape 35"/>
          <p:cNvSpPr/>
          <p:nvPr/>
        </p:nvSpPr>
        <p:spPr>
          <a:xfrm>
            <a:off x="9857232" y="3785616"/>
            <a:ext cx="1929384" cy="365760"/>
          </a:xfrm>
          <a:prstGeom prst="rect">
            <a:avLst/>
          </a:prstGeom>
          <a:solidFill>
            <a:srgbClr val="FFFFFF"/>
          </a:solidFill>
          <a:ln w="6350">
            <a:solidFill>
              <a:srgbClr val="D3DCE5"/>
            </a:solidFill>
            <a:prstDash val="solid"/>
          </a:ln>
        </p:spPr>
      </p:sp>
      <p:sp>
        <p:nvSpPr>
          <p:cNvPr id="39" name="Text 36"/>
          <p:cNvSpPr txBox="1"/>
          <p:nvPr/>
        </p:nvSpPr>
        <p:spPr>
          <a:xfrm>
            <a:off x="9921240" y="3785616"/>
            <a:ext cx="1801368" cy="365760"/>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CNY 152,000/t</a:t>
            </a:r>
            <a:endParaRPr lang="en-US" sz="850" dirty="0"/>
          </a:p>
        </p:txBody>
      </p:sp>
      <p:sp>
        <p:nvSpPr>
          <p:cNvPr id="40" name="Shape 37"/>
          <p:cNvSpPr/>
          <p:nvPr/>
        </p:nvSpPr>
        <p:spPr>
          <a:xfrm>
            <a:off x="7525512" y="4151376"/>
            <a:ext cx="2331720" cy="365760"/>
          </a:xfrm>
          <a:prstGeom prst="rect">
            <a:avLst/>
          </a:prstGeom>
          <a:solidFill>
            <a:srgbClr val="F7F9FB"/>
          </a:solidFill>
          <a:ln w="6350">
            <a:solidFill>
              <a:srgbClr val="D3DCE5"/>
            </a:solidFill>
            <a:prstDash val="solid"/>
          </a:ln>
        </p:spPr>
      </p:sp>
      <p:sp>
        <p:nvSpPr>
          <p:cNvPr id="41" name="Text 38"/>
          <p:cNvSpPr txBox="1"/>
          <p:nvPr/>
        </p:nvSpPr>
        <p:spPr>
          <a:xfrm>
            <a:off x="7589520" y="4151376"/>
            <a:ext cx="220370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Australian Government REQ 2026 forecast</a:t>
            </a:r>
            <a:endParaRPr lang="en-US" sz="850" dirty="0"/>
          </a:p>
        </p:txBody>
      </p:sp>
      <p:sp>
        <p:nvSpPr>
          <p:cNvPr id="42" name="Shape 39"/>
          <p:cNvSpPr/>
          <p:nvPr/>
        </p:nvSpPr>
        <p:spPr>
          <a:xfrm>
            <a:off x="9857232" y="4151376"/>
            <a:ext cx="1929384" cy="365760"/>
          </a:xfrm>
          <a:prstGeom prst="rect">
            <a:avLst/>
          </a:prstGeom>
          <a:solidFill>
            <a:srgbClr val="F7F9FB"/>
          </a:solidFill>
          <a:ln w="6350">
            <a:solidFill>
              <a:srgbClr val="D3DCE5"/>
            </a:solidFill>
            <a:prstDash val="solid"/>
          </a:ln>
        </p:spPr>
      </p:sp>
      <p:sp>
        <p:nvSpPr>
          <p:cNvPr id="43" name="Text 40"/>
          <p:cNvSpPr txBox="1"/>
          <p:nvPr/>
        </p:nvSpPr>
        <p:spPr>
          <a:xfrm>
            <a:off x="9921240" y="4151376"/>
            <a:ext cx="1801368" cy="365760"/>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US$2,236/t</a:t>
            </a:r>
            <a:endParaRPr lang="en-US" sz="850" dirty="0"/>
          </a:p>
        </p:txBody>
      </p:sp>
      <p:sp>
        <p:nvSpPr>
          <p:cNvPr id="44" name="Shape 41"/>
          <p:cNvSpPr/>
          <p:nvPr/>
        </p:nvSpPr>
        <p:spPr>
          <a:xfrm>
            <a:off x="411480" y="4754880"/>
            <a:ext cx="11375136" cy="1280160"/>
          </a:xfrm>
          <a:prstGeom prst="rect">
            <a:avLst/>
          </a:prstGeom>
          <a:solidFill>
            <a:srgbClr val="D6EBE7"/>
          </a:solidFill>
          <a:ln w="9525">
            <a:solidFill>
              <a:srgbClr val="AFD3CC"/>
            </a:solidFill>
            <a:prstDash val="solid"/>
          </a:ln>
        </p:spPr>
      </p:sp>
      <p:sp>
        <p:nvSpPr>
          <p:cNvPr id="45" name="Text 42"/>
          <p:cNvSpPr txBox="1"/>
          <p:nvPr/>
        </p:nvSpPr>
        <p:spPr>
          <a:xfrm>
            <a:off x="576072" y="4882896"/>
            <a:ext cx="11045952"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Two things this chart is designed to make obvious</a:t>
            </a:r>
            <a:endParaRPr lang="en-US" sz="1150" dirty="0"/>
          </a:p>
        </p:txBody>
      </p:sp>
      <p:sp>
        <p:nvSpPr>
          <p:cNvPr id="46" name="Text 43"/>
          <p:cNvSpPr txBox="1"/>
          <p:nvPr/>
        </p:nvSpPr>
        <p:spPr>
          <a:xfrm>
            <a:off x="576072" y="5212080"/>
            <a:ext cx="11045952" cy="731520"/>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First, the June-2026 quarter print of US$2,107/t is above every year in our forecast. Our base case does not assume the recovery continues; it assumes prices settle roughly a fifth below the exit rate and stay there. Second, the Australian Government's own Resources and Energy Quarterly forecast a 2026 spodumene average of US$2,236/t - materially above the US$1,700/t we use for FY27. We are not the bullish end of this debate. We are below the official forecaster and below spot.</a:t>
            </a:r>
            <a:endParaRPr lang="en-US" sz="940" dirty="0"/>
          </a:p>
        </p:txBody>
      </p:sp>
      <p:sp>
        <p:nvSpPr>
          <p:cNvPr id="47" name="Text 44"/>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quarterly activities reports (realised prices, actual grade, CIF China); Benchmark Mineral Intelligence, 12 August 2026; S&amp;P Global Platts; Trading Economics; Australian Government Resources and Energy Quarterly, June 2026. FY27-FY30 are the team's base case.</a:t>
            </a:r>
            <a:endParaRPr lang="en-US" sz="720" dirty="0"/>
          </a:p>
        </p:txBody>
      </p:sp>
      <p:sp>
        <p:nvSpPr>
          <p:cNvPr id="48" name="Text 45"/>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Three countries supply most of it, from three geologically different sources with very different cost and carbon profiles.</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B3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148840" cy="292608"/>
          </a:xfrm>
          <a:prstGeom prst="rect">
            <a:avLst/>
          </a:prstGeom>
          <a:solidFill>
            <a:srgbClr val="10233A"/>
          </a:solidFill>
          <a:ln/>
        </p:spPr>
      </p:sp>
      <p:sp>
        <p:nvSpPr>
          <p:cNvPr id="8" name="Text 6"/>
          <p:cNvSpPr txBox="1"/>
          <p:nvPr/>
        </p:nvSpPr>
        <p:spPr>
          <a:xfrm>
            <a:off x="475488" y="1298448"/>
            <a:ext cx="20208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Source</a:t>
            </a:r>
            <a:endParaRPr lang="en-US" sz="900" dirty="0"/>
          </a:p>
        </p:txBody>
      </p:sp>
      <p:sp>
        <p:nvSpPr>
          <p:cNvPr id="9" name="Shape 7"/>
          <p:cNvSpPr/>
          <p:nvPr/>
        </p:nvSpPr>
        <p:spPr>
          <a:xfrm>
            <a:off x="2560320" y="1298448"/>
            <a:ext cx="2103120" cy="292608"/>
          </a:xfrm>
          <a:prstGeom prst="rect">
            <a:avLst/>
          </a:prstGeom>
          <a:solidFill>
            <a:srgbClr val="10233A"/>
          </a:solidFill>
          <a:ln/>
        </p:spPr>
      </p:sp>
      <p:sp>
        <p:nvSpPr>
          <p:cNvPr id="10" name="Text 8"/>
          <p:cNvSpPr txBox="1"/>
          <p:nvPr/>
        </p:nvSpPr>
        <p:spPr>
          <a:xfrm>
            <a:off x="2624328" y="1298448"/>
            <a:ext cx="19751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Where</a:t>
            </a:r>
            <a:endParaRPr lang="en-US" sz="900" dirty="0"/>
          </a:p>
        </p:txBody>
      </p:sp>
      <p:sp>
        <p:nvSpPr>
          <p:cNvPr id="11" name="Shape 9"/>
          <p:cNvSpPr/>
          <p:nvPr/>
        </p:nvSpPr>
        <p:spPr>
          <a:xfrm>
            <a:off x="4663440" y="1298448"/>
            <a:ext cx="2331720" cy="292608"/>
          </a:xfrm>
          <a:prstGeom prst="rect">
            <a:avLst/>
          </a:prstGeom>
          <a:solidFill>
            <a:srgbClr val="10233A"/>
          </a:solidFill>
          <a:ln/>
        </p:spPr>
      </p:sp>
      <p:sp>
        <p:nvSpPr>
          <p:cNvPr id="12" name="Text 10"/>
          <p:cNvSpPr txBox="1"/>
          <p:nvPr/>
        </p:nvSpPr>
        <p:spPr>
          <a:xfrm>
            <a:off x="4727448" y="1298448"/>
            <a:ext cx="22037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Cost position</a:t>
            </a:r>
            <a:endParaRPr lang="en-US" sz="900" dirty="0"/>
          </a:p>
        </p:txBody>
      </p:sp>
      <p:sp>
        <p:nvSpPr>
          <p:cNvPr id="13" name="Shape 11"/>
          <p:cNvSpPr/>
          <p:nvPr/>
        </p:nvSpPr>
        <p:spPr>
          <a:xfrm>
            <a:off x="6995160" y="1298448"/>
            <a:ext cx="2514600" cy="292608"/>
          </a:xfrm>
          <a:prstGeom prst="rect">
            <a:avLst/>
          </a:prstGeom>
          <a:solidFill>
            <a:srgbClr val="10233A"/>
          </a:solidFill>
          <a:ln/>
        </p:spPr>
      </p:sp>
      <p:sp>
        <p:nvSpPr>
          <p:cNvPr id="14" name="Text 12"/>
          <p:cNvSpPr txBox="1"/>
          <p:nvPr/>
        </p:nvSpPr>
        <p:spPr>
          <a:xfrm>
            <a:off x="7059168" y="1298448"/>
            <a:ext cx="238658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Carbon and water profile</a:t>
            </a:r>
            <a:endParaRPr lang="en-US" sz="900" dirty="0"/>
          </a:p>
        </p:txBody>
      </p:sp>
      <p:sp>
        <p:nvSpPr>
          <p:cNvPr id="15" name="Shape 13"/>
          <p:cNvSpPr/>
          <p:nvPr/>
        </p:nvSpPr>
        <p:spPr>
          <a:xfrm>
            <a:off x="9509760" y="1298448"/>
            <a:ext cx="2276856" cy="292608"/>
          </a:xfrm>
          <a:prstGeom prst="rect">
            <a:avLst/>
          </a:prstGeom>
          <a:solidFill>
            <a:srgbClr val="10233A"/>
          </a:solidFill>
          <a:ln/>
        </p:spPr>
      </p:sp>
      <p:sp>
        <p:nvSpPr>
          <p:cNvPr id="16" name="Text 14"/>
          <p:cNvSpPr txBox="1"/>
          <p:nvPr/>
        </p:nvSpPr>
        <p:spPr>
          <a:xfrm>
            <a:off x="9573768" y="1298448"/>
            <a:ext cx="214884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it means for PLS</a:t>
            </a:r>
            <a:endParaRPr lang="en-US" sz="900" dirty="0"/>
          </a:p>
        </p:txBody>
      </p:sp>
      <p:sp>
        <p:nvSpPr>
          <p:cNvPr id="17" name="Shape 15"/>
          <p:cNvSpPr/>
          <p:nvPr/>
        </p:nvSpPr>
        <p:spPr>
          <a:xfrm>
            <a:off x="411480" y="1591056"/>
            <a:ext cx="2148840" cy="658368"/>
          </a:xfrm>
          <a:prstGeom prst="rect">
            <a:avLst/>
          </a:prstGeom>
          <a:solidFill>
            <a:srgbClr val="D6EBE7"/>
          </a:solidFill>
          <a:ln w="6350">
            <a:solidFill>
              <a:srgbClr val="D3DCE5"/>
            </a:solidFill>
            <a:prstDash val="solid"/>
          </a:ln>
        </p:spPr>
      </p:sp>
      <p:sp>
        <p:nvSpPr>
          <p:cNvPr id="18" name="Text 16"/>
          <p:cNvSpPr txBox="1"/>
          <p:nvPr/>
        </p:nvSpPr>
        <p:spPr>
          <a:xfrm>
            <a:off x="475488" y="1591056"/>
            <a:ext cx="2020824" cy="65836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Hard rock (spodumene)</a:t>
            </a:r>
            <a:endParaRPr lang="en-US" sz="840" dirty="0"/>
          </a:p>
        </p:txBody>
      </p:sp>
      <p:sp>
        <p:nvSpPr>
          <p:cNvPr id="19" name="Shape 17"/>
          <p:cNvSpPr/>
          <p:nvPr/>
        </p:nvSpPr>
        <p:spPr>
          <a:xfrm>
            <a:off x="2560320" y="1591056"/>
            <a:ext cx="2103120" cy="658368"/>
          </a:xfrm>
          <a:prstGeom prst="rect">
            <a:avLst/>
          </a:prstGeom>
          <a:solidFill>
            <a:srgbClr val="D6EBE7"/>
          </a:solidFill>
          <a:ln w="6350">
            <a:solidFill>
              <a:srgbClr val="D3DCE5"/>
            </a:solidFill>
            <a:prstDash val="solid"/>
          </a:ln>
        </p:spPr>
      </p:sp>
      <p:sp>
        <p:nvSpPr>
          <p:cNvPr id="20" name="Text 18"/>
          <p:cNvSpPr txBox="1"/>
          <p:nvPr/>
        </p:nvSpPr>
        <p:spPr>
          <a:xfrm>
            <a:off x="2624328" y="1591056"/>
            <a:ext cx="197510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Australia, then Zimbabwe, Brazil, Canada, Mali</a:t>
            </a:r>
            <a:endParaRPr lang="en-US" sz="840" dirty="0"/>
          </a:p>
        </p:txBody>
      </p:sp>
      <p:sp>
        <p:nvSpPr>
          <p:cNvPr id="21" name="Shape 19"/>
          <p:cNvSpPr/>
          <p:nvPr/>
        </p:nvSpPr>
        <p:spPr>
          <a:xfrm>
            <a:off x="4663440" y="1591056"/>
            <a:ext cx="2331720" cy="658368"/>
          </a:xfrm>
          <a:prstGeom prst="rect">
            <a:avLst/>
          </a:prstGeom>
          <a:solidFill>
            <a:srgbClr val="D6EBE7"/>
          </a:solidFill>
          <a:ln w="6350">
            <a:solidFill>
              <a:srgbClr val="D3DCE5"/>
            </a:solidFill>
            <a:prstDash val="solid"/>
          </a:ln>
        </p:spPr>
      </p:sp>
      <p:sp>
        <p:nvSpPr>
          <p:cNvPr id="22" name="Text 20"/>
          <p:cNvSpPr txBox="1"/>
          <p:nvPr/>
        </p:nvSpPr>
        <p:spPr>
          <a:xfrm>
            <a:off x="4727448" y="1591056"/>
            <a:ext cx="220370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Greenbushes about US$220/t; PLS about US$425/t SC6-equivalent</a:t>
            </a:r>
            <a:endParaRPr lang="en-US" sz="840" dirty="0"/>
          </a:p>
        </p:txBody>
      </p:sp>
      <p:sp>
        <p:nvSpPr>
          <p:cNvPr id="23" name="Shape 21"/>
          <p:cNvSpPr/>
          <p:nvPr/>
        </p:nvSpPr>
        <p:spPr>
          <a:xfrm>
            <a:off x="6995160" y="1591056"/>
            <a:ext cx="2514600" cy="658368"/>
          </a:xfrm>
          <a:prstGeom prst="rect">
            <a:avLst/>
          </a:prstGeom>
          <a:solidFill>
            <a:srgbClr val="D6EBE7"/>
          </a:solidFill>
          <a:ln w="6350">
            <a:solidFill>
              <a:srgbClr val="D3DCE5"/>
            </a:solidFill>
            <a:prstDash val="solid"/>
          </a:ln>
        </p:spPr>
      </p:sp>
      <p:sp>
        <p:nvSpPr>
          <p:cNvPr id="24" name="Text 22"/>
          <p:cNvSpPr txBox="1"/>
          <p:nvPr/>
        </p:nvSpPr>
        <p:spPr>
          <a:xfrm>
            <a:off x="7059168" y="1591056"/>
            <a:ext cx="238658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Energy-intensive at calcination; low water use; dry-stack tailings feasible</a:t>
            </a:r>
            <a:endParaRPr lang="en-US" sz="840" dirty="0"/>
          </a:p>
        </p:txBody>
      </p:sp>
      <p:sp>
        <p:nvSpPr>
          <p:cNvPr id="25" name="Shape 23"/>
          <p:cNvSpPr/>
          <p:nvPr/>
        </p:nvSpPr>
        <p:spPr>
          <a:xfrm>
            <a:off x="9509760" y="1591056"/>
            <a:ext cx="2276856" cy="658368"/>
          </a:xfrm>
          <a:prstGeom prst="rect">
            <a:avLst/>
          </a:prstGeom>
          <a:solidFill>
            <a:srgbClr val="D6EBE7"/>
          </a:solidFill>
          <a:ln w="6350">
            <a:solidFill>
              <a:srgbClr val="D3DCE5"/>
            </a:solidFill>
            <a:prstDash val="solid"/>
          </a:ln>
        </p:spPr>
      </p:sp>
      <p:sp>
        <p:nvSpPr>
          <p:cNvPr id="26" name="Text 24"/>
          <p:cNvSpPr txBox="1"/>
          <p:nvPr/>
        </p:nvSpPr>
        <p:spPr>
          <a:xfrm>
            <a:off x="9573768" y="1591056"/>
            <a:ext cx="2148840"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PLS's own category. Scale and grade decide the ranking within it</a:t>
            </a:r>
            <a:endParaRPr lang="en-US" sz="840" dirty="0"/>
          </a:p>
        </p:txBody>
      </p:sp>
      <p:sp>
        <p:nvSpPr>
          <p:cNvPr id="27" name="Shape 25"/>
          <p:cNvSpPr/>
          <p:nvPr/>
        </p:nvSpPr>
        <p:spPr>
          <a:xfrm>
            <a:off x="411480" y="2249424"/>
            <a:ext cx="2148840" cy="658368"/>
          </a:xfrm>
          <a:prstGeom prst="rect">
            <a:avLst/>
          </a:prstGeom>
          <a:solidFill>
            <a:srgbClr val="F7F9FB"/>
          </a:solidFill>
          <a:ln w="6350">
            <a:solidFill>
              <a:srgbClr val="D3DCE5"/>
            </a:solidFill>
            <a:prstDash val="solid"/>
          </a:ln>
        </p:spPr>
      </p:sp>
      <p:sp>
        <p:nvSpPr>
          <p:cNvPr id="28" name="Text 26"/>
          <p:cNvSpPr txBox="1"/>
          <p:nvPr/>
        </p:nvSpPr>
        <p:spPr>
          <a:xfrm>
            <a:off x="475488" y="2249424"/>
            <a:ext cx="2020824" cy="65836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Continental brine</a:t>
            </a:r>
            <a:endParaRPr lang="en-US" sz="840" dirty="0"/>
          </a:p>
        </p:txBody>
      </p:sp>
      <p:sp>
        <p:nvSpPr>
          <p:cNvPr id="29" name="Shape 27"/>
          <p:cNvSpPr/>
          <p:nvPr/>
        </p:nvSpPr>
        <p:spPr>
          <a:xfrm>
            <a:off x="2560320" y="2249424"/>
            <a:ext cx="2103120" cy="658368"/>
          </a:xfrm>
          <a:prstGeom prst="rect">
            <a:avLst/>
          </a:prstGeom>
          <a:solidFill>
            <a:srgbClr val="F7F9FB"/>
          </a:solidFill>
          <a:ln w="6350">
            <a:solidFill>
              <a:srgbClr val="D3DCE5"/>
            </a:solidFill>
            <a:prstDash val="solid"/>
          </a:ln>
        </p:spPr>
      </p:sp>
      <p:sp>
        <p:nvSpPr>
          <p:cNvPr id="30" name="Text 28"/>
          <p:cNvSpPr txBox="1"/>
          <p:nvPr/>
        </p:nvSpPr>
        <p:spPr>
          <a:xfrm>
            <a:off x="2624328" y="2249424"/>
            <a:ext cx="197510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Chile, Argentina</a:t>
            </a:r>
            <a:endParaRPr lang="en-US" sz="840" dirty="0"/>
          </a:p>
        </p:txBody>
      </p:sp>
      <p:sp>
        <p:nvSpPr>
          <p:cNvPr id="31" name="Shape 29"/>
          <p:cNvSpPr/>
          <p:nvPr/>
        </p:nvSpPr>
        <p:spPr>
          <a:xfrm>
            <a:off x="4663440" y="2249424"/>
            <a:ext cx="2331720" cy="658368"/>
          </a:xfrm>
          <a:prstGeom prst="rect">
            <a:avLst/>
          </a:prstGeom>
          <a:solidFill>
            <a:srgbClr val="F7F9FB"/>
          </a:solidFill>
          <a:ln w="6350">
            <a:solidFill>
              <a:srgbClr val="D3DCE5"/>
            </a:solidFill>
            <a:prstDash val="solid"/>
          </a:ln>
        </p:spPr>
      </p:sp>
      <p:sp>
        <p:nvSpPr>
          <p:cNvPr id="32" name="Text 30"/>
          <p:cNvSpPr txBox="1"/>
          <p:nvPr/>
        </p:nvSpPr>
        <p:spPr>
          <a:xfrm>
            <a:off x="4727448" y="2249424"/>
            <a:ext cx="220370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Argentine weighted AISC US$7,223/t LCE in 2026 - no longer the cheap end</a:t>
            </a:r>
            <a:endParaRPr lang="en-US" sz="840" dirty="0"/>
          </a:p>
        </p:txBody>
      </p:sp>
      <p:sp>
        <p:nvSpPr>
          <p:cNvPr id="33" name="Shape 31"/>
          <p:cNvSpPr/>
          <p:nvPr/>
        </p:nvSpPr>
        <p:spPr>
          <a:xfrm>
            <a:off x="6995160" y="2249424"/>
            <a:ext cx="2514600" cy="658368"/>
          </a:xfrm>
          <a:prstGeom prst="rect">
            <a:avLst/>
          </a:prstGeom>
          <a:solidFill>
            <a:srgbClr val="F7F9FB"/>
          </a:solidFill>
          <a:ln w="6350">
            <a:solidFill>
              <a:srgbClr val="D3DCE5"/>
            </a:solidFill>
            <a:prstDash val="solid"/>
          </a:ln>
        </p:spPr>
      </p:sp>
      <p:sp>
        <p:nvSpPr>
          <p:cNvPr id="34" name="Text 32"/>
          <p:cNvSpPr txBox="1"/>
          <p:nvPr/>
        </p:nvSpPr>
        <p:spPr>
          <a:xfrm>
            <a:off x="7059168" y="2249424"/>
            <a:ext cx="238658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Low energy, high water use and long evaporation cycles; local water conflict risk</a:t>
            </a:r>
            <a:endParaRPr lang="en-US" sz="840" dirty="0"/>
          </a:p>
        </p:txBody>
      </p:sp>
      <p:sp>
        <p:nvSpPr>
          <p:cNvPr id="35" name="Shape 33"/>
          <p:cNvSpPr/>
          <p:nvPr/>
        </p:nvSpPr>
        <p:spPr>
          <a:xfrm>
            <a:off x="9509760" y="2249424"/>
            <a:ext cx="2276856" cy="658368"/>
          </a:xfrm>
          <a:prstGeom prst="rect">
            <a:avLst/>
          </a:prstGeom>
          <a:solidFill>
            <a:srgbClr val="F7F9FB"/>
          </a:solidFill>
          <a:ln w="6350">
            <a:solidFill>
              <a:srgbClr val="D3DCE5"/>
            </a:solidFill>
            <a:prstDash val="solid"/>
          </a:ln>
        </p:spPr>
      </p:sp>
      <p:sp>
        <p:nvSpPr>
          <p:cNvPr id="36" name="Text 34"/>
          <p:cNvSpPr txBox="1"/>
          <p:nvPr/>
        </p:nvSpPr>
        <p:spPr>
          <a:xfrm>
            <a:off x="9573768" y="2249424"/>
            <a:ext cx="2148840"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Brine's historic cost advantage has eroded, which helps hard rock</a:t>
            </a:r>
            <a:endParaRPr lang="en-US" sz="840" dirty="0"/>
          </a:p>
        </p:txBody>
      </p:sp>
      <p:sp>
        <p:nvSpPr>
          <p:cNvPr id="37" name="Shape 35"/>
          <p:cNvSpPr/>
          <p:nvPr/>
        </p:nvSpPr>
        <p:spPr>
          <a:xfrm>
            <a:off x="411480" y="2907792"/>
            <a:ext cx="2148840" cy="658368"/>
          </a:xfrm>
          <a:prstGeom prst="rect">
            <a:avLst/>
          </a:prstGeom>
          <a:solidFill>
            <a:srgbClr val="F7E2E2"/>
          </a:solidFill>
          <a:ln w="6350">
            <a:solidFill>
              <a:srgbClr val="D3DCE5"/>
            </a:solidFill>
            <a:prstDash val="solid"/>
          </a:ln>
        </p:spPr>
      </p:sp>
      <p:sp>
        <p:nvSpPr>
          <p:cNvPr id="38" name="Text 36"/>
          <p:cNvSpPr txBox="1"/>
          <p:nvPr/>
        </p:nvSpPr>
        <p:spPr>
          <a:xfrm>
            <a:off x="475488" y="2907792"/>
            <a:ext cx="2020824" cy="65836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Lepidolite</a:t>
            </a:r>
            <a:endParaRPr lang="en-US" sz="840" dirty="0"/>
          </a:p>
        </p:txBody>
      </p:sp>
      <p:sp>
        <p:nvSpPr>
          <p:cNvPr id="39" name="Shape 37"/>
          <p:cNvSpPr/>
          <p:nvPr/>
        </p:nvSpPr>
        <p:spPr>
          <a:xfrm>
            <a:off x="2560320" y="2907792"/>
            <a:ext cx="2103120" cy="658368"/>
          </a:xfrm>
          <a:prstGeom prst="rect">
            <a:avLst/>
          </a:prstGeom>
          <a:solidFill>
            <a:srgbClr val="F7E2E2"/>
          </a:solidFill>
          <a:ln w="6350">
            <a:solidFill>
              <a:srgbClr val="D3DCE5"/>
            </a:solidFill>
            <a:prstDash val="solid"/>
          </a:ln>
        </p:spPr>
      </p:sp>
      <p:sp>
        <p:nvSpPr>
          <p:cNvPr id="40" name="Text 38"/>
          <p:cNvSpPr txBox="1"/>
          <p:nvPr/>
        </p:nvSpPr>
        <p:spPr>
          <a:xfrm>
            <a:off x="2624328" y="2907792"/>
            <a:ext cx="197510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China, mainly Jiangxi</a:t>
            </a:r>
            <a:endParaRPr lang="en-US" sz="840" dirty="0"/>
          </a:p>
        </p:txBody>
      </p:sp>
      <p:sp>
        <p:nvSpPr>
          <p:cNvPr id="41" name="Shape 39"/>
          <p:cNvSpPr/>
          <p:nvPr/>
        </p:nvSpPr>
        <p:spPr>
          <a:xfrm>
            <a:off x="4663440" y="2907792"/>
            <a:ext cx="2331720" cy="658368"/>
          </a:xfrm>
          <a:prstGeom prst="rect">
            <a:avLst/>
          </a:prstGeom>
          <a:solidFill>
            <a:srgbClr val="F7E2E2"/>
          </a:solidFill>
          <a:ln w="6350">
            <a:solidFill>
              <a:srgbClr val="D3DCE5"/>
            </a:solidFill>
            <a:prstDash val="solid"/>
          </a:ln>
        </p:spPr>
      </p:sp>
      <p:sp>
        <p:nvSpPr>
          <p:cNvPr id="42" name="Text 40"/>
          <p:cNvSpPr txBox="1"/>
          <p:nvPr/>
        </p:nvSpPr>
        <p:spPr>
          <a:xfrm>
            <a:off x="4727448" y="2907792"/>
            <a:ext cx="220370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Some operations above US$1,100/dmt, around the 90th percentile</a:t>
            </a:r>
            <a:endParaRPr lang="en-US" sz="840" dirty="0"/>
          </a:p>
        </p:txBody>
      </p:sp>
      <p:sp>
        <p:nvSpPr>
          <p:cNvPr id="43" name="Shape 41"/>
          <p:cNvSpPr/>
          <p:nvPr/>
        </p:nvSpPr>
        <p:spPr>
          <a:xfrm>
            <a:off x="6995160" y="2907792"/>
            <a:ext cx="2514600" cy="658368"/>
          </a:xfrm>
          <a:prstGeom prst="rect">
            <a:avLst/>
          </a:prstGeom>
          <a:solidFill>
            <a:srgbClr val="F7E2E2"/>
          </a:solidFill>
          <a:ln w="6350">
            <a:solidFill>
              <a:srgbClr val="D3DCE5"/>
            </a:solidFill>
            <a:prstDash val="solid"/>
          </a:ln>
        </p:spPr>
      </p:sp>
      <p:sp>
        <p:nvSpPr>
          <p:cNvPr id="44" name="Text 42"/>
          <p:cNvSpPr txBox="1"/>
          <p:nvPr/>
        </p:nvSpPr>
        <p:spPr>
          <a:xfrm>
            <a:off x="7059168" y="2907792"/>
            <a:ext cx="238658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20-30 tonnes of ore per tonne of LCE; very high waste and energy intensity</a:t>
            </a:r>
            <a:endParaRPr lang="en-US" sz="840" dirty="0"/>
          </a:p>
        </p:txBody>
      </p:sp>
      <p:sp>
        <p:nvSpPr>
          <p:cNvPr id="45" name="Shape 43"/>
          <p:cNvSpPr/>
          <p:nvPr/>
        </p:nvSpPr>
        <p:spPr>
          <a:xfrm>
            <a:off x="9509760" y="2907792"/>
            <a:ext cx="2276856" cy="658368"/>
          </a:xfrm>
          <a:prstGeom prst="rect">
            <a:avLst/>
          </a:prstGeom>
          <a:solidFill>
            <a:srgbClr val="F7E2E2"/>
          </a:solidFill>
          <a:ln w="6350">
            <a:solidFill>
              <a:srgbClr val="D3DCE5"/>
            </a:solidFill>
            <a:prstDash val="solid"/>
          </a:ln>
        </p:spPr>
      </p:sp>
      <p:sp>
        <p:nvSpPr>
          <p:cNvPr id="46" name="Text 44"/>
          <p:cNvSpPr txBox="1"/>
          <p:nvPr/>
        </p:nvSpPr>
        <p:spPr>
          <a:xfrm>
            <a:off x="9573768" y="2907792"/>
            <a:ext cx="2148840"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The marginal tonne. It leaves the market first when prices fall</a:t>
            </a:r>
            <a:endParaRPr lang="en-US" sz="840" dirty="0"/>
          </a:p>
        </p:txBody>
      </p:sp>
      <p:sp>
        <p:nvSpPr>
          <p:cNvPr id="47" name="Shape 45"/>
          <p:cNvSpPr/>
          <p:nvPr/>
        </p:nvSpPr>
        <p:spPr>
          <a:xfrm>
            <a:off x="411480" y="3566160"/>
            <a:ext cx="2148840" cy="658368"/>
          </a:xfrm>
          <a:prstGeom prst="rect">
            <a:avLst/>
          </a:prstGeom>
          <a:solidFill>
            <a:srgbClr val="F7F9FB"/>
          </a:solidFill>
          <a:ln w="6350">
            <a:solidFill>
              <a:srgbClr val="D3DCE5"/>
            </a:solidFill>
            <a:prstDash val="solid"/>
          </a:ln>
        </p:spPr>
      </p:sp>
      <p:sp>
        <p:nvSpPr>
          <p:cNvPr id="48" name="Text 46"/>
          <p:cNvSpPr txBox="1"/>
          <p:nvPr/>
        </p:nvSpPr>
        <p:spPr>
          <a:xfrm>
            <a:off x="475488" y="3566160"/>
            <a:ext cx="2020824" cy="65836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Clay and other</a:t>
            </a:r>
            <a:endParaRPr lang="en-US" sz="840" dirty="0"/>
          </a:p>
        </p:txBody>
      </p:sp>
      <p:sp>
        <p:nvSpPr>
          <p:cNvPr id="49" name="Shape 47"/>
          <p:cNvSpPr/>
          <p:nvPr/>
        </p:nvSpPr>
        <p:spPr>
          <a:xfrm>
            <a:off x="2560320" y="3566160"/>
            <a:ext cx="2103120" cy="658368"/>
          </a:xfrm>
          <a:prstGeom prst="rect">
            <a:avLst/>
          </a:prstGeom>
          <a:solidFill>
            <a:srgbClr val="F7F9FB"/>
          </a:solidFill>
          <a:ln w="6350">
            <a:solidFill>
              <a:srgbClr val="D3DCE5"/>
            </a:solidFill>
            <a:prstDash val="solid"/>
          </a:ln>
        </p:spPr>
      </p:sp>
      <p:sp>
        <p:nvSpPr>
          <p:cNvPr id="50" name="Text 48"/>
          <p:cNvSpPr txBox="1"/>
          <p:nvPr/>
        </p:nvSpPr>
        <p:spPr>
          <a:xfrm>
            <a:off x="2624328" y="3566160"/>
            <a:ext cx="197510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United States (McDermitt), various</a:t>
            </a:r>
            <a:endParaRPr lang="en-US" sz="840" dirty="0"/>
          </a:p>
        </p:txBody>
      </p:sp>
      <p:sp>
        <p:nvSpPr>
          <p:cNvPr id="51" name="Shape 49"/>
          <p:cNvSpPr/>
          <p:nvPr/>
        </p:nvSpPr>
        <p:spPr>
          <a:xfrm>
            <a:off x="4663440" y="3566160"/>
            <a:ext cx="2331720" cy="658368"/>
          </a:xfrm>
          <a:prstGeom prst="rect">
            <a:avLst/>
          </a:prstGeom>
          <a:solidFill>
            <a:srgbClr val="F7F9FB"/>
          </a:solidFill>
          <a:ln w="6350">
            <a:solidFill>
              <a:srgbClr val="D3DCE5"/>
            </a:solidFill>
            <a:prstDash val="solid"/>
          </a:ln>
        </p:spPr>
      </p:sp>
      <p:sp>
        <p:nvSpPr>
          <p:cNvPr id="52" name="Text 50"/>
          <p:cNvSpPr txBox="1"/>
          <p:nvPr/>
        </p:nvSpPr>
        <p:spPr>
          <a:xfrm>
            <a:off x="4727448" y="3566160"/>
            <a:ext cx="220370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Pre-production; no established cost curve</a:t>
            </a:r>
            <a:endParaRPr lang="en-US" sz="840" dirty="0"/>
          </a:p>
        </p:txBody>
      </p:sp>
      <p:sp>
        <p:nvSpPr>
          <p:cNvPr id="53" name="Shape 51"/>
          <p:cNvSpPr/>
          <p:nvPr/>
        </p:nvSpPr>
        <p:spPr>
          <a:xfrm>
            <a:off x="6995160" y="3566160"/>
            <a:ext cx="2514600" cy="658368"/>
          </a:xfrm>
          <a:prstGeom prst="rect">
            <a:avLst/>
          </a:prstGeom>
          <a:solidFill>
            <a:srgbClr val="F7F9FB"/>
          </a:solidFill>
          <a:ln w="6350">
            <a:solidFill>
              <a:srgbClr val="D3DCE5"/>
            </a:solidFill>
            <a:prstDash val="solid"/>
          </a:ln>
        </p:spPr>
      </p:sp>
      <p:sp>
        <p:nvSpPr>
          <p:cNvPr id="54" name="Text 52"/>
          <p:cNvSpPr txBox="1"/>
          <p:nvPr/>
        </p:nvSpPr>
        <p:spPr>
          <a:xfrm>
            <a:off x="7059168" y="3566160"/>
            <a:ext cx="2386584"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Unproven at scale</a:t>
            </a:r>
            <a:endParaRPr lang="en-US" sz="840" dirty="0"/>
          </a:p>
        </p:txBody>
      </p:sp>
      <p:sp>
        <p:nvSpPr>
          <p:cNvPr id="55" name="Shape 53"/>
          <p:cNvSpPr/>
          <p:nvPr/>
        </p:nvSpPr>
        <p:spPr>
          <a:xfrm>
            <a:off x="9509760" y="3566160"/>
            <a:ext cx="2276856" cy="658368"/>
          </a:xfrm>
          <a:prstGeom prst="rect">
            <a:avLst/>
          </a:prstGeom>
          <a:solidFill>
            <a:srgbClr val="F7F9FB"/>
          </a:solidFill>
          <a:ln w="6350">
            <a:solidFill>
              <a:srgbClr val="D3DCE5"/>
            </a:solidFill>
            <a:prstDash val="solid"/>
          </a:ln>
        </p:spPr>
      </p:sp>
      <p:sp>
        <p:nvSpPr>
          <p:cNvPr id="56" name="Text 54"/>
          <p:cNvSpPr txBox="1"/>
          <p:nvPr/>
        </p:nvSpPr>
        <p:spPr>
          <a:xfrm>
            <a:off x="9573768" y="3566160"/>
            <a:ext cx="2148840" cy="65836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 2030s question, not a 2026 one</a:t>
            </a:r>
            <a:endParaRPr lang="en-US" sz="840" dirty="0"/>
          </a:p>
        </p:txBody>
      </p:sp>
      <p:sp>
        <p:nvSpPr>
          <p:cNvPr id="57" name="Shape 55"/>
          <p:cNvSpPr/>
          <p:nvPr/>
        </p:nvSpPr>
        <p:spPr>
          <a:xfrm>
            <a:off x="411480" y="4315968"/>
            <a:ext cx="5577840" cy="1298448"/>
          </a:xfrm>
          <a:prstGeom prst="rect">
            <a:avLst/>
          </a:prstGeom>
          <a:solidFill>
            <a:srgbClr val="D6EBE7"/>
          </a:solidFill>
          <a:ln w="9525">
            <a:solidFill>
              <a:srgbClr val="AFD3CC"/>
            </a:solidFill>
            <a:prstDash val="solid"/>
          </a:ln>
        </p:spPr>
      </p:sp>
      <p:sp>
        <p:nvSpPr>
          <p:cNvPr id="58" name="Text 56"/>
          <p:cNvSpPr txBox="1"/>
          <p:nvPr/>
        </p:nvSpPr>
        <p:spPr>
          <a:xfrm>
            <a:off x="576072" y="4443984"/>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The structural point</a:t>
            </a:r>
            <a:endParaRPr lang="en-US" sz="1150" dirty="0"/>
          </a:p>
        </p:txBody>
      </p:sp>
      <p:sp>
        <p:nvSpPr>
          <p:cNvPr id="59" name="Text 57"/>
          <p:cNvSpPr txBox="1"/>
          <p:nvPr/>
        </p:nvSpPr>
        <p:spPr>
          <a:xfrm>
            <a:off x="576072" y="4773168"/>
            <a:ext cx="5248656" cy="749808"/>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These are not interchangeable tonnes. A tonne of lithium from Jiangxi lepidolite carries roughly an order of magnitude more waste rock and considerably more embedded energy than a tonne from Pilgangoora. As carbon accounting reaches raw materials, the cost curve and the carbon curve start to converge - and they converge in the same direction for PLS.</a:t>
            </a:r>
            <a:endParaRPr lang="en-US" sz="880" dirty="0"/>
          </a:p>
        </p:txBody>
      </p:sp>
      <p:sp>
        <p:nvSpPr>
          <p:cNvPr id="60" name="Shape 58"/>
          <p:cNvSpPr/>
          <p:nvPr/>
        </p:nvSpPr>
        <p:spPr>
          <a:xfrm>
            <a:off x="6208776" y="4315968"/>
            <a:ext cx="5577840" cy="1298448"/>
          </a:xfrm>
          <a:prstGeom prst="rect">
            <a:avLst/>
          </a:prstGeom>
          <a:solidFill>
            <a:srgbClr val="FBEBD9"/>
          </a:solidFill>
          <a:ln w="9525">
            <a:solidFill>
              <a:srgbClr val="E8C9A3"/>
            </a:solidFill>
            <a:prstDash val="solid"/>
          </a:ln>
        </p:spPr>
      </p:sp>
      <p:sp>
        <p:nvSpPr>
          <p:cNvPr id="61" name="Text 59"/>
          <p:cNvSpPr txBox="1"/>
          <p:nvPr/>
        </p:nvSpPr>
        <p:spPr>
          <a:xfrm>
            <a:off x="6373368" y="4443984"/>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The honest counterpoint</a:t>
            </a:r>
            <a:endParaRPr lang="en-US" sz="1150" dirty="0"/>
          </a:p>
        </p:txBody>
      </p:sp>
      <p:sp>
        <p:nvSpPr>
          <p:cNvPr id="62" name="Text 60"/>
          <p:cNvSpPr txBox="1"/>
          <p:nvPr/>
        </p:nvSpPr>
        <p:spPr>
          <a:xfrm>
            <a:off x="6373368" y="4773168"/>
            <a:ext cx="5248656" cy="749808"/>
          </a:xfrm>
          <a:prstGeom prst="rect">
            <a:avLst/>
          </a:prstGeom>
          <a:noFill/>
          <a:ln/>
        </p:spPr>
        <p:txBody>
          <a:bodyPr wrap="square" lIns="0" tIns="0" rIns="0" bIns="0" rtlCol="0" anchor="t"/>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Carbon intensity is not the only thing customers buy on, and today it is rarely the deciding factor. Price and security of supply still dominate. Our thesis is that the ordering changes over the next five years under EU and US rules, not that it has already changed. If it does not, the level-one argument fails and the stock is worth roughly what the comparables say - about A$5.56.</a:t>
            </a:r>
            <a:endParaRPr lang="en-US" sz="870" dirty="0"/>
          </a:p>
        </p:txBody>
      </p:sp>
      <p:sp>
        <p:nvSpPr>
          <p:cNvPr id="63" name="Text 61"/>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S&amp;P Global Market Intelligence Mine Cost Outlook, January 2026; CRU Group; USGS Mineral Commodity Summaries; Goldman Sachs lepidolite cost work. Ore-to-LCE intensity for lepidolite is an industry range.</a:t>
            </a:r>
            <a:endParaRPr lang="en-US" sz="720" dirty="0"/>
          </a:p>
        </p:txBody>
      </p:sp>
      <p:sp>
        <p:nvSpPr>
          <p:cNvPr id="64" name="Text 62"/>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B3</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About 150,000 tonnes a year of lithium carbonate equivalent, suspended, restarted and re-suspended inside thirteen months.</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B4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1375136" cy="713232"/>
          </a:xfrm>
          <a:prstGeom prst="rect">
            <a:avLst/>
          </a:prstGeom>
          <a:solidFill>
            <a:srgbClr val="FFFFFF"/>
          </a:solidFill>
          <a:ln w="7620">
            <a:solidFill>
              <a:srgbClr val="D3DCE5"/>
            </a:solidFill>
            <a:prstDash val="solid"/>
          </a:ln>
        </p:spPr>
      </p:sp>
      <p:sp>
        <p:nvSpPr>
          <p:cNvPr id="8" name="Text 6"/>
          <p:cNvSpPr txBox="1"/>
          <p:nvPr/>
        </p:nvSpPr>
        <p:spPr>
          <a:xfrm>
            <a:off x="576072" y="1298448"/>
            <a:ext cx="1234440" cy="713232"/>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Aug 2025</a:t>
            </a:r>
            <a:endParaRPr lang="en-US" sz="1000" dirty="0"/>
          </a:p>
        </p:txBody>
      </p:sp>
      <p:sp>
        <p:nvSpPr>
          <p:cNvPr id="9" name="Text 7"/>
          <p:cNvSpPr txBox="1"/>
          <p:nvPr/>
        </p:nvSpPr>
        <p:spPr>
          <a:xfrm>
            <a:off x="1892808" y="1298448"/>
            <a:ext cx="2377440" cy="713232"/>
          </a:xfrm>
          <a:prstGeom prst="rect">
            <a:avLst/>
          </a:prstGeom>
          <a:noFill/>
          <a:ln/>
        </p:spPr>
        <p:txBody>
          <a:bodyPr wrap="square" lIns="0" tIns="0" rIns="0" bIns="0" rtlCol="0" anchor="ctr"/>
          <a:lstStyle/>
          <a:p>
            <a:pPr indent="0" marL="0">
              <a:buNone/>
            </a:pPr>
            <a:r>
              <a:rPr lang="en-US" sz="1050" b="1" dirty="0">
                <a:solidFill>
                  <a:srgbClr val="10233A"/>
                </a:solidFill>
                <a:latin typeface="Calibri" pitchFamily="34" charset="0"/>
                <a:ea typeface="Calibri" pitchFamily="34" charset="-122"/>
                <a:cs typeface="Calibri" pitchFamily="34" charset="-120"/>
              </a:rPr>
              <a:t>First suspension</a:t>
            </a:r>
            <a:endParaRPr lang="en-US" sz="1050" dirty="0"/>
          </a:p>
        </p:txBody>
      </p:sp>
      <p:sp>
        <p:nvSpPr>
          <p:cNvPr id="10" name="Text 8"/>
          <p:cNvSpPr txBox="1"/>
          <p:nvPr/>
        </p:nvSpPr>
        <p:spPr>
          <a:xfrm>
            <a:off x="4361688" y="1353312"/>
            <a:ext cx="7223760" cy="603504"/>
          </a:xfrm>
          <a:prstGeom prst="rect">
            <a:avLst/>
          </a:prstGeom>
          <a:noFill/>
          <a:ln/>
        </p:spPr>
        <p:txBody>
          <a:bodyPr wrap="square" lIns="0" tIns="0" rIns="0" bIns="0" rtlCol="0" anchor="ctr"/>
          <a:lstStyle/>
          <a:p>
            <a:pPr indent="0" marL="0">
              <a:lnSpc>
                <a:spcPct val="106000"/>
              </a:lnSpc>
              <a:buNone/>
            </a:pPr>
            <a:r>
              <a:rPr lang="en-US" sz="900" dirty="0">
                <a:solidFill>
                  <a:srgbClr val="1B2733"/>
                </a:solidFill>
                <a:latin typeface="Calibri" pitchFamily="34" charset="0"/>
                <a:ea typeface="Calibri" pitchFamily="34" charset="-122"/>
                <a:cs typeface="Calibri" pitchFamily="34" charset="-120"/>
              </a:rPr>
              <a:t>CATL's Jianxiawo mine in Jiangxi - the largest lithium operation in China - is suspended over mining-licence issues. Prices rally.</a:t>
            </a:r>
            <a:endParaRPr lang="en-US" sz="900" dirty="0"/>
          </a:p>
        </p:txBody>
      </p:sp>
      <p:sp>
        <p:nvSpPr>
          <p:cNvPr id="11" name="Shape 9"/>
          <p:cNvSpPr/>
          <p:nvPr/>
        </p:nvSpPr>
        <p:spPr>
          <a:xfrm>
            <a:off x="411480" y="2084832"/>
            <a:ext cx="11375136" cy="713232"/>
          </a:xfrm>
          <a:prstGeom prst="rect">
            <a:avLst/>
          </a:prstGeom>
          <a:solidFill>
            <a:srgbClr val="F7F9FB"/>
          </a:solidFill>
          <a:ln w="7620">
            <a:solidFill>
              <a:srgbClr val="D3DCE5"/>
            </a:solidFill>
            <a:prstDash val="solid"/>
          </a:ln>
        </p:spPr>
      </p:sp>
      <p:sp>
        <p:nvSpPr>
          <p:cNvPr id="12" name="Text 10"/>
          <p:cNvSpPr txBox="1"/>
          <p:nvPr/>
        </p:nvSpPr>
        <p:spPr>
          <a:xfrm>
            <a:off x="576072" y="2084832"/>
            <a:ext cx="1234440" cy="713232"/>
          </a:xfrm>
          <a:prstGeom prst="rect">
            <a:avLst/>
          </a:prstGeom>
          <a:noFill/>
          <a:ln/>
        </p:spPr>
        <p:txBody>
          <a:bodyPr wrap="square" lIns="0" tIns="0" rIns="0" bIns="0" rtlCol="0" anchor="ctr"/>
          <a:lstStyle/>
          <a:p>
            <a:pPr indent="0" marL="0">
              <a:buNone/>
            </a:pPr>
            <a:r>
              <a:rPr lang="en-US" sz="1000" b="1" dirty="0">
                <a:solidFill>
                  <a:srgbClr val="C2610A"/>
                </a:solidFill>
                <a:latin typeface="Calibri" pitchFamily="34" charset="0"/>
                <a:ea typeface="Calibri" pitchFamily="34" charset="-122"/>
                <a:cs typeface="Calibri" pitchFamily="34" charset="-120"/>
              </a:rPr>
              <a:t>Mid-2026</a:t>
            </a:r>
            <a:endParaRPr lang="en-US" sz="1000" dirty="0"/>
          </a:p>
        </p:txBody>
      </p:sp>
      <p:sp>
        <p:nvSpPr>
          <p:cNvPr id="13" name="Text 11"/>
          <p:cNvSpPr txBox="1"/>
          <p:nvPr/>
        </p:nvSpPr>
        <p:spPr>
          <a:xfrm>
            <a:off x="1892808" y="2084832"/>
            <a:ext cx="2377440" cy="713232"/>
          </a:xfrm>
          <a:prstGeom prst="rect">
            <a:avLst/>
          </a:prstGeom>
          <a:noFill/>
          <a:ln/>
        </p:spPr>
        <p:txBody>
          <a:bodyPr wrap="square" lIns="0" tIns="0" rIns="0" bIns="0" rtlCol="0" anchor="ctr"/>
          <a:lstStyle/>
          <a:p>
            <a:pPr indent="0" marL="0">
              <a:buNone/>
            </a:pPr>
            <a:r>
              <a:rPr lang="en-US" sz="1050" b="1" dirty="0">
                <a:solidFill>
                  <a:srgbClr val="10233A"/>
                </a:solidFill>
                <a:latin typeface="Calibri" pitchFamily="34" charset="0"/>
                <a:ea typeface="Calibri" pitchFamily="34" charset="-122"/>
                <a:cs typeface="Calibri" pitchFamily="34" charset="-120"/>
              </a:rPr>
              <a:t>Restart</a:t>
            </a:r>
            <a:endParaRPr lang="en-US" sz="1050" dirty="0"/>
          </a:p>
        </p:txBody>
      </p:sp>
      <p:sp>
        <p:nvSpPr>
          <p:cNvPr id="14" name="Text 12"/>
          <p:cNvSpPr txBox="1"/>
          <p:nvPr/>
        </p:nvSpPr>
        <p:spPr>
          <a:xfrm>
            <a:off x="4361688" y="2139696"/>
            <a:ext cx="7223760" cy="603504"/>
          </a:xfrm>
          <a:prstGeom prst="rect">
            <a:avLst/>
          </a:prstGeom>
          <a:noFill/>
          <a:ln/>
        </p:spPr>
        <p:txBody>
          <a:bodyPr wrap="square" lIns="0" tIns="0" rIns="0" bIns="0" rtlCol="0" anchor="ctr"/>
          <a:lstStyle/>
          <a:p>
            <a:pPr indent="0" marL="0">
              <a:lnSpc>
                <a:spcPct val="106000"/>
              </a:lnSpc>
              <a:buNone/>
            </a:pPr>
            <a:r>
              <a:rPr lang="en-US" sz="900" dirty="0">
                <a:solidFill>
                  <a:srgbClr val="1B2733"/>
                </a:solidFill>
                <a:latin typeface="Calibri" pitchFamily="34" charset="0"/>
                <a:ea typeface="Calibri" pitchFamily="34" charset="-122"/>
                <a:cs typeface="Calibri" pitchFamily="34" charset="-120"/>
              </a:rPr>
              <a:t>The mine restarts, adding supply back into a recovering market.</a:t>
            </a:r>
            <a:endParaRPr lang="en-US" sz="900" dirty="0"/>
          </a:p>
        </p:txBody>
      </p:sp>
      <p:sp>
        <p:nvSpPr>
          <p:cNvPr id="15" name="Shape 13"/>
          <p:cNvSpPr/>
          <p:nvPr/>
        </p:nvSpPr>
        <p:spPr>
          <a:xfrm>
            <a:off x="411480" y="2871216"/>
            <a:ext cx="11375136" cy="713232"/>
          </a:xfrm>
          <a:prstGeom prst="rect">
            <a:avLst/>
          </a:prstGeom>
          <a:solidFill>
            <a:srgbClr val="FFFFFF"/>
          </a:solidFill>
          <a:ln w="7620">
            <a:solidFill>
              <a:srgbClr val="D3DCE5"/>
            </a:solidFill>
            <a:prstDash val="solid"/>
          </a:ln>
        </p:spPr>
      </p:sp>
      <p:sp>
        <p:nvSpPr>
          <p:cNvPr id="16" name="Text 14"/>
          <p:cNvSpPr txBox="1"/>
          <p:nvPr/>
        </p:nvSpPr>
        <p:spPr>
          <a:xfrm>
            <a:off x="576072" y="2871216"/>
            <a:ext cx="1234440" cy="713232"/>
          </a:xfrm>
          <a:prstGeom prst="rect">
            <a:avLst/>
          </a:prstGeom>
          <a:noFill/>
          <a:ln/>
        </p:spPr>
        <p:txBody>
          <a:bodyPr wrap="square" lIns="0" tIns="0" rIns="0" bIns="0" rtlCol="0" anchor="ctr"/>
          <a:lstStyle/>
          <a:p>
            <a:pPr indent="0" marL="0">
              <a:buNone/>
            </a:pPr>
            <a:r>
              <a:rPr lang="en-US" sz="1000" b="1" dirty="0">
                <a:solidFill>
                  <a:srgbClr val="0E7C6B"/>
                </a:solidFill>
                <a:latin typeface="Calibri" pitchFamily="34" charset="0"/>
                <a:ea typeface="Calibri" pitchFamily="34" charset="-122"/>
                <a:cs typeface="Calibri" pitchFamily="34" charset="-120"/>
              </a:rPr>
              <a:t>Aug 2026</a:t>
            </a:r>
            <a:endParaRPr lang="en-US" sz="1000" dirty="0"/>
          </a:p>
        </p:txBody>
      </p:sp>
      <p:sp>
        <p:nvSpPr>
          <p:cNvPr id="17" name="Text 15"/>
          <p:cNvSpPr txBox="1"/>
          <p:nvPr/>
        </p:nvSpPr>
        <p:spPr>
          <a:xfrm>
            <a:off x="1892808" y="2871216"/>
            <a:ext cx="2377440" cy="713232"/>
          </a:xfrm>
          <a:prstGeom prst="rect">
            <a:avLst/>
          </a:prstGeom>
          <a:noFill/>
          <a:ln/>
        </p:spPr>
        <p:txBody>
          <a:bodyPr wrap="square" lIns="0" tIns="0" rIns="0" bIns="0" rtlCol="0" anchor="ctr"/>
          <a:lstStyle/>
          <a:p>
            <a:pPr indent="0" marL="0">
              <a:buNone/>
            </a:pPr>
            <a:r>
              <a:rPr lang="en-US" sz="1050" b="1" dirty="0">
                <a:solidFill>
                  <a:srgbClr val="10233A"/>
                </a:solidFill>
                <a:latin typeface="Calibri" pitchFamily="34" charset="0"/>
                <a:ea typeface="Calibri" pitchFamily="34" charset="-122"/>
                <a:cs typeface="Calibri" pitchFamily="34" charset="-120"/>
              </a:rPr>
              <a:t>Re-suspension</a:t>
            </a:r>
            <a:endParaRPr lang="en-US" sz="1050" dirty="0"/>
          </a:p>
        </p:txBody>
      </p:sp>
      <p:sp>
        <p:nvSpPr>
          <p:cNvPr id="18" name="Text 16"/>
          <p:cNvSpPr txBox="1"/>
          <p:nvPr/>
        </p:nvSpPr>
        <p:spPr>
          <a:xfrm>
            <a:off x="4361688" y="2926080"/>
            <a:ext cx="7223760" cy="603504"/>
          </a:xfrm>
          <a:prstGeom prst="rect">
            <a:avLst/>
          </a:prstGeom>
          <a:noFill/>
          <a:ln/>
        </p:spPr>
        <p:txBody>
          <a:bodyPr wrap="square" lIns="0" tIns="0" rIns="0" bIns="0" rtlCol="0" anchor="ctr"/>
          <a:lstStyle/>
          <a:p>
            <a:pPr indent="0" marL="0">
              <a:lnSpc>
                <a:spcPct val="106000"/>
              </a:lnSpc>
              <a:buNone/>
            </a:pPr>
            <a:r>
              <a:rPr lang="en-US" sz="900" dirty="0">
                <a:solidFill>
                  <a:srgbClr val="1B2733"/>
                </a:solidFill>
                <a:latin typeface="Calibri" pitchFamily="34" charset="0"/>
                <a:ea typeface="Calibri" pitchFamily="34" charset="-122"/>
                <a:cs typeface="Calibri" pitchFamily="34" charset="-120"/>
              </a:rPr>
              <a:t>Suspended again. Benchmark Mineral Intelligence cuts its 2026 output estimate for the site from 62,500t to 32,000t LCE.</a:t>
            </a:r>
            <a:endParaRPr lang="en-US" sz="900" dirty="0"/>
          </a:p>
        </p:txBody>
      </p:sp>
      <p:sp>
        <p:nvSpPr>
          <p:cNvPr id="19" name="Shape 17"/>
          <p:cNvSpPr/>
          <p:nvPr/>
        </p:nvSpPr>
        <p:spPr>
          <a:xfrm>
            <a:off x="411480" y="3657600"/>
            <a:ext cx="11375136" cy="713232"/>
          </a:xfrm>
          <a:prstGeom prst="rect">
            <a:avLst/>
          </a:prstGeom>
          <a:solidFill>
            <a:srgbClr val="F7F9FB"/>
          </a:solidFill>
          <a:ln w="7620">
            <a:solidFill>
              <a:srgbClr val="D3DCE5"/>
            </a:solidFill>
            <a:prstDash val="solid"/>
          </a:ln>
        </p:spPr>
      </p:sp>
      <p:sp>
        <p:nvSpPr>
          <p:cNvPr id="20" name="Text 18"/>
          <p:cNvSpPr txBox="1"/>
          <p:nvPr/>
        </p:nvSpPr>
        <p:spPr>
          <a:xfrm>
            <a:off x="576072" y="3657600"/>
            <a:ext cx="1234440" cy="713232"/>
          </a:xfrm>
          <a:prstGeom prst="rect">
            <a:avLst/>
          </a:prstGeom>
          <a:noFill/>
          <a:ln/>
        </p:spPr>
        <p:txBody>
          <a:bodyPr wrap="square" lIns="0" tIns="0" rIns="0" bIns="0" rtlCol="0" anchor="ctr"/>
          <a:lstStyle/>
          <a:p>
            <a:pPr indent="0" marL="0">
              <a:buNone/>
            </a:pPr>
            <a:r>
              <a:rPr lang="en-US" sz="1000" b="1" dirty="0">
                <a:solidFill>
                  <a:srgbClr val="1C3A5E"/>
                </a:solidFill>
                <a:latin typeface="Calibri" pitchFamily="34" charset="0"/>
                <a:ea typeface="Calibri" pitchFamily="34" charset="-122"/>
                <a:cs typeface="Calibri" pitchFamily="34" charset="-120"/>
              </a:rPr>
              <a:t>Ongoing</a:t>
            </a:r>
            <a:endParaRPr lang="en-US" sz="1000" dirty="0"/>
          </a:p>
        </p:txBody>
      </p:sp>
      <p:sp>
        <p:nvSpPr>
          <p:cNvPr id="21" name="Text 19"/>
          <p:cNvSpPr txBox="1"/>
          <p:nvPr/>
        </p:nvSpPr>
        <p:spPr>
          <a:xfrm>
            <a:off x="1892808" y="3657600"/>
            <a:ext cx="2377440" cy="713232"/>
          </a:xfrm>
          <a:prstGeom prst="rect">
            <a:avLst/>
          </a:prstGeom>
          <a:noFill/>
          <a:ln/>
        </p:spPr>
        <p:txBody>
          <a:bodyPr wrap="square" lIns="0" tIns="0" rIns="0" bIns="0" rtlCol="0" anchor="ctr"/>
          <a:lstStyle/>
          <a:p>
            <a:pPr indent="0" marL="0">
              <a:buNone/>
            </a:pPr>
            <a:r>
              <a:rPr lang="en-US" sz="1050" b="1" dirty="0">
                <a:solidFill>
                  <a:srgbClr val="10233A"/>
                </a:solidFill>
                <a:latin typeface="Calibri" pitchFamily="34" charset="0"/>
                <a:ea typeface="Calibri" pitchFamily="34" charset="-122"/>
                <a:cs typeface="Calibri" pitchFamily="34" charset="-120"/>
              </a:rPr>
              <a:t>Review may run into 2027</a:t>
            </a:r>
            <a:endParaRPr lang="en-US" sz="1050" dirty="0"/>
          </a:p>
        </p:txBody>
      </p:sp>
      <p:sp>
        <p:nvSpPr>
          <p:cNvPr id="22" name="Text 20"/>
          <p:cNvSpPr txBox="1"/>
          <p:nvPr/>
        </p:nvSpPr>
        <p:spPr>
          <a:xfrm>
            <a:off x="4361688" y="3712464"/>
            <a:ext cx="7223760" cy="603504"/>
          </a:xfrm>
          <a:prstGeom prst="rect">
            <a:avLst/>
          </a:prstGeom>
          <a:noFill/>
          <a:ln/>
        </p:spPr>
        <p:txBody>
          <a:bodyPr wrap="square" lIns="0" tIns="0" rIns="0" bIns="0" rtlCol="0" anchor="ctr"/>
          <a:lstStyle/>
          <a:p>
            <a:pPr indent="0" marL="0">
              <a:lnSpc>
                <a:spcPct val="106000"/>
              </a:lnSpc>
              <a:buNone/>
            </a:pPr>
            <a:r>
              <a:rPr lang="en-US" sz="900" dirty="0">
                <a:solidFill>
                  <a:srgbClr val="1B2733"/>
                </a:solidFill>
                <a:latin typeface="Calibri" pitchFamily="34" charset="0"/>
                <a:ea typeface="Calibri" pitchFamily="34" charset="-122"/>
                <a:cs typeface="Calibri" pitchFamily="34" charset="-120"/>
              </a:rPr>
              <a:t>The regulatory review may not conclude until 2027, and about 108,000tpa LCE of further Jiangxi capacity sits under the same scrutiny.</a:t>
            </a:r>
            <a:endParaRPr lang="en-US" sz="900" dirty="0"/>
          </a:p>
        </p:txBody>
      </p:sp>
      <p:sp>
        <p:nvSpPr>
          <p:cNvPr id="23" name="Shape 21"/>
          <p:cNvSpPr/>
          <p:nvPr/>
        </p:nvSpPr>
        <p:spPr>
          <a:xfrm>
            <a:off x="411480" y="4608576"/>
            <a:ext cx="11375136" cy="1298448"/>
          </a:xfrm>
          <a:prstGeom prst="rect">
            <a:avLst/>
          </a:prstGeom>
          <a:solidFill>
            <a:srgbClr val="EEF2F6"/>
          </a:solidFill>
          <a:ln w="9525">
            <a:solidFill>
              <a:srgbClr val="D3DCE5"/>
            </a:solidFill>
            <a:prstDash val="solid"/>
          </a:ln>
        </p:spPr>
      </p:sp>
      <p:sp>
        <p:nvSpPr>
          <p:cNvPr id="24" name="Text 22"/>
          <p:cNvSpPr txBox="1"/>
          <p:nvPr/>
        </p:nvSpPr>
        <p:spPr>
          <a:xfrm>
            <a:off x="576072" y="4736592"/>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Why this belongs in an investment case rather than a news summary</a:t>
            </a:r>
            <a:endParaRPr lang="en-US" sz="1150" dirty="0"/>
          </a:p>
        </p:txBody>
      </p:sp>
      <p:sp>
        <p:nvSpPr>
          <p:cNvPr id="25" name="Text 23"/>
          <p:cNvSpPr txBox="1"/>
          <p:nvPr/>
        </p:nvSpPr>
        <p:spPr>
          <a:xfrm>
            <a:off x="576072" y="5065776"/>
            <a:ext cx="11045952" cy="749808"/>
          </a:xfrm>
          <a:prstGeom prst="rect">
            <a:avLst/>
          </a:prstGeom>
          <a:noFill/>
          <a:ln/>
        </p:spPr>
        <p:txBody>
          <a:bodyPr wrap="square" lIns="0" tIns="0" rIns="0" bIns="0" rtlCol="0" anchor="t"/>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A single asset representing roughly 150ktpa LCE is about 10% of a market that ran a surplus of perhaps 33-120kt in 2025. Its on-off status is therefore not noise; it is the swing factor that decides whether 2026 prints a surplus or a deficit, which is exactly why credible forecasters disagree.</a:t>
            </a:r>
            <a:endParaRPr lang="en-US" sz="870" dirty="0"/>
          </a:p>
          <a:p>
            <a:pPr indent="0" marL="0">
              <a:lnSpc>
                <a:spcPct val="105000"/>
              </a:lnSpc>
              <a:buNone/>
            </a:pPr>
            <a:endParaRPr lang="en-US" sz="870" dirty="0"/>
          </a:p>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It also demonstrates something structural: the highest-cost, highest-waste tonnes in this industry sit in a jurisdiction that has shown it will suspend them for regulatory reasons unrelated to price. That is a supply curve with a political discontinuity in it, and it favours low-cost producers in stable jurisdictions - which is the position we are underwriting.</a:t>
            </a:r>
            <a:endParaRPr lang="en-US" sz="870" dirty="0"/>
          </a:p>
        </p:txBody>
      </p:sp>
      <p:sp>
        <p:nvSpPr>
          <p:cNvPr id="26" name="Text 24"/>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Benchmark Mineral Intelligence; S&amp;P Global; Reuters coverage of the Jianxiawo suspensions. Market balance figures per the forecaster comparison in B11.</a:t>
            </a:r>
            <a:endParaRPr lang="en-US" sz="720" dirty="0"/>
          </a:p>
        </p:txBody>
      </p:sp>
      <p:sp>
        <p:nvSpPr>
          <p:cNvPr id="27" name="Text 25"/>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Zimbabwe banned concentrate exports a year earlier than expected. Two sovereign-driven disruptions in twelve months is a pattern, not a coincidence.</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B5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874520" cy="292608"/>
          </a:xfrm>
          <a:prstGeom prst="rect">
            <a:avLst/>
          </a:prstGeom>
          <a:solidFill>
            <a:srgbClr val="10233A"/>
          </a:solidFill>
          <a:ln/>
        </p:spPr>
      </p:sp>
      <p:sp>
        <p:nvSpPr>
          <p:cNvPr id="8" name="Text 6"/>
          <p:cNvSpPr txBox="1"/>
          <p:nvPr/>
        </p:nvSpPr>
        <p:spPr>
          <a:xfrm>
            <a:off x="475488" y="1298448"/>
            <a:ext cx="1746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Jurisdiction</a:t>
            </a:r>
            <a:endParaRPr lang="en-US" sz="900" dirty="0"/>
          </a:p>
        </p:txBody>
      </p:sp>
      <p:sp>
        <p:nvSpPr>
          <p:cNvPr id="9" name="Shape 7"/>
          <p:cNvSpPr/>
          <p:nvPr/>
        </p:nvSpPr>
        <p:spPr>
          <a:xfrm>
            <a:off x="2286000" y="1298448"/>
            <a:ext cx="3886200" cy="292608"/>
          </a:xfrm>
          <a:prstGeom prst="rect">
            <a:avLst/>
          </a:prstGeom>
          <a:solidFill>
            <a:srgbClr val="10233A"/>
          </a:solidFill>
          <a:ln/>
        </p:spPr>
      </p:sp>
      <p:sp>
        <p:nvSpPr>
          <p:cNvPr id="10" name="Text 8"/>
          <p:cNvSpPr txBox="1"/>
          <p:nvPr/>
        </p:nvSpPr>
        <p:spPr>
          <a:xfrm>
            <a:off x="2350008" y="1298448"/>
            <a:ext cx="375818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Action</a:t>
            </a:r>
            <a:endParaRPr lang="en-US" sz="900" dirty="0"/>
          </a:p>
        </p:txBody>
      </p:sp>
      <p:sp>
        <p:nvSpPr>
          <p:cNvPr id="11" name="Shape 9"/>
          <p:cNvSpPr/>
          <p:nvPr/>
        </p:nvSpPr>
        <p:spPr>
          <a:xfrm>
            <a:off x="6172200" y="1298448"/>
            <a:ext cx="1691640" cy="292608"/>
          </a:xfrm>
          <a:prstGeom prst="rect">
            <a:avLst/>
          </a:prstGeom>
          <a:solidFill>
            <a:srgbClr val="10233A"/>
          </a:solidFill>
          <a:ln/>
        </p:spPr>
      </p:sp>
      <p:sp>
        <p:nvSpPr>
          <p:cNvPr id="12" name="Text 10"/>
          <p:cNvSpPr txBox="1"/>
          <p:nvPr/>
        </p:nvSpPr>
        <p:spPr>
          <a:xfrm>
            <a:off x="6236208" y="1298448"/>
            <a:ext cx="156362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Timing</a:t>
            </a:r>
            <a:endParaRPr lang="en-US" sz="900" dirty="0"/>
          </a:p>
        </p:txBody>
      </p:sp>
      <p:sp>
        <p:nvSpPr>
          <p:cNvPr id="13" name="Shape 11"/>
          <p:cNvSpPr/>
          <p:nvPr/>
        </p:nvSpPr>
        <p:spPr>
          <a:xfrm>
            <a:off x="7863840" y="1298448"/>
            <a:ext cx="3922776" cy="292608"/>
          </a:xfrm>
          <a:prstGeom prst="rect">
            <a:avLst/>
          </a:prstGeom>
          <a:solidFill>
            <a:srgbClr val="10233A"/>
          </a:solidFill>
          <a:ln/>
        </p:spPr>
      </p:sp>
      <p:sp>
        <p:nvSpPr>
          <p:cNvPr id="14" name="Text 12"/>
          <p:cNvSpPr txBox="1"/>
          <p:nvPr/>
        </p:nvSpPr>
        <p:spPr>
          <a:xfrm>
            <a:off x="7927848" y="1298448"/>
            <a:ext cx="379476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Effect on the market</a:t>
            </a:r>
            <a:endParaRPr lang="en-US" sz="900" dirty="0"/>
          </a:p>
        </p:txBody>
      </p:sp>
      <p:sp>
        <p:nvSpPr>
          <p:cNvPr id="15" name="Shape 13"/>
          <p:cNvSpPr/>
          <p:nvPr/>
        </p:nvSpPr>
        <p:spPr>
          <a:xfrm>
            <a:off x="411480" y="1591056"/>
            <a:ext cx="1874520" cy="548640"/>
          </a:xfrm>
          <a:prstGeom prst="rect">
            <a:avLst/>
          </a:prstGeom>
          <a:solidFill>
            <a:srgbClr val="FFFFFF"/>
          </a:solidFill>
          <a:ln w="6350">
            <a:solidFill>
              <a:srgbClr val="D3DCE5"/>
            </a:solidFill>
            <a:prstDash val="solid"/>
          </a:ln>
        </p:spPr>
      </p:sp>
      <p:sp>
        <p:nvSpPr>
          <p:cNvPr id="16" name="Text 14"/>
          <p:cNvSpPr txBox="1"/>
          <p:nvPr/>
        </p:nvSpPr>
        <p:spPr>
          <a:xfrm>
            <a:off x="475488" y="1591056"/>
            <a:ext cx="1746504" cy="54864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Zimbabwe</a:t>
            </a:r>
            <a:endParaRPr lang="en-US" sz="850" dirty="0"/>
          </a:p>
        </p:txBody>
      </p:sp>
      <p:sp>
        <p:nvSpPr>
          <p:cNvPr id="17" name="Shape 15"/>
          <p:cNvSpPr/>
          <p:nvPr/>
        </p:nvSpPr>
        <p:spPr>
          <a:xfrm>
            <a:off x="2286000" y="1591056"/>
            <a:ext cx="3886200" cy="548640"/>
          </a:xfrm>
          <a:prstGeom prst="rect">
            <a:avLst/>
          </a:prstGeom>
          <a:solidFill>
            <a:srgbClr val="FFFFFF"/>
          </a:solidFill>
          <a:ln w="6350">
            <a:solidFill>
              <a:srgbClr val="D3DCE5"/>
            </a:solidFill>
            <a:prstDash val="solid"/>
          </a:ln>
        </p:spPr>
      </p:sp>
      <p:sp>
        <p:nvSpPr>
          <p:cNvPr id="18" name="Text 16"/>
          <p:cNvSpPr txBox="1"/>
          <p:nvPr/>
        </p:nvSpPr>
        <p:spPr>
          <a:xfrm>
            <a:off x="2350008" y="1591056"/>
            <a:ext cx="3758184" cy="54864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Ban on all raw mineral and concentrate exports, forcing domestic processing</a:t>
            </a:r>
            <a:endParaRPr lang="en-US" sz="850" dirty="0"/>
          </a:p>
        </p:txBody>
      </p:sp>
      <p:sp>
        <p:nvSpPr>
          <p:cNvPr id="19" name="Shape 17"/>
          <p:cNvSpPr/>
          <p:nvPr/>
        </p:nvSpPr>
        <p:spPr>
          <a:xfrm>
            <a:off x="6172200" y="1591056"/>
            <a:ext cx="1691640" cy="548640"/>
          </a:xfrm>
          <a:prstGeom prst="rect">
            <a:avLst/>
          </a:prstGeom>
          <a:solidFill>
            <a:srgbClr val="FFFFFF"/>
          </a:solidFill>
          <a:ln w="6350">
            <a:solidFill>
              <a:srgbClr val="D3DCE5"/>
            </a:solidFill>
            <a:prstDash val="solid"/>
          </a:ln>
        </p:spPr>
      </p:sp>
      <p:sp>
        <p:nvSpPr>
          <p:cNvPr id="20" name="Text 18"/>
          <p:cNvSpPr txBox="1"/>
          <p:nvPr/>
        </p:nvSpPr>
        <p:spPr>
          <a:xfrm>
            <a:off x="6236208" y="1591056"/>
            <a:ext cx="1563624" cy="548640"/>
          </a:xfrm>
          <a:prstGeom prst="rect">
            <a:avLst/>
          </a:prstGeom>
          <a:noFill/>
          <a:ln/>
        </p:spPr>
        <p:txBody>
          <a:bodyPr wrap="square" lIns="0" tIns="0" rIns="0" bIns="0" rtlCol="0" anchor="ctr"/>
          <a:lstStyle/>
          <a:p>
            <a:pPr algn="ctr" indent="0" marL="0">
              <a:buNone/>
            </a:pPr>
            <a:r>
              <a:rPr lang="en-US" sz="850" b="1" dirty="0">
                <a:solidFill>
                  <a:srgbClr val="0E7C6B"/>
                </a:solidFill>
                <a:latin typeface="Calibri" pitchFamily="34" charset="0"/>
                <a:ea typeface="Calibri" pitchFamily="34" charset="-122"/>
                <a:cs typeface="Calibri" pitchFamily="34" charset="-120"/>
              </a:rPr>
              <a:t>25 Feb 2026</a:t>
            </a:r>
            <a:endParaRPr lang="en-US" sz="850" dirty="0"/>
          </a:p>
        </p:txBody>
      </p:sp>
      <p:sp>
        <p:nvSpPr>
          <p:cNvPr id="21" name="Shape 19"/>
          <p:cNvSpPr/>
          <p:nvPr/>
        </p:nvSpPr>
        <p:spPr>
          <a:xfrm>
            <a:off x="7863840" y="1591056"/>
            <a:ext cx="3922776" cy="548640"/>
          </a:xfrm>
          <a:prstGeom prst="rect">
            <a:avLst/>
          </a:prstGeom>
          <a:solidFill>
            <a:srgbClr val="FFFFFF"/>
          </a:solidFill>
          <a:ln w="6350">
            <a:solidFill>
              <a:srgbClr val="D3DCE5"/>
            </a:solidFill>
            <a:prstDash val="solid"/>
          </a:ln>
        </p:spPr>
      </p:sp>
      <p:sp>
        <p:nvSpPr>
          <p:cNvPr id="22" name="Text 20"/>
          <p:cNvSpPr txBox="1"/>
          <p:nvPr/>
        </p:nvSpPr>
        <p:spPr>
          <a:xfrm>
            <a:off x="7927848" y="1591056"/>
            <a:ext cx="3794760" cy="54864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Arrived nearly a year earlier than the market expected; concentrate exports had been assumed legal until January 2027</a:t>
            </a:r>
            <a:endParaRPr lang="en-US" sz="850" dirty="0"/>
          </a:p>
        </p:txBody>
      </p:sp>
      <p:sp>
        <p:nvSpPr>
          <p:cNvPr id="23" name="Shape 21"/>
          <p:cNvSpPr/>
          <p:nvPr/>
        </p:nvSpPr>
        <p:spPr>
          <a:xfrm>
            <a:off x="411480" y="2139696"/>
            <a:ext cx="1874520" cy="548640"/>
          </a:xfrm>
          <a:prstGeom prst="rect">
            <a:avLst/>
          </a:prstGeom>
          <a:solidFill>
            <a:srgbClr val="F7F9FB"/>
          </a:solidFill>
          <a:ln w="6350">
            <a:solidFill>
              <a:srgbClr val="D3DCE5"/>
            </a:solidFill>
            <a:prstDash val="solid"/>
          </a:ln>
        </p:spPr>
      </p:sp>
      <p:sp>
        <p:nvSpPr>
          <p:cNvPr id="24" name="Text 22"/>
          <p:cNvSpPr txBox="1"/>
          <p:nvPr/>
        </p:nvSpPr>
        <p:spPr>
          <a:xfrm>
            <a:off x="475488" y="2139696"/>
            <a:ext cx="1746504" cy="54864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China</a:t>
            </a:r>
            <a:endParaRPr lang="en-US" sz="850" dirty="0"/>
          </a:p>
        </p:txBody>
      </p:sp>
      <p:sp>
        <p:nvSpPr>
          <p:cNvPr id="25" name="Shape 23"/>
          <p:cNvSpPr/>
          <p:nvPr/>
        </p:nvSpPr>
        <p:spPr>
          <a:xfrm>
            <a:off x="2286000" y="2139696"/>
            <a:ext cx="3886200" cy="548640"/>
          </a:xfrm>
          <a:prstGeom prst="rect">
            <a:avLst/>
          </a:prstGeom>
          <a:solidFill>
            <a:srgbClr val="F7F9FB"/>
          </a:solidFill>
          <a:ln w="6350">
            <a:solidFill>
              <a:srgbClr val="D3DCE5"/>
            </a:solidFill>
            <a:prstDash val="solid"/>
          </a:ln>
        </p:spPr>
      </p:sp>
      <p:sp>
        <p:nvSpPr>
          <p:cNvPr id="26" name="Text 24"/>
          <p:cNvSpPr txBox="1"/>
          <p:nvPr/>
        </p:nvSpPr>
        <p:spPr>
          <a:xfrm>
            <a:off x="2350008" y="2139696"/>
            <a:ext cx="3758184" cy="54864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Mining-licence enforcement in Jiangxi; Jianxiawo suspended twice</a:t>
            </a:r>
            <a:endParaRPr lang="en-US" sz="850" dirty="0"/>
          </a:p>
        </p:txBody>
      </p:sp>
      <p:sp>
        <p:nvSpPr>
          <p:cNvPr id="27" name="Shape 25"/>
          <p:cNvSpPr/>
          <p:nvPr/>
        </p:nvSpPr>
        <p:spPr>
          <a:xfrm>
            <a:off x="6172200" y="2139696"/>
            <a:ext cx="1691640" cy="548640"/>
          </a:xfrm>
          <a:prstGeom prst="rect">
            <a:avLst/>
          </a:prstGeom>
          <a:solidFill>
            <a:srgbClr val="F7F9FB"/>
          </a:solidFill>
          <a:ln w="6350">
            <a:solidFill>
              <a:srgbClr val="D3DCE5"/>
            </a:solidFill>
            <a:prstDash val="solid"/>
          </a:ln>
        </p:spPr>
      </p:sp>
      <p:sp>
        <p:nvSpPr>
          <p:cNvPr id="28" name="Text 26"/>
          <p:cNvSpPr txBox="1"/>
          <p:nvPr/>
        </p:nvSpPr>
        <p:spPr>
          <a:xfrm>
            <a:off x="6236208" y="2139696"/>
            <a:ext cx="1563624" cy="548640"/>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2025-2026</a:t>
            </a:r>
            <a:endParaRPr lang="en-US" sz="850" dirty="0"/>
          </a:p>
        </p:txBody>
      </p:sp>
      <p:sp>
        <p:nvSpPr>
          <p:cNvPr id="29" name="Shape 27"/>
          <p:cNvSpPr/>
          <p:nvPr/>
        </p:nvSpPr>
        <p:spPr>
          <a:xfrm>
            <a:off x="7863840" y="2139696"/>
            <a:ext cx="3922776" cy="548640"/>
          </a:xfrm>
          <a:prstGeom prst="rect">
            <a:avLst/>
          </a:prstGeom>
          <a:solidFill>
            <a:srgbClr val="F7F9FB"/>
          </a:solidFill>
          <a:ln w="6350">
            <a:solidFill>
              <a:srgbClr val="D3DCE5"/>
            </a:solidFill>
            <a:prstDash val="solid"/>
          </a:ln>
        </p:spPr>
      </p:sp>
      <p:sp>
        <p:nvSpPr>
          <p:cNvPr id="30" name="Text 28"/>
          <p:cNvSpPr txBox="1"/>
          <p:nvPr/>
        </p:nvSpPr>
        <p:spPr>
          <a:xfrm>
            <a:off x="7927848" y="2139696"/>
            <a:ext cx="3794760" cy="54864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Removes the highest-cost, highest-waste tonnes; review may run into 2027</a:t>
            </a:r>
            <a:endParaRPr lang="en-US" sz="850" dirty="0"/>
          </a:p>
        </p:txBody>
      </p:sp>
      <p:sp>
        <p:nvSpPr>
          <p:cNvPr id="31" name="Shape 29"/>
          <p:cNvSpPr/>
          <p:nvPr/>
        </p:nvSpPr>
        <p:spPr>
          <a:xfrm>
            <a:off x="411480" y="2688336"/>
            <a:ext cx="1874520" cy="548640"/>
          </a:xfrm>
          <a:prstGeom prst="rect">
            <a:avLst/>
          </a:prstGeom>
          <a:solidFill>
            <a:srgbClr val="FFFFFF"/>
          </a:solidFill>
          <a:ln w="6350">
            <a:solidFill>
              <a:srgbClr val="D3DCE5"/>
            </a:solidFill>
            <a:prstDash val="solid"/>
          </a:ln>
        </p:spPr>
      </p:sp>
      <p:sp>
        <p:nvSpPr>
          <p:cNvPr id="32" name="Text 30"/>
          <p:cNvSpPr txBox="1"/>
          <p:nvPr/>
        </p:nvSpPr>
        <p:spPr>
          <a:xfrm>
            <a:off x="475488" y="2688336"/>
            <a:ext cx="1746504" cy="54864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Indonesia, historically</a:t>
            </a:r>
            <a:endParaRPr lang="en-US" sz="850" dirty="0"/>
          </a:p>
        </p:txBody>
      </p:sp>
      <p:sp>
        <p:nvSpPr>
          <p:cNvPr id="33" name="Shape 31"/>
          <p:cNvSpPr/>
          <p:nvPr/>
        </p:nvSpPr>
        <p:spPr>
          <a:xfrm>
            <a:off x="2286000" y="2688336"/>
            <a:ext cx="3886200" cy="548640"/>
          </a:xfrm>
          <a:prstGeom prst="rect">
            <a:avLst/>
          </a:prstGeom>
          <a:solidFill>
            <a:srgbClr val="FFFFFF"/>
          </a:solidFill>
          <a:ln w="6350">
            <a:solidFill>
              <a:srgbClr val="D3DCE5"/>
            </a:solidFill>
            <a:prstDash val="solid"/>
          </a:ln>
        </p:spPr>
      </p:sp>
      <p:sp>
        <p:nvSpPr>
          <p:cNvPr id="34" name="Text 32"/>
          <p:cNvSpPr txBox="1"/>
          <p:nvPr/>
        </p:nvSpPr>
        <p:spPr>
          <a:xfrm>
            <a:off x="2350008" y="2688336"/>
            <a:ext cx="3758184" cy="54864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Nickel ore export ban forcing downstream investment</a:t>
            </a:r>
            <a:endParaRPr lang="en-US" sz="850" dirty="0"/>
          </a:p>
        </p:txBody>
      </p:sp>
      <p:sp>
        <p:nvSpPr>
          <p:cNvPr id="35" name="Shape 33"/>
          <p:cNvSpPr/>
          <p:nvPr/>
        </p:nvSpPr>
        <p:spPr>
          <a:xfrm>
            <a:off x="6172200" y="2688336"/>
            <a:ext cx="1691640" cy="548640"/>
          </a:xfrm>
          <a:prstGeom prst="rect">
            <a:avLst/>
          </a:prstGeom>
          <a:solidFill>
            <a:srgbClr val="FFFFFF"/>
          </a:solidFill>
          <a:ln w="6350">
            <a:solidFill>
              <a:srgbClr val="D3DCE5"/>
            </a:solidFill>
            <a:prstDash val="solid"/>
          </a:ln>
        </p:spPr>
      </p:sp>
      <p:sp>
        <p:nvSpPr>
          <p:cNvPr id="36" name="Text 34"/>
          <p:cNvSpPr txBox="1"/>
          <p:nvPr/>
        </p:nvSpPr>
        <p:spPr>
          <a:xfrm>
            <a:off x="6236208" y="2688336"/>
            <a:ext cx="1563624" cy="548640"/>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2014, 2020</a:t>
            </a:r>
            <a:endParaRPr lang="en-US" sz="850" dirty="0"/>
          </a:p>
        </p:txBody>
      </p:sp>
      <p:sp>
        <p:nvSpPr>
          <p:cNvPr id="37" name="Shape 35"/>
          <p:cNvSpPr/>
          <p:nvPr/>
        </p:nvSpPr>
        <p:spPr>
          <a:xfrm>
            <a:off x="7863840" y="2688336"/>
            <a:ext cx="3922776" cy="548640"/>
          </a:xfrm>
          <a:prstGeom prst="rect">
            <a:avLst/>
          </a:prstGeom>
          <a:solidFill>
            <a:srgbClr val="FFFFFF"/>
          </a:solidFill>
          <a:ln w="6350">
            <a:solidFill>
              <a:srgbClr val="D3DCE5"/>
            </a:solidFill>
            <a:prstDash val="solid"/>
          </a:ln>
        </p:spPr>
      </p:sp>
      <p:sp>
        <p:nvSpPr>
          <p:cNvPr id="38" name="Text 36"/>
          <p:cNvSpPr txBox="1"/>
          <p:nvPr/>
        </p:nvSpPr>
        <p:spPr>
          <a:xfrm>
            <a:off x="7927848" y="2688336"/>
            <a:ext cx="3794760" cy="54864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The template. Resource nationalism in battery materials is an established playbook, not a novelty</a:t>
            </a:r>
            <a:endParaRPr lang="en-US" sz="850" dirty="0"/>
          </a:p>
        </p:txBody>
      </p:sp>
      <p:sp>
        <p:nvSpPr>
          <p:cNvPr id="39" name="Shape 37"/>
          <p:cNvSpPr/>
          <p:nvPr/>
        </p:nvSpPr>
        <p:spPr>
          <a:xfrm>
            <a:off x="411480" y="3236976"/>
            <a:ext cx="1874520" cy="548640"/>
          </a:xfrm>
          <a:prstGeom prst="rect">
            <a:avLst/>
          </a:prstGeom>
          <a:solidFill>
            <a:srgbClr val="F7F9FB"/>
          </a:solidFill>
          <a:ln w="6350">
            <a:solidFill>
              <a:srgbClr val="D3DCE5"/>
            </a:solidFill>
            <a:prstDash val="solid"/>
          </a:ln>
        </p:spPr>
      </p:sp>
      <p:sp>
        <p:nvSpPr>
          <p:cNvPr id="40" name="Text 38"/>
          <p:cNvSpPr txBox="1"/>
          <p:nvPr/>
        </p:nvSpPr>
        <p:spPr>
          <a:xfrm>
            <a:off x="475488" y="3236976"/>
            <a:ext cx="1746504" cy="54864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Chile</a:t>
            </a:r>
            <a:endParaRPr lang="en-US" sz="850" dirty="0"/>
          </a:p>
        </p:txBody>
      </p:sp>
      <p:sp>
        <p:nvSpPr>
          <p:cNvPr id="41" name="Shape 39"/>
          <p:cNvSpPr/>
          <p:nvPr/>
        </p:nvSpPr>
        <p:spPr>
          <a:xfrm>
            <a:off x="2286000" y="3236976"/>
            <a:ext cx="3886200" cy="548640"/>
          </a:xfrm>
          <a:prstGeom prst="rect">
            <a:avLst/>
          </a:prstGeom>
          <a:solidFill>
            <a:srgbClr val="F7F9FB"/>
          </a:solidFill>
          <a:ln w="6350">
            <a:solidFill>
              <a:srgbClr val="D3DCE5"/>
            </a:solidFill>
            <a:prstDash val="solid"/>
          </a:ln>
        </p:spPr>
      </p:sp>
      <p:sp>
        <p:nvSpPr>
          <p:cNvPr id="42" name="Text 40"/>
          <p:cNvSpPr txBox="1"/>
          <p:nvPr/>
        </p:nvSpPr>
        <p:spPr>
          <a:xfrm>
            <a:off x="2350008" y="3236976"/>
            <a:ext cx="3758184" cy="54864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State participation in lithium via a national strategy</a:t>
            </a:r>
            <a:endParaRPr lang="en-US" sz="850" dirty="0"/>
          </a:p>
        </p:txBody>
      </p:sp>
      <p:sp>
        <p:nvSpPr>
          <p:cNvPr id="43" name="Shape 41"/>
          <p:cNvSpPr/>
          <p:nvPr/>
        </p:nvSpPr>
        <p:spPr>
          <a:xfrm>
            <a:off x="6172200" y="3236976"/>
            <a:ext cx="1691640" cy="548640"/>
          </a:xfrm>
          <a:prstGeom prst="rect">
            <a:avLst/>
          </a:prstGeom>
          <a:solidFill>
            <a:srgbClr val="F7F9FB"/>
          </a:solidFill>
          <a:ln w="6350">
            <a:solidFill>
              <a:srgbClr val="D3DCE5"/>
            </a:solidFill>
            <a:prstDash val="solid"/>
          </a:ln>
        </p:spPr>
      </p:sp>
      <p:sp>
        <p:nvSpPr>
          <p:cNvPr id="44" name="Text 42"/>
          <p:cNvSpPr txBox="1"/>
          <p:nvPr/>
        </p:nvSpPr>
        <p:spPr>
          <a:xfrm>
            <a:off x="6236208" y="3236976"/>
            <a:ext cx="1563624" cy="548640"/>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2023 onward</a:t>
            </a:r>
            <a:endParaRPr lang="en-US" sz="850" dirty="0"/>
          </a:p>
        </p:txBody>
      </p:sp>
      <p:sp>
        <p:nvSpPr>
          <p:cNvPr id="45" name="Shape 43"/>
          <p:cNvSpPr/>
          <p:nvPr/>
        </p:nvSpPr>
        <p:spPr>
          <a:xfrm>
            <a:off x="7863840" y="3236976"/>
            <a:ext cx="3922776" cy="548640"/>
          </a:xfrm>
          <a:prstGeom prst="rect">
            <a:avLst/>
          </a:prstGeom>
          <a:solidFill>
            <a:srgbClr val="F7F9FB"/>
          </a:solidFill>
          <a:ln w="6350">
            <a:solidFill>
              <a:srgbClr val="D3DCE5"/>
            </a:solidFill>
            <a:prstDash val="solid"/>
          </a:ln>
        </p:spPr>
      </p:sp>
      <p:sp>
        <p:nvSpPr>
          <p:cNvPr id="46" name="Text 44"/>
          <p:cNvSpPr txBox="1"/>
          <p:nvPr/>
        </p:nvSpPr>
        <p:spPr>
          <a:xfrm>
            <a:off x="7927848" y="3236976"/>
            <a:ext cx="3794760" cy="54864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Raises the bar for new brine supply from the lowest-cost basin</a:t>
            </a:r>
            <a:endParaRPr lang="en-US" sz="850" dirty="0"/>
          </a:p>
        </p:txBody>
      </p:sp>
      <p:sp>
        <p:nvSpPr>
          <p:cNvPr id="47" name="Shape 45"/>
          <p:cNvSpPr/>
          <p:nvPr/>
        </p:nvSpPr>
        <p:spPr>
          <a:xfrm>
            <a:off x="411480" y="3785616"/>
            <a:ext cx="1874520" cy="548640"/>
          </a:xfrm>
          <a:prstGeom prst="rect">
            <a:avLst/>
          </a:prstGeom>
          <a:solidFill>
            <a:srgbClr val="FFFFFF"/>
          </a:solidFill>
          <a:ln w="6350">
            <a:solidFill>
              <a:srgbClr val="D3DCE5"/>
            </a:solidFill>
            <a:prstDash val="solid"/>
          </a:ln>
        </p:spPr>
      </p:sp>
      <p:sp>
        <p:nvSpPr>
          <p:cNvPr id="48" name="Text 46"/>
          <p:cNvSpPr txBox="1"/>
          <p:nvPr/>
        </p:nvSpPr>
        <p:spPr>
          <a:xfrm>
            <a:off x="475488" y="3785616"/>
            <a:ext cx="1746504" cy="54864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Australia</a:t>
            </a:r>
            <a:endParaRPr lang="en-US" sz="850" dirty="0"/>
          </a:p>
        </p:txBody>
      </p:sp>
      <p:sp>
        <p:nvSpPr>
          <p:cNvPr id="49" name="Shape 47"/>
          <p:cNvSpPr/>
          <p:nvPr/>
        </p:nvSpPr>
        <p:spPr>
          <a:xfrm>
            <a:off x="2286000" y="3785616"/>
            <a:ext cx="3886200" cy="548640"/>
          </a:xfrm>
          <a:prstGeom prst="rect">
            <a:avLst/>
          </a:prstGeom>
          <a:solidFill>
            <a:srgbClr val="FFFFFF"/>
          </a:solidFill>
          <a:ln w="6350">
            <a:solidFill>
              <a:srgbClr val="D3DCE5"/>
            </a:solidFill>
            <a:prstDash val="solid"/>
          </a:ln>
        </p:spPr>
      </p:sp>
      <p:sp>
        <p:nvSpPr>
          <p:cNvPr id="50" name="Text 48"/>
          <p:cNvSpPr txBox="1"/>
          <p:nvPr/>
        </p:nvSpPr>
        <p:spPr>
          <a:xfrm>
            <a:off x="2350008" y="3785616"/>
            <a:ext cx="3758184" cy="54864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Critical Minerals Production Tax Incentive: a 10% refundable offset on eligible processing costs</a:t>
            </a:r>
            <a:endParaRPr lang="en-US" sz="850" dirty="0"/>
          </a:p>
        </p:txBody>
      </p:sp>
      <p:sp>
        <p:nvSpPr>
          <p:cNvPr id="51" name="Shape 49"/>
          <p:cNvSpPr/>
          <p:nvPr/>
        </p:nvSpPr>
        <p:spPr>
          <a:xfrm>
            <a:off x="6172200" y="3785616"/>
            <a:ext cx="1691640" cy="548640"/>
          </a:xfrm>
          <a:prstGeom prst="rect">
            <a:avLst/>
          </a:prstGeom>
          <a:solidFill>
            <a:srgbClr val="FFFFFF"/>
          </a:solidFill>
          <a:ln w="6350">
            <a:solidFill>
              <a:srgbClr val="D3DCE5"/>
            </a:solidFill>
            <a:prstDash val="solid"/>
          </a:ln>
        </p:spPr>
      </p:sp>
      <p:sp>
        <p:nvSpPr>
          <p:cNvPr id="52" name="Text 50"/>
          <p:cNvSpPr txBox="1"/>
          <p:nvPr/>
        </p:nvSpPr>
        <p:spPr>
          <a:xfrm>
            <a:off x="6236208" y="3785616"/>
            <a:ext cx="1563624" cy="548640"/>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Legislated</a:t>
            </a:r>
            <a:endParaRPr lang="en-US" sz="850" dirty="0"/>
          </a:p>
        </p:txBody>
      </p:sp>
      <p:sp>
        <p:nvSpPr>
          <p:cNvPr id="53" name="Shape 51"/>
          <p:cNvSpPr/>
          <p:nvPr/>
        </p:nvSpPr>
        <p:spPr>
          <a:xfrm>
            <a:off x="7863840" y="3785616"/>
            <a:ext cx="3922776" cy="548640"/>
          </a:xfrm>
          <a:prstGeom prst="rect">
            <a:avLst/>
          </a:prstGeom>
          <a:solidFill>
            <a:srgbClr val="FFFFFF"/>
          </a:solidFill>
          <a:ln w="6350">
            <a:solidFill>
              <a:srgbClr val="D3DCE5"/>
            </a:solidFill>
            <a:prstDash val="solid"/>
          </a:ln>
        </p:spPr>
      </p:sp>
      <p:sp>
        <p:nvSpPr>
          <p:cNvPr id="54" name="Text 52"/>
          <p:cNvSpPr txBox="1"/>
          <p:nvPr/>
        </p:nvSpPr>
        <p:spPr>
          <a:xfrm>
            <a:off x="7927848" y="3785616"/>
            <a:ext cx="3794760" cy="54864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Pushes in the opposite direction - it subsidises domestic downstream processing rather than restricting exports</a:t>
            </a:r>
            <a:endParaRPr lang="en-US" sz="850" dirty="0"/>
          </a:p>
        </p:txBody>
      </p:sp>
      <p:sp>
        <p:nvSpPr>
          <p:cNvPr id="55" name="Shape 53"/>
          <p:cNvSpPr/>
          <p:nvPr/>
        </p:nvSpPr>
        <p:spPr>
          <a:xfrm>
            <a:off x="411480" y="4425696"/>
            <a:ext cx="5577840" cy="1335024"/>
          </a:xfrm>
          <a:prstGeom prst="rect">
            <a:avLst/>
          </a:prstGeom>
          <a:solidFill>
            <a:srgbClr val="D6EBE7"/>
          </a:solidFill>
          <a:ln w="9525">
            <a:solidFill>
              <a:srgbClr val="AFD3CC"/>
            </a:solidFill>
            <a:prstDash val="solid"/>
          </a:ln>
        </p:spPr>
      </p:sp>
      <p:sp>
        <p:nvSpPr>
          <p:cNvPr id="56" name="Text 54"/>
          <p:cNvSpPr txBox="1"/>
          <p:nvPr/>
        </p:nvSpPr>
        <p:spPr>
          <a:xfrm>
            <a:off x="576072" y="4553712"/>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What it means for the supply forecast</a:t>
            </a:r>
            <a:endParaRPr lang="en-US" sz="1150" dirty="0"/>
          </a:p>
        </p:txBody>
      </p:sp>
      <p:sp>
        <p:nvSpPr>
          <p:cNvPr id="57" name="Text 55"/>
          <p:cNvSpPr txBox="1"/>
          <p:nvPr/>
        </p:nvSpPr>
        <p:spPr>
          <a:xfrm>
            <a:off x="576072" y="4882896"/>
            <a:ext cx="5248656" cy="786384"/>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Every forecaster's 2027-2030 supply curve assumes projects come on when economics allow. Two of the last twelve months' largest supply events had nothing to do with economics. That asymmetry matters: political supply interruptions are almost always restrictive, rarely expansive. It biases the distribution of supply outcomes toward tighter, not looser.</a:t>
            </a:r>
            <a:endParaRPr lang="en-US" sz="900" dirty="0"/>
          </a:p>
        </p:txBody>
      </p:sp>
      <p:sp>
        <p:nvSpPr>
          <p:cNvPr id="58" name="Shape 56"/>
          <p:cNvSpPr/>
          <p:nvPr/>
        </p:nvSpPr>
        <p:spPr>
          <a:xfrm>
            <a:off x="6208776" y="4425696"/>
            <a:ext cx="5577840" cy="1335024"/>
          </a:xfrm>
          <a:prstGeom prst="rect">
            <a:avLst/>
          </a:prstGeom>
          <a:solidFill>
            <a:srgbClr val="FBEBD9"/>
          </a:solidFill>
          <a:ln w="9525">
            <a:solidFill>
              <a:srgbClr val="E8C9A3"/>
            </a:solidFill>
            <a:prstDash val="solid"/>
          </a:ln>
        </p:spPr>
      </p:sp>
      <p:sp>
        <p:nvSpPr>
          <p:cNvPr id="59" name="Text 57"/>
          <p:cNvSpPr txBox="1"/>
          <p:nvPr/>
        </p:nvSpPr>
        <p:spPr>
          <a:xfrm>
            <a:off x="6373368" y="4553712"/>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And what it means for PLS specifically</a:t>
            </a:r>
            <a:endParaRPr lang="en-US" sz="1150" dirty="0"/>
          </a:p>
        </p:txBody>
      </p:sp>
      <p:sp>
        <p:nvSpPr>
          <p:cNvPr id="60" name="Text 58"/>
          <p:cNvSpPr txBox="1"/>
          <p:nvPr/>
        </p:nvSpPr>
        <p:spPr>
          <a:xfrm>
            <a:off x="6373368" y="4882896"/>
            <a:ext cx="5248656" cy="786384"/>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Australia is the counter-example on this page: rather than restricting exports, it is subsidising domestic processing through a 10% refundable production tax offset. We have not put a number on PLS's eligibility because we could not verify whether the mid-stream plant qualifies. If it does, it improves the economics of exactly the asset our level-one thesis depends on. We carry that at zero.</a:t>
            </a:r>
            <a:endParaRPr lang="en-US" sz="900" dirty="0"/>
          </a:p>
        </p:txBody>
      </p:sp>
      <p:sp>
        <p:nvSpPr>
          <p:cNvPr id="61" name="Text 59"/>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Government of Zimbabwe export ban, 25 February 2026; Australian Government Critical Minerals Production Tax Incentive; Reuters and S&amp;P Global coverage. We did not verify PLS's CMPTI eligibility and carry it at nil.</a:t>
            </a:r>
            <a:endParaRPr lang="en-US" sz="720" dirty="0"/>
          </a:p>
        </p:txBody>
      </p:sp>
      <p:sp>
        <p:nvSpPr>
          <p:cNvPr id="62" name="Text 60"/>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B5</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Three idled operations moved to restart in the same window, and the Platts benchmark fell US$270 a tonne in a single week.</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B6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331720" cy="292608"/>
          </a:xfrm>
          <a:prstGeom prst="rect">
            <a:avLst/>
          </a:prstGeom>
          <a:solidFill>
            <a:srgbClr val="10233A"/>
          </a:solidFill>
          <a:ln/>
        </p:spPr>
      </p:sp>
      <p:sp>
        <p:nvSpPr>
          <p:cNvPr id="8" name="Text 6"/>
          <p:cNvSpPr txBox="1"/>
          <p:nvPr/>
        </p:nvSpPr>
        <p:spPr>
          <a:xfrm>
            <a:off x="475488" y="1298448"/>
            <a:ext cx="22037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Operation</a:t>
            </a:r>
            <a:endParaRPr lang="en-US" sz="900" dirty="0"/>
          </a:p>
        </p:txBody>
      </p:sp>
      <p:sp>
        <p:nvSpPr>
          <p:cNvPr id="9" name="Shape 7"/>
          <p:cNvSpPr/>
          <p:nvPr/>
        </p:nvSpPr>
        <p:spPr>
          <a:xfrm>
            <a:off x="2743200" y="1298448"/>
            <a:ext cx="2011680" cy="292608"/>
          </a:xfrm>
          <a:prstGeom prst="rect">
            <a:avLst/>
          </a:prstGeom>
          <a:solidFill>
            <a:srgbClr val="10233A"/>
          </a:solidFill>
          <a:ln/>
        </p:spPr>
      </p:sp>
      <p:sp>
        <p:nvSpPr>
          <p:cNvPr id="10" name="Text 8"/>
          <p:cNvSpPr txBox="1"/>
          <p:nvPr/>
        </p:nvSpPr>
        <p:spPr>
          <a:xfrm>
            <a:off x="2807208" y="1298448"/>
            <a:ext cx="188366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Owner</a:t>
            </a:r>
            <a:endParaRPr lang="en-US" sz="900" dirty="0"/>
          </a:p>
        </p:txBody>
      </p:sp>
      <p:sp>
        <p:nvSpPr>
          <p:cNvPr id="11" name="Shape 9"/>
          <p:cNvSpPr/>
          <p:nvPr/>
        </p:nvSpPr>
        <p:spPr>
          <a:xfrm>
            <a:off x="4754880" y="1298448"/>
            <a:ext cx="2514600" cy="292608"/>
          </a:xfrm>
          <a:prstGeom prst="rect">
            <a:avLst/>
          </a:prstGeom>
          <a:solidFill>
            <a:srgbClr val="10233A"/>
          </a:solidFill>
          <a:ln/>
        </p:spPr>
      </p:sp>
      <p:sp>
        <p:nvSpPr>
          <p:cNvPr id="12" name="Text 10"/>
          <p:cNvSpPr txBox="1"/>
          <p:nvPr/>
        </p:nvSpPr>
        <p:spPr>
          <a:xfrm>
            <a:off x="4818888" y="1298448"/>
            <a:ext cx="238658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p>
        </p:txBody>
      </p:sp>
      <p:sp>
        <p:nvSpPr>
          <p:cNvPr id="13" name="Shape 11"/>
          <p:cNvSpPr/>
          <p:nvPr/>
        </p:nvSpPr>
        <p:spPr>
          <a:xfrm>
            <a:off x="7269480" y="1298448"/>
            <a:ext cx="4517136" cy="292608"/>
          </a:xfrm>
          <a:prstGeom prst="rect">
            <a:avLst/>
          </a:prstGeom>
          <a:solidFill>
            <a:srgbClr val="10233A"/>
          </a:solidFill>
          <a:ln/>
        </p:spPr>
      </p:sp>
      <p:sp>
        <p:nvSpPr>
          <p:cNvPr id="14" name="Text 12"/>
          <p:cNvSpPr txBox="1"/>
          <p:nvPr/>
        </p:nvSpPr>
        <p:spPr>
          <a:xfrm>
            <a:off x="7333488" y="1298448"/>
            <a:ext cx="438912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 it matters</a:t>
            </a:r>
            <a:endParaRPr lang="en-US" sz="900" dirty="0"/>
          </a:p>
        </p:txBody>
      </p:sp>
      <p:sp>
        <p:nvSpPr>
          <p:cNvPr id="15" name="Shape 13"/>
          <p:cNvSpPr/>
          <p:nvPr/>
        </p:nvSpPr>
        <p:spPr>
          <a:xfrm>
            <a:off x="411480" y="1591056"/>
            <a:ext cx="2331720" cy="530352"/>
          </a:xfrm>
          <a:prstGeom prst="rect">
            <a:avLst/>
          </a:prstGeom>
          <a:solidFill>
            <a:srgbClr val="FFFFFF"/>
          </a:solidFill>
          <a:ln w="6350">
            <a:solidFill>
              <a:srgbClr val="D3DCE5"/>
            </a:solidFill>
            <a:prstDash val="solid"/>
          </a:ln>
        </p:spPr>
      </p:sp>
      <p:sp>
        <p:nvSpPr>
          <p:cNvPr id="16" name="Text 14"/>
          <p:cNvSpPr txBox="1"/>
          <p:nvPr/>
        </p:nvSpPr>
        <p:spPr>
          <a:xfrm>
            <a:off x="475488" y="1591056"/>
            <a:ext cx="2203704" cy="530352"/>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Bald Hill</a:t>
            </a:r>
            <a:endParaRPr lang="en-US" sz="860" dirty="0"/>
          </a:p>
        </p:txBody>
      </p:sp>
      <p:sp>
        <p:nvSpPr>
          <p:cNvPr id="17" name="Shape 15"/>
          <p:cNvSpPr/>
          <p:nvPr/>
        </p:nvSpPr>
        <p:spPr>
          <a:xfrm>
            <a:off x="2743200" y="1591056"/>
            <a:ext cx="2011680" cy="530352"/>
          </a:xfrm>
          <a:prstGeom prst="rect">
            <a:avLst/>
          </a:prstGeom>
          <a:solidFill>
            <a:srgbClr val="FFFFFF"/>
          </a:solidFill>
          <a:ln w="6350">
            <a:solidFill>
              <a:srgbClr val="D3DCE5"/>
            </a:solidFill>
            <a:prstDash val="solid"/>
          </a:ln>
        </p:spPr>
      </p:sp>
      <p:sp>
        <p:nvSpPr>
          <p:cNvPr id="18" name="Text 16"/>
          <p:cNvSpPr txBox="1"/>
          <p:nvPr/>
        </p:nvSpPr>
        <p:spPr>
          <a:xfrm>
            <a:off x="2807208" y="1591056"/>
            <a:ext cx="1883664"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Mineral Resources</a:t>
            </a:r>
            <a:endParaRPr lang="en-US" sz="860" dirty="0"/>
          </a:p>
        </p:txBody>
      </p:sp>
      <p:sp>
        <p:nvSpPr>
          <p:cNvPr id="19" name="Shape 17"/>
          <p:cNvSpPr/>
          <p:nvPr/>
        </p:nvSpPr>
        <p:spPr>
          <a:xfrm>
            <a:off x="4754880" y="1591056"/>
            <a:ext cx="2514600" cy="530352"/>
          </a:xfrm>
          <a:prstGeom prst="rect">
            <a:avLst/>
          </a:prstGeom>
          <a:solidFill>
            <a:srgbClr val="FFFFFF"/>
          </a:solidFill>
          <a:ln w="6350">
            <a:solidFill>
              <a:srgbClr val="D3DCE5"/>
            </a:solidFill>
            <a:prstDash val="solid"/>
          </a:ln>
        </p:spPr>
      </p:sp>
      <p:sp>
        <p:nvSpPr>
          <p:cNvPr id="20" name="Text 18"/>
          <p:cNvSpPr txBox="1"/>
          <p:nvPr/>
        </p:nvSpPr>
        <p:spPr>
          <a:xfrm>
            <a:off x="4818888" y="1591056"/>
            <a:ext cx="2386584"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Restarted after being idled since November 2024; first shipment targeted in the first quarter of FY27</a:t>
            </a:r>
            <a:endParaRPr lang="en-US" sz="860" dirty="0"/>
          </a:p>
        </p:txBody>
      </p:sp>
      <p:sp>
        <p:nvSpPr>
          <p:cNvPr id="21" name="Shape 19"/>
          <p:cNvSpPr/>
          <p:nvPr/>
        </p:nvSpPr>
        <p:spPr>
          <a:xfrm>
            <a:off x="7269480" y="1591056"/>
            <a:ext cx="4517136" cy="530352"/>
          </a:xfrm>
          <a:prstGeom prst="rect">
            <a:avLst/>
          </a:prstGeom>
          <a:solidFill>
            <a:srgbClr val="FFFFFF"/>
          </a:solidFill>
          <a:ln w="6350">
            <a:solidFill>
              <a:srgbClr val="D3DCE5"/>
            </a:solidFill>
            <a:prstDash val="solid"/>
          </a:ln>
        </p:spPr>
      </p:sp>
      <p:sp>
        <p:nvSpPr>
          <p:cNvPr id="22" name="Text 20"/>
          <p:cNvSpPr txBox="1"/>
          <p:nvPr/>
        </p:nvSpPr>
        <p:spPr>
          <a:xfrm>
            <a:off x="7333488" y="1591056"/>
            <a:ext cx="4389120"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Direct Australian competitor tonnes returning to a recovering market</a:t>
            </a:r>
            <a:endParaRPr lang="en-US" sz="860" dirty="0"/>
          </a:p>
        </p:txBody>
      </p:sp>
      <p:sp>
        <p:nvSpPr>
          <p:cNvPr id="23" name="Shape 21"/>
          <p:cNvSpPr/>
          <p:nvPr/>
        </p:nvSpPr>
        <p:spPr>
          <a:xfrm>
            <a:off x="411480" y="2121408"/>
            <a:ext cx="2331720" cy="530352"/>
          </a:xfrm>
          <a:prstGeom prst="rect">
            <a:avLst/>
          </a:prstGeom>
          <a:solidFill>
            <a:srgbClr val="F7F9FB"/>
          </a:solidFill>
          <a:ln w="6350">
            <a:solidFill>
              <a:srgbClr val="D3DCE5"/>
            </a:solidFill>
            <a:prstDash val="solid"/>
          </a:ln>
        </p:spPr>
      </p:sp>
      <p:sp>
        <p:nvSpPr>
          <p:cNvPr id="24" name="Text 22"/>
          <p:cNvSpPr txBox="1"/>
          <p:nvPr/>
        </p:nvSpPr>
        <p:spPr>
          <a:xfrm>
            <a:off x="475488" y="2121408"/>
            <a:ext cx="2203704" cy="530352"/>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Finniss</a:t>
            </a:r>
            <a:endParaRPr lang="en-US" sz="860" dirty="0"/>
          </a:p>
        </p:txBody>
      </p:sp>
      <p:sp>
        <p:nvSpPr>
          <p:cNvPr id="25" name="Shape 23"/>
          <p:cNvSpPr/>
          <p:nvPr/>
        </p:nvSpPr>
        <p:spPr>
          <a:xfrm>
            <a:off x="2743200" y="2121408"/>
            <a:ext cx="2011680" cy="530352"/>
          </a:xfrm>
          <a:prstGeom prst="rect">
            <a:avLst/>
          </a:prstGeom>
          <a:solidFill>
            <a:srgbClr val="F7F9FB"/>
          </a:solidFill>
          <a:ln w="6350">
            <a:solidFill>
              <a:srgbClr val="D3DCE5"/>
            </a:solidFill>
            <a:prstDash val="solid"/>
          </a:ln>
        </p:spPr>
      </p:sp>
      <p:sp>
        <p:nvSpPr>
          <p:cNvPr id="26" name="Text 24"/>
          <p:cNvSpPr txBox="1"/>
          <p:nvPr/>
        </p:nvSpPr>
        <p:spPr>
          <a:xfrm>
            <a:off x="2807208" y="2121408"/>
            <a:ext cx="1883664"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Core Lithium</a:t>
            </a:r>
            <a:endParaRPr lang="en-US" sz="860" dirty="0"/>
          </a:p>
        </p:txBody>
      </p:sp>
      <p:sp>
        <p:nvSpPr>
          <p:cNvPr id="27" name="Shape 25"/>
          <p:cNvSpPr/>
          <p:nvPr/>
        </p:nvSpPr>
        <p:spPr>
          <a:xfrm>
            <a:off x="4754880" y="2121408"/>
            <a:ext cx="2514600" cy="530352"/>
          </a:xfrm>
          <a:prstGeom prst="rect">
            <a:avLst/>
          </a:prstGeom>
          <a:solidFill>
            <a:srgbClr val="F7F9FB"/>
          </a:solidFill>
          <a:ln w="6350">
            <a:solidFill>
              <a:srgbClr val="D3DCE5"/>
            </a:solidFill>
            <a:prstDash val="solid"/>
          </a:ln>
        </p:spPr>
      </p:sp>
      <p:sp>
        <p:nvSpPr>
          <p:cNvPr id="28" name="Text 26"/>
          <p:cNvSpPr txBox="1"/>
          <p:nvPr/>
        </p:nvSpPr>
        <p:spPr>
          <a:xfrm>
            <a:off x="4818888" y="2121408"/>
            <a:ext cx="2386584"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Moving to restart</a:t>
            </a:r>
            <a:endParaRPr lang="en-US" sz="860" dirty="0"/>
          </a:p>
        </p:txBody>
      </p:sp>
      <p:sp>
        <p:nvSpPr>
          <p:cNvPr id="29" name="Shape 27"/>
          <p:cNvSpPr/>
          <p:nvPr/>
        </p:nvSpPr>
        <p:spPr>
          <a:xfrm>
            <a:off x="7269480" y="2121408"/>
            <a:ext cx="4517136" cy="530352"/>
          </a:xfrm>
          <a:prstGeom prst="rect">
            <a:avLst/>
          </a:prstGeom>
          <a:solidFill>
            <a:srgbClr val="F7F9FB"/>
          </a:solidFill>
          <a:ln w="6350">
            <a:solidFill>
              <a:srgbClr val="D3DCE5"/>
            </a:solidFill>
            <a:prstDash val="solid"/>
          </a:ln>
        </p:spPr>
      </p:sp>
      <p:sp>
        <p:nvSpPr>
          <p:cNvPr id="30" name="Text 28"/>
          <p:cNvSpPr txBox="1"/>
          <p:nvPr/>
        </p:nvSpPr>
        <p:spPr>
          <a:xfrm>
            <a:off x="7333488" y="2121408"/>
            <a:ext cx="4389120"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 previously uneconomic Northern Territory operation made viable again by price</a:t>
            </a:r>
            <a:endParaRPr lang="en-US" sz="860" dirty="0"/>
          </a:p>
        </p:txBody>
      </p:sp>
      <p:sp>
        <p:nvSpPr>
          <p:cNvPr id="31" name="Shape 29"/>
          <p:cNvSpPr/>
          <p:nvPr/>
        </p:nvSpPr>
        <p:spPr>
          <a:xfrm>
            <a:off x="411480" y="2651760"/>
            <a:ext cx="2331720" cy="530352"/>
          </a:xfrm>
          <a:prstGeom prst="rect">
            <a:avLst/>
          </a:prstGeom>
          <a:solidFill>
            <a:srgbClr val="FFFFFF"/>
          </a:solidFill>
          <a:ln w="6350">
            <a:solidFill>
              <a:srgbClr val="D3DCE5"/>
            </a:solidFill>
            <a:prstDash val="solid"/>
          </a:ln>
        </p:spPr>
      </p:sp>
      <p:sp>
        <p:nvSpPr>
          <p:cNvPr id="32" name="Text 30"/>
          <p:cNvSpPr txBox="1"/>
          <p:nvPr/>
        </p:nvSpPr>
        <p:spPr>
          <a:xfrm>
            <a:off x="475488" y="2651760"/>
            <a:ext cx="2203704" cy="530352"/>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Jianxiawo</a:t>
            </a:r>
            <a:endParaRPr lang="en-US" sz="860" dirty="0"/>
          </a:p>
        </p:txBody>
      </p:sp>
      <p:sp>
        <p:nvSpPr>
          <p:cNvPr id="33" name="Shape 31"/>
          <p:cNvSpPr/>
          <p:nvPr/>
        </p:nvSpPr>
        <p:spPr>
          <a:xfrm>
            <a:off x="2743200" y="2651760"/>
            <a:ext cx="2011680" cy="530352"/>
          </a:xfrm>
          <a:prstGeom prst="rect">
            <a:avLst/>
          </a:prstGeom>
          <a:solidFill>
            <a:srgbClr val="FFFFFF"/>
          </a:solidFill>
          <a:ln w="6350">
            <a:solidFill>
              <a:srgbClr val="D3DCE5"/>
            </a:solidFill>
            <a:prstDash val="solid"/>
          </a:ln>
        </p:spPr>
      </p:sp>
      <p:sp>
        <p:nvSpPr>
          <p:cNvPr id="34" name="Text 32"/>
          <p:cNvSpPr txBox="1"/>
          <p:nvPr/>
        </p:nvSpPr>
        <p:spPr>
          <a:xfrm>
            <a:off x="2807208" y="2651760"/>
            <a:ext cx="1883664"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CATL</a:t>
            </a:r>
            <a:endParaRPr lang="en-US" sz="860" dirty="0"/>
          </a:p>
        </p:txBody>
      </p:sp>
      <p:sp>
        <p:nvSpPr>
          <p:cNvPr id="35" name="Shape 33"/>
          <p:cNvSpPr/>
          <p:nvPr/>
        </p:nvSpPr>
        <p:spPr>
          <a:xfrm>
            <a:off x="4754880" y="2651760"/>
            <a:ext cx="2514600" cy="530352"/>
          </a:xfrm>
          <a:prstGeom prst="rect">
            <a:avLst/>
          </a:prstGeom>
          <a:solidFill>
            <a:srgbClr val="FFFFFF"/>
          </a:solidFill>
          <a:ln w="6350">
            <a:solidFill>
              <a:srgbClr val="D3DCE5"/>
            </a:solidFill>
            <a:prstDash val="solid"/>
          </a:ln>
        </p:spPr>
      </p:sp>
      <p:sp>
        <p:nvSpPr>
          <p:cNvPr id="36" name="Text 34"/>
          <p:cNvSpPr txBox="1"/>
          <p:nvPr/>
        </p:nvSpPr>
        <p:spPr>
          <a:xfrm>
            <a:off x="4818888" y="2651760"/>
            <a:ext cx="2386584"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Restarted mid-2026, re-suspended August 2026</a:t>
            </a:r>
            <a:endParaRPr lang="en-US" sz="860" dirty="0"/>
          </a:p>
        </p:txBody>
      </p:sp>
      <p:sp>
        <p:nvSpPr>
          <p:cNvPr id="37" name="Shape 35"/>
          <p:cNvSpPr/>
          <p:nvPr/>
        </p:nvSpPr>
        <p:spPr>
          <a:xfrm>
            <a:off x="7269480" y="2651760"/>
            <a:ext cx="4517136" cy="530352"/>
          </a:xfrm>
          <a:prstGeom prst="rect">
            <a:avLst/>
          </a:prstGeom>
          <a:solidFill>
            <a:srgbClr val="FFFFFF"/>
          </a:solidFill>
          <a:ln w="6350">
            <a:solidFill>
              <a:srgbClr val="D3DCE5"/>
            </a:solidFill>
            <a:prstDash val="solid"/>
          </a:ln>
        </p:spPr>
      </p:sp>
      <p:sp>
        <p:nvSpPr>
          <p:cNvPr id="38" name="Text 36"/>
          <p:cNvSpPr txBox="1"/>
          <p:nvPr/>
        </p:nvSpPr>
        <p:spPr>
          <a:xfrm>
            <a:off x="7333488" y="2651760"/>
            <a:ext cx="4389120"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The largest single swing factor in the market</a:t>
            </a:r>
            <a:endParaRPr lang="en-US" sz="860" dirty="0"/>
          </a:p>
        </p:txBody>
      </p:sp>
      <p:sp>
        <p:nvSpPr>
          <p:cNvPr id="39" name="Shape 37"/>
          <p:cNvSpPr/>
          <p:nvPr/>
        </p:nvSpPr>
        <p:spPr>
          <a:xfrm>
            <a:off x="411480" y="3182112"/>
            <a:ext cx="2331720" cy="530352"/>
          </a:xfrm>
          <a:prstGeom prst="rect">
            <a:avLst/>
          </a:prstGeom>
          <a:solidFill>
            <a:srgbClr val="D6EBE7"/>
          </a:solidFill>
          <a:ln w="6350">
            <a:solidFill>
              <a:srgbClr val="D3DCE5"/>
            </a:solidFill>
            <a:prstDash val="solid"/>
          </a:ln>
        </p:spPr>
      </p:sp>
      <p:sp>
        <p:nvSpPr>
          <p:cNvPr id="40" name="Text 38"/>
          <p:cNvSpPr txBox="1"/>
          <p:nvPr/>
        </p:nvSpPr>
        <p:spPr>
          <a:xfrm>
            <a:off x="475488" y="3182112"/>
            <a:ext cx="2203704" cy="530352"/>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Ngungaju</a:t>
            </a:r>
            <a:endParaRPr lang="en-US" sz="860" dirty="0"/>
          </a:p>
        </p:txBody>
      </p:sp>
      <p:sp>
        <p:nvSpPr>
          <p:cNvPr id="41" name="Shape 39"/>
          <p:cNvSpPr/>
          <p:nvPr/>
        </p:nvSpPr>
        <p:spPr>
          <a:xfrm>
            <a:off x="2743200" y="3182112"/>
            <a:ext cx="2011680" cy="530352"/>
          </a:xfrm>
          <a:prstGeom prst="rect">
            <a:avLst/>
          </a:prstGeom>
          <a:solidFill>
            <a:srgbClr val="D6EBE7"/>
          </a:solidFill>
          <a:ln w="6350">
            <a:solidFill>
              <a:srgbClr val="D3DCE5"/>
            </a:solidFill>
            <a:prstDash val="solid"/>
          </a:ln>
        </p:spPr>
      </p:sp>
      <p:sp>
        <p:nvSpPr>
          <p:cNvPr id="42" name="Text 40"/>
          <p:cNvSpPr txBox="1"/>
          <p:nvPr/>
        </p:nvSpPr>
        <p:spPr>
          <a:xfrm>
            <a:off x="2807208" y="3182112"/>
            <a:ext cx="1883664" cy="530352"/>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PLS Group</a:t>
            </a:r>
            <a:endParaRPr lang="en-US" sz="860" dirty="0"/>
          </a:p>
        </p:txBody>
      </p:sp>
      <p:sp>
        <p:nvSpPr>
          <p:cNvPr id="43" name="Shape 41"/>
          <p:cNvSpPr/>
          <p:nvPr/>
        </p:nvSpPr>
        <p:spPr>
          <a:xfrm>
            <a:off x="4754880" y="3182112"/>
            <a:ext cx="2514600" cy="530352"/>
          </a:xfrm>
          <a:prstGeom prst="rect">
            <a:avLst/>
          </a:prstGeom>
          <a:solidFill>
            <a:srgbClr val="D6EBE7"/>
          </a:solidFill>
          <a:ln w="6350">
            <a:solidFill>
              <a:srgbClr val="D3DCE5"/>
            </a:solidFill>
            <a:prstDash val="solid"/>
          </a:ln>
        </p:spPr>
      </p:sp>
      <p:sp>
        <p:nvSpPr>
          <p:cNvPr id="44" name="Text 42"/>
          <p:cNvSpPr txBox="1"/>
          <p:nvPr/>
        </p:nvSpPr>
        <p:spPr>
          <a:xfrm>
            <a:off x="4818888" y="3182112"/>
            <a:ext cx="2386584"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Restarted July 2026, steady state targeted within four months</a:t>
            </a:r>
            <a:endParaRPr lang="en-US" sz="860" dirty="0"/>
          </a:p>
        </p:txBody>
      </p:sp>
      <p:sp>
        <p:nvSpPr>
          <p:cNvPr id="45" name="Shape 43"/>
          <p:cNvSpPr/>
          <p:nvPr/>
        </p:nvSpPr>
        <p:spPr>
          <a:xfrm>
            <a:off x="7269480" y="3182112"/>
            <a:ext cx="4517136" cy="530352"/>
          </a:xfrm>
          <a:prstGeom prst="rect">
            <a:avLst/>
          </a:prstGeom>
          <a:solidFill>
            <a:srgbClr val="D6EBE7"/>
          </a:solidFill>
          <a:ln w="6350">
            <a:solidFill>
              <a:srgbClr val="D3DCE5"/>
            </a:solidFill>
            <a:prstDash val="solid"/>
          </a:ln>
        </p:spPr>
      </p:sp>
      <p:sp>
        <p:nvSpPr>
          <p:cNvPr id="46" name="Text 44"/>
          <p:cNvSpPr txBox="1"/>
          <p:nvPr/>
        </p:nvSpPr>
        <p:spPr>
          <a:xfrm>
            <a:off x="7333488" y="3182112"/>
            <a:ext cx="4389120" cy="53035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PLS is part of this supply response</a:t>
            </a:r>
            <a:endParaRPr lang="en-US" sz="860" dirty="0"/>
          </a:p>
        </p:txBody>
      </p:sp>
      <p:sp>
        <p:nvSpPr>
          <p:cNvPr id="47" name="Shape 45"/>
          <p:cNvSpPr/>
          <p:nvPr/>
        </p:nvSpPr>
        <p:spPr>
          <a:xfrm>
            <a:off x="411480" y="3950208"/>
            <a:ext cx="11375136" cy="1700784"/>
          </a:xfrm>
          <a:prstGeom prst="rect">
            <a:avLst/>
          </a:prstGeom>
          <a:solidFill>
            <a:srgbClr val="EEF2F6"/>
          </a:solidFill>
          <a:ln w="9525">
            <a:solidFill>
              <a:srgbClr val="D3DCE5"/>
            </a:solidFill>
            <a:prstDash val="solid"/>
          </a:ln>
        </p:spPr>
      </p:sp>
      <p:sp>
        <p:nvSpPr>
          <p:cNvPr id="48" name="Text 46"/>
          <p:cNvSpPr txBox="1"/>
          <p:nvPr/>
        </p:nvSpPr>
        <p:spPr>
          <a:xfrm>
            <a:off x="576072" y="4078224"/>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Our own recommendation adds to the supply we are worried about</a:t>
            </a:r>
            <a:endParaRPr lang="en-US" sz="1150" dirty="0"/>
          </a:p>
        </p:txBody>
      </p:sp>
      <p:sp>
        <p:nvSpPr>
          <p:cNvPr id="49" name="Text 47"/>
          <p:cNvSpPr txBox="1"/>
          <p:nvPr/>
        </p:nvSpPr>
        <p:spPr>
          <a:xfrm>
            <a:off x="576072" y="4407408"/>
            <a:ext cx="11045952" cy="1152144"/>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PLS is not a bystander to the restart wave. It restarted Ngungaju in the same window as Bald Hill and Finniss, and it is guiding to a 17-25% volume increase in FY27. Every producer restarting at once is precisely what caps a price recovery, and our own recommendation contributes to it.</a:t>
            </a:r>
            <a:endParaRPr lang="en-US" sz="940" dirty="0"/>
          </a:p>
          <a:p>
            <a:pPr indent="0" marL="0">
              <a:lnSpc>
                <a:spcPct val="105000"/>
              </a:lnSpc>
              <a:buNone/>
            </a:pPr>
            <a:endParaRPr lang="en-US" sz="940" dirty="0"/>
          </a:p>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That is why our base case assumes realised prices fall roughly a fifth below the June-2026 exit rate rather than holding it. It is also why the cost curve matters more than the price forecast: in a market where everyone restarts, the question is not who supplies the next tonne but who is still profitable when they all do. On our numbers PLS earns roughly US$720/t of cash margin at a price that puts the top decile of world supply under water.</a:t>
            </a:r>
            <a:endParaRPr lang="en-US" sz="940" dirty="0"/>
          </a:p>
        </p:txBody>
      </p:sp>
      <p:sp>
        <p:nvSpPr>
          <p:cNvPr id="50" name="Text 48"/>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S&amp;P Global Platts, 'Asian lithium may ease in Q3 amid expectations of higher supply'; company announcements from Mineral Resources, Core Lithium, CATL and PLS.</a:t>
            </a:r>
            <a:endParaRPr lang="en-US" sz="720" dirty="0"/>
          </a:p>
        </p:txBody>
      </p:sp>
      <p:sp>
        <p:nvSpPr>
          <p:cNvPr id="51" name="Text 49"/>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Australian hard rock sits at the bottom, Chinese lepidolite at the top, and Argentine brine has moved from the cheap end to the middle.</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B7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3977640" cy="292608"/>
          </a:xfrm>
          <a:prstGeom prst="rect">
            <a:avLst/>
          </a:prstGeom>
          <a:solidFill>
            <a:srgbClr val="10233A"/>
          </a:solidFill>
          <a:ln/>
        </p:spPr>
      </p:sp>
      <p:sp>
        <p:nvSpPr>
          <p:cNvPr id="8" name="Text 6"/>
          <p:cNvSpPr txBox="1"/>
          <p:nvPr/>
        </p:nvSpPr>
        <p:spPr>
          <a:xfrm>
            <a:off x="475488" y="1298448"/>
            <a:ext cx="38496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Benchmark</a:t>
            </a:r>
            <a:endParaRPr lang="en-US" sz="900" dirty="0"/>
          </a:p>
        </p:txBody>
      </p:sp>
      <p:sp>
        <p:nvSpPr>
          <p:cNvPr id="9" name="Shape 7"/>
          <p:cNvSpPr/>
          <p:nvPr/>
        </p:nvSpPr>
        <p:spPr>
          <a:xfrm>
            <a:off x="4389120" y="1298448"/>
            <a:ext cx="2240280" cy="292608"/>
          </a:xfrm>
          <a:prstGeom prst="rect">
            <a:avLst/>
          </a:prstGeom>
          <a:solidFill>
            <a:srgbClr val="10233A"/>
          </a:solidFill>
          <a:ln/>
        </p:spPr>
      </p:sp>
      <p:sp>
        <p:nvSpPr>
          <p:cNvPr id="10" name="Text 8"/>
          <p:cNvSpPr txBox="1"/>
          <p:nvPr/>
        </p:nvSpPr>
        <p:spPr>
          <a:xfrm>
            <a:off x="4453128" y="1298448"/>
            <a:ext cx="211226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Level</a:t>
            </a:r>
            <a:endParaRPr lang="en-US" sz="900" dirty="0"/>
          </a:p>
        </p:txBody>
      </p:sp>
      <p:sp>
        <p:nvSpPr>
          <p:cNvPr id="11" name="Shape 9"/>
          <p:cNvSpPr/>
          <p:nvPr/>
        </p:nvSpPr>
        <p:spPr>
          <a:xfrm>
            <a:off x="6629400" y="1298448"/>
            <a:ext cx="2148840" cy="292608"/>
          </a:xfrm>
          <a:prstGeom prst="rect">
            <a:avLst/>
          </a:prstGeom>
          <a:solidFill>
            <a:srgbClr val="10233A"/>
          </a:solidFill>
          <a:ln/>
        </p:spPr>
      </p:sp>
      <p:sp>
        <p:nvSpPr>
          <p:cNvPr id="12" name="Text 10"/>
          <p:cNvSpPr txBox="1"/>
          <p:nvPr/>
        </p:nvSpPr>
        <p:spPr>
          <a:xfrm>
            <a:off x="6693408" y="1298448"/>
            <a:ext cx="20208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Basis</a:t>
            </a:r>
            <a:endParaRPr lang="en-US" sz="900" dirty="0"/>
          </a:p>
        </p:txBody>
      </p:sp>
      <p:sp>
        <p:nvSpPr>
          <p:cNvPr id="13" name="Shape 11"/>
          <p:cNvSpPr/>
          <p:nvPr/>
        </p:nvSpPr>
        <p:spPr>
          <a:xfrm>
            <a:off x="8778240" y="1298448"/>
            <a:ext cx="3008376" cy="292608"/>
          </a:xfrm>
          <a:prstGeom prst="rect">
            <a:avLst/>
          </a:prstGeom>
          <a:solidFill>
            <a:srgbClr val="10233A"/>
          </a:solidFill>
          <a:ln/>
        </p:spPr>
      </p:sp>
      <p:sp>
        <p:nvSpPr>
          <p:cNvPr id="14" name="Text 12"/>
          <p:cNvSpPr txBox="1"/>
          <p:nvPr/>
        </p:nvSpPr>
        <p:spPr>
          <a:xfrm>
            <a:off x="8842248" y="1298448"/>
            <a:ext cx="288036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Source</a:t>
            </a:r>
            <a:endParaRPr lang="en-US" sz="900" dirty="0"/>
          </a:p>
        </p:txBody>
      </p:sp>
      <p:sp>
        <p:nvSpPr>
          <p:cNvPr id="15" name="Shape 13"/>
          <p:cNvSpPr/>
          <p:nvPr/>
        </p:nvSpPr>
        <p:spPr>
          <a:xfrm>
            <a:off x="411480" y="1591056"/>
            <a:ext cx="3977640" cy="365760"/>
          </a:xfrm>
          <a:prstGeom prst="rect">
            <a:avLst/>
          </a:prstGeom>
          <a:solidFill>
            <a:srgbClr val="FFFFFF"/>
          </a:solidFill>
          <a:ln w="6350">
            <a:solidFill>
              <a:srgbClr val="D3DCE5"/>
            </a:solidFill>
            <a:prstDash val="solid"/>
          </a:ln>
        </p:spPr>
      </p:sp>
      <p:sp>
        <p:nvSpPr>
          <p:cNvPr id="16" name="Text 14"/>
          <p:cNvSpPr txBox="1"/>
          <p:nvPr/>
        </p:nvSpPr>
        <p:spPr>
          <a:xfrm>
            <a:off x="475488" y="1591056"/>
            <a:ext cx="384962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Greenbushes cash cost</a:t>
            </a:r>
            <a:endParaRPr lang="en-US" sz="850" dirty="0"/>
          </a:p>
        </p:txBody>
      </p:sp>
      <p:sp>
        <p:nvSpPr>
          <p:cNvPr id="17" name="Shape 15"/>
          <p:cNvSpPr/>
          <p:nvPr/>
        </p:nvSpPr>
        <p:spPr>
          <a:xfrm>
            <a:off x="4389120" y="1591056"/>
            <a:ext cx="2240280" cy="365760"/>
          </a:xfrm>
          <a:prstGeom prst="rect">
            <a:avLst/>
          </a:prstGeom>
          <a:solidFill>
            <a:srgbClr val="FFFFFF"/>
          </a:solidFill>
          <a:ln w="6350">
            <a:solidFill>
              <a:srgbClr val="D3DCE5"/>
            </a:solidFill>
            <a:prstDash val="solid"/>
          </a:ln>
        </p:spPr>
      </p:sp>
      <p:sp>
        <p:nvSpPr>
          <p:cNvPr id="18" name="Text 16"/>
          <p:cNvSpPr txBox="1"/>
          <p:nvPr/>
        </p:nvSpPr>
        <p:spPr>
          <a:xfrm>
            <a:off x="4453128" y="1591056"/>
            <a:ext cx="2112264" cy="365760"/>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~US$220/t SC6 FOB</a:t>
            </a:r>
            <a:endParaRPr lang="en-US" sz="850" dirty="0"/>
          </a:p>
        </p:txBody>
      </p:sp>
      <p:sp>
        <p:nvSpPr>
          <p:cNvPr id="19" name="Shape 17"/>
          <p:cNvSpPr/>
          <p:nvPr/>
        </p:nvSpPr>
        <p:spPr>
          <a:xfrm>
            <a:off x="6629400" y="1591056"/>
            <a:ext cx="2148840" cy="365760"/>
          </a:xfrm>
          <a:prstGeom prst="rect">
            <a:avLst/>
          </a:prstGeom>
          <a:solidFill>
            <a:srgbClr val="FFFFFF"/>
          </a:solidFill>
          <a:ln w="6350">
            <a:solidFill>
              <a:srgbClr val="D3DCE5"/>
            </a:solidFill>
            <a:prstDash val="solid"/>
          </a:ln>
        </p:spPr>
      </p:sp>
      <p:sp>
        <p:nvSpPr>
          <p:cNvPr id="20" name="Text 18"/>
          <p:cNvSpPr txBox="1"/>
          <p:nvPr/>
        </p:nvSpPr>
        <p:spPr>
          <a:xfrm>
            <a:off x="6693408" y="1591056"/>
            <a:ext cx="2020824"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Cash cost</a:t>
            </a:r>
            <a:endParaRPr lang="en-US" sz="850" dirty="0"/>
          </a:p>
        </p:txBody>
      </p:sp>
      <p:sp>
        <p:nvSpPr>
          <p:cNvPr id="21" name="Shape 19"/>
          <p:cNvSpPr/>
          <p:nvPr/>
        </p:nvSpPr>
        <p:spPr>
          <a:xfrm>
            <a:off x="8778240" y="1591056"/>
            <a:ext cx="3008376" cy="365760"/>
          </a:xfrm>
          <a:prstGeom prst="rect">
            <a:avLst/>
          </a:prstGeom>
          <a:solidFill>
            <a:srgbClr val="FFFFFF"/>
          </a:solidFill>
          <a:ln w="6350">
            <a:solidFill>
              <a:srgbClr val="D3DCE5"/>
            </a:solidFill>
            <a:prstDash val="solid"/>
          </a:ln>
        </p:spPr>
      </p:sp>
      <p:sp>
        <p:nvSpPr>
          <p:cNvPr id="22" name="Text 20"/>
          <p:cNvSpPr txBox="1"/>
          <p:nvPr/>
        </p:nvSpPr>
        <p:spPr>
          <a:xfrm>
            <a:off x="8842248" y="1591056"/>
            <a:ext cx="2880360"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Lowest-cost operation globally; Talison joint venture</a:t>
            </a:r>
            <a:endParaRPr lang="en-US" sz="850" dirty="0"/>
          </a:p>
        </p:txBody>
      </p:sp>
      <p:sp>
        <p:nvSpPr>
          <p:cNvPr id="23" name="Shape 21"/>
          <p:cNvSpPr/>
          <p:nvPr/>
        </p:nvSpPr>
        <p:spPr>
          <a:xfrm>
            <a:off x="411480" y="1956816"/>
            <a:ext cx="3977640" cy="365760"/>
          </a:xfrm>
          <a:prstGeom prst="rect">
            <a:avLst/>
          </a:prstGeom>
          <a:solidFill>
            <a:srgbClr val="D6EBE7"/>
          </a:solidFill>
          <a:ln w="6350">
            <a:solidFill>
              <a:srgbClr val="D3DCE5"/>
            </a:solidFill>
            <a:prstDash val="solid"/>
          </a:ln>
        </p:spPr>
      </p:sp>
      <p:sp>
        <p:nvSpPr>
          <p:cNvPr id="24" name="Text 22"/>
          <p:cNvSpPr txBox="1"/>
          <p:nvPr/>
        </p:nvSpPr>
        <p:spPr>
          <a:xfrm>
            <a:off x="475488" y="1956816"/>
            <a:ext cx="384962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PLS Pilgangoora</a:t>
            </a:r>
            <a:endParaRPr lang="en-US" sz="850" dirty="0"/>
          </a:p>
        </p:txBody>
      </p:sp>
      <p:sp>
        <p:nvSpPr>
          <p:cNvPr id="25" name="Shape 23"/>
          <p:cNvSpPr/>
          <p:nvPr/>
        </p:nvSpPr>
        <p:spPr>
          <a:xfrm>
            <a:off x="4389120" y="1956816"/>
            <a:ext cx="2240280" cy="365760"/>
          </a:xfrm>
          <a:prstGeom prst="rect">
            <a:avLst/>
          </a:prstGeom>
          <a:solidFill>
            <a:srgbClr val="D6EBE7"/>
          </a:solidFill>
          <a:ln w="6350">
            <a:solidFill>
              <a:srgbClr val="D3DCE5"/>
            </a:solidFill>
            <a:prstDash val="solid"/>
          </a:ln>
        </p:spPr>
      </p:sp>
      <p:sp>
        <p:nvSpPr>
          <p:cNvPr id="26" name="Text 24"/>
          <p:cNvSpPr txBox="1"/>
          <p:nvPr/>
        </p:nvSpPr>
        <p:spPr>
          <a:xfrm>
            <a:off x="4453128" y="1956816"/>
            <a:ext cx="2112264" cy="365760"/>
          </a:xfrm>
          <a:prstGeom prst="rect">
            <a:avLst/>
          </a:prstGeom>
          <a:noFill/>
          <a:ln/>
        </p:spPr>
        <p:txBody>
          <a:bodyPr wrap="square" lIns="0" tIns="0" rIns="0" bIns="0" rtlCol="0" anchor="ctr"/>
          <a:lstStyle/>
          <a:p>
            <a:pPr algn="ctr" indent="0" marL="0">
              <a:buNone/>
            </a:pPr>
            <a:r>
              <a:rPr lang="en-US" sz="850" b="1" dirty="0">
                <a:solidFill>
                  <a:srgbClr val="0E7C6B"/>
                </a:solidFill>
                <a:latin typeface="Calibri" pitchFamily="34" charset="0"/>
                <a:ea typeface="Calibri" pitchFamily="34" charset="-122"/>
                <a:cs typeface="Calibri" pitchFamily="34" charset="-120"/>
              </a:rPr>
              <a:t>~US$425/t SC6-equivalent</a:t>
            </a:r>
            <a:endParaRPr lang="en-US" sz="850" dirty="0"/>
          </a:p>
        </p:txBody>
      </p:sp>
      <p:sp>
        <p:nvSpPr>
          <p:cNvPr id="27" name="Shape 25"/>
          <p:cNvSpPr/>
          <p:nvPr/>
        </p:nvSpPr>
        <p:spPr>
          <a:xfrm>
            <a:off x="6629400" y="1956816"/>
            <a:ext cx="2148840" cy="365760"/>
          </a:xfrm>
          <a:prstGeom prst="rect">
            <a:avLst/>
          </a:prstGeom>
          <a:solidFill>
            <a:srgbClr val="D6EBE7"/>
          </a:solidFill>
          <a:ln w="6350">
            <a:solidFill>
              <a:srgbClr val="D3DCE5"/>
            </a:solidFill>
            <a:prstDash val="solid"/>
          </a:ln>
        </p:spPr>
      </p:sp>
      <p:sp>
        <p:nvSpPr>
          <p:cNvPr id="28" name="Text 26"/>
          <p:cNvSpPr txBox="1"/>
          <p:nvPr/>
        </p:nvSpPr>
        <p:spPr>
          <a:xfrm>
            <a:off x="6693408" y="1956816"/>
            <a:ext cx="2020824"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A$569/t FOB at SC5.2, converted</a:t>
            </a:r>
            <a:endParaRPr lang="en-US" sz="850" dirty="0"/>
          </a:p>
        </p:txBody>
      </p:sp>
      <p:sp>
        <p:nvSpPr>
          <p:cNvPr id="29" name="Shape 27"/>
          <p:cNvSpPr/>
          <p:nvPr/>
        </p:nvSpPr>
        <p:spPr>
          <a:xfrm>
            <a:off x="8778240" y="1956816"/>
            <a:ext cx="3008376" cy="365760"/>
          </a:xfrm>
          <a:prstGeom prst="rect">
            <a:avLst/>
          </a:prstGeom>
          <a:solidFill>
            <a:srgbClr val="D6EBE7"/>
          </a:solidFill>
          <a:ln w="6350">
            <a:solidFill>
              <a:srgbClr val="D3DCE5"/>
            </a:solidFill>
            <a:prstDash val="solid"/>
          </a:ln>
        </p:spPr>
      </p:sp>
      <p:sp>
        <p:nvSpPr>
          <p:cNvPr id="30" name="Text 28"/>
          <p:cNvSpPr txBox="1"/>
          <p:nvPr/>
        </p:nvSpPr>
        <p:spPr>
          <a:xfrm>
            <a:off x="8842248" y="1956816"/>
            <a:ext cx="2880360"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PLS FY26 results; conversion shown in the main deck</a:t>
            </a:r>
            <a:endParaRPr lang="en-US" sz="850" dirty="0"/>
          </a:p>
        </p:txBody>
      </p:sp>
      <p:sp>
        <p:nvSpPr>
          <p:cNvPr id="31" name="Shape 29"/>
          <p:cNvSpPr/>
          <p:nvPr/>
        </p:nvSpPr>
        <p:spPr>
          <a:xfrm>
            <a:off x="411480" y="2322576"/>
            <a:ext cx="3977640" cy="365760"/>
          </a:xfrm>
          <a:prstGeom prst="rect">
            <a:avLst/>
          </a:prstGeom>
          <a:solidFill>
            <a:srgbClr val="FFFFFF"/>
          </a:solidFill>
          <a:ln w="6350">
            <a:solidFill>
              <a:srgbClr val="D3DCE5"/>
            </a:solidFill>
            <a:prstDash val="solid"/>
          </a:ln>
        </p:spPr>
      </p:sp>
      <p:sp>
        <p:nvSpPr>
          <p:cNvPr id="32" name="Text 30"/>
          <p:cNvSpPr txBox="1"/>
          <p:nvPr/>
        </p:nvSpPr>
        <p:spPr>
          <a:xfrm>
            <a:off x="475488" y="2322576"/>
            <a:ext cx="384962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Threshold above which 23% of concentrate production sits</a:t>
            </a:r>
            <a:endParaRPr lang="en-US" sz="850" dirty="0"/>
          </a:p>
        </p:txBody>
      </p:sp>
      <p:sp>
        <p:nvSpPr>
          <p:cNvPr id="33" name="Shape 31"/>
          <p:cNvSpPr/>
          <p:nvPr/>
        </p:nvSpPr>
        <p:spPr>
          <a:xfrm>
            <a:off x="4389120" y="2322576"/>
            <a:ext cx="2240280" cy="365760"/>
          </a:xfrm>
          <a:prstGeom prst="rect">
            <a:avLst/>
          </a:prstGeom>
          <a:solidFill>
            <a:srgbClr val="FFFFFF"/>
          </a:solidFill>
          <a:ln w="6350">
            <a:solidFill>
              <a:srgbClr val="D3DCE5"/>
            </a:solidFill>
            <a:prstDash val="solid"/>
          </a:ln>
        </p:spPr>
      </p:sp>
      <p:sp>
        <p:nvSpPr>
          <p:cNvPr id="34" name="Text 32"/>
          <p:cNvSpPr txBox="1"/>
          <p:nvPr/>
        </p:nvSpPr>
        <p:spPr>
          <a:xfrm>
            <a:off x="4453128" y="2322576"/>
            <a:ext cx="2112264" cy="365760"/>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US$787/t SC6 FOB</a:t>
            </a:r>
            <a:endParaRPr lang="en-US" sz="850" dirty="0"/>
          </a:p>
        </p:txBody>
      </p:sp>
      <p:sp>
        <p:nvSpPr>
          <p:cNvPr id="35" name="Shape 33"/>
          <p:cNvSpPr/>
          <p:nvPr/>
        </p:nvSpPr>
        <p:spPr>
          <a:xfrm>
            <a:off x="6629400" y="2322576"/>
            <a:ext cx="2148840" cy="365760"/>
          </a:xfrm>
          <a:prstGeom prst="rect">
            <a:avLst/>
          </a:prstGeom>
          <a:solidFill>
            <a:srgbClr val="FFFFFF"/>
          </a:solidFill>
          <a:ln w="6350">
            <a:solidFill>
              <a:srgbClr val="D3DCE5"/>
            </a:solidFill>
            <a:prstDash val="solid"/>
          </a:ln>
        </p:spPr>
      </p:sp>
      <p:sp>
        <p:nvSpPr>
          <p:cNvPr id="36" name="Text 34"/>
          <p:cNvSpPr txBox="1"/>
          <p:nvPr/>
        </p:nvSpPr>
        <p:spPr>
          <a:xfrm>
            <a:off x="6693408" y="2322576"/>
            <a:ext cx="2020824"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All-in sustaining</a:t>
            </a:r>
            <a:endParaRPr lang="en-US" sz="850" dirty="0"/>
          </a:p>
        </p:txBody>
      </p:sp>
      <p:sp>
        <p:nvSpPr>
          <p:cNvPr id="37" name="Shape 35"/>
          <p:cNvSpPr/>
          <p:nvPr/>
        </p:nvSpPr>
        <p:spPr>
          <a:xfrm>
            <a:off x="8778240" y="2322576"/>
            <a:ext cx="3008376" cy="365760"/>
          </a:xfrm>
          <a:prstGeom prst="rect">
            <a:avLst/>
          </a:prstGeom>
          <a:solidFill>
            <a:srgbClr val="FFFFFF"/>
          </a:solidFill>
          <a:ln w="6350">
            <a:solidFill>
              <a:srgbClr val="D3DCE5"/>
            </a:solidFill>
            <a:prstDash val="solid"/>
          </a:ln>
        </p:spPr>
      </p:sp>
      <p:sp>
        <p:nvSpPr>
          <p:cNvPr id="38" name="Text 36"/>
          <p:cNvSpPr txBox="1"/>
          <p:nvPr/>
        </p:nvSpPr>
        <p:spPr>
          <a:xfrm>
            <a:off x="8842248" y="2322576"/>
            <a:ext cx="2880360"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S&amp;P Global Mine Cost Outlook, January 2026</a:t>
            </a:r>
            <a:endParaRPr lang="en-US" sz="850" dirty="0"/>
          </a:p>
        </p:txBody>
      </p:sp>
      <p:sp>
        <p:nvSpPr>
          <p:cNvPr id="39" name="Shape 37"/>
          <p:cNvSpPr/>
          <p:nvPr/>
        </p:nvSpPr>
        <p:spPr>
          <a:xfrm>
            <a:off x="411480" y="2688336"/>
            <a:ext cx="3977640" cy="365760"/>
          </a:xfrm>
          <a:prstGeom prst="rect">
            <a:avLst/>
          </a:prstGeom>
          <a:solidFill>
            <a:srgbClr val="F7E2E2"/>
          </a:solidFill>
          <a:ln w="6350">
            <a:solidFill>
              <a:srgbClr val="D3DCE5"/>
            </a:solidFill>
            <a:prstDash val="solid"/>
          </a:ln>
        </p:spPr>
      </p:sp>
      <p:sp>
        <p:nvSpPr>
          <p:cNvPr id="40" name="Text 38"/>
          <p:cNvSpPr txBox="1"/>
          <p:nvPr/>
        </p:nvSpPr>
        <p:spPr>
          <a:xfrm>
            <a:off x="475488" y="2688336"/>
            <a:ext cx="384962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Some lepidolite operations</a:t>
            </a:r>
            <a:endParaRPr lang="en-US" sz="850" dirty="0"/>
          </a:p>
        </p:txBody>
      </p:sp>
      <p:sp>
        <p:nvSpPr>
          <p:cNvPr id="41" name="Shape 39"/>
          <p:cNvSpPr/>
          <p:nvPr/>
        </p:nvSpPr>
        <p:spPr>
          <a:xfrm>
            <a:off x="4389120" y="2688336"/>
            <a:ext cx="2240280" cy="365760"/>
          </a:xfrm>
          <a:prstGeom prst="rect">
            <a:avLst/>
          </a:prstGeom>
          <a:solidFill>
            <a:srgbClr val="F7E2E2"/>
          </a:solidFill>
          <a:ln w="6350">
            <a:solidFill>
              <a:srgbClr val="D3DCE5"/>
            </a:solidFill>
            <a:prstDash val="solid"/>
          </a:ln>
        </p:spPr>
      </p:sp>
      <p:sp>
        <p:nvSpPr>
          <p:cNvPr id="42" name="Text 40"/>
          <p:cNvSpPr txBox="1"/>
          <p:nvPr/>
        </p:nvSpPr>
        <p:spPr>
          <a:xfrm>
            <a:off x="4453128" y="2688336"/>
            <a:ext cx="2112264" cy="365760"/>
          </a:xfrm>
          <a:prstGeom prst="rect">
            <a:avLst/>
          </a:prstGeom>
          <a:noFill/>
          <a:ln/>
        </p:spPr>
        <p:txBody>
          <a:bodyPr wrap="square" lIns="0" tIns="0" rIns="0" bIns="0" rtlCol="0" anchor="ctr"/>
          <a:lstStyle/>
          <a:p>
            <a:pPr algn="ctr" indent="0" marL="0">
              <a:buNone/>
            </a:pPr>
            <a:r>
              <a:rPr lang="en-US" sz="850" b="1" dirty="0">
                <a:solidFill>
                  <a:srgbClr val="A3282C"/>
                </a:solidFill>
                <a:latin typeface="Calibri" pitchFamily="34" charset="0"/>
                <a:ea typeface="Calibri" pitchFamily="34" charset="-122"/>
                <a:cs typeface="Calibri" pitchFamily="34" charset="-120"/>
              </a:rPr>
              <a:t>&gt;US$1,100/dmt</a:t>
            </a:r>
            <a:endParaRPr lang="en-US" sz="850" dirty="0"/>
          </a:p>
        </p:txBody>
      </p:sp>
      <p:sp>
        <p:nvSpPr>
          <p:cNvPr id="43" name="Shape 41"/>
          <p:cNvSpPr/>
          <p:nvPr/>
        </p:nvSpPr>
        <p:spPr>
          <a:xfrm>
            <a:off x="6629400" y="2688336"/>
            <a:ext cx="2148840" cy="365760"/>
          </a:xfrm>
          <a:prstGeom prst="rect">
            <a:avLst/>
          </a:prstGeom>
          <a:solidFill>
            <a:srgbClr val="F7E2E2"/>
          </a:solidFill>
          <a:ln w="6350">
            <a:solidFill>
              <a:srgbClr val="D3DCE5"/>
            </a:solidFill>
            <a:prstDash val="solid"/>
          </a:ln>
        </p:spPr>
      </p:sp>
      <p:sp>
        <p:nvSpPr>
          <p:cNvPr id="44" name="Text 42"/>
          <p:cNvSpPr txBox="1"/>
          <p:nvPr/>
        </p:nvSpPr>
        <p:spPr>
          <a:xfrm>
            <a:off x="6693408" y="2688336"/>
            <a:ext cx="2020824"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Concentrate cost, about the 90th percentile</a:t>
            </a:r>
            <a:endParaRPr lang="en-US" sz="850" dirty="0"/>
          </a:p>
        </p:txBody>
      </p:sp>
      <p:sp>
        <p:nvSpPr>
          <p:cNvPr id="45" name="Shape 43"/>
          <p:cNvSpPr/>
          <p:nvPr/>
        </p:nvSpPr>
        <p:spPr>
          <a:xfrm>
            <a:off x="8778240" y="2688336"/>
            <a:ext cx="3008376" cy="365760"/>
          </a:xfrm>
          <a:prstGeom prst="rect">
            <a:avLst/>
          </a:prstGeom>
          <a:solidFill>
            <a:srgbClr val="F7E2E2"/>
          </a:solidFill>
          <a:ln w="6350">
            <a:solidFill>
              <a:srgbClr val="D3DCE5"/>
            </a:solidFill>
            <a:prstDash val="solid"/>
          </a:ln>
        </p:spPr>
      </p:sp>
      <p:sp>
        <p:nvSpPr>
          <p:cNvPr id="46" name="Text 44"/>
          <p:cNvSpPr txBox="1"/>
          <p:nvPr/>
        </p:nvSpPr>
        <p:spPr>
          <a:xfrm>
            <a:off x="8842248" y="2688336"/>
            <a:ext cx="2880360"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CRU Group</a:t>
            </a:r>
            <a:endParaRPr lang="en-US" sz="850" dirty="0"/>
          </a:p>
        </p:txBody>
      </p:sp>
      <p:sp>
        <p:nvSpPr>
          <p:cNvPr id="47" name="Shape 45"/>
          <p:cNvSpPr/>
          <p:nvPr/>
        </p:nvSpPr>
        <p:spPr>
          <a:xfrm>
            <a:off x="411480" y="3054096"/>
            <a:ext cx="3977640" cy="365760"/>
          </a:xfrm>
          <a:prstGeom prst="rect">
            <a:avLst/>
          </a:prstGeom>
          <a:solidFill>
            <a:srgbClr val="FFFFFF"/>
          </a:solidFill>
          <a:ln w="6350">
            <a:solidFill>
              <a:srgbClr val="D3DCE5"/>
            </a:solidFill>
            <a:prstDash val="solid"/>
          </a:ln>
        </p:spPr>
      </p:sp>
      <p:sp>
        <p:nvSpPr>
          <p:cNvPr id="48" name="Text 46"/>
          <p:cNvSpPr txBox="1"/>
          <p:nvPr/>
        </p:nvSpPr>
        <p:spPr>
          <a:xfrm>
            <a:off x="475488" y="3054096"/>
            <a:ext cx="384962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Argentine brine, weighted</a:t>
            </a:r>
            <a:endParaRPr lang="en-US" sz="850" dirty="0"/>
          </a:p>
        </p:txBody>
      </p:sp>
      <p:sp>
        <p:nvSpPr>
          <p:cNvPr id="49" name="Shape 47"/>
          <p:cNvSpPr/>
          <p:nvPr/>
        </p:nvSpPr>
        <p:spPr>
          <a:xfrm>
            <a:off x="4389120" y="3054096"/>
            <a:ext cx="2240280" cy="365760"/>
          </a:xfrm>
          <a:prstGeom prst="rect">
            <a:avLst/>
          </a:prstGeom>
          <a:solidFill>
            <a:srgbClr val="FFFFFF"/>
          </a:solidFill>
          <a:ln w="6350">
            <a:solidFill>
              <a:srgbClr val="D3DCE5"/>
            </a:solidFill>
            <a:prstDash val="solid"/>
          </a:ln>
        </p:spPr>
      </p:sp>
      <p:sp>
        <p:nvSpPr>
          <p:cNvPr id="50" name="Text 48"/>
          <p:cNvSpPr txBox="1"/>
          <p:nvPr/>
        </p:nvSpPr>
        <p:spPr>
          <a:xfrm>
            <a:off x="4453128" y="3054096"/>
            <a:ext cx="2112264" cy="365760"/>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US$7,223/t LCE</a:t>
            </a:r>
            <a:endParaRPr lang="en-US" sz="850" dirty="0"/>
          </a:p>
        </p:txBody>
      </p:sp>
      <p:sp>
        <p:nvSpPr>
          <p:cNvPr id="51" name="Shape 49"/>
          <p:cNvSpPr/>
          <p:nvPr/>
        </p:nvSpPr>
        <p:spPr>
          <a:xfrm>
            <a:off x="6629400" y="3054096"/>
            <a:ext cx="2148840" cy="365760"/>
          </a:xfrm>
          <a:prstGeom prst="rect">
            <a:avLst/>
          </a:prstGeom>
          <a:solidFill>
            <a:srgbClr val="FFFFFF"/>
          </a:solidFill>
          <a:ln w="6350">
            <a:solidFill>
              <a:srgbClr val="D3DCE5"/>
            </a:solidFill>
            <a:prstDash val="solid"/>
          </a:ln>
        </p:spPr>
      </p:sp>
      <p:sp>
        <p:nvSpPr>
          <p:cNvPr id="52" name="Text 50"/>
          <p:cNvSpPr txBox="1"/>
          <p:nvPr/>
        </p:nvSpPr>
        <p:spPr>
          <a:xfrm>
            <a:off x="6693408" y="3054096"/>
            <a:ext cx="2020824"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All-in sustaining, 2026</a:t>
            </a:r>
            <a:endParaRPr lang="en-US" sz="850" dirty="0"/>
          </a:p>
        </p:txBody>
      </p:sp>
      <p:sp>
        <p:nvSpPr>
          <p:cNvPr id="53" name="Shape 51"/>
          <p:cNvSpPr/>
          <p:nvPr/>
        </p:nvSpPr>
        <p:spPr>
          <a:xfrm>
            <a:off x="8778240" y="3054096"/>
            <a:ext cx="3008376" cy="365760"/>
          </a:xfrm>
          <a:prstGeom prst="rect">
            <a:avLst/>
          </a:prstGeom>
          <a:solidFill>
            <a:srgbClr val="FFFFFF"/>
          </a:solidFill>
          <a:ln w="6350">
            <a:solidFill>
              <a:srgbClr val="D3DCE5"/>
            </a:solidFill>
            <a:prstDash val="solid"/>
          </a:ln>
        </p:spPr>
      </p:sp>
      <p:sp>
        <p:nvSpPr>
          <p:cNvPr id="54" name="Text 52"/>
          <p:cNvSpPr txBox="1"/>
          <p:nvPr/>
        </p:nvSpPr>
        <p:spPr>
          <a:xfrm>
            <a:off x="8842248" y="3054096"/>
            <a:ext cx="2880360"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S&amp;P Global - elevated by Argentine cost inflation</a:t>
            </a:r>
            <a:endParaRPr lang="en-US" sz="850" dirty="0"/>
          </a:p>
        </p:txBody>
      </p:sp>
      <p:sp>
        <p:nvSpPr>
          <p:cNvPr id="55" name="Shape 53"/>
          <p:cNvSpPr/>
          <p:nvPr/>
        </p:nvSpPr>
        <p:spPr>
          <a:xfrm>
            <a:off x="411480" y="3419856"/>
            <a:ext cx="3977640" cy="365760"/>
          </a:xfrm>
          <a:prstGeom prst="rect">
            <a:avLst/>
          </a:prstGeom>
          <a:solidFill>
            <a:srgbClr val="F7F9FB"/>
          </a:solidFill>
          <a:ln w="6350">
            <a:solidFill>
              <a:srgbClr val="D3DCE5"/>
            </a:solidFill>
            <a:prstDash val="solid"/>
          </a:ln>
        </p:spPr>
      </p:sp>
      <p:sp>
        <p:nvSpPr>
          <p:cNvPr id="56" name="Text 54"/>
          <p:cNvSpPr txBox="1"/>
          <p:nvPr/>
        </p:nvSpPr>
        <p:spPr>
          <a:xfrm>
            <a:off x="475488" y="3419856"/>
            <a:ext cx="384962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Industry average</a:t>
            </a:r>
            <a:endParaRPr lang="en-US" sz="850" dirty="0"/>
          </a:p>
        </p:txBody>
      </p:sp>
      <p:sp>
        <p:nvSpPr>
          <p:cNvPr id="57" name="Shape 55"/>
          <p:cNvSpPr/>
          <p:nvPr/>
        </p:nvSpPr>
        <p:spPr>
          <a:xfrm>
            <a:off x="4389120" y="3419856"/>
            <a:ext cx="2240280" cy="365760"/>
          </a:xfrm>
          <a:prstGeom prst="rect">
            <a:avLst/>
          </a:prstGeom>
          <a:solidFill>
            <a:srgbClr val="F7F9FB"/>
          </a:solidFill>
          <a:ln w="6350">
            <a:solidFill>
              <a:srgbClr val="D3DCE5"/>
            </a:solidFill>
            <a:prstDash val="solid"/>
          </a:ln>
        </p:spPr>
      </p:sp>
      <p:sp>
        <p:nvSpPr>
          <p:cNvPr id="58" name="Text 56"/>
          <p:cNvSpPr txBox="1"/>
          <p:nvPr/>
        </p:nvSpPr>
        <p:spPr>
          <a:xfrm>
            <a:off x="4453128" y="3419856"/>
            <a:ext cx="2112264" cy="365760"/>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US$5,887/t LCE</a:t>
            </a:r>
            <a:endParaRPr lang="en-US" sz="850" dirty="0"/>
          </a:p>
        </p:txBody>
      </p:sp>
      <p:sp>
        <p:nvSpPr>
          <p:cNvPr id="59" name="Shape 57"/>
          <p:cNvSpPr/>
          <p:nvPr/>
        </p:nvSpPr>
        <p:spPr>
          <a:xfrm>
            <a:off x="6629400" y="3419856"/>
            <a:ext cx="2148840" cy="365760"/>
          </a:xfrm>
          <a:prstGeom prst="rect">
            <a:avLst/>
          </a:prstGeom>
          <a:solidFill>
            <a:srgbClr val="F7F9FB"/>
          </a:solidFill>
          <a:ln w="6350">
            <a:solidFill>
              <a:srgbClr val="D3DCE5"/>
            </a:solidFill>
            <a:prstDash val="solid"/>
          </a:ln>
        </p:spPr>
      </p:sp>
      <p:sp>
        <p:nvSpPr>
          <p:cNvPr id="60" name="Text 58"/>
          <p:cNvSpPr txBox="1"/>
          <p:nvPr/>
        </p:nvSpPr>
        <p:spPr>
          <a:xfrm>
            <a:off x="6693408" y="3419856"/>
            <a:ext cx="2020824"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All-in sustaining, 2026, +0.8% year on year</a:t>
            </a:r>
            <a:endParaRPr lang="en-US" sz="850" dirty="0"/>
          </a:p>
        </p:txBody>
      </p:sp>
      <p:sp>
        <p:nvSpPr>
          <p:cNvPr id="61" name="Shape 59"/>
          <p:cNvSpPr/>
          <p:nvPr/>
        </p:nvSpPr>
        <p:spPr>
          <a:xfrm>
            <a:off x="8778240" y="3419856"/>
            <a:ext cx="3008376" cy="365760"/>
          </a:xfrm>
          <a:prstGeom prst="rect">
            <a:avLst/>
          </a:prstGeom>
          <a:solidFill>
            <a:srgbClr val="F7F9FB"/>
          </a:solidFill>
          <a:ln w="6350">
            <a:solidFill>
              <a:srgbClr val="D3DCE5"/>
            </a:solidFill>
            <a:prstDash val="solid"/>
          </a:ln>
        </p:spPr>
      </p:sp>
      <p:sp>
        <p:nvSpPr>
          <p:cNvPr id="62" name="Text 60"/>
          <p:cNvSpPr txBox="1"/>
          <p:nvPr/>
        </p:nvSpPr>
        <p:spPr>
          <a:xfrm>
            <a:off x="8842248" y="3419856"/>
            <a:ext cx="2880360"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S&amp;P Global Market Intelligence</a:t>
            </a:r>
            <a:endParaRPr lang="en-US" sz="850" dirty="0"/>
          </a:p>
        </p:txBody>
      </p:sp>
      <p:sp>
        <p:nvSpPr>
          <p:cNvPr id="63" name="Shape 61"/>
          <p:cNvSpPr/>
          <p:nvPr/>
        </p:nvSpPr>
        <p:spPr>
          <a:xfrm>
            <a:off x="411480" y="3785616"/>
            <a:ext cx="3977640" cy="365760"/>
          </a:xfrm>
          <a:prstGeom prst="rect">
            <a:avLst/>
          </a:prstGeom>
          <a:solidFill>
            <a:srgbClr val="FFFFFF"/>
          </a:solidFill>
          <a:ln w="6350">
            <a:solidFill>
              <a:srgbClr val="D3DCE5"/>
            </a:solidFill>
            <a:prstDash val="solid"/>
          </a:ln>
        </p:spPr>
      </p:sp>
      <p:sp>
        <p:nvSpPr>
          <p:cNvPr id="64" name="Text 62"/>
          <p:cNvSpPr txBox="1"/>
          <p:nvPr/>
        </p:nvSpPr>
        <p:spPr>
          <a:xfrm>
            <a:off x="475488" y="3785616"/>
            <a:ext cx="384962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Greenfield incentive price</a:t>
            </a:r>
            <a:endParaRPr lang="en-US" sz="850" dirty="0"/>
          </a:p>
        </p:txBody>
      </p:sp>
      <p:sp>
        <p:nvSpPr>
          <p:cNvPr id="65" name="Shape 63"/>
          <p:cNvSpPr/>
          <p:nvPr/>
        </p:nvSpPr>
        <p:spPr>
          <a:xfrm>
            <a:off x="4389120" y="3785616"/>
            <a:ext cx="2240280" cy="365760"/>
          </a:xfrm>
          <a:prstGeom prst="rect">
            <a:avLst/>
          </a:prstGeom>
          <a:solidFill>
            <a:srgbClr val="FFFFFF"/>
          </a:solidFill>
          <a:ln w="6350">
            <a:solidFill>
              <a:srgbClr val="D3DCE5"/>
            </a:solidFill>
            <a:prstDash val="solid"/>
          </a:ln>
        </p:spPr>
      </p:sp>
      <p:sp>
        <p:nvSpPr>
          <p:cNvPr id="66" name="Text 64"/>
          <p:cNvSpPr txBox="1"/>
          <p:nvPr/>
        </p:nvSpPr>
        <p:spPr>
          <a:xfrm>
            <a:off x="4453128" y="3785616"/>
            <a:ext cx="2112264" cy="365760"/>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Sustainably above US$20,000-25,000/t LCE</a:t>
            </a:r>
            <a:endParaRPr lang="en-US" sz="850" dirty="0"/>
          </a:p>
        </p:txBody>
      </p:sp>
      <p:sp>
        <p:nvSpPr>
          <p:cNvPr id="67" name="Shape 65"/>
          <p:cNvSpPr/>
          <p:nvPr/>
        </p:nvSpPr>
        <p:spPr>
          <a:xfrm>
            <a:off x="6629400" y="3785616"/>
            <a:ext cx="2148840" cy="365760"/>
          </a:xfrm>
          <a:prstGeom prst="rect">
            <a:avLst/>
          </a:prstGeom>
          <a:solidFill>
            <a:srgbClr val="FFFFFF"/>
          </a:solidFill>
          <a:ln w="6350">
            <a:solidFill>
              <a:srgbClr val="D3DCE5"/>
            </a:solidFill>
            <a:prstDash val="solid"/>
          </a:ln>
        </p:spPr>
      </p:sp>
      <p:sp>
        <p:nvSpPr>
          <p:cNvPr id="68" name="Text 66"/>
          <p:cNvSpPr txBox="1"/>
          <p:nvPr/>
        </p:nvSpPr>
        <p:spPr>
          <a:xfrm>
            <a:off x="6693408" y="3785616"/>
            <a:ext cx="2020824"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What new supply needs to get funded</a:t>
            </a:r>
            <a:endParaRPr lang="en-US" sz="850" dirty="0"/>
          </a:p>
        </p:txBody>
      </p:sp>
      <p:sp>
        <p:nvSpPr>
          <p:cNvPr id="69" name="Shape 67"/>
          <p:cNvSpPr/>
          <p:nvPr/>
        </p:nvSpPr>
        <p:spPr>
          <a:xfrm>
            <a:off x="8778240" y="3785616"/>
            <a:ext cx="3008376" cy="365760"/>
          </a:xfrm>
          <a:prstGeom prst="rect">
            <a:avLst/>
          </a:prstGeom>
          <a:solidFill>
            <a:srgbClr val="FFFFFF"/>
          </a:solidFill>
          <a:ln w="6350">
            <a:solidFill>
              <a:srgbClr val="D3DCE5"/>
            </a:solidFill>
            <a:prstDash val="solid"/>
          </a:ln>
        </p:spPr>
      </p:sp>
      <p:sp>
        <p:nvSpPr>
          <p:cNvPr id="70" name="Text 68"/>
          <p:cNvSpPr txBox="1"/>
          <p:nvPr/>
        </p:nvSpPr>
        <p:spPr>
          <a:xfrm>
            <a:off x="8842248" y="3785616"/>
            <a:ext cx="2880360"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Benchmark Mineral Intelligence</a:t>
            </a:r>
            <a:endParaRPr lang="en-US" sz="850" dirty="0"/>
          </a:p>
        </p:txBody>
      </p:sp>
      <p:sp>
        <p:nvSpPr>
          <p:cNvPr id="71" name="Shape 69"/>
          <p:cNvSpPr/>
          <p:nvPr/>
        </p:nvSpPr>
        <p:spPr>
          <a:xfrm>
            <a:off x="411480" y="4151376"/>
            <a:ext cx="3977640" cy="365760"/>
          </a:xfrm>
          <a:prstGeom prst="rect">
            <a:avLst/>
          </a:prstGeom>
          <a:solidFill>
            <a:srgbClr val="F7F9FB"/>
          </a:solidFill>
          <a:ln w="6350">
            <a:solidFill>
              <a:srgbClr val="D3DCE5"/>
            </a:solidFill>
            <a:prstDash val="solid"/>
          </a:ln>
        </p:spPr>
      </p:sp>
      <p:sp>
        <p:nvSpPr>
          <p:cNvPr id="72" name="Text 70"/>
          <p:cNvSpPr txBox="1"/>
          <p:nvPr/>
        </p:nvSpPr>
        <p:spPr>
          <a:xfrm>
            <a:off x="475488" y="4151376"/>
            <a:ext cx="3849624" cy="365760"/>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Long-run incentive price</a:t>
            </a:r>
            <a:endParaRPr lang="en-US" sz="850" dirty="0"/>
          </a:p>
        </p:txBody>
      </p:sp>
      <p:sp>
        <p:nvSpPr>
          <p:cNvPr id="73" name="Shape 71"/>
          <p:cNvSpPr/>
          <p:nvPr/>
        </p:nvSpPr>
        <p:spPr>
          <a:xfrm>
            <a:off x="4389120" y="4151376"/>
            <a:ext cx="2240280" cy="365760"/>
          </a:xfrm>
          <a:prstGeom prst="rect">
            <a:avLst/>
          </a:prstGeom>
          <a:solidFill>
            <a:srgbClr val="F7F9FB"/>
          </a:solidFill>
          <a:ln w="6350">
            <a:solidFill>
              <a:srgbClr val="D3DCE5"/>
            </a:solidFill>
            <a:prstDash val="solid"/>
          </a:ln>
        </p:spPr>
      </p:sp>
      <p:sp>
        <p:nvSpPr>
          <p:cNvPr id="74" name="Text 72"/>
          <p:cNvSpPr txBox="1"/>
          <p:nvPr/>
        </p:nvSpPr>
        <p:spPr>
          <a:xfrm>
            <a:off x="4453128" y="4151376"/>
            <a:ext cx="2112264" cy="365760"/>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~US$29,000/t LCE in real 2024 terms</a:t>
            </a:r>
            <a:endParaRPr lang="en-US" sz="850" dirty="0"/>
          </a:p>
        </p:txBody>
      </p:sp>
      <p:sp>
        <p:nvSpPr>
          <p:cNvPr id="75" name="Shape 73"/>
          <p:cNvSpPr/>
          <p:nvPr/>
        </p:nvSpPr>
        <p:spPr>
          <a:xfrm>
            <a:off x="6629400" y="4151376"/>
            <a:ext cx="2148840" cy="365760"/>
          </a:xfrm>
          <a:prstGeom prst="rect">
            <a:avLst/>
          </a:prstGeom>
          <a:solidFill>
            <a:srgbClr val="F7F9FB"/>
          </a:solidFill>
          <a:ln w="6350">
            <a:solidFill>
              <a:srgbClr val="D3DCE5"/>
            </a:solidFill>
            <a:prstDash val="solid"/>
          </a:ln>
        </p:spPr>
      </p:sp>
      <p:sp>
        <p:nvSpPr>
          <p:cNvPr id="76" name="Text 74"/>
          <p:cNvSpPr txBox="1"/>
          <p:nvPr/>
        </p:nvSpPr>
        <p:spPr>
          <a:xfrm>
            <a:off x="6693408" y="4151376"/>
            <a:ext cx="2020824"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Long-run</a:t>
            </a:r>
            <a:endParaRPr lang="en-US" sz="850" dirty="0"/>
          </a:p>
        </p:txBody>
      </p:sp>
      <p:sp>
        <p:nvSpPr>
          <p:cNvPr id="77" name="Shape 75"/>
          <p:cNvSpPr/>
          <p:nvPr/>
        </p:nvSpPr>
        <p:spPr>
          <a:xfrm>
            <a:off x="8778240" y="4151376"/>
            <a:ext cx="3008376" cy="365760"/>
          </a:xfrm>
          <a:prstGeom prst="rect">
            <a:avLst/>
          </a:prstGeom>
          <a:solidFill>
            <a:srgbClr val="F7F9FB"/>
          </a:solidFill>
          <a:ln w="6350">
            <a:solidFill>
              <a:srgbClr val="D3DCE5"/>
            </a:solidFill>
            <a:prstDash val="solid"/>
          </a:ln>
        </p:spPr>
      </p:sp>
      <p:sp>
        <p:nvSpPr>
          <p:cNvPr id="78" name="Text 76"/>
          <p:cNvSpPr txBox="1"/>
          <p:nvPr/>
        </p:nvSpPr>
        <p:spPr>
          <a:xfrm>
            <a:off x="8842248" y="4151376"/>
            <a:ext cx="2880360" cy="365760"/>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Benchmark Mineral Intelligence</a:t>
            </a:r>
            <a:endParaRPr lang="en-US" sz="850" dirty="0"/>
          </a:p>
        </p:txBody>
      </p:sp>
      <p:sp>
        <p:nvSpPr>
          <p:cNvPr id="79" name="Shape 77"/>
          <p:cNvSpPr/>
          <p:nvPr/>
        </p:nvSpPr>
        <p:spPr>
          <a:xfrm>
            <a:off x="411480" y="4608576"/>
            <a:ext cx="5577840" cy="1243584"/>
          </a:xfrm>
          <a:prstGeom prst="rect">
            <a:avLst/>
          </a:prstGeom>
          <a:solidFill>
            <a:srgbClr val="EEF2F6"/>
          </a:solidFill>
          <a:ln w="9525">
            <a:solidFill>
              <a:srgbClr val="D3DCE5"/>
            </a:solidFill>
            <a:prstDash val="solid"/>
          </a:ln>
        </p:spPr>
      </p:sp>
      <p:sp>
        <p:nvSpPr>
          <p:cNvPr id="80" name="Text 78"/>
          <p:cNvSpPr txBox="1"/>
          <p:nvPr/>
        </p:nvSpPr>
        <p:spPr>
          <a:xfrm>
            <a:off x="576072" y="4736592"/>
            <a:ext cx="524865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comparison most decks get wrong</a:t>
            </a:r>
            <a:endParaRPr lang="en-US" sz="1150" dirty="0"/>
          </a:p>
        </p:txBody>
      </p:sp>
      <p:sp>
        <p:nvSpPr>
          <p:cNvPr id="81" name="Text 79"/>
          <p:cNvSpPr txBox="1"/>
          <p:nvPr/>
        </p:nvSpPr>
        <p:spPr>
          <a:xfrm>
            <a:off x="576072" y="5065776"/>
            <a:ext cx="5248656" cy="694944"/>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Concentrate costs are quoted per tonne of concentrate; brine and integrated costs per tonne of lithium carbonate equivalent. They are not comparable without converting at roughly 7.5 tonnes of SC6 per tonne of LCE. We have kept the two units separate on this page rather than presenting a single misleading ladder.</a:t>
            </a:r>
            <a:endParaRPr lang="en-US" sz="900" dirty="0"/>
          </a:p>
        </p:txBody>
      </p:sp>
      <p:sp>
        <p:nvSpPr>
          <p:cNvPr id="82" name="Shape 80"/>
          <p:cNvSpPr/>
          <p:nvPr/>
        </p:nvSpPr>
        <p:spPr>
          <a:xfrm>
            <a:off x="6208776" y="4608576"/>
            <a:ext cx="5577840" cy="1243584"/>
          </a:xfrm>
          <a:prstGeom prst="rect">
            <a:avLst/>
          </a:prstGeom>
          <a:solidFill>
            <a:srgbClr val="D6EBE7"/>
          </a:solidFill>
          <a:ln w="9525">
            <a:solidFill>
              <a:srgbClr val="AFD3CC"/>
            </a:solidFill>
            <a:prstDash val="solid"/>
          </a:ln>
        </p:spPr>
      </p:sp>
      <p:sp>
        <p:nvSpPr>
          <p:cNvPr id="83" name="Text 81"/>
          <p:cNvSpPr txBox="1"/>
          <p:nvPr/>
        </p:nvSpPr>
        <p:spPr>
          <a:xfrm>
            <a:off x="6373368" y="4736592"/>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What it implies for our price deck</a:t>
            </a:r>
            <a:endParaRPr lang="en-US" sz="1150" dirty="0"/>
          </a:p>
        </p:txBody>
      </p:sp>
      <p:sp>
        <p:nvSpPr>
          <p:cNvPr id="84" name="Text 82"/>
          <p:cNvSpPr txBox="1"/>
          <p:nvPr/>
        </p:nvSpPr>
        <p:spPr>
          <a:xfrm>
            <a:off x="6373368" y="5065776"/>
            <a:ext cx="5248656" cy="694944"/>
          </a:xfrm>
          <a:prstGeom prst="rect">
            <a:avLst/>
          </a:prstGeom>
          <a:noFill/>
          <a:ln/>
        </p:spPr>
        <p:txBody>
          <a:bodyPr wrap="square" lIns="0" tIns="0" rIns="0" bIns="0" rtlCol="0" anchor="t"/>
          <a:lstStyle/>
          <a:p>
            <a:pPr indent="0" marL="0">
              <a:lnSpc>
                <a:spcPct val="105000"/>
              </a:lnSpc>
              <a:buNone/>
            </a:pPr>
            <a:r>
              <a:rPr lang="en-US" sz="850" dirty="0">
                <a:solidFill>
                  <a:srgbClr val="1B2733"/>
                </a:solidFill>
                <a:latin typeface="Calibri" pitchFamily="34" charset="0"/>
                <a:ea typeface="Calibri" pitchFamily="34" charset="-122"/>
                <a:cs typeface="Calibri" pitchFamily="34" charset="-120"/>
              </a:rPr>
              <a:t>Our long-run base case of about US$1,750/t realised, roughly US$2,000/t on an SC6 basis, converts to well under the US$20,000-25,000/t LCE that Benchmark says greenfield supply requires. Either our long-run price is too low, or the 300-plus projects Benchmark says 2035 demand needs will not be funded. Both cannot be true, and we have chosen the conservative side.</a:t>
            </a:r>
            <a:endParaRPr lang="en-US" sz="850" dirty="0"/>
          </a:p>
        </p:txBody>
      </p:sp>
      <p:sp>
        <p:nvSpPr>
          <p:cNvPr id="85" name="Text 83"/>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S&amp;P Global Market Intelligence, Mine Cost Outlook, January 2026; CRU Group; Benchmark Mineral Intelligence. PLS's SC6-equivalent cost is our conversion from the disclosed A$569/t FOB at SC5.2 grade and 0.65 AUD/USD.</a:t>
            </a:r>
            <a:endParaRPr lang="en-US" sz="720" dirty="0"/>
          </a:p>
        </p:txBody>
      </p:sp>
      <p:sp>
        <p:nvSpPr>
          <p:cNvPr id="86" name="Text 84"/>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It remains most of lithium demand, and it is the part of the thesis a single government can damage. That is why we do not rest the case on it.</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B8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3675888" cy="1920240"/>
          </a:xfrm>
          <a:prstGeom prst="rect">
            <a:avLst/>
          </a:prstGeom>
          <a:solidFill>
            <a:srgbClr val="F7F9FB"/>
          </a:solidFill>
          <a:ln w="9525">
            <a:solidFill>
              <a:srgbClr val="D3DCE5"/>
            </a:solidFill>
            <a:prstDash val="solid"/>
          </a:ln>
        </p:spPr>
      </p:sp>
      <p:sp>
        <p:nvSpPr>
          <p:cNvPr id="8" name="Shape 6"/>
          <p:cNvSpPr/>
          <p:nvPr/>
        </p:nvSpPr>
        <p:spPr>
          <a:xfrm>
            <a:off x="557784" y="1444752"/>
            <a:ext cx="310896" cy="310896"/>
          </a:xfrm>
          <a:prstGeom prst="ellipse">
            <a:avLst/>
          </a:prstGeom>
          <a:solidFill>
            <a:srgbClr val="10233A"/>
          </a:solidFill>
          <a:ln/>
        </p:spPr>
      </p:sp>
      <p:sp>
        <p:nvSpPr>
          <p:cNvPr id="9" name="Text 7"/>
          <p:cNvSpPr txBox="1"/>
          <p:nvPr/>
        </p:nvSpPr>
        <p:spPr>
          <a:xfrm>
            <a:off x="557784"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960120" y="1426464"/>
            <a:ext cx="2980944" cy="365760"/>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What is growing</a:t>
            </a:r>
            <a:endParaRPr lang="en-US" sz="1150" dirty="0"/>
          </a:p>
        </p:txBody>
      </p:sp>
      <p:sp>
        <p:nvSpPr>
          <p:cNvPr id="11" name="Text 9"/>
          <p:cNvSpPr txBox="1"/>
          <p:nvPr/>
        </p:nvSpPr>
        <p:spPr>
          <a:xfrm>
            <a:off x="594360" y="1865376"/>
            <a:ext cx="3310128" cy="124358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900" dirty="0">
                <a:solidFill>
                  <a:srgbClr val="1B2733"/>
                </a:solidFill>
                <a:latin typeface="Calibri" pitchFamily="34" charset="0"/>
                <a:ea typeface="Calibri" pitchFamily="34" charset="-122"/>
                <a:cs typeface="Calibri" pitchFamily="34" charset="-120"/>
              </a:rPr>
              <a:t>Electric-vehicle battery demand grew about 26% in 2025.</a:t>
            </a:r>
            <a:endParaRPr lang="en-US" sz="900" dirty="0"/>
          </a:p>
          <a:p>
            <a:pPr marL="342900" indent="-342900">
              <a:lnSpc>
                <a:spcPct val="100000"/>
              </a:lnSpc>
              <a:spcAft>
                <a:spcPts val="500"/>
              </a:spcAft>
              <a:buSzPct val="100000"/>
              <a:buChar char="▪"/>
            </a:pPr>
            <a:r>
              <a:rPr lang="en-US" sz="900" dirty="0">
                <a:solidFill>
                  <a:srgbClr val="1B2733"/>
                </a:solidFill>
                <a:latin typeface="Calibri" pitchFamily="34" charset="0"/>
                <a:ea typeface="Calibri" pitchFamily="34" charset="-122"/>
                <a:cs typeface="Calibri" pitchFamily="34" charset="-120"/>
              </a:rPr>
              <a:t>Reuters-polled analysts expect total lithium demand to grow 17-30% in 2026.</a:t>
            </a:r>
            <a:endParaRPr lang="en-US" sz="900" dirty="0"/>
          </a:p>
          <a:p>
            <a:pPr marL="342900" indent="-342900">
              <a:lnSpc>
                <a:spcPct val="100000"/>
              </a:lnSpc>
              <a:spcAft>
                <a:spcPts val="500"/>
              </a:spcAft>
              <a:buSzPct val="100000"/>
              <a:buChar char="▪"/>
            </a:pPr>
            <a:r>
              <a:rPr lang="en-US" sz="900" dirty="0">
                <a:solidFill>
                  <a:srgbClr val="1B2733"/>
                </a:solidFill>
                <a:latin typeface="Calibri" pitchFamily="34" charset="0"/>
                <a:ea typeface="Calibri" pitchFamily="34" charset="-122"/>
                <a:cs typeface="Calibri" pitchFamily="34" charset="-120"/>
              </a:rPr>
              <a:t>China remains the dominant single market for both production and sales.</a:t>
            </a:r>
            <a:endParaRPr lang="en-US" sz="900" dirty="0"/>
          </a:p>
        </p:txBody>
      </p:sp>
      <p:sp>
        <p:nvSpPr>
          <p:cNvPr id="12" name="Shape 10"/>
          <p:cNvSpPr/>
          <p:nvPr/>
        </p:nvSpPr>
        <p:spPr>
          <a:xfrm>
            <a:off x="4261104" y="1298448"/>
            <a:ext cx="3675888" cy="1920240"/>
          </a:xfrm>
          <a:prstGeom prst="rect">
            <a:avLst/>
          </a:prstGeom>
          <a:solidFill>
            <a:srgbClr val="F7F9FB"/>
          </a:solidFill>
          <a:ln w="9525">
            <a:solidFill>
              <a:srgbClr val="D3DCE5"/>
            </a:solidFill>
            <a:prstDash val="solid"/>
          </a:ln>
        </p:spPr>
      </p:sp>
      <p:sp>
        <p:nvSpPr>
          <p:cNvPr id="13" name="Shape 11"/>
          <p:cNvSpPr/>
          <p:nvPr/>
        </p:nvSpPr>
        <p:spPr>
          <a:xfrm>
            <a:off x="4407408" y="1444752"/>
            <a:ext cx="310896" cy="310896"/>
          </a:xfrm>
          <a:prstGeom prst="ellipse">
            <a:avLst/>
          </a:prstGeom>
          <a:solidFill>
            <a:srgbClr val="C2610A"/>
          </a:solidFill>
          <a:ln/>
        </p:spPr>
      </p:sp>
      <p:sp>
        <p:nvSpPr>
          <p:cNvPr id="14" name="Text 12"/>
          <p:cNvSpPr txBox="1"/>
          <p:nvPr/>
        </p:nvSpPr>
        <p:spPr>
          <a:xfrm>
            <a:off x="4407408"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4809744" y="1426464"/>
            <a:ext cx="2980944" cy="365760"/>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What is working against it</a:t>
            </a:r>
            <a:endParaRPr lang="en-US" sz="1150" dirty="0"/>
          </a:p>
        </p:txBody>
      </p:sp>
      <p:sp>
        <p:nvSpPr>
          <p:cNvPr id="16" name="Text 14"/>
          <p:cNvSpPr txBox="1"/>
          <p:nvPr/>
        </p:nvSpPr>
        <p:spPr>
          <a:xfrm>
            <a:off x="4443984" y="1865376"/>
            <a:ext cx="3310128" cy="124358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900" dirty="0">
                <a:solidFill>
                  <a:srgbClr val="1B2733"/>
                </a:solidFill>
                <a:latin typeface="Calibri" pitchFamily="34" charset="0"/>
                <a:ea typeface="Calibri" pitchFamily="34" charset="-122"/>
                <a:cs typeface="Calibri" pitchFamily="34" charset="-120"/>
              </a:rPr>
              <a:t>United States policy has turned: the Inflation Reduction Act consumer incentives and tariff settings under the current administration have removed support from US electric-vehicle demand.</a:t>
            </a:r>
            <a:endParaRPr lang="en-US" sz="900" dirty="0"/>
          </a:p>
          <a:p>
            <a:pPr marL="342900" indent="-342900">
              <a:lnSpc>
                <a:spcPct val="100000"/>
              </a:lnSpc>
              <a:spcAft>
                <a:spcPts val="500"/>
              </a:spcAft>
              <a:buSzPct val="100000"/>
              <a:buChar char="▪"/>
            </a:pPr>
            <a:r>
              <a:rPr lang="en-US" sz="900" dirty="0">
                <a:solidFill>
                  <a:srgbClr val="1B2733"/>
                </a:solidFill>
                <a:latin typeface="Calibri" pitchFamily="34" charset="0"/>
                <a:ea typeface="Calibri" pitchFamily="34" charset="-122"/>
                <a:cs typeface="Calibri" pitchFamily="34" charset="-120"/>
              </a:rPr>
              <a:t>Global demand nonetheless kept rising through that reversal, which is the point.</a:t>
            </a:r>
            <a:endParaRPr lang="en-US" sz="900" dirty="0"/>
          </a:p>
        </p:txBody>
      </p:sp>
      <p:sp>
        <p:nvSpPr>
          <p:cNvPr id="17" name="Shape 15"/>
          <p:cNvSpPr/>
          <p:nvPr/>
        </p:nvSpPr>
        <p:spPr>
          <a:xfrm>
            <a:off x="8110728" y="1298448"/>
            <a:ext cx="3675888" cy="1920240"/>
          </a:xfrm>
          <a:prstGeom prst="rect">
            <a:avLst/>
          </a:prstGeom>
          <a:solidFill>
            <a:srgbClr val="F7F9FB"/>
          </a:solidFill>
          <a:ln w="9525">
            <a:solidFill>
              <a:srgbClr val="D3DCE5"/>
            </a:solidFill>
            <a:prstDash val="solid"/>
          </a:ln>
        </p:spPr>
      </p:sp>
      <p:sp>
        <p:nvSpPr>
          <p:cNvPr id="18" name="Shape 16"/>
          <p:cNvSpPr/>
          <p:nvPr/>
        </p:nvSpPr>
        <p:spPr>
          <a:xfrm>
            <a:off x="8257032" y="1444752"/>
            <a:ext cx="310896" cy="310896"/>
          </a:xfrm>
          <a:prstGeom prst="ellipse">
            <a:avLst/>
          </a:prstGeom>
          <a:solidFill>
            <a:srgbClr val="10233A"/>
          </a:solidFill>
          <a:ln/>
        </p:spPr>
      </p:sp>
      <p:sp>
        <p:nvSpPr>
          <p:cNvPr id="19" name="Text 17"/>
          <p:cNvSpPr txBox="1"/>
          <p:nvPr/>
        </p:nvSpPr>
        <p:spPr>
          <a:xfrm>
            <a:off x="8257032" y="1444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txBox="1"/>
          <p:nvPr/>
        </p:nvSpPr>
        <p:spPr>
          <a:xfrm>
            <a:off x="8659368" y="1426464"/>
            <a:ext cx="2980944" cy="365760"/>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Why chemistry matters here</a:t>
            </a:r>
            <a:endParaRPr lang="en-US" sz="1150" dirty="0"/>
          </a:p>
        </p:txBody>
      </p:sp>
      <p:sp>
        <p:nvSpPr>
          <p:cNvPr id="21" name="Text 19"/>
          <p:cNvSpPr txBox="1"/>
          <p:nvPr/>
        </p:nvSpPr>
        <p:spPr>
          <a:xfrm>
            <a:off x="8293608" y="1865376"/>
            <a:ext cx="3310128" cy="124358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900" dirty="0">
                <a:solidFill>
                  <a:srgbClr val="1B2733"/>
                </a:solidFill>
                <a:latin typeface="Calibri" pitchFamily="34" charset="0"/>
                <a:ea typeface="Calibri" pitchFamily="34" charset="-122"/>
                <a:cs typeface="Calibri" pitchFamily="34" charset="-120"/>
              </a:rPr>
              <a:t>The shift toward lithium iron phosphate cathodes favours lithium carbonate over hydroxide.</a:t>
            </a:r>
            <a:endParaRPr lang="en-US" sz="900" dirty="0"/>
          </a:p>
          <a:p>
            <a:pPr marL="342900" indent="-342900">
              <a:lnSpc>
                <a:spcPct val="100000"/>
              </a:lnSpc>
              <a:spcAft>
                <a:spcPts val="500"/>
              </a:spcAft>
              <a:buSzPct val="100000"/>
              <a:buChar char="▪"/>
            </a:pPr>
            <a:r>
              <a:rPr lang="en-US" sz="900" dirty="0">
                <a:solidFill>
                  <a:srgbClr val="1B2733"/>
                </a:solidFill>
                <a:latin typeface="Calibri" pitchFamily="34" charset="0"/>
                <a:ea typeface="Calibri" pitchFamily="34" charset="-122"/>
                <a:cs typeface="Calibri" pitchFamily="34" charset="-120"/>
              </a:rPr>
              <a:t>Spodumene feeds both, so PLS is chemistry-agnostic at the concentrate level.</a:t>
            </a:r>
            <a:endParaRPr lang="en-US" sz="900" dirty="0"/>
          </a:p>
          <a:p>
            <a:pPr marL="342900" indent="-342900">
              <a:lnSpc>
                <a:spcPct val="100000"/>
              </a:lnSpc>
              <a:spcAft>
                <a:spcPts val="500"/>
              </a:spcAft>
              <a:buSzPct val="100000"/>
              <a:buChar char="▪"/>
            </a:pPr>
            <a:r>
              <a:rPr lang="en-US" sz="900" dirty="0">
                <a:solidFill>
                  <a:srgbClr val="1B2733"/>
                </a:solidFill>
                <a:latin typeface="Calibri" pitchFamily="34" charset="0"/>
                <a:ea typeface="Calibri" pitchFamily="34" charset="-122"/>
                <a:cs typeface="Calibri" pitchFamily="34" charset="-120"/>
              </a:rPr>
              <a:t>The POSCO joint venture produces hydroxide, which is the nickel-rich end of the market - a partial exposure to the chemistry mix.</a:t>
            </a:r>
            <a:endParaRPr lang="en-US" sz="900" dirty="0"/>
          </a:p>
        </p:txBody>
      </p:sp>
      <p:sp>
        <p:nvSpPr>
          <p:cNvPr id="22" name="Shape 20"/>
          <p:cNvSpPr/>
          <p:nvPr/>
        </p:nvSpPr>
        <p:spPr>
          <a:xfrm>
            <a:off x="411480" y="3383280"/>
            <a:ext cx="11375136" cy="1700784"/>
          </a:xfrm>
          <a:prstGeom prst="rect">
            <a:avLst/>
          </a:prstGeom>
          <a:solidFill>
            <a:srgbClr val="EEF2F6"/>
          </a:solidFill>
          <a:ln w="9525">
            <a:solidFill>
              <a:srgbClr val="D3DCE5"/>
            </a:solidFill>
            <a:prstDash val="solid"/>
          </a:ln>
        </p:spPr>
      </p:sp>
      <p:sp>
        <p:nvSpPr>
          <p:cNvPr id="23" name="Text 21"/>
          <p:cNvSpPr txBox="1"/>
          <p:nvPr/>
        </p:nvSpPr>
        <p:spPr>
          <a:xfrm>
            <a:off x="576072" y="3511296"/>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argument we are deliberately not making</a:t>
            </a:r>
            <a:endParaRPr lang="en-US" sz="1150" dirty="0"/>
          </a:p>
        </p:txBody>
      </p:sp>
      <p:sp>
        <p:nvSpPr>
          <p:cNvPr id="24" name="Text 22"/>
          <p:cNvSpPr txBox="1"/>
          <p:nvPr/>
        </p:nvSpPr>
        <p:spPr>
          <a:xfrm>
            <a:off x="576072" y="3840480"/>
            <a:ext cx="11045952" cy="1152144"/>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The standard lithium pitch is: electric vehicles grow, therefore lithium goes up, therefore buy a lithium miner. We think that argument is weaker in 2026 than it has been at any point in the last five years, because its central assumption - that policy support for electric-vehicle adoption is a one-way ratchet - has just been falsified in the world's second-largest car market.</a:t>
            </a:r>
            <a:endParaRPr lang="en-US" sz="940" dirty="0"/>
          </a:p>
          <a:p>
            <a:pPr indent="0" marL="0">
              <a:lnSpc>
                <a:spcPct val="105000"/>
              </a:lnSpc>
              <a:buNone/>
            </a:pPr>
            <a:endParaRPr lang="en-US" sz="940" dirty="0"/>
          </a:p>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Our case does not need electric-vehicle demand to accelerate. It needs the cost curve to keep sorting winners from losers, and it needs carbon accounting to keep spreading through supply chains. Both of those continue regardless of what happens to US purchase incentives. The storage demand leg on the next page is what makes total demand robust to this particular risk.</a:t>
            </a:r>
            <a:endParaRPr lang="en-US" sz="940" dirty="0"/>
          </a:p>
        </p:txBody>
      </p:sp>
      <p:sp>
        <p:nvSpPr>
          <p:cNvPr id="25" name="Text 23"/>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Rho Motion and industry battery-demand data; Reuters analyst poll on 2026 lithium demand; IEA Global EV Outlook. US policy characterisation reflects reporting through 2026.</a:t>
            </a:r>
            <a:endParaRPr lang="en-US" sz="720" dirty="0"/>
          </a:p>
        </p:txBody>
      </p:sp>
      <p:sp>
        <p:nvSpPr>
          <p:cNvPr id="26" name="Text 24"/>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Installations grew about 51% in 2025 and storage went from roughly 23% to about 31% of lithium demand in a single year, pulled partly by datacentre power.</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B9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graphicFrame>
        <p:nvGraphicFramePr>
          <p:cNvPr id="7" name="Chart 0" descr=""/>
          <p:cNvGraphicFramePr/>
          <p:nvPr/>
        </p:nvGraphicFramePr>
        <p:xfrm>
          <a:off x="411480" y="1298448"/>
          <a:ext cx="4846320" cy="23774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477256" y="1298448"/>
            <a:ext cx="6309360" cy="2377440"/>
          </a:xfrm>
          <a:prstGeom prst="rect">
            <a:avLst/>
          </a:prstGeom>
          <a:solidFill>
            <a:srgbClr val="D6EBE7"/>
          </a:solidFill>
          <a:ln w="9525">
            <a:solidFill>
              <a:srgbClr val="AFD3CC"/>
            </a:solidFill>
            <a:prstDash val="solid"/>
          </a:ln>
        </p:spPr>
      </p:sp>
      <p:sp>
        <p:nvSpPr>
          <p:cNvPr id="9" name="Text 6"/>
          <p:cNvSpPr txBox="1"/>
          <p:nvPr/>
        </p:nvSpPr>
        <p:spPr>
          <a:xfrm>
            <a:off x="5641848" y="1426464"/>
            <a:ext cx="5998464"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Why this is structurally different from vehicle demand</a:t>
            </a:r>
            <a:endParaRPr lang="en-US" sz="1150" dirty="0"/>
          </a:p>
        </p:txBody>
      </p:sp>
      <p:sp>
        <p:nvSpPr>
          <p:cNvPr id="10" name="Text 7"/>
          <p:cNvSpPr txBox="1"/>
          <p:nvPr/>
        </p:nvSpPr>
        <p:spPr>
          <a:xfrm>
            <a:off x="5660136" y="1865376"/>
            <a:ext cx="5943600" cy="170078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Grid storage is bought by utilities and datacentre operators on a levelised-cost basis, not by households responding to a purchase subsidy.</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Its driver is electricity demand growth and grid firming, which is currently being pulled hard by artificial-intelligence datacentre buildout.</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China's power and energy-storage battery production reached 191.7 GWh in May 2026 alone, up 55.2% year on year.</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Storage overwhelmingly uses lithium iron phosphate chemistry, which consumes lithium carbonate - the product spodumene feeds most directly.</a:t>
            </a:r>
            <a:endParaRPr lang="en-US" sz="830" dirty="0"/>
          </a:p>
          <a:p>
            <a:pPr marL="342900" indent="-342900">
              <a:lnSpc>
                <a:spcPct val="100000"/>
              </a:lnSpc>
              <a:spcAft>
                <a:spcPts val="500"/>
              </a:spcAft>
              <a:buSzPct val="100000"/>
              <a:buChar char="▪"/>
            </a:pPr>
            <a:r>
              <a:rPr lang="en-US" sz="830" dirty="0">
                <a:solidFill>
                  <a:srgbClr val="1B2733"/>
                </a:solidFill>
                <a:latin typeface="Calibri" pitchFamily="34" charset="0"/>
                <a:ea typeface="Calibri" pitchFamily="34" charset="-122"/>
                <a:cs typeface="Calibri" pitchFamily="34" charset="-120"/>
              </a:rPr>
              <a:t>It is therefore a demand leg that is uncorrelated with the single largest political risk to the electric-vehicle leg.</a:t>
            </a:r>
            <a:endParaRPr lang="en-US" sz="830" dirty="0"/>
          </a:p>
        </p:txBody>
      </p:sp>
      <p:sp>
        <p:nvSpPr>
          <p:cNvPr id="11" name="Shape 8"/>
          <p:cNvSpPr/>
          <p:nvPr/>
        </p:nvSpPr>
        <p:spPr>
          <a:xfrm>
            <a:off x="411480" y="3840480"/>
            <a:ext cx="11375136" cy="1243584"/>
          </a:xfrm>
          <a:prstGeom prst="rect">
            <a:avLst/>
          </a:prstGeom>
          <a:solidFill>
            <a:srgbClr val="EEF2F6"/>
          </a:solidFill>
          <a:ln w="9525">
            <a:solidFill>
              <a:srgbClr val="D3DCE5"/>
            </a:solidFill>
            <a:prstDash val="solid"/>
          </a:ln>
        </p:spPr>
      </p:sp>
      <p:sp>
        <p:nvSpPr>
          <p:cNvPr id="12" name="Text 9"/>
          <p:cNvSpPr txBox="1"/>
          <p:nvPr/>
        </p:nvSpPr>
        <p:spPr>
          <a:xfrm>
            <a:off x="576072" y="3968496"/>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honest limit of this argument</a:t>
            </a:r>
            <a:endParaRPr lang="en-US" sz="1150" dirty="0"/>
          </a:p>
        </p:txBody>
      </p:sp>
      <p:sp>
        <p:nvSpPr>
          <p:cNvPr id="13" name="Text 10"/>
          <p:cNvSpPr txBox="1"/>
          <p:nvPr/>
        </p:nvSpPr>
        <p:spPr>
          <a:xfrm>
            <a:off x="576072" y="4297680"/>
            <a:ext cx="11045952" cy="694944"/>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Storage is growing from a smaller base and is more price-elastic than vehicle demand: a storage project that does not pencil at US$25,000/t lithium carbonate simply waits. So this leg supports demand at moderate prices and caps it at high ones. That is consistent with our price deck, which has all three scenarios converging on a long-run level rather than running away, and it is part of why we think a spike would be self-correcting rather than sustained.</a:t>
            </a:r>
            <a:endParaRPr lang="en-US" sz="940" dirty="0"/>
          </a:p>
        </p:txBody>
      </p:sp>
      <p:sp>
        <p:nvSpPr>
          <p:cNvPr id="14" name="Text 11"/>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industry installation data via Benchmark Mineral Intelligence and Rho Motion; China Automotive Battery Innovation Alliance production data reported for May 2026.</a:t>
            </a:r>
            <a:endParaRPr lang="en-US" sz="720" dirty="0"/>
          </a:p>
        </p:txBody>
      </p:sp>
      <p:sp>
        <p:nvSpPr>
          <p:cNvPr id="15" name="Text 12"/>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Presented as found rather than smoothed into a house view, because the disagreement is itself the most useful thing on this page.</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B10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051560" cy="292608"/>
          </a:xfrm>
          <a:prstGeom prst="rect">
            <a:avLst/>
          </a:prstGeom>
          <a:solidFill>
            <a:srgbClr val="10233A"/>
          </a:solidFill>
          <a:ln/>
        </p:spPr>
      </p:sp>
      <p:sp>
        <p:nvSpPr>
          <p:cNvPr id="8" name="Text 6"/>
          <p:cNvSpPr txBox="1"/>
          <p:nvPr/>
        </p:nvSpPr>
        <p:spPr>
          <a:xfrm>
            <a:off x="475488" y="1298448"/>
            <a:ext cx="92354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Year</a:t>
            </a:r>
            <a:endParaRPr lang="en-US" sz="900" dirty="0"/>
          </a:p>
        </p:txBody>
      </p:sp>
      <p:sp>
        <p:nvSpPr>
          <p:cNvPr id="9" name="Shape 7"/>
          <p:cNvSpPr/>
          <p:nvPr/>
        </p:nvSpPr>
        <p:spPr>
          <a:xfrm>
            <a:off x="1463040" y="1298448"/>
            <a:ext cx="2606040" cy="292608"/>
          </a:xfrm>
          <a:prstGeom prst="rect">
            <a:avLst/>
          </a:prstGeom>
          <a:solidFill>
            <a:srgbClr val="10233A"/>
          </a:solidFill>
          <a:ln/>
        </p:spPr>
      </p:sp>
      <p:sp>
        <p:nvSpPr>
          <p:cNvPr id="10" name="Text 8"/>
          <p:cNvSpPr txBox="1"/>
          <p:nvPr/>
        </p:nvSpPr>
        <p:spPr>
          <a:xfrm>
            <a:off x="1527048" y="1298448"/>
            <a:ext cx="24780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Forecaster</a:t>
            </a:r>
            <a:endParaRPr lang="en-US" sz="900" dirty="0"/>
          </a:p>
        </p:txBody>
      </p:sp>
      <p:sp>
        <p:nvSpPr>
          <p:cNvPr id="11" name="Shape 9"/>
          <p:cNvSpPr/>
          <p:nvPr/>
        </p:nvSpPr>
        <p:spPr>
          <a:xfrm>
            <a:off x="4069080" y="1298448"/>
            <a:ext cx="2148840" cy="292608"/>
          </a:xfrm>
          <a:prstGeom prst="rect">
            <a:avLst/>
          </a:prstGeom>
          <a:solidFill>
            <a:srgbClr val="10233A"/>
          </a:solidFill>
          <a:ln/>
        </p:spPr>
      </p:sp>
      <p:sp>
        <p:nvSpPr>
          <p:cNvPr id="12" name="Text 10"/>
          <p:cNvSpPr txBox="1"/>
          <p:nvPr/>
        </p:nvSpPr>
        <p:spPr>
          <a:xfrm>
            <a:off x="4133088" y="1298448"/>
            <a:ext cx="202082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Balance, kt LCE</a:t>
            </a:r>
            <a:endParaRPr lang="en-US" sz="900" dirty="0"/>
          </a:p>
        </p:txBody>
      </p:sp>
      <p:sp>
        <p:nvSpPr>
          <p:cNvPr id="13" name="Shape 11"/>
          <p:cNvSpPr/>
          <p:nvPr/>
        </p:nvSpPr>
        <p:spPr>
          <a:xfrm>
            <a:off x="6217920" y="1298448"/>
            <a:ext cx="5568696" cy="292608"/>
          </a:xfrm>
          <a:prstGeom prst="rect">
            <a:avLst/>
          </a:prstGeom>
          <a:solidFill>
            <a:srgbClr val="10233A"/>
          </a:solidFill>
          <a:ln/>
        </p:spPr>
      </p:sp>
      <p:sp>
        <p:nvSpPr>
          <p:cNvPr id="14" name="Text 12"/>
          <p:cNvSpPr txBox="1"/>
          <p:nvPr/>
        </p:nvSpPr>
        <p:spPr>
          <a:xfrm>
            <a:off x="6281928" y="1298448"/>
            <a:ext cx="544068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Note</a:t>
            </a:r>
            <a:endParaRPr lang="en-US" sz="900" dirty="0"/>
          </a:p>
        </p:txBody>
      </p:sp>
      <p:sp>
        <p:nvSpPr>
          <p:cNvPr id="15" name="Shape 13"/>
          <p:cNvSpPr/>
          <p:nvPr/>
        </p:nvSpPr>
        <p:spPr>
          <a:xfrm>
            <a:off x="411480" y="1591056"/>
            <a:ext cx="1051560" cy="260604"/>
          </a:xfrm>
          <a:prstGeom prst="rect">
            <a:avLst/>
          </a:prstGeom>
          <a:solidFill>
            <a:srgbClr val="FFFFFF"/>
          </a:solidFill>
          <a:ln w="6350">
            <a:solidFill>
              <a:srgbClr val="D3DCE5"/>
            </a:solidFill>
            <a:prstDash val="solid"/>
          </a:ln>
        </p:spPr>
      </p:sp>
      <p:sp>
        <p:nvSpPr>
          <p:cNvPr id="16" name="Text 14"/>
          <p:cNvSpPr txBox="1"/>
          <p:nvPr/>
        </p:nvSpPr>
        <p:spPr>
          <a:xfrm>
            <a:off x="475488" y="1591056"/>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2023</a:t>
            </a:r>
            <a:endParaRPr lang="en-US" sz="850" dirty="0"/>
          </a:p>
        </p:txBody>
      </p:sp>
      <p:sp>
        <p:nvSpPr>
          <p:cNvPr id="17" name="Shape 15"/>
          <p:cNvSpPr/>
          <p:nvPr/>
        </p:nvSpPr>
        <p:spPr>
          <a:xfrm>
            <a:off x="1463040" y="1591056"/>
            <a:ext cx="2606040" cy="260604"/>
          </a:xfrm>
          <a:prstGeom prst="rect">
            <a:avLst/>
          </a:prstGeom>
          <a:solidFill>
            <a:srgbClr val="FFFFFF"/>
          </a:solidFill>
          <a:ln w="6350">
            <a:solidFill>
              <a:srgbClr val="D3DCE5"/>
            </a:solidFill>
            <a:prstDash val="solid"/>
          </a:ln>
        </p:spPr>
      </p:sp>
      <p:sp>
        <p:nvSpPr>
          <p:cNvPr id="18" name="Text 16"/>
          <p:cNvSpPr txBox="1"/>
          <p:nvPr/>
        </p:nvSpPr>
        <p:spPr>
          <a:xfrm>
            <a:off x="1527048" y="1591056"/>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S&amp;P Global</a:t>
            </a:r>
            <a:endParaRPr lang="en-US" sz="850" dirty="0"/>
          </a:p>
        </p:txBody>
      </p:sp>
      <p:sp>
        <p:nvSpPr>
          <p:cNvPr id="19" name="Shape 17"/>
          <p:cNvSpPr/>
          <p:nvPr/>
        </p:nvSpPr>
        <p:spPr>
          <a:xfrm>
            <a:off x="4069080" y="1591056"/>
            <a:ext cx="2148840" cy="260604"/>
          </a:xfrm>
          <a:prstGeom prst="rect">
            <a:avLst/>
          </a:prstGeom>
          <a:solidFill>
            <a:srgbClr val="FFFFFF"/>
          </a:solidFill>
          <a:ln w="6350">
            <a:solidFill>
              <a:srgbClr val="D3DCE5"/>
            </a:solidFill>
            <a:prstDash val="solid"/>
          </a:ln>
        </p:spPr>
      </p:sp>
      <p:sp>
        <p:nvSpPr>
          <p:cNvPr id="20" name="Text 18"/>
          <p:cNvSpPr txBox="1"/>
          <p:nvPr/>
        </p:nvSpPr>
        <p:spPr>
          <a:xfrm>
            <a:off x="4133088" y="1591056"/>
            <a:ext cx="2020824" cy="260604"/>
          </a:xfrm>
          <a:prstGeom prst="rect">
            <a:avLst/>
          </a:prstGeom>
          <a:noFill/>
          <a:ln/>
        </p:spPr>
        <p:txBody>
          <a:bodyPr wrap="square" lIns="0" tIns="0" rIns="0" bIns="0" rtlCol="0" anchor="ctr"/>
          <a:lstStyle/>
          <a:p>
            <a:pPr algn="ctr" indent="0" marL="0">
              <a:buNone/>
            </a:pPr>
            <a:r>
              <a:rPr lang="en-US" sz="850" dirty="0">
                <a:solidFill>
                  <a:srgbClr val="A3282C"/>
                </a:solidFill>
                <a:latin typeface="Calibri" pitchFamily="34" charset="0"/>
                <a:ea typeface="Calibri" pitchFamily="34" charset="-122"/>
                <a:cs typeface="Calibri" pitchFamily="34" charset="-120"/>
              </a:rPr>
              <a:t>+120</a:t>
            </a:r>
            <a:endParaRPr lang="en-US" sz="850" dirty="0"/>
          </a:p>
        </p:txBody>
      </p:sp>
      <p:sp>
        <p:nvSpPr>
          <p:cNvPr id="21" name="Shape 19"/>
          <p:cNvSpPr/>
          <p:nvPr/>
        </p:nvSpPr>
        <p:spPr>
          <a:xfrm>
            <a:off x="6217920" y="1591056"/>
            <a:ext cx="5568696" cy="260604"/>
          </a:xfrm>
          <a:prstGeom prst="rect">
            <a:avLst/>
          </a:prstGeom>
          <a:solidFill>
            <a:srgbClr val="FFFFFF"/>
          </a:solidFill>
          <a:ln w="6350">
            <a:solidFill>
              <a:srgbClr val="D3DCE5"/>
            </a:solidFill>
            <a:prstDash val="solid"/>
          </a:ln>
        </p:spPr>
      </p:sp>
      <p:sp>
        <p:nvSpPr>
          <p:cNvPr id="22" name="Text 20"/>
          <p:cNvSpPr txBox="1"/>
          <p:nvPr/>
        </p:nvSpPr>
        <p:spPr>
          <a:xfrm>
            <a:off x="6281928" y="1591056"/>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Surplus</a:t>
            </a:r>
            <a:endParaRPr lang="en-US" sz="850" dirty="0"/>
          </a:p>
        </p:txBody>
      </p:sp>
      <p:sp>
        <p:nvSpPr>
          <p:cNvPr id="23" name="Shape 21"/>
          <p:cNvSpPr/>
          <p:nvPr/>
        </p:nvSpPr>
        <p:spPr>
          <a:xfrm>
            <a:off x="411480" y="1851660"/>
            <a:ext cx="1051560" cy="260604"/>
          </a:xfrm>
          <a:prstGeom prst="rect">
            <a:avLst/>
          </a:prstGeom>
          <a:solidFill>
            <a:srgbClr val="F7F9FB"/>
          </a:solidFill>
          <a:ln w="6350">
            <a:solidFill>
              <a:srgbClr val="D3DCE5"/>
            </a:solidFill>
            <a:prstDash val="solid"/>
          </a:ln>
        </p:spPr>
      </p:sp>
      <p:sp>
        <p:nvSpPr>
          <p:cNvPr id="24" name="Text 22"/>
          <p:cNvSpPr txBox="1"/>
          <p:nvPr/>
        </p:nvSpPr>
        <p:spPr>
          <a:xfrm>
            <a:off x="475488" y="1851660"/>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2024</a:t>
            </a:r>
            <a:endParaRPr lang="en-US" sz="850" dirty="0"/>
          </a:p>
        </p:txBody>
      </p:sp>
      <p:sp>
        <p:nvSpPr>
          <p:cNvPr id="25" name="Shape 23"/>
          <p:cNvSpPr/>
          <p:nvPr/>
        </p:nvSpPr>
        <p:spPr>
          <a:xfrm>
            <a:off x="1463040" y="1851660"/>
            <a:ext cx="2606040" cy="260604"/>
          </a:xfrm>
          <a:prstGeom prst="rect">
            <a:avLst/>
          </a:prstGeom>
          <a:solidFill>
            <a:srgbClr val="F7F9FB"/>
          </a:solidFill>
          <a:ln w="6350">
            <a:solidFill>
              <a:srgbClr val="D3DCE5"/>
            </a:solidFill>
            <a:prstDash val="solid"/>
          </a:ln>
        </p:spPr>
      </p:sp>
      <p:sp>
        <p:nvSpPr>
          <p:cNvPr id="26" name="Text 24"/>
          <p:cNvSpPr txBox="1"/>
          <p:nvPr/>
        </p:nvSpPr>
        <p:spPr>
          <a:xfrm>
            <a:off x="1527048" y="1851660"/>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S&amp;P Global</a:t>
            </a:r>
            <a:endParaRPr lang="en-US" sz="850" dirty="0"/>
          </a:p>
        </p:txBody>
      </p:sp>
      <p:sp>
        <p:nvSpPr>
          <p:cNvPr id="27" name="Shape 25"/>
          <p:cNvSpPr/>
          <p:nvPr/>
        </p:nvSpPr>
        <p:spPr>
          <a:xfrm>
            <a:off x="4069080" y="1851660"/>
            <a:ext cx="2148840" cy="260604"/>
          </a:xfrm>
          <a:prstGeom prst="rect">
            <a:avLst/>
          </a:prstGeom>
          <a:solidFill>
            <a:srgbClr val="F7F9FB"/>
          </a:solidFill>
          <a:ln w="6350">
            <a:solidFill>
              <a:srgbClr val="D3DCE5"/>
            </a:solidFill>
            <a:prstDash val="solid"/>
          </a:ln>
        </p:spPr>
      </p:sp>
      <p:sp>
        <p:nvSpPr>
          <p:cNvPr id="28" name="Text 26"/>
          <p:cNvSpPr txBox="1"/>
          <p:nvPr/>
        </p:nvSpPr>
        <p:spPr>
          <a:xfrm>
            <a:off x="4133088" y="1851660"/>
            <a:ext cx="2020824" cy="260604"/>
          </a:xfrm>
          <a:prstGeom prst="rect">
            <a:avLst/>
          </a:prstGeom>
          <a:noFill/>
          <a:ln/>
        </p:spPr>
        <p:txBody>
          <a:bodyPr wrap="square" lIns="0" tIns="0" rIns="0" bIns="0" rtlCol="0" anchor="ctr"/>
          <a:lstStyle/>
          <a:p>
            <a:pPr algn="ctr" indent="0" marL="0">
              <a:buNone/>
            </a:pPr>
            <a:r>
              <a:rPr lang="en-US" sz="850" dirty="0">
                <a:solidFill>
                  <a:srgbClr val="A3282C"/>
                </a:solidFill>
                <a:latin typeface="Calibri" pitchFamily="34" charset="0"/>
                <a:ea typeface="Calibri" pitchFamily="34" charset="-122"/>
                <a:cs typeface="Calibri" pitchFamily="34" charset="-120"/>
              </a:rPr>
              <a:t>+84</a:t>
            </a:r>
            <a:endParaRPr lang="en-US" sz="850" dirty="0"/>
          </a:p>
        </p:txBody>
      </p:sp>
      <p:sp>
        <p:nvSpPr>
          <p:cNvPr id="29" name="Shape 27"/>
          <p:cNvSpPr/>
          <p:nvPr/>
        </p:nvSpPr>
        <p:spPr>
          <a:xfrm>
            <a:off x="6217920" y="1851660"/>
            <a:ext cx="5568696" cy="260604"/>
          </a:xfrm>
          <a:prstGeom prst="rect">
            <a:avLst/>
          </a:prstGeom>
          <a:solidFill>
            <a:srgbClr val="F7F9FB"/>
          </a:solidFill>
          <a:ln w="6350">
            <a:solidFill>
              <a:srgbClr val="D3DCE5"/>
            </a:solidFill>
            <a:prstDash val="solid"/>
          </a:ln>
        </p:spPr>
      </p:sp>
      <p:sp>
        <p:nvSpPr>
          <p:cNvPr id="30" name="Text 28"/>
          <p:cNvSpPr txBox="1"/>
          <p:nvPr/>
        </p:nvSpPr>
        <p:spPr>
          <a:xfrm>
            <a:off x="6281928" y="1851660"/>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Surplus narrowing</a:t>
            </a:r>
            <a:endParaRPr lang="en-US" sz="850" dirty="0"/>
          </a:p>
        </p:txBody>
      </p:sp>
      <p:sp>
        <p:nvSpPr>
          <p:cNvPr id="31" name="Shape 29"/>
          <p:cNvSpPr/>
          <p:nvPr/>
        </p:nvSpPr>
        <p:spPr>
          <a:xfrm>
            <a:off x="411480" y="2112264"/>
            <a:ext cx="1051560" cy="260604"/>
          </a:xfrm>
          <a:prstGeom prst="rect">
            <a:avLst/>
          </a:prstGeom>
          <a:solidFill>
            <a:srgbClr val="FFFFFF"/>
          </a:solidFill>
          <a:ln w="6350">
            <a:solidFill>
              <a:srgbClr val="D3DCE5"/>
            </a:solidFill>
            <a:prstDash val="solid"/>
          </a:ln>
        </p:spPr>
      </p:sp>
      <p:sp>
        <p:nvSpPr>
          <p:cNvPr id="32" name="Text 30"/>
          <p:cNvSpPr txBox="1"/>
          <p:nvPr/>
        </p:nvSpPr>
        <p:spPr>
          <a:xfrm>
            <a:off x="475488" y="2112264"/>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2025</a:t>
            </a:r>
            <a:endParaRPr lang="en-US" sz="850" dirty="0"/>
          </a:p>
        </p:txBody>
      </p:sp>
      <p:sp>
        <p:nvSpPr>
          <p:cNvPr id="33" name="Shape 31"/>
          <p:cNvSpPr/>
          <p:nvPr/>
        </p:nvSpPr>
        <p:spPr>
          <a:xfrm>
            <a:off x="1463040" y="2112264"/>
            <a:ext cx="2606040" cy="260604"/>
          </a:xfrm>
          <a:prstGeom prst="rect">
            <a:avLst/>
          </a:prstGeom>
          <a:solidFill>
            <a:srgbClr val="FFFFFF"/>
          </a:solidFill>
          <a:ln w="6350">
            <a:solidFill>
              <a:srgbClr val="D3DCE5"/>
            </a:solidFill>
            <a:prstDash val="solid"/>
          </a:ln>
        </p:spPr>
      </p:sp>
      <p:sp>
        <p:nvSpPr>
          <p:cNvPr id="34" name="Text 32"/>
          <p:cNvSpPr txBox="1"/>
          <p:nvPr/>
        </p:nvSpPr>
        <p:spPr>
          <a:xfrm>
            <a:off x="1527048" y="2112264"/>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S&amp;P Global</a:t>
            </a:r>
            <a:endParaRPr lang="en-US" sz="850" dirty="0"/>
          </a:p>
        </p:txBody>
      </p:sp>
      <p:sp>
        <p:nvSpPr>
          <p:cNvPr id="35" name="Shape 33"/>
          <p:cNvSpPr/>
          <p:nvPr/>
        </p:nvSpPr>
        <p:spPr>
          <a:xfrm>
            <a:off x="4069080" y="2112264"/>
            <a:ext cx="2148840" cy="260604"/>
          </a:xfrm>
          <a:prstGeom prst="rect">
            <a:avLst/>
          </a:prstGeom>
          <a:solidFill>
            <a:srgbClr val="FFFFFF"/>
          </a:solidFill>
          <a:ln w="6350">
            <a:solidFill>
              <a:srgbClr val="D3DCE5"/>
            </a:solidFill>
            <a:prstDash val="solid"/>
          </a:ln>
        </p:spPr>
      </p:sp>
      <p:sp>
        <p:nvSpPr>
          <p:cNvPr id="36" name="Text 34"/>
          <p:cNvSpPr txBox="1"/>
          <p:nvPr/>
        </p:nvSpPr>
        <p:spPr>
          <a:xfrm>
            <a:off x="4133088" y="2112264"/>
            <a:ext cx="2020824" cy="260604"/>
          </a:xfrm>
          <a:prstGeom prst="rect">
            <a:avLst/>
          </a:prstGeom>
          <a:noFill/>
          <a:ln/>
        </p:spPr>
        <p:txBody>
          <a:bodyPr wrap="square" lIns="0" tIns="0" rIns="0" bIns="0" rtlCol="0" anchor="ctr"/>
          <a:lstStyle/>
          <a:p>
            <a:pPr algn="ctr" indent="0" marL="0">
              <a:buNone/>
            </a:pPr>
            <a:r>
              <a:rPr lang="en-US" sz="850" dirty="0">
                <a:solidFill>
                  <a:srgbClr val="A3282C"/>
                </a:solidFill>
                <a:latin typeface="Calibri" pitchFamily="34" charset="0"/>
                <a:ea typeface="Calibri" pitchFamily="34" charset="-122"/>
                <a:cs typeface="Calibri" pitchFamily="34" charset="-120"/>
              </a:rPr>
              <a:t>+33</a:t>
            </a:r>
            <a:endParaRPr lang="en-US" sz="850" dirty="0"/>
          </a:p>
        </p:txBody>
      </p:sp>
      <p:sp>
        <p:nvSpPr>
          <p:cNvPr id="37" name="Shape 35"/>
          <p:cNvSpPr/>
          <p:nvPr/>
        </p:nvSpPr>
        <p:spPr>
          <a:xfrm>
            <a:off x="6217920" y="2112264"/>
            <a:ext cx="5568696" cy="260604"/>
          </a:xfrm>
          <a:prstGeom prst="rect">
            <a:avLst/>
          </a:prstGeom>
          <a:solidFill>
            <a:srgbClr val="FFFFFF"/>
          </a:solidFill>
          <a:ln w="6350">
            <a:solidFill>
              <a:srgbClr val="D3DCE5"/>
            </a:solidFill>
            <a:prstDash val="solid"/>
          </a:ln>
        </p:spPr>
      </p:sp>
      <p:sp>
        <p:nvSpPr>
          <p:cNvPr id="38" name="Text 36"/>
          <p:cNvSpPr txBox="1"/>
          <p:nvPr/>
        </p:nvSpPr>
        <p:spPr>
          <a:xfrm>
            <a:off x="6281928" y="2112264"/>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Also cited elsewhere at +141; two report vintages we could not reconcile</a:t>
            </a:r>
            <a:endParaRPr lang="en-US" sz="850" dirty="0"/>
          </a:p>
        </p:txBody>
      </p:sp>
      <p:sp>
        <p:nvSpPr>
          <p:cNvPr id="39" name="Shape 37"/>
          <p:cNvSpPr/>
          <p:nvPr/>
        </p:nvSpPr>
        <p:spPr>
          <a:xfrm>
            <a:off x="411480" y="2372868"/>
            <a:ext cx="1051560" cy="260604"/>
          </a:xfrm>
          <a:prstGeom prst="rect">
            <a:avLst/>
          </a:prstGeom>
          <a:solidFill>
            <a:srgbClr val="F7F9FB"/>
          </a:solidFill>
          <a:ln w="6350">
            <a:solidFill>
              <a:srgbClr val="D3DCE5"/>
            </a:solidFill>
            <a:prstDash val="solid"/>
          </a:ln>
        </p:spPr>
      </p:sp>
      <p:sp>
        <p:nvSpPr>
          <p:cNvPr id="40" name="Text 38"/>
          <p:cNvSpPr txBox="1"/>
          <p:nvPr/>
        </p:nvSpPr>
        <p:spPr>
          <a:xfrm>
            <a:off x="475488" y="2372868"/>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2025</a:t>
            </a:r>
            <a:endParaRPr lang="en-US" sz="850" dirty="0"/>
          </a:p>
        </p:txBody>
      </p:sp>
      <p:sp>
        <p:nvSpPr>
          <p:cNvPr id="41" name="Shape 39"/>
          <p:cNvSpPr/>
          <p:nvPr/>
        </p:nvSpPr>
        <p:spPr>
          <a:xfrm>
            <a:off x="1463040" y="2372868"/>
            <a:ext cx="2606040" cy="260604"/>
          </a:xfrm>
          <a:prstGeom prst="rect">
            <a:avLst/>
          </a:prstGeom>
          <a:solidFill>
            <a:srgbClr val="F7F9FB"/>
          </a:solidFill>
          <a:ln w="6350">
            <a:solidFill>
              <a:srgbClr val="D3DCE5"/>
            </a:solidFill>
            <a:prstDash val="solid"/>
          </a:ln>
        </p:spPr>
      </p:sp>
      <p:sp>
        <p:nvSpPr>
          <p:cNvPr id="42" name="Text 40"/>
          <p:cNvSpPr txBox="1"/>
          <p:nvPr/>
        </p:nvSpPr>
        <p:spPr>
          <a:xfrm>
            <a:off x="1527048" y="2372868"/>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Macquarie</a:t>
            </a:r>
            <a:endParaRPr lang="en-US" sz="850" dirty="0"/>
          </a:p>
        </p:txBody>
      </p:sp>
      <p:sp>
        <p:nvSpPr>
          <p:cNvPr id="43" name="Shape 41"/>
          <p:cNvSpPr/>
          <p:nvPr/>
        </p:nvSpPr>
        <p:spPr>
          <a:xfrm>
            <a:off x="4069080" y="2372868"/>
            <a:ext cx="2148840" cy="260604"/>
          </a:xfrm>
          <a:prstGeom prst="rect">
            <a:avLst/>
          </a:prstGeom>
          <a:solidFill>
            <a:srgbClr val="F7F9FB"/>
          </a:solidFill>
          <a:ln w="6350">
            <a:solidFill>
              <a:srgbClr val="D3DCE5"/>
            </a:solidFill>
            <a:prstDash val="solid"/>
          </a:ln>
        </p:spPr>
      </p:sp>
      <p:sp>
        <p:nvSpPr>
          <p:cNvPr id="44" name="Text 42"/>
          <p:cNvSpPr txBox="1"/>
          <p:nvPr/>
        </p:nvSpPr>
        <p:spPr>
          <a:xfrm>
            <a:off x="4133088" y="2372868"/>
            <a:ext cx="2020824" cy="260604"/>
          </a:xfrm>
          <a:prstGeom prst="rect">
            <a:avLst/>
          </a:prstGeom>
          <a:noFill/>
          <a:ln/>
        </p:spPr>
        <p:txBody>
          <a:bodyPr wrap="square" lIns="0" tIns="0" rIns="0" bIns="0" rtlCol="0" anchor="ctr"/>
          <a:lstStyle/>
          <a:p>
            <a:pPr algn="ctr" indent="0" marL="0">
              <a:buNone/>
            </a:pPr>
            <a:r>
              <a:rPr lang="en-US" sz="850" dirty="0">
                <a:solidFill>
                  <a:srgbClr val="A3282C"/>
                </a:solidFill>
                <a:latin typeface="Calibri" pitchFamily="34" charset="0"/>
                <a:ea typeface="Calibri" pitchFamily="34" charset="-122"/>
                <a:cs typeface="Calibri" pitchFamily="34" charset="-120"/>
              </a:rPr>
              <a:t>+120</a:t>
            </a:r>
            <a:endParaRPr lang="en-US" sz="850" dirty="0"/>
          </a:p>
        </p:txBody>
      </p:sp>
      <p:sp>
        <p:nvSpPr>
          <p:cNvPr id="45" name="Shape 43"/>
          <p:cNvSpPr/>
          <p:nvPr/>
        </p:nvSpPr>
        <p:spPr>
          <a:xfrm>
            <a:off x="6217920" y="2372868"/>
            <a:ext cx="5568696" cy="260604"/>
          </a:xfrm>
          <a:prstGeom prst="rect">
            <a:avLst/>
          </a:prstGeom>
          <a:solidFill>
            <a:srgbClr val="F7F9FB"/>
          </a:solidFill>
          <a:ln w="6350">
            <a:solidFill>
              <a:srgbClr val="D3DCE5"/>
            </a:solidFill>
            <a:prstDash val="solid"/>
          </a:ln>
        </p:spPr>
      </p:sp>
      <p:sp>
        <p:nvSpPr>
          <p:cNvPr id="46" name="Text 44"/>
          <p:cNvSpPr txBox="1"/>
          <p:nvPr/>
        </p:nvSpPr>
        <p:spPr>
          <a:xfrm>
            <a:off x="6281928" y="2372868"/>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Described as the peak surplus year</a:t>
            </a:r>
            <a:endParaRPr lang="en-US" sz="850" dirty="0"/>
          </a:p>
        </p:txBody>
      </p:sp>
      <p:sp>
        <p:nvSpPr>
          <p:cNvPr id="47" name="Shape 45"/>
          <p:cNvSpPr/>
          <p:nvPr/>
        </p:nvSpPr>
        <p:spPr>
          <a:xfrm>
            <a:off x="411480" y="2633472"/>
            <a:ext cx="1051560" cy="260604"/>
          </a:xfrm>
          <a:prstGeom prst="rect">
            <a:avLst/>
          </a:prstGeom>
          <a:solidFill>
            <a:srgbClr val="FFFFFF"/>
          </a:solidFill>
          <a:ln w="6350">
            <a:solidFill>
              <a:srgbClr val="D3DCE5"/>
            </a:solidFill>
            <a:prstDash val="solid"/>
          </a:ln>
        </p:spPr>
      </p:sp>
      <p:sp>
        <p:nvSpPr>
          <p:cNvPr id="48" name="Text 46"/>
          <p:cNvSpPr txBox="1"/>
          <p:nvPr/>
        </p:nvSpPr>
        <p:spPr>
          <a:xfrm>
            <a:off x="475488" y="2633472"/>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2025</a:t>
            </a:r>
            <a:endParaRPr lang="en-US" sz="850" dirty="0"/>
          </a:p>
        </p:txBody>
      </p:sp>
      <p:sp>
        <p:nvSpPr>
          <p:cNvPr id="49" name="Shape 47"/>
          <p:cNvSpPr/>
          <p:nvPr/>
        </p:nvSpPr>
        <p:spPr>
          <a:xfrm>
            <a:off x="1463040" y="2633472"/>
            <a:ext cx="2606040" cy="260604"/>
          </a:xfrm>
          <a:prstGeom prst="rect">
            <a:avLst/>
          </a:prstGeom>
          <a:solidFill>
            <a:srgbClr val="FFFFFF"/>
          </a:solidFill>
          <a:ln w="6350">
            <a:solidFill>
              <a:srgbClr val="D3DCE5"/>
            </a:solidFill>
            <a:prstDash val="solid"/>
          </a:ln>
        </p:spPr>
      </p:sp>
      <p:sp>
        <p:nvSpPr>
          <p:cNvPr id="50" name="Text 48"/>
          <p:cNvSpPr txBox="1"/>
          <p:nvPr/>
        </p:nvSpPr>
        <p:spPr>
          <a:xfrm>
            <a:off x="1527048" y="2633472"/>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Fastmarkets</a:t>
            </a:r>
            <a:endParaRPr lang="en-US" sz="850" dirty="0"/>
          </a:p>
        </p:txBody>
      </p:sp>
      <p:sp>
        <p:nvSpPr>
          <p:cNvPr id="51" name="Shape 49"/>
          <p:cNvSpPr/>
          <p:nvPr/>
        </p:nvSpPr>
        <p:spPr>
          <a:xfrm>
            <a:off x="4069080" y="2633472"/>
            <a:ext cx="2148840" cy="260604"/>
          </a:xfrm>
          <a:prstGeom prst="rect">
            <a:avLst/>
          </a:prstGeom>
          <a:solidFill>
            <a:srgbClr val="FFFFFF"/>
          </a:solidFill>
          <a:ln w="6350">
            <a:solidFill>
              <a:srgbClr val="D3DCE5"/>
            </a:solidFill>
            <a:prstDash val="solid"/>
          </a:ln>
        </p:spPr>
      </p:sp>
      <p:sp>
        <p:nvSpPr>
          <p:cNvPr id="52" name="Text 50"/>
          <p:cNvSpPr txBox="1"/>
          <p:nvPr/>
        </p:nvSpPr>
        <p:spPr>
          <a:xfrm>
            <a:off x="4133088" y="2633472"/>
            <a:ext cx="2020824" cy="260604"/>
          </a:xfrm>
          <a:prstGeom prst="rect">
            <a:avLst/>
          </a:prstGeom>
          <a:noFill/>
          <a:ln/>
        </p:spPr>
        <p:txBody>
          <a:bodyPr wrap="square" lIns="0" tIns="0" rIns="0" bIns="0" rtlCol="0" anchor="ctr"/>
          <a:lstStyle/>
          <a:p>
            <a:pPr algn="ctr" indent="0" marL="0">
              <a:buNone/>
            </a:pPr>
            <a:r>
              <a:rPr lang="en-US" sz="850" dirty="0">
                <a:solidFill>
                  <a:srgbClr val="A3282C"/>
                </a:solidFill>
                <a:latin typeface="Calibri" pitchFamily="34" charset="0"/>
                <a:ea typeface="Calibri" pitchFamily="34" charset="-122"/>
                <a:cs typeface="Calibri" pitchFamily="34" charset="-120"/>
              </a:rPr>
              <a:t>+10</a:t>
            </a:r>
            <a:endParaRPr lang="en-US" sz="850" dirty="0"/>
          </a:p>
        </p:txBody>
      </p:sp>
      <p:sp>
        <p:nvSpPr>
          <p:cNvPr id="53" name="Shape 51"/>
          <p:cNvSpPr/>
          <p:nvPr/>
        </p:nvSpPr>
        <p:spPr>
          <a:xfrm>
            <a:off x="6217920" y="2633472"/>
            <a:ext cx="5568696" cy="260604"/>
          </a:xfrm>
          <a:prstGeom prst="rect">
            <a:avLst/>
          </a:prstGeom>
          <a:solidFill>
            <a:srgbClr val="FFFFFF"/>
          </a:solidFill>
          <a:ln w="6350">
            <a:solidFill>
              <a:srgbClr val="D3DCE5"/>
            </a:solidFill>
            <a:prstDash val="solid"/>
          </a:ln>
        </p:spPr>
      </p:sp>
      <p:sp>
        <p:nvSpPr>
          <p:cNvPr id="54" name="Text 52"/>
          <p:cNvSpPr txBox="1"/>
          <p:nvPr/>
        </p:nvSpPr>
        <p:spPr>
          <a:xfrm>
            <a:off x="6281928" y="2633472"/>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Small surplus</a:t>
            </a:r>
            <a:endParaRPr lang="en-US" sz="850" dirty="0"/>
          </a:p>
        </p:txBody>
      </p:sp>
      <p:sp>
        <p:nvSpPr>
          <p:cNvPr id="55" name="Shape 53"/>
          <p:cNvSpPr/>
          <p:nvPr/>
        </p:nvSpPr>
        <p:spPr>
          <a:xfrm>
            <a:off x="411480" y="2894076"/>
            <a:ext cx="1051560" cy="260604"/>
          </a:xfrm>
          <a:prstGeom prst="rect">
            <a:avLst/>
          </a:prstGeom>
          <a:solidFill>
            <a:srgbClr val="F7F9FB"/>
          </a:solidFill>
          <a:ln w="6350">
            <a:solidFill>
              <a:srgbClr val="D3DCE5"/>
            </a:solidFill>
            <a:prstDash val="solid"/>
          </a:ln>
        </p:spPr>
      </p:sp>
      <p:sp>
        <p:nvSpPr>
          <p:cNvPr id="56" name="Text 54"/>
          <p:cNvSpPr txBox="1"/>
          <p:nvPr/>
        </p:nvSpPr>
        <p:spPr>
          <a:xfrm>
            <a:off x="475488" y="2894076"/>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2026</a:t>
            </a:r>
            <a:endParaRPr lang="en-US" sz="850" dirty="0"/>
          </a:p>
        </p:txBody>
      </p:sp>
      <p:sp>
        <p:nvSpPr>
          <p:cNvPr id="57" name="Shape 55"/>
          <p:cNvSpPr/>
          <p:nvPr/>
        </p:nvSpPr>
        <p:spPr>
          <a:xfrm>
            <a:off x="1463040" y="2894076"/>
            <a:ext cx="2606040" cy="260604"/>
          </a:xfrm>
          <a:prstGeom prst="rect">
            <a:avLst/>
          </a:prstGeom>
          <a:solidFill>
            <a:srgbClr val="F7F9FB"/>
          </a:solidFill>
          <a:ln w="6350">
            <a:solidFill>
              <a:srgbClr val="D3DCE5"/>
            </a:solidFill>
            <a:prstDash val="solid"/>
          </a:ln>
        </p:spPr>
      </p:sp>
      <p:sp>
        <p:nvSpPr>
          <p:cNvPr id="58" name="Text 56"/>
          <p:cNvSpPr txBox="1"/>
          <p:nvPr/>
        </p:nvSpPr>
        <p:spPr>
          <a:xfrm>
            <a:off x="1527048" y="2894076"/>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Fastmarkets</a:t>
            </a:r>
            <a:endParaRPr lang="en-US" sz="850" dirty="0"/>
          </a:p>
        </p:txBody>
      </p:sp>
      <p:sp>
        <p:nvSpPr>
          <p:cNvPr id="59" name="Shape 57"/>
          <p:cNvSpPr/>
          <p:nvPr/>
        </p:nvSpPr>
        <p:spPr>
          <a:xfrm>
            <a:off x="4069080" y="2894076"/>
            <a:ext cx="2148840" cy="260604"/>
          </a:xfrm>
          <a:prstGeom prst="rect">
            <a:avLst/>
          </a:prstGeom>
          <a:solidFill>
            <a:srgbClr val="F7F9FB"/>
          </a:solidFill>
          <a:ln w="6350">
            <a:solidFill>
              <a:srgbClr val="D3DCE5"/>
            </a:solidFill>
            <a:prstDash val="solid"/>
          </a:ln>
        </p:spPr>
      </p:sp>
      <p:sp>
        <p:nvSpPr>
          <p:cNvPr id="60" name="Text 58"/>
          <p:cNvSpPr txBox="1"/>
          <p:nvPr/>
        </p:nvSpPr>
        <p:spPr>
          <a:xfrm>
            <a:off x="4133088" y="2894076"/>
            <a:ext cx="2020824" cy="260604"/>
          </a:xfrm>
          <a:prstGeom prst="rect">
            <a:avLst/>
          </a:prstGeom>
          <a:noFill/>
          <a:ln/>
        </p:spPr>
        <p:txBody>
          <a:bodyPr wrap="square" lIns="0" tIns="0" rIns="0" bIns="0" rtlCol="0" anchor="ctr"/>
          <a:lstStyle/>
          <a:p>
            <a:pPr algn="ctr" indent="0" marL="0">
              <a:buNone/>
            </a:pPr>
            <a:r>
              <a:rPr lang="en-US" sz="850" b="1" dirty="0">
                <a:solidFill>
                  <a:srgbClr val="0E7C6B"/>
                </a:solidFill>
                <a:latin typeface="Calibri" pitchFamily="34" charset="0"/>
                <a:ea typeface="Calibri" pitchFamily="34" charset="-122"/>
                <a:cs typeface="Calibri" pitchFamily="34" charset="-120"/>
              </a:rPr>
              <a:t>-1.5</a:t>
            </a:r>
            <a:endParaRPr lang="en-US" sz="850" dirty="0"/>
          </a:p>
        </p:txBody>
      </p:sp>
      <p:sp>
        <p:nvSpPr>
          <p:cNvPr id="61" name="Shape 59"/>
          <p:cNvSpPr/>
          <p:nvPr/>
        </p:nvSpPr>
        <p:spPr>
          <a:xfrm>
            <a:off x="6217920" y="2894076"/>
            <a:ext cx="5568696" cy="260604"/>
          </a:xfrm>
          <a:prstGeom prst="rect">
            <a:avLst/>
          </a:prstGeom>
          <a:solidFill>
            <a:srgbClr val="F7F9FB"/>
          </a:solidFill>
          <a:ln w="6350">
            <a:solidFill>
              <a:srgbClr val="D3DCE5"/>
            </a:solidFill>
            <a:prstDash val="solid"/>
          </a:ln>
        </p:spPr>
      </p:sp>
      <p:sp>
        <p:nvSpPr>
          <p:cNvPr id="62" name="Text 60"/>
          <p:cNvSpPr txBox="1"/>
          <p:nvPr/>
        </p:nvSpPr>
        <p:spPr>
          <a:xfrm>
            <a:off x="6281928" y="2894076"/>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Flips to deficit</a:t>
            </a:r>
            <a:endParaRPr lang="en-US" sz="850" dirty="0"/>
          </a:p>
        </p:txBody>
      </p:sp>
      <p:sp>
        <p:nvSpPr>
          <p:cNvPr id="63" name="Shape 61"/>
          <p:cNvSpPr/>
          <p:nvPr/>
        </p:nvSpPr>
        <p:spPr>
          <a:xfrm>
            <a:off x="411480" y="3154680"/>
            <a:ext cx="1051560" cy="260604"/>
          </a:xfrm>
          <a:prstGeom prst="rect">
            <a:avLst/>
          </a:prstGeom>
          <a:solidFill>
            <a:srgbClr val="FFFFFF"/>
          </a:solidFill>
          <a:ln w="6350">
            <a:solidFill>
              <a:srgbClr val="D3DCE5"/>
            </a:solidFill>
            <a:prstDash val="solid"/>
          </a:ln>
        </p:spPr>
      </p:sp>
      <p:sp>
        <p:nvSpPr>
          <p:cNvPr id="64" name="Text 62"/>
          <p:cNvSpPr txBox="1"/>
          <p:nvPr/>
        </p:nvSpPr>
        <p:spPr>
          <a:xfrm>
            <a:off x="475488" y="3154680"/>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2026</a:t>
            </a:r>
            <a:endParaRPr lang="en-US" sz="850" dirty="0"/>
          </a:p>
        </p:txBody>
      </p:sp>
      <p:sp>
        <p:nvSpPr>
          <p:cNvPr id="65" name="Shape 63"/>
          <p:cNvSpPr/>
          <p:nvPr/>
        </p:nvSpPr>
        <p:spPr>
          <a:xfrm>
            <a:off x="1463040" y="3154680"/>
            <a:ext cx="2606040" cy="260604"/>
          </a:xfrm>
          <a:prstGeom prst="rect">
            <a:avLst/>
          </a:prstGeom>
          <a:solidFill>
            <a:srgbClr val="FFFFFF"/>
          </a:solidFill>
          <a:ln w="6350">
            <a:solidFill>
              <a:srgbClr val="D3DCE5"/>
            </a:solidFill>
            <a:prstDash val="solid"/>
          </a:ln>
        </p:spPr>
      </p:sp>
      <p:sp>
        <p:nvSpPr>
          <p:cNvPr id="66" name="Text 64"/>
          <p:cNvSpPr txBox="1"/>
          <p:nvPr/>
        </p:nvSpPr>
        <p:spPr>
          <a:xfrm>
            <a:off x="1527048" y="3154680"/>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Morgan Stanley</a:t>
            </a:r>
            <a:endParaRPr lang="en-US" sz="850" dirty="0"/>
          </a:p>
        </p:txBody>
      </p:sp>
      <p:sp>
        <p:nvSpPr>
          <p:cNvPr id="67" name="Shape 65"/>
          <p:cNvSpPr/>
          <p:nvPr/>
        </p:nvSpPr>
        <p:spPr>
          <a:xfrm>
            <a:off x="4069080" y="3154680"/>
            <a:ext cx="2148840" cy="260604"/>
          </a:xfrm>
          <a:prstGeom prst="rect">
            <a:avLst/>
          </a:prstGeom>
          <a:solidFill>
            <a:srgbClr val="FFFFFF"/>
          </a:solidFill>
          <a:ln w="6350">
            <a:solidFill>
              <a:srgbClr val="D3DCE5"/>
            </a:solidFill>
            <a:prstDash val="solid"/>
          </a:ln>
        </p:spPr>
      </p:sp>
      <p:sp>
        <p:nvSpPr>
          <p:cNvPr id="68" name="Text 66"/>
          <p:cNvSpPr txBox="1"/>
          <p:nvPr/>
        </p:nvSpPr>
        <p:spPr>
          <a:xfrm>
            <a:off x="4133088" y="3154680"/>
            <a:ext cx="2020824" cy="260604"/>
          </a:xfrm>
          <a:prstGeom prst="rect">
            <a:avLst/>
          </a:prstGeom>
          <a:noFill/>
          <a:ln/>
        </p:spPr>
        <p:txBody>
          <a:bodyPr wrap="square" lIns="0" tIns="0" rIns="0" bIns="0" rtlCol="0" anchor="ctr"/>
          <a:lstStyle/>
          <a:p>
            <a:pPr algn="ctr" indent="0" marL="0">
              <a:buNone/>
            </a:pPr>
            <a:r>
              <a:rPr lang="en-US" sz="850" b="1" dirty="0">
                <a:solidFill>
                  <a:srgbClr val="0E7C6B"/>
                </a:solidFill>
                <a:latin typeface="Calibri" pitchFamily="34" charset="0"/>
                <a:ea typeface="Calibri" pitchFamily="34" charset="-122"/>
                <a:cs typeface="Calibri" pitchFamily="34" charset="-120"/>
              </a:rPr>
              <a:t>-80</a:t>
            </a:r>
            <a:endParaRPr lang="en-US" sz="850" dirty="0"/>
          </a:p>
        </p:txBody>
      </p:sp>
      <p:sp>
        <p:nvSpPr>
          <p:cNvPr id="69" name="Shape 67"/>
          <p:cNvSpPr/>
          <p:nvPr/>
        </p:nvSpPr>
        <p:spPr>
          <a:xfrm>
            <a:off x="6217920" y="3154680"/>
            <a:ext cx="5568696" cy="260604"/>
          </a:xfrm>
          <a:prstGeom prst="rect">
            <a:avLst/>
          </a:prstGeom>
          <a:solidFill>
            <a:srgbClr val="FFFFFF"/>
          </a:solidFill>
          <a:ln w="6350">
            <a:solidFill>
              <a:srgbClr val="D3DCE5"/>
            </a:solidFill>
            <a:prstDash val="solid"/>
          </a:ln>
        </p:spPr>
      </p:sp>
      <p:sp>
        <p:nvSpPr>
          <p:cNvPr id="70" name="Text 68"/>
          <p:cNvSpPr txBox="1"/>
          <p:nvPr/>
        </p:nvSpPr>
        <p:spPr>
          <a:xfrm>
            <a:off x="6281928" y="3154680"/>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Deficit</a:t>
            </a:r>
            <a:endParaRPr lang="en-US" sz="850" dirty="0"/>
          </a:p>
        </p:txBody>
      </p:sp>
      <p:sp>
        <p:nvSpPr>
          <p:cNvPr id="71" name="Shape 69"/>
          <p:cNvSpPr/>
          <p:nvPr/>
        </p:nvSpPr>
        <p:spPr>
          <a:xfrm>
            <a:off x="411480" y="3415284"/>
            <a:ext cx="1051560" cy="260604"/>
          </a:xfrm>
          <a:prstGeom prst="rect">
            <a:avLst/>
          </a:prstGeom>
          <a:solidFill>
            <a:srgbClr val="F7F9FB"/>
          </a:solidFill>
          <a:ln w="6350">
            <a:solidFill>
              <a:srgbClr val="D3DCE5"/>
            </a:solidFill>
            <a:prstDash val="solid"/>
          </a:ln>
        </p:spPr>
      </p:sp>
      <p:sp>
        <p:nvSpPr>
          <p:cNvPr id="72" name="Text 70"/>
          <p:cNvSpPr txBox="1"/>
          <p:nvPr/>
        </p:nvSpPr>
        <p:spPr>
          <a:xfrm>
            <a:off x="475488" y="3415284"/>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2026</a:t>
            </a:r>
            <a:endParaRPr lang="en-US" sz="850" dirty="0"/>
          </a:p>
        </p:txBody>
      </p:sp>
      <p:sp>
        <p:nvSpPr>
          <p:cNvPr id="73" name="Shape 71"/>
          <p:cNvSpPr/>
          <p:nvPr/>
        </p:nvSpPr>
        <p:spPr>
          <a:xfrm>
            <a:off x="1463040" y="3415284"/>
            <a:ext cx="2606040" cy="260604"/>
          </a:xfrm>
          <a:prstGeom prst="rect">
            <a:avLst/>
          </a:prstGeom>
          <a:solidFill>
            <a:srgbClr val="F7F9FB"/>
          </a:solidFill>
          <a:ln w="6350">
            <a:solidFill>
              <a:srgbClr val="D3DCE5"/>
            </a:solidFill>
            <a:prstDash val="solid"/>
          </a:ln>
        </p:spPr>
      </p:sp>
      <p:sp>
        <p:nvSpPr>
          <p:cNvPr id="74" name="Text 72"/>
          <p:cNvSpPr txBox="1"/>
          <p:nvPr/>
        </p:nvSpPr>
        <p:spPr>
          <a:xfrm>
            <a:off x="1527048" y="3415284"/>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UBS</a:t>
            </a:r>
            <a:endParaRPr lang="en-US" sz="850" dirty="0"/>
          </a:p>
        </p:txBody>
      </p:sp>
      <p:sp>
        <p:nvSpPr>
          <p:cNvPr id="75" name="Shape 73"/>
          <p:cNvSpPr/>
          <p:nvPr/>
        </p:nvSpPr>
        <p:spPr>
          <a:xfrm>
            <a:off x="4069080" y="3415284"/>
            <a:ext cx="2148840" cy="260604"/>
          </a:xfrm>
          <a:prstGeom prst="rect">
            <a:avLst/>
          </a:prstGeom>
          <a:solidFill>
            <a:srgbClr val="F7F9FB"/>
          </a:solidFill>
          <a:ln w="6350">
            <a:solidFill>
              <a:srgbClr val="D3DCE5"/>
            </a:solidFill>
            <a:prstDash val="solid"/>
          </a:ln>
        </p:spPr>
      </p:sp>
      <p:sp>
        <p:nvSpPr>
          <p:cNvPr id="76" name="Text 74"/>
          <p:cNvSpPr txBox="1"/>
          <p:nvPr/>
        </p:nvSpPr>
        <p:spPr>
          <a:xfrm>
            <a:off x="4133088" y="3415284"/>
            <a:ext cx="2020824" cy="260604"/>
          </a:xfrm>
          <a:prstGeom prst="rect">
            <a:avLst/>
          </a:prstGeom>
          <a:noFill/>
          <a:ln/>
        </p:spPr>
        <p:txBody>
          <a:bodyPr wrap="square" lIns="0" tIns="0" rIns="0" bIns="0" rtlCol="0" anchor="ctr"/>
          <a:lstStyle/>
          <a:p>
            <a:pPr algn="ctr" indent="0" marL="0">
              <a:buNone/>
            </a:pPr>
            <a:r>
              <a:rPr lang="en-US" sz="850" b="1" dirty="0">
                <a:solidFill>
                  <a:srgbClr val="0E7C6B"/>
                </a:solidFill>
                <a:latin typeface="Calibri" pitchFamily="34" charset="0"/>
                <a:ea typeface="Calibri" pitchFamily="34" charset="-122"/>
                <a:cs typeface="Calibri" pitchFamily="34" charset="-120"/>
              </a:rPr>
              <a:t>-22</a:t>
            </a:r>
            <a:endParaRPr lang="en-US" sz="850" dirty="0"/>
          </a:p>
        </p:txBody>
      </p:sp>
      <p:sp>
        <p:nvSpPr>
          <p:cNvPr id="77" name="Shape 75"/>
          <p:cNvSpPr/>
          <p:nvPr/>
        </p:nvSpPr>
        <p:spPr>
          <a:xfrm>
            <a:off x="6217920" y="3415284"/>
            <a:ext cx="5568696" cy="260604"/>
          </a:xfrm>
          <a:prstGeom prst="rect">
            <a:avLst/>
          </a:prstGeom>
          <a:solidFill>
            <a:srgbClr val="F7F9FB"/>
          </a:solidFill>
          <a:ln w="6350">
            <a:solidFill>
              <a:srgbClr val="D3DCE5"/>
            </a:solidFill>
            <a:prstDash val="solid"/>
          </a:ln>
        </p:spPr>
      </p:sp>
      <p:sp>
        <p:nvSpPr>
          <p:cNvPr id="78" name="Text 76"/>
          <p:cNvSpPr txBox="1"/>
          <p:nvPr/>
        </p:nvSpPr>
        <p:spPr>
          <a:xfrm>
            <a:off x="6281928" y="3415284"/>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Deficit</a:t>
            </a:r>
            <a:endParaRPr lang="en-US" sz="850" dirty="0"/>
          </a:p>
        </p:txBody>
      </p:sp>
      <p:sp>
        <p:nvSpPr>
          <p:cNvPr id="79" name="Shape 77"/>
          <p:cNvSpPr/>
          <p:nvPr/>
        </p:nvSpPr>
        <p:spPr>
          <a:xfrm>
            <a:off x="411480" y="3675888"/>
            <a:ext cx="1051560" cy="260604"/>
          </a:xfrm>
          <a:prstGeom prst="rect">
            <a:avLst/>
          </a:prstGeom>
          <a:solidFill>
            <a:srgbClr val="FFFFFF"/>
          </a:solidFill>
          <a:ln w="6350">
            <a:solidFill>
              <a:srgbClr val="D3DCE5"/>
            </a:solidFill>
            <a:prstDash val="solid"/>
          </a:ln>
        </p:spPr>
      </p:sp>
      <p:sp>
        <p:nvSpPr>
          <p:cNvPr id="80" name="Text 78"/>
          <p:cNvSpPr txBox="1"/>
          <p:nvPr/>
        </p:nvSpPr>
        <p:spPr>
          <a:xfrm>
            <a:off x="475488" y="3675888"/>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2026-27</a:t>
            </a:r>
            <a:endParaRPr lang="en-US" sz="850" dirty="0"/>
          </a:p>
        </p:txBody>
      </p:sp>
      <p:sp>
        <p:nvSpPr>
          <p:cNvPr id="81" name="Shape 79"/>
          <p:cNvSpPr/>
          <p:nvPr/>
        </p:nvSpPr>
        <p:spPr>
          <a:xfrm>
            <a:off x="1463040" y="3675888"/>
            <a:ext cx="2606040" cy="260604"/>
          </a:xfrm>
          <a:prstGeom prst="rect">
            <a:avLst/>
          </a:prstGeom>
          <a:solidFill>
            <a:srgbClr val="FFFFFF"/>
          </a:solidFill>
          <a:ln w="6350">
            <a:solidFill>
              <a:srgbClr val="D3DCE5"/>
            </a:solidFill>
            <a:prstDash val="solid"/>
          </a:ln>
        </p:spPr>
      </p:sp>
      <p:sp>
        <p:nvSpPr>
          <p:cNvPr id="82" name="Text 80"/>
          <p:cNvSpPr txBox="1"/>
          <p:nvPr/>
        </p:nvSpPr>
        <p:spPr>
          <a:xfrm>
            <a:off x="1527048" y="3675888"/>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Wood Mackenzie</a:t>
            </a:r>
            <a:endParaRPr lang="en-US" sz="850" dirty="0"/>
          </a:p>
        </p:txBody>
      </p:sp>
      <p:sp>
        <p:nvSpPr>
          <p:cNvPr id="83" name="Shape 81"/>
          <p:cNvSpPr/>
          <p:nvPr/>
        </p:nvSpPr>
        <p:spPr>
          <a:xfrm>
            <a:off x="4069080" y="3675888"/>
            <a:ext cx="2148840" cy="260604"/>
          </a:xfrm>
          <a:prstGeom prst="rect">
            <a:avLst/>
          </a:prstGeom>
          <a:solidFill>
            <a:srgbClr val="FFFFFF"/>
          </a:solidFill>
          <a:ln w="6350">
            <a:solidFill>
              <a:srgbClr val="D3DCE5"/>
            </a:solidFill>
            <a:prstDash val="solid"/>
          </a:ln>
        </p:spPr>
      </p:sp>
      <p:sp>
        <p:nvSpPr>
          <p:cNvPr id="84" name="Text 82"/>
          <p:cNvSpPr txBox="1"/>
          <p:nvPr/>
        </p:nvSpPr>
        <p:spPr>
          <a:xfrm>
            <a:off x="4133088" y="3675888"/>
            <a:ext cx="2020824" cy="260604"/>
          </a:xfrm>
          <a:prstGeom prst="rect">
            <a:avLst/>
          </a:prstGeom>
          <a:noFill/>
          <a:ln/>
        </p:spPr>
        <p:txBody>
          <a:bodyPr wrap="square" lIns="0" tIns="0" rIns="0" bIns="0" rtlCol="0" anchor="ctr"/>
          <a:lstStyle/>
          <a:p>
            <a:pPr algn="ctr" indent="0" marL="0">
              <a:buNone/>
            </a:pPr>
            <a:r>
              <a:rPr lang="en-US" sz="850" b="1" dirty="0">
                <a:solidFill>
                  <a:srgbClr val="A3282C"/>
                </a:solidFill>
                <a:latin typeface="Calibri" pitchFamily="34" charset="0"/>
                <a:ea typeface="Calibri" pitchFamily="34" charset="-122"/>
                <a:cs typeface="Calibri" pitchFamily="34" charset="-120"/>
              </a:rPr>
              <a:t>Surplus</a:t>
            </a:r>
            <a:endParaRPr lang="en-US" sz="850" dirty="0"/>
          </a:p>
        </p:txBody>
      </p:sp>
      <p:sp>
        <p:nvSpPr>
          <p:cNvPr id="85" name="Shape 83"/>
          <p:cNvSpPr/>
          <p:nvPr/>
        </p:nvSpPr>
        <p:spPr>
          <a:xfrm>
            <a:off x="6217920" y="3675888"/>
            <a:ext cx="5568696" cy="260604"/>
          </a:xfrm>
          <a:prstGeom prst="rect">
            <a:avLst/>
          </a:prstGeom>
          <a:solidFill>
            <a:srgbClr val="FFFFFF"/>
          </a:solidFill>
          <a:ln w="6350">
            <a:solidFill>
              <a:srgbClr val="D3DCE5"/>
            </a:solidFill>
            <a:prstDash val="solid"/>
          </a:ln>
        </p:spPr>
      </p:sp>
      <p:sp>
        <p:nvSpPr>
          <p:cNvPr id="86" name="Text 84"/>
          <p:cNvSpPr txBox="1"/>
          <p:nvPr/>
        </p:nvSpPr>
        <p:spPr>
          <a:xfrm>
            <a:off x="6281928" y="3675888"/>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Base case: oversupply peaks in 2027; deficit not until the early 2030s</a:t>
            </a:r>
            <a:endParaRPr lang="en-US" sz="850" dirty="0"/>
          </a:p>
        </p:txBody>
      </p:sp>
      <p:sp>
        <p:nvSpPr>
          <p:cNvPr id="87" name="Shape 85"/>
          <p:cNvSpPr/>
          <p:nvPr/>
        </p:nvSpPr>
        <p:spPr>
          <a:xfrm>
            <a:off x="411480" y="3936492"/>
            <a:ext cx="1051560" cy="260604"/>
          </a:xfrm>
          <a:prstGeom prst="rect">
            <a:avLst/>
          </a:prstGeom>
          <a:solidFill>
            <a:srgbClr val="F7F9FB"/>
          </a:solidFill>
          <a:ln w="6350">
            <a:solidFill>
              <a:srgbClr val="D3DCE5"/>
            </a:solidFill>
            <a:prstDash val="solid"/>
          </a:ln>
        </p:spPr>
      </p:sp>
      <p:sp>
        <p:nvSpPr>
          <p:cNvPr id="88" name="Text 86"/>
          <p:cNvSpPr txBox="1"/>
          <p:nvPr/>
        </p:nvSpPr>
        <p:spPr>
          <a:xfrm>
            <a:off x="475488" y="3936492"/>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2028</a:t>
            </a:r>
            <a:endParaRPr lang="en-US" sz="850" dirty="0"/>
          </a:p>
        </p:txBody>
      </p:sp>
      <p:sp>
        <p:nvSpPr>
          <p:cNvPr id="89" name="Shape 87"/>
          <p:cNvSpPr/>
          <p:nvPr/>
        </p:nvSpPr>
        <p:spPr>
          <a:xfrm>
            <a:off x="1463040" y="3936492"/>
            <a:ext cx="2606040" cy="260604"/>
          </a:xfrm>
          <a:prstGeom prst="rect">
            <a:avLst/>
          </a:prstGeom>
          <a:solidFill>
            <a:srgbClr val="F7F9FB"/>
          </a:solidFill>
          <a:ln w="6350">
            <a:solidFill>
              <a:srgbClr val="D3DCE5"/>
            </a:solidFill>
            <a:prstDash val="solid"/>
          </a:ln>
        </p:spPr>
      </p:sp>
      <p:sp>
        <p:nvSpPr>
          <p:cNvPr id="90" name="Text 88"/>
          <p:cNvSpPr txBox="1"/>
          <p:nvPr/>
        </p:nvSpPr>
        <p:spPr>
          <a:xfrm>
            <a:off x="1527048" y="3936492"/>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Macquarie</a:t>
            </a:r>
            <a:endParaRPr lang="en-US" sz="850" dirty="0"/>
          </a:p>
        </p:txBody>
      </p:sp>
      <p:sp>
        <p:nvSpPr>
          <p:cNvPr id="91" name="Shape 89"/>
          <p:cNvSpPr/>
          <p:nvPr/>
        </p:nvSpPr>
        <p:spPr>
          <a:xfrm>
            <a:off x="4069080" y="3936492"/>
            <a:ext cx="2148840" cy="260604"/>
          </a:xfrm>
          <a:prstGeom prst="rect">
            <a:avLst/>
          </a:prstGeom>
          <a:solidFill>
            <a:srgbClr val="F7F9FB"/>
          </a:solidFill>
          <a:ln w="6350">
            <a:solidFill>
              <a:srgbClr val="D3DCE5"/>
            </a:solidFill>
            <a:prstDash val="solid"/>
          </a:ln>
        </p:spPr>
      </p:sp>
      <p:sp>
        <p:nvSpPr>
          <p:cNvPr id="92" name="Text 90"/>
          <p:cNvSpPr txBox="1"/>
          <p:nvPr/>
        </p:nvSpPr>
        <p:spPr>
          <a:xfrm>
            <a:off x="4133088" y="3936492"/>
            <a:ext cx="2020824" cy="260604"/>
          </a:xfrm>
          <a:prstGeom prst="rect">
            <a:avLst/>
          </a:prstGeom>
          <a:noFill/>
          <a:ln/>
        </p:spPr>
        <p:txBody>
          <a:bodyPr wrap="square" lIns="0" tIns="0" rIns="0" bIns="0" rtlCol="0" anchor="ctr"/>
          <a:lstStyle/>
          <a:p>
            <a:pPr algn="ctr" indent="0" marL="0">
              <a:buNone/>
            </a:pPr>
            <a:r>
              <a:rPr lang="en-US" sz="850" dirty="0">
                <a:solidFill>
                  <a:srgbClr val="5F7183"/>
                </a:solidFill>
                <a:latin typeface="Calibri" pitchFamily="34" charset="0"/>
                <a:ea typeface="Calibri" pitchFamily="34" charset="-122"/>
                <a:cs typeface="Calibri" pitchFamily="34" charset="-120"/>
              </a:rPr>
              <a:t>+1</a:t>
            </a:r>
            <a:endParaRPr lang="en-US" sz="850" dirty="0"/>
          </a:p>
        </p:txBody>
      </p:sp>
      <p:sp>
        <p:nvSpPr>
          <p:cNvPr id="93" name="Shape 91"/>
          <p:cNvSpPr/>
          <p:nvPr/>
        </p:nvSpPr>
        <p:spPr>
          <a:xfrm>
            <a:off x="6217920" y="3936492"/>
            <a:ext cx="5568696" cy="260604"/>
          </a:xfrm>
          <a:prstGeom prst="rect">
            <a:avLst/>
          </a:prstGeom>
          <a:solidFill>
            <a:srgbClr val="F7F9FB"/>
          </a:solidFill>
          <a:ln w="6350">
            <a:solidFill>
              <a:srgbClr val="D3DCE5"/>
            </a:solidFill>
            <a:prstDash val="solid"/>
          </a:ln>
        </p:spPr>
      </p:sp>
      <p:sp>
        <p:nvSpPr>
          <p:cNvPr id="94" name="Text 92"/>
          <p:cNvSpPr txBox="1"/>
          <p:nvPr/>
        </p:nvSpPr>
        <p:spPr>
          <a:xfrm>
            <a:off x="6281928" y="3936492"/>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Roughly balanced</a:t>
            </a:r>
            <a:endParaRPr lang="en-US" sz="850" dirty="0"/>
          </a:p>
        </p:txBody>
      </p:sp>
      <p:sp>
        <p:nvSpPr>
          <p:cNvPr id="95" name="Shape 93"/>
          <p:cNvSpPr/>
          <p:nvPr/>
        </p:nvSpPr>
        <p:spPr>
          <a:xfrm>
            <a:off x="411480" y="4197096"/>
            <a:ext cx="1051560" cy="260604"/>
          </a:xfrm>
          <a:prstGeom prst="rect">
            <a:avLst/>
          </a:prstGeom>
          <a:solidFill>
            <a:srgbClr val="FFFFFF"/>
          </a:solidFill>
          <a:ln w="6350">
            <a:solidFill>
              <a:srgbClr val="D3DCE5"/>
            </a:solidFill>
            <a:prstDash val="solid"/>
          </a:ln>
        </p:spPr>
      </p:sp>
      <p:sp>
        <p:nvSpPr>
          <p:cNvPr id="96" name="Text 94"/>
          <p:cNvSpPr txBox="1"/>
          <p:nvPr/>
        </p:nvSpPr>
        <p:spPr>
          <a:xfrm>
            <a:off x="475488" y="4197096"/>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2028</a:t>
            </a:r>
            <a:endParaRPr lang="en-US" sz="850" dirty="0"/>
          </a:p>
        </p:txBody>
      </p:sp>
      <p:sp>
        <p:nvSpPr>
          <p:cNvPr id="97" name="Shape 95"/>
          <p:cNvSpPr/>
          <p:nvPr/>
        </p:nvSpPr>
        <p:spPr>
          <a:xfrm>
            <a:off x="1463040" y="4197096"/>
            <a:ext cx="2606040" cy="260604"/>
          </a:xfrm>
          <a:prstGeom prst="rect">
            <a:avLst/>
          </a:prstGeom>
          <a:solidFill>
            <a:srgbClr val="FFFFFF"/>
          </a:solidFill>
          <a:ln w="6350">
            <a:solidFill>
              <a:srgbClr val="D3DCE5"/>
            </a:solidFill>
            <a:prstDash val="solid"/>
          </a:ln>
        </p:spPr>
      </p:sp>
      <p:sp>
        <p:nvSpPr>
          <p:cNvPr id="98" name="Text 96"/>
          <p:cNvSpPr txBox="1"/>
          <p:nvPr/>
        </p:nvSpPr>
        <p:spPr>
          <a:xfrm>
            <a:off x="1527048" y="4197096"/>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Wood Mackenzie</a:t>
            </a:r>
            <a:endParaRPr lang="en-US" sz="850" dirty="0"/>
          </a:p>
        </p:txBody>
      </p:sp>
      <p:sp>
        <p:nvSpPr>
          <p:cNvPr id="99" name="Shape 97"/>
          <p:cNvSpPr/>
          <p:nvPr/>
        </p:nvSpPr>
        <p:spPr>
          <a:xfrm>
            <a:off x="4069080" y="4197096"/>
            <a:ext cx="2148840" cy="260604"/>
          </a:xfrm>
          <a:prstGeom prst="rect">
            <a:avLst/>
          </a:prstGeom>
          <a:solidFill>
            <a:srgbClr val="FFFFFF"/>
          </a:solidFill>
          <a:ln w="6350">
            <a:solidFill>
              <a:srgbClr val="D3DCE5"/>
            </a:solidFill>
            <a:prstDash val="solid"/>
          </a:ln>
        </p:spPr>
      </p:sp>
      <p:sp>
        <p:nvSpPr>
          <p:cNvPr id="100" name="Text 98"/>
          <p:cNvSpPr txBox="1"/>
          <p:nvPr/>
        </p:nvSpPr>
        <p:spPr>
          <a:xfrm>
            <a:off x="4133088" y="4197096"/>
            <a:ext cx="2020824" cy="260604"/>
          </a:xfrm>
          <a:prstGeom prst="rect">
            <a:avLst/>
          </a:prstGeom>
          <a:noFill/>
          <a:ln/>
        </p:spPr>
        <p:txBody>
          <a:bodyPr wrap="square" lIns="0" tIns="0" rIns="0" bIns="0" rtlCol="0" anchor="ctr"/>
          <a:lstStyle/>
          <a:p>
            <a:pPr algn="ctr" indent="0" marL="0">
              <a:buNone/>
            </a:pPr>
            <a:r>
              <a:rPr lang="en-US" sz="850" dirty="0">
                <a:solidFill>
                  <a:srgbClr val="0E7C6B"/>
                </a:solidFill>
                <a:latin typeface="Calibri" pitchFamily="34" charset="0"/>
                <a:ea typeface="Calibri" pitchFamily="34" charset="-122"/>
                <a:cs typeface="Calibri" pitchFamily="34" charset="-120"/>
              </a:rPr>
              <a:t>Deficit</a:t>
            </a:r>
            <a:endParaRPr lang="en-US" sz="850" dirty="0"/>
          </a:p>
        </p:txBody>
      </p:sp>
      <p:sp>
        <p:nvSpPr>
          <p:cNvPr id="101" name="Shape 99"/>
          <p:cNvSpPr/>
          <p:nvPr/>
        </p:nvSpPr>
        <p:spPr>
          <a:xfrm>
            <a:off x="6217920" y="4197096"/>
            <a:ext cx="5568696" cy="260604"/>
          </a:xfrm>
          <a:prstGeom prst="rect">
            <a:avLst/>
          </a:prstGeom>
          <a:solidFill>
            <a:srgbClr val="FFFFFF"/>
          </a:solidFill>
          <a:ln w="6350">
            <a:solidFill>
              <a:srgbClr val="D3DCE5"/>
            </a:solidFill>
            <a:prstDash val="solid"/>
          </a:ln>
        </p:spPr>
      </p:sp>
      <p:sp>
        <p:nvSpPr>
          <p:cNvPr id="102" name="Text 100"/>
          <p:cNvSpPr txBox="1"/>
          <p:nvPr/>
        </p:nvSpPr>
        <p:spPr>
          <a:xfrm>
            <a:off x="6281928" y="4197096"/>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Net Zero scenario only</a:t>
            </a:r>
            <a:endParaRPr lang="en-US" sz="850" dirty="0"/>
          </a:p>
        </p:txBody>
      </p:sp>
      <p:sp>
        <p:nvSpPr>
          <p:cNvPr id="103" name="Shape 101"/>
          <p:cNvSpPr/>
          <p:nvPr/>
        </p:nvSpPr>
        <p:spPr>
          <a:xfrm>
            <a:off x="411480" y="4457700"/>
            <a:ext cx="1051560" cy="260604"/>
          </a:xfrm>
          <a:prstGeom prst="rect">
            <a:avLst/>
          </a:prstGeom>
          <a:solidFill>
            <a:srgbClr val="F7F9FB"/>
          </a:solidFill>
          <a:ln w="6350">
            <a:solidFill>
              <a:srgbClr val="D3DCE5"/>
            </a:solidFill>
            <a:prstDash val="solid"/>
          </a:ln>
        </p:spPr>
      </p:sp>
      <p:sp>
        <p:nvSpPr>
          <p:cNvPr id="104" name="Text 102"/>
          <p:cNvSpPr txBox="1"/>
          <p:nvPr/>
        </p:nvSpPr>
        <p:spPr>
          <a:xfrm>
            <a:off x="475488" y="4457700"/>
            <a:ext cx="923544" cy="260604"/>
          </a:xfrm>
          <a:prstGeom prst="rect">
            <a:avLst/>
          </a:prstGeom>
          <a:noFill/>
          <a:ln/>
        </p:spPr>
        <p:txBody>
          <a:bodyPr wrap="square" lIns="0" tIns="0" rIns="0" bIns="0" rtlCol="0" anchor="ctr"/>
          <a:lstStyle/>
          <a:p>
            <a:pPr algn="ctr" indent="0" marL="0">
              <a:buNone/>
            </a:pPr>
            <a:r>
              <a:rPr lang="en-US" sz="850" b="1" dirty="0">
                <a:solidFill>
                  <a:srgbClr val="1B2733"/>
                </a:solidFill>
                <a:latin typeface="Calibri" pitchFamily="34" charset="0"/>
                <a:ea typeface="Calibri" pitchFamily="34" charset="-122"/>
                <a:cs typeface="Calibri" pitchFamily="34" charset="-120"/>
              </a:rPr>
              <a:t>2035</a:t>
            </a:r>
            <a:endParaRPr lang="en-US" sz="850" dirty="0"/>
          </a:p>
        </p:txBody>
      </p:sp>
      <p:sp>
        <p:nvSpPr>
          <p:cNvPr id="105" name="Shape 103"/>
          <p:cNvSpPr/>
          <p:nvPr/>
        </p:nvSpPr>
        <p:spPr>
          <a:xfrm>
            <a:off x="1463040" y="4457700"/>
            <a:ext cx="2606040" cy="260604"/>
          </a:xfrm>
          <a:prstGeom prst="rect">
            <a:avLst/>
          </a:prstGeom>
          <a:solidFill>
            <a:srgbClr val="F7F9FB"/>
          </a:solidFill>
          <a:ln w="6350">
            <a:solidFill>
              <a:srgbClr val="D3DCE5"/>
            </a:solidFill>
            <a:prstDash val="solid"/>
          </a:ln>
        </p:spPr>
      </p:sp>
      <p:sp>
        <p:nvSpPr>
          <p:cNvPr id="106" name="Text 104"/>
          <p:cNvSpPr txBox="1"/>
          <p:nvPr/>
        </p:nvSpPr>
        <p:spPr>
          <a:xfrm>
            <a:off x="1527048" y="4457700"/>
            <a:ext cx="2478024"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IEA</a:t>
            </a:r>
            <a:endParaRPr lang="en-US" sz="850" dirty="0"/>
          </a:p>
        </p:txBody>
      </p:sp>
      <p:sp>
        <p:nvSpPr>
          <p:cNvPr id="107" name="Shape 105"/>
          <p:cNvSpPr/>
          <p:nvPr/>
        </p:nvSpPr>
        <p:spPr>
          <a:xfrm>
            <a:off x="4069080" y="4457700"/>
            <a:ext cx="2148840" cy="260604"/>
          </a:xfrm>
          <a:prstGeom prst="rect">
            <a:avLst/>
          </a:prstGeom>
          <a:solidFill>
            <a:srgbClr val="F7F9FB"/>
          </a:solidFill>
          <a:ln w="6350">
            <a:solidFill>
              <a:srgbClr val="D3DCE5"/>
            </a:solidFill>
            <a:prstDash val="solid"/>
          </a:ln>
        </p:spPr>
      </p:sp>
      <p:sp>
        <p:nvSpPr>
          <p:cNvPr id="108" name="Text 106"/>
          <p:cNvSpPr txBox="1"/>
          <p:nvPr/>
        </p:nvSpPr>
        <p:spPr>
          <a:xfrm>
            <a:off x="4133088" y="4457700"/>
            <a:ext cx="2020824" cy="260604"/>
          </a:xfrm>
          <a:prstGeom prst="rect">
            <a:avLst/>
          </a:prstGeom>
          <a:noFill/>
          <a:ln/>
        </p:spPr>
        <p:txBody>
          <a:bodyPr wrap="square" lIns="0" tIns="0" rIns="0" bIns="0" rtlCol="0" anchor="ctr"/>
          <a:lstStyle/>
          <a:p>
            <a:pPr algn="ctr" indent="0" marL="0">
              <a:buNone/>
            </a:pPr>
            <a:r>
              <a:rPr lang="en-US" sz="850" b="1" dirty="0">
                <a:solidFill>
                  <a:srgbClr val="0E7C6B"/>
                </a:solidFill>
                <a:latin typeface="Calibri" pitchFamily="34" charset="0"/>
                <a:ea typeface="Calibri" pitchFamily="34" charset="-122"/>
                <a:cs typeface="Calibri" pitchFamily="34" charset="-120"/>
              </a:rPr>
              <a:t>-40%</a:t>
            </a:r>
            <a:endParaRPr lang="en-US" sz="850" dirty="0"/>
          </a:p>
        </p:txBody>
      </p:sp>
      <p:sp>
        <p:nvSpPr>
          <p:cNvPr id="109" name="Shape 107"/>
          <p:cNvSpPr/>
          <p:nvPr/>
        </p:nvSpPr>
        <p:spPr>
          <a:xfrm>
            <a:off x="6217920" y="4457700"/>
            <a:ext cx="5568696" cy="260604"/>
          </a:xfrm>
          <a:prstGeom prst="rect">
            <a:avLst/>
          </a:prstGeom>
          <a:solidFill>
            <a:srgbClr val="F7F9FB"/>
          </a:solidFill>
          <a:ln w="6350">
            <a:solidFill>
              <a:srgbClr val="D3DCE5"/>
            </a:solidFill>
            <a:prstDash val="solid"/>
          </a:ln>
        </p:spPr>
      </p:sp>
      <p:sp>
        <p:nvSpPr>
          <p:cNvPr id="110" name="Text 108"/>
          <p:cNvSpPr txBox="1"/>
          <p:nvPr/>
        </p:nvSpPr>
        <p:spPr>
          <a:xfrm>
            <a:off x="6281928" y="4457700"/>
            <a:ext cx="5440680" cy="26060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Announced projects fall about 40% short of demand under the STEPS scenario</a:t>
            </a:r>
            <a:endParaRPr lang="en-US" sz="850" dirty="0"/>
          </a:p>
        </p:txBody>
      </p:sp>
      <p:sp>
        <p:nvSpPr>
          <p:cNvPr id="111" name="Shape 109"/>
          <p:cNvSpPr/>
          <p:nvPr/>
        </p:nvSpPr>
        <p:spPr>
          <a:xfrm>
            <a:off x="411480" y="4818888"/>
            <a:ext cx="11375136" cy="1078992"/>
          </a:xfrm>
          <a:prstGeom prst="rect">
            <a:avLst/>
          </a:prstGeom>
          <a:solidFill>
            <a:srgbClr val="EEF2F6"/>
          </a:solidFill>
          <a:ln w="9525">
            <a:solidFill>
              <a:srgbClr val="D3DCE5"/>
            </a:solidFill>
            <a:prstDash val="solid"/>
          </a:ln>
        </p:spPr>
      </p:sp>
      <p:sp>
        <p:nvSpPr>
          <p:cNvPr id="112" name="Text 110"/>
          <p:cNvSpPr txBox="1"/>
          <p:nvPr/>
        </p:nvSpPr>
        <p:spPr>
          <a:xfrm>
            <a:off x="576072" y="4946904"/>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What we take from it</a:t>
            </a:r>
            <a:endParaRPr lang="en-US" sz="1150" dirty="0"/>
          </a:p>
        </p:txBody>
      </p:sp>
      <p:sp>
        <p:nvSpPr>
          <p:cNvPr id="113" name="Text 111"/>
          <p:cNvSpPr txBox="1"/>
          <p:nvPr/>
        </p:nvSpPr>
        <p:spPr>
          <a:xfrm>
            <a:off x="576072" y="5276088"/>
            <a:ext cx="11045952" cy="530352"/>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The one point of convergence is that 2025 was the peak surplus year. Beyond that, credible houses disagree by a full turn of the cycle. We have not resolved the disagreement by picking a favourite: Wood Mackenzie's surplus-until-the-2030s view is effectively our bear case, and the Fastmarkets, Morgan Stanley and UBS deficit calls are effectively our bull case. Our base case sits between them, which is where it belongs.</a:t>
            </a:r>
            <a:endParaRPr lang="en-US" sz="940" dirty="0"/>
          </a:p>
        </p:txBody>
      </p:sp>
      <p:sp>
        <p:nvSpPr>
          <p:cNvPr id="114" name="Text 112"/>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S&amp;P Global Commodity Insights; Macquarie; Fastmarkets; Morgan Stanley; UBS; Wood Mackenzie Lithium Energy Transition Outlook, 3 March 2026; IEA Global Critical Minerals Outlook 2026. Figures are as reported by each house at different dates and are not on a common definition.</a:t>
            </a:r>
            <a:endParaRPr lang="en-US" sz="720" dirty="0"/>
          </a:p>
        </p:txBody>
      </p:sp>
      <p:sp>
        <p:nvSpPr>
          <p:cNvPr id="115" name="Text 113"/>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B10</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Neither is material inside our forecast window, but both are real, and a lithium bull who ignores them is not being serious.</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B11  Industry</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331720" cy="292608"/>
          </a:xfrm>
          <a:prstGeom prst="rect">
            <a:avLst/>
          </a:prstGeom>
          <a:solidFill>
            <a:srgbClr val="10233A"/>
          </a:solidFill>
          <a:ln/>
        </p:spPr>
      </p:sp>
      <p:sp>
        <p:nvSpPr>
          <p:cNvPr id="8" name="Text 6"/>
          <p:cNvSpPr txBox="1"/>
          <p:nvPr/>
        </p:nvSpPr>
        <p:spPr>
          <a:xfrm>
            <a:off x="475488" y="1298448"/>
            <a:ext cx="22037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Threat</a:t>
            </a:r>
            <a:endParaRPr lang="en-US" sz="900" dirty="0"/>
          </a:p>
        </p:txBody>
      </p:sp>
      <p:sp>
        <p:nvSpPr>
          <p:cNvPr id="9" name="Shape 7"/>
          <p:cNvSpPr/>
          <p:nvPr/>
        </p:nvSpPr>
        <p:spPr>
          <a:xfrm>
            <a:off x="2743200" y="1298448"/>
            <a:ext cx="3977640" cy="292608"/>
          </a:xfrm>
          <a:prstGeom prst="rect">
            <a:avLst/>
          </a:prstGeom>
          <a:solidFill>
            <a:srgbClr val="10233A"/>
          </a:solidFill>
          <a:ln/>
        </p:spPr>
      </p:sp>
      <p:sp>
        <p:nvSpPr>
          <p:cNvPr id="10" name="Text 8"/>
          <p:cNvSpPr txBox="1"/>
          <p:nvPr/>
        </p:nvSpPr>
        <p:spPr>
          <a:xfrm>
            <a:off x="2807208" y="1298448"/>
            <a:ext cx="38496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it is</a:t>
            </a:r>
            <a:endParaRPr lang="en-US" sz="900" dirty="0"/>
          </a:p>
        </p:txBody>
      </p:sp>
      <p:sp>
        <p:nvSpPr>
          <p:cNvPr id="11" name="Shape 9"/>
          <p:cNvSpPr/>
          <p:nvPr/>
        </p:nvSpPr>
        <p:spPr>
          <a:xfrm>
            <a:off x="6720840" y="1298448"/>
            <a:ext cx="1965960" cy="292608"/>
          </a:xfrm>
          <a:prstGeom prst="rect">
            <a:avLst/>
          </a:prstGeom>
          <a:solidFill>
            <a:srgbClr val="10233A"/>
          </a:solidFill>
          <a:ln/>
        </p:spPr>
      </p:sp>
      <p:sp>
        <p:nvSpPr>
          <p:cNvPr id="12" name="Text 10"/>
          <p:cNvSpPr txBox="1"/>
          <p:nvPr/>
        </p:nvSpPr>
        <p:spPr>
          <a:xfrm>
            <a:off x="6784848" y="1298448"/>
            <a:ext cx="183794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Realistic timeline</a:t>
            </a:r>
            <a:endParaRPr lang="en-US" sz="900" dirty="0"/>
          </a:p>
        </p:txBody>
      </p:sp>
      <p:sp>
        <p:nvSpPr>
          <p:cNvPr id="13" name="Shape 11"/>
          <p:cNvSpPr/>
          <p:nvPr/>
        </p:nvSpPr>
        <p:spPr>
          <a:xfrm>
            <a:off x="8686800" y="1298448"/>
            <a:ext cx="3099816" cy="292608"/>
          </a:xfrm>
          <a:prstGeom prst="rect">
            <a:avLst/>
          </a:prstGeom>
          <a:solidFill>
            <a:srgbClr val="10233A"/>
          </a:solidFill>
          <a:ln/>
        </p:spPr>
      </p:sp>
      <p:sp>
        <p:nvSpPr>
          <p:cNvPr id="14" name="Text 12"/>
          <p:cNvSpPr txBox="1"/>
          <p:nvPr/>
        </p:nvSpPr>
        <p:spPr>
          <a:xfrm>
            <a:off x="8750808" y="1298448"/>
            <a:ext cx="297180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Our view</a:t>
            </a:r>
            <a:endParaRPr lang="en-US" sz="900" dirty="0"/>
          </a:p>
        </p:txBody>
      </p:sp>
      <p:sp>
        <p:nvSpPr>
          <p:cNvPr id="15" name="Shape 13"/>
          <p:cNvSpPr/>
          <p:nvPr/>
        </p:nvSpPr>
        <p:spPr>
          <a:xfrm>
            <a:off x="411480" y="1591056"/>
            <a:ext cx="2331720" cy="566928"/>
          </a:xfrm>
          <a:prstGeom prst="rect">
            <a:avLst/>
          </a:prstGeom>
          <a:solidFill>
            <a:srgbClr val="FBEBD9"/>
          </a:solidFill>
          <a:ln w="6350">
            <a:solidFill>
              <a:srgbClr val="D3DCE5"/>
            </a:solidFill>
            <a:prstDash val="solid"/>
          </a:ln>
        </p:spPr>
      </p:sp>
      <p:sp>
        <p:nvSpPr>
          <p:cNvPr id="16" name="Text 14"/>
          <p:cNvSpPr txBox="1"/>
          <p:nvPr/>
        </p:nvSpPr>
        <p:spPr>
          <a:xfrm>
            <a:off x="475488" y="1591056"/>
            <a:ext cx="2203704" cy="56692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Sodium-ion batteries</a:t>
            </a:r>
            <a:endParaRPr lang="en-US" sz="850" dirty="0"/>
          </a:p>
        </p:txBody>
      </p:sp>
      <p:sp>
        <p:nvSpPr>
          <p:cNvPr id="17" name="Shape 15"/>
          <p:cNvSpPr/>
          <p:nvPr/>
        </p:nvSpPr>
        <p:spPr>
          <a:xfrm>
            <a:off x="2743200" y="1591056"/>
            <a:ext cx="3977640" cy="566928"/>
          </a:xfrm>
          <a:prstGeom prst="rect">
            <a:avLst/>
          </a:prstGeom>
          <a:solidFill>
            <a:srgbClr val="FBEBD9"/>
          </a:solidFill>
          <a:ln w="6350">
            <a:solidFill>
              <a:srgbClr val="D3DCE5"/>
            </a:solidFill>
            <a:prstDash val="solid"/>
          </a:ln>
        </p:spPr>
      </p:sp>
      <p:sp>
        <p:nvSpPr>
          <p:cNvPr id="18" name="Text 16"/>
          <p:cNvSpPr txBox="1"/>
          <p:nvPr/>
        </p:nvSpPr>
        <p:spPr>
          <a:xfrm>
            <a:off x="2807208" y="1591056"/>
            <a:ext cx="3849624" cy="56692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Sodium replaces lithium entirely. Lower energy density, cheaper inputs, better cold performance.</a:t>
            </a:r>
            <a:endParaRPr lang="en-US" sz="850" dirty="0"/>
          </a:p>
        </p:txBody>
      </p:sp>
      <p:sp>
        <p:nvSpPr>
          <p:cNvPr id="19" name="Shape 17"/>
          <p:cNvSpPr/>
          <p:nvPr/>
        </p:nvSpPr>
        <p:spPr>
          <a:xfrm>
            <a:off x="6720840" y="1591056"/>
            <a:ext cx="1965960" cy="566928"/>
          </a:xfrm>
          <a:prstGeom prst="rect">
            <a:avLst/>
          </a:prstGeom>
          <a:solidFill>
            <a:srgbClr val="FBEBD9"/>
          </a:solidFill>
          <a:ln w="6350">
            <a:solidFill>
              <a:srgbClr val="D3DCE5"/>
            </a:solidFill>
            <a:prstDash val="solid"/>
          </a:ln>
        </p:spPr>
      </p:sp>
      <p:sp>
        <p:nvSpPr>
          <p:cNvPr id="20" name="Text 18"/>
          <p:cNvSpPr txBox="1"/>
          <p:nvPr/>
        </p:nvSpPr>
        <p:spPr>
          <a:xfrm>
            <a:off x="6784848" y="1591056"/>
            <a:ext cx="1837944" cy="566928"/>
          </a:xfrm>
          <a:prstGeom prst="rect">
            <a:avLst/>
          </a:prstGeom>
          <a:noFill/>
          <a:ln/>
        </p:spPr>
        <p:txBody>
          <a:bodyPr wrap="square" lIns="0" tIns="0" rIns="0" bIns="0" rtlCol="0" anchor="ctr"/>
          <a:lstStyle/>
          <a:p>
            <a:pPr algn="ctr" indent="0" marL="0">
              <a:buNone/>
            </a:pPr>
            <a:r>
              <a:rPr lang="en-US" sz="850" dirty="0">
                <a:solidFill>
                  <a:srgbClr val="C2610A"/>
                </a:solidFill>
                <a:latin typeface="Calibri" pitchFamily="34" charset="0"/>
                <a:ea typeface="Calibri" pitchFamily="34" charset="-122"/>
                <a:cs typeface="Calibri" pitchFamily="34" charset="-120"/>
              </a:rPr>
              <a:t>Late 2020s at scale</a:t>
            </a:r>
            <a:endParaRPr lang="en-US" sz="850" dirty="0"/>
          </a:p>
        </p:txBody>
      </p:sp>
      <p:sp>
        <p:nvSpPr>
          <p:cNvPr id="21" name="Shape 19"/>
          <p:cNvSpPr/>
          <p:nvPr/>
        </p:nvSpPr>
        <p:spPr>
          <a:xfrm>
            <a:off x="8686800" y="1591056"/>
            <a:ext cx="3099816" cy="566928"/>
          </a:xfrm>
          <a:prstGeom prst="rect">
            <a:avLst/>
          </a:prstGeom>
          <a:solidFill>
            <a:srgbClr val="FBEBD9"/>
          </a:solidFill>
          <a:ln w="6350">
            <a:solidFill>
              <a:srgbClr val="D3DCE5"/>
            </a:solidFill>
            <a:prstDash val="solid"/>
          </a:ln>
        </p:spPr>
      </p:sp>
      <p:sp>
        <p:nvSpPr>
          <p:cNvPr id="22" name="Text 20"/>
          <p:cNvSpPr txBox="1"/>
          <p:nvPr/>
        </p:nvSpPr>
        <p:spPr>
          <a:xfrm>
            <a:off x="8750808" y="1591056"/>
            <a:ext cx="2971800" cy="56692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Most credible in stationary storage and low-range vehicles - which is where our storage demand leg sits. This is the sharpest threat to the bull case.</a:t>
            </a:r>
            <a:endParaRPr lang="en-US" sz="850" dirty="0"/>
          </a:p>
        </p:txBody>
      </p:sp>
      <p:sp>
        <p:nvSpPr>
          <p:cNvPr id="23" name="Shape 21"/>
          <p:cNvSpPr/>
          <p:nvPr/>
        </p:nvSpPr>
        <p:spPr>
          <a:xfrm>
            <a:off x="411480" y="2157984"/>
            <a:ext cx="2331720" cy="566928"/>
          </a:xfrm>
          <a:prstGeom prst="rect">
            <a:avLst/>
          </a:prstGeom>
          <a:solidFill>
            <a:srgbClr val="F7F9FB"/>
          </a:solidFill>
          <a:ln w="6350">
            <a:solidFill>
              <a:srgbClr val="D3DCE5"/>
            </a:solidFill>
            <a:prstDash val="solid"/>
          </a:ln>
        </p:spPr>
      </p:sp>
      <p:sp>
        <p:nvSpPr>
          <p:cNvPr id="24" name="Text 22"/>
          <p:cNvSpPr txBox="1"/>
          <p:nvPr/>
        </p:nvSpPr>
        <p:spPr>
          <a:xfrm>
            <a:off x="475488" y="2157984"/>
            <a:ext cx="2203704" cy="56692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Solid-state batteries</a:t>
            </a:r>
            <a:endParaRPr lang="en-US" sz="850" dirty="0"/>
          </a:p>
        </p:txBody>
      </p:sp>
      <p:sp>
        <p:nvSpPr>
          <p:cNvPr id="25" name="Shape 23"/>
          <p:cNvSpPr/>
          <p:nvPr/>
        </p:nvSpPr>
        <p:spPr>
          <a:xfrm>
            <a:off x="2743200" y="2157984"/>
            <a:ext cx="3977640" cy="566928"/>
          </a:xfrm>
          <a:prstGeom prst="rect">
            <a:avLst/>
          </a:prstGeom>
          <a:solidFill>
            <a:srgbClr val="F7F9FB"/>
          </a:solidFill>
          <a:ln w="6350">
            <a:solidFill>
              <a:srgbClr val="D3DCE5"/>
            </a:solidFill>
            <a:prstDash val="solid"/>
          </a:ln>
        </p:spPr>
      </p:sp>
      <p:sp>
        <p:nvSpPr>
          <p:cNvPr id="26" name="Text 24"/>
          <p:cNvSpPr txBox="1"/>
          <p:nvPr/>
        </p:nvSpPr>
        <p:spPr>
          <a:xfrm>
            <a:off x="2807208" y="2157984"/>
            <a:ext cx="3849624" cy="56692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Solid electrolyte replacing liquid. Often uses MORE lithium, sometimes lithium metal anodes.</a:t>
            </a:r>
            <a:endParaRPr lang="en-US" sz="850" dirty="0"/>
          </a:p>
        </p:txBody>
      </p:sp>
      <p:sp>
        <p:nvSpPr>
          <p:cNvPr id="27" name="Shape 25"/>
          <p:cNvSpPr/>
          <p:nvPr/>
        </p:nvSpPr>
        <p:spPr>
          <a:xfrm>
            <a:off x="6720840" y="2157984"/>
            <a:ext cx="1965960" cy="566928"/>
          </a:xfrm>
          <a:prstGeom prst="rect">
            <a:avLst/>
          </a:prstGeom>
          <a:solidFill>
            <a:srgbClr val="F7F9FB"/>
          </a:solidFill>
          <a:ln w="6350">
            <a:solidFill>
              <a:srgbClr val="D3DCE5"/>
            </a:solidFill>
            <a:prstDash val="solid"/>
          </a:ln>
        </p:spPr>
      </p:sp>
      <p:sp>
        <p:nvSpPr>
          <p:cNvPr id="28" name="Text 26"/>
          <p:cNvSpPr txBox="1"/>
          <p:nvPr/>
        </p:nvSpPr>
        <p:spPr>
          <a:xfrm>
            <a:off x="6784848" y="2157984"/>
            <a:ext cx="1837944" cy="566928"/>
          </a:xfrm>
          <a:prstGeom prst="rect">
            <a:avLst/>
          </a:prstGeom>
          <a:noFill/>
          <a:ln/>
        </p:spPr>
        <p:txBody>
          <a:bodyPr wrap="square" lIns="0" tIns="0" rIns="0" bIns="0" rtlCol="0" anchor="ctr"/>
          <a:lstStyle/>
          <a:p>
            <a:pPr algn="ctr" indent="0" marL="0">
              <a:buNone/>
            </a:pPr>
            <a:r>
              <a:rPr lang="en-US" sz="850" dirty="0">
                <a:solidFill>
                  <a:srgbClr val="5F7183"/>
                </a:solidFill>
                <a:latin typeface="Calibri" pitchFamily="34" charset="0"/>
                <a:ea typeface="Calibri" pitchFamily="34" charset="-122"/>
                <a:cs typeface="Calibri" pitchFamily="34" charset="-120"/>
              </a:rPr>
              <a:t>2030s</a:t>
            </a:r>
            <a:endParaRPr lang="en-US" sz="850" dirty="0"/>
          </a:p>
        </p:txBody>
      </p:sp>
      <p:sp>
        <p:nvSpPr>
          <p:cNvPr id="29" name="Shape 27"/>
          <p:cNvSpPr/>
          <p:nvPr/>
        </p:nvSpPr>
        <p:spPr>
          <a:xfrm>
            <a:off x="8686800" y="2157984"/>
            <a:ext cx="3099816" cy="566928"/>
          </a:xfrm>
          <a:prstGeom prst="rect">
            <a:avLst/>
          </a:prstGeom>
          <a:solidFill>
            <a:srgbClr val="F7F9FB"/>
          </a:solidFill>
          <a:ln w="6350">
            <a:solidFill>
              <a:srgbClr val="D3DCE5"/>
            </a:solidFill>
            <a:prstDash val="solid"/>
          </a:ln>
        </p:spPr>
      </p:sp>
      <p:sp>
        <p:nvSpPr>
          <p:cNvPr id="30" name="Text 28"/>
          <p:cNvSpPr txBox="1"/>
          <p:nvPr/>
        </p:nvSpPr>
        <p:spPr>
          <a:xfrm>
            <a:off x="8750808" y="2157984"/>
            <a:ext cx="2971800" cy="56692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Usually mischaracterised as a lithium threat. It is more likely lithium-positive on a per-kWh basis.</a:t>
            </a:r>
            <a:endParaRPr lang="en-US" sz="850" dirty="0"/>
          </a:p>
        </p:txBody>
      </p:sp>
      <p:sp>
        <p:nvSpPr>
          <p:cNvPr id="31" name="Shape 29"/>
          <p:cNvSpPr/>
          <p:nvPr/>
        </p:nvSpPr>
        <p:spPr>
          <a:xfrm>
            <a:off x="411480" y="2724912"/>
            <a:ext cx="2331720" cy="566928"/>
          </a:xfrm>
          <a:prstGeom prst="rect">
            <a:avLst/>
          </a:prstGeom>
          <a:solidFill>
            <a:srgbClr val="FFFFFF"/>
          </a:solidFill>
          <a:ln w="6350">
            <a:solidFill>
              <a:srgbClr val="D3DCE5"/>
            </a:solidFill>
            <a:prstDash val="solid"/>
          </a:ln>
        </p:spPr>
      </p:sp>
      <p:sp>
        <p:nvSpPr>
          <p:cNvPr id="32" name="Text 30"/>
          <p:cNvSpPr txBox="1"/>
          <p:nvPr/>
        </p:nvSpPr>
        <p:spPr>
          <a:xfrm>
            <a:off x="475488" y="2724912"/>
            <a:ext cx="2203704" cy="56692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Recycling</a:t>
            </a:r>
            <a:endParaRPr lang="en-US" sz="850" dirty="0"/>
          </a:p>
        </p:txBody>
      </p:sp>
      <p:sp>
        <p:nvSpPr>
          <p:cNvPr id="33" name="Shape 31"/>
          <p:cNvSpPr/>
          <p:nvPr/>
        </p:nvSpPr>
        <p:spPr>
          <a:xfrm>
            <a:off x="2743200" y="2724912"/>
            <a:ext cx="3977640" cy="566928"/>
          </a:xfrm>
          <a:prstGeom prst="rect">
            <a:avLst/>
          </a:prstGeom>
          <a:solidFill>
            <a:srgbClr val="FFFFFF"/>
          </a:solidFill>
          <a:ln w="6350">
            <a:solidFill>
              <a:srgbClr val="D3DCE5"/>
            </a:solidFill>
            <a:prstDash val="solid"/>
          </a:ln>
        </p:spPr>
      </p:sp>
      <p:sp>
        <p:nvSpPr>
          <p:cNvPr id="34" name="Text 32"/>
          <p:cNvSpPr txBox="1"/>
          <p:nvPr/>
        </p:nvSpPr>
        <p:spPr>
          <a:xfrm>
            <a:off x="2807208" y="2724912"/>
            <a:ext cx="3849624" cy="56692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Black-mass recovery returning lithium to the chain without new mining.</a:t>
            </a:r>
            <a:endParaRPr lang="en-US" sz="850" dirty="0"/>
          </a:p>
        </p:txBody>
      </p:sp>
      <p:sp>
        <p:nvSpPr>
          <p:cNvPr id="35" name="Shape 33"/>
          <p:cNvSpPr/>
          <p:nvPr/>
        </p:nvSpPr>
        <p:spPr>
          <a:xfrm>
            <a:off x="6720840" y="2724912"/>
            <a:ext cx="1965960" cy="566928"/>
          </a:xfrm>
          <a:prstGeom prst="rect">
            <a:avLst/>
          </a:prstGeom>
          <a:solidFill>
            <a:srgbClr val="FFFFFF"/>
          </a:solidFill>
          <a:ln w="6350">
            <a:solidFill>
              <a:srgbClr val="D3DCE5"/>
            </a:solidFill>
            <a:prstDash val="solid"/>
          </a:ln>
        </p:spPr>
      </p:sp>
      <p:sp>
        <p:nvSpPr>
          <p:cNvPr id="36" name="Text 34"/>
          <p:cNvSpPr txBox="1"/>
          <p:nvPr/>
        </p:nvSpPr>
        <p:spPr>
          <a:xfrm>
            <a:off x="6784848" y="2724912"/>
            <a:ext cx="1837944" cy="566928"/>
          </a:xfrm>
          <a:prstGeom prst="rect">
            <a:avLst/>
          </a:prstGeom>
          <a:noFill/>
          <a:ln/>
        </p:spPr>
        <p:txBody>
          <a:bodyPr wrap="square" lIns="0" tIns="0" rIns="0" bIns="0" rtlCol="0" anchor="ctr"/>
          <a:lstStyle/>
          <a:p>
            <a:pPr algn="ctr" indent="0" marL="0">
              <a:buNone/>
            </a:pPr>
            <a:r>
              <a:rPr lang="en-US" sz="850" dirty="0">
                <a:solidFill>
                  <a:srgbClr val="5F7183"/>
                </a:solidFill>
                <a:latin typeface="Calibri" pitchFamily="34" charset="0"/>
                <a:ea typeface="Calibri" pitchFamily="34" charset="-122"/>
                <a:cs typeface="Calibri" pitchFamily="34" charset="-120"/>
              </a:rPr>
              <a:t>Material in the 2030s</a:t>
            </a:r>
            <a:endParaRPr lang="en-US" sz="850" dirty="0"/>
          </a:p>
        </p:txBody>
      </p:sp>
      <p:sp>
        <p:nvSpPr>
          <p:cNvPr id="37" name="Shape 35"/>
          <p:cNvSpPr/>
          <p:nvPr/>
        </p:nvSpPr>
        <p:spPr>
          <a:xfrm>
            <a:off x="8686800" y="2724912"/>
            <a:ext cx="3099816" cy="566928"/>
          </a:xfrm>
          <a:prstGeom prst="rect">
            <a:avLst/>
          </a:prstGeom>
          <a:solidFill>
            <a:srgbClr val="FFFFFF"/>
          </a:solidFill>
          <a:ln w="6350">
            <a:solidFill>
              <a:srgbClr val="D3DCE5"/>
            </a:solidFill>
            <a:prstDash val="solid"/>
          </a:ln>
        </p:spPr>
      </p:sp>
      <p:sp>
        <p:nvSpPr>
          <p:cNvPr id="38" name="Text 36"/>
          <p:cNvSpPr txBox="1"/>
          <p:nvPr/>
        </p:nvSpPr>
        <p:spPr>
          <a:xfrm>
            <a:off x="8750808" y="2724912"/>
            <a:ext cx="2971800" cy="56692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Constrained by the stock of end-of-life batteries. Today's fleet has not aged enough to supply it at scale.</a:t>
            </a:r>
            <a:endParaRPr lang="en-US" sz="850" dirty="0"/>
          </a:p>
        </p:txBody>
      </p:sp>
      <p:sp>
        <p:nvSpPr>
          <p:cNvPr id="39" name="Shape 37"/>
          <p:cNvSpPr/>
          <p:nvPr/>
        </p:nvSpPr>
        <p:spPr>
          <a:xfrm>
            <a:off x="411480" y="3291840"/>
            <a:ext cx="2331720" cy="566928"/>
          </a:xfrm>
          <a:prstGeom prst="rect">
            <a:avLst/>
          </a:prstGeom>
          <a:solidFill>
            <a:srgbClr val="D6EBE7"/>
          </a:solidFill>
          <a:ln w="6350">
            <a:solidFill>
              <a:srgbClr val="D3DCE5"/>
            </a:solidFill>
            <a:prstDash val="solid"/>
          </a:ln>
        </p:spPr>
      </p:sp>
      <p:sp>
        <p:nvSpPr>
          <p:cNvPr id="40" name="Text 38"/>
          <p:cNvSpPr txBox="1"/>
          <p:nvPr/>
        </p:nvSpPr>
        <p:spPr>
          <a:xfrm>
            <a:off x="475488" y="3291840"/>
            <a:ext cx="2203704" cy="56692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Lithium iron phosphate shift</a:t>
            </a:r>
            <a:endParaRPr lang="en-US" sz="850" dirty="0"/>
          </a:p>
        </p:txBody>
      </p:sp>
      <p:sp>
        <p:nvSpPr>
          <p:cNvPr id="41" name="Shape 39"/>
          <p:cNvSpPr/>
          <p:nvPr/>
        </p:nvSpPr>
        <p:spPr>
          <a:xfrm>
            <a:off x="2743200" y="3291840"/>
            <a:ext cx="3977640" cy="566928"/>
          </a:xfrm>
          <a:prstGeom prst="rect">
            <a:avLst/>
          </a:prstGeom>
          <a:solidFill>
            <a:srgbClr val="D6EBE7"/>
          </a:solidFill>
          <a:ln w="6350">
            <a:solidFill>
              <a:srgbClr val="D3DCE5"/>
            </a:solidFill>
            <a:prstDash val="solid"/>
          </a:ln>
        </p:spPr>
      </p:sp>
      <p:sp>
        <p:nvSpPr>
          <p:cNvPr id="42" name="Text 40"/>
          <p:cNvSpPr txBox="1"/>
          <p:nvPr/>
        </p:nvSpPr>
        <p:spPr>
          <a:xfrm>
            <a:off x="2807208" y="3291840"/>
            <a:ext cx="3849624" cy="56692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Cheaper cathode chemistry using less nickel and cobalt but similar lithium.</a:t>
            </a:r>
            <a:endParaRPr lang="en-US" sz="850" dirty="0"/>
          </a:p>
        </p:txBody>
      </p:sp>
      <p:sp>
        <p:nvSpPr>
          <p:cNvPr id="43" name="Shape 41"/>
          <p:cNvSpPr/>
          <p:nvPr/>
        </p:nvSpPr>
        <p:spPr>
          <a:xfrm>
            <a:off x="6720840" y="3291840"/>
            <a:ext cx="1965960" cy="566928"/>
          </a:xfrm>
          <a:prstGeom prst="rect">
            <a:avLst/>
          </a:prstGeom>
          <a:solidFill>
            <a:srgbClr val="D6EBE7"/>
          </a:solidFill>
          <a:ln w="6350">
            <a:solidFill>
              <a:srgbClr val="D3DCE5"/>
            </a:solidFill>
            <a:prstDash val="solid"/>
          </a:ln>
        </p:spPr>
      </p:sp>
      <p:sp>
        <p:nvSpPr>
          <p:cNvPr id="44" name="Text 42"/>
          <p:cNvSpPr txBox="1"/>
          <p:nvPr/>
        </p:nvSpPr>
        <p:spPr>
          <a:xfrm>
            <a:off x="6784848" y="3291840"/>
            <a:ext cx="1837944" cy="566928"/>
          </a:xfrm>
          <a:prstGeom prst="rect">
            <a:avLst/>
          </a:prstGeom>
          <a:noFill/>
          <a:ln/>
        </p:spPr>
        <p:txBody>
          <a:bodyPr wrap="square" lIns="0" tIns="0" rIns="0" bIns="0" rtlCol="0" anchor="ctr"/>
          <a:lstStyle/>
          <a:p>
            <a:pPr algn="ctr" indent="0" marL="0">
              <a:buNone/>
            </a:pPr>
            <a:r>
              <a:rPr lang="en-US" sz="850" dirty="0">
                <a:solidFill>
                  <a:srgbClr val="0E7C6B"/>
                </a:solidFill>
                <a:latin typeface="Calibri" pitchFamily="34" charset="0"/>
                <a:ea typeface="Calibri" pitchFamily="34" charset="-122"/>
                <a:cs typeface="Calibri" pitchFamily="34" charset="-120"/>
              </a:rPr>
              <a:t>Already happening</a:t>
            </a:r>
            <a:endParaRPr lang="en-US" sz="850" dirty="0"/>
          </a:p>
        </p:txBody>
      </p:sp>
      <p:sp>
        <p:nvSpPr>
          <p:cNvPr id="45" name="Shape 43"/>
          <p:cNvSpPr/>
          <p:nvPr/>
        </p:nvSpPr>
        <p:spPr>
          <a:xfrm>
            <a:off x="8686800" y="3291840"/>
            <a:ext cx="3099816" cy="566928"/>
          </a:xfrm>
          <a:prstGeom prst="rect">
            <a:avLst/>
          </a:prstGeom>
          <a:solidFill>
            <a:srgbClr val="D6EBE7"/>
          </a:solidFill>
          <a:ln w="6350">
            <a:solidFill>
              <a:srgbClr val="D3DCE5"/>
            </a:solidFill>
            <a:prstDash val="solid"/>
          </a:ln>
        </p:spPr>
      </p:sp>
      <p:sp>
        <p:nvSpPr>
          <p:cNvPr id="46" name="Text 44"/>
          <p:cNvSpPr txBox="1"/>
          <p:nvPr/>
        </p:nvSpPr>
        <p:spPr>
          <a:xfrm>
            <a:off x="8750808" y="3291840"/>
            <a:ext cx="2971800" cy="56692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Neutral to positive for spodumene: it shifts demand toward carbonate, which spodumene feeds.</a:t>
            </a:r>
            <a:endParaRPr lang="en-US" sz="850" dirty="0"/>
          </a:p>
        </p:txBody>
      </p:sp>
      <p:sp>
        <p:nvSpPr>
          <p:cNvPr id="47" name="Shape 45"/>
          <p:cNvSpPr/>
          <p:nvPr/>
        </p:nvSpPr>
        <p:spPr>
          <a:xfrm>
            <a:off x="411480" y="3858768"/>
            <a:ext cx="2331720" cy="566928"/>
          </a:xfrm>
          <a:prstGeom prst="rect">
            <a:avLst/>
          </a:prstGeom>
          <a:solidFill>
            <a:srgbClr val="FFFFFF"/>
          </a:solidFill>
          <a:ln w="6350">
            <a:solidFill>
              <a:srgbClr val="D3DCE5"/>
            </a:solidFill>
            <a:prstDash val="solid"/>
          </a:ln>
        </p:spPr>
      </p:sp>
      <p:sp>
        <p:nvSpPr>
          <p:cNvPr id="48" name="Text 46"/>
          <p:cNvSpPr txBox="1"/>
          <p:nvPr/>
        </p:nvSpPr>
        <p:spPr>
          <a:xfrm>
            <a:off x="475488" y="3858768"/>
            <a:ext cx="2203704" cy="56692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Thrifting and design</a:t>
            </a:r>
            <a:endParaRPr lang="en-US" sz="850" dirty="0"/>
          </a:p>
        </p:txBody>
      </p:sp>
      <p:sp>
        <p:nvSpPr>
          <p:cNvPr id="49" name="Shape 47"/>
          <p:cNvSpPr/>
          <p:nvPr/>
        </p:nvSpPr>
        <p:spPr>
          <a:xfrm>
            <a:off x="2743200" y="3858768"/>
            <a:ext cx="3977640" cy="566928"/>
          </a:xfrm>
          <a:prstGeom prst="rect">
            <a:avLst/>
          </a:prstGeom>
          <a:solidFill>
            <a:srgbClr val="FFFFFF"/>
          </a:solidFill>
          <a:ln w="6350">
            <a:solidFill>
              <a:srgbClr val="D3DCE5"/>
            </a:solidFill>
            <a:prstDash val="solid"/>
          </a:ln>
        </p:spPr>
      </p:sp>
      <p:sp>
        <p:nvSpPr>
          <p:cNvPr id="50" name="Text 48"/>
          <p:cNvSpPr txBox="1"/>
          <p:nvPr/>
        </p:nvSpPr>
        <p:spPr>
          <a:xfrm>
            <a:off x="2807208" y="3858768"/>
            <a:ext cx="3849624" cy="56692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Less lithium per kWh through cell and pack engineering.</a:t>
            </a:r>
            <a:endParaRPr lang="en-US" sz="850" dirty="0"/>
          </a:p>
        </p:txBody>
      </p:sp>
      <p:sp>
        <p:nvSpPr>
          <p:cNvPr id="51" name="Shape 49"/>
          <p:cNvSpPr/>
          <p:nvPr/>
        </p:nvSpPr>
        <p:spPr>
          <a:xfrm>
            <a:off x="6720840" y="3858768"/>
            <a:ext cx="1965960" cy="566928"/>
          </a:xfrm>
          <a:prstGeom prst="rect">
            <a:avLst/>
          </a:prstGeom>
          <a:solidFill>
            <a:srgbClr val="FFFFFF"/>
          </a:solidFill>
          <a:ln w="6350">
            <a:solidFill>
              <a:srgbClr val="D3DCE5"/>
            </a:solidFill>
            <a:prstDash val="solid"/>
          </a:ln>
        </p:spPr>
      </p:sp>
      <p:sp>
        <p:nvSpPr>
          <p:cNvPr id="52" name="Text 50"/>
          <p:cNvSpPr txBox="1"/>
          <p:nvPr/>
        </p:nvSpPr>
        <p:spPr>
          <a:xfrm>
            <a:off x="6784848" y="3858768"/>
            <a:ext cx="1837944" cy="566928"/>
          </a:xfrm>
          <a:prstGeom prst="rect">
            <a:avLst/>
          </a:prstGeom>
          <a:noFill/>
          <a:ln/>
        </p:spPr>
        <p:txBody>
          <a:bodyPr wrap="square" lIns="0" tIns="0" rIns="0" bIns="0" rtlCol="0" anchor="ctr"/>
          <a:lstStyle/>
          <a:p>
            <a:pPr algn="ctr" indent="0" marL="0">
              <a:buNone/>
            </a:pPr>
            <a:r>
              <a:rPr lang="en-US" sz="850" dirty="0">
                <a:solidFill>
                  <a:srgbClr val="5F7183"/>
                </a:solidFill>
                <a:latin typeface="Calibri" pitchFamily="34" charset="0"/>
                <a:ea typeface="Calibri" pitchFamily="34" charset="-122"/>
                <a:cs typeface="Calibri" pitchFamily="34" charset="-120"/>
              </a:rPr>
              <a:t>Continuous</a:t>
            </a:r>
            <a:endParaRPr lang="en-US" sz="850" dirty="0"/>
          </a:p>
        </p:txBody>
      </p:sp>
      <p:sp>
        <p:nvSpPr>
          <p:cNvPr id="53" name="Shape 51"/>
          <p:cNvSpPr/>
          <p:nvPr/>
        </p:nvSpPr>
        <p:spPr>
          <a:xfrm>
            <a:off x="8686800" y="3858768"/>
            <a:ext cx="3099816" cy="566928"/>
          </a:xfrm>
          <a:prstGeom prst="rect">
            <a:avLst/>
          </a:prstGeom>
          <a:solidFill>
            <a:srgbClr val="FFFFFF"/>
          </a:solidFill>
          <a:ln w="6350">
            <a:solidFill>
              <a:srgbClr val="D3DCE5"/>
            </a:solidFill>
            <a:prstDash val="solid"/>
          </a:ln>
        </p:spPr>
      </p:sp>
      <p:sp>
        <p:nvSpPr>
          <p:cNvPr id="54" name="Text 52"/>
          <p:cNvSpPr txBox="1"/>
          <p:nvPr/>
        </p:nvSpPr>
        <p:spPr>
          <a:xfrm>
            <a:off x="8750808" y="3858768"/>
            <a:ext cx="2971800" cy="566928"/>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Real but incremental, and historically outrun by volume growth.</a:t>
            </a:r>
            <a:endParaRPr lang="en-US" sz="850" dirty="0"/>
          </a:p>
        </p:txBody>
      </p:sp>
      <p:sp>
        <p:nvSpPr>
          <p:cNvPr id="55" name="Shape 53"/>
          <p:cNvSpPr/>
          <p:nvPr/>
        </p:nvSpPr>
        <p:spPr>
          <a:xfrm>
            <a:off x="411480" y="4407408"/>
            <a:ext cx="11375136" cy="1591056"/>
          </a:xfrm>
          <a:prstGeom prst="rect">
            <a:avLst/>
          </a:prstGeom>
          <a:solidFill>
            <a:srgbClr val="FBEBD9"/>
          </a:solidFill>
          <a:ln w="9525">
            <a:solidFill>
              <a:srgbClr val="E8C9A3"/>
            </a:solidFill>
            <a:prstDash val="solid"/>
          </a:ln>
        </p:spPr>
      </p:sp>
      <p:sp>
        <p:nvSpPr>
          <p:cNvPr id="56" name="Text 54"/>
          <p:cNvSpPr txBox="1"/>
          <p:nvPr/>
        </p:nvSpPr>
        <p:spPr>
          <a:xfrm>
            <a:off x="576072" y="4535424"/>
            <a:ext cx="11045952"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Where this bites our numbers</a:t>
            </a:r>
            <a:endParaRPr lang="en-US" sz="1150" dirty="0"/>
          </a:p>
        </p:txBody>
      </p:sp>
      <p:sp>
        <p:nvSpPr>
          <p:cNvPr id="57" name="Text 55"/>
          <p:cNvSpPr txBox="1"/>
          <p:nvPr/>
        </p:nvSpPr>
        <p:spPr>
          <a:xfrm>
            <a:off x="576072" y="4864608"/>
            <a:ext cx="11045952" cy="1042416"/>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Sodium-ion is the one we would watch. If it takes a meaningful share of stationary storage before 2030, the demand leg we described as structurally independent of vehicle policy becomes partly substitutable, and our long-run price of about US$1,750/t realised is too high. Our terminal value is an annuity over sixteen years, so roughly half our enterprise value sits in a period where this risk is live.</a:t>
            </a:r>
            <a:endParaRPr lang="en-US" sz="940" dirty="0"/>
          </a:p>
          <a:p>
            <a:pPr indent="0" marL="0">
              <a:lnSpc>
                <a:spcPct val="105000"/>
              </a:lnSpc>
              <a:buNone/>
            </a:pPr>
            <a:endParaRPr lang="en-US" sz="940" dirty="0"/>
          </a:p>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That is a vulnerability. The mitigant is that it is a slow risk with visible tells - sodium-ion cell cost per kWh and announced storage orders - rather than a sudden one.</a:t>
            </a:r>
            <a:endParaRPr lang="en-US" sz="940" dirty="0"/>
          </a:p>
        </p:txBody>
      </p:sp>
      <p:sp>
        <p:nvSpPr>
          <p:cNvPr id="58" name="Text 56"/>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Benchmark Mineral Intelligence; BloombergNEF; IEA. Timelines are the team's read of published roadmaps and are inherently uncertain.</a:t>
            </a:r>
            <a:endParaRPr lang="en-US" sz="720" dirty="0"/>
          </a:p>
        </p:txBody>
      </p:sp>
      <p:sp>
        <p:nvSpPr>
          <p:cNvPr id="59" name="Text 57"/>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B11</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Rivalry is brutal and undifferentiated on price. The only defensible position is a cost and provenance position, which is what we are buying.</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C1  Strategic frameworks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1375136" cy="658368"/>
          </a:xfrm>
          <a:prstGeom prst="rect">
            <a:avLst/>
          </a:prstGeom>
          <a:solidFill>
            <a:srgbClr val="FFFFFF"/>
          </a:solidFill>
          <a:ln w="7620">
            <a:solidFill>
              <a:srgbClr val="D3DCE5"/>
            </a:solidFill>
            <a:prstDash val="solid"/>
          </a:ln>
        </p:spPr>
      </p:sp>
      <p:sp>
        <p:nvSpPr>
          <p:cNvPr id="8" name="Text 6"/>
          <p:cNvSpPr txBox="1"/>
          <p:nvPr/>
        </p:nvSpPr>
        <p:spPr>
          <a:xfrm>
            <a:off x="576072" y="1298448"/>
            <a:ext cx="2788920" cy="658368"/>
          </a:xfrm>
          <a:prstGeom prst="rect">
            <a:avLst/>
          </a:prstGeom>
          <a:noFill/>
          <a:ln/>
        </p:spPr>
        <p:txBody>
          <a:bodyPr wrap="square" lIns="0" tIns="0" rIns="0" bIns="0" rtlCol="0" anchor="ctr"/>
          <a:lstStyle/>
          <a:p>
            <a:pPr indent="0" marL="0">
              <a:buNone/>
            </a:pPr>
            <a:r>
              <a:rPr lang="en-US" sz="1050" b="1" dirty="0">
                <a:solidFill>
                  <a:srgbClr val="10233A"/>
                </a:solidFill>
                <a:latin typeface="Calibri" pitchFamily="34" charset="0"/>
                <a:ea typeface="Calibri" pitchFamily="34" charset="-122"/>
                <a:cs typeface="Calibri" pitchFamily="34" charset="-120"/>
              </a:rPr>
              <a:t>Rivalry among producers</a:t>
            </a:r>
            <a:endParaRPr lang="en-US" sz="1050" dirty="0"/>
          </a:p>
        </p:txBody>
      </p:sp>
      <p:sp>
        <p:nvSpPr>
          <p:cNvPr id="9" name="Text 7"/>
          <p:cNvSpPr txBox="1"/>
          <p:nvPr/>
        </p:nvSpPr>
        <p:spPr>
          <a:xfrm>
            <a:off x="3429000" y="1298448"/>
            <a:ext cx="1417320" cy="658368"/>
          </a:xfrm>
          <a:prstGeom prst="rect">
            <a:avLst/>
          </a:prstGeom>
          <a:noFill/>
          <a:ln/>
        </p:spPr>
        <p:txBody>
          <a:bodyPr wrap="square" lIns="0" tIns="0" rIns="0" bIns="0" rtlCol="0" anchor="ctr"/>
          <a:lstStyle/>
          <a:p>
            <a:pPr algn="ctr" indent="0" marL="0">
              <a:buNone/>
            </a:pPr>
            <a:r>
              <a:rPr lang="en-US" sz="1000" b="1" dirty="0">
                <a:solidFill>
                  <a:srgbClr val="A3282C"/>
                </a:solidFill>
                <a:latin typeface="Calibri" pitchFamily="34" charset="0"/>
                <a:ea typeface="Calibri" pitchFamily="34" charset="-122"/>
                <a:cs typeface="Calibri" pitchFamily="34" charset="-120"/>
              </a:rPr>
              <a:t>HIGH</a:t>
            </a:r>
            <a:endParaRPr lang="en-US" sz="1000" dirty="0"/>
          </a:p>
        </p:txBody>
      </p:sp>
      <p:sp>
        <p:nvSpPr>
          <p:cNvPr id="10" name="Text 8"/>
          <p:cNvSpPr txBox="1"/>
          <p:nvPr/>
        </p:nvSpPr>
        <p:spPr>
          <a:xfrm>
            <a:off x="4983480" y="1344168"/>
            <a:ext cx="6629400" cy="566928"/>
          </a:xfrm>
          <a:prstGeom prst="rect">
            <a:avLst/>
          </a:prstGeom>
          <a:noFill/>
          <a:ln/>
        </p:spPr>
        <p:txBody>
          <a:bodyPr wrap="square" lIns="0" tIns="0" rIns="0" bIns="0" rtlCol="0" anchor="ctr"/>
          <a:lstStyle/>
          <a:p>
            <a:pPr indent="0" marL="0">
              <a:lnSpc>
                <a:spcPct val="106000"/>
              </a:lnSpc>
              <a:buNone/>
            </a:pPr>
            <a:r>
              <a:rPr lang="en-US" sz="880" dirty="0">
                <a:solidFill>
                  <a:srgbClr val="1B2733"/>
                </a:solidFill>
                <a:latin typeface="Calibri" pitchFamily="34" charset="0"/>
                <a:ea typeface="Calibri" pitchFamily="34" charset="-122"/>
                <a:cs typeface="Calibri" pitchFamily="34" charset="-120"/>
              </a:rPr>
              <a:t>A commodity with no product differentiation at the concentrate level. Price is set by the marginal tonne, and the 2023-25 collapse showed how fast it clears.</a:t>
            </a:r>
            <a:endParaRPr lang="en-US" sz="880" dirty="0"/>
          </a:p>
        </p:txBody>
      </p:sp>
      <p:sp>
        <p:nvSpPr>
          <p:cNvPr id="11" name="Shape 9"/>
          <p:cNvSpPr/>
          <p:nvPr/>
        </p:nvSpPr>
        <p:spPr>
          <a:xfrm>
            <a:off x="411480" y="2029968"/>
            <a:ext cx="11375136" cy="658368"/>
          </a:xfrm>
          <a:prstGeom prst="rect">
            <a:avLst/>
          </a:prstGeom>
          <a:solidFill>
            <a:srgbClr val="F7F9FB"/>
          </a:solidFill>
          <a:ln w="7620">
            <a:solidFill>
              <a:srgbClr val="D3DCE5"/>
            </a:solidFill>
            <a:prstDash val="solid"/>
          </a:ln>
        </p:spPr>
      </p:sp>
      <p:sp>
        <p:nvSpPr>
          <p:cNvPr id="12" name="Text 10"/>
          <p:cNvSpPr txBox="1"/>
          <p:nvPr/>
        </p:nvSpPr>
        <p:spPr>
          <a:xfrm>
            <a:off x="576072" y="2029968"/>
            <a:ext cx="2788920" cy="658368"/>
          </a:xfrm>
          <a:prstGeom prst="rect">
            <a:avLst/>
          </a:prstGeom>
          <a:noFill/>
          <a:ln/>
        </p:spPr>
        <p:txBody>
          <a:bodyPr wrap="square" lIns="0" tIns="0" rIns="0" bIns="0" rtlCol="0" anchor="ctr"/>
          <a:lstStyle/>
          <a:p>
            <a:pPr indent="0" marL="0">
              <a:buNone/>
            </a:pPr>
            <a:r>
              <a:rPr lang="en-US" sz="1050" b="1" dirty="0">
                <a:solidFill>
                  <a:srgbClr val="10233A"/>
                </a:solidFill>
                <a:latin typeface="Calibri" pitchFamily="34" charset="0"/>
                <a:ea typeface="Calibri" pitchFamily="34" charset="-122"/>
                <a:cs typeface="Calibri" pitchFamily="34" charset="-120"/>
              </a:rPr>
              <a:t>Threat of new entrants</a:t>
            </a:r>
            <a:endParaRPr lang="en-US" sz="1050" dirty="0"/>
          </a:p>
        </p:txBody>
      </p:sp>
      <p:sp>
        <p:nvSpPr>
          <p:cNvPr id="13" name="Text 11"/>
          <p:cNvSpPr txBox="1"/>
          <p:nvPr/>
        </p:nvSpPr>
        <p:spPr>
          <a:xfrm>
            <a:off x="3429000" y="2029968"/>
            <a:ext cx="1417320" cy="658368"/>
          </a:xfrm>
          <a:prstGeom prst="rect">
            <a:avLst/>
          </a:prstGeom>
          <a:noFill/>
          <a:ln/>
        </p:spPr>
        <p:txBody>
          <a:bodyPr wrap="square" lIns="0" tIns="0" rIns="0" bIns="0" rtlCol="0" anchor="ctr"/>
          <a:lstStyle/>
          <a:p>
            <a:pPr algn="ctr" indent="0" marL="0">
              <a:buNone/>
            </a:pPr>
            <a:r>
              <a:rPr lang="en-US" sz="1000" b="1" dirty="0">
                <a:solidFill>
                  <a:srgbClr val="C2610A"/>
                </a:solidFill>
                <a:latin typeface="Calibri" pitchFamily="34" charset="0"/>
                <a:ea typeface="Calibri" pitchFamily="34" charset="-122"/>
                <a:cs typeface="Calibri" pitchFamily="34" charset="-120"/>
              </a:rPr>
              <a:t>MEDIUM</a:t>
            </a:r>
            <a:endParaRPr lang="en-US" sz="1000" dirty="0"/>
          </a:p>
        </p:txBody>
      </p:sp>
      <p:sp>
        <p:nvSpPr>
          <p:cNvPr id="14" name="Text 12"/>
          <p:cNvSpPr txBox="1"/>
          <p:nvPr/>
        </p:nvSpPr>
        <p:spPr>
          <a:xfrm>
            <a:off x="4983480" y="2075688"/>
            <a:ext cx="6629400" cy="566928"/>
          </a:xfrm>
          <a:prstGeom prst="rect">
            <a:avLst/>
          </a:prstGeom>
          <a:noFill/>
          <a:ln/>
        </p:spPr>
        <p:txBody>
          <a:bodyPr wrap="square" lIns="0" tIns="0" rIns="0" bIns="0" rtlCol="0" anchor="ctr"/>
          <a:lstStyle/>
          <a:p>
            <a:pPr indent="0" marL="0">
              <a:lnSpc>
                <a:spcPct val="106000"/>
              </a:lnSpc>
              <a:buNone/>
            </a:pPr>
            <a:r>
              <a:rPr lang="en-US" sz="880" dirty="0">
                <a:solidFill>
                  <a:srgbClr val="1B2733"/>
                </a:solidFill>
                <a:latin typeface="Calibri" pitchFamily="34" charset="0"/>
                <a:ea typeface="Calibri" pitchFamily="34" charset="-122"/>
                <a:cs typeface="Calibri" pitchFamily="34" charset="-120"/>
              </a:rPr>
              <a:t>Capital intensity and permitting are real barriers, but Benchmark says 300-plus new projects are needed by 2035, so entry is expected and funded when prices allow.</a:t>
            </a:r>
            <a:endParaRPr lang="en-US" sz="880" dirty="0"/>
          </a:p>
        </p:txBody>
      </p:sp>
      <p:sp>
        <p:nvSpPr>
          <p:cNvPr id="15" name="Shape 13"/>
          <p:cNvSpPr/>
          <p:nvPr/>
        </p:nvSpPr>
        <p:spPr>
          <a:xfrm>
            <a:off x="411480" y="2761488"/>
            <a:ext cx="11375136" cy="658368"/>
          </a:xfrm>
          <a:prstGeom prst="rect">
            <a:avLst/>
          </a:prstGeom>
          <a:solidFill>
            <a:srgbClr val="FFFFFF"/>
          </a:solidFill>
          <a:ln w="7620">
            <a:solidFill>
              <a:srgbClr val="D3DCE5"/>
            </a:solidFill>
            <a:prstDash val="solid"/>
          </a:ln>
        </p:spPr>
      </p:sp>
      <p:sp>
        <p:nvSpPr>
          <p:cNvPr id="16" name="Text 14"/>
          <p:cNvSpPr txBox="1"/>
          <p:nvPr/>
        </p:nvSpPr>
        <p:spPr>
          <a:xfrm>
            <a:off x="576072" y="2761488"/>
            <a:ext cx="2788920" cy="658368"/>
          </a:xfrm>
          <a:prstGeom prst="rect">
            <a:avLst/>
          </a:prstGeom>
          <a:noFill/>
          <a:ln/>
        </p:spPr>
        <p:txBody>
          <a:bodyPr wrap="square" lIns="0" tIns="0" rIns="0" bIns="0" rtlCol="0" anchor="ctr"/>
          <a:lstStyle/>
          <a:p>
            <a:pPr indent="0" marL="0">
              <a:buNone/>
            </a:pPr>
            <a:r>
              <a:rPr lang="en-US" sz="1050" b="1" dirty="0">
                <a:solidFill>
                  <a:srgbClr val="10233A"/>
                </a:solidFill>
                <a:latin typeface="Calibri" pitchFamily="34" charset="0"/>
                <a:ea typeface="Calibri" pitchFamily="34" charset="-122"/>
                <a:cs typeface="Calibri" pitchFamily="34" charset="-120"/>
              </a:rPr>
              <a:t>Supplier power</a:t>
            </a:r>
            <a:endParaRPr lang="en-US" sz="1050" dirty="0"/>
          </a:p>
        </p:txBody>
      </p:sp>
      <p:sp>
        <p:nvSpPr>
          <p:cNvPr id="17" name="Text 15"/>
          <p:cNvSpPr txBox="1"/>
          <p:nvPr/>
        </p:nvSpPr>
        <p:spPr>
          <a:xfrm>
            <a:off x="3429000" y="2761488"/>
            <a:ext cx="1417320" cy="658368"/>
          </a:xfrm>
          <a:prstGeom prst="rect">
            <a:avLst/>
          </a:prstGeom>
          <a:noFill/>
          <a:ln/>
        </p:spPr>
        <p:txBody>
          <a:bodyPr wrap="square" lIns="0" tIns="0" rIns="0" bIns="0" rtlCol="0" anchor="ctr"/>
          <a:lstStyle/>
          <a:p>
            <a:pPr algn="ctr" indent="0" marL="0">
              <a:buNone/>
            </a:pPr>
            <a:r>
              <a:rPr lang="en-US" sz="1000" b="1" dirty="0">
                <a:solidFill>
                  <a:srgbClr val="0E7C6B"/>
                </a:solidFill>
                <a:latin typeface="Calibri" pitchFamily="34" charset="0"/>
                <a:ea typeface="Calibri" pitchFamily="34" charset="-122"/>
                <a:cs typeface="Calibri" pitchFamily="34" charset="-120"/>
              </a:rPr>
              <a:t>LOW</a:t>
            </a:r>
            <a:endParaRPr lang="en-US" sz="1000" dirty="0"/>
          </a:p>
        </p:txBody>
      </p:sp>
      <p:sp>
        <p:nvSpPr>
          <p:cNvPr id="18" name="Text 16"/>
          <p:cNvSpPr txBox="1"/>
          <p:nvPr/>
        </p:nvSpPr>
        <p:spPr>
          <a:xfrm>
            <a:off x="4983480" y="2807208"/>
            <a:ext cx="6629400" cy="566928"/>
          </a:xfrm>
          <a:prstGeom prst="rect">
            <a:avLst/>
          </a:prstGeom>
          <a:noFill/>
          <a:ln/>
        </p:spPr>
        <p:txBody>
          <a:bodyPr wrap="square" lIns="0" tIns="0" rIns="0" bIns="0" rtlCol="0" anchor="ctr"/>
          <a:lstStyle/>
          <a:p>
            <a:pPr indent="0" marL="0">
              <a:lnSpc>
                <a:spcPct val="106000"/>
              </a:lnSpc>
              <a:buNone/>
            </a:pPr>
            <a:r>
              <a:rPr lang="en-US" sz="880" dirty="0">
                <a:solidFill>
                  <a:srgbClr val="1B2733"/>
                </a:solidFill>
                <a:latin typeface="Calibri" pitchFamily="34" charset="0"/>
                <a:ea typeface="Calibri" pitchFamily="34" charset="-122"/>
                <a:cs typeface="Calibri" pitchFamily="34" charset="-120"/>
              </a:rPr>
              <a:t>Mining inputs - fuel, reagents, labour, contractors - are competitive markets. Labour tightness in the Pilbara is the main exception.</a:t>
            </a:r>
            <a:endParaRPr lang="en-US" sz="880" dirty="0"/>
          </a:p>
        </p:txBody>
      </p:sp>
      <p:sp>
        <p:nvSpPr>
          <p:cNvPr id="19" name="Shape 17"/>
          <p:cNvSpPr/>
          <p:nvPr/>
        </p:nvSpPr>
        <p:spPr>
          <a:xfrm>
            <a:off x="411480" y="3493008"/>
            <a:ext cx="11375136" cy="658368"/>
          </a:xfrm>
          <a:prstGeom prst="rect">
            <a:avLst/>
          </a:prstGeom>
          <a:solidFill>
            <a:srgbClr val="F7F9FB"/>
          </a:solidFill>
          <a:ln w="7620">
            <a:solidFill>
              <a:srgbClr val="D3DCE5"/>
            </a:solidFill>
            <a:prstDash val="solid"/>
          </a:ln>
        </p:spPr>
      </p:sp>
      <p:sp>
        <p:nvSpPr>
          <p:cNvPr id="20" name="Text 18"/>
          <p:cNvSpPr txBox="1"/>
          <p:nvPr/>
        </p:nvSpPr>
        <p:spPr>
          <a:xfrm>
            <a:off x="576072" y="3493008"/>
            <a:ext cx="2788920" cy="658368"/>
          </a:xfrm>
          <a:prstGeom prst="rect">
            <a:avLst/>
          </a:prstGeom>
          <a:noFill/>
          <a:ln/>
        </p:spPr>
        <p:txBody>
          <a:bodyPr wrap="square" lIns="0" tIns="0" rIns="0" bIns="0" rtlCol="0" anchor="ctr"/>
          <a:lstStyle/>
          <a:p>
            <a:pPr indent="0" marL="0">
              <a:buNone/>
            </a:pPr>
            <a:r>
              <a:rPr lang="en-US" sz="1050" b="1" dirty="0">
                <a:solidFill>
                  <a:srgbClr val="10233A"/>
                </a:solidFill>
                <a:latin typeface="Calibri" pitchFamily="34" charset="0"/>
                <a:ea typeface="Calibri" pitchFamily="34" charset="-122"/>
                <a:cs typeface="Calibri" pitchFamily="34" charset="-120"/>
              </a:rPr>
              <a:t>Buyer power</a:t>
            </a:r>
            <a:endParaRPr lang="en-US" sz="1050" dirty="0"/>
          </a:p>
        </p:txBody>
      </p:sp>
      <p:sp>
        <p:nvSpPr>
          <p:cNvPr id="21" name="Text 19"/>
          <p:cNvSpPr txBox="1"/>
          <p:nvPr/>
        </p:nvSpPr>
        <p:spPr>
          <a:xfrm>
            <a:off x="3429000" y="3493008"/>
            <a:ext cx="1417320" cy="658368"/>
          </a:xfrm>
          <a:prstGeom prst="rect">
            <a:avLst/>
          </a:prstGeom>
          <a:noFill/>
          <a:ln/>
        </p:spPr>
        <p:txBody>
          <a:bodyPr wrap="square" lIns="0" tIns="0" rIns="0" bIns="0" rtlCol="0" anchor="ctr"/>
          <a:lstStyle/>
          <a:p>
            <a:pPr algn="ctr" indent="0" marL="0">
              <a:buNone/>
            </a:pPr>
            <a:r>
              <a:rPr lang="en-US" sz="1000" b="1" dirty="0">
                <a:solidFill>
                  <a:srgbClr val="A3282C"/>
                </a:solidFill>
                <a:latin typeface="Calibri" pitchFamily="34" charset="0"/>
                <a:ea typeface="Calibri" pitchFamily="34" charset="-122"/>
                <a:cs typeface="Calibri" pitchFamily="34" charset="-120"/>
              </a:rPr>
              <a:t>HIGH</a:t>
            </a:r>
            <a:endParaRPr lang="en-US" sz="1000" dirty="0"/>
          </a:p>
        </p:txBody>
      </p:sp>
      <p:sp>
        <p:nvSpPr>
          <p:cNvPr id="22" name="Text 20"/>
          <p:cNvSpPr txBox="1"/>
          <p:nvPr/>
        </p:nvSpPr>
        <p:spPr>
          <a:xfrm>
            <a:off x="4983480" y="3538728"/>
            <a:ext cx="6629400" cy="566928"/>
          </a:xfrm>
          <a:prstGeom prst="rect">
            <a:avLst/>
          </a:prstGeom>
          <a:noFill/>
          <a:ln/>
        </p:spPr>
        <p:txBody>
          <a:bodyPr wrap="square" lIns="0" tIns="0" rIns="0" bIns="0" rtlCol="0" anchor="ctr"/>
          <a:lstStyle/>
          <a:p>
            <a:pPr indent="0" marL="0">
              <a:lnSpc>
                <a:spcPct val="106000"/>
              </a:lnSpc>
              <a:buNone/>
            </a:pPr>
            <a:r>
              <a:rPr lang="en-US" sz="880" dirty="0">
                <a:solidFill>
                  <a:srgbClr val="1B2733"/>
                </a:solidFill>
                <a:latin typeface="Calibri" pitchFamily="34" charset="0"/>
                <a:ea typeface="Calibri" pitchFamily="34" charset="-122"/>
                <a:cs typeface="Calibri" pitchFamily="34" charset="-120"/>
              </a:rPr>
              <a:t>Concentrated Chinese converters buy most of the world's spodumene at prevailing market prices. This is the force PLS's downstream strategy is designed to reduce.</a:t>
            </a:r>
            <a:endParaRPr lang="en-US" sz="880" dirty="0"/>
          </a:p>
        </p:txBody>
      </p:sp>
      <p:sp>
        <p:nvSpPr>
          <p:cNvPr id="23" name="Shape 21"/>
          <p:cNvSpPr/>
          <p:nvPr/>
        </p:nvSpPr>
        <p:spPr>
          <a:xfrm>
            <a:off x="411480" y="4224528"/>
            <a:ext cx="11375136" cy="658368"/>
          </a:xfrm>
          <a:prstGeom prst="rect">
            <a:avLst/>
          </a:prstGeom>
          <a:solidFill>
            <a:srgbClr val="FFFFFF"/>
          </a:solidFill>
          <a:ln w="7620">
            <a:solidFill>
              <a:srgbClr val="D3DCE5"/>
            </a:solidFill>
            <a:prstDash val="solid"/>
          </a:ln>
        </p:spPr>
      </p:sp>
      <p:sp>
        <p:nvSpPr>
          <p:cNvPr id="24" name="Text 22"/>
          <p:cNvSpPr txBox="1"/>
          <p:nvPr/>
        </p:nvSpPr>
        <p:spPr>
          <a:xfrm>
            <a:off x="576072" y="4224528"/>
            <a:ext cx="2788920" cy="658368"/>
          </a:xfrm>
          <a:prstGeom prst="rect">
            <a:avLst/>
          </a:prstGeom>
          <a:noFill/>
          <a:ln/>
        </p:spPr>
        <p:txBody>
          <a:bodyPr wrap="square" lIns="0" tIns="0" rIns="0" bIns="0" rtlCol="0" anchor="ctr"/>
          <a:lstStyle/>
          <a:p>
            <a:pPr indent="0" marL="0">
              <a:buNone/>
            </a:pPr>
            <a:r>
              <a:rPr lang="en-US" sz="1050" b="1" dirty="0">
                <a:solidFill>
                  <a:srgbClr val="10233A"/>
                </a:solidFill>
                <a:latin typeface="Calibri" pitchFamily="34" charset="0"/>
                <a:ea typeface="Calibri" pitchFamily="34" charset="-122"/>
                <a:cs typeface="Calibri" pitchFamily="34" charset="-120"/>
              </a:rPr>
              <a:t>Threat of substitutes</a:t>
            </a:r>
            <a:endParaRPr lang="en-US" sz="1050" dirty="0"/>
          </a:p>
        </p:txBody>
      </p:sp>
      <p:sp>
        <p:nvSpPr>
          <p:cNvPr id="25" name="Text 23"/>
          <p:cNvSpPr txBox="1"/>
          <p:nvPr/>
        </p:nvSpPr>
        <p:spPr>
          <a:xfrm>
            <a:off x="3429000" y="4224528"/>
            <a:ext cx="1417320" cy="658368"/>
          </a:xfrm>
          <a:prstGeom prst="rect">
            <a:avLst/>
          </a:prstGeom>
          <a:noFill/>
          <a:ln/>
        </p:spPr>
        <p:txBody>
          <a:bodyPr wrap="square" lIns="0" tIns="0" rIns="0" bIns="0" rtlCol="0" anchor="ctr"/>
          <a:lstStyle/>
          <a:p>
            <a:pPr algn="ctr" indent="0" marL="0">
              <a:buNone/>
            </a:pPr>
            <a:r>
              <a:rPr lang="en-US" sz="1000" b="1" dirty="0">
                <a:solidFill>
                  <a:srgbClr val="C2610A"/>
                </a:solidFill>
                <a:latin typeface="Calibri" pitchFamily="34" charset="0"/>
                <a:ea typeface="Calibri" pitchFamily="34" charset="-122"/>
                <a:cs typeface="Calibri" pitchFamily="34" charset="-120"/>
              </a:rPr>
              <a:t>LOW to MEDIUM</a:t>
            </a:r>
            <a:endParaRPr lang="en-US" sz="1000" dirty="0"/>
          </a:p>
        </p:txBody>
      </p:sp>
      <p:sp>
        <p:nvSpPr>
          <p:cNvPr id="26" name="Text 24"/>
          <p:cNvSpPr txBox="1"/>
          <p:nvPr/>
        </p:nvSpPr>
        <p:spPr>
          <a:xfrm>
            <a:off x="4983480" y="4270248"/>
            <a:ext cx="6629400" cy="566928"/>
          </a:xfrm>
          <a:prstGeom prst="rect">
            <a:avLst/>
          </a:prstGeom>
          <a:noFill/>
          <a:ln/>
        </p:spPr>
        <p:txBody>
          <a:bodyPr wrap="square" lIns="0" tIns="0" rIns="0" bIns="0" rtlCol="0" anchor="ctr"/>
          <a:lstStyle/>
          <a:p>
            <a:pPr indent="0" marL="0">
              <a:lnSpc>
                <a:spcPct val="106000"/>
              </a:lnSpc>
              <a:buNone/>
            </a:pPr>
            <a:r>
              <a:rPr lang="en-US" sz="880" dirty="0">
                <a:solidFill>
                  <a:srgbClr val="1B2733"/>
                </a:solidFill>
                <a:latin typeface="Calibri" pitchFamily="34" charset="0"/>
                <a:ea typeface="Calibri" pitchFamily="34" charset="-122"/>
                <a:cs typeface="Calibri" pitchFamily="34" charset="-120"/>
              </a:rPr>
              <a:t>Sodium-ion in stationary storage is the credible one, and it is late-decade. Solid-state is more likely lithium-positive.</a:t>
            </a:r>
            <a:endParaRPr lang="en-US" sz="880" dirty="0"/>
          </a:p>
        </p:txBody>
      </p:sp>
      <p:sp>
        <p:nvSpPr>
          <p:cNvPr id="27" name="Shape 25"/>
          <p:cNvSpPr/>
          <p:nvPr/>
        </p:nvSpPr>
        <p:spPr>
          <a:xfrm>
            <a:off x="411480" y="5065776"/>
            <a:ext cx="11375136" cy="969264"/>
          </a:xfrm>
          <a:prstGeom prst="rect">
            <a:avLst/>
          </a:prstGeom>
          <a:solidFill>
            <a:srgbClr val="EEF2F6"/>
          </a:solidFill>
          <a:ln w="9525">
            <a:solidFill>
              <a:srgbClr val="D3DCE5"/>
            </a:solidFill>
            <a:prstDash val="solid"/>
          </a:ln>
        </p:spPr>
      </p:sp>
      <p:sp>
        <p:nvSpPr>
          <p:cNvPr id="28" name="Text 26"/>
          <p:cNvSpPr txBox="1"/>
          <p:nvPr/>
        </p:nvSpPr>
        <p:spPr>
          <a:xfrm>
            <a:off x="576072" y="5193792"/>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conclusion that follows</a:t>
            </a:r>
            <a:endParaRPr lang="en-US" sz="1150" dirty="0"/>
          </a:p>
        </p:txBody>
      </p:sp>
      <p:sp>
        <p:nvSpPr>
          <p:cNvPr id="29" name="Text 27"/>
          <p:cNvSpPr txBox="1"/>
          <p:nvPr/>
        </p:nvSpPr>
        <p:spPr>
          <a:xfrm>
            <a:off x="576072" y="5522976"/>
            <a:ext cx="11045952" cy="420624"/>
          </a:xfrm>
          <a:prstGeom prst="rect">
            <a:avLst/>
          </a:prstGeom>
          <a:noFill/>
          <a:ln/>
        </p:spPr>
        <p:txBody>
          <a:bodyPr wrap="square" lIns="0" tIns="0" rIns="0" bIns="0" rtlCol="0" anchor="t"/>
          <a:lstStyle/>
          <a:p>
            <a:pPr indent="0" marL="0">
              <a:lnSpc>
                <a:spcPct val="105000"/>
              </a:lnSpc>
              <a:buNone/>
            </a:pPr>
            <a:r>
              <a:rPr lang="en-US" sz="860" dirty="0">
                <a:solidFill>
                  <a:srgbClr val="1B2733"/>
                </a:solidFill>
                <a:latin typeface="Calibri" pitchFamily="34" charset="0"/>
                <a:ea typeface="Calibri" pitchFamily="34" charset="-122"/>
                <a:cs typeface="Calibri" pitchFamily="34" charset="-120"/>
              </a:rPr>
              <a:t>Four of the five forces are unattractive or neutral, and the industry structure offers no product differentiation. In an industry like that, only two positions survive a full cycle: the lowest-cost quartile, or a position that changes what the buyer is buying. PLS is attempting both simultaneously, which is why we own it rather than a diversified major with a lithium division.</a:t>
            </a:r>
            <a:endParaRPr lang="en-US" sz="860" dirty="0"/>
          </a:p>
        </p:txBody>
      </p:sp>
      <p:sp>
        <p:nvSpPr>
          <p:cNvPr id="30" name="Text 28"/>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Framework: Michael Porter, 'How Competitive Forces Shape Strategy', Harvard Business Review, 1979. Ratings are the team's assessment.</a:t>
            </a:r>
            <a:endParaRPr lang="en-US" sz="720" dirty="0"/>
          </a:p>
        </p:txBody>
      </p:sp>
      <p:sp>
        <p:nvSpPr>
          <p:cNvPr id="31" name="Text 29"/>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C1</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We ran the test honestly. A commodity producer does not have many durable powers, and pretending otherwise would be the easiest thing on this deck to puncture.</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C2  Strategic frameworks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1375136" cy="475488"/>
          </a:xfrm>
          <a:prstGeom prst="rect">
            <a:avLst/>
          </a:prstGeom>
          <a:solidFill>
            <a:srgbClr val="FFFFFF"/>
          </a:solidFill>
          <a:ln w="7620">
            <a:solidFill>
              <a:srgbClr val="D3DCE5"/>
            </a:solidFill>
            <a:prstDash val="solid"/>
          </a:ln>
        </p:spPr>
      </p:sp>
      <p:sp>
        <p:nvSpPr>
          <p:cNvPr id="8" name="Text 6"/>
          <p:cNvSpPr txBox="1"/>
          <p:nvPr/>
        </p:nvSpPr>
        <p:spPr>
          <a:xfrm>
            <a:off x="576072" y="1298448"/>
            <a:ext cx="2423160" cy="475488"/>
          </a:xfrm>
          <a:prstGeom prst="rect">
            <a:avLst/>
          </a:prstGeom>
          <a:noFill/>
          <a:ln/>
        </p:spPr>
        <p:txBody>
          <a:bodyPr wrap="square" lIns="0" tIns="0" rIns="0" bIns="0" rtlCol="0" anchor="ctr"/>
          <a:lstStyle/>
          <a:p>
            <a:pPr indent="0" marL="0">
              <a:buNone/>
            </a:pPr>
            <a:r>
              <a:rPr lang="en-US" sz="1000" b="1" dirty="0">
                <a:solidFill>
                  <a:srgbClr val="10233A"/>
                </a:solidFill>
                <a:latin typeface="Calibri" pitchFamily="34" charset="0"/>
                <a:ea typeface="Calibri" pitchFamily="34" charset="-122"/>
                <a:cs typeface="Calibri" pitchFamily="34" charset="-120"/>
              </a:rPr>
              <a:t>Scale economies</a:t>
            </a:r>
            <a:endParaRPr lang="en-US" sz="1000" dirty="0"/>
          </a:p>
        </p:txBody>
      </p:sp>
      <p:sp>
        <p:nvSpPr>
          <p:cNvPr id="9" name="Text 7"/>
          <p:cNvSpPr txBox="1"/>
          <p:nvPr/>
        </p:nvSpPr>
        <p:spPr>
          <a:xfrm>
            <a:off x="3063240" y="1298448"/>
            <a:ext cx="1143000" cy="475488"/>
          </a:xfrm>
          <a:prstGeom prst="rect">
            <a:avLst/>
          </a:prstGeom>
          <a:noFill/>
          <a:ln/>
        </p:spPr>
        <p:txBody>
          <a:bodyPr wrap="square" lIns="0" tIns="0" rIns="0" bIns="0" rtlCol="0" anchor="ctr"/>
          <a:lstStyle/>
          <a:p>
            <a:pPr algn="ctr" indent="0" marL="0">
              <a:buNone/>
            </a:pPr>
            <a:r>
              <a:rPr lang="en-US" sz="950" b="1" dirty="0">
                <a:solidFill>
                  <a:srgbClr val="C2610A"/>
                </a:solidFill>
                <a:latin typeface="Calibri" pitchFamily="34" charset="0"/>
                <a:ea typeface="Calibri" pitchFamily="34" charset="-122"/>
                <a:cs typeface="Calibri" pitchFamily="34" charset="-120"/>
              </a:rPr>
              <a:t>PARTIAL</a:t>
            </a:r>
            <a:endParaRPr lang="en-US" sz="950" dirty="0"/>
          </a:p>
        </p:txBody>
      </p:sp>
      <p:sp>
        <p:nvSpPr>
          <p:cNvPr id="10" name="Text 8"/>
          <p:cNvSpPr txBox="1"/>
          <p:nvPr/>
        </p:nvSpPr>
        <p:spPr>
          <a:xfrm>
            <a:off x="4343400" y="1325880"/>
            <a:ext cx="7269480" cy="420624"/>
          </a:xfrm>
          <a:prstGeom prst="rect">
            <a:avLst/>
          </a:prstGeom>
          <a:noFill/>
          <a:ln/>
        </p:spPr>
        <p:txBody>
          <a:bodyPr wrap="square" lIns="0" tIns="0" rIns="0" bIns="0" rtlCol="0" anchor="ctr"/>
          <a:lstStyle/>
          <a:p>
            <a:pPr indent="0" marL="0">
              <a:lnSpc>
                <a:spcPct val="104000"/>
              </a:lnSpc>
              <a:buNone/>
            </a:pPr>
            <a:r>
              <a:rPr lang="en-US" sz="860" dirty="0">
                <a:solidFill>
                  <a:srgbClr val="1B2733"/>
                </a:solidFill>
                <a:latin typeface="Calibri" pitchFamily="34" charset="0"/>
                <a:ea typeface="Calibri" pitchFamily="34" charset="-122"/>
                <a:cs typeface="Calibri" pitchFamily="34" charset="-120"/>
              </a:rPr>
              <a:t>446Mt at 1.28% Li2O and 17.5% mass pull give real fixed-cost dilution. But scale in mining is replicable by anyone with a comparable orebody.</a:t>
            </a:r>
            <a:endParaRPr lang="en-US" sz="860" dirty="0"/>
          </a:p>
        </p:txBody>
      </p:sp>
      <p:sp>
        <p:nvSpPr>
          <p:cNvPr id="11" name="Shape 9"/>
          <p:cNvSpPr/>
          <p:nvPr/>
        </p:nvSpPr>
        <p:spPr>
          <a:xfrm>
            <a:off x="411480" y="1828800"/>
            <a:ext cx="11375136" cy="475488"/>
          </a:xfrm>
          <a:prstGeom prst="rect">
            <a:avLst/>
          </a:prstGeom>
          <a:solidFill>
            <a:srgbClr val="F7F9FB"/>
          </a:solidFill>
          <a:ln w="7620">
            <a:solidFill>
              <a:srgbClr val="D3DCE5"/>
            </a:solidFill>
            <a:prstDash val="solid"/>
          </a:ln>
        </p:spPr>
      </p:sp>
      <p:sp>
        <p:nvSpPr>
          <p:cNvPr id="12" name="Text 10"/>
          <p:cNvSpPr txBox="1"/>
          <p:nvPr/>
        </p:nvSpPr>
        <p:spPr>
          <a:xfrm>
            <a:off x="576072" y="1828800"/>
            <a:ext cx="2423160" cy="475488"/>
          </a:xfrm>
          <a:prstGeom prst="rect">
            <a:avLst/>
          </a:prstGeom>
          <a:noFill/>
          <a:ln/>
        </p:spPr>
        <p:txBody>
          <a:bodyPr wrap="square" lIns="0" tIns="0" rIns="0" bIns="0" rtlCol="0" anchor="ctr"/>
          <a:lstStyle/>
          <a:p>
            <a:pPr indent="0" marL="0">
              <a:buNone/>
            </a:pPr>
            <a:r>
              <a:rPr lang="en-US" sz="1000" b="1" dirty="0">
                <a:solidFill>
                  <a:srgbClr val="10233A"/>
                </a:solidFill>
                <a:latin typeface="Calibri" pitchFamily="34" charset="0"/>
                <a:ea typeface="Calibri" pitchFamily="34" charset="-122"/>
                <a:cs typeface="Calibri" pitchFamily="34" charset="-120"/>
              </a:rPr>
              <a:t>Network economies</a:t>
            </a:r>
            <a:endParaRPr lang="en-US" sz="1000" dirty="0"/>
          </a:p>
        </p:txBody>
      </p:sp>
      <p:sp>
        <p:nvSpPr>
          <p:cNvPr id="13" name="Text 11"/>
          <p:cNvSpPr txBox="1"/>
          <p:nvPr/>
        </p:nvSpPr>
        <p:spPr>
          <a:xfrm>
            <a:off x="3063240" y="1828800"/>
            <a:ext cx="1143000" cy="475488"/>
          </a:xfrm>
          <a:prstGeom prst="rect">
            <a:avLst/>
          </a:prstGeom>
          <a:noFill/>
          <a:ln/>
        </p:spPr>
        <p:txBody>
          <a:bodyPr wrap="square" lIns="0" tIns="0" rIns="0" bIns="0" rtlCol="0" anchor="ctr"/>
          <a:lstStyle/>
          <a:p>
            <a:pPr algn="ctr" indent="0" marL="0">
              <a:buNone/>
            </a:pPr>
            <a:r>
              <a:rPr lang="en-US" sz="950" b="1" dirty="0">
                <a:solidFill>
                  <a:srgbClr val="A3282C"/>
                </a:solidFill>
                <a:latin typeface="Calibri" pitchFamily="34" charset="0"/>
                <a:ea typeface="Calibri" pitchFamily="34" charset="-122"/>
                <a:cs typeface="Calibri" pitchFamily="34" charset="-120"/>
              </a:rPr>
              <a:t>NO</a:t>
            </a:r>
            <a:endParaRPr lang="en-US" sz="950" dirty="0"/>
          </a:p>
        </p:txBody>
      </p:sp>
      <p:sp>
        <p:nvSpPr>
          <p:cNvPr id="14" name="Text 12"/>
          <p:cNvSpPr txBox="1"/>
          <p:nvPr/>
        </p:nvSpPr>
        <p:spPr>
          <a:xfrm>
            <a:off x="4343400" y="1856232"/>
            <a:ext cx="7269480" cy="420624"/>
          </a:xfrm>
          <a:prstGeom prst="rect">
            <a:avLst/>
          </a:prstGeom>
          <a:noFill/>
          <a:ln/>
        </p:spPr>
        <p:txBody>
          <a:bodyPr wrap="square" lIns="0" tIns="0" rIns="0" bIns="0" rtlCol="0" anchor="ctr"/>
          <a:lstStyle/>
          <a:p>
            <a:pPr indent="0" marL="0">
              <a:lnSpc>
                <a:spcPct val="104000"/>
              </a:lnSpc>
              <a:buNone/>
            </a:pPr>
            <a:r>
              <a:rPr lang="en-US" sz="860" dirty="0">
                <a:solidFill>
                  <a:srgbClr val="1B2733"/>
                </a:solidFill>
                <a:latin typeface="Calibri" pitchFamily="34" charset="0"/>
                <a:ea typeface="Calibri" pitchFamily="34" charset="-122"/>
                <a:cs typeface="Calibri" pitchFamily="34" charset="-120"/>
              </a:rPr>
              <a:t>Spodumene has no network effect. A tonne is worth the same to the tenth customer as the first.</a:t>
            </a:r>
            <a:endParaRPr lang="en-US" sz="860" dirty="0"/>
          </a:p>
        </p:txBody>
      </p:sp>
      <p:sp>
        <p:nvSpPr>
          <p:cNvPr id="15" name="Shape 13"/>
          <p:cNvSpPr/>
          <p:nvPr/>
        </p:nvSpPr>
        <p:spPr>
          <a:xfrm>
            <a:off x="411480" y="2359152"/>
            <a:ext cx="11375136" cy="475488"/>
          </a:xfrm>
          <a:prstGeom prst="rect">
            <a:avLst/>
          </a:prstGeom>
          <a:solidFill>
            <a:srgbClr val="FFFFFF"/>
          </a:solidFill>
          <a:ln w="7620">
            <a:solidFill>
              <a:srgbClr val="D3DCE5"/>
            </a:solidFill>
            <a:prstDash val="solid"/>
          </a:ln>
        </p:spPr>
      </p:sp>
      <p:sp>
        <p:nvSpPr>
          <p:cNvPr id="16" name="Text 14"/>
          <p:cNvSpPr txBox="1"/>
          <p:nvPr/>
        </p:nvSpPr>
        <p:spPr>
          <a:xfrm>
            <a:off x="576072" y="2359152"/>
            <a:ext cx="2423160" cy="475488"/>
          </a:xfrm>
          <a:prstGeom prst="rect">
            <a:avLst/>
          </a:prstGeom>
          <a:noFill/>
          <a:ln/>
        </p:spPr>
        <p:txBody>
          <a:bodyPr wrap="square" lIns="0" tIns="0" rIns="0" bIns="0" rtlCol="0" anchor="ctr"/>
          <a:lstStyle/>
          <a:p>
            <a:pPr indent="0" marL="0">
              <a:buNone/>
            </a:pPr>
            <a:r>
              <a:rPr lang="en-US" sz="1000" b="1" dirty="0">
                <a:solidFill>
                  <a:srgbClr val="10233A"/>
                </a:solidFill>
                <a:latin typeface="Calibri" pitchFamily="34" charset="0"/>
                <a:ea typeface="Calibri" pitchFamily="34" charset="-122"/>
                <a:cs typeface="Calibri" pitchFamily="34" charset="-120"/>
              </a:rPr>
              <a:t>Counter-positioning</a:t>
            </a:r>
            <a:endParaRPr lang="en-US" sz="1000" dirty="0"/>
          </a:p>
        </p:txBody>
      </p:sp>
      <p:sp>
        <p:nvSpPr>
          <p:cNvPr id="17" name="Text 15"/>
          <p:cNvSpPr txBox="1"/>
          <p:nvPr/>
        </p:nvSpPr>
        <p:spPr>
          <a:xfrm>
            <a:off x="3063240" y="2359152"/>
            <a:ext cx="1143000" cy="475488"/>
          </a:xfrm>
          <a:prstGeom prst="rect">
            <a:avLst/>
          </a:prstGeom>
          <a:noFill/>
          <a:ln/>
        </p:spPr>
        <p:txBody>
          <a:bodyPr wrap="square" lIns="0" tIns="0" rIns="0" bIns="0" rtlCol="0" anchor="ctr"/>
          <a:lstStyle/>
          <a:p>
            <a:pPr algn="ctr" indent="0" marL="0">
              <a:buNone/>
            </a:pPr>
            <a:r>
              <a:rPr lang="en-US" sz="950" b="1" dirty="0">
                <a:solidFill>
                  <a:srgbClr val="C2610A"/>
                </a:solidFill>
                <a:latin typeface="Calibri" pitchFamily="34" charset="0"/>
                <a:ea typeface="Calibri" pitchFamily="34" charset="-122"/>
                <a:cs typeface="Calibri" pitchFamily="34" charset="-120"/>
              </a:rPr>
              <a:t>PARTIAL</a:t>
            </a:r>
            <a:endParaRPr lang="en-US" sz="950" dirty="0"/>
          </a:p>
        </p:txBody>
      </p:sp>
      <p:sp>
        <p:nvSpPr>
          <p:cNvPr id="18" name="Text 16"/>
          <p:cNvSpPr txBox="1"/>
          <p:nvPr/>
        </p:nvSpPr>
        <p:spPr>
          <a:xfrm>
            <a:off x="4343400" y="2386584"/>
            <a:ext cx="7269480" cy="420624"/>
          </a:xfrm>
          <a:prstGeom prst="rect">
            <a:avLst/>
          </a:prstGeom>
          <a:noFill/>
          <a:ln/>
        </p:spPr>
        <p:txBody>
          <a:bodyPr wrap="square" lIns="0" tIns="0" rIns="0" bIns="0" rtlCol="0" anchor="ctr"/>
          <a:lstStyle/>
          <a:p>
            <a:pPr indent="0" marL="0">
              <a:lnSpc>
                <a:spcPct val="104000"/>
              </a:lnSpc>
              <a:buNone/>
            </a:pPr>
            <a:r>
              <a:rPr lang="en-US" sz="860" dirty="0">
                <a:solidFill>
                  <a:srgbClr val="1B2733"/>
                </a:solidFill>
                <a:latin typeface="Calibri" pitchFamily="34" charset="0"/>
                <a:ea typeface="Calibri" pitchFamily="34" charset="-122"/>
                <a:cs typeface="Calibri" pitchFamily="34" charset="-120"/>
              </a:rPr>
              <a:t>Electric calcination is a business model Chinese converters cannot easily copy without stranding fossil-fired kilns. That is the closest thing here to counter-positioning.</a:t>
            </a:r>
            <a:endParaRPr lang="en-US" sz="860" dirty="0"/>
          </a:p>
        </p:txBody>
      </p:sp>
      <p:sp>
        <p:nvSpPr>
          <p:cNvPr id="19" name="Shape 17"/>
          <p:cNvSpPr/>
          <p:nvPr/>
        </p:nvSpPr>
        <p:spPr>
          <a:xfrm>
            <a:off x="411480" y="2889504"/>
            <a:ext cx="11375136" cy="475488"/>
          </a:xfrm>
          <a:prstGeom prst="rect">
            <a:avLst/>
          </a:prstGeom>
          <a:solidFill>
            <a:srgbClr val="F7F9FB"/>
          </a:solidFill>
          <a:ln w="7620">
            <a:solidFill>
              <a:srgbClr val="D3DCE5"/>
            </a:solidFill>
            <a:prstDash val="solid"/>
          </a:ln>
        </p:spPr>
      </p:sp>
      <p:sp>
        <p:nvSpPr>
          <p:cNvPr id="20" name="Text 18"/>
          <p:cNvSpPr txBox="1"/>
          <p:nvPr/>
        </p:nvSpPr>
        <p:spPr>
          <a:xfrm>
            <a:off x="576072" y="2889504"/>
            <a:ext cx="2423160" cy="475488"/>
          </a:xfrm>
          <a:prstGeom prst="rect">
            <a:avLst/>
          </a:prstGeom>
          <a:noFill/>
          <a:ln/>
        </p:spPr>
        <p:txBody>
          <a:bodyPr wrap="square" lIns="0" tIns="0" rIns="0" bIns="0" rtlCol="0" anchor="ctr"/>
          <a:lstStyle/>
          <a:p>
            <a:pPr indent="0" marL="0">
              <a:buNone/>
            </a:pPr>
            <a:r>
              <a:rPr lang="en-US" sz="1000" b="1" dirty="0">
                <a:solidFill>
                  <a:srgbClr val="10233A"/>
                </a:solidFill>
                <a:latin typeface="Calibri" pitchFamily="34" charset="0"/>
                <a:ea typeface="Calibri" pitchFamily="34" charset="-122"/>
                <a:cs typeface="Calibri" pitchFamily="34" charset="-120"/>
              </a:rPr>
              <a:t>Switching costs</a:t>
            </a:r>
            <a:endParaRPr lang="en-US" sz="1000" dirty="0"/>
          </a:p>
        </p:txBody>
      </p:sp>
      <p:sp>
        <p:nvSpPr>
          <p:cNvPr id="21" name="Text 19"/>
          <p:cNvSpPr txBox="1"/>
          <p:nvPr/>
        </p:nvSpPr>
        <p:spPr>
          <a:xfrm>
            <a:off x="3063240" y="2889504"/>
            <a:ext cx="1143000" cy="475488"/>
          </a:xfrm>
          <a:prstGeom prst="rect">
            <a:avLst/>
          </a:prstGeom>
          <a:noFill/>
          <a:ln/>
        </p:spPr>
        <p:txBody>
          <a:bodyPr wrap="square" lIns="0" tIns="0" rIns="0" bIns="0" rtlCol="0" anchor="ctr"/>
          <a:lstStyle/>
          <a:p>
            <a:pPr algn="ctr" indent="0" marL="0">
              <a:buNone/>
            </a:pPr>
            <a:r>
              <a:rPr lang="en-US" sz="950" b="1" dirty="0">
                <a:solidFill>
                  <a:srgbClr val="A3282C"/>
                </a:solidFill>
                <a:latin typeface="Calibri" pitchFamily="34" charset="0"/>
                <a:ea typeface="Calibri" pitchFamily="34" charset="-122"/>
                <a:cs typeface="Calibri" pitchFamily="34" charset="-120"/>
              </a:rPr>
              <a:t>NO</a:t>
            </a:r>
            <a:endParaRPr lang="en-US" sz="950" dirty="0"/>
          </a:p>
        </p:txBody>
      </p:sp>
      <p:sp>
        <p:nvSpPr>
          <p:cNvPr id="22" name="Text 20"/>
          <p:cNvSpPr txBox="1"/>
          <p:nvPr/>
        </p:nvSpPr>
        <p:spPr>
          <a:xfrm>
            <a:off x="4343400" y="2916936"/>
            <a:ext cx="7269480" cy="420624"/>
          </a:xfrm>
          <a:prstGeom prst="rect">
            <a:avLst/>
          </a:prstGeom>
          <a:noFill/>
          <a:ln/>
        </p:spPr>
        <p:txBody>
          <a:bodyPr wrap="square" lIns="0" tIns="0" rIns="0" bIns="0" rtlCol="0" anchor="ctr"/>
          <a:lstStyle/>
          <a:p>
            <a:pPr indent="0" marL="0">
              <a:lnSpc>
                <a:spcPct val="104000"/>
              </a:lnSpc>
              <a:buNone/>
            </a:pPr>
            <a:r>
              <a:rPr lang="en-US" sz="860" dirty="0">
                <a:solidFill>
                  <a:srgbClr val="1B2733"/>
                </a:solidFill>
                <a:latin typeface="Calibri" pitchFamily="34" charset="0"/>
                <a:ea typeface="Calibri" pitchFamily="34" charset="-122"/>
                <a:cs typeface="Calibri" pitchFamily="34" charset="-120"/>
              </a:rPr>
              <a:t>Offtakes are priced at prevailing market. Customers can and do switch suppliers between cargoes.</a:t>
            </a:r>
            <a:endParaRPr lang="en-US" sz="860" dirty="0"/>
          </a:p>
        </p:txBody>
      </p:sp>
      <p:sp>
        <p:nvSpPr>
          <p:cNvPr id="23" name="Shape 21"/>
          <p:cNvSpPr/>
          <p:nvPr/>
        </p:nvSpPr>
        <p:spPr>
          <a:xfrm>
            <a:off x="411480" y="3419856"/>
            <a:ext cx="11375136" cy="475488"/>
          </a:xfrm>
          <a:prstGeom prst="rect">
            <a:avLst/>
          </a:prstGeom>
          <a:solidFill>
            <a:srgbClr val="FFFFFF"/>
          </a:solidFill>
          <a:ln w="7620">
            <a:solidFill>
              <a:srgbClr val="D3DCE5"/>
            </a:solidFill>
            <a:prstDash val="solid"/>
          </a:ln>
        </p:spPr>
      </p:sp>
      <p:sp>
        <p:nvSpPr>
          <p:cNvPr id="24" name="Text 22"/>
          <p:cNvSpPr txBox="1"/>
          <p:nvPr/>
        </p:nvSpPr>
        <p:spPr>
          <a:xfrm>
            <a:off x="576072" y="3419856"/>
            <a:ext cx="2423160" cy="475488"/>
          </a:xfrm>
          <a:prstGeom prst="rect">
            <a:avLst/>
          </a:prstGeom>
          <a:noFill/>
          <a:ln/>
        </p:spPr>
        <p:txBody>
          <a:bodyPr wrap="square" lIns="0" tIns="0" rIns="0" bIns="0" rtlCol="0" anchor="ctr"/>
          <a:lstStyle/>
          <a:p>
            <a:pPr indent="0" marL="0">
              <a:buNone/>
            </a:pPr>
            <a:r>
              <a:rPr lang="en-US" sz="1000" b="1" dirty="0">
                <a:solidFill>
                  <a:srgbClr val="10233A"/>
                </a:solidFill>
                <a:latin typeface="Calibri" pitchFamily="34" charset="0"/>
                <a:ea typeface="Calibri" pitchFamily="34" charset="-122"/>
                <a:cs typeface="Calibri" pitchFamily="34" charset="-120"/>
              </a:rPr>
              <a:t>Branding</a:t>
            </a:r>
            <a:endParaRPr lang="en-US" sz="1000" dirty="0"/>
          </a:p>
        </p:txBody>
      </p:sp>
      <p:sp>
        <p:nvSpPr>
          <p:cNvPr id="25" name="Text 23"/>
          <p:cNvSpPr txBox="1"/>
          <p:nvPr/>
        </p:nvSpPr>
        <p:spPr>
          <a:xfrm>
            <a:off x="3063240" y="3419856"/>
            <a:ext cx="1143000" cy="475488"/>
          </a:xfrm>
          <a:prstGeom prst="rect">
            <a:avLst/>
          </a:prstGeom>
          <a:noFill/>
          <a:ln/>
        </p:spPr>
        <p:txBody>
          <a:bodyPr wrap="square" lIns="0" tIns="0" rIns="0" bIns="0" rtlCol="0" anchor="ctr"/>
          <a:lstStyle/>
          <a:p>
            <a:pPr algn="ctr" indent="0" marL="0">
              <a:buNone/>
            </a:pPr>
            <a:r>
              <a:rPr lang="en-US" sz="950" b="1" dirty="0">
                <a:solidFill>
                  <a:srgbClr val="A3282C"/>
                </a:solidFill>
                <a:latin typeface="Calibri" pitchFamily="34" charset="0"/>
                <a:ea typeface="Calibri" pitchFamily="34" charset="-122"/>
                <a:cs typeface="Calibri" pitchFamily="34" charset="-120"/>
              </a:rPr>
              <a:t>NO</a:t>
            </a:r>
            <a:endParaRPr lang="en-US" sz="950" dirty="0"/>
          </a:p>
        </p:txBody>
      </p:sp>
      <p:sp>
        <p:nvSpPr>
          <p:cNvPr id="26" name="Text 24"/>
          <p:cNvSpPr txBox="1"/>
          <p:nvPr/>
        </p:nvSpPr>
        <p:spPr>
          <a:xfrm>
            <a:off x="4343400" y="3447288"/>
            <a:ext cx="7269480" cy="420624"/>
          </a:xfrm>
          <a:prstGeom prst="rect">
            <a:avLst/>
          </a:prstGeom>
          <a:noFill/>
          <a:ln/>
        </p:spPr>
        <p:txBody>
          <a:bodyPr wrap="square" lIns="0" tIns="0" rIns="0" bIns="0" rtlCol="0" anchor="ctr"/>
          <a:lstStyle/>
          <a:p>
            <a:pPr indent="0" marL="0">
              <a:lnSpc>
                <a:spcPct val="104000"/>
              </a:lnSpc>
              <a:buNone/>
            </a:pPr>
            <a:r>
              <a:rPr lang="en-US" sz="860" dirty="0">
                <a:solidFill>
                  <a:srgbClr val="1B2733"/>
                </a:solidFill>
                <a:latin typeface="Calibri" pitchFamily="34" charset="0"/>
                <a:ea typeface="Calibri" pitchFamily="34" charset="-122"/>
                <a:cs typeface="Calibri" pitchFamily="34" charset="-120"/>
              </a:rPr>
              <a:t>There is no brand premium on concentrate. Provenance is a specification, not a brand.</a:t>
            </a:r>
            <a:endParaRPr lang="en-US" sz="860" dirty="0"/>
          </a:p>
        </p:txBody>
      </p:sp>
      <p:sp>
        <p:nvSpPr>
          <p:cNvPr id="27" name="Shape 25"/>
          <p:cNvSpPr/>
          <p:nvPr/>
        </p:nvSpPr>
        <p:spPr>
          <a:xfrm>
            <a:off x="411480" y="3950208"/>
            <a:ext cx="11375136" cy="475488"/>
          </a:xfrm>
          <a:prstGeom prst="rect">
            <a:avLst/>
          </a:prstGeom>
          <a:solidFill>
            <a:srgbClr val="F7F9FB"/>
          </a:solidFill>
          <a:ln w="7620">
            <a:solidFill>
              <a:srgbClr val="D3DCE5"/>
            </a:solidFill>
            <a:prstDash val="solid"/>
          </a:ln>
        </p:spPr>
      </p:sp>
      <p:sp>
        <p:nvSpPr>
          <p:cNvPr id="28" name="Text 26"/>
          <p:cNvSpPr txBox="1"/>
          <p:nvPr/>
        </p:nvSpPr>
        <p:spPr>
          <a:xfrm>
            <a:off x="576072" y="3950208"/>
            <a:ext cx="2423160" cy="475488"/>
          </a:xfrm>
          <a:prstGeom prst="rect">
            <a:avLst/>
          </a:prstGeom>
          <a:noFill/>
          <a:ln/>
        </p:spPr>
        <p:txBody>
          <a:bodyPr wrap="square" lIns="0" tIns="0" rIns="0" bIns="0" rtlCol="0" anchor="ctr"/>
          <a:lstStyle/>
          <a:p>
            <a:pPr indent="0" marL="0">
              <a:buNone/>
            </a:pPr>
            <a:r>
              <a:rPr lang="en-US" sz="1000" b="1" dirty="0">
                <a:solidFill>
                  <a:srgbClr val="10233A"/>
                </a:solidFill>
                <a:latin typeface="Calibri" pitchFamily="34" charset="0"/>
                <a:ea typeface="Calibri" pitchFamily="34" charset="-122"/>
                <a:cs typeface="Calibri" pitchFamily="34" charset="-120"/>
              </a:rPr>
              <a:t>Cornered resource</a:t>
            </a:r>
            <a:endParaRPr lang="en-US" sz="1000" dirty="0"/>
          </a:p>
        </p:txBody>
      </p:sp>
      <p:sp>
        <p:nvSpPr>
          <p:cNvPr id="29" name="Text 27"/>
          <p:cNvSpPr txBox="1"/>
          <p:nvPr/>
        </p:nvSpPr>
        <p:spPr>
          <a:xfrm>
            <a:off x="3063240" y="3950208"/>
            <a:ext cx="1143000" cy="475488"/>
          </a:xfrm>
          <a:prstGeom prst="rect">
            <a:avLst/>
          </a:prstGeom>
          <a:noFill/>
          <a:ln/>
        </p:spPr>
        <p:txBody>
          <a:bodyPr wrap="square" lIns="0" tIns="0" rIns="0" bIns="0" rtlCol="0" anchor="ctr"/>
          <a:lstStyle/>
          <a:p>
            <a:pPr algn="ctr" indent="0" marL="0">
              <a:buNone/>
            </a:pPr>
            <a:r>
              <a:rPr lang="en-US" sz="950" b="1" dirty="0">
                <a:solidFill>
                  <a:srgbClr val="0E7C6B"/>
                </a:solidFill>
                <a:latin typeface="Calibri" pitchFamily="34" charset="0"/>
                <a:ea typeface="Calibri" pitchFamily="34" charset="-122"/>
                <a:cs typeface="Calibri" pitchFamily="34" charset="-120"/>
              </a:rPr>
              <a:t>PARTIAL</a:t>
            </a:r>
            <a:endParaRPr lang="en-US" sz="950" dirty="0"/>
          </a:p>
        </p:txBody>
      </p:sp>
      <p:sp>
        <p:nvSpPr>
          <p:cNvPr id="30" name="Text 28"/>
          <p:cNvSpPr txBox="1"/>
          <p:nvPr/>
        </p:nvSpPr>
        <p:spPr>
          <a:xfrm>
            <a:off x="4343400" y="3977640"/>
            <a:ext cx="7269480" cy="420624"/>
          </a:xfrm>
          <a:prstGeom prst="rect">
            <a:avLst/>
          </a:prstGeom>
          <a:noFill/>
          <a:ln/>
        </p:spPr>
        <p:txBody>
          <a:bodyPr wrap="square" lIns="0" tIns="0" rIns="0" bIns="0" rtlCol="0" anchor="ctr"/>
          <a:lstStyle/>
          <a:p>
            <a:pPr indent="0" marL="0">
              <a:lnSpc>
                <a:spcPct val="104000"/>
              </a:lnSpc>
              <a:buNone/>
            </a:pPr>
            <a:r>
              <a:rPr lang="en-US" sz="860" dirty="0">
                <a:solidFill>
                  <a:srgbClr val="1B2733"/>
                </a:solidFill>
                <a:latin typeface="Calibri" pitchFamily="34" charset="0"/>
                <a:ea typeface="Calibri" pitchFamily="34" charset="-122"/>
                <a:cs typeface="Calibri" pitchFamily="34" charset="-120"/>
              </a:rPr>
              <a:t>The orebody itself is cornered: 446Mt at that grade in a stable jurisdiction cannot be replicated by a competitor's decision.</a:t>
            </a:r>
            <a:endParaRPr lang="en-US" sz="860" dirty="0"/>
          </a:p>
        </p:txBody>
      </p:sp>
      <p:sp>
        <p:nvSpPr>
          <p:cNvPr id="31" name="Shape 29"/>
          <p:cNvSpPr/>
          <p:nvPr/>
        </p:nvSpPr>
        <p:spPr>
          <a:xfrm>
            <a:off x="411480" y="4480560"/>
            <a:ext cx="11375136" cy="475488"/>
          </a:xfrm>
          <a:prstGeom prst="rect">
            <a:avLst/>
          </a:prstGeom>
          <a:solidFill>
            <a:srgbClr val="FFFFFF"/>
          </a:solidFill>
          <a:ln w="7620">
            <a:solidFill>
              <a:srgbClr val="D3DCE5"/>
            </a:solidFill>
            <a:prstDash val="solid"/>
          </a:ln>
        </p:spPr>
      </p:sp>
      <p:sp>
        <p:nvSpPr>
          <p:cNvPr id="32" name="Text 30"/>
          <p:cNvSpPr txBox="1"/>
          <p:nvPr/>
        </p:nvSpPr>
        <p:spPr>
          <a:xfrm>
            <a:off x="576072" y="4480560"/>
            <a:ext cx="2423160" cy="475488"/>
          </a:xfrm>
          <a:prstGeom prst="rect">
            <a:avLst/>
          </a:prstGeom>
          <a:noFill/>
          <a:ln/>
        </p:spPr>
        <p:txBody>
          <a:bodyPr wrap="square" lIns="0" tIns="0" rIns="0" bIns="0" rtlCol="0" anchor="ctr"/>
          <a:lstStyle/>
          <a:p>
            <a:pPr indent="0" marL="0">
              <a:buNone/>
            </a:pPr>
            <a:r>
              <a:rPr lang="en-US" sz="1000" b="1" dirty="0">
                <a:solidFill>
                  <a:srgbClr val="10233A"/>
                </a:solidFill>
                <a:latin typeface="Calibri" pitchFamily="34" charset="0"/>
                <a:ea typeface="Calibri" pitchFamily="34" charset="-122"/>
                <a:cs typeface="Calibri" pitchFamily="34" charset="-120"/>
              </a:rPr>
              <a:t>Process power</a:t>
            </a:r>
            <a:endParaRPr lang="en-US" sz="1000" dirty="0"/>
          </a:p>
        </p:txBody>
      </p:sp>
      <p:sp>
        <p:nvSpPr>
          <p:cNvPr id="33" name="Text 31"/>
          <p:cNvSpPr txBox="1"/>
          <p:nvPr/>
        </p:nvSpPr>
        <p:spPr>
          <a:xfrm>
            <a:off x="3063240" y="4480560"/>
            <a:ext cx="1143000" cy="475488"/>
          </a:xfrm>
          <a:prstGeom prst="rect">
            <a:avLst/>
          </a:prstGeom>
          <a:noFill/>
          <a:ln/>
        </p:spPr>
        <p:txBody>
          <a:bodyPr wrap="square" lIns="0" tIns="0" rIns="0" bIns="0" rtlCol="0" anchor="ctr"/>
          <a:lstStyle/>
          <a:p>
            <a:pPr algn="ctr" indent="0" marL="0">
              <a:buNone/>
            </a:pPr>
            <a:r>
              <a:rPr lang="en-US" sz="950" b="1" dirty="0">
                <a:solidFill>
                  <a:srgbClr val="A3282C"/>
                </a:solidFill>
                <a:latin typeface="Calibri" pitchFamily="34" charset="0"/>
                <a:ea typeface="Calibri" pitchFamily="34" charset="-122"/>
                <a:cs typeface="Calibri" pitchFamily="34" charset="-120"/>
              </a:rPr>
              <a:t>NO</a:t>
            </a:r>
            <a:endParaRPr lang="en-US" sz="950" dirty="0"/>
          </a:p>
        </p:txBody>
      </p:sp>
      <p:sp>
        <p:nvSpPr>
          <p:cNvPr id="34" name="Text 32"/>
          <p:cNvSpPr txBox="1"/>
          <p:nvPr/>
        </p:nvSpPr>
        <p:spPr>
          <a:xfrm>
            <a:off x="4343400" y="4507992"/>
            <a:ext cx="7269480" cy="420624"/>
          </a:xfrm>
          <a:prstGeom prst="rect">
            <a:avLst/>
          </a:prstGeom>
          <a:noFill/>
          <a:ln/>
        </p:spPr>
        <p:txBody>
          <a:bodyPr wrap="square" lIns="0" tIns="0" rIns="0" bIns="0" rtlCol="0" anchor="ctr"/>
          <a:lstStyle/>
          <a:p>
            <a:pPr indent="0" marL="0">
              <a:lnSpc>
                <a:spcPct val="104000"/>
              </a:lnSpc>
              <a:buNone/>
            </a:pPr>
            <a:r>
              <a:rPr lang="en-US" sz="860" dirty="0">
                <a:solidFill>
                  <a:srgbClr val="1B2733"/>
                </a:solidFill>
                <a:latin typeface="Calibri" pitchFamily="34" charset="0"/>
                <a:ea typeface="Calibri" pitchFamily="34" charset="-122"/>
                <a:cs typeface="Calibri" pitchFamily="34" charset="-120"/>
              </a:rPr>
              <a:t>Ore sorting and flotation are available to any operator with the capital. We say this on the ore-sorting slide too.</a:t>
            </a:r>
            <a:endParaRPr lang="en-US" sz="860" dirty="0"/>
          </a:p>
        </p:txBody>
      </p:sp>
      <p:sp>
        <p:nvSpPr>
          <p:cNvPr id="35" name="Shape 33"/>
          <p:cNvSpPr/>
          <p:nvPr/>
        </p:nvSpPr>
        <p:spPr>
          <a:xfrm>
            <a:off x="411480" y="5138928"/>
            <a:ext cx="11375136" cy="932688"/>
          </a:xfrm>
          <a:prstGeom prst="rect">
            <a:avLst/>
          </a:prstGeom>
          <a:solidFill>
            <a:srgbClr val="EEF2F6"/>
          </a:solidFill>
          <a:ln w="9525">
            <a:solidFill>
              <a:srgbClr val="D3DCE5"/>
            </a:solidFill>
            <a:prstDash val="solid"/>
          </a:ln>
        </p:spPr>
      </p:sp>
      <p:sp>
        <p:nvSpPr>
          <p:cNvPr id="36" name="Text 34"/>
          <p:cNvSpPr txBox="1"/>
          <p:nvPr/>
        </p:nvSpPr>
        <p:spPr>
          <a:xfrm>
            <a:off x="576072" y="5266944"/>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Why we still recommend it after failing four of seven</a:t>
            </a:r>
            <a:endParaRPr lang="en-US" sz="1150" dirty="0"/>
          </a:p>
        </p:txBody>
      </p:sp>
      <p:sp>
        <p:nvSpPr>
          <p:cNvPr id="37" name="Text 35"/>
          <p:cNvSpPr txBox="1"/>
          <p:nvPr/>
        </p:nvSpPr>
        <p:spPr>
          <a:xfrm>
            <a:off x="576072" y="5596128"/>
            <a:ext cx="11045952" cy="384048"/>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Because we are not claiming a moat. We are claiming a cost position, an orebody that cannot be replicated, and a five-year window in which carbon accounting reorders who is allowed to sell into the best markets. That is a temporal advantage, not a permanent one, and it is priced accordingly: our target implies 12.0% upside, not a re-rating to a premium multiple.</a:t>
            </a:r>
            <a:endParaRPr lang="en-US" sz="900" dirty="0"/>
          </a:p>
        </p:txBody>
      </p:sp>
      <p:sp>
        <p:nvSpPr>
          <p:cNvPr id="38" name="Text 36"/>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Framework: Hamilton Helmer, '7 Powers: The Foundations of Business Strategy', 2016. Assessments are the team's.</a:t>
            </a:r>
            <a:endParaRPr lang="en-US" sz="720" dirty="0"/>
          </a:p>
        </p:txBody>
      </p:sp>
      <p:sp>
        <p:nvSpPr>
          <p:cNvPr id="39" name="Text 37"/>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C2</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Capital and permitting keep new supply out at low prices and let it in at high ones. That is why the cycle is violent and why cost position, not barriers, is the durable defence.</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C3  Strategic frameworks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514600" cy="292608"/>
          </a:xfrm>
          <a:prstGeom prst="rect">
            <a:avLst/>
          </a:prstGeom>
          <a:solidFill>
            <a:srgbClr val="10233A"/>
          </a:solidFill>
          <a:ln/>
        </p:spPr>
      </p:sp>
      <p:sp>
        <p:nvSpPr>
          <p:cNvPr id="8" name="Text 6"/>
          <p:cNvSpPr txBox="1"/>
          <p:nvPr/>
        </p:nvSpPr>
        <p:spPr>
          <a:xfrm>
            <a:off x="475488" y="1298448"/>
            <a:ext cx="238658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Barrier</a:t>
            </a:r>
            <a:endParaRPr lang="en-US" sz="900" dirty="0"/>
          </a:p>
        </p:txBody>
      </p:sp>
      <p:sp>
        <p:nvSpPr>
          <p:cNvPr id="9" name="Shape 7"/>
          <p:cNvSpPr/>
          <p:nvPr/>
        </p:nvSpPr>
        <p:spPr>
          <a:xfrm>
            <a:off x="2926080" y="1298448"/>
            <a:ext cx="1325880" cy="292608"/>
          </a:xfrm>
          <a:prstGeom prst="rect">
            <a:avLst/>
          </a:prstGeom>
          <a:solidFill>
            <a:srgbClr val="10233A"/>
          </a:solidFill>
          <a:ln/>
        </p:spPr>
      </p:sp>
      <p:sp>
        <p:nvSpPr>
          <p:cNvPr id="10" name="Text 8"/>
          <p:cNvSpPr txBox="1"/>
          <p:nvPr/>
        </p:nvSpPr>
        <p:spPr>
          <a:xfrm>
            <a:off x="2990088" y="1298448"/>
            <a:ext cx="119786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Strength</a:t>
            </a:r>
            <a:endParaRPr lang="en-US" sz="900" dirty="0"/>
          </a:p>
        </p:txBody>
      </p:sp>
      <p:sp>
        <p:nvSpPr>
          <p:cNvPr id="11" name="Shape 9"/>
          <p:cNvSpPr/>
          <p:nvPr/>
        </p:nvSpPr>
        <p:spPr>
          <a:xfrm>
            <a:off x="4251960" y="1298448"/>
            <a:ext cx="7534656" cy="292608"/>
          </a:xfrm>
          <a:prstGeom prst="rect">
            <a:avLst/>
          </a:prstGeom>
          <a:solidFill>
            <a:srgbClr val="10233A"/>
          </a:solidFill>
          <a:ln/>
        </p:spPr>
      </p:sp>
      <p:sp>
        <p:nvSpPr>
          <p:cNvPr id="12" name="Text 10"/>
          <p:cNvSpPr txBox="1"/>
          <p:nvPr/>
        </p:nvSpPr>
        <p:spPr>
          <a:xfrm>
            <a:off x="4315968" y="1298448"/>
            <a:ext cx="740664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Assessment</a:t>
            </a:r>
            <a:endParaRPr lang="en-US" sz="900" dirty="0"/>
          </a:p>
        </p:txBody>
      </p:sp>
      <p:sp>
        <p:nvSpPr>
          <p:cNvPr id="13" name="Shape 11"/>
          <p:cNvSpPr/>
          <p:nvPr/>
        </p:nvSpPr>
        <p:spPr>
          <a:xfrm>
            <a:off x="411480" y="1591056"/>
            <a:ext cx="2514600" cy="484632"/>
          </a:xfrm>
          <a:prstGeom prst="rect">
            <a:avLst/>
          </a:prstGeom>
          <a:solidFill>
            <a:srgbClr val="FFFFFF"/>
          </a:solidFill>
          <a:ln w="6350">
            <a:solidFill>
              <a:srgbClr val="D3DCE5"/>
            </a:solidFill>
            <a:prstDash val="solid"/>
          </a:ln>
        </p:spPr>
      </p:sp>
      <p:sp>
        <p:nvSpPr>
          <p:cNvPr id="14" name="Text 12"/>
          <p:cNvSpPr txBox="1"/>
          <p:nvPr/>
        </p:nvSpPr>
        <p:spPr>
          <a:xfrm>
            <a:off x="475488" y="1591056"/>
            <a:ext cx="2386584" cy="484632"/>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Capital requirements</a:t>
            </a:r>
            <a:endParaRPr lang="en-US" sz="860" dirty="0"/>
          </a:p>
        </p:txBody>
      </p:sp>
      <p:sp>
        <p:nvSpPr>
          <p:cNvPr id="15" name="Shape 13"/>
          <p:cNvSpPr/>
          <p:nvPr/>
        </p:nvSpPr>
        <p:spPr>
          <a:xfrm>
            <a:off x="2926080" y="1591056"/>
            <a:ext cx="1325880" cy="484632"/>
          </a:xfrm>
          <a:prstGeom prst="rect">
            <a:avLst/>
          </a:prstGeom>
          <a:solidFill>
            <a:srgbClr val="FFFFFF"/>
          </a:solidFill>
          <a:ln w="6350">
            <a:solidFill>
              <a:srgbClr val="D3DCE5"/>
            </a:solidFill>
            <a:prstDash val="solid"/>
          </a:ln>
        </p:spPr>
      </p:sp>
      <p:sp>
        <p:nvSpPr>
          <p:cNvPr id="16" name="Text 14"/>
          <p:cNvSpPr txBox="1"/>
          <p:nvPr/>
        </p:nvSpPr>
        <p:spPr>
          <a:xfrm>
            <a:off x="2990088" y="1591056"/>
            <a:ext cx="1197864" cy="484632"/>
          </a:xfrm>
          <a:prstGeom prst="rect">
            <a:avLst/>
          </a:prstGeom>
          <a:noFill/>
          <a:ln/>
        </p:spPr>
        <p:txBody>
          <a:bodyPr wrap="square" lIns="0" tIns="0" rIns="0" bIns="0" rtlCol="0" anchor="ctr"/>
          <a:lstStyle/>
          <a:p>
            <a:pPr algn="ctr" indent="0" marL="0">
              <a:buNone/>
            </a:pPr>
            <a:r>
              <a:rPr lang="en-US" sz="860" b="1" dirty="0">
                <a:solidFill>
                  <a:srgbClr val="0E7C6B"/>
                </a:solidFill>
                <a:latin typeface="Calibri" pitchFamily="34" charset="0"/>
                <a:ea typeface="Calibri" pitchFamily="34" charset="-122"/>
                <a:cs typeface="Calibri" pitchFamily="34" charset="-120"/>
              </a:rPr>
              <a:t>High</a:t>
            </a:r>
            <a:endParaRPr lang="en-US" sz="860" dirty="0"/>
          </a:p>
        </p:txBody>
      </p:sp>
      <p:sp>
        <p:nvSpPr>
          <p:cNvPr id="17" name="Shape 15"/>
          <p:cNvSpPr/>
          <p:nvPr/>
        </p:nvSpPr>
        <p:spPr>
          <a:xfrm>
            <a:off x="4251960" y="1591056"/>
            <a:ext cx="7534656" cy="484632"/>
          </a:xfrm>
          <a:prstGeom prst="rect">
            <a:avLst/>
          </a:prstGeom>
          <a:solidFill>
            <a:srgbClr val="FFFFFF"/>
          </a:solidFill>
          <a:ln w="6350">
            <a:solidFill>
              <a:srgbClr val="D3DCE5"/>
            </a:solidFill>
            <a:prstDash val="solid"/>
          </a:ln>
        </p:spPr>
      </p:sp>
      <p:sp>
        <p:nvSpPr>
          <p:cNvPr id="18" name="Text 16"/>
          <p:cNvSpPr txBox="1"/>
          <p:nvPr/>
        </p:nvSpPr>
        <p:spPr>
          <a:xfrm>
            <a:off x="4315968" y="1591056"/>
            <a:ext cx="7406640" cy="48463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P2000 alone is about A$1.2bn. Benchmark estimates the industry needs more than US$116bn by 2030. Few developers can fund a build through a price trough.</a:t>
            </a:r>
            <a:endParaRPr lang="en-US" sz="860" dirty="0"/>
          </a:p>
        </p:txBody>
      </p:sp>
      <p:sp>
        <p:nvSpPr>
          <p:cNvPr id="19" name="Shape 17"/>
          <p:cNvSpPr/>
          <p:nvPr/>
        </p:nvSpPr>
        <p:spPr>
          <a:xfrm>
            <a:off x="411480" y="2075688"/>
            <a:ext cx="2514600" cy="484632"/>
          </a:xfrm>
          <a:prstGeom prst="rect">
            <a:avLst/>
          </a:prstGeom>
          <a:solidFill>
            <a:srgbClr val="F7F9FB"/>
          </a:solidFill>
          <a:ln w="6350">
            <a:solidFill>
              <a:srgbClr val="D3DCE5"/>
            </a:solidFill>
            <a:prstDash val="solid"/>
          </a:ln>
        </p:spPr>
      </p:sp>
      <p:sp>
        <p:nvSpPr>
          <p:cNvPr id="20" name="Text 18"/>
          <p:cNvSpPr txBox="1"/>
          <p:nvPr/>
        </p:nvSpPr>
        <p:spPr>
          <a:xfrm>
            <a:off x="475488" y="2075688"/>
            <a:ext cx="2386584" cy="484632"/>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Orebody access</a:t>
            </a:r>
            <a:endParaRPr lang="en-US" sz="860" dirty="0"/>
          </a:p>
        </p:txBody>
      </p:sp>
      <p:sp>
        <p:nvSpPr>
          <p:cNvPr id="21" name="Shape 19"/>
          <p:cNvSpPr/>
          <p:nvPr/>
        </p:nvSpPr>
        <p:spPr>
          <a:xfrm>
            <a:off x="2926080" y="2075688"/>
            <a:ext cx="1325880" cy="484632"/>
          </a:xfrm>
          <a:prstGeom prst="rect">
            <a:avLst/>
          </a:prstGeom>
          <a:solidFill>
            <a:srgbClr val="F7F9FB"/>
          </a:solidFill>
          <a:ln w="6350">
            <a:solidFill>
              <a:srgbClr val="D3DCE5"/>
            </a:solidFill>
            <a:prstDash val="solid"/>
          </a:ln>
        </p:spPr>
      </p:sp>
      <p:sp>
        <p:nvSpPr>
          <p:cNvPr id="22" name="Text 20"/>
          <p:cNvSpPr txBox="1"/>
          <p:nvPr/>
        </p:nvSpPr>
        <p:spPr>
          <a:xfrm>
            <a:off x="2990088" y="2075688"/>
            <a:ext cx="1197864" cy="484632"/>
          </a:xfrm>
          <a:prstGeom prst="rect">
            <a:avLst/>
          </a:prstGeom>
          <a:noFill/>
          <a:ln/>
        </p:spPr>
        <p:txBody>
          <a:bodyPr wrap="square" lIns="0" tIns="0" rIns="0" bIns="0" rtlCol="0" anchor="ctr"/>
          <a:lstStyle/>
          <a:p>
            <a:pPr algn="ctr" indent="0" marL="0">
              <a:buNone/>
            </a:pPr>
            <a:r>
              <a:rPr lang="en-US" sz="860" b="1" dirty="0">
                <a:solidFill>
                  <a:srgbClr val="0E7C6B"/>
                </a:solidFill>
                <a:latin typeface="Calibri" pitchFamily="34" charset="0"/>
                <a:ea typeface="Calibri" pitchFamily="34" charset="-122"/>
                <a:cs typeface="Calibri" pitchFamily="34" charset="-120"/>
              </a:rPr>
              <a:t>High</a:t>
            </a:r>
            <a:endParaRPr lang="en-US" sz="860" dirty="0"/>
          </a:p>
        </p:txBody>
      </p:sp>
      <p:sp>
        <p:nvSpPr>
          <p:cNvPr id="23" name="Shape 21"/>
          <p:cNvSpPr/>
          <p:nvPr/>
        </p:nvSpPr>
        <p:spPr>
          <a:xfrm>
            <a:off x="4251960" y="2075688"/>
            <a:ext cx="7534656" cy="484632"/>
          </a:xfrm>
          <a:prstGeom prst="rect">
            <a:avLst/>
          </a:prstGeom>
          <a:solidFill>
            <a:srgbClr val="F7F9FB"/>
          </a:solidFill>
          <a:ln w="6350">
            <a:solidFill>
              <a:srgbClr val="D3DCE5"/>
            </a:solidFill>
            <a:prstDash val="solid"/>
          </a:ln>
        </p:spPr>
      </p:sp>
      <p:sp>
        <p:nvSpPr>
          <p:cNvPr id="24" name="Text 22"/>
          <p:cNvSpPr txBox="1"/>
          <p:nvPr/>
        </p:nvSpPr>
        <p:spPr>
          <a:xfrm>
            <a:off x="4315968" y="2075688"/>
            <a:ext cx="7406640" cy="48463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 446Mt resource at 1.28% Li2O is not a decision a competitor can make. Geology is the one input a competitor cannot buy.</a:t>
            </a:r>
            <a:endParaRPr lang="en-US" sz="860" dirty="0"/>
          </a:p>
        </p:txBody>
      </p:sp>
      <p:sp>
        <p:nvSpPr>
          <p:cNvPr id="25" name="Shape 23"/>
          <p:cNvSpPr/>
          <p:nvPr/>
        </p:nvSpPr>
        <p:spPr>
          <a:xfrm>
            <a:off x="411480" y="2560320"/>
            <a:ext cx="2514600" cy="484632"/>
          </a:xfrm>
          <a:prstGeom prst="rect">
            <a:avLst/>
          </a:prstGeom>
          <a:solidFill>
            <a:srgbClr val="FFFFFF"/>
          </a:solidFill>
          <a:ln w="6350">
            <a:solidFill>
              <a:srgbClr val="D3DCE5"/>
            </a:solidFill>
            <a:prstDash val="solid"/>
          </a:ln>
        </p:spPr>
      </p:sp>
      <p:sp>
        <p:nvSpPr>
          <p:cNvPr id="26" name="Text 24"/>
          <p:cNvSpPr txBox="1"/>
          <p:nvPr/>
        </p:nvSpPr>
        <p:spPr>
          <a:xfrm>
            <a:off x="475488" y="2560320"/>
            <a:ext cx="2386584" cy="484632"/>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Permitting and heritage</a:t>
            </a:r>
            <a:endParaRPr lang="en-US" sz="860" dirty="0"/>
          </a:p>
        </p:txBody>
      </p:sp>
      <p:sp>
        <p:nvSpPr>
          <p:cNvPr id="27" name="Shape 25"/>
          <p:cNvSpPr/>
          <p:nvPr/>
        </p:nvSpPr>
        <p:spPr>
          <a:xfrm>
            <a:off x="2926080" y="2560320"/>
            <a:ext cx="1325880" cy="484632"/>
          </a:xfrm>
          <a:prstGeom prst="rect">
            <a:avLst/>
          </a:prstGeom>
          <a:solidFill>
            <a:srgbClr val="FFFFFF"/>
          </a:solidFill>
          <a:ln w="6350">
            <a:solidFill>
              <a:srgbClr val="D3DCE5"/>
            </a:solidFill>
            <a:prstDash val="solid"/>
          </a:ln>
        </p:spPr>
      </p:sp>
      <p:sp>
        <p:nvSpPr>
          <p:cNvPr id="28" name="Text 26"/>
          <p:cNvSpPr txBox="1"/>
          <p:nvPr/>
        </p:nvSpPr>
        <p:spPr>
          <a:xfrm>
            <a:off x="2990088" y="2560320"/>
            <a:ext cx="1197864" cy="484632"/>
          </a:xfrm>
          <a:prstGeom prst="rect">
            <a:avLst/>
          </a:prstGeom>
          <a:noFill/>
          <a:ln/>
        </p:spPr>
        <p:txBody>
          <a:bodyPr wrap="square" lIns="0" tIns="0" rIns="0" bIns="0" rtlCol="0" anchor="ctr"/>
          <a:lstStyle/>
          <a:p>
            <a:pPr algn="ctr" indent="0" marL="0">
              <a:buNone/>
            </a:pPr>
            <a:r>
              <a:rPr lang="en-US" sz="860" b="1" dirty="0">
                <a:solidFill>
                  <a:srgbClr val="0E7C6B"/>
                </a:solidFill>
                <a:latin typeface="Calibri" pitchFamily="34" charset="0"/>
                <a:ea typeface="Calibri" pitchFamily="34" charset="-122"/>
                <a:cs typeface="Calibri" pitchFamily="34" charset="-120"/>
              </a:rPr>
              <a:t>Medium-High</a:t>
            </a:r>
            <a:endParaRPr lang="en-US" sz="860" dirty="0"/>
          </a:p>
        </p:txBody>
      </p:sp>
      <p:sp>
        <p:nvSpPr>
          <p:cNvPr id="29" name="Shape 27"/>
          <p:cNvSpPr/>
          <p:nvPr/>
        </p:nvSpPr>
        <p:spPr>
          <a:xfrm>
            <a:off x="4251960" y="2560320"/>
            <a:ext cx="7534656" cy="484632"/>
          </a:xfrm>
          <a:prstGeom prst="rect">
            <a:avLst/>
          </a:prstGeom>
          <a:solidFill>
            <a:srgbClr val="FFFFFF"/>
          </a:solidFill>
          <a:ln w="6350">
            <a:solidFill>
              <a:srgbClr val="D3DCE5"/>
            </a:solidFill>
            <a:prstDash val="solid"/>
          </a:ln>
        </p:spPr>
      </p:sp>
      <p:sp>
        <p:nvSpPr>
          <p:cNvPr id="30" name="Text 28"/>
          <p:cNvSpPr txBox="1"/>
          <p:nvPr/>
        </p:nvSpPr>
        <p:spPr>
          <a:xfrm>
            <a:off x="4315968" y="2560320"/>
            <a:ext cx="7406640" cy="48463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Post-Juukan Gorge, Western Australian heritage approvals are slower and more scrutinised. This favours incumbents with existing agreements.</a:t>
            </a:r>
            <a:endParaRPr lang="en-US" sz="860" dirty="0"/>
          </a:p>
        </p:txBody>
      </p:sp>
      <p:sp>
        <p:nvSpPr>
          <p:cNvPr id="31" name="Shape 29"/>
          <p:cNvSpPr/>
          <p:nvPr/>
        </p:nvSpPr>
        <p:spPr>
          <a:xfrm>
            <a:off x="411480" y="3044952"/>
            <a:ext cx="2514600" cy="484632"/>
          </a:xfrm>
          <a:prstGeom prst="rect">
            <a:avLst/>
          </a:prstGeom>
          <a:solidFill>
            <a:srgbClr val="F7F9FB"/>
          </a:solidFill>
          <a:ln w="6350">
            <a:solidFill>
              <a:srgbClr val="D3DCE5"/>
            </a:solidFill>
            <a:prstDash val="solid"/>
          </a:ln>
        </p:spPr>
      </p:sp>
      <p:sp>
        <p:nvSpPr>
          <p:cNvPr id="32" name="Text 30"/>
          <p:cNvSpPr txBox="1"/>
          <p:nvPr/>
        </p:nvSpPr>
        <p:spPr>
          <a:xfrm>
            <a:off x="475488" y="3044952"/>
            <a:ext cx="2386584" cy="484632"/>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Processing know-how</a:t>
            </a:r>
            <a:endParaRPr lang="en-US" sz="860" dirty="0"/>
          </a:p>
        </p:txBody>
      </p:sp>
      <p:sp>
        <p:nvSpPr>
          <p:cNvPr id="33" name="Shape 31"/>
          <p:cNvSpPr/>
          <p:nvPr/>
        </p:nvSpPr>
        <p:spPr>
          <a:xfrm>
            <a:off x="2926080" y="3044952"/>
            <a:ext cx="1325880" cy="484632"/>
          </a:xfrm>
          <a:prstGeom prst="rect">
            <a:avLst/>
          </a:prstGeom>
          <a:solidFill>
            <a:srgbClr val="F7F9FB"/>
          </a:solidFill>
          <a:ln w="6350">
            <a:solidFill>
              <a:srgbClr val="D3DCE5"/>
            </a:solidFill>
            <a:prstDash val="solid"/>
          </a:ln>
        </p:spPr>
      </p:sp>
      <p:sp>
        <p:nvSpPr>
          <p:cNvPr id="34" name="Text 32"/>
          <p:cNvSpPr txBox="1"/>
          <p:nvPr/>
        </p:nvSpPr>
        <p:spPr>
          <a:xfrm>
            <a:off x="2990088" y="3044952"/>
            <a:ext cx="1197864" cy="484632"/>
          </a:xfrm>
          <a:prstGeom prst="rect">
            <a:avLst/>
          </a:prstGeom>
          <a:noFill/>
          <a:ln/>
        </p:spPr>
        <p:txBody>
          <a:bodyPr wrap="square" lIns="0" tIns="0" rIns="0" bIns="0" rtlCol="0" anchor="ctr"/>
          <a:lstStyle/>
          <a:p>
            <a:pPr algn="ctr" indent="0" marL="0">
              <a:buNone/>
            </a:pPr>
            <a:r>
              <a:rPr lang="en-US" sz="860" b="1" dirty="0">
                <a:solidFill>
                  <a:srgbClr val="C2610A"/>
                </a:solidFill>
                <a:latin typeface="Calibri" pitchFamily="34" charset="0"/>
                <a:ea typeface="Calibri" pitchFamily="34" charset="-122"/>
                <a:cs typeface="Calibri" pitchFamily="34" charset="-120"/>
              </a:rPr>
              <a:t>Medium</a:t>
            </a:r>
            <a:endParaRPr lang="en-US" sz="860" dirty="0"/>
          </a:p>
        </p:txBody>
      </p:sp>
      <p:sp>
        <p:nvSpPr>
          <p:cNvPr id="35" name="Shape 33"/>
          <p:cNvSpPr/>
          <p:nvPr/>
        </p:nvSpPr>
        <p:spPr>
          <a:xfrm>
            <a:off x="4251960" y="3044952"/>
            <a:ext cx="7534656" cy="484632"/>
          </a:xfrm>
          <a:prstGeom prst="rect">
            <a:avLst/>
          </a:prstGeom>
          <a:solidFill>
            <a:srgbClr val="F7F9FB"/>
          </a:solidFill>
          <a:ln w="6350">
            <a:solidFill>
              <a:srgbClr val="D3DCE5"/>
            </a:solidFill>
            <a:prstDash val="solid"/>
          </a:ln>
        </p:spPr>
      </p:sp>
      <p:sp>
        <p:nvSpPr>
          <p:cNvPr id="36" name="Text 34"/>
          <p:cNvSpPr txBox="1"/>
          <p:nvPr/>
        </p:nvSpPr>
        <p:spPr>
          <a:xfrm>
            <a:off x="4315968" y="3044952"/>
            <a:ext cx="7406640" cy="48463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Flotation and ore sorting are licensable. TOMRA will sell a sorter to anyone. This is not proprietary.</a:t>
            </a:r>
            <a:endParaRPr lang="en-US" sz="860" dirty="0"/>
          </a:p>
        </p:txBody>
      </p:sp>
      <p:sp>
        <p:nvSpPr>
          <p:cNvPr id="37" name="Shape 35"/>
          <p:cNvSpPr/>
          <p:nvPr/>
        </p:nvSpPr>
        <p:spPr>
          <a:xfrm>
            <a:off x="411480" y="3529584"/>
            <a:ext cx="2514600" cy="484632"/>
          </a:xfrm>
          <a:prstGeom prst="rect">
            <a:avLst/>
          </a:prstGeom>
          <a:solidFill>
            <a:srgbClr val="FFFFFF"/>
          </a:solidFill>
          <a:ln w="6350">
            <a:solidFill>
              <a:srgbClr val="D3DCE5"/>
            </a:solidFill>
            <a:prstDash val="solid"/>
          </a:ln>
        </p:spPr>
      </p:sp>
      <p:sp>
        <p:nvSpPr>
          <p:cNvPr id="38" name="Text 36"/>
          <p:cNvSpPr txBox="1"/>
          <p:nvPr/>
        </p:nvSpPr>
        <p:spPr>
          <a:xfrm>
            <a:off x="475488" y="3529584"/>
            <a:ext cx="2386584" cy="484632"/>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Offtake relationships</a:t>
            </a:r>
            <a:endParaRPr lang="en-US" sz="860" dirty="0"/>
          </a:p>
        </p:txBody>
      </p:sp>
      <p:sp>
        <p:nvSpPr>
          <p:cNvPr id="39" name="Shape 37"/>
          <p:cNvSpPr/>
          <p:nvPr/>
        </p:nvSpPr>
        <p:spPr>
          <a:xfrm>
            <a:off x="2926080" y="3529584"/>
            <a:ext cx="1325880" cy="484632"/>
          </a:xfrm>
          <a:prstGeom prst="rect">
            <a:avLst/>
          </a:prstGeom>
          <a:solidFill>
            <a:srgbClr val="FFFFFF"/>
          </a:solidFill>
          <a:ln w="6350">
            <a:solidFill>
              <a:srgbClr val="D3DCE5"/>
            </a:solidFill>
            <a:prstDash val="solid"/>
          </a:ln>
        </p:spPr>
      </p:sp>
      <p:sp>
        <p:nvSpPr>
          <p:cNvPr id="40" name="Text 38"/>
          <p:cNvSpPr txBox="1"/>
          <p:nvPr/>
        </p:nvSpPr>
        <p:spPr>
          <a:xfrm>
            <a:off x="2990088" y="3529584"/>
            <a:ext cx="1197864" cy="484632"/>
          </a:xfrm>
          <a:prstGeom prst="rect">
            <a:avLst/>
          </a:prstGeom>
          <a:noFill/>
          <a:ln/>
        </p:spPr>
        <p:txBody>
          <a:bodyPr wrap="square" lIns="0" tIns="0" rIns="0" bIns="0" rtlCol="0" anchor="ctr"/>
          <a:lstStyle/>
          <a:p>
            <a:pPr algn="ctr" indent="0" marL="0">
              <a:buNone/>
            </a:pPr>
            <a:r>
              <a:rPr lang="en-US" sz="860" b="1" dirty="0">
                <a:solidFill>
                  <a:srgbClr val="C2610A"/>
                </a:solidFill>
                <a:latin typeface="Calibri" pitchFamily="34" charset="0"/>
                <a:ea typeface="Calibri" pitchFamily="34" charset="-122"/>
                <a:cs typeface="Calibri" pitchFamily="34" charset="-120"/>
              </a:rPr>
              <a:t>Low-Medium</a:t>
            </a:r>
            <a:endParaRPr lang="en-US" sz="860" dirty="0"/>
          </a:p>
        </p:txBody>
      </p:sp>
      <p:sp>
        <p:nvSpPr>
          <p:cNvPr id="41" name="Shape 39"/>
          <p:cNvSpPr/>
          <p:nvPr/>
        </p:nvSpPr>
        <p:spPr>
          <a:xfrm>
            <a:off x="4251960" y="3529584"/>
            <a:ext cx="7534656" cy="484632"/>
          </a:xfrm>
          <a:prstGeom prst="rect">
            <a:avLst/>
          </a:prstGeom>
          <a:solidFill>
            <a:srgbClr val="FFFFFF"/>
          </a:solidFill>
          <a:ln w="6350">
            <a:solidFill>
              <a:srgbClr val="D3DCE5"/>
            </a:solidFill>
            <a:prstDash val="solid"/>
          </a:ln>
        </p:spPr>
      </p:sp>
      <p:sp>
        <p:nvSpPr>
          <p:cNvPr id="42" name="Text 40"/>
          <p:cNvSpPr txBox="1"/>
          <p:nvPr/>
        </p:nvSpPr>
        <p:spPr>
          <a:xfrm>
            <a:off x="4315968" y="3529584"/>
            <a:ext cx="7406640" cy="48463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Contracts are priced at prevailing market and re-tendered. Relationships help; they do not lock customers in.</a:t>
            </a:r>
            <a:endParaRPr lang="en-US" sz="860" dirty="0"/>
          </a:p>
        </p:txBody>
      </p:sp>
      <p:sp>
        <p:nvSpPr>
          <p:cNvPr id="43" name="Shape 41"/>
          <p:cNvSpPr/>
          <p:nvPr/>
        </p:nvSpPr>
        <p:spPr>
          <a:xfrm>
            <a:off x="411480" y="4014216"/>
            <a:ext cx="2514600" cy="484632"/>
          </a:xfrm>
          <a:prstGeom prst="rect">
            <a:avLst/>
          </a:prstGeom>
          <a:solidFill>
            <a:srgbClr val="F7F9FB"/>
          </a:solidFill>
          <a:ln w="6350">
            <a:solidFill>
              <a:srgbClr val="D3DCE5"/>
            </a:solidFill>
            <a:prstDash val="solid"/>
          </a:ln>
        </p:spPr>
      </p:sp>
      <p:sp>
        <p:nvSpPr>
          <p:cNvPr id="44" name="Text 42"/>
          <p:cNvSpPr txBox="1"/>
          <p:nvPr/>
        </p:nvSpPr>
        <p:spPr>
          <a:xfrm>
            <a:off x="475488" y="4014216"/>
            <a:ext cx="2386584" cy="484632"/>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Time</a:t>
            </a:r>
            <a:endParaRPr lang="en-US" sz="860" dirty="0"/>
          </a:p>
        </p:txBody>
      </p:sp>
      <p:sp>
        <p:nvSpPr>
          <p:cNvPr id="45" name="Shape 43"/>
          <p:cNvSpPr/>
          <p:nvPr/>
        </p:nvSpPr>
        <p:spPr>
          <a:xfrm>
            <a:off x="2926080" y="4014216"/>
            <a:ext cx="1325880" cy="484632"/>
          </a:xfrm>
          <a:prstGeom prst="rect">
            <a:avLst/>
          </a:prstGeom>
          <a:solidFill>
            <a:srgbClr val="F7F9FB"/>
          </a:solidFill>
          <a:ln w="6350">
            <a:solidFill>
              <a:srgbClr val="D3DCE5"/>
            </a:solidFill>
            <a:prstDash val="solid"/>
          </a:ln>
        </p:spPr>
      </p:sp>
      <p:sp>
        <p:nvSpPr>
          <p:cNvPr id="46" name="Text 44"/>
          <p:cNvSpPr txBox="1"/>
          <p:nvPr/>
        </p:nvSpPr>
        <p:spPr>
          <a:xfrm>
            <a:off x="2990088" y="4014216"/>
            <a:ext cx="1197864" cy="484632"/>
          </a:xfrm>
          <a:prstGeom prst="rect">
            <a:avLst/>
          </a:prstGeom>
          <a:noFill/>
          <a:ln/>
        </p:spPr>
        <p:txBody>
          <a:bodyPr wrap="square" lIns="0" tIns="0" rIns="0" bIns="0" rtlCol="0" anchor="ctr"/>
          <a:lstStyle/>
          <a:p>
            <a:pPr algn="ctr" indent="0" marL="0">
              <a:buNone/>
            </a:pPr>
            <a:r>
              <a:rPr lang="en-US" sz="860" b="1" dirty="0">
                <a:solidFill>
                  <a:srgbClr val="0E7C6B"/>
                </a:solidFill>
                <a:latin typeface="Calibri" pitchFamily="34" charset="0"/>
                <a:ea typeface="Calibri" pitchFamily="34" charset="-122"/>
                <a:cs typeface="Calibri" pitchFamily="34" charset="-120"/>
              </a:rPr>
              <a:t>High</a:t>
            </a:r>
            <a:endParaRPr lang="en-US" sz="860" dirty="0"/>
          </a:p>
        </p:txBody>
      </p:sp>
      <p:sp>
        <p:nvSpPr>
          <p:cNvPr id="47" name="Shape 45"/>
          <p:cNvSpPr/>
          <p:nvPr/>
        </p:nvSpPr>
        <p:spPr>
          <a:xfrm>
            <a:off x="4251960" y="4014216"/>
            <a:ext cx="7534656" cy="484632"/>
          </a:xfrm>
          <a:prstGeom prst="rect">
            <a:avLst/>
          </a:prstGeom>
          <a:solidFill>
            <a:srgbClr val="F7F9FB"/>
          </a:solidFill>
          <a:ln w="6350">
            <a:solidFill>
              <a:srgbClr val="D3DCE5"/>
            </a:solidFill>
            <a:prstDash val="solid"/>
          </a:ln>
        </p:spPr>
      </p:sp>
      <p:sp>
        <p:nvSpPr>
          <p:cNvPr id="48" name="Text 46"/>
          <p:cNvSpPr txBox="1"/>
          <p:nvPr/>
        </p:nvSpPr>
        <p:spPr>
          <a:xfrm>
            <a:off x="4315968" y="4014216"/>
            <a:ext cx="7406640" cy="484632"/>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First ore from P2000 is guided mid-2029 on a project studied since 2024. A greenfield project is a decade. Supply cannot respond to price inside a cycle.</a:t>
            </a:r>
            <a:endParaRPr lang="en-US" sz="860" dirty="0"/>
          </a:p>
        </p:txBody>
      </p:sp>
      <p:sp>
        <p:nvSpPr>
          <p:cNvPr id="49" name="Shape 47"/>
          <p:cNvSpPr/>
          <p:nvPr/>
        </p:nvSpPr>
        <p:spPr>
          <a:xfrm>
            <a:off x="411480" y="4544568"/>
            <a:ext cx="11375136" cy="1207008"/>
          </a:xfrm>
          <a:prstGeom prst="rect">
            <a:avLst/>
          </a:prstGeom>
          <a:solidFill>
            <a:srgbClr val="EEF2F6"/>
          </a:solidFill>
          <a:ln w="9525">
            <a:solidFill>
              <a:srgbClr val="D3DCE5"/>
            </a:solidFill>
            <a:prstDash val="solid"/>
          </a:ln>
        </p:spPr>
      </p:sp>
      <p:sp>
        <p:nvSpPr>
          <p:cNvPr id="50" name="Text 48"/>
          <p:cNvSpPr txBox="1"/>
          <p:nvPr/>
        </p:nvSpPr>
        <p:spPr>
          <a:xfrm>
            <a:off x="576072" y="4672584"/>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asymmetry that matters most</a:t>
            </a:r>
            <a:endParaRPr lang="en-US" sz="1150" dirty="0"/>
          </a:p>
        </p:txBody>
      </p:sp>
      <p:sp>
        <p:nvSpPr>
          <p:cNvPr id="51" name="Text 49"/>
          <p:cNvSpPr txBox="1"/>
          <p:nvPr/>
        </p:nvSpPr>
        <p:spPr>
          <a:xfrm>
            <a:off x="576072" y="5001768"/>
            <a:ext cx="11045952" cy="658368"/>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Time is the real barrier. Because supply takes five to ten years to respond and demand moves in eighteen-month cycles, this industry structurally overshoots in both directions - which is exactly the 2022 peak and the 2025 trough. It is also why a perpetuity struck at either extreme is meaningless, and why our three price scenarios converge rather than diverge. The cycle is the industry's defining feature, not an interruption to it.</a:t>
            </a:r>
            <a:endParaRPr lang="en-US" sz="940" dirty="0"/>
          </a:p>
        </p:txBody>
      </p:sp>
      <p:sp>
        <p:nvSpPr>
          <p:cNvPr id="52" name="Text 50"/>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Framework after George Yip, 'Barriers to Entry', 1982. Assessments are the team's, evidenced from company and industry sources cited elsewhere in this appendix.</a:t>
            </a:r>
            <a:endParaRPr lang="en-US" sz="720" dirty="0"/>
          </a:p>
        </p:txBody>
      </p:sp>
      <p:sp>
        <p:nvSpPr>
          <p:cNvPr id="53" name="Text 51"/>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C3</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Written to be useful rather than balanced: the weaknesses and threats are longer than the strengths, because that is what the evidence supports.</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C4  Strategic frameworks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5577840" cy="2084832"/>
          </a:xfrm>
          <a:prstGeom prst="rect">
            <a:avLst/>
          </a:prstGeom>
          <a:solidFill>
            <a:srgbClr val="D6EBE7"/>
          </a:solidFill>
          <a:ln w="9525">
            <a:solidFill>
              <a:srgbClr val="D3DCE5"/>
            </a:solidFill>
            <a:prstDash val="solid"/>
          </a:ln>
        </p:spPr>
      </p:sp>
      <p:sp>
        <p:nvSpPr>
          <p:cNvPr id="8" name="Text 6"/>
          <p:cNvSpPr txBox="1"/>
          <p:nvPr/>
        </p:nvSpPr>
        <p:spPr>
          <a:xfrm>
            <a:off x="576072" y="1426464"/>
            <a:ext cx="5266944"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Strengths</a:t>
            </a:r>
            <a:endParaRPr lang="en-US" sz="1150" dirty="0"/>
          </a:p>
        </p:txBody>
      </p:sp>
      <p:sp>
        <p:nvSpPr>
          <p:cNvPr id="9" name="Text 7"/>
          <p:cNvSpPr txBox="1"/>
          <p:nvPr/>
        </p:nvSpPr>
        <p:spPr>
          <a:xfrm>
            <a:off x="594360" y="1865376"/>
            <a:ext cx="5212080" cy="1408176"/>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Bottom-quartile cost position: A$569/t FOB, about US$425/t SC6-equivalent</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446Mt at 1.28% Li2O, one of the largest hard-rock resources globally</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A$2.29bn of cash and net cash of A$1.44bn after a full downturn</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Three expansions delivered through the trough; dividend reinstated</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The only non-China downstream route among the six: Calix plus POSCO</a:t>
            </a:r>
            <a:endParaRPr lang="en-US" sz="860" dirty="0"/>
          </a:p>
        </p:txBody>
      </p:sp>
      <p:sp>
        <p:nvSpPr>
          <p:cNvPr id="10" name="Shape 8"/>
          <p:cNvSpPr/>
          <p:nvPr/>
        </p:nvSpPr>
        <p:spPr>
          <a:xfrm>
            <a:off x="6208776" y="1298448"/>
            <a:ext cx="5577840" cy="2084832"/>
          </a:xfrm>
          <a:prstGeom prst="rect">
            <a:avLst/>
          </a:prstGeom>
          <a:solidFill>
            <a:srgbClr val="F7E2E2"/>
          </a:solidFill>
          <a:ln w="9525">
            <a:solidFill>
              <a:srgbClr val="D3DCE5"/>
            </a:solidFill>
            <a:prstDash val="solid"/>
          </a:ln>
        </p:spPr>
      </p:sp>
      <p:sp>
        <p:nvSpPr>
          <p:cNvPr id="11" name="Text 9"/>
          <p:cNvSpPr txBox="1"/>
          <p:nvPr/>
        </p:nvSpPr>
        <p:spPr>
          <a:xfrm>
            <a:off x="6373368" y="1426464"/>
            <a:ext cx="5266944" cy="365760"/>
          </a:xfrm>
          <a:prstGeom prst="rect">
            <a:avLst/>
          </a:prstGeom>
          <a:noFill/>
          <a:ln/>
        </p:spPr>
        <p:txBody>
          <a:bodyPr wrap="square" lIns="0" tIns="0" rIns="0" bIns="0" rtlCol="0" anchor="ctr"/>
          <a:lstStyle/>
          <a:p>
            <a:pPr indent="0" marL="0">
              <a:buNone/>
            </a:pPr>
            <a:r>
              <a:rPr lang="en-US" sz="1150" b="1" dirty="0">
                <a:solidFill>
                  <a:srgbClr val="A3282C"/>
                </a:solidFill>
                <a:latin typeface="Calibri" pitchFamily="34" charset="0"/>
                <a:ea typeface="Calibri" pitchFamily="34" charset="-122"/>
                <a:cs typeface="Calibri" pitchFamily="34" charset="-120"/>
              </a:rPr>
              <a:t>Weaknesses</a:t>
            </a:r>
            <a:endParaRPr lang="en-US" sz="1150" dirty="0"/>
          </a:p>
        </p:txBody>
      </p:sp>
      <p:sp>
        <p:nvSpPr>
          <p:cNvPr id="12" name="Text 10"/>
          <p:cNvSpPr txBox="1"/>
          <p:nvPr/>
        </p:nvSpPr>
        <p:spPr>
          <a:xfrm>
            <a:off x="6391656" y="1865376"/>
            <a:ext cx="5212080" cy="1408176"/>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One orebody, one commodity, one jurisdiction</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Net-zero target expressed as a decade, not a year; no SBTi validation found</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No Scope 3 disclosure and no emissions intensity KPI</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Ore Reserve not restated since August 2023</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No electric haul fleet or trolley assist, unlike Fortescue</a:t>
            </a:r>
            <a:endParaRPr lang="en-US" sz="860" dirty="0"/>
          </a:p>
        </p:txBody>
      </p:sp>
      <p:sp>
        <p:nvSpPr>
          <p:cNvPr id="13" name="Shape 11"/>
          <p:cNvSpPr/>
          <p:nvPr/>
        </p:nvSpPr>
        <p:spPr>
          <a:xfrm>
            <a:off x="411480" y="3511296"/>
            <a:ext cx="5577840" cy="2084832"/>
          </a:xfrm>
          <a:prstGeom prst="rect">
            <a:avLst/>
          </a:prstGeom>
          <a:solidFill>
            <a:srgbClr val="D6EBE7"/>
          </a:solidFill>
          <a:ln w="9525">
            <a:solidFill>
              <a:srgbClr val="D3DCE5"/>
            </a:solidFill>
            <a:prstDash val="solid"/>
          </a:ln>
        </p:spPr>
      </p:sp>
      <p:sp>
        <p:nvSpPr>
          <p:cNvPr id="14" name="Text 12"/>
          <p:cNvSpPr txBox="1"/>
          <p:nvPr/>
        </p:nvSpPr>
        <p:spPr>
          <a:xfrm>
            <a:off x="576072" y="3639312"/>
            <a:ext cx="5266944"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Opportunities</a:t>
            </a:r>
            <a:endParaRPr lang="en-US" sz="1150" dirty="0"/>
          </a:p>
        </p:txBody>
      </p:sp>
      <p:sp>
        <p:nvSpPr>
          <p:cNvPr id="15" name="Text 13"/>
          <p:cNvSpPr txBox="1"/>
          <p:nvPr/>
        </p:nvSpPr>
        <p:spPr>
          <a:xfrm>
            <a:off x="594360" y="4078224"/>
            <a:ext cx="5212080" cy="1408176"/>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P2000: A$2.6bn incremental NPV at PFS, study due December-quarter 2026</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Mid-stream lithium phosphate: first production guided this quarter</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Option to lift the POSCO stake from 18% to 30%</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EU Battery Regulation and US FEOC rules turning provenance into a purchase criterion</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Colina as a second jurisdiction from the 2030s</a:t>
            </a:r>
            <a:endParaRPr lang="en-US" sz="860" dirty="0"/>
          </a:p>
        </p:txBody>
      </p:sp>
      <p:sp>
        <p:nvSpPr>
          <p:cNvPr id="16" name="Shape 14"/>
          <p:cNvSpPr/>
          <p:nvPr/>
        </p:nvSpPr>
        <p:spPr>
          <a:xfrm>
            <a:off x="6208776" y="3511296"/>
            <a:ext cx="5577840" cy="2084832"/>
          </a:xfrm>
          <a:prstGeom prst="rect">
            <a:avLst/>
          </a:prstGeom>
          <a:solidFill>
            <a:srgbClr val="F7E2E2"/>
          </a:solidFill>
          <a:ln w="9525">
            <a:solidFill>
              <a:srgbClr val="D3DCE5"/>
            </a:solidFill>
            <a:prstDash val="solid"/>
          </a:ln>
        </p:spPr>
      </p:sp>
      <p:sp>
        <p:nvSpPr>
          <p:cNvPr id="17" name="Text 15"/>
          <p:cNvSpPr txBox="1"/>
          <p:nvPr/>
        </p:nvSpPr>
        <p:spPr>
          <a:xfrm>
            <a:off x="6373368" y="3639312"/>
            <a:ext cx="5266944" cy="365760"/>
          </a:xfrm>
          <a:prstGeom prst="rect">
            <a:avLst/>
          </a:prstGeom>
          <a:noFill/>
          <a:ln/>
        </p:spPr>
        <p:txBody>
          <a:bodyPr wrap="square" lIns="0" tIns="0" rIns="0" bIns="0" rtlCol="0" anchor="ctr"/>
          <a:lstStyle/>
          <a:p>
            <a:pPr indent="0" marL="0">
              <a:buNone/>
            </a:pPr>
            <a:r>
              <a:rPr lang="en-US" sz="1150" b="1" dirty="0">
                <a:solidFill>
                  <a:srgbClr val="A3282C"/>
                </a:solidFill>
                <a:latin typeface="Calibri" pitchFamily="34" charset="0"/>
                <a:ea typeface="Calibri" pitchFamily="34" charset="-122"/>
                <a:cs typeface="Calibri" pitchFamily="34" charset="-120"/>
              </a:rPr>
              <a:t>Threats</a:t>
            </a:r>
            <a:endParaRPr lang="en-US" sz="1150" dirty="0"/>
          </a:p>
        </p:txBody>
      </p:sp>
      <p:sp>
        <p:nvSpPr>
          <p:cNvPr id="18" name="Text 16"/>
          <p:cNvSpPr txBox="1"/>
          <p:nvPr/>
        </p:nvSpPr>
        <p:spPr>
          <a:xfrm>
            <a:off x="6391656" y="4078224"/>
            <a:ext cx="5212080" cy="1408176"/>
          </a:xfrm>
          <a:prstGeom prst="rect">
            <a:avLst/>
          </a:prstGeom>
          <a:noFill/>
          <a:ln/>
        </p:spPr>
        <p:txBody>
          <a:bodyPr wrap="square" lIns="0" tIns="0" rIns="0" bIns="0" rtlCol="0" anchor="t"/>
          <a:lstStyle/>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Restart supply: Bald Hill, Finniss and Jianxiawo all returning</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Wood Mackenzie's base case of surplus until the early 2030s</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Short-covering fuel is spent: 20% of shares to about 6.8%</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Sodium-ion substitution in stationary storage late this decade</a:t>
            </a:r>
            <a:endParaRPr lang="en-US" sz="860" dirty="0"/>
          </a:p>
          <a:p>
            <a:pPr marL="342900" indent="-342900">
              <a:lnSpc>
                <a:spcPct val="100000"/>
              </a:lnSpc>
              <a:spcAft>
                <a:spcPts val="300"/>
              </a:spcAft>
              <a:buSzPct val="100000"/>
              <a:buChar char="▪"/>
            </a:pPr>
            <a:r>
              <a:rPr lang="en-US" sz="860" dirty="0">
                <a:solidFill>
                  <a:srgbClr val="1B2733"/>
                </a:solidFill>
                <a:latin typeface="Calibri" pitchFamily="34" charset="0"/>
                <a:ea typeface="Calibri" pitchFamily="34" charset="-122"/>
                <a:cs typeface="Calibri" pitchFamily="34" charset="-120"/>
              </a:rPr>
              <a:t>The Pilbara offsets regime found independently underfunded</a:t>
            </a:r>
            <a:endParaRPr lang="en-US" sz="860" dirty="0"/>
          </a:p>
        </p:txBody>
      </p:sp>
      <p:sp>
        <p:nvSpPr>
          <p:cNvPr id="19" name="Text 17"/>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as cited throughout this appendix. This SWOT is a summary of evidence presented elsewhere, not a separate assertion.</a:t>
            </a:r>
            <a:endParaRPr lang="en-US" sz="720" dirty="0"/>
          </a:p>
        </p:txBody>
      </p:sp>
      <p:sp>
        <p:nvSpPr>
          <p:cNvPr id="20" name="Text 18"/>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C4</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mbria" pitchFamily="34" charset="0"/>
                <a:ea typeface="Cambria" pitchFamily="34" charset="-122"/>
                <a:cs typeface="Cambria" pitchFamily="34" charset="-120"/>
              </a:rPr>
              <a:t>The two things that decide who gets to act counter-cyclically. PLS is the only one of the six with both.</a:t>
            </a:r>
            <a:endParaRPr lang="en-US" sz="170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C5  Strategic frameworks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6766560" cy="4700016"/>
          </a:xfrm>
          <a:prstGeom prst="rect">
            <a:avLst/>
          </a:prstGeom>
          <a:solidFill>
            <a:srgbClr val="F7F9FB"/>
          </a:solidFill>
          <a:ln w="9525">
            <a:solidFill>
              <a:srgbClr val="D3DCE5"/>
            </a:solidFill>
            <a:prstDash val="solid"/>
          </a:ln>
        </p:spPr>
      </p:sp>
      <p:sp>
        <p:nvSpPr>
          <p:cNvPr id="8" name="Text 6"/>
          <p:cNvSpPr txBox="1"/>
          <p:nvPr/>
        </p:nvSpPr>
        <p:spPr>
          <a:xfrm>
            <a:off x="914400" y="5724144"/>
            <a:ext cx="5852160" cy="237744"/>
          </a:xfrm>
          <a:prstGeom prst="rect">
            <a:avLst/>
          </a:prstGeom>
          <a:noFill/>
          <a:ln/>
        </p:spPr>
        <p:txBody>
          <a:bodyPr wrap="square" lIns="0" tIns="0" rIns="0" bIns="0" rtlCol="0" anchor="ctr"/>
          <a:lstStyle/>
          <a:p>
            <a:pPr algn="ctr" indent="0" marL="0">
              <a:buNone/>
            </a:pPr>
            <a:r>
              <a:rPr lang="en-US" sz="900" b="1" dirty="0">
                <a:solidFill>
                  <a:srgbClr val="5F7183"/>
                </a:solidFill>
                <a:latin typeface="Calibri" pitchFamily="34" charset="0"/>
                <a:ea typeface="Calibri" pitchFamily="34" charset="-122"/>
                <a:cs typeface="Calibri" pitchFamily="34" charset="-120"/>
              </a:rPr>
              <a:t>Lithium exposure  →</a:t>
            </a:r>
            <a:endParaRPr lang="en-US" sz="900" dirty="0"/>
          </a:p>
        </p:txBody>
      </p:sp>
      <p:sp>
        <p:nvSpPr>
          <p:cNvPr id="9" name="Text 7"/>
          <p:cNvSpPr txBox="1"/>
          <p:nvPr/>
        </p:nvSpPr>
        <p:spPr>
          <a:xfrm rot="16200000">
            <a:off x="-868680" y="3511296"/>
            <a:ext cx="2743200" cy="237744"/>
          </a:xfrm>
          <a:prstGeom prst="rect">
            <a:avLst/>
          </a:prstGeom>
          <a:noFill/>
          <a:ln/>
        </p:spPr>
        <p:txBody>
          <a:bodyPr wrap="square" lIns="0" tIns="0" rIns="0" bIns="0" rtlCol="0" anchor="ctr"/>
          <a:lstStyle/>
          <a:p>
            <a:pPr algn="ctr" indent="0" marL="0">
              <a:buNone/>
            </a:pPr>
            <a:r>
              <a:rPr lang="en-US" sz="900" b="1" dirty="0">
                <a:solidFill>
                  <a:srgbClr val="5F7183"/>
                </a:solidFill>
                <a:latin typeface="Calibri" pitchFamily="34" charset="0"/>
                <a:ea typeface="Calibri" pitchFamily="34" charset="-122"/>
                <a:cs typeface="Calibri" pitchFamily="34" charset="-120"/>
              </a:rPr>
              <a:t>Balance-sheet capacity  →</a:t>
            </a:r>
            <a:endParaRPr lang="en-US" sz="900" dirty="0"/>
          </a:p>
        </p:txBody>
      </p:sp>
      <p:sp>
        <p:nvSpPr>
          <p:cNvPr id="10" name="Shape 8"/>
          <p:cNvSpPr/>
          <p:nvPr/>
        </p:nvSpPr>
        <p:spPr>
          <a:xfrm>
            <a:off x="1273302" y="1928927"/>
            <a:ext cx="182880" cy="182880"/>
          </a:xfrm>
          <a:prstGeom prst="ellipse">
            <a:avLst/>
          </a:prstGeom>
          <a:solidFill>
            <a:srgbClr val="8C9BA9"/>
          </a:solidFill>
          <a:ln/>
        </p:spPr>
      </p:sp>
      <p:sp>
        <p:nvSpPr>
          <p:cNvPr id="11" name="Text 9"/>
          <p:cNvSpPr txBox="1"/>
          <p:nvPr/>
        </p:nvSpPr>
        <p:spPr>
          <a:xfrm>
            <a:off x="404622" y="2130095"/>
            <a:ext cx="1920240" cy="219456"/>
          </a:xfrm>
          <a:prstGeom prst="rect">
            <a:avLst/>
          </a:prstGeom>
          <a:noFill/>
          <a:ln/>
        </p:spPr>
        <p:txBody>
          <a:bodyPr wrap="square" lIns="0" tIns="0" rIns="0" bIns="0" rtlCol="0" anchor="ctr"/>
          <a:lstStyle/>
          <a:p>
            <a:pPr algn="ctr" indent="0" marL="0">
              <a:buNone/>
            </a:pPr>
            <a:r>
              <a:rPr lang="en-US" sz="850" dirty="0">
                <a:solidFill>
                  <a:srgbClr val="5F7183"/>
                </a:solidFill>
                <a:latin typeface="Calibri" pitchFamily="34" charset="0"/>
                <a:ea typeface="Calibri" pitchFamily="34" charset="-122"/>
                <a:cs typeface="Calibri" pitchFamily="34" charset="-120"/>
              </a:rPr>
              <a:t>BHP</a:t>
            </a:r>
            <a:endParaRPr lang="en-US" sz="850" dirty="0"/>
          </a:p>
        </p:txBody>
      </p:sp>
      <p:sp>
        <p:nvSpPr>
          <p:cNvPr id="12" name="Shape 10"/>
          <p:cNvSpPr/>
          <p:nvPr/>
        </p:nvSpPr>
        <p:spPr>
          <a:xfrm>
            <a:off x="2610612" y="2448763"/>
            <a:ext cx="182880" cy="182880"/>
          </a:xfrm>
          <a:prstGeom prst="ellipse">
            <a:avLst/>
          </a:prstGeom>
          <a:solidFill>
            <a:srgbClr val="8C9BA9"/>
          </a:solidFill>
          <a:ln/>
        </p:spPr>
      </p:sp>
      <p:sp>
        <p:nvSpPr>
          <p:cNvPr id="13" name="Text 11"/>
          <p:cNvSpPr txBox="1"/>
          <p:nvPr/>
        </p:nvSpPr>
        <p:spPr>
          <a:xfrm>
            <a:off x="1741932" y="2649931"/>
            <a:ext cx="1920240" cy="219456"/>
          </a:xfrm>
          <a:prstGeom prst="rect">
            <a:avLst/>
          </a:prstGeom>
          <a:noFill/>
          <a:ln/>
        </p:spPr>
        <p:txBody>
          <a:bodyPr wrap="square" lIns="0" tIns="0" rIns="0" bIns="0" rtlCol="0" anchor="ctr"/>
          <a:lstStyle/>
          <a:p>
            <a:pPr algn="ctr" indent="0" marL="0">
              <a:buNone/>
            </a:pPr>
            <a:r>
              <a:rPr lang="en-US" sz="850" dirty="0">
                <a:solidFill>
                  <a:srgbClr val="5F7183"/>
                </a:solidFill>
                <a:latin typeface="Calibri" pitchFamily="34" charset="0"/>
                <a:ea typeface="Calibri" pitchFamily="34" charset="-122"/>
                <a:cs typeface="Calibri" pitchFamily="34" charset="-120"/>
              </a:rPr>
              <a:t>Rio Tinto</a:t>
            </a:r>
            <a:endParaRPr lang="en-US" sz="850" dirty="0"/>
          </a:p>
        </p:txBody>
      </p:sp>
      <p:sp>
        <p:nvSpPr>
          <p:cNvPr id="14" name="Shape 12"/>
          <p:cNvSpPr/>
          <p:nvPr/>
        </p:nvSpPr>
        <p:spPr>
          <a:xfrm>
            <a:off x="1166317" y="2656698"/>
            <a:ext cx="182880" cy="182880"/>
          </a:xfrm>
          <a:prstGeom prst="ellipse">
            <a:avLst/>
          </a:prstGeom>
          <a:solidFill>
            <a:srgbClr val="8C9BA9"/>
          </a:solidFill>
          <a:ln/>
        </p:spPr>
      </p:sp>
      <p:sp>
        <p:nvSpPr>
          <p:cNvPr id="15" name="Text 13"/>
          <p:cNvSpPr txBox="1"/>
          <p:nvPr/>
        </p:nvSpPr>
        <p:spPr>
          <a:xfrm>
            <a:off x="297637" y="2857866"/>
            <a:ext cx="1920240" cy="219456"/>
          </a:xfrm>
          <a:prstGeom prst="rect">
            <a:avLst/>
          </a:prstGeom>
          <a:noFill/>
          <a:ln/>
        </p:spPr>
        <p:txBody>
          <a:bodyPr wrap="square" lIns="0" tIns="0" rIns="0" bIns="0" rtlCol="0" anchor="ctr"/>
          <a:lstStyle/>
          <a:p>
            <a:pPr algn="ctr" indent="0" marL="0">
              <a:buNone/>
            </a:pPr>
            <a:r>
              <a:rPr lang="en-US" sz="850" dirty="0">
                <a:solidFill>
                  <a:srgbClr val="5F7183"/>
                </a:solidFill>
                <a:latin typeface="Calibri" pitchFamily="34" charset="0"/>
                <a:ea typeface="Calibri" pitchFamily="34" charset="-122"/>
                <a:cs typeface="Calibri" pitchFamily="34" charset="-120"/>
              </a:rPr>
              <a:t>Fortescue</a:t>
            </a:r>
            <a:endParaRPr lang="en-US" sz="850" dirty="0"/>
          </a:p>
        </p:txBody>
      </p:sp>
      <p:sp>
        <p:nvSpPr>
          <p:cNvPr id="16" name="Shape 14"/>
          <p:cNvSpPr/>
          <p:nvPr/>
        </p:nvSpPr>
        <p:spPr>
          <a:xfrm>
            <a:off x="2075688" y="3349813"/>
            <a:ext cx="182880" cy="182880"/>
          </a:xfrm>
          <a:prstGeom prst="ellipse">
            <a:avLst/>
          </a:prstGeom>
          <a:solidFill>
            <a:srgbClr val="8C9BA9"/>
          </a:solidFill>
          <a:ln/>
        </p:spPr>
      </p:sp>
      <p:sp>
        <p:nvSpPr>
          <p:cNvPr id="17" name="Text 15"/>
          <p:cNvSpPr txBox="1"/>
          <p:nvPr/>
        </p:nvSpPr>
        <p:spPr>
          <a:xfrm>
            <a:off x="1207008" y="3550981"/>
            <a:ext cx="1920240" cy="219456"/>
          </a:xfrm>
          <a:prstGeom prst="rect">
            <a:avLst/>
          </a:prstGeom>
          <a:noFill/>
          <a:ln/>
        </p:spPr>
        <p:txBody>
          <a:bodyPr wrap="square" lIns="0" tIns="0" rIns="0" bIns="0" rtlCol="0" anchor="ctr"/>
          <a:lstStyle/>
          <a:p>
            <a:pPr algn="ctr" indent="0" marL="0">
              <a:buNone/>
            </a:pPr>
            <a:r>
              <a:rPr lang="en-US" sz="850" dirty="0">
                <a:solidFill>
                  <a:srgbClr val="5F7183"/>
                </a:solidFill>
                <a:latin typeface="Calibri" pitchFamily="34" charset="0"/>
                <a:ea typeface="Calibri" pitchFamily="34" charset="-122"/>
                <a:cs typeface="Calibri" pitchFamily="34" charset="-120"/>
              </a:rPr>
              <a:t>South32</a:t>
            </a:r>
            <a:endParaRPr lang="en-US" sz="850" dirty="0"/>
          </a:p>
        </p:txBody>
      </p:sp>
      <p:sp>
        <p:nvSpPr>
          <p:cNvPr id="18" name="Shape 16"/>
          <p:cNvSpPr/>
          <p:nvPr/>
        </p:nvSpPr>
        <p:spPr>
          <a:xfrm>
            <a:off x="4322369" y="4528109"/>
            <a:ext cx="182880" cy="182880"/>
          </a:xfrm>
          <a:prstGeom prst="ellipse">
            <a:avLst/>
          </a:prstGeom>
          <a:solidFill>
            <a:srgbClr val="C2610A"/>
          </a:solidFill>
          <a:ln/>
        </p:spPr>
      </p:sp>
      <p:sp>
        <p:nvSpPr>
          <p:cNvPr id="19" name="Text 17"/>
          <p:cNvSpPr txBox="1"/>
          <p:nvPr/>
        </p:nvSpPr>
        <p:spPr>
          <a:xfrm>
            <a:off x="3453689" y="4729277"/>
            <a:ext cx="1920240" cy="219456"/>
          </a:xfrm>
          <a:prstGeom prst="rect">
            <a:avLst/>
          </a:prstGeom>
          <a:noFill/>
          <a:ln/>
        </p:spPr>
        <p:txBody>
          <a:bodyPr wrap="square" lIns="0" tIns="0" rIns="0" bIns="0" rtlCol="0" anchor="ctr"/>
          <a:lstStyle/>
          <a:p>
            <a:pPr algn="ctr" indent="0" marL="0">
              <a:buNone/>
            </a:pPr>
            <a:r>
              <a:rPr lang="en-US" sz="850" dirty="0">
                <a:solidFill>
                  <a:srgbClr val="5F7183"/>
                </a:solidFill>
                <a:latin typeface="Calibri" pitchFamily="34" charset="0"/>
                <a:ea typeface="Calibri" pitchFamily="34" charset="-122"/>
                <a:cs typeface="Calibri" pitchFamily="34" charset="-120"/>
              </a:rPr>
              <a:t>Mineral Resources</a:t>
            </a:r>
            <a:endParaRPr lang="en-US" sz="850" dirty="0"/>
          </a:p>
        </p:txBody>
      </p:sp>
      <p:sp>
        <p:nvSpPr>
          <p:cNvPr id="20" name="Shape 18"/>
          <p:cNvSpPr/>
          <p:nvPr/>
        </p:nvSpPr>
        <p:spPr>
          <a:xfrm>
            <a:off x="6032754" y="2463211"/>
            <a:ext cx="292608" cy="292608"/>
          </a:xfrm>
          <a:prstGeom prst="ellipse">
            <a:avLst/>
          </a:prstGeom>
          <a:solidFill>
            <a:srgbClr val="0E7C6B"/>
          </a:solidFill>
          <a:ln/>
        </p:spPr>
      </p:sp>
      <p:sp>
        <p:nvSpPr>
          <p:cNvPr id="21" name="Text 19"/>
          <p:cNvSpPr txBox="1"/>
          <p:nvPr/>
        </p:nvSpPr>
        <p:spPr>
          <a:xfrm>
            <a:off x="5218938" y="2774107"/>
            <a:ext cx="1920240" cy="219456"/>
          </a:xfrm>
          <a:prstGeom prst="rect">
            <a:avLst/>
          </a:prstGeom>
          <a:noFill/>
          <a:ln/>
        </p:spPr>
        <p:txBody>
          <a:bodyPr wrap="square" lIns="0" tIns="0" rIns="0" bIns="0" rtlCol="0" anchor="ctr"/>
          <a:lstStyle/>
          <a:p>
            <a:pPr algn="ctr" indent="0" marL="0">
              <a:buNone/>
            </a:pPr>
            <a:r>
              <a:rPr lang="en-US" sz="950" b="1" dirty="0">
                <a:solidFill>
                  <a:srgbClr val="0E7C6B"/>
                </a:solidFill>
                <a:latin typeface="Calibri" pitchFamily="34" charset="0"/>
                <a:ea typeface="Calibri" pitchFamily="34" charset="-122"/>
                <a:cs typeface="Calibri" pitchFamily="34" charset="-120"/>
              </a:rPr>
              <a:t>PLS Group</a:t>
            </a:r>
            <a:endParaRPr lang="en-US" sz="950" dirty="0"/>
          </a:p>
        </p:txBody>
      </p:sp>
      <p:sp>
        <p:nvSpPr>
          <p:cNvPr id="22" name="Shape 20"/>
          <p:cNvSpPr/>
          <p:nvPr/>
        </p:nvSpPr>
        <p:spPr>
          <a:xfrm>
            <a:off x="7379208" y="1298448"/>
            <a:ext cx="4407408" cy="4700016"/>
          </a:xfrm>
          <a:prstGeom prst="rect">
            <a:avLst/>
          </a:prstGeom>
          <a:solidFill>
            <a:srgbClr val="D6EBE7"/>
          </a:solidFill>
          <a:ln w="9525">
            <a:solidFill>
              <a:srgbClr val="AFD3CC"/>
            </a:solidFill>
            <a:prstDash val="solid"/>
          </a:ln>
        </p:spPr>
      </p:sp>
      <p:sp>
        <p:nvSpPr>
          <p:cNvPr id="23" name="Text 21"/>
          <p:cNvSpPr txBox="1"/>
          <p:nvPr/>
        </p:nvSpPr>
        <p:spPr>
          <a:xfrm>
            <a:off x="7543800" y="1426464"/>
            <a:ext cx="4096512"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Reading the chart</a:t>
            </a:r>
            <a:endParaRPr lang="en-US" sz="1150" dirty="0"/>
          </a:p>
        </p:txBody>
      </p:sp>
      <p:sp>
        <p:nvSpPr>
          <p:cNvPr id="24" name="Text 22"/>
          <p:cNvSpPr txBox="1"/>
          <p:nvPr/>
        </p:nvSpPr>
        <p:spPr>
          <a:xfrm>
            <a:off x="7562088" y="1865376"/>
            <a:ext cx="4041648" cy="4023360"/>
          </a:xfrm>
          <a:prstGeom prst="rect">
            <a:avLst/>
          </a:prstGeom>
          <a:noFill/>
          <a:ln/>
        </p:spPr>
        <p:txBody>
          <a:bodyPr wrap="square" lIns="0" tIns="0" rIns="0" bIns="0" rtlCol="0" anchor="t"/>
          <a:lstStyle/>
          <a:p>
            <a:pPr marL="342900" indent="-342900">
              <a:lnSpc>
                <a:spcPct val="100000"/>
              </a:lnSpc>
              <a:spcAft>
                <a:spcPts val="400"/>
              </a:spcAft>
              <a:buSzPct val="100000"/>
              <a:buChar char="▪"/>
            </a:pPr>
            <a:r>
              <a:rPr lang="en-US" sz="880" dirty="0">
                <a:solidFill>
                  <a:srgbClr val="1B2733"/>
                </a:solidFill>
                <a:latin typeface="Calibri" pitchFamily="34" charset="0"/>
                <a:ea typeface="Calibri" pitchFamily="34" charset="-122"/>
                <a:cs typeface="Calibri" pitchFamily="34" charset="-120"/>
              </a:rPr>
              <a:t>Vertical axis is capacity to act: net cash or low gearing, and the ability to fund growth through a trough.</a:t>
            </a:r>
            <a:endParaRPr lang="en-US" sz="880" dirty="0"/>
          </a:p>
          <a:p>
            <a:pPr marL="342900" indent="-342900">
              <a:lnSpc>
                <a:spcPct val="100000"/>
              </a:lnSpc>
              <a:spcAft>
                <a:spcPts val="400"/>
              </a:spcAft>
              <a:buSzPct val="100000"/>
              <a:buChar char="▪"/>
            </a:pPr>
            <a:r>
              <a:rPr lang="en-US" sz="880" dirty="0">
                <a:solidFill>
                  <a:srgbClr val="1B2733"/>
                </a:solidFill>
                <a:latin typeface="Calibri" pitchFamily="34" charset="0"/>
                <a:ea typeface="Calibri" pitchFamily="34" charset="-122"/>
                <a:cs typeface="Calibri" pitchFamily="34" charset="-120"/>
              </a:rPr>
              <a:t>Horizontal axis is how much of the business is actually lithium.</a:t>
            </a:r>
            <a:endParaRPr lang="en-US" sz="880" dirty="0"/>
          </a:p>
          <a:p>
            <a:pPr marL="342900" indent="-342900">
              <a:lnSpc>
                <a:spcPct val="100000"/>
              </a:lnSpc>
              <a:spcAft>
                <a:spcPts val="400"/>
              </a:spcAft>
              <a:buSzPct val="100000"/>
              <a:buChar char="▪"/>
            </a:pPr>
            <a:r>
              <a:rPr lang="en-US" sz="880" dirty="0">
                <a:solidFill>
                  <a:srgbClr val="1B2733"/>
                </a:solidFill>
                <a:latin typeface="Calibri" pitchFamily="34" charset="0"/>
                <a:ea typeface="Calibri" pitchFamily="34" charset="-122"/>
                <a:cs typeface="Calibri" pitchFamily="34" charset="-120"/>
              </a:rPr>
              <a:t>BHP, Rio Tinto, Fortescue and South32 have the balance sheet but not the exposure. A lithium recovery barely moves their earnings.</a:t>
            </a:r>
            <a:endParaRPr lang="en-US" sz="880" dirty="0"/>
          </a:p>
          <a:p>
            <a:pPr marL="342900" indent="-342900">
              <a:lnSpc>
                <a:spcPct val="100000"/>
              </a:lnSpc>
              <a:spcAft>
                <a:spcPts val="400"/>
              </a:spcAft>
              <a:buSzPct val="100000"/>
              <a:buChar char="▪"/>
            </a:pPr>
            <a:r>
              <a:rPr lang="en-US" sz="880" dirty="0">
                <a:solidFill>
                  <a:srgbClr val="1B2733"/>
                </a:solidFill>
                <a:latin typeface="Calibri" pitchFamily="34" charset="0"/>
                <a:ea typeface="Calibri" pitchFamily="34" charset="-122"/>
                <a:cs typeface="Calibri" pitchFamily="34" charset="-120"/>
              </a:rPr>
              <a:t>Mineral Resources has the exposure but carries roughly US$4.3bn of net debt at 1.7x EBITDA, which constrains what it can do at the bottom of a cycle.</a:t>
            </a:r>
            <a:endParaRPr lang="en-US" sz="880" dirty="0"/>
          </a:p>
          <a:p>
            <a:pPr marL="342900" indent="-342900">
              <a:lnSpc>
                <a:spcPct val="100000"/>
              </a:lnSpc>
              <a:spcAft>
                <a:spcPts val="400"/>
              </a:spcAft>
              <a:buSzPct val="100000"/>
              <a:buChar char="▪"/>
            </a:pPr>
            <a:r>
              <a:rPr lang="en-US" sz="880" dirty="0">
                <a:solidFill>
                  <a:srgbClr val="1B2733"/>
                </a:solidFill>
                <a:latin typeface="Calibri" pitchFamily="34" charset="0"/>
                <a:ea typeface="Calibri" pitchFamily="34" charset="-122"/>
                <a:cs typeface="Calibri" pitchFamily="34" charset="-120"/>
              </a:rPr>
              <a:t>PLS has both. That is why it could idle Ngungaju, buy Latin Resources in scrip at the trough, restart when prices recovered, reinstate a dividend and still hold A$2.29bn.</a:t>
            </a:r>
            <a:endParaRPr lang="en-US" sz="880" dirty="0"/>
          </a:p>
          <a:p>
            <a:pPr marL="342900" indent="-342900">
              <a:lnSpc>
                <a:spcPct val="100000"/>
              </a:lnSpc>
              <a:spcAft>
                <a:spcPts val="400"/>
              </a:spcAft>
              <a:buSzPct val="100000"/>
              <a:buChar char="▪"/>
            </a:pPr>
            <a:r>
              <a:rPr lang="en-US" sz="880" dirty="0">
                <a:solidFill>
                  <a:srgbClr val="1B2733"/>
                </a:solidFill>
                <a:latin typeface="Calibri" pitchFamily="34" charset="0"/>
                <a:ea typeface="Calibri" pitchFamily="34" charset="-122"/>
                <a:cs typeface="Calibri" pitchFamily="34" charset="-120"/>
              </a:rPr>
              <a:t>Position on this chart is our assessment, not a computed score.</a:t>
            </a:r>
            <a:endParaRPr lang="en-US" sz="880" dirty="0"/>
          </a:p>
        </p:txBody>
      </p:sp>
      <p:sp>
        <p:nvSpPr>
          <p:cNvPr id="25" name="Text 23"/>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company FY26 results and balance sheets. Axis positions are the team's qualitative assessment and are illustrative rather than measured.</a:t>
            </a:r>
            <a:endParaRPr lang="en-US" sz="720" dirty="0"/>
          </a:p>
        </p:txBody>
      </p:sp>
      <p:sp>
        <p:nvSpPr>
          <p:cNvPr id="26" name="Text 24"/>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C5</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Each of the five is a defensible investment. None of them is a shared-value investment in the sense this case defines.</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C6  Strategic frameworks</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737360" cy="292608"/>
          </a:xfrm>
          <a:prstGeom prst="rect">
            <a:avLst/>
          </a:prstGeom>
          <a:solidFill>
            <a:srgbClr val="10233A"/>
          </a:solidFill>
          <a:ln/>
        </p:spPr>
      </p:sp>
      <p:sp>
        <p:nvSpPr>
          <p:cNvPr id="8" name="Text 6"/>
          <p:cNvSpPr txBox="1"/>
          <p:nvPr/>
        </p:nvSpPr>
        <p:spPr>
          <a:xfrm>
            <a:off x="475488" y="1298448"/>
            <a:ext cx="160934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Company</a:t>
            </a:r>
            <a:endParaRPr lang="en-US" sz="900" dirty="0"/>
          </a:p>
        </p:txBody>
      </p:sp>
      <p:sp>
        <p:nvSpPr>
          <p:cNvPr id="9" name="Shape 7"/>
          <p:cNvSpPr/>
          <p:nvPr/>
        </p:nvSpPr>
        <p:spPr>
          <a:xfrm>
            <a:off x="2148840" y="1298448"/>
            <a:ext cx="3977640" cy="292608"/>
          </a:xfrm>
          <a:prstGeom prst="rect">
            <a:avLst/>
          </a:prstGeom>
          <a:solidFill>
            <a:srgbClr val="10233A"/>
          </a:solidFill>
          <a:ln/>
        </p:spPr>
      </p:sp>
      <p:sp>
        <p:nvSpPr>
          <p:cNvPr id="10" name="Text 8"/>
          <p:cNvSpPr txBox="1"/>
          <p:nvPr/>
        </p:nvSpPr>
        <p:spPr>
          <a:xfrm>
            <a:off x="2212848" y="1298448"/>
            <a:ext cx="38496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The case for it</a:t>
            </a:r>
            <a:endParaRPr lang="en-US" sz="900" dirty="0"/>
          </a:p>
        </p:txBody>
      </p:sp>
      <p:sp>
        <p:nvSpPr>
          <p:cNvPr id="11" name="Shape 9"/>
          <p:cNvSpPr/>
          <p:nvPr/>
        </p:nvSpPr>
        <p:spPr>
          <a:xfrm>
            <a:off x="6126480" y="1298448"/>
            <a:ext cx="5660136" cy="292608"/>
          </a:xfrm>
          <a:prstGeom prst="rect">
            <a:avLst/>
          </a:prstGeom>
          <a:solidFill>
            <a:srgbClr val="10233A"/>
          </a:solidFill>
          <a:ln/>
        </p:spPr>
      </p:sp>
      <p:sp>
        <p:nvSpPr>
          <p:cNvPr id="12" name="Text 10"/>
          <p:cNvSpPr txBox="1"/>
          <p:nvPr/>
        </p:nvSpPr>
        <p:spPr>
          <a:xfrm>
            <a:off x="6190488" y="1298448"/>
            <a:ext cx="553212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 we did not pick it for THIS mandate</a:t>
            </a:r>
            <a:endParaRPr lang="en-US" sz="900" dirty="0"/>
          </a:p>
        </p:txBody>
      </p:sp>
      <p:sp>
        <p:nvSpPr>
          <p:cNvPr id="13" name="Shape 11"/>
          <p:cNvSpPr/>
          <p:nvPr/>
        </p:nvSpPr>
        <p:spPr>
          <a:xfrm>
            <a:off x="411480" y="1591056"/>
            <a:ext cx="1737360" cy="713232"/>
          </a:xfrm>
          <a:prstGeom prst="rect">
            <a:avLst/>
          </a:prstGeom>
          <a:solidFill>
            <a:srgbClr val="FFFFFF"/>
          </a:solidFill>
          <a:ln w="6350">
            <a:solidFill>
              <a:srgbClr val="D3DCE5"/>
            </a:solidFill>
            <a:prstDash val="solid"/>
          </a:ln>
        </p:spPr>
      </p:sp>
      <p:sp>
        <p:nvSpPr>
          <p:cNvPr id="14" name="Text 12"/>
          <p:cNvSpPr txBox="1"/>
          <p:nvPr/>
        </p:nvSpPr>
        <p:spPr>
          <a:xfrm>
            <a:off x="475488" y="1591056"/>
            <a:ext cx="1609344" cy="713232"/>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BHP Group</a:t>
            </a:r>
            <a:endParaRPr lang="en-US" sz="850" dirty="0"/>
          </a:p>
        </p:txBody>
      </p:sp>
      <p:sp>
        <p:nvSpPr>
          <p:cNvPr id="15" name="Shape 13"/>
          <p:cNvSpPr/>
          <p:nvPr/>
        </p:nvSpPr>
        <p:spPr>
          <a:xfrm>
            <a:off x="2148840" y="1591056"/>
            <a:ext cx="3977640" cy="713232"/>
          </a:xfrm>
          <a:prstGeom prst="rect">
            <a:avLst/>
          </a:prstGeom>
          <a:solidFill>
            <a:srgbClr val="FFFFFF"/>
          </a:solidFill>
          <a:ln w="6350">
            <a:solidFill>
              <a:srgbClr val="D3DCE5"/>
            </a:solidFill>
            <a:prstDash val="solid"/>
          </a:ln>
        </p:spPr>
      </p:sp>
      <p:sp>
        <p:nvSpPr>
          <p:cNvPr id="16" name="Text 14"/>
          <p:cNvSpPr txBox="1"/>
          <p:nvPr/>
        </p:nvSpPr>
        <p:spPr>
          <a:xfrm>
            <a:off x="2212848" y="1591056"/>
            <a:ext cx="3849624" cy="713232"/>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Scale, diversification, US$32.9bn of underlying EBITDA, a 4.3% yield and the strongest balance sheet in the sector.</a:t>
            </a:r>
            <a:endParaRPr lang="en-US" sz="850" dirty="0"/>
          </a:p>
        </p:txBody>
      </p:sp>
      <p:sp>
        <p:nvSpPr>
          <p:cNvPr id="17" name="Shape 15"/>
          <p:cNvSpPr/>
          <p:nvPr/>
        </p:nvSpPr>
        <p:spPr>
          <a:xfrm>
            <a:off x="6126480" y="1591056"/>
            <a:ext cx="5660136" cy="713232"/>
          </a:xfrm>
          <a:prstGeom prst="rect">
            <a:avLst/>
          </a:prstGeom>
          <a:solidFill>
            <a:srgbClr val="FFFFFF"/>
          </a:solidFill>
          <a:ln w="6350">
            <a:solidFill>
              <a:srgbClr val="D3DCE5"/>
            </a:solidFill>
            <a:prstDash val="solid"/>
          </a:ln>
        </p:spPr>
      </p:sp>
      <p:sp>
        <p:nvSpPr>
          <p:cNvPr id="18" name="Text 16"/>
          <p:cNvSpPr txBox="1"/>
          <p:nvPr/>
        </p:nvSpPr>
        <p:spPr>
          <a:xfrm>
            <a:off x="6190488" y="1591056"/>
            <a:ext cx="5532120" cy="713232"/>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Its ESG programme is Scope 1 and 2 abatement on iron ore and coal. That is a cost of staying in business. Nothing about it creates a new market, which is what the brief asks us to find.</a:t>
            </a:r>
            <a:endParaRPr lang="en-US" sz="850" dirty="0"/>
          </a:p>
        </p:txBody>
      </p:sp>
      <p:sp>
        <p:nvSpPr>
          <p:cNvPr id="19" name="Shape 17"/>
          <p:cNvSpPr/>
          <p:nvPr/>
        </p:nvSpPr>
        <p:spPr>
          <a:xfrm>
            <a:off x="411480" y="2304288"/>
            <a:ext cx="1737360" cy="713232"/>
          </a:xfrm>
          <a:prstGeom prst="rect">
            <a:avLst/>
          </a:prstGeom>
          <a:solidFill>
            <a:srgbClr val="F7F9FB"/>
          </a:solidFill>
          <a:ln w="6350">
            <a:solidFill>
              <a:srgbClr val="D3DCE5"/>
            </a:solidFill>
            <a:prstDash val="solid"/>
          </a:ln>
        </p:spPr>
      </p:sp>
      <p:sp>
        <p:nvSpPr>
          <p:cNvPr id="20" name="Text 18"/>
          <p:cNvSpPr txBox="1"/>
          <p:nvPr/>
        </p:nvSpPr>
        <p:spPr>
          <a:xfrm>
            <a:off x="475488" y="2304288"/>
            <a:ext cx="1609344" cy="713232"/>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Rio Tinto</a:t>
            </a:r>
            <a:endParaRPr lang="en-US" sz="850" dirty="0"/>
          </a:p>
        </p:txBody>
      </p:sp>
      <p:sp>
        <p:nvSpPr>
          <p:cNvPr id="21" name="Shape 19"/>
          <p:cNvSpPr/>
          <p:nvPr/>
        </p:nvSpPr>
        <p:spPr>
          <a:xfrm>
            <a:off x="2148840" y="2304288"/>
            <a:ext cx="3977640" cy="713232"/>
          </a:xfrm>
          <a:prstGeom prst="rect">
            <a:avLst/>
          </a:prstGeom>
          <a:solidFill>
            <a:srgbClr val="F7F9FB"/>
          </a:solidFill>
          <a:ln w="6350">
            <a:solidFill>
              <a:srgbClr val="D3DCE5"/>
            </a:solidFill>
            <a:prstDash val="solid"/>
          </a:ln>
        </p:spPr>
      </p:sp>
      <p:sp>
        <p:nvSpPr>
          <p:cNvPr id="22" name="Text 20"/>
          <p:cNvSpPr txBox="1"/>
          <p:nvPr/>
        </p:nvSpPr>
        <p:spPr>
          <a:xfrm>
            <a:off x="2212848" y="2304288"/>
            <a:ext cx="3849624" cy="713232"/>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The most direct lithium exposure among the majors after acquiring Arcadium for US$6.7bn, plus Rincon in Argentina.</a:t>
            </a:r>
            <a:endParaRPr lang="en-US" sz="850" dirty="0"/>
          </a:p>
        </p:txBody>
      </p:sp>
      <p:sp>
        <p:nvSpPr>
          <p:cNvPr id="23" name="Shape 21"/>
          <p:cNvSpPr/>
          <p:nvPr/>
        </p:nvSpPr>
        <p:spPr>
          <a:xfrm>
            <a:off x="6126480" y="2304288"/>
            <a:ext cx="5660136" cy="713232"/>
          </a:xfrm>
          <a:prstGeom prst="rect">
            <a:avLst/>
          </a:prstGeom>
          <a:solidFill>
            <a:srgbClr val="F7F9FB"/>
          </a:solidFill>
          <a:ln w="6350">
            <a:solidFill>
              <a:srgbClr val="D3DCE5"/>
            </a:solidFill>
            <a:prstDash val="solid"/>
          </a:ln>
        </p:spPr>
      </p:sp>
      <p:sp>
        <p:nvSpPr>
          <p:cNvPr id="24" name="Text 22"/>
          <p:cNvSpPr txBox="1"/>
          <p:nvPr/>
        </p:nvSpPr>
        <p:spPr>
          <a:xfrm>
            <a:off x="6190488" y="2304288"/>
            <a:ext cx="5532120" cy="713232"/>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It bought lithium at the top of the cycle with US$14.1bn of net debt. The lithium exposure is real but diluted to a fraction of group earnings, so a lithium thesis expressed through Rio is mostly an iron ore position.</a:t>
            </a:r>
            <a:endParaRPr lang="en-US" sz="850" dirty="0"/>
          </a:p>
        </p:txBody>
      </p:sp>
      <p:sp>
        <p:nvSpPr>
          <p:cNvPr id="25" name="Shape 23"/>
          <p:cNvSpPr/>
          <p:nvPr/>
        </p:nvSpPr>
        <p:spPr>
          <a:xfrm>
            <a:off x="411480" y="3017520"/>
            <a:ext cx="1737360" cy="713232"/>
          </a:xfrm>
          <a:prstGeom prst="rect">
            <a:avLst/>
          </a:prstGeom>
          <a:solidFill>
            <a:srgbClr val="FFFFFF"/>
          </a:solidFill>
          <a:ln w="6350">
            <a:solidFill>
              <a:srgbClr val="D3DCE5"/>
            </a:solidFill>
            <a:prstDash val="solid"/>
          </a:ln>
        </p:spPr>
      </p:sp>
      <p:sp>
        <p:nvSpPr>
          <p:cNvPr id="26" name="Text 24"/>
          <p:cNvSpPr txBox="1"/>
          <p:nvPr/>
        </p:nvSpPr>
        <p:spPr>
          <a:xfrm>
            <a:off x="475488" y="3017520"/>
            <a:ext cx="1609344" cy="713232"/>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Fortescue</a:t>
            </a:r>
            <a:endParaRPr lang="en-US" sz="850" dirty="0"/>
          </a:p>
        </p:txBody>
      </p:sp>
      <p:sp>
        <p:nvSpPr>
          <p:cNvPr id="27" name="Shape 25"/>
          <p:cNvSpPr/>
          <p:nvPr/>
        </p:nvSpPr>
        <p:spPr>
          <a:xfrm>
            <a:off x="2148840" y="3017520"/>
            <a:ext cx="3977640" cy="713232"/>
          </a:xfrm>
          <a:prstGeom prst="rect">
            <a:avLst/>
          </a:prstGeom>
          <a:solidFill>
            <a:srgbClr val="FFFFFF"/>
          </a:solidFill>
          <a:ln w="6350">
            <a:solidFill>
              <a:srgbClr val="D3DCE5"/>
            </a:solidFill>
            <a:prstDash val="solid"/>
          </a:ln>
        </p:spPr>
      </p:sp>
      <p:sp>
        <p:nvSpPr>
          <p:cNvPr id="28" name="Text 26"/>
          <p:cNvSpPr txBox="1"/>
          <p:nvPr/>
        </p:nvSpPr>
        <p:spPr>
          <a:xfrm>
            <a:off x="2212848" y="3017520"/>
            <a:ext cx="3849624" cy="713232"/>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 serious decarbonisation ambition in green hydrogen and an attractive yield.</a:t>
            </a:r>
            <a:endParaRPr lang="en-US" sz="850" dirty="0"/>
          </a:p>
        </p:txBody>
      </p:sp>
      <p:sp>
        <p:nvSpPr>
          <p:cNvPr id="29" name="Shape 27"/>
          <p:cNvSpPr/>
          <p:nvPr/>
        </p:nvSpPr>
        <p:spPr>
          <a:xfrm>
            <a:off x="6126480" y="3017520"/>
            <a:ext cx="5660136" cy="713232"/>
          </a:xfrm>
          <a:prstGeom prst="rect">
            <a:avLst/>
          </a:prstGeom>
          <a:solidFill>
            <a:srgbClr val="FFFFFF"/>
          </a:solidFill>
          <a:ln w="6350">
            <a:solidFill>
              <a:srgbClr val="D3DCE5"/>
            </a:solidFill>
            <a:prstDash val="solid"/>
          </a:ln>
        </p:spPr>
      </p:sp>
      <p:sp>
        <p:nvSpPr>
          <p:cNvPr id="30" name="Text 28"/>
          <p:cNvSpPr txBox="1"/>
          <p:nvPr/>
        </p:nvSpPr>
        <p:spPr>
          <a:xfrm>
            <a:off x="6190488" y="3017520"/>
            <a:ext cx="5532120" cy="713232"/>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The green energy business sits beside the iron ore business rather than inside it. That is adjacency, not shared value: solving a societal problem in a separate division does not change the competitive position of the core.</a:t>
            </a:r>
            <a:endParaRPr lang="en-US" sz="850" dirty="0"/>
          </a:p>
        </p:txBody>
      </p:sp>
      <p:sp>
        <p:nvSpPr>
          <p:cNvPr id="31" name="Shape 29"/>
          <p:cNvSpPr/>
          <p:nvPr/>
        </p:nvSpPr>
        <p:spPr>
          <a:xfrm>
            <a:off x="411480" y="3730752"/>
            <a:ext cx="1737360" cy="713232"/>
          </a:xfrm>
          <a:prstGeom prst="rect">
            <a:avLst/>
          </a:prstGeom>
          <a:solidFill>
            <a:srgbClr val="F7F9FB"/>
          </a:solidFill>
          <a:ln w="6350">
            <a:solidFill>
              <a:srgbClr val="D3DCE5"/>
            </a:solidFill>
            <a:prstDash val="solid"/>
          </a:ln>
        </p:spPr>
      </p:sp>
      <p:sp>
        <p:nvSpPr>
          <p:cNvPr id="32" name="Text 30"/>
          <p:cNvSpPr txBox="1"/>
          <p:nvPr/>
        </p:nvSpPr>
        <p:spPr>
          <a:xfrm>
            <a:off x="475488" y="3730752"/>
            <a:ext cx="1609344" cy="713232"/>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South32</a:t>
            </a:r>
            <a:endParaRPr lang="en-US" sz="850" dirty="0"/>
          </a:p>
        </p:txBody>
      </p:sp>
      <p:sp>
        <p:nvSpPr>
          <p:cNvPr id="33" name="Shape 31"/>
          <p:cNvSpPr/>
          <p:nvPr/>
        </p:nvSpPr>
        <p:spPr>
          <a:xfrm>
            <a:off x="2148840" y="3730752"/>
            <a:ext cx="3977640" cy="713232"/>
          </a:xfrm>
          <a:prstGeom prst="rect">
            <a:avLst/>
          </a:prstGeom>
          <a:solidFill>
            <a:srgbClr val="F7F9FB"/>
          </a:solidFill>
          <a:ln w="6350">
            <a:solidFill>
              <a:srgbClr val="D3DCE5"/>
            </a:solidFill>
            <a:prstDash val="solid"/>
          </a:ln>
        </p:spPr>
      </p:sp>
      <p:sp>
        <p:nvSpPr>
          <p:cNvPr id="34" name="Text 32"/>
          <p:cNvSpPr txBox="1"/>
          <p:nvPr/>
        </p:nvSpPr>
        <p:spPr>
          <a:xfrm>
            <a:off x="2212848" y="3730752"/>
            <a:ext cx="3849624" cy="713232"/>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Real transition-metal exposure in aluminium and base metals, net cash, and a consensus Buy.</a:t>
            </a:r>
            <a:endParaRPr lang="en-US" sz="850" dirty="0"/>
          </a:p>
        </p:txBody>
      </p:sp>
      <p:sp>
        <p:nvSpPr>
          <p:cNvPr id="35" name="Shape 33"/>
          <p:cNvSpPr/>
          <p:nvPr/>
        </p:nvSpPr>
        <p:spPr>
          <a:xfrm>
            <a:off x="6126480" y="3730752"/>
            <a:ext cx="5660136" cy="713232"/>
          </a:xfrm>
          <a:prstGeom prst="rect">
            <a:avLst/>
          </a:prstGeom>
          <a:solidFill>
            <a:srgbClr val="F7F9FB"/>
          </a:solidFill>
          <a:ln w="6350">
            <a:solidFill>
              <a:srgbClr val="D3DCE5"/>
            </a:solidFill>
            <a:prstDash val="solid"/>
          </a:ln>
        </p:spPr>
      </p:sp>
      <p:sp>
        <p:nvSpPr>
          <p:cNvPr id="36" name="Text 34"/>
          <p:cNvSpPr txBox="1"/>
          <p:nvPr/>
        </p:nvSpPr>
        <p:spPr>
          <a:xfrm>
            <a:off x="6190488" y="3730752"/>
            <a:ext cx="5532120" cy="713232"/>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The closest runner-up. But its ESG work is still fundamentally licence-to-operate spending on existing assets, and its commodity mix does not put carbon intensity on the revenue line.</a:t>
            </a:r>
            <a:endParaRPr lang="en-US" sz="850" dirty="0"/>
          </a:p>
        </p:txBody>
      </p:sp>
      <p:sp>
        <p:nvSpPr>
          <p:cNvPr id="37" name="Shape 35"/>
          <p:cNvSpPr/>
          <p:nvPr/>
        </p:nvSpPr>
        <p:spPr>
          <a:xfrm>
            <a:off x="411480" y="4443984"/>
            <a:ext cx="1737360" cy="713232"/>
          </a:xfrm>
          <a:prstGeom prst="rect">
            <a:avLst/>
          </a:prstGeom>
          <a:solidFill>
            <a:srgbClr val="FFFFFF"/>
          </a:solidFill>
          <a:ln w="6350">
            <a:solidFill>
              <a:srgbClr val="D3DCE5"/>
            </a:solidFill>
            <a:prstDash val="solid"/>
          </a:ln>
        </p:spPr>
      </p:sp>
      <p:sp>
        <p:nvSpPr>
          <p:cNvPr id="38" name="Text 36"/>
          <p:cNvSpPr txBox="1"/>
          <p:nvPr/>
        </p:nvSpPr>
        <p:spPr>
          <a:xfrm>
            <a:off x="475488" y="4443984"/>
            <a:ext cx="1609344" cy="713232"/>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Mineral Resources</a:t>
            </a:r>
            <a:endParaRPr lang="en-US" sz="850" dirty="0"/>
          </a:p>
        </p:txBody>
      </p:sp>
      <p:sp>
        <p:nvSpPr>
          <p:cNvPr id="39" name="Shape 37"/>
          <p:cNvSpPr/>
          <p:nvPr/>
        </p:nvSpPr>
        <p:spPr>
          <a:xfrm>
            <a:off x="2148840" y="4443984"/>
            <a:ext cx="3977640" cy="713232"/>
          </a:xfrm>
          <a:prstGeom prst="rect">
            <a:avLst/>
          </a:prstGeom>
          <a:solidFill>
            <a:srgbClr val="FFFFFF"/>
          </a:solidFill>
          <a:ln w="6350">
            <a:solidFill>
              <a:srgbClr val="D3DCE5"/>
            </a:solidFill>
            <a:prstDash val="solid"/>
          </a:ln>
        </p:spPr>
      </p:sp>
      <p:sp>
        <p:nvSpPr>
          <p:cNvPr id="40" name="Text 38"/>
          <p:cNvSpPr txBox="1"/>
          <p:nvPr/>
        </p:nvSpPr>
        <p:spPr>
          <a:xfrm>
            <a:off x="2212848" y="4443984"/>
            <a:ext cx="3849624" cy="713232"/>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The other lithium pure-play route on the list, with a 44% revenue increase and EBITDA up 183% in FY26.</a:t>
            </a:r>
            <a:endParaRPr lang="en-US" sz="850" dirty="0"/>
          </a:p>
        </p:txBody>
      </p:sp>
      <p:sp>
        <p:nvSpPr>
          <p:cNvPr id="41" name="Shape 39"/>
          <p:cNvSpPr/>
          <p:nvPr/>
        </p:nvSpPr>
        <p:spPr>
          <a:xfrm>
            <a:off x="6126480" y="4443984"/>
            <a:ext cx="5660136" cy="713232"/>
          </a:xfrm>
          <a:prstGeom prst="rect">
            <a:avLst/>
          </a:prstGeom>
          <a:solidFill>
            <a:srgbClr val="FFFFFF"/>
          </a:solidFill>
          <a:ln w="6350">
            <a:solidFill>
              <a:srgbClr val="D3DCE5"/>
            </a:solidFill>
            <a:prstDash val="solid"/>
          </a:ln>
        </p:spPr>
      </p:sp>
      <p:sp>
        <p:nvSpPr>
          <p:cNvPr id="42" name="Text 40"/>
          <p:cNvSpPr txBox="1"/>
          <p:nvPr/>
        </p:nvSpPr>
        <p:spPr>
          <a:xfrm>
            <a:off x="6190488" y="4443984"/>
            <a:ext cx="5532120" cy="713232"/>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Lithium is diluted by mining services and iron ore, gearing is roughly US$4.3bn at 1.7x EBITDA, and the group has carried governance controversies. Constrained optionality is the opposite of what a counter-cyclical thesis needs.</a:t>
            </a:r>
            <a:endParaRPr lang="en-US" sz="850" dirty="0"/>
          </a:p>
        </p:txBody>
      </p:sp>
      <p:sp>
        <p:nvSpPr>
          <p:cNvPr id="43" name="Shape 41"/>
          <p:cNvSpPr/>
          <p:nvPr/>
        </p:nvSpPr>
        <p:spPr>
          <a:xfrm>
            <a:off x="411480" y="5175504"/>
            <a:ext cx="11375136" cy="859536"/>
          </a:xfrm>
          <a:prstGeom prst="rect">
            <a:avLst/>
          </a:prstGeom>
          <a:solidFill>
            <a:srgbClr val="D6EBE7"/>
          </a:solidFill>
          <a:ln w="9525">
            <a:solidFill>
              <a:srgbClr val="AFD3CC"/>
            </a:solidFill>
            <a:prstDash val="solid"/>
          </a:ln>
        </p:spPr>
      </p:sp>
      <p:sp>
        <p:nvSpPr>
          <p:cNvPr id="44" name="Text 42"/>
          <p:cNvSpPr txBox="1"/>
          <p:nvPr/>
        </p:nvSpPr>
        <p:spPr>
          <a:xfrm>
            <a:off x="576072" y="5303520"/>
            <a:ext cx="11045952" cy="640080"/>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None of this says the other five are bad investments. It says that for a mandate defined by shared value, five of the six offer ESG as a cost of doing business and one offers it as the reason the business exists.</a:t>
            </a:r>
            <a:endParaRPr lang="en-US" sz="940" dirty="0"/>
          </a:p>
        </p:txBody>
      </p:sp>
      <p:sp>
        <p:nvSpPr>
          <p:cNvPr id="45" name="Text 43"/>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company FY26 results; data-vendor consensus and multiples, August 2026. Characterisations of each company's ESG posture are the team's assessment from public disclosure.</a:t>
            </a:r>
            <a:endParaRPr lang="en-US" sz="720" dirty="0"/>
          </a:p>
        </p:txBody>
      </p:sp>
      <p:sp>
        <p:nvSpPr>
          <p:cNvPr id="46" name="Text 44"/>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C6</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The case asks what is material today against the medium to long term. For lithium those are different lists, and the difference is the investment case.</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D1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788920" cy="292608"/>
          </a:xfrm>
          <a:prstGeom prst="rect">
            <a:avLst/>
          </a:prstGeom>
          <a:solidFill>
            <a:srgbClr val="10233A"/>
          </a:solidFill>
          <a:ln/>
        </p:spPr>
      </p:sp>
      <p:sp>
        <p:nvSpPr>
          <p:cNvPr id="8" name="Text 6"/>
          <p:cNvSpPr txBox="1"/>
          <p:nvPr/>
        </p:nvSpPr>
        <p:spPr>
          <a:xfrm>
            <a:off x="475488" y="1298448"/>
            <a:ext cx="26609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Issue</a:t>
            </a:r>
            <a:endParaRPr lang="en-US" sz="900" dirty="0"/>
          </a:p>
        </p:txBody>
      </p:sp>
      <p:sp>
        <p:nvSpPr>
          <p:cNvPr id="9" name="Shape 7"/>
          <p:cNvSpPr/>
          <p:nvPr/>
        </p:nvSpPr>
        <p:spPr>
          <a:xfrm>
            <a:off x="3200400" y="1298448"/>
            <a:ext cx="1600200" cy="292608"/>
          </a:xfrm>
          <a:prstGeom prst="rect">
            <a:avLst/>
          </a:prstGeom>
          <a:solidFill>
            <a:srgbClr val="10233A"/>
          </a:solidFill>
          <a:ln/>
        </p:spPr>
      </p:sp>
      <p:sp>
        <p:nvSpPr>
          <p:cNvPr id="10" name="Text 8"/>
          <p:cNvSpPr txBox="1"/>
          <p:nvPr/>
        </p:nvSpPr>
        <p:spPr>
          <a:xfrm>
            <a:off x="3264408" y="1298448"/>
            <a:ext cx="147218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Material today</a:t>
            </a:r>
            <a:endParaRPr lang="en-US" sz="900" dirty="0"/>
          </a:p>
        </p:txBody>
      </p:sp>
      <p:sp>
        <p:nvSpPr>
          <p:cNvPr id="11" name="Shape 9"/>
          <p:cNvSpPr/>
          <p:nvPr/>
        </p:nvSpPr>
        <p:spPr>
          <a:xfrm>
            <a:off x="4800600" y="1298448"/>
            <a:ext cx="1600200" cy="292608"/>
          </a:xfrm>
          <a:prstGeom prst="rect">
            <a:avLst/>
          </a:prstGeom>
          <a:solidFill>
            <a:srgbClr val="10233A"/>
          </a:solidFill>
          <a:ln/>
        </p:spPr>
      </p:sp>
      <p:sp>
        <p:nvSpPr>
          <p:cNvPr id="12" name="Text 10"/>
          <p:cNvSpPr txBox="1"/>
          <p:nvPr/>
        </p:nvSpPr>
        <p:spPr>
          <a:xfrm>
            <a:off x="4864608" y="1298448"/>
            <a:ext cx="147218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Material by 2030</a:t>
            </a:r>
            <a:endParaRPr lang="en-US" sz="900" dirty="0"/>
          </a:p>
        </p:txBody>
      </p:sp>
      <p:sp>
        <p:nvSpPr>
          <p:cNvPr id="13" name="Shape 11"/>
          <p:cNvSpPr/>
          <p:nvPr/>
        </p:nvSpPr>
        <p:spPr>
          <a:xfrm>
            <a:off x="6400800" y="1298448"/>
            <a:ext cx="5385816" cy="292608"/>
          </a:xfrm>
          <a:prstGeom prst="rect">
            <a:avLst/>
          </a:prstGeom>
          <a:solidFill>
            <a:srgbClr val="10233A"/>
          </a:solidFill>
          <a:ln/>
        </p:spPr>
      </p:sp>
      <p:sp>
        <p:nvSpPr>
          <p:cNvPr id="14" name="Text 12"/>
          <p:cNvSpPr txBox="1"/>
          <p:nvPr/>
        </p:nvSpPr>
        <p:spPr>
          <a:xfrm>
            <a:off x="6464808" y="1298448"/>
            <a:ext cx="525780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 the ranking moves</a:t>
            </a:r>
            <a:endParaRPr lang="en-US" sz="900" dirty="0"/>
          </a:p>
        </p:txBody>
      </p:sp>
      <p:sp>
        <p:nvSpPr>
          <p:cNvPr id="15" name="Shape 13"/>
          <p:cNvSpPr/>
          <p:nvPr/>
        </p:nvSpPr>
        <p:spPr>
          <a:xfrm>
            <a:off x="411480" y="1591056"/>
            <a:ext cx="2788920" cy="361188"/>
          </a:xfrm>
          <a:prstGeom prst="rect">
            <a:avLst/>
          </a:prstGeom>
          <a:solidFill>
            <a:srgbClr val="FFFFFF"/>
          </a:solidFill>
          <a:ln w="6350">
            <a:solidFill>
              <a:srgbClr val="D3DCE5"/>
            </a:solidFill>
            <a:prstDash val="solid"/>
          </a:ln>
        </p:spPr>
      </p:sp>
      <p:sp>
        <p:nvSpPr>
          <p:cNvPr id="16" name="Text 14"/>
          <p:cNvSpPr txBox="1"/>
          <p:nvPr/>
        </p:nvSpPr>
        <p:spPr>
          <a:xfrm>
            <a:off x="475488" y="1591056"/>
            <a:ext cx="2660904" cy="36118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Product carbon intensity</a:t>
            </a:r>
            <a:endParaRPr lang="en-US" sz="840" dirty="0"/>
          </a:p>
        </p:txBody>
      </p:sp>
      <p:sp>
        <p:nvSpPr>
          <p:cNvPr id="17" name="Shape 15"/>
          <p:cNvSpPr/>
          <p:nvPr/>
        </p:nvSpPr>
        <p:spPr>
          <a:xfrm>
            <a:off x="3200400" y="1591056"/>
            <a:ext cx="1600200" cy="361188"/>
          </a:xfrm>
          <a:prstGeom prst="rect">
            <a:avLst/>
          </a:prstGeom>
          <a:solidFill>
            <a:srgbClr val="FFFFFF"/>
          </a:solidFill>
          <a:ln w="6350">
            <a:solidFill>
              <a:srgbClr val="D3DCE5"/>
            </a:solidFill>
            <a:prstDash val="solid"/>
          </a:ln>
        </p:spPr>
      </p:sp>
      <p:sp>
        <p:nvSpPr>
          <p:cNvPr id="18" name="Text 16"/>
          <p:cNvSpPr txBox="1"/>
          <p:nvPr/>
        </p:nvSpPr>
        <p:spPr>
          <a:xfrm>
            <a:off x="3264408" y="1591056"/>
            <a:ext cx="1472184" cy="361188"/>
          </a:xfrm>
          <a:prstGeom prst="rect">
            <a:avLst/>
          </a:prstGeom>
          <a:noFill/>
          <a:ln/>
        </p:spPr>
        <p:txBody>
          <a:bodyPr wrap="square" lIns="0" tIns="0" rIns="0" bIns="0" rtlCol="0" anchor="ctr"/>
          <a:lstStyle/>
          <a:p>
            <a:pPr algn="ctr" indent="0" marL="0">
              <a:buNone/>
            </a:pPr>
            <a:r>
              <a:rPr lang="en-US" sz="840" dirty="0">
                <a:solidFill>
                  <a:srgbClr val="5F7183"/>
                </a:solidFill>
                <a:latin typeface="Calibri" pitchFamily="34" charset="0"/>
                <a:ea typeface="Calibri" pitchFamily="34" charset="-122"/>
                <a:cs typeface="Calibri" pitchFamily="34" charset="-120"/>
              </a:rPr>
              <a:t>Low</a:t>
            </a:r>
            <a:endParaRPr lang="en-US" sz="840" dirty="0"/>
          </a:p>
        </p:txBody>
      </p:sp>
      <p:sp>
        <p:nvSpPr>
          <p:cNvPr id="19" name="Shape 17"/>
          <p:cNvSpPr/>
          <p:nvPr/>
        </p:nvSpPr>
        <p:spPr>
          <a:xfrm>
            <a:off x="4800600" y="1591056"/>
            <a:ext cx="1600200" cy="361188"/>
          </a:xfrm>
          <a:prstGeom prst="rect">
            <a:avLst/>
          </a:prstGeom>
          <a:solidFill>
            <a:srgbClr val="FFFFFF"/>
          </a:solidFill>
          <a:ln w="6350">
            <a:solidFill>
              <a:srgbClr val="D3DCE5"/>
            </a:solidFill>
            <a:prstDash val="solid"/>
          </a:ln>
        </p:spPr>
      </p:sp>
      <p:sp>
        <p:nvSpPr>
          <p:cNvPr id="20" name="Text 18"/>
          <p:cNvSpPr txBox="1"/>
          <p:nvPr/>
        </p:nvSpPr>
        <p:spPr>
          <a:xfrm>
            <a:off x="4864608" y="1591056"/>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Critical</a:t>
            </a:r>
            <a:endParaRPr lang="en-US" sz="840" dirty="0"/>
          </a:p>
        </p:txBody>
      </p:sp>
      <p:sp>
        <p:nvSpPr>
          <p:cNvPr id="21" name="Shape 19"/>
          <p:cNvSpPr/>
          <p:nvPr/>
        </p:nvSpPr>
        <p:spPr>
          <a:xfrm>
            <a:off x="6400800" y="1591056"/>
            <a:ext cx="5385816" cy="361188"/>
          </a:xfrm>
          <a:prstGeom prst="rect">
            <a:avLst/>
          </a:prstGeom>
          <a:solidFill>
            <a:srgbClr val="FFFFFF"/>
          </a:solidFill>
          <a:ln w="6350">
            <a:solidFill>
              <a:srgbClr val="D3DCE5"/>
            </a:solidFill>
            <a:prstDash val="solid"/>
          </a:ln>
        </p:spPr>
      </p:sp>
      <p:sp>
        <p:nvSpPr>
          <p:cNvPr id="22" name="Text 20"/>
          <p:cNvSpPr txBox="1"/>
          <p:nvPr/>
        </p:nvSpPr>
        <p:spPr>
          <a:xfrm>
            <a:off x="6464808" y="1591056"/>
            <a:ext cx="5257800" cy="36118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EU carbon footprint declarations and battery passports from 2027; US FEOC rules. Moves from disclosure to a condition of sale.</a:t>
            </a:r>
            <a:endParaRPr lang="en-US" sz="840" dirty="0"/>
          </a:p>
        </p:txBody>
      </p:sp>
      <p:sp>
        <p:nvSpPr>
          <p:cNvPr id="23" name="Shape 21"/>
          <p:cNvSpPr/>
          <p:nvPr/>
        </p:nvSpPr>
        <p:spPr>
          <a:xfrm>
            <a:off x="411480" y="1952244"/>
            <a:ext cx="2788920" cy="361188"/>
          </a:xfrm>
          <a:prstGeom prst="rect">
            <a:avLst/>
          </a:prstGeom>
          <a:solidFill>
            <a:srgbClr val="F7F9FB"/>
          </a:solidFill>
          <a:ln w="6350">
            <a:solidFill>
              <a:srgbClr val="D3DCE5"/>
            </a:solidFill>
            <a:prstDash val="solid"/>
          </a:ln>
        </p:spPr>
      </p:sp>
      <p:sp>
        <p:nvSpPr>
          <p:cNvPr id="24" name="Text 22"/>
          <p:cNvSpPr txBox="1"/>
          <p:nvPr/>
        </p:nvSpPr>
        <p:spPr>
          <a:xfrm>
            <a:off x="475488" y="1952244"/>
            <a:ext cx="2660904" cy="36118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Energy cost and source</a:t>
            </a:r>
            <a:endParaRPr lang="en-US" sz="840" dirty="0"/>
          </a:p>
        </p:txBody>
      </p:sp>
      <p:sp>
        <p:nvSpPr>
          <p:cNvPr id="25" name="Shape 23"/>
          <p:cNvSpPr/>
          <p:nvPr/>
        </p:nvSpPr>
        <p:spPr>
          <a:xfrm>
            <a:off x="3200400" y="1952244"/>
            <a:ext cx="1600200" cy="361188"/>
          </a:xfrm>
          <a:prstGeom prst="rect">
            <a:avLst/>
          </a:prstGeom>
          <a:solidFill>
            <a:srgbClr val="F7F9FB"/>
          </a:solidFill>
          <a:ln w="6350">
            <a:solidFill>
              <a:srgbClr val="D3DCE5"/>
            </a:solidFill>
            <a:prstDash val="solid"/>
          </a:ln>
        </p:spPr>
      </p:sp>
      <p:sp>
        <p:nvSpPr>
          <p:cNvPr id="26" name="Text 24"/>
          <p:cNvSpPr txBox="1"/>
          <p:nvPr/>
        </p:nvSpPr>
        <p:spPr>
          <a:xfrm>
            <a:off x="3264408" y="1952244"/>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High</a:t>
            </a:r>
            <a:endParaRPr lang="en-US" sz="840" dirty="0"/>
          </a:p>
        </p:txBody>
      </p:sp>
      <p:sp>
        <p:nvSpPr>
          <p:cNvPr id="27" name="Shape 25"/>
          <p:cNvSpPr/>
          <p:nvPr/>
        </p:nvSpPr>
        <p:spPr>
          <a:xfrm>
            <a:off x="4800600" y="1952244"/>
            <a:ext cx="1600200" cy="361188"/>
          </a:xfrm>
          <a:prstGeom prst="rect">
            <a:avLst/>
          </a:prstGeom>
          <a:solidFill>
            <a:srgbClr val="F7F9FB"/>
          </a:solidFill>
          <a:ln w="6350">
            <a:solidFill>
              <a:srgbClr val="D3DCE5"/>
            </a:solidFill>
            <a:prstDash val="solid"/>
          </a:ln>
        </p:spPr>
      </p:sp>
      <p:sp>
        <p:nvSpPr>
          <p:cNvPr id="28" name="Text 26"/>
          <p:cNvSpPr txBox="1"/>
          <p:nvPr/>
        </p:nvSpPr>
        <p:spPr>
          <a:xfrm>
            <a:off x="4864608" y="1952244"/>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High</a:t>
            </a:r>
            <a:endParaRPr lang="en-US" sz="840" dirty="0"/>
          </a:p>
        </p:txBody>
      </p:sp>
      <p:sp>
        <p:nvSpPr>
          <p:cNvPr id="29" name="Shape 27"/>
          <p:cNvSpPr/>
          <p:nvPr/>
        </p:nvSpPr>
        <p:spPr>
          <a:xfrm>
            <a:off x="6400800" y="1952244"/>
            <a:ext cx="5385816" cy="361188"/>
          </a:xfrm>
          <a:prstGeom prst="rect">
            <a:avLst/>
          </a:prstGeom>
          <a:solidFill>
            <a:srgbClr val="F7F9FB"/>
          </a:solidFill>
          <a:ln w="6350">
            <a:solidFill>
              <a:srgbClr val="D3DCE5"/>
            </a:solidFill>
            <a:prstDash val="solid"/>
          </a:ln>
        </p:spPr>
      </p:sp>
      <p:sp>
        <p:nvSpPr>
          <p:cNvPr id="30" name="Text 28"/>
          <p:cNvSpPr txBox="1"/>
          <p:nvPr/>
        </p:nvSpPr>
        <p:spPr>
          <a:xfrm>
            <a:off x="6464808" y="1952244"/>
            <a:ext cx="5257800" cy="36118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Already in the unit cost line. Stays material as the grid and diesel prices move.</a:t>
            </a:r>
            <a:endParaRPr lang="en-US" sz="840" dirty="0"/>
          </a:p>
        </p:txBody>
      </p:sp>
      <p:sp>
        <p:nvSpPr>
          <p:cNvPr id="31" name="Shape 29"/>
          <p:cNvSpPr/>
          <p:nvPr/>
        </p:nvSpPr>
        <p:spPr>
          <a:xfrm>
            <a:off x="411480" y="2313432"/>
            <a:ext cx="2788920" cy="361188"/>
          </a:xfrm>
          <a:prstGeom prst="rect">
            <a:avLst/>
          </a:prstGeom>
          <a:solidFill>
            <a:srgbClr val="FFFFFF"/>
          </a:solidFill>
          <a:ln w="6350">
            <a:solidFill>
              <a:srgbClr val="D3DCE5"/>
            </a:solidFill>
            <a:prstDash val="solid"/>
          </a:ln>
        </p:spPr>
      </p:sp>
      <p:sp>
        <p:nvSpPr>
          <p:cNvPr id="32" name="Text 30"/>
          <p:cNvSpPr txBox="1"/>
          <p:nvPr/>
        </p:nvSpPr>
        <p:spPr>
          <a:xfrm>
            <a:off x="475488" y="2313432"/>
            <a:ext cx="2660904" cy="36118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Traditional Owner relations</a:t>
            </a:r>
            <a:endParaRPr lang="en-US" sz="840" dirty="0"/>
          </a:p>
        </p:txBody>
      </p:sp>
      <p:sp>
        <p:nvSpPr>
          <p:cNvPr id="33" name="Shape 31"/>
          <p:cNvSpPr/>
          <p:nvPr/>
        </p:nvSpPr>
        <p:spPr>
          <a:xfrm>
            <a:off x="3200400" y="2313432"/>
            <a:ext cx="1600200" cy="361188"/>
          </a:xfrm>
          <a:prstGeom prst="rect">
            <a:avLst/>
          </a:prstGeom>
          <a:solidFill>
            <a:srgbClr val="FFFFFF"/>
          </a:solidFill>
          <a:ln w="6350">
            <a:solidFill>
              <a:srgbClr val="D3DCE5"/>
            </a:solidFill>
            <a:prstDash val="solid"/>
          </a:ln>
        </p:spPr>
      </p:sp>
      <p:sp>
        <p:nvSpPr>
          <p:cNvPr id="34" name="Text 32"/>
          <p:cNvSpPr txBox="1"/>
          <p:nvPr/>
        </p:nvSpPr>
        <p:spPr>
          <a:xfrm>
            <a:off x="3264408" y="2313432"/>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Critical</a:t>
            </a:r>
            <a:endParaRPr lang="en-US" sz="840" dirty="0"/>
          </a:p>
        </p:txBody>
      </p:sp>
      <p:sp>
        <p:nvSpPr>
          <p:cNvPr id="35" name="Shape 33"/>
          <p:cNvSpPr/>
          <p:nvPr/>
        </p:nvSpPr>
        <p:spPr>
          <a:xfrm>
            <a:off x="4800600" y="2313432"/>
            <a:ext cx="1600200" cy="361188"/>
          </a:xfrm>
          <a:prstGeom prst="rect">
            <a:avLst/>
          </a:prstGeom>
          <a:solidFill>
            <a:srgbClr val="FFFFFF"/>
          </a:solidFill>
          <a:ln w="6350">
            <a:solidFill>
              <a:srgbClr val="D3DCE5"/>
            </a:solidFill>
            <a:prstDash val="solid"/>
          </a:ln>
        </p:spPr>
      </p:sp>
      <p:sp>
        <p:nvSpPr>
          <p:cNvPr id="36" name="Text 34"/>
          <p:cNvSpPr txBox="1"/>
          <p:nvPr/>
        </p:nvSpPr>
        <p:spPr>
          <a:xfrm>
            <a:off x="4864608" y="2313432"/>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Critical</a:t>
            </a:r>
            <a:endParaRPr lang="en-US" sz="840" dirty="0"/>
          </a:p>
        </p:txBody>
      </p:sp>
      <p:sp>
        <p:nvSpPr>
          <p:cNvPr id="37" name="Shape 35"/>
          <p:cNvSpPr/>
          <p:nvPr/>
        </p:nvSpPr>
        <p:spPr>
          <a:xfrm>
            <a:off x="6400800" y="2313432"/>
            <a:ext cx="5385816" cy="361188"/>
          </a:xfrm>
          <a:prstGeom prst="rect">
            <a:avLst/>
          </a:prstGeom>
          <a:solidFill>
            <a:srgbClr val="FFFFFF"/>
          </a:solidFill>
          <a:ln w="6350">
            <a:solidFill>
              <a:srgbClr val="D3DCE5"/>
            </a:solidFill>
            <a:prstDash val="solid"/>
          </a:ln>
        </p:spPr>
      </p:sp>
      <p:sp>
        <p:nvSpPr>
          <p:cNvPr id="38" name="Text 36"/>
          <p:cNvSpPr txBox="1"/>
          <p:nvPr/>
        </p:nvSpPr>
        <p:spPr>
          <a:xfrm>
            <a:off x="6464808" y="2313432"/>
            <a:ext cx="5257800" cy="36118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Post-Juukan Gorge this is a permitting precondition. It gates P2000.</a:t>
            </a:r>
            <a:endParaRPr lang="en-US" sz="840" dirty="0"/>
          </a:p>
        </p:txBody>
      </p:sp>
      <p:sp>
        <p:nvSpPr>
          <p:cNvPr id="39" name="Shape 37"/>
          <p:cNvSpPr/>
          <p:nvPr/>
        </p:nvSpPr>
        <p:spPr>
          <a:xfrm>
            <a:off x="411480" y="2674620"/>
            <a:ext cx="2788920" cy="361188"/>
          </a:xfrm>
          <a:prstGeom prst="rect">
            <a:avLst/>
          </a:prstGeom>
          <a:solidFill>
            <a:srgbClr val="F7F9FB"/>
          </a:solidFill>
          <a:ln w="6350">
            <a:solidFill>
              <a:srgbClr val="D3DCE5"/>
            </a:solidFill>
            <a:prstDash val="solid"/>
          </a:ln>
        </p:spPr>
      </p:sp>
      <p:sp>
        <p:nvSpPr>
          <p:cNvPr id="40" name="Text 38"/>
          <p:cNvSpPr txBox="1"/>
          <p:nvPr/>
        </p:nvSpPr>
        <p:spPr>
          <a:xfrm>
            <a:off x="475488" y="2674620"/>
            <a:ext cx="2660904" cy="36118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Water</a:t>
            </a:r>
            <a:endParaRPr lang="en-US" sz="840" dirty="0"/>
          </a:p>
        </p:txBody>
      </p:sp>
      <p:sp>
        <p:nvSpPr>
          <p:cNvPr id="41" name="Shape 39"/>
          <p:cNvSpPr/>
          <p:nvPr/>
        </p:nvSpPr>
        <p:spPr>
          <a:xfrm>
            <a:off x="3200400" y="2674620"/>
            <a:ext cx="1600200" cy="361188"/>
          </a:xfrm>
          <a:prstGeom prst="rect">
            <a:avLst/>
          </a:prstGeom>
          <a:solidFill>
            <a:srgbClr val="F7F9FB"/>
          </a:solidFill>
          <a:ln w="6350">
            <a:solidFill>
              <a:srgbClr val="D3DCE5"/>
            </a:solidFill>
            <a:prstDash val="solid"/>
          </a:ln>
        </p:spPr>
      </p:sp>
      <p:sp>
        <p:nvSpPr>
          <p:cNvPr id="42" name="Text 40"/>
          <p:cNvSpPr txBox="1"/>
          <p:nvPr/>
        </p:nvSpPr>
        <p:spPr>
          <a:xfrm>
            <a:off x="3264408" y="2674620"/>
            <a:ext cx="1472184" cy="361188"/>
          </a:xfrm>
          <a:prstGeom prst="rect">
            <a:avLst/>
          </a:prstGeom>
          <a:noFill/>
          <a:ln/>
        </p:spPr>
        <p:txBody>
          <a:bodyPr wrap="square" lIns="0" tIns="0" rIns="0" bIns="0" rtlCol="0" anchor="ctr"/>
          <a:lstStyle/>
          <a:p>
            <a:pPr algn="ctr" indent="0" marL="0">
              <a:buNone/>
            </a:pPr>
            <a:r>
              <a:rPr lang="en-US" sz="840" dirty="0">
                <a:solidFill>
                  <a:srgbClr val="C2610A"/>
                </a:solidFill>
                <a:latin typeface="Calibri" pitchFamily="34" charset="0"/>
                <a:ea typeface="Calibri" pitchFamily="34" charset="-122"/>
                <a:cs typeface="Calibri" pitchFamily="34" charset="-120"/>
              </a:rPr>
              <a:t>Medium</a:t>
            </a:r>
            <a:endParaRPr lang="en-US" sz="840" dirty="0"/>
          </a:p>
        </p:txBody>
      </p:sp>
      <p:sp>
        <p:nvSpPr>
          <p:cNvPr id="43" name="Shape 41"/>
          <p:cNvSpPr/>
          <p:nvPr/>
        </p:nvSpPr>
        <p:spPr>
          <a:xfrm>
            <a:off x="4800600" y="2674620"/>
            <a:ext cx="1600200" cy="361188"/>
          </a:xfrm>
          <a:prstGeom prst="rect">
            <a:avLst/>
          </a:prstGeom>
          <a:solidFill>
            <a:srgbClr val="F7F9FB"/>
          </a:solidFill>
          <a:ln w="6350">
            <a:solidFill>
              <a:srgbClr val="D3DCE5"/>
            </a:solidFill>
            <a:prstDash val="solid"/>
          </a:ln>
        </p:spPr>
      </p:sp>
      <p:sp>
        <p:nvSpPr>
          <p:cNvPr id="44" name="Text 42"/>
          <p:cNvSpPr txBox="1"/>
          <p:nvPr/>
        </p:nvSpPr>
        <p:spPr>
          <a:xfrm>
            <a:off x="4864608" y="2674620"/>
            <a:ext cx="1472184" cy="361188"/>
          </a:xfrm>
          <a:prstGeom prst="rect">
            <a:avLst/>
          </a:prstGeom>
          <a:noFill/>
          <a:ln/>
        </p:spPr>
        <p:txBody>
          <a:bodyPr wrap="square" lIns="0" tIns="0" rIns="0" bIns="0" rtlCol="0" anchor="ctr"/>
          <a:lstStyle/>
          <a:p>
            <a:pPr algn="ctr" indent="0" marL="0">
              <a:buNone/>
            </a:pPr>
            <a:r>
              <a:rPr lang="en-US" sz="840" dirty="0">
                <a:solidFill>
                  <a:srgbClr val="C2610A"/>
                </a:solidFill>
                <a:latin typeface="Calibri" pitchFamily="34" charset="0"/>
                <a:ea typeface="Calibri" pitchFamily="34" charset="-122"/>
                <a:cs typeface="Calibri" pitchFamily="34" charset="-120"/>
              </a:rPr>
              <a:t>Medium</a:t>
            </a:r>
            <a:endParaRPr lang="en-US" sz="840" dirty="0"/>
          </a:p>
        </p:txBody>
      </p:sp>
      <p:sp>
        <p:nvSpPr>
          <p:cNvPr id="45" name="Shape 43"/>
          <p:cNvSpPr/>
          <p:nvPr/>
        </p:nvSpPr>
        <p:spPr>
          <a:xfrm>
            <a:off x="6400800" y="2674620"/>
            <a:ext cx="5385816" cy="361188"/>
          </a:xfrm>
          <a:prstGeom prst="rect">
            <a:avLst/>
          </a:prstGeom>
          <a:solidFill>
            <a:srgbClr val="F7F9FB"/>
          </a:solidFill>
          <a:ln w="6350">
            <a:solidFill>
              <a:srgbClr val="D3DCE5"/>
            </a:solidFill>
            <a:prstDash val="solid"/>
          </a:ln>
        </p:spPr>
      </p:sp>
      <p:sp>
        <p:nvSpPr>
          <p:cNvPr id="46" name="Text 44"/>
          <p:cNvSpPr txBox="1"/>
          <p:nvPr/>
        </p:nvSpPr>
        <p:spPr>
          <a:xfrm>
            <a:off x="6464808" y="2674620"/>
            <a:ext cx="5257800" cy="36118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Pilgangoora uses saline groundwater, so it does not compete for potable supply. Structurally lower risk than brine.</a:t>
            </a:r>
            <a:endParaRPr lang="en-US" sz="840" dirty="0"/>
          </a:p>
        </p:txBody>
      </p:sp>
      <p:sp>
        <p:nvSpPr>
          <p:cNvPr id="47" name="Shape 45"/>
          <p:cNvSpPr/>
          <p:nvPr/>
        </p:nvSpPr>
        <p:spPr>
          <a:xfrm>
            <a:off x="411480" y="3035808"/>
            <a:ext cx="2788920" cy="361188"/>
          </a:xfrm>
          <a:prstGeom prst="rect">
            <a:avLst/>
          </a:prstGeom>
          <a:solidFill>
            <a:srgbClr val="FFFFFF"/>
          </a:solidFill>
          <a:ln w="6350">
            <a:solidFill>
              <a:srgbClr val="D3DCE5"/>
            </a:solidFill>
            <a:prstDash val="solid"/>
          </a:ln>
        </p:spPr>
      </p:sp>
      <p:sp>
        <p:nvSpPr>
          <p:cNvPr id="48" name="Text 46"/>
          <p:cNvSpPr txBox="1"/>
          <p:nvPr/>
        </p:nvSpPr>
        <p:spPr>
          <a:xfrm>
            <a:off x="475488" y="3035808"/>
            <a:ext cx="2660904" cy="36118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Tailings and waste</a:t>
            </a:r>
            <a:endParaRPr lang="en-US" sz="840" dirty="0"/>
          </a:p>
        </p:txBody>
      </p:sp>
      <p:sp>
        <p:nvSpPr>
          <p:cNvPr id="49" name="Shape 47"/>
          <p:cNvSpPr/>
          <p:nvPr/>
        </p:nvSpPr>
        <p:spPr>
          <a:xfrm>
            <a:off x="3200400" y="3035808"/>
            <a:ext cx="1600200" cy="361188"/>
          </a:xfrm>
          <a:prstGeom prst="rect">
            <a:avLst/>
          </a:prstGeom>
          <a:solidFill>
            <a:srgbClr val="FFFFFF"/>
          </a:solidFill>
          <a:ln w="6350">
            <a:solidFill>
              <a:srgbClr val="D3DCE5"/>
            </a:solidFill>
            <a:prstDash val="solid"/>
          </a:ln>
        </p:spPr>
      </p:sp>
      <p:sp>
        <p:nvSpPr>
          <p:cNvPr id="50" name="Text 48"/>
          <p:cNvSpPr txBox="1"/>
          <p:nvPr/>
        </p:nvSpPr>
        <p:spPr>
          <a:xfrm>
            <a:off x="3264408" y="3035808"/>
            <a:ext cx="1472184" cy="361188"/>
          </a:xfrm>
          <a:prstGeom prst="rect">
            <a:avLst/>
          </a:prstGeom>
          <a:noFill/>
          <a:ln/>
        </p:spPr>
        <p:txBody>
          <a:bodyPr wrap="square" lIns="0" tIns="0" rIns="0" bIns="0" rtlCol="0" anchor="ctr"/>
          <a:lstStyle/>
          <a:p>
            <a:pPr algn="ctr" indent="0" marL="0">
              <a:buNone/>
            </a:pPr>
            <a:r>
              <a:rPr lang="en-US" sz="840" dirty="0">
                <a:solidFill>
                  <a:srgbClr val="C2610A"/>
                </a:solidFill>
                <a:latin typeface="Calibri" pitchFamily="34" charset="0"/>
                <a:ea typeface="Calibri" pitchFamily="34" charset="-122"/>
                <a:cs typeface="Calibri" pitchFamily="34" charset="-120"/>
              </a:rPr>
              <a:t>Medium</a:t>
            </a:r>
            <a:endParaRPr lang="en-US" sz="840" dirty="0"/>
          </a:p>
        </p:txBody>
      </p:sp>
      <p:sp>
        <p:nvSpPr>
          <p:cNvPr id="51" name="Shape 49"/>
          <p:cNvSpPr/>
          <p:nvPr/>
        </p:nvSpPr>
        <p:spPr>
          <a:xfrm>
            <a:off x="4800600" y="3035808"/>
            <a:ext cx="1600200" cy="361188"/>
          </a:xfrm>
          <a:prstGeom prst="rect">
            <a:avLst/>
          </a:prstGeom>
          <a:solidFill>
            <a:srgbClr val="FFFFFF"/>
          </a:solidFill>
          <a:ln w="6350">
            <a:solidFill>
              <a:srgbClr val="D3DCE5"/>
            </a:solidFill>
            <a:prstDash val="solid"/>
          </a:ln>
        </p:spPr>
      </p:sp>
      <p:sp>
        <p:nvSpPr>
          <p:cNvPr id="52" name="Text 50"/>
          <p:cNvSpPr txBox="1"/>
          <p:nvPr/>
        </p:nvSpPr>
        <p:spPr>
          <a:xfrm>
            <a:off x="4864608" y="3035808"/>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High</a:t>
            </a:r>
            <a:endParaRPr lang="en-US" sz="840" dirty="0"/>
          </a:p>
        </p:txBody>
      </p:sp>
      <p:sp>
        <p:nvSpPr>
          <p:cNvPr id="53" name="Shape 51"/>
          <p:cNvSpPr/>
          <p:nvPr/>
        </p:nvSpPr>
        <p:spPr>
          <a:xfrm>
            <a:off x="6400800" y="3035808"/>
            <a:ext cx="5385816" cy="361188"/>
          </a:xfrm>
          <a:prstGeom prst="rect">
            <a:avLst/>
          </a:prstGeom>
          <a:solidFill>
            <a:srgbClr val="FFFFFF"/>
          </a:solidFill>
          <a:ln w="6350">
            <a:solidFill>
              <a:srgbClr val="D3DCE5"/>
            </a:solidFill>
            <a:prstDash val="solid"/>
          </a:ln>
        </p:spPr>
      </p:sp>
      <p:sp>
        <p:nvSpPr>
          <p:cNvPr id="54" name="Text 52"/>
          <p:cNvSpPr txBox="1"/>
          <p:nvPr/>
        </p:nvSpPr>
        <p:spPr>
          <a:xfrm>
            <a:off x="6464808" y="3035808"/>
            <a:ext cx="5257800" cy="36118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Volumes rise with P2000. GISTM expectations tighten. PLS has not disclosed its method.</a:t>
            </a:r>
            <a:endParaRPr lang="en-US" sz="840" dirty="0"/>
          </a:p>
        </p:txBody>
      </p:sp>
      <p:sp>
        <p:nvSpPr>
          <p:cNvPr id="55" name="Shape 53"/>
          <p:cNvSpPr/>
          <p:nvPr/>
        </p:nvSpPr>
        <p:spPr>
          <a:xfrm>
            <a:off x="411480" y="3396996"/>
            <a:ext cx="2788920" cy="361188"/>
          </a:xfrm>
          <a:prstGeom prst="rect">
            <a:avLst/>
          </a:prstGeom>
          <a:solidFill>
            <a:srgbClr val="F7F9FB"/>
          </a:solidFill>
          <a:ln w="6350">
            <a:solidFill>
              <a:srgbClr val="D3DCE5"/>
            </a:solidFill>
            <a:prstDash val="solid"/>
          </a:ln>
        </p:spPr>
      </p:sp>
      <p:sp>
        <p:nvSpPr>
          <p:cNvPr id="56" name="Text 54"/>
          <p:cNvSpPr txBox="1"/>
          <p:nvPr/>
        </p:nvSpPr>
        <p:spPr>
          <a:xfrm>
            <a:off x="475488" y="3396996"/>
            <a:ext cx="2660904" cy="36118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Biodiversity</a:t>
            </a:r>
            <a:endParaRPr lang="en-US" sz="840" dirty="0"/>
          </a:p>
        </p:txBody>
      </p:sp>
      <p:sp>
        <p:nvSpPr>
          <p:cNvPr id="57" name="Shape 55"/>
          <p:cNvSpPr/>
          <p:nvPr/>
        </p:nvSpPr>
        <p:spPr>
          <a:xfrm>
            <a:off x="3200400" y="3396996"/>
            <a:ext cx="1600200" cy="361188"/>
          </a:xfrm>
          <a:prstGeom prst="rect">
            <a:avLst/>
          </a:prstGeom>
          <a:solidFill>
            <a:srgbClr val="F7F9FB"/>
          </a:solidFill>
          <a:ln w="6350">
            <a:solidFill>
              <a:srgbClr val="D3DCE5"/>
            </a:solidFill>
            <a:prstDash val="solid"/>
          </a:ln>
        </p:spPr>
      </p:sp>
      <p:sp>
        <p:nvSpPr>
          <p:cNvPr id="58" name="Text 56"/>
          <p:cNvSpPr txBox="1"/>
          <p:nvPr/>
        </p:nvSpPr>
        <p:spPr>
          <a:xfrm>
            <a:off x="3264408" y="3396996"/>
            <a:ext cx="1472184" cy="361188"/>
          </a:xfrm>
          <a:prstGeom prst="rect">
            <a:avLst/>
          </a:prstGeom>
          <a:noFill/>
          <a:ln/>
        </p:spPr>
        <p:txBody>
          <a:bodyPr wrap="square" lIns="0" tIns="0" rIns="0" bIns="0" rtlCol="0" anchor="ctr"/>
          <a:lstStyle/>
          <a:p>
            <a:pPr algn="ctr" indent="0" marL="0">
              <a:buNone/>
            </a:pPr>
            <a:r>
              <a:rPr lang="en-US" sz="840" dirty="0">
                <a:solidFill>
                  <a:srgbClr val="C2610A"/>
                </a:solidFill>
                <a:latin typeface="Calibri" pitchFamily="34" charset="0"/>
                <a:ea typeface="Calibri" pitchFamily="34" charset="-122"/>
                <a:cs typeface="Calibri" pitchFamily="34" charset="-120"/>
              </a:rPr>
              <a:t>Medium</a:t>
            </a:r>
            <a:endParaRPr lang="en-US" sz="840" dirty="0"/>
          </a:p>
        </p:txBody>
      </p:sp>
      <p:sp>
        <p:nvSpPr>
          <p:cNvPr id="59" name="Shape 57"/>
          <p:cNvSpPr/>
          <p:nvPr/>
        </p:nvSpPr>
        <p:spPr>
          <a:xfrm>
            <a:off x="4800600" y="3396996"/>
            <a:ext cx="1600200" cy="361188"/>
          </a:xfrm>
          <a:prstGeom prst="rect">
            <a:avLst/>
          </a:prstGeom>
          <a:solidFill>
            <a:srgbClr val="F7F9FB"/>
          </a:solidFill>
          <a:ln w="6350">
            <a:solidFill>
              <a:srgbClr val="D3DCE5"/>
            </a:solidFill>
            <a:prstDash val="solid"/>
          </a:ln>
        </p:spPr>
      </p:sp>
      <p:sp>
        <p:nvSpPr>
          <p:cNvPr id="60" name="Text 58"/>
          <p:cNvSpPr txBox="1"/>
          <p:nvPr/>
        </p:nvSpPr>
        <p:spPr>
          <a:xfrm>
            <a:off x="4864608" y="3396996"/>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High</a:t>
            </a:r>
            <a:endParaRPr lang="en-US" sz="840" dirty="0"/>
          </a:p>
        </p:txBody>
      </p:sp>
      <p:sp>
        <p:nvSpPr>
          <p:cNvPr id="61" name="Shape 59"/>
          <p:cNvSpPr/>
          <p:nvPr/>
        </p:nvSpPr>
        <p:spPr>
          <a:xfrm>
            <a:off x="6400800" y="3396996"/>
            <a:ext cx="5385816" cy="361188"/>
          </a:xfrm>
          <a:prstGeom prst="rect">
            <a:avLst/>
          </a:prstGeom>
          <a:solidFill>
            <a:srgbClr val="F7F9FB"/>
          </a:solidFill>
          <a:ln w="6350">
            <a:solidFill>
              <a:srgbClr val="D3DCE5"/>
            </a:solidFill>
            <a:prstDash val="solid"/>
          </a:ln>
        </p:spPr>
      </p:sp>
      <p:sp>
        <p:nvSpPr>
          <p:cNvPr id="62" name="Text 60"/>
          <p:cNvSpPr txBox="1"/>
          <p:nvPr/>
        </p:nvSpPr>
        <p:spPr>
          <a:xfrm>
            <a:off x="6464808" y="3396996"/>
            <a:ext cx="5257800" cy="36118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Nature-related disclosure is following climate disclosure, and the Pilbara offsets regime is already judged inadequate.</a:t>
            </a:r>
            <a:endParaRPr lang="en-US" sz="840" dirty="0"/>
          </a:p>
        </p:txBody>
      </p:sp>
      <p:sp>
        <p:nvSpPr>
          <p:cNvPr id="63" name="Shape 61"/>
          <p:cNvSpPr/>
          <p:nvPr/>
        </p:nvSpPr>
        <p:spPr>
          <a:xfrm>
            <a:off x="411480" y="3758184"/>
            <a:ext cx="2788920" cy="361188"/>
          </a:xfrm>
          <a:prstGeom prst="rect">
            <a:avLst/>
          </a:prstGeom>
          <a:solidFill>
            <a:srgbClr val="FFFFFF"/>
          </a:solidFill>
          <a:ln w="6350">
            <a:solidFill>
              <a:srgbClr val="D3DCE5"/>
            </a:solidFill>
            <a:prstDash val="solid"/>
          </a:ln>
        </p:spPr>
      </p:sp>
      <p:sp>
        <p:nvSpPr>
          <p:cNvPr id="64" name="Text 62"/>
          <p:cNvSpPr txBox="1"/>
          <p:nvPr/>
        </p:nvSpPr>
        <p:spPr>
          <a:xfrm>
            <a:off x="475488" y="3758184"/>
            <a:ext cx="2660904" cy="36118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Scope 3 emissions</a:t>
            </a:r>
            <a:endParaRPr lang="en-US" sz="840" dirty="0"/>
          </a:p>
        </p:txBody>
      </p:sp>
      <p:sp>
        <p:nvSpPr>
          <p:cNvPr id="65" name="Shape 63"/>
          <p:cNvSpPr/>
          <p:nvPr/>
        </p:nvSpPr>
        <p:spPr>
          <a:xfrm>
            <a:off x="3200400" y="3758184"/>
            <a:ext cx="1600200" cy="361188"/>
          </a:xfrm>
          <a:prstGeom prst="rect">
            <a:avLst/>
          </a:prstGeom>
          <a:solidFill>
            <a:srgbClr val="FFFFFF"/>
          </a:solidFill>
          <a:ln w="6350">
            <a:solidFill>
              <a:srgbClr val="D3DCE5"/>
            </a:solidFill>
            <a:prstDash val="solid"/>
          </a:ln>
        </p:spPr>
      </p:sp>
      <p:sp>
        <p:nvSpPr>
          <p:cNvPr id="66" name="Text 64"/>
          <p:cNvSpPr txBox="1"/>
          <p:nvPr/>
        </p:nvSpPr>
        <p:spPr>
          <a:xfrm>
            <a:off x="3264408" y="3758184"/>
            <a:ext cx="1472184" cy="361188"/>
          </a:xfrm>
          <a:prstGeom prst="rect">
            <a:avLst/>
          </a:prstGeom>
          <a:noFill/>
          <a:ln/>
        </p:spPr>
        <p:txBody>
          <a:bodyPr wrap="square" lIns="0" tIns="0" rIns="0" bIns="0" rtlCol="0" anchor="ctr"/>
          <a:lstStyle/>
          <a:p>
            <a:pPr algn="ctr" indent="0" marL="0">
              <a:buNone/>
            </a:pPr>
            <a:r>
              <a:rPr lang="en-US" sz="840" dirty="0">
                <a:solidFill>
                  <a:srgbClr val="5F7183"/>
                </a:solidFill>
                <a:latin typeface="Calibri" pitchFamily="34" charset="0"/>
                <a:ea typeface="Calibri" pitchFamily="34" charset="-122"/>
                <a:cs typeface="Calibri" pitchFamily="34" charset="-120"/>
              </a:rPr>
              <a:t>Low</a:t>
            </a:r>
            <a:endParaRPr lang="en-US" sz="840" dirty="0"/>
          </a:p>
        </p:txBody>
      </p:sp>
      <p:sp>
        <p:nvSpPr>
          <p:cNvPr id="67" name="Shape 65"/>
          <p:cNvSpPr/>
          <p:nvPr/>
        </p:nvSpPr>
        <p:spPr>
          <a:xfrm>
            <a:off x="4800600" y="3758184"/>
            <a:ext cx="1600200" cy="361188"/>
          </a:xfrm>
          <a:prstGeom prst="rect">
            <a:avLst/>
          </a:prstGeom>
          <a:solidFill>
            <a:srgbClr val="FFFFFF"/>
          </a:solidFill>
          <a:ln w="6350">
            <a:solidFill>
              <a:srgbClr val="D3DCE5"/>
            </a:solidFill>
            <a:prstDash val="solid"/>
          </a:ln>
        </p:spPr>
      </p:sp>
      <p:sp>
        <p:nvSpPr>
          <p:cNvPr id="68" name="Text 66"/>
          <p:cNvSpPr txBox="1"/>
          <p:nvPr/>
        </p:nvSpPr>
        <p:spPr>
          <a:xfrm>
            <a:off x="4864608" y="3758184"/>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High</a:t>
            </a:r>
            <a:endParaRPr lang="en-US" sz="840" dirty="0"/>
          </a:p>
        </p:txBody>
      </p:sp>
      <p:sp>
        <p:nvSpPr>
          <p:cNvPr id="69" name="Shape 67"/>
          <p:cNvSpPr/>
          <p:nvPr/>
        </p:nvSpPr>
        <p:spPr>
          <a:xfrm>
            <a:off x="6400800" y="3758184"/>
            <a:ext cx="5385816" cy="361188"/>
          </a:xfrm>
          <a:prstGeom prst="rect">
            <a:avLst/>
          </a:prstGeom>
          <a:solidFill>
            <a:srgbClr val="FFFFFF"/>
          </a:solidFill>
          <a:ln w="6350">
            <a:solidFill>
              <a:srgbClr val="D3DCE5"/>
            </a:solidFill>
            <a:prstDash val="solid"/>
          </a:ln>
        </p:spPr>
      </p:sp>
      <p:sp>
        <p:nvSpPr>
          <p:cNvPr id="70" name="Text 68"/>
          <p:cNvSpPr txBox="1"/>
          <p:nvPr/>
        </p:nvSpPr>
        <p:spPr>
          <a:xfrm>
            <a:off x="6464808" y="3758184"/>
            <a:ext cx="5257800" cy="36118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Customers will be required to account for upstream emissions. Not currently disclosed by PLS.</a:t>
            </a:r>
            <a:endParaRPr lang="en-US" sz="840" dirty="0"/>
          </a:p>
        </p:txBody>
      </p:sp>
      <p:sp>
        <p:nvSpPr>
          <p:cNvPr id="71" name="Shape 69"/>
          <p:cNvSpPr/>
          <p:nvPr/>
        </p:nvSpPr>
        <p:spPr>
          <a:xfrm>
            <a:off x="411480" y="4119372"/>
            <a:ext cx="2788920" cy="361188"/>
          </a:xfrm>
          <a:prstGeom prst="rect">
            <a:avLst/>
          </a:prstGeom>
          <a:solidFill>
            <a:srgbClr val="F7F9FB"/>
          </a:solidFill>
          <a:ln w="6350">
            <a:solidFill>
              <a:srgbClr val="D3DCE5"/>
            </a:solidFill>
            <a:prstDash val="solid"/>
          </a:ln>
        </p:spPr>
      </p:sp>
      <p:sp>
        <p:nvSpPr>
          <p:cNvPr id="72" name="Text 70"/>
          <p:cNvSpPr txBox="1"/>
          <p:nvPr/>
        </p:nvSpPr>
        <p:spPr>
          <a:xfrm>
            <a:off x="475488" y="4119372"/>
            <a:ext cx="2660904" cy="36118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Workforce and psychosocial safety</a:t>
            </a:r>
            <a:endParaRPr lang="en-US" sz="840" dirty="0"/>
          </a:p>
        </p:txBody>
      </p:sp>
      <p:sp>
        <p:nvSpPr>
          <p:cNvPr id="73" name="Shape 71"/>
          <p:cNvSpPr/>
          <p:nvPr/>
        </p:nvSpPr>
        <p:spPr>
          <a:xfrm>
            <a:off x="3200400" y="4119372"/>
            <a:ext cx="1600200" cy="361188"/>
          </a:xfrm>
          <a:prstGeom prst="rect">
            <a:avLst/>
          </a:prstGeom>
          <a:solidFill>
            <a:srgbClr val="F7F9FB"/>
          </a:solidFill>
          <a:ln w="6350">
            <a:solidFill>
              <a:srgbClr val="D3DCE5"/>
            </a:solidFill>
            <a:prstDash val="solid"/>
          </a:ln>
        </p:spPr>
      </p:sp>
      <p:sp>
        <p:nvSpPr>
          <p:cNvPr id="74" name="Text 72"/>
          <p:cNvSpPr txBox="1"/>
          <p:nvPr/>
        </p:nvSpPr>
        <p:spPr>
          <a:xfrm>
            <a:off x="3264408" y="4119372"/>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High</a:t>
            </a:r>
            <a:endParaRPr lang="en-US" sz="840" dirty="0"/>
          </a:p>
        </p:txBody>
      </p:sp>
      <p:sp>
        <p:nvSpPr>
          <p:cNvPr id="75" name="Shape 73"/>
          <p:cNvSpPr/>
          <p:nvPr/>
        </p:nvSpPr>
        <p:spPr>
          <a:xfrm>
            <a:off x="4800600" y="4119372"/>
            <a:ext cx="1600200" cy="361188"/>
          </a:xfrm>
          <a:prstGeom prst="rect">
            <a:avLst/>
          </a:prstGeom>
          <a:solidFill>
            <a:srgbClr val="F7F9FB"/>
          </a:solidFill>
          <a:ln w="6350">
            <a:solidFill>
              <a:srgbClr val="D3DCE5"/>
            </a:solidFill>
            <a:prstDash val="solid"/>
          </a:ln>
        </p:spPr>
      </p:sp>
      <p:sp>
        <p:nvSpPr>
          <p:cNvPr id="76" name="Text 74"/>
          <p:cNvSpPr txBox="1"/>
          <p:nvPr/>
        </p:nvSpPr>
        <p:spPr>
          <a:xfrm>
            <a:off x="4864608" y="4119372"/>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High</a:t>
            </a:r>
            <a:endParaRPr lang="en-US" sz="840" dirty="0"/>
          </a:p>
        </p:txBody>
      </p:sp>
      <p:sp>
        <p:nvSpPr>
          <p:cNvPr id="77" name="Shape 75"/>
          <p:cNvSpPr/>
          <p:nvPr/>
        </p:nvSpPr>
        <p:spPr>
          <a:xfrm>
            <a:off x="6400800" y="4119372"/>
            <a:ext cx="5385816" cy="361188"/>
          </a:xfrm>
          <a:prstGeom prst="rect">
            <a:avLst/>
          </a:prstGeom>
          <a:solidFill>
            <a:srgbClr val="F7F9FB"/>
          </a:solidFill>
          <a:ln w="6350">
            <a:solidFill>
              <a:srgbClr val="D3DCE5"/>
            </a:solidFill>
            <a:prstDash val="solid"/>
          </a:ln>
        </p:spPr>
      </p:sp>
      <p:sp>
        <p:nvSpPr>
          <p:cNvPr id="78" name="Text 76"/>
          <p:cNvSpPr txBox="1"/>
          <p:nvPr/>
        </p:nvSpPr>
        <p:spPr>
          <a:xfrm>
            <a:off x="6464808" y="4119372"/>
            <a:ext cx="5257800" cy="36118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WA parliamentary scrutiny of the fly-in fly-out sector; labour scarcity constrains growth delivery.</a:t>
            </a:r>
            <a:endParaRPr lang="en-US" sz="840" dirty="0"/>
          </a:p>
        </p:txBody>
      </p:sp>
      <p:sp>
        <p:nvSpPr>
          <p:cNvPr id="79" name="Shape 77"/>
          <p:cNvSpPr/>
          <p:nvPr/>
        </p:nvSpPr>
        <p:spPr>
          <a:xfrm>
            <a:off x="411480" y="4480560"/>
            <a:ext cx="2788920" cy="361188"/>
          </a:xfrm>
          <a:prstGeom prst="rect">
            <a:avLst/>
          </a:prstGeom>
          <a:solidFill>
            <a:srgbClr val="FFFFFF"/>
          </a:solidFill>
          <a:ln w="6350">
            <a:solidFill>
              <a:srgbClr val="D3DCE5"/>
            </a:solidFill>
            <a:prstDash val="solid"/>
          </a:ln>
        </p:spPr>
      </p:sp>
      <p:sp>
        <p:nvSpPr>
          <p:cNvPr id="80" name="Text 78"/>
          <p:cNvSpPr txBox="1"/>
          <p:nvPr/>
        </p:nvSpPr>
        <p:spPr>
          <a:xfrm>
            <a:off x="475488" y="4480560"/>
            <a:ext cx="2660904" cy="36118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Governance and capital discipline</a:t>
            </a:r>
            <a:endParaRPr lang="en-US" sz="840" dirty="0"/>
          </a:p>
        </p:txBody>
      </p:sp>
      <p:sp>
        <p:nvSpPr>
          <p:cNvPr id="81" name="Shape 79"/>
          <p:cNvSpPr/>
          <p:nvPr/>
        </p:nvSpPr>
        <p:spPr>
          <a:xfrm>
            <a:off x="3200400" y="4480560"/>
            <a:ext cx="1600200" cy="361188"/>
          </a:xfrm>
          <a:prstGeom prst="rect">
            <a:avLst/>
          </a:prstGeom>
          <a:solidFill>
            <a:srgbClr val="FFFFFF"/>
          </a:solidFill>
          <a:ln w="6350">
            <a:solidFill>
              <a:srgbClr val="D3DCE5"/>
            </a:solidFill>
            <a:prstDash val="solid"/>
          </a:ln>
        </p:spPr>
      </p:sp>
      <p:sp>
        <p:nvSpPr>
          <p:cNvPr id="82" name="Text 80"/>
          <p:cNvSpPr txBox="1"/>
          <p:nvPr/>
        </p:nvSpPr>
        <p:spPr>
          <a:xfrm>
            <a:off x="3264408" y="4480560"/>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Critical</a:t>
            </a:r>
            <a:endParaRPr lang="en-US" sz="840" dirty="0"/>
          </a:p>
        </p:txBody>
      </p:sp>
      <p:sp>
        <p:nvSpPr>
          <p:cNvPr id="83" name="Shape 81"/>
          <p:cNvSpPr/>
          <p:nvPr/>
        </p:nvSpPr>
        <p:spPr>
          <a:xfrm>
            <a:off x="4800600" y="4480560"/>
            <a:ext cx="1600200" cy="361188"/>
          </a:xfrm>
          <a:prstGeom prst="rect">
            <a:avLst/>
          </a:prstGeom>
          <a:solidFill>
            <a:srgbClr val="FFFFFF"/>
          </a:solidFill>
          <a:ln w="6350">
            <a:solidFill>
              <a:srgbClr val="D3DCE5"/>
            </a:solidFill>
            <a:prstDash val="solid"/>
          </a:ln>
        </p:spPr>
      </p:sp>
      <p:sp>
        <p:nvSpPr>
          <p:cNvPr id="84" name="Text 82"/>
          <p:cNvSpPr txBox="1"/>
          <p:nvPr/>
        </p:nvSpPr>
        <p:spPr>
          <a:xfrm>
            <a:off x="4864608" y="4480560"/>
            <a:ext cx="1472184" cy="36118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Critical</a:t>
            </a:r>
            <a:endParaRPr lang="en-US" sz="840" dirty="0"/>
          </a:p>
        </p:txBody>
      </p:sp>
      <p:sp>
        <p:nvSpPr>
          <p:cNvPr id="85" name="Shape 83"/>
          <p:cNvSpPr/>
          <p:nvPr/>
        </p:nvSpPr>
        <p:spPr>
          <a:xfrm>
            <a:off x="6400800" y="4480560"/>
            <a:ext cx="5385816" cy="361188"/>
          </a:xfrm>
          <a:prstGeom prst="rect">
            <a:avLst/>
          </a:prstGeom>
          <a:solidFill>
            <a:srgbClr val="FFFFFF"/>
          </a:solidFill>
          <a:ln w="6350">
            <a:solidFill>
              <a:srgbClr val="D3DCE5"/>
            </a:solidFill>
            <a:prstDash val="solid"/>
          </a:ln>
        </p:spPr>
      </p:sp>
      <p:sp>
        <p:nvSpPr>
          <p:cNvPr id="86" name="Text 84"/>
          <p:cNvSpPr txBox="1"/>
          <p:nvPr/>
        </p:nvSpPr>
        <p:spPr>
          <a:xfrm>
            <a:off x="6464808" y="4480560"/>
            <a:ext cx="5257800" cy="36118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In a cyclical commodity, when you spend matters more than what you spend on.</a:t>
            </a:r>
            <a:endParaRPr lang="en-US" sz="840" dirty="0"/>
          </a:p>
        </p:txBody>
      </p:sp>
      <p:sp>
        <p:nvSpPr>
          <p:cNvPr id="87" name="Shape 85"/>
          <p:cNvSpPr/>
          <p:nvPr/>
        </p:nvSpPr>
        <p:spPr>
          <a:xfrm>
            <a:off x="411480" y="5047488"/>
            <a:ext cx="11375136" cy="987552"/>
          </a:xfrm>
          <a:prstGeom prst="rect">
            <a:avLst/>
          </a:prstGeom>
          <a:solidFill>
            <a:srgbClr val="D6EBE7"/>
          </a:solidFill>
          <a:ln w="9525">
            <a:solidFill>
              <a:srgbClr val="AFD3CC"/>
            </a:solidFill>
            <a:prstDash val="solid"/>
          </a:ln>
        </p:spPr>
      </p:sp>
      <p:sp>
        <p:nvSpPr>
          <p:cNvPr id="88" name="Text 86"/>
          <p:cNvSpPr txBox="1"/>
          <p:nvPr/>
        </p:nvSpPr>
        <p:spPr>
          <a:xfrm>
            <a:off x="576072" y="5175504"/>
            <a:ext cx="11045952"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The one that moves the most</a:t>
            </a:r>
            <a:endParaRPr lang="en-US" sz="1150" dirty="0"/>
          </a:p>
        </p:txBody>
      </p:sp>
      <p:sp>
        <p:nvSpPr>
          <p:cNvPr id="89" name="Text 87"/>
          <p:cNvSpPr txBox="1"/>
          <p:nvPr/>
        </p:nvSpPr>
        <p:spPr>
          <a:xfrm>
            <a:off x="576072" y="5504688"/>
            <a:ext cx="11045952" cy="438912"/>
          </a:xfrm>
          <a:prstGeom prst="rect">
            <a:avLst/>
          </a:prstGeom>
          <a:noFill/>
          <a:ln/>
        </p:spPr>
        <p:txBody>
          <a:bodyPr wrap="square" lIns="0" tIns="0" rIns="0" bIns="0" rtlCol="0" anchor="t"/>
          <a:lstStyle/>
          <a:p>
            <a:pPr indent="0" marL="0">
              <a:lnSpc>
                <a:spcPct val="105000"/>
              </a:lnSpc>
              <a:buNone/>
            </a:pPr>
            <a:r>
              <a:rPr lang="en-US" sz="860" dirty="0">
                <a:solidFill>
                  <a:srgbClr val="1B2733"/>
                </a:solidFill>
                <a:latin typeface="Calibri" pitchFamily="34" charset="0"/>
                <a:ea typeface="Calibri" pitchFamily="34" charset="-122"/>
                <a:cs typeface="Calibri" pitchFamily="34" charset="-120"/>
              </a:rPr>
              <a:t>Product carbon intensity goes from an item almost nobody prices today to the single most material issue on the list by 2030. That movement is the whole thesis. If we are wrong about the timing, we are wrong about the recommendation - which is why we hold the downstream option outside the target price rather than inside it, and why our A$6.14 stands on the cost position alone.</a:t>
            </a:r>
            <a:endParaRPr lang="en-US" sz="860" dirty="0"/>
          </a:p>
        </p:txBody>
      </p:sp>
      <p:sp>
        <p:nvSpPr>
          <p:cNvPr id="90" name="Text 88"/>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Assessment is the team's, informed by SASB Metals and Mining standards, the EU Battery Regulation timetable and PLS's own disclosure. Ratings are ours, not the company's.</a:t>
            </a:r>
            <a:endParaRPr lang="en-US" sz="720" dirty="0"/>
          </a:p>
        </p:txBody>
      </p:sp>
      <p:sp>
        <p:nvSpPr>
          <p:cNvPr id="91" name="Text 89"/>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D1</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PLS reports directionally and improved 7.1% last year. It does not report the two numbers a low-carbon thesis actually needs.</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D2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3154680" cy="292608"/>
          </a:xfrm>
          <a:prstGeom prst="rect">
            <a:avLst/>
          </a:prstGeom>
          <a:solidFill>
            <a:srgbClr val="10233A"/>
          </a:solidFill>
          <a:ln/>
        </p:spPr>
      </p:sp>
      <p:sp>
        <p:nvSpPr>
          <p:cNvPr id="8" name="Text 6"/>
          <p:cNvSpPr txBox="1"/>
          <p:nvPr/>
        </p:nvSpPr>
        <p:spPr>
          <a:xfrm>
            <a:off x="475488" y="1298448"/>
            <a:ext cx="302666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p>
        </p:txBody>
      </p:sp>
      <p:sp>
        <p:nvSpPr>
          <p:cNvPr id="9" name="Shape 7"/>
          <p:cNvSpPr/>
          <p:nvPr/>
        </p:nvSpPr>
        <p:spPr>
          <a:xfrm>
            <a:off x="3566160" y="1298448"/>
            <a:ext cx="4251960" cy="292608"/>
          </a:xfrm>
          <a:prstGeom prst="rect">
            <a:avLst/>
          </a:prstGeom>
          <a:solidFill>
            <a:srgbClr val="10233A"/>
          </a:solidFill>
          <a:ln/>
        </p:spPr>
      </p:sp>
      <p:sp>
        <p:nvSpPr>
          <p:cNvPr id="10" name="Text 8"/>
          <p:cNvSpPr txBox="1"/>
          <p:nvPr/>
        </p:nvSpPr>
        <p:spPr>
          <a:xfrm>
            <a:off x="3630168" y="1298448"/>
            <a:ext cx="412394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PLS discloses</a:t>
            </a:r>
            <a:endParaRPr lang="en-US" sz="900" dirty="0"/>
          </a:p>
        </p:txBody>
      </p:sp>
      <p:sp>
        <p:nvSpPr>
          <p:cNvPr id="11" name="Shape 9"/>
          <p:cNvSpPr/>
          <p:nvPr/>
        </p:nvSpPr>
        <p:spPr>
          <a:xfrm>
            <a:off x="7818120" y="1298448"/>
            <a:ext cx="3968496" cy="292608"/>
          </a:xfrm>
          <a:prstGeom prst="rect">
            <a:avLst/>
          </a:prstGeom>
          <a:solidFill>
            <a:srgbClr val="10233A"/>
          </a:solidFill>
          <a:ln/>
        </p:spPr>
      </p:sp>
      <p:sp>
        <p:nvSpPr>
          <p:cNvPr id="12" name="Text 10"/>
          <p:cNvSpPr txBox="1"/>
          <p:nvPr/>
        </p:nvSpPr>
        <p:spPr>
          <a:xfrm>
            <a:off x="7882128" y="1298448"/>
            <a:ext cx="384048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Our assessment</a:t>
            </a:r>
            <a:endParaRPr lang="en-US" sz="900" dirty="0"/>
          </a:p>
        </p:txBody>
      </p:sp>
      <p:sp>
        <p:nvSpPr>
          <p:cNvPr id="13" name="Shape 11"/>
          <p:cNvSpPr/>
          <p:nvPr/>
        </p:nvSpPr>
        <p:spPr>
          <a:xfrm>
            <a:off x="411480" y="1591056"/>
            <a:ext cx="3154680" cy="434340"/>
          </a:xfrm>
          <a:prstGeom prst="rect">
            <a:avLst/>
          </a:prstGeom>
          <a:solidFill>
            <a:srgbClr val="FFFFFF"/>
          </a:solidFill>
          <a:ln w="6350">
            <a:solidFill>
              <a:srgbClr val="D3DCE5"/>
            </a:solidFill>
            <a:prstDash val="solid"/>
          </a:ln>
        </p:spPr>
      </p:sp>
      <p:sp>
        <p:nvSpPr>
          <p:cNvPr id="14" name="Text 12"/>
          <p:cNvSpPr txBox="1"/>
          <p:nvPr/>
        </p:nvSpPr>
        <p:spPr>
          <a:xfrm>
            <a:off x="475488" y="1591056"/>
            <a:ext cx="302666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Scope 1 and 2, absolute</a:t>
            </a:r>
            <a:endParaRPr lang="en-US" sz="860" dirty="0"/>
          </a:p>
        </p:txBody>
      </p:sp>
      <p:sp>
        <p:nvSpPr>
          <p:cNvPr id="15" name="Shape 13"/>
          <p:cNvSpPr/>
          <p:nvPr/>
        </p:nvSpPr>
        <p:spPr>
          <a:xfrm>
            <a:off x="3566160" y="1591056"/>
            <a:ext cx="4251960" cy="434340"/>
          </a:xfrm>
          <a:prstGeom prst="rect">
            <a:avLst/>
          </a:prstGeom>
          <a:solidFill>
            <a:srgbClr val="FFFFFF"/>
          </a:solidFill>
          <a:ln w="6350">
            <a:solidFill>
              <a:srgbClr val="D3DCE5"/>
            </a:solidFill>
            <a:prstDash val="solid"/>
          </a:ln>
        </p:spPr>
      </p:sp>
      <p:sp>
        <p:nvSpPr>
          <p:cNvPr id="16" name="Text 14"/>
          <p:cNvSpPr txBox="1"/>
          <p:nvPr/>
        </p:nvSpPr>
        <p:spPr>
          <a:xfrm>
            <a:off x="3630168" y="1591056"/>
            <a:ext cx="412394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Down 5% in FY26, following a 7.1% reduction in FY25. Two consecutive years of absolute reduction while volumes rose 17%. Tonnages not retrievable.</a:t>
            </a:r>
            <a:endParaRPr lang="en-US" sz="860" dirty="0"/>
          </a:p>
        </p:txBody>
      </p:sp>
      <p:sp>
        <p:nvSpPr>
          <p:cNvPr id="17" name="Shape 15"/>
          <p:cNvSpPr/>
          <p:nvPr/>
        </p:nvSpPr>
        <p:spPr>
          <a:xfrm>
            <a:off x="7818120" y="1591056"/>
            <a:ext cx="3968496" cy="434340"/>
          </a:xfrm>
          <a:prstGeom prst="rect">
            <a:avLst/>
          </a:prstGeom>
          <a:solidFill>
            <a:srgbClr val="FFFFFF"/>
          </a:solidFill>
          <a:ln w="6350">
            <a:solidFill>
              <a:srgbClr val="D3DCE5"/>
            </a:solidFill>
            <a:prstDash val="solid"/>
          </a:ln>
        </p:spPr>
      </p:sp>
      <p:sp>
        <p:nvSpPr>
          <p:cNvPr id="18" name="Text 16"/>
          <p:cNvSpPr txBox="1"/>
          <p:nvPr/>
        </p:nvSpPr>
        <p:spPr>
          <a:xfrm>
            <a:off x="7882128" y="1591056"/>
            <a:ext cx="3840480" cy="434340"/>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Improving, still directional</a:t>
            </a:r>
            <a:endParaRPr lang="en-US" sz="860" dirty="0"/>
          </a:p>
        </p:txBody>
      </p:sp>
      <p:sp>
        <p:nvSpPr>
          <p:cNvPr id="19" name="Shape 17"/>
          <p:cNvSpPr/>
          <p:nvPr/>
        </p:nvSpPr>
        <p:spPr>
          <a:xfrm>
            <a:off x="411480" y="2025396"/>
            <a:ext cx="3154680" cy="434340"/>
          </a:xfrm>
          <a:prstGeom prst="rect">
            <a:avLst/>
          </a:prstGeom>
          <a:solidFill>
            <a:srgbClr val="F7F9FB"/>
          </a:solidFill>
          <a:ln w="6350">
            <a:solidFill>
              <a:srgbClr val="D3DCE5"/>
            </a:solidFill>
            <a:prstDash val="solid"/>
          </a:ln>
        </p:spPr>
      </p:sp>
      <p:sp>
        <p:nvSpPr>
          <p:cNvPr id="20" name="Text 18"/>
          <p:cNvSpPr txBox="1"/>
          <p:nvPr/>
        </p:nvSpPr>
        <p:spPr>
          <a:xfrm>
            <a:off x="475488" y="2025396"/>
            <a:ext cx="302666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Scope 3</a:t>
            </a:r>
            <a:endParaRPr lang="en-US" sz="860" dirty="0"/>
          </a:p>
        </p:txBody>
      </p:sp>
      <p:sp>
        <p:nvSpPr>
          <p:cNvPr id="21" name="Shape 19"/>
          <p:cNvSpPr/>
          <p:nvPr/>
        </p:nvSpPr>
        <p:spPr>
          <a:xfrm>
            <a:off x="3566160" y="2025396"/>
            <a:ext cx="4251960" cy="434340"/>
          </a:xfrm>
          <a:prstGeom prst="rect">
            <a:avLst/>
          </a:prstGeom>
          <a:solidFill>
            <a:srgbClr val="F7F9FB"/>
          </a:solidFill>
          <a:ln w="6350">
            <a:solidFill>
              <a:srgbClr val="D3DCE5"/>
            </a:solidFill>
            <a:prstDash val="solid"/>
          </a:ln>
        </p:spPr>
      </p:sp>
      <p:sp>
        <p:nvSpPr>
          <p:cNvPr id="22" name="Text 20"/>
          <p:cNvSpPr txBox="1"/>
          <p:nvPr/>
        </p:nvSpPr>
        <p:spPr>
          <a:xfrm>
            <a:off x="3630168" y="2025396"/>
            <a:ext cx="412394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Not found.</a:t>
            </a:r>
            <a:endParaRPr lang="en-US" sz="860" dirty="0"/>
          </a:p>
        </p:txBody>
      </p:sp>
      <p:sp>
        <p:nvSpPr>
          <p:cNvPr id="23" name="Shape 21"/>
          <p:cNvSpPr/>
          <p:nvPr/>
        </p:nvSpPr>
        <p:spPr>
          <a:xfrm>
            <a:off x="7818120" y="2025396"/>
            <a:ext cx="3968496" cy="434340"/>
          </a:xfrm>
          <a:prstGeom prst="rect">
            <a:avLst/>
          </a:prstGeom>
          <a:solidFill>
            <a:srgbClr val="F7F9FB"/>
          </a:solidFill>
          <a:ln w="6350">
            <a:solidFill>
              <a:srgbClr val="D3DCE5"/>
            </a:solidFill>
            <a:prstDash val="solid"/>
          </a:ln>
        </p:spPr>
      </p:sp>
      <p:sp>
        <p:nvSpPr>
          <p:cNvPr id="24" name="Text 22"/>
          <p:cNvSpPr txBox="1"/>
          <p:nvPr/>
        </p:nvSpPr>
        <p:spPr>
          <a:xfrm>
            <a:off x="7882128" y="2025396"/>
            <a:ext cx="3840480" cy="434340"/>
          </a:xfrm>
          <a:prstGeom prst="rect">
            <a:avLst/>
          </a:prstGeom>
          <a:noFill/>
          <a:ln/>
        </p:spPr>
        <p:txBody>
          <a:bodyPr wrap="square" lIns="0" tIns="0" rIns="0" bIns="0" rtlCol="0" anchor="ctr"/>
          <a:lstStyle/>
          <a:p>
            <a:pPr algn="l" indent="0" marL="0">
              <a:buNone/>
            </a:pPr>
            <a:r>
              <a:rPr lang="en-US" sz="860" b="1" dirty="0">
                <a:solidFill>
                  <a:srgbClr val="A3282C"/>
                </a:solidFill>
                <a:latin typeface="Calibri" pitchFamily="34" charset="0"/>
                <a:ea typeface="Calibri" pitchFamily="34" charset="-122"/>
                <a:cs typeface="Calibri" pitchFamily="34" charset="-120"/>
              </a:rPr>
              <a:t>Material gap</a:t>
            </a:r>
            <a:endParaRPr lang="en-US" sz="860" dirty="0"/>
          </a:p>
        </p:txBody>
      </p:sp>
      <p:sp>
        <p:nvSpPr>
          <p:cNvPr id="25" name="Shape 23"/>
          <p:cNvSpPr/>
          <p:nvPr/>
        </p:nvSpPr>
        <p:spPr>
          <a:xfrm>
            <a:off x="411480" y="2459736"/>
            <a:ext cx="3154680" cy="434340"/>
          </a:xfrm>
          <a:prstGeom prst="rect">
            <a:avLst/>
          </a:prstGeom>
          <a:solidFill>
            <a:srgbClr val="FFFFFF"/>
          </a:solidFill>
          <a:ln w="6350">
            <a:solidFill>
              <a:srgbClr val="D3DCE5"/>
            </a:solidFill>
            <a:prstDash val="solid"/>
          </a:ln>
        </p:spPr>
      </p:sp>
      <p:sp>
        <p:nvSpPr>
          <p:cNvPr id="26" name="Text 24"/>
          <p:cNvSpPr txBox="1"/>
          <p:nvPr/>
        </p:nvSpPr>
        <p:spPr>
          <a:xfrm>
            <a:off x="475488" y="2459736"/>
            <a:ext cx="302666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Emissions intensity per tonne</a:t>
            </a:r>
            <a:endParaRPr lang="en-US" sz="860" dirty="0"/>
          </a:p>
        </p:txBody>
      </p:sp>
      <p:sp>
        <p:nvSpPr>
          <p:cNvPr id="27" name="Shape 25"/>
          <p:cNvSpPr/>
          <p:nvPr/>
        </p:nvSpPr>
        <p:spPr>
          <a:xfrm>
            <a:off x="3566160" y="2459736"/>
            <a:ext cx="4251960" cy="434340"/>
          </a:xfrm>
          <a:prstGeom prst="rect">
            <a:avLst/>
          </a:prstGeom>
          <a:solidFill>
            <a:srgbClr val="FFFFFF"/>
          </a:solidFill>
          <a:ln w="6350">
            <a:solidFill>
              <a:srgbClr val="D3DCE5"/>
            </a:solidFill>
            <a:prstDash val="solid"/>
          </a:ln>
        </p:spPr>
      </p:sp>
      <p:sp>
        <p:nvSpPr>
          <p:cNvPr id="28" name="Text 26"/>
          <p:cNvSpPr txBox="1"/>
          <p:nvPr/>
        </p:nvSpPr>
        <p:spPr>
          <a:xfrm>
            <a:off x="3630168" y="2459736"/>
            <a:ext cx="412394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Not disclosed as a KPI. Third-party aggregators carry FY23-24 figures that disagree and that we judged unreliable.</a:t>
            </a:r>
            <a:endParaRPr lang="en-US" sz="860" dirty="0"/>
          </a:p>
        </p:txBody>
      </p:sp>
      <p:sp>
        <p:nvSpPr>
          <p:cNvPr id="29" name="Shape 27"/>
          <p:cNvSpPr/>
          <p:nvPr/>
        </p:nvSpPr>
        <p:spPr>
          <a:xfrm>
            <a:off x="7818120" y="2459736"/>
            <a:ext cx="3968496" cy="434340"/>
          </a:xfrm>
          <a:prstGeom prst="rect">
            <a:avLst/>
          </a:prstGeom>
          <a:solidFill>
            <a:srgbClr val="FFFFFF"/>
          </a:solidFill>
          <a:ln w="6350">
            <a:solidFill>
              <a:srgbClr val="D3DCE5"/>
            </a:solidFill>
            <a:prstDash val="solid"/>
          </a:ln>
        </p:spPr>
      </p:sp>
      <p:sp>
        <p:nvSpPr>
          <p:cNvPr id="30" name="Text 28"/>
          <p:cNvSpPr txBox="1"/>
          <p:nvPr/>
        </p:nvSpPr>
        <p:spPr>
          <a:xfrm>
            <a:off x="7882128" y="2459736"/>
            <a:ext cx="3840480" cy="434340"/>
          </a:xfrm>
          <a:prstGeom prst="rect">
            <a:avLst/>
          </a:prstGeom>
          <a:noFill/>
          <a:ln/>
        </p:spPr>
        <p:txBody>
          <a:bodyPr wrap="square" lIns="0" tIns="0" rIns="0" bIns="0" rtlCol="0" anchor="ctr"/>
          <a:lstStyle/>
          <a:p>
            <a:pPr algn="l" indent="0" marL="0">
              <a:buNone/>
            </a:pPr>
            <a:r>
              <a:rPr lang="en-US" sz="860" b="1" dirty="0">
                <a:solidFill>
                  <a:srgbClr val="A3282C"/>
                </a:solidFill>
                <a:latin typeface="Calibri" pitchFamily="34" charset="0"/>
                <a:ea typeface="Calibri" pitchFamily="34" charset="-122"/>
                <a:cs typeface="Calibri" pitchFamily="34" charset="-120"/>
              </a:rPr>
              <a:t>Material gap</a:t>
            </a:r>
            <a:endParaRPr lang="en-US" sz="860" dirty="0"/>
          </a:p>
        </p:txBody>
      </p:sp>
      <p:sp>
        <p:nvSpPr>
          <p:cNvPr id="31" name="Shape 29"/>
          <p:cNvSpPr/>
          <p:nvPr/>
        </p:nvSpPr>
        <p:spPr>
          <a:xfrm>
            <a:off x="411480" y="2894076"/>
            <a:ext cx="3154680" cy="434340"/>
          </a:xfrm>
          <a:prstGeom prst="rect">
            <a:avLst/>
          </a:prstGeom>
          <a:solidFill>
            <a:srgbClr val="F7F9FB"/>
          </a:solidFill>
          <a:ln w="6350">
            <a:solidFill>
              <a:srgbClr val="D3DCE5"/>
            </a:solidFill>
            <a:prstDash val="solid"/>
          </a:ln>
        </p:spPr>
      </p:sp>
      <p:sp>
        <p:nvSpPr>
          <p:cNvPr id="32" name="Text 30"/>
          <p:cNvSpPr txBox="1"/>
          <p:nvPr/>
        </p:nvSpPr>
        <p:spPr>
          <a:xfrm>
            <a:off x="475488" y="2894076"/>
            <a:ext cx="302666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Net zero target</a:t>
            </a:r>
            <a:endParaRPr lang="en-US" sz="860" dirty="0"/>
          </a:p>
        </p:txBody>
      </p:sp>
      <p:sp>
        <p:nvSpPr>
          <p:cNvPr id="33" name="Shape 31"/>
          <p:cNvSpPr/>
          <p:nvPr/>
        </p:nvSpPr>
        <p:spPr>
          <a:xfrm>
            <a:off x="3566160" y="2894076"/>
            <a:ext cx="4251960" cy="434340"/>
          </a:xfrm>
          <a:prstGeom prst="rect">
            <a:avLst/>
          </a:prstGeom>
          <a:solidFill>
            <a:srgbClr val="F7F9FB"/>
          </a:solidFill>
          <a:ln w="6350">
            <a:solidFill>
              <a:srgbClr val="D3DCE5"/>
            </a:solidFill>
            <a:prstDash val="solid"/>
          </a:ln>
        </p:spPr>
      </p:sp>
      <p:sp>
        <p:nvSpPr>
          <p:cNvPr id="34" name="Text 32"/>
          <p:cNvSpPr txBox="1"/>
          <p:nvPr/>
        </p:nvSpPr>
        <p:spPr>
          <a:xfrm>
            <a:off x="3630168" y="2894076"/>
            <a:ext cx="412394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"The decade commencing 2040" - a ten-year window rather than a year.</a:t>
            </a:r>
            <a:endParaRPr lang="en-US" sz="860" dirty="0"/>
          </a:p>
        </p:txBody>
      </p:sp>
      <p:sp>
        <p:nvSpPr>
          <p:cNvPr id="35" name="Shape 33"/>
          <p:cNvSpPr/>
          <p:nvPr/>
        </p:nvSpPr>
        <p:spPr>
          <a:xfrm>
            <a:off x="7818120" y="2894076"/>
            <a:ext cx="3968496" cy="434340"/>
          </a:xfrm>
          <a:prstGeom prst="rect">
            <a:avLst/>
          </a:prstGeom>
          <a:solidFill>
            <a:srgbClr val="F7F9FB"/>
          </a:solidFill>
          <a:ln w="6350">
            <a:solidFill>
              <a:srgbClr val="D3DCE5"/>
            </a:solidFill>
            <a:prstDash val="solid"/>
          </a:ln>
        </p:spPr>
      </p:sp>
      <p:sp>
        <p:nvSpPr>
          <p:cNvPr id="36" name="Text 34"/>
          <p:cNvSpPr txBox="1"/>
          <p:nvPr/>
        </p:nvSpPr>
        <p:spPr>
          <a:xfrm>
            <a:off x="7882128" y="2894076"/>
            <a:ext cx="3840480" cy="434340"/>
          </a:xfrm>
          <a:prstGeom prst="rect">
            <a:avLst/>
          </a:prstGeom>
          <a:noFill/>
          <a:ln/>
        </p:spPr>
        <p:txBody>
          <a:bodyPr wrap="square" lIns="0" tIns="0" rIns="0" bIns="0" rtlCol="0" anchor="ctr"/>
          <a:lstStyle/>
          <a:p>
            <a:pPr algn="l" indent="0" marL="0">
              <a:buNone/>
            </a:pPr>
            <a:r>
              <a:rPr lang="en-US" sz="860" b="1" dirty="0">
                <a:solidFill>
                  <a:srgbClr val="A3282C"/>
                </a:solidFill>
                <a:latin typeface="Calibri" pitchFamily="34" charset="0"/>
                <a:ea typeface="Calibri" pitchFamily="34" charset="-122"/>
                <a:cs typeface="Calibri" pitchFamily="34" charset="-120"/>
              </a:rPr>
              <a:t>Weak</a:t>
            </a:r>
            <a:endParaRPr lang="en-US" sz="860" dirty="0"/>
          </a:p>
        </p:txBody>
      </p:sp>
      <p:sp>
        <p:nvSpPr>
          <p:cNvPr id="37" name="Shape 35"/>
          <p:cNvSpPr/>
          <p:nvPr/>
        </p:nvSpPr>
        <p:spPr>
          <a:xfrm>
            <a:off x="411480" y="3328416"/>
            <a:ext cx="3154680" cy="434340"/>
          </a:xfrm>
          <a:prstGeom prst="rect">
            <a:avLst/>
          </a:prstGeom>
          <a:solidFill>
            <a:srgbClr val="FFFFFF"/>
          </a:solidFill>
          <a:ln w="6350">
            <a:solidFill>
              <a:srgbClr val="D3DCE5"/>
            </a:solidFill>
            <a:prstDash val="solid"/>
          </a:ln>
        </p:spPr>
      </p:sp>
      <p:sp>
        <p:nvSpPr>
          <p:cNvPr id="38" name="Text 36"/>
          <p:cNvSpPr txBox="1"/>
          <p:nvPr/>
        </p:nvSpPr>
        <p:spPr>
          <a:xfrm>
            <a:off x="475488" y="3328416"/>
            <a:ext cx="302666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Interim target</a:t>
            </a:r>
            <a:endParaRPr lang="en-US" sz="860" dirty="0"/>
          </a:p>
        </p:txBody>
      </p:sp>
      <p:sp>
        <p:nvSpPr>
          <p:cNvPr id="39" name="Shape 37"/>
          <p:cNvSpPr/>
          <p:nvPr/>
        </p:nvSpPr>
        <p:spPr>
          <a:xfrm>
            <a:off x="3566160" y="3328416"/>
            <a:ext cx="4251960" cy="434340"/>
          </a:xfrm>
          <a:prstGeom prst="rect">
            <a:avLst/>
          </a:prstGeom>
          <a:solidFill>
            <a:srgbClr val="FFFFFF"/>
          </a:solidFill>
          <a:ln w="6350">
            <a:solidFill>
              <a:srgbClr val="D3DCE5"/>
            </a:solidFill>
            <a:prstDash val="solid"/>
          </a:ln>
        </p:spPr>
      </p:sp>
      <p:sp>
        <p:nvSpPr>
          <p:cNvPr id="40" name="Text 38"/>
          <p:cNvSpPr txBox="1"/>
          <p:nvPr/>
        </p:nvSpPr>
        <p:spPr>
          <a:xfrm>
            <a:off x="3630168" y="3328416"/>
            <a:ext cx="412394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About 48% lower power emissions intensity by 2027, rising to as much as 80% by 2030 if regional wind becomes available.</a:t>
            </a:r>
            <a:endParaRPr lang="en-US" sz="860" dirty="0"/>
          </a:p>
        </p:txBody>
      </p:sp>
      <p:sp>
        <p:nvSpPr>
          <p:cNvPr id="41" name="Shape 39"/>
          <p:cNvSpPr/>
          <p:nvPr/>
        </p:nvSpPr>
        <p:spPr>
          <a:xfrm>
            <a:off x="7818120" y="3328416"/>
            <a:ext cx="3968496" cy="434340"/>
          </a:xfrm>
          <a:prstGeom prst="rect">
            <a:avLst/>
          </a:prstGeom>
          <a:solidFill>
            <a:srgbClr val="FFFFFF"/>
          </a:solidFill>
          <a:ln w="6350">
            <a:solidFill>
              <a:srgbClr val="D3DCE5"/>
            </a:solidFill>
            <a:prstDash val="solid"/>
          </a:ln>
        </p:spPr>
      </p:sp>
      <p:sp>
        <p:nvSpPr>
          <p:cNvPr id="42" name="Text 40"/>
          <p:cNvSpPr txBox="1"/>
          <p:nvPr/>
        </p:nvSpPr>
        <p:spPr>
          <a:xfrm>
            <a:off x="7882128" y="3328416"/>
            <a:ext cx="3840480" cy="434340"/>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Credible and dated</a:t>
            </a:r>
            <a:endParaRPr lang="en-US" sz="860" dirty="0"/>
          </a:p>
        </p:txBody>
      </p:sp>
      <p:sp>
        <p:nvSpPr>
          <p:cNvPr id="43" name="Shape 41"/>
          <p:cNvSpPr/>
          <p:nvPr/>
        </p:nvSpPr>
        <p:spPr>
          <a:xfrm>
            <a:off x="411480" y="3762756"/>
            <a:ext cx="3154680" cy="434340"/>
          </a:xfrm>
          <a:prstGeom prst="rect">
            <a:avLst/>
          </a:prstGeom>
          <a:solidFill>
            <a:srgbClr val="F7F9FB"/>
          </a:solidFill>
          <a:ln w="6350">
            <a:solidFill>
              <a:srgbClr val="D3DCE5"/>
            </a:solidFill>
            <a:prstDash val="solid"/>
          </a:ln>
        </p:spPr>
      </p:sp>
      <p:sp>
        <p:nvSpPr>
          <p:cNvPr id="44" name="Text 42"/>
          <p:cNvSpPr txBox="1"/>
          <p:nvPr/>
        </p:nvSpPr>
        <p:spPr>
          <a:xfrm>
            <a:off x="475488" y="3762756"/>
            <a:ext cx="302666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SBTi validation</a:t>
            </a:r>
            <a:endParaRPr lang="en-US" sz="860" dirty="0"/>
          </a:p>
        </p:txBody>
      </p:sp>
      <p:sp>
        <p:nvSpPr>
          <p:cNvPr id="45" name="Shape 43"/>
          <p:cNvSpPr/>
          <p:nvPr/>
        </p:nvSpPr>
        <p:spPr>
          <a:xfrm>
            <a:off x="3566160" y="3762756"/>
            <a:ext cx="4251960" cy="434340"/>
          </a:xfrm>
          <a:prstGeom prst="rect">
            <a:avLst/>
          </a:prstGeom>
          <a:solidFill>
            <a:srgbClr val="F7F9FB"/>
          </a:solidFill>
          <a:ln w="6350">
            <a:solidFill>
              <a:srgbClr val="D3DCE5"/>
            </a:solidFill>
            <a:prstDash val="solid"/>
          </a:ln>
        </p:spPr>
      </p:sp>
      <p:sp>
        <p:nvSpPr>
          <p:cNvPr id="46" name="Text 44"/>
          <p:cNvSpPr txBox="1"/>
          <p:nvPr/>
        </p:nvSpPr>
        <p:spPr>
          <a:xfrm>
            <a:off x="3630168" y="3762756"/>
            <a:ext cx="412394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Not found.</a:t>
            </a:r>
            <a:endParaRPr lang="en-US" sz="860" dirty="0"/>
          </a:p>
        </p:txBody>
      </p:sp>
      <p:sp>
        <p:nvSpPr>
          <p:cNvPr id="47" name="Shape 45"/>
          <p:cNvSpPr/>
          <p:nvPr/>
        </p:nvSpPr>
        <p:spPr>
          <a:xfrm>
            <a:off x="7818120" y="3762756"/>
            <a:ext cx="3968496" cy="434340"/>
          </a:xfrm>
          <a:prstGeom prst="rect">
            <a:avLst/>
          </a:prstGeom>
          <a:solidFill>
            <a:srgbClr val="F7F9FB"/>
          </a:solidFill>
          <a:ln w="6350">
            <a:solidFill>
              <a:srgbClr val="D3DCE5"/>
            </a:solidFill>
            <a:prstDash val="solid"/>
          </a:ln>
        </p:spPr>
      </p:sp>
      <p:sp>
        <p:nvSpPr>
          <p:cNvPr id="48" name="Text 46"/>
          <p:cNvSpPr txBox="1"/>
          <p:nvPr/>
        </p:nvSpPr>
        <p:spPr>
          <a:xfrm>
            <a:off x="7882128" y="3762756"/>
            <a:ext cx="3840480" cy="434340"/>
          </a:xfrm>
          <a:prstGeom prst="rect">
            <a:avLst/>
          </a:prstGeom>
          <a:noFill/>
          <a:ln/>
        </p:spPr>
        <p:txBody>
          <a:bodyPr wrap="square" lIns="0" tIns="0" rIns="0" bIns="0" rtlCol="0" anchor="ctr"/>
          <a:lstStyle/>
          <a:p>
            <a:pPr algn="l" indent="0" marL="0">
              <a:buNone/>
            </a:pPr>
            <a:r>
              <a:rPr lang="en-US" sz="860" b="1" dirty="0">
                <a:solidFill>
                  <a:srgbClr val="C2610A"/>
                </a:solidFill>
                <a:latin typeface="Calibri" pitchFamily="34" charset="0"/>
                <a:ea typeface="Calibri" pitchFamily="34" charset="-122"/>
                <a:cs typeface="Calibri" pitchFamily="34" charset="-120"/>
              </a:rPr>
              <a:t>Gap</a:t>
            </a:r>
            <a:endParaRPr lang="en-US" sz="860" dirty="0"/>
          </a:p>
        </p:txBody>
      </p:sp>
      <p:sp>
        <p:nvSpPr>
          <p:cNvPr id="49" name="Shape 47"/>
          <p:cNvSpPr/>
          <p:nvPr/>
        </p:nvSpPr>
        <p:spPr>
          <a:xfrm>
            <a:off x="411480" y="4197096"/>
            <a:ext cx="3154680" cy="434340"/>
          </a:xfrm>
          <a:prstGeom prst="rect">
            <a:avLst/>
          </a:prstGeom>
          <a:solidFill>
            <a:srgbClr val="FFFFFF"/>
          </a:solidFill>
          <a:ln w="6350">
            <a:solidFill>
              <a:srgbClr val="D3DCE5"/>
            </a:solidFill>
            <a:prstDash val="solid"/>
          </a:ln>
        </p:spPr>
      </p:sp>
      <p:sp>
        <p:nvSpPr>
          <p:cNvPr id="50" name="Text 48"/>
          <p:cNvSpPr txBox="1"/>
          <p:nvPr/>
        </p:nvSpPr>
        <p:spPr>
          <a:xfrm>
            <a:off x="475488" y="4197096"/>
            <a:ext cx="302666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Product carbon footprint</a:t>
            </a:r>
            <a:endParaRPr lang="en-US" sz="860" dirty="0"/>
          </a:p>
        </p:txBody>
      </p:sp>
      <p:sp>
        <p:nvSpPr>
          <p:cNvPr id="51" name="Shape 49"/>
          <p:cNvSpPr/>
          <p:nvPr/>
        </p:nvSpPr>
        <p:spPr>
          <a:xfrm>
            <a:off x="3566160" y="4197096"/>
            <a:ext cx="4251960" cy="434340"/>
          </a:xfrm>
          <a:prstGeom prst="rect">
            <a:avLst/>
          </a:prstGeom>
          <a:solidFill>
            <a:srgbClr val="FFFFFF"/>
          </a:solidFill>
          <a:ln w="6350">
            <a:solidFill>
              <a:srgbClr val="D3DCE5"/>
            </a:solidFill>
            <a:prstDash val="solid"/>
          </a:ln>
        </p:spPr>
      </p:sp>
      <p:sp>
        <p:nvSpPr>
          <p:cNvPr id="52" name="Text 50"/>
          <p:cNvSpPr txBox="1"/>
          <p:nvPr/>
        </p:nvSpPr>
        <p:spPr>
          <a:xfrm>
            <a:off x="3630168" y="4197096"/>
            <a:ext cx="412394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No third-party verified lifecycle assessment found.</a:t>
            </a:r>
            <a:endParaRPr lang="en-US" sz="860" dirty="0"/>
          </a:p>
        </p:txBody>
      </p:sp>
      <p:sp>
        <p:nvSpPr>
          <p:cNvPr id="53" name="Shape 51"/>
          <p:cNvSpPr/>
          <p:nvPr/>
        </p:nvSpPr>
        <p:spPr>
          <a:xfrm>
            <a:off x="7818120" y="4197096"/>
            <a:ext cx="3968496" cy="434340"/>
          </a:xfrm>
          <a:prstGeom prst="rect">
            <a:avLst/>
          </a:prstGeom>
          <a:solidFill>
            <a:srgbClr val="FFFFFF"/>
          </a:solidFill>
          <a:ln w="6350">
            <a:solidFill>
              <a:srgbClr val="D3DCE5"/>
            </a:solidFill>
            <a:prstDash val="solid"/>
          </a:ln>
        </p:spPr>
      </p:sp>
      <p:sp>
        <p:nvSpPr>
          <p:cNvPr id="54" name="Text 52"/>
          <p:cNvSpPr txBox="1"/>
          <p:nvPr/>
        </p:nvSpPr>
        <p:spPr>
          <a:xfrm>
            <a:off x="7882128" y="4197096"/>
            <a:ext cx="3840480" cy="434340"/>
          </a:xfrm>
          <a:prstGeom prst="rect">
            <a:avLst/>
          </a:prstGeom>
          <a:noFill/>
          <a:ln/>
        </p:spPr>
        <p:txBody>
          <a:bodyPr wrap="square" lIns="0" tIns="0" rIns="0" bIns="0" rtlCol="0" anchor="ctr"/>
          <a:lstStyle/>
          <a:p>
            <a:pPr algn="l" indent="0" marL="0">
              <a:buNone/>
            </a:pPr>
            <a:r>
              <a:rPr lang="en-US" sz="860" b="1" dirty="0">
                <a:solidFill>
                  <a:srgbClr val="A3282C"/>
                </a:solidFill>
                <a:latin typeface="Calibri" pitchFamily="34" charset="0"/>
                <a:ea typeface="Calibri" pitchFamily="34" charset="-122"/>
                <a:cs typeface="Calibri" pitchFamily="34" charset="-120"/>
              </a:rPr>
              <a:t>Material gap</a:t>
            </a:r>
            <a:endParaRPr lang="en-US" sz="860" dirty="0"/>
          </a:p>
        </p:txBody>
      </p:sp>
      <p:sp>
        <p:nvSpPr>
          <p:cNvPr id="55" name="Shape 53"/>
          <p:cNvSpPr/>
          <p:nvPr/>
        </p:nvSpPr>
        <p:spPr>
          <a:xfrm>
            <a:off x="411480" y="4700016"/>
            <a:ext cx="5577840" cy="1316736"/>
          </a:xfrm>
          <a:prstGeom prst="rect">
            <a:avLst/>
          </a:prstGeom>
          <a:solidFill>
            <a:srgbClr val="D6EBE7"/>
          </a:solidFill>
          <a:ln w="9525">
            <a:solidFill>
              <a:srgbClr val="AFD3CC"/>
            </a:solidFill>
            <a:prstDash val="solid"/>
          </a:ln>
        </p:spPr>
      </p:sp>
      <p:sp>
        <p:nvSpPr>
          <p:cNvPr id="56" name="Text 54"/>
          <p:cNvSpPr txBox="1"/>
          <p:nvPr/>
        </p:nvSpPr>
        <p:spPr>
          <a:xfrm>
            <a:off x="576072" y="4828032"/>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Why we are still positive</a:t>
            </a:r>
            <a:endParaRPr lang="en-US" sz="1150" dirty="0"/>
          </a:p>
        </p:txBody>
      </p:sp>
      <p:sp>
        <p:nvSpPr>
          <p:cNvPr id="57" name="Text 55"/>
          <p:cNvSpPr txBox="1"/>
          <p:nvPr/>
        </p:nvSpPr>
        <p:spPr>
          <a:xfrm>
            <a:off x="576072" y="5157216"/>
            <a:ext cx="5248656" cy="768096"/>
          </a:xfrm>
          <a:prstGeom prst="rect">
            <a:avLst/>
          </a:prstGeom>
          <a:noFill/>
          <a:ln/>
        </p:spPr>
        <p:txBody>
          <a:bodyPr wrap="square" lIns="0" tIns="0" rIns="0" bIns="0" rtlCol="0" anchor="t"/>
          <a:lstStyle/>
          <a:p>
            <a:pPr indent="0" marL="0">
              <a:lnSpc>
                <a:spcPct val="105000"/>
              </a:lnSpc>
              <a:buNone/>
            </a:pPr>
            <a:r>
              <a:rPr lang="en-US" sz="890" dirty="0">
                <a:solidFill>
                  <a:srgbClr val="1B2733"/>
                </a:solidFill>
                <a:latin typeface="Calibri" pitchFamily="34" charset="0"/>
                <a:ea typeface="Calibri" pitchFamily="34" charset="-122"/>
                <a:cs typeface="Calibri" pitchFamily="34" charset="-120"/>
              </a:rPr>
              <a:t>The interim power target is the one that is both dated and quantified, and it is the one that flows to the cost line. A 48% reduction in power emissions intensity by 2027 is achievable through the gas conversion already installed plus the planned solar and storage. That is a plan with equipment attached, which is more than most net-zero commitments in this sector have.</a:t>
            </a:r>
            <a:endParaRPr lang="en-US" sz="890" dirty="0"/>
          </a:p>
        </p:txBody>
      </p:sp>
      <p:sp>
        <p:nvSpPr>
          <p:cNvPr id="58" name="Shape 56"/>
          <p:cNvSpPr/>
          <p:nvPr/>
        </p:nvSpPr>
        <p:spPr>
          <a:xfrm>
            <a:off x="6208776" y="4700016"/>
            <a:ext cx="5577840" cy="1316736"/>
          </a:xfrm>
          <a:prstGeom prst="rect">
            <a:avLst/>
          </a:prstGeom>
          <a:solidFill>
            <a:srgbClr val="F7E2E2"/>
          </a:solidFill>
          <a:ln w="9525">
            <a:solidFill>
              <a:srgbClr val="E5C3C3"/>
            </a:solidFill>
            <a:prstDash val="solid"/>
          </a:ln>
        </p:spPr>
      </p:sp>
      <p:sp>
        <p:nvSpPr>
          <p:cNvPr id="59" name="Text 57"/>
          <p:cNvSpPr txBox="1"/>
          <p:nvPr/>
        </p:nvSpPr>
        <p:spPr>
          <a:xfrm>
            <a:off x="6373368" y="4828032"/>
            <a:ext cx="5248656" cy="292608"/>
          </a:xfrm>
          <a:prstGeom prst="rect">
            <a:avLst/>
          </a:prstGeom>
          <a:noFill/>
          <a:ln/>
        </p:spPr>
        <p:txBody>
          <a:bodyPr wrap="square" lIns="0" tIns="0" rIns="0" bIns="0" rtlCol="0" anchor="ctr"/>
          <a:lstStyle/>
          <a:p>
            <a:pPr indent="0" marL="0">
              <a:buNone/>
            </a:pPr>
            <a:r>
              <a:rPr lang="en-US" sz="1150" b="1" dirty="0">
                <a:solidFill>
                  <a:srgbClr val="A3282C"/>
                </a:solidFill>
                <a:latin typeface="Calibri" pitchFamily="34" charset="0"/>
                <a:ea typeface="Calibri" pitchFamily="34" charset="-122"/>
                <a:cs typeface="Calibri" pitchFamily="34" charset="-120"/>
              </a:rPr>
              <a:t>And why the gaps matter here</a:t>
            </a:r>
            <a:endParaRPr lang="en-US" sz="1150" dirty="0"/>
          </a:p>
        </p:txBody>
      </p:sp>
      <p:sp>
        <p:nvSpPr>
          <p:cNvPr id="60" name="Text 58"/>
          <p:cNvSpPr txBox="1"/>
          <p:nvPr/>
        </p:nvSpPr>
        <p:spPr>
          <a:xfrm>
            <a:off x="6373368" y="5157216"/>
            <a:ext cx="5248656" cy="768096"/>
          </a:xfrm>
          <a:prstGeom prst="rect">
            <a:avLst/>
          </a:prstGeom>
          <a:noFill/>
          <a:ln/>
        </p:spPr>
        <p:txBody>
          <a:bodyPr wrap="square" lIns="0" tIns="0" rIns="0" bIns="0" rtlCol="0" anchor="t"/>
          <a:lstStyle/>
          <a:p>
            <a:pPr indent="0" marL="0">
              <a:lnSpc>
                <a:spcPct val="105000"/>
              </a:lnSpc>
              <a:buNone/>
            </a:pPr>
            <a:r>
              <a:rPr lang="en-US" sz="890" dirty="0">
                <a:solidFill>
                  <a:srgbClr val="1B2733"/>
                </a:solidFill>
                <a:latin typeface="Calibri" pitchFamily="34" charset="0"/>
                <a:ea typeface="Calibri" pitchFamily="34" charset="-122"/>
                <a:cs typeface="Calibri" pitchFamily="34" charset="-120"/>
              </a:rPr>
              <a:t>Our level-one thesis is that PLS can sell a declarable low-carbon tonne. A company that does not publish emissions intensity per tonne of concentrate, has no verified product carbon footprint and discloses no Scope 3 cannot presently make that declaration. The gap is not cosmetic - it is the difference between the thesis being true and being aspirational, which is precisely why we price the downstream option at zero inside the target.</a:t>
            </a:r>
            <a:endParaRPr lang="en-US" sz="890" dirty="0"/>
          </a:p>
        </p:txBody>
      </p:sp>
      <p:sp>
        <p:nvSpPr>
          <p:cNvPr id="61" name="Text 59"/>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FY25 full-year results commentary; PLS climate disclosures; third-party ESG aggregators (treated as unreliable and not relied upon). Items marked not found were searched for and could not be verified from our environment.</a:t>
            </a:r>
            <a:endParaRPr lang="en-US" sz="720" dirty="0"/>
          </a:p>
        </p:txBody>
      </p:sp>
      <p:sp>
        <p:nvSpPr>
          <p:cNvPr id="62" name="Text 60"/>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D2</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Diesel to gas is done. Solar and storage are planned. Wind is aspirational. We have valued the first, part-valued the second and ignored the third.</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D3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606040" cy="292608"/>
          </a:xfrm>
          <a:prstGeom prst="rect">
            <a:avLst/>
          </a:prstGeom>
          <a:solidFill>
            <a:srgbClr val="10233A"/>
          </a:solidFill>
          <a:ln/>
        </p:spPr>
      </p:sp>
      <p:sp>
        <p:nvSpPr>
          <p:cNvPr id="8" name="Text 6"/>
          <p:cNvSpPr txBox="1"/>
          <p:nvPr/>
        </p:nvSpPr>
        <p:spPr>
          <a:xfrm>
            <a:off x="475488" y="1298448"/>
            <a:ext cx="24780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Element</a:t>
            </a:r>
            <a:endParaRPr lang="en-US" sz="900" dirty="0"/>
          </a:p>
        </p:txBody>
      </p:sp>
      <p:sp>
        <p:nvSpPr>
          <p:cNvPr id="9" name="Shape 7"/>
          <p:cNvSpPr/>
          <p:nvPr/>
        </p:nvSpPr>
        <p:spPr>
          <a:xfrm>
            <a:off x="3017520" y="1298448"/>
            <a:ext cx="1874520" cy="292608"/>
          </a:xfrm>
          <a:prstGeom prst="rect">
            <a:avLst/>
          </a:prstGeom>
          <a:solidFill>
            <a:srgbClr val="10233A"/>
          </a:solidFill>
          <a:ln/>
        </p:spPr>
      </p:sp>
      <p:sp>
        <p:nvSpPr>
          <p:cNvPr id="10" name="Text 8"/>
          <p:cNvSpPr txBox="1"/>
          <p:nvPr/>
        </p:nvSpPr>
        <p:spPr>
          <a:xfrm>
            <a:off x="3081528" y="1298448"/>
            <a:ext cx="174650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p>
        </p:txBody>
      </p:sp>
      <p:sp>
        <p:nvSpPr>
          <p:cNvPr id="11" name="Shape 9"/>
          <p:cNvSpPr/>
          <p:nvPr/>
        </p:nvSpPr>
        <p:spPr>
          <a:xfrm>
            <a:off x="4892040" y="1298448"/>
            <a:ext cx="3794760" cy="292608"/>
          </a:xfrm>
          <a:prstGeom prst="rect">
            <a:avLst/>
          </a:prstGeom>
          <a:solidFill>
            <a:srgbClr val="10233A"/>
          </a:solidFill>
          <a:ln/>
        </p:spPr>
      </p:sp>
      <p:sp>
        <p:nvSpPr>
          <p:cNvPr id="12" name="Text 10"/>
          <p:cNvSpPr txBox="1"/>
          <p:nvPr/>
        </p:nvSpPr>
        <p:spPr>
          <a:xfrm>
            <a:off x="4956048" y="1298448"/>
            <a:ext cx="366674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Detail</a:t>
            </a:r>
            <a:endParaRPr lang="en-US" sz="900" dirty="0"/>
          </a:p>
        </p:txBody>
      </p:sp>
      <p:sp>
        <p:nvSpPr>
          <p:cNvPr id="13" name="Shape 11"/>
          <p:cNvSpPr/>
          <p:nvPr/>
        </p:nvSpPr>
        <p:spPr>
          <a:xfrm>
            <a:off x="8686800" y="1298448"/>
            <a:ext cx="3099816" cy="292608"/>
          </a:xfrm>
          <a:prstGeom prst="rect">
            <a:avLst/>
          </a:prstGeom>
          <a:solidFill>
            <a:srgbClr val="10233A"/>
          </a:solidFill>
          <a:ln/>
        </p:spPr>
      </p:sp>
      <p:sp>
        <p:nvSpPr>
          <p:cNvPr id="14" name="Text 12"/>
          <p:cNvSpPr txBox="1"/>
          <p:nvPr/>
        </p:nvSpPr>
        <p:spPr>
          <a:xfrm>
            <a:off x="8750808" y="1298448"/>
            <a:ext cx="297180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How we treat it</a:t>
            </a:r>
            <a:endParaRPr lang="en-US" sz="900" dirty="0"/>
          </a:p>
        </p:txBody>
      </p:sp>
      <p:sp>
        <p:nvSpPr>
          <p:cNvPr id="15" name="Shape 13"/>
          <p:cNvSpPr/>
          <p:nvPr/>
        </p:nvSpPr>
        <p:spPr>
          <a:xfrm>
            <a:off x="411480" y="1591056"/>
            <a:ext cx="2606040" cy="521208"/>
          </a:xfrm>
          <a:prstGeom prst="rect">
            <a:avLst/>
          </a:prstGeom>
          <a:solidFill>
            <a:srgbClr val="FFFFFF"/>
          </a:solidFill>
          <a:ln w="6350">
            <a:solidFill>
              <a:srgbClr val="D3DCE5"/>
            </a:solidFill>
            <a:prstDash val="solid"/>
          </a:ln>
        </p:spPr>
      </p:sp>
      <p:sp>
        <p:nvSpPr>
          <p:cNvPr id="16" name="Text 14"/>
          <p:cNvSpPr txBox="1"/>
          <p:nvPr/>
        </p:nvSpPr>
        <p:spPr>
          <a:xfrm>
            <a:off x="475488" y="1591056"/>
            <a:ext cx="2478024" cy="52120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Gas gensets and LNG storage</a:t>
            </a:r>
            <a:endParaRPr lang="en-US" sz="840" dirty="0"/>
          </a:p>
        </p:txBody>
      </p:sp>
      <p:sp>
        <p:nvSpPr>
          <p:cNvPr id="17" name="Shape 15"/>
          <p:cNvSpPr/>
          <p:nvPr/>
        </p:nvSpPr>
        <p:spPr>
          <a:xfrm>
            <a:off x="3017520" y="1591056"/>
            <a:ext cx="1874520" cy="521208"/>
          </a:xfrm>
          <a:prstGeom prst="rect">
            <a:avLst/>
          </a:prstGeom>
          <a:solidFill>
            <a:srgbClr val="FFFFFF"/>
          </a:solidFill>
          <a:ln w="6350">
            <a:solidFill>
              <a:srgbClr val="D3DCE5"/>
            </a:solidFill>
            <a:prstDash val="solid"/>
          </a:ln>
        </p:spPr>
      </p:sp>
      <p:sp>
        <p:nvSpPr>
          <p:cNvPr id="18" name="Text 16"/>
          <p:cNvSpPr txBox="1"/>
          <p:nvPr/>
        </p:nvSpPr>
        <p:spPr>
          <a:xfrm>
            <a:off x="3081528" y="1591056"/>
            <a:ext cx="1746504" cy="52120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Installed</a:t>
            </a:r>
            <a:endParaRPr lang="en-US" sz="840" dirty="0"/>
          </a:p>
        </p:txBody>
      </p:sp>
      <p:sp>
        <p:nvSpPr>
          <p:cNvPr id="19" name="Shape 17"/>
          <p:cNvSpPr/>
          <p:nvPr/>
        </p:nvSpPr>
        <p:spPr>
          <a:xfrm>
            <a:off x="4892040" y="1591056"/>
            <a:ext cx="3794760" cy="521208"/>
          </a:xfrm>
          <a:prstGeom prst="rect">
            <a:avLst/>
          </a:prstGeom>
          <a:solidFill>
            <a:srgbClr val="FFFFFF"/>
          </a:solidFill>
          <a:ln w="6350">
            <a:solidFill>
              <a:srgbClr val="D3DCE5"/>
            </a:solidFill>
            <a:prstDash val="solid"/>
          </a:ln>
        </p:spPr>
      </p:sp>
      <p:sp>
        <p:nvSpPr>
          <p:cNvPr id="20" name="Text 18"/>
          <p:cNvSpPr txBox="1"/>
          <p:nvPr/>
        </p:nvSpPr>
        <p:spPr>
          <a:xfrm>
            <a:off x="4956048" y="1591056"/>
            <a:ext cx="3666744"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Eight new gas gensets plus LNG storage, displacing diesel generation at Pilgangoora.</a:t>
            </a:r>
            <a:endParaRPr lang="en-US" sz="840" dirty="0"/>
          </a:p>
        </p:txBody>
      </p:sp>
      <p:sp>
        <p:nvSpPr>
          <p:cNvPr id="21" name="Shape 19"/>
          <p:cNvSpPr/>
          <p:nvPr/>
        </p:nvSpPr>
        <p:spPr>
          <a:xfrm>
            <a:off x="8686800" y="1591056"/>
            <a:ext cx="3099816" cy="521208"/>
          </a:xfrm>
          <a:prstGeom prst="rect">
            <a:avLst/>
          </a:prstGeom>
          <a:solidFill>
            <a:srgbClr val="FFFFFF"/>
          </a:solidFill>
          <a:ln w="6350">
            <a:solidFill>
              <a:srgbClr val="D3DCE5"/>
            </a:solidFill>
            <a:prstDash val="solid"/>
          </a:ln>
        </p:spPr>
      </p:sp>
      <p:sp>
        <p:nvSpPr>
          <p:cNvPr id="22" name="Text 20"/>
          <p:cNvSpPr txBox="1"/>
          <p:nvPr/>
        </p:nvSpPr>
        <p:spPr>
          <a:xfrm>
            <a:off x="8750808" y="1591056"/>
            <a:ext cx="2971800"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Inside the A$569/t FY26 cost base. Attributed within our A$18/t estimate.</a:t>
            </a:r>
            <a:endParaRPr lang="en-US" sz="840" dirty="0"/>
          </a:p>
        </p:txBody>
      </p:sp>
      <p:sp>
        <p:nvSpPr>
          <p:cNvPr id="23" name="Shape 21"/>
          <p:cNvSpPr/>
          <p:nvPr/>
        </p:nvSpPr>
        <p:spPr>
          <a:xfrm>
            <a:off x="411480" y="2112264"/>
            <a:ext cx="2606040" cy="521208"/>
          </a:xfrm>
          <a:prstGeom prst="rect">
            <a:avLst/>
          </a:prstGeom>
          <a:solidFill>
            <a:srgbClr val="F7F9FB"/>
          </a:solidFill>
          <a:ln w="6350">
            <a:solidFill>
              <a:srgbClr val="D3DCE5"/>
            </a:solidFill>
            <a:prstDash val="solid"/>
          </a:ln>
        </p:spPr>
      </p:sp>
      <p:sp>
        <p:nvSpPr>
          <p:cNvPr id="24" name="Text 22"/>
          <p:cNvSpPr txBox="1"/>
          <p:nvPr/>
        </p:nvSpPr>
        <p:spPr>
          <a:xfrm>
            <a:off x="475488" y="2112264"/>
            <a:ext cx="2478024" cy="52120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Battery energy storage</a:t>
            </a:r>
            <a:endParaRPr lang="en-US" sz="840" dirty="0"/>
          </a:p>
        </p:txBody>
      </p:sp>
      <p:sp>
        <p:nvSpPr>
          <p:cNvPr id="25" name="Shape 23"/>
          <p:cNvSpPr/>
          <p:nvPr/>
        </p:nvSpPr>
        <p:spPr>
          <a:xfrm>
            <a:off x="3017520" y="2112264"/>
            <a:ext cx="1874520" cy="521208"/>
          </a:xfrm>
          <a:prstGeom prst="rect">
            <a:avLst/>
          </a:prstGeom>
          <a:solidFill>
            <a:srgbClr val="F7F9FB"/>
          </a:solidFill>
          <a:ln w="6350">
            <a:solidFill>
              <a:srgbClr val="D3DCE5"/>
            </a:solidFill>
            <a:prstDash val="solid"/>
          </a:ln>
        </p:spPr>
      </p:sp>
      <p:sp>
        <p:nvSpPr>
          <p:cNvPr id="26" name="Text 24"/>
          <p:cNvSpPr txBox="1"/>
          <p:nvPr/>
        </p:nvSpPr>
        <p:spPr>
          <a:xfrm>
            <a:off x="3081528" y="2112264"/>
            <a:ext cx="1746504" cy="521208"/>
          </a:xfrm>
          <a:prstGeom prst="rect">
            <a:avLst/>
          </a:prstGeom>
          <a:noFill/>
          <a:ln/>
        </p:spPr>
        <p:txBody>
          <a:bodyPr wrap="square" lIns="0" tIns="0" rIns="0" bIns="0" rtlCol="0" anchor="ctr"/>
          <a:lstStyle/>
          <a:p>
            <a:pPr algn="ctr" indent="0" marL="0">
              <a:buNone/>
            </a:pPr>
            <a:r>
              <a:rPr lang="en-US" sz="840" b="1" dirty="0">
                <a:solidFill>
                  <a:srgbClr val="C2610A"/>
                </a:solidFill>
                <a:latin typeface="Calibri" pitchFamily="34" charset="0"/>
                <a:ea typeface="Calibri" pitchFamily="34" charset="-122"/>
                <a:cs typeface="Calibri" pitchFamily="34" charset="-120"/>
              </a:rPr>
              <a:t>Planned</a:t>
            </a:r>
            <a:endParaRPr lang="en-US" sz="840" dirty="0"/>
          </a:p>
        </p:txBody>
      </p:sp>
      <p:sp>
        <p:nvSpPr>
          <p:cNvPr id="27" name="Shape 25"/>
          <p:cNvSpPr/>
          <p:nvPr/>
        </p:nvSpPr>
        <p:spPr>
          <a:xfrm>
            <a:off x="4892040" y="2112264"/>
            <a:ext cx="3794760" cy="521208"/>
          </a:xfrm>
          <a:prstGeom prst="rect">
            <a:avLst/>
          </a:prstGeom>
          <a:solidFill>
            <a:srgbClr val="F7F9FB"/>
          </a:solidFill>
          <a:ln w="6350">
            <a:solidFill>
              <a:srgbClr val="D3DCE5"/>
            </a:solidFill>
            <a:prstDash val="solid"/>
          </a:ln>
        </p:spPr>
      </p:sp>
      <p:sp>
        <p:nvSpPr>
          <p:cNvPr id="28" name="Text 26"/>
          <p:cNvSpPr txBox="1"/>
          <p:nvPr/>
        </p:nvSpPr>
        <p:spPr>
          <a:xfrm>
            <a:off x="4956048" y="2112264"/>
            <a:ext cx="3666744"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 lithium-ion system to support future solar generation - PLS storing its own product on its own site.</a:t>
            </a:r>
            <a:endParaRPr lang="en-US" sz="840" dirty="0"/>
          </a:p>
        </p:txBody>
      </p:sp>
      <p:sp>
        <p:nvSpPr>
          <p:cNvPr id="29" name="Shape 27"/>
          <p:cNvSpPr/>
          <p:nvPr/>
        </p:nvSpPr>
        <p:spPr>
          <a:xfrm>
            <a:off x="8686800" y="2112264"/>
            <a:ext cx="3099816" cy="521208"/>
          </a:xfrm>
          <a:prstGeom prst="rect">
            <a:avLst/>
          </a:prstGeom>
          <a:solidFill>
            <a:srgbClr val="F7F9FB"/>
          </a:solidFill>
          <a:ln w="6350">
            <a:solidFill>
              <a:srgbClr val="D3DCE5"/>
            </a:solidFill>
            <a:prstDash val="solid"/>
          </a:ln>
        </p:spPr>
      </p:sp>
      <p:sp>
        <p:nvSpPr>
          <p:cNvPr id="30" name="Text 28"/>
          <p:cNvSpPr txBox="1"/>
          <p:nvPr/>
        </p:nvSpPr>
        <p:spPr>
          <a:xfrm>
            <a:off x="8750808" y="2112264"/>
            <a:ext cx="2971800"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Partly reflected in the FY27-onward cost path. Not separately valued.</a:t>
            </a:r>
            <a:endParaRPr lang="en-US" sz="840" dirty="0"/>
          </a:p>
        </p:txBody>
      </p:sp>
      <p:sp>
        <p:nvSpPr>
          <p:cNvPr id="31" name="Shape 29"/>
          <p:cNvSpPr/>
          <p:nvPr/>
        </p:nvSpPr>
        <p:spPr>
          <a:xfrm>
            <a:off x="411480" y="2633472"/>
            <a:ext cx="2606040" cy="521208"/>
          </a:xfrm>
          <a:prstGeom prst="rect">
            <a:avLst/>
          </a:prstGeom>
          <a:solidFill>
            <a:srgbClr val="FFFFFF"/>
          </a:solidFill>
          <a:ln w="6350">
            <a:solidFill>
              <a:srgbClr val="D3DCE5"/>
            </a:solidFill>
            <a:prstDash val="solid"/>
          </a:ln>
        </p:spPr>
      </p:sp>
      <p:sp>
        <p:nvSpPr>
          <p:cNvPr id="32" name="Text 30"/>
          <p:cNvSpPr txBox="1"/>
          <p:nvPr/>
        </p:nvSpPr>
        <p:spPr>
          <a:xfrm>
            <a:off x="475488" y="2633472"/>
            <a:ext cx="2478024" cy="52120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Solar generation</a:t>
            </a:r>
            <a:endParaRPr lang="en-US" sz="840" dirty="0"/>
          </a:p>
        </p:txBody>
      </p:sp>
      <p:sp>
        <p:nvSpPr>
          <p:cNvPr id="33" name="Shape 31"/>
          <p:cNvSpPr/>
          <p:nvPr/>
        </p:nvSpPr>
        <p:spPr>
          <a:xfrm>
            <a:off x="3017520" y="2633472"/>
            <a:ext cx="1874520" cy="521208"/>
          </a:xfrm>
          <a:prstGeom prst="rect">
            <a:avLst/>
          </a:prstGeom>
          <a:solidFill>
            <a:srgbClr val="FFFFFF"/>
          </a:solidFill>
          <a:ln w="6350">
            <a:solidFill>
              <a:srgbClr val="D3DCE5"/>
            </a:solidFill>
            <a:prstDash val="solid"/>
          </a:ln>
        </p:spPr>
      </p:sp>
      <p:sp>
        <p:nvSpPr>
          <p:cNvPr id="34" name="Text 32"/>
          <p:cNvSpPr txBox="1"/>
          <p:nvPr/>
        </p:nvSpPr>
        <p:spPr>
          <a:xfrm>
            <a:off x="3081528" y="2633472"/>
            <a:ext cx="1746504" cy="521208"/>
          </a:xfrm>
          <a:prstGeom prst="rect">
            <a:avLst/>
          </a:prstGeom>
          <a:noFill/>
          <a:ln/>
        </p:spPr>
        <p:txBody>
          <a:bodyPr wrap="square" lIns="0" tIns="0" rIns="0" bIns="0" rtlCol="0" anchor="ctr"/>
          <a:lstStyle/>
          <a:p>
            <a:pPr algn="ctr" indent="0" marL="0">
              <a:buNone/>
            </a:pPr>
            <a:r>
              <a:rPr lang="en-US" sz="840" b="1" dirty="0">
                <a:solidFill>
                  <a:srgbClr val="C2610A"/>
                </a:solidFill>
                <a:latin typeface="Calibri" pitchFamily="34" charset="0"/>
                <a:ea typeface="Calibri" pitchFamily="34" charset="-122"/>
                <a:cs typeface="Calibri" pitchFamily="34" charset="-120"/>
              </a:rPr>
              <a:t>Planned</a:t>
            </a:r>
            <a:endParaRPr lang="en-US" sz="840" dirty="0"/>
          </a:p>
        </p:txBody>
      </p:sp>
      <p:sp>
        <p:nvSpPr>
          <p:cNvPr id="35" name="Shape 33"/>
          <p:cNvSpPr/>
          <p:nvPr/>
        </p:nvSpPr>
        <p:spPr>
          <a:xfrm>
            <a:off x="4892040" y="2633472"/>
            <a:ext cx="3794760" cy="521208"/>
          </a:xfrm>
          <a:prstGeom prst="rect">
            <a:avLst/>
          </a:prstGeom>
          <a:solidFill>
            <a:srgbClr val="FFFFFF"/>
          </a:solidFill>
          <a:ln w="6350">
            <a:solidFill>
              <a:srgbClr val="D3DCE5"/>
            </a:solidFill>
            <a:prstDash val="solid"/>
          </a:ln>
        </p:spPr>
      </p:sp>
      <p:sp>
        <p:nvSpPr>
          <p:cNvPr id="36" name="Text 34"/>
          <p:cNvSpPr txBox="1"/>
          <p:nvPr/>
        </p:nvSpPr>
        <p:spPr>
          <a:xfrm>
            <a:off x="4956048" y="2633472"/>
            <a:ext cx="3666744"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Named in the power strategy as the route to the 2027 intensity target.</a:t>
            </a:r>
            <a:endParaRPr lang="en-US" sz="840" dirty="0"/>
          </a:p>
        </p:txBody>
      </p:sp>
      <p:sp>
        <p:nvSpPr>
          <p:cNvPr id="37" name="Shape 35"/>
          <p:cNvSpPr/>
          <p:nvPr/>
        </p:nvSpPr>
        <p:spPr>
          <a:xfrm>
            <a:off x="8686800" y="2633472"/>
            <a:ext cx="3099816" cy="521208"/>
          </a:xfrm>
          <a:prstGeom prst="rect">
            <a:avLst/>
          </a:prstGeom>
          <a:solidFill>
            <a:srgbClr val="FFFFFF"/>
          </a:solidFill>
          <a:ln w="6350">
            <a:solidFill>
              <a:srgbClr val="D3DCE5"/>
            </a:solidFill>
            <a:prstDash val="solid"/>
          </a:ln>
        </p:spPr>
      </p:sp>
      <p:sp>
        <p:nvSpPr>
          <p:cNvPr id="38" name="Text 36"/>
          <p:cNvSpPr txBox="1"/>
          <p:nvPr/>
        </p:nvSpPr>
        <p:spPr>
          <a:xfrm>
            <a:off x="8750808" y="2633472"/>
            <a:ext cx="2971800"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Same.</a:t>
            </a:r>
            <a:endParaRPr lang="en-US" sz="840" dirty="0"/>
          </a:p>
        </p:txBody>
      </p:sp>
      <p:sp>
        <p:nvSpPr>
          <p:cNvPr id="39" name="Shape 37"/>
          <p:cNvSpPr/>
          <p:nvPr/>
        </p:nvSpPr>
        <p:spPr>
          <a:xfrm>
            <a:off x="411480" y="3154680"/>
            <a:ext cx="2606040" cy="521208"/>
          </a:xfrm>
          <a:prstGeom prst="rect">
            <a:avLst/>
          </a:prstGeom>
          <a:solidFill>
            <a:srgbClr val="F7F9FB"/>
          </a:solidFill>
          <a:ln w="6350">
            <a:solidFill>
              <a:srgbClr val="D3DCE5"/>
            </a:solidFill>
            <a:prstDash val="solid"/>
          </a:ln>
        </p:spPr>
      </p:sp>
      <p:sp>
        <p:nvSpPr>
          <p:cNvPr id="40" name="Text 38"/>
          <p:cNvSpPr txBox="1"/>
          <p:nvPr/>
        </p:nvSpPr>
        <p:spPr>
          <a:xfrm>
            <a:off x="475488" y="3154680"/>
            <a:ext cx="2478024" cy="52120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Wind</a:t>
            </a:r>
            <a:endParaRPr lang="en-US" sz="840" dirty="0"/>
          </a:p>
        </p:txBody>
      </p:sp>
      <p:sp>
        <p:nvSpPr>
          <p:cNvPr id="41" name="Shape 39"/>
          <p:cNvSpPr/>
          <p:nvPr/>
        </p:nvSpPr>
        <p:spPr>
          <a:xfrm>
            <a:off x="3017520" y="3154680"/>
            <a:ext cx="1874520" cy="521208"/>
          </a:xfrm>
          <a:prstGeom prst="rect">
            <a:avLst/>
          </a:prstGeom>
          <a:solidFill>
            <a:srgbClr val="F7F9FB"/>
          </a:solidFill>
          <a:ln w="6350">
            <a:solidFill>
              <a:srgbClr val="D3DCE5"/>
            </a:solidFill>
            <a:prstDash val="solid"/>
          </a:ln>
        </p:spPr>
      </p:sp>
      <p:sp>
        <p:nvSpPr>
          <p:cNvPr id="42" name="Text 40"/>
          <p:cNvSpPr txBox="1"/>
          <p:nvPr/>
        </p:nvSpPr>
        <p:spPr>
          <a:xfrm>
            <a:off x="3081528" y="3154680"/>
            <a:ext cx="1746504" cy="521208"/>
          </a:xfrm>
          <a:prstGeom prst="rect">
            <a:avLst/>
          </a:prstGeom>
          <a:noFill/>
          <a:ln/>
        </p:spPr>
        <p:txBody>
          <a:bodyPr wrap="square" lIns="0" tIns="0" rIns="0" bIns="0" rtlCol="0" anchor="ctr"/>
          <a:lstStyle/>
          <a:p>
            <a:pPr algn="ctr" indent="0" marL="0">
              <a:buNone/>
            </a:pPr>
            <a:r>
              <a:rPr lang="en-US" sz="840" b="1" dirty="0">
                <a:solidFill>
                  <a:srgbClr val="A3282C"/>
                </a:solidFill>
                <a:latin typeface="Calibri" pitchFamily="34" charset="0"/>
                <a:ea typeface="Calibri" pitchFamily="34" charset="-122"/>
                <a:cs typeface="Calibri" pitchFamily="34" charset="-120"/>
              </a:rPr>
              <a:t>Conditional</a:t>
            </a:r>
            <a:endParaRPr lang="en-US" sz="840" dirty="0"/>
          </a:p>
        </p:txBody>
      </p:sp>
      <p:sp>
        <p:nvSpPr>
          <p:cNvPr id="43" name="Shape 41"/>
          <p:cNvSpPr/>
          <p:nvPr/>
        </p:nvSpPr>
        <p:spPr>
          <a:xfrm>
            <a:off x="4892040" y="3154680"/>
            <a:ext cx="3794760" cy="521208"/>
          </a:xfrm>
          <a:prstGeom prst="rect">
            <a:avLst/>
          </a:prstGeom>
          <a:solidFill>
            <a:srgbClr val="F7F9FB"/>
          </a:solidFill>
          <a:ln w="6350">
            <a:solidFill>
              <a:srgbClr val="D3DCE5"/>
            </a:solidFill>
            <a:prstDash val="solid"/>
          </a:ln>
        </p:spPr>
      </p:sp>
      <p:sp>
        <p:nvSpPr>
          <p:cNvPr id="44" name="Text 42"/>
          <p:cNvSpPr txBox="1"/>
          <p:nvPr/>
        </p:nvSpPr>
        <p:spPr>
          <a:xfrm>
            <a:off x="4956048" y="3154680"/>
            <a:ext cx="3666744"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PLS says up to 80% intensity reduction by 2030 IS POSSIBLE if regional wind becomes available. It is not a committed project.</a:t>
            </a:r>
            <a:endParaRPr lang="en-US" sz="840" dirty="0"/>
          </a:p>
        </p:txBody>
      </p:sp>
      <p:sp>
        <p:nvSpPr>
          <p:cNvPr id="45" name="Shape 43"/>
          <p:cNvSpPr/>
          <p:nvPr/>
        </p:nvSpPr>
        <p:spPr>
          <a:xfrm>
            <a:off x="8686800" y="3154680"/>
            <a:ext cx="3099816" cy="521208"/>
          </a:xfrm>
          <a:prstGeom prst="rect">
            <a:avLst/>
          </a:prstGeom>
          <a:solidFill>
            <a:srgbClr val="F7F9FB"/>
          </a:solidFill>
          <a:ln w="6350">
            <a:solidFill>
              <a:srgbClr val="D3DCE5"/>
            </a:solidFill>
            <a:prstDash val="solid"/>
          </a:ln>
        </p:spPr>
      </p:sp>
      <p:sp>
        <p:nvSpPr>
          <p:cNvPr id="46" name="Text 44"/>
          <p:cNvSpPr txBox="1"/>
          <p:nvPr/>
        </p:nvSpPr>
        <p:spPr>
          <a:xfrm>
            <a:off x="8750808" y="3154680"/>
            <a:ext cx="2971800"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Excluded entirely. We do not model conditional infrastructure.</a:t>
            </a:r>
            <a:endParaRPr lang="en-US" sz="840" dirty="0"/>
          </a:p>
        </p:txBody>
      </p:sp>
      <p:sp>
        <p:nvSpPr>
          <p:cNvPr id="47" name="Shape 45"/>
          <p:cNvSpPr/>
          <p:nvPr/>
        </p:nvSpPr>
        <p:spPr>
          <a:xfrm>
            <a:off x="411480" y="3675888"/>
            <a:ext cx="2606040" cy="521208"/>
          </a:xfrm>
          <a:prstGeom prst="rect">
            <a:avLst/>
          </a:prstGeom>
          <a:solidFill>
            <a:srgbClr val="FFFFFF"/>
          </a:solidFill>
          <a:ln w="6350">
            <a:solidFill>
              <a:srgbClr val="D3DCE5"/>
            </a:solidFill>
            <a:prstDash val="solid"/>
          </a:ln>
        </p:spPr>
      </p:sp>
      <p:sp>
        <p:nvSpPr>
          <p:cNvPr id="48" name="Text 46"/>
          <p:cNvSpPr txBox="1"/>
          <p:nvPr/>
        </p:nvSpPr>
        <p:spPr>
          <a:xfrm>
            <a:off x="475488" y="3675888"/>
            <a:ext cx="2478024" cy="52120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Camp microgrid</a:t>
            </a:r>
            <a:endParaRPr lang="en-US" sz="840" dirty="0"/>
          </a:p>
        </p:txBody>
      </p:sp>
      <p:sp>
        <p:nvSpPr>
          <p:cNvPr id="49" name="Shape 47"/>
          <p:cNvSpPr/>
          <p:nvPr/>
        </p:nvSpPr>
        <p:spPr>
          <a:xfrm>
            <a:off x="3017520" y="3675888"/>
            <a:ext cx="1874520" cy="521208"/>
          </a:xfrm>
          <a:prstGeom prst="rect">
            <a:avLst/>
          </a:prstGeom>
          <a:solidFill>
            <a:srgbClr val="FFFFFF"/>
          </a:solidFill>
          <a:ln w="6350">
            <a:solidFill>
              <a:srgbClr val="D3DCE5"/>
            </a:solidFill>
            <a:prstDash val="solid"/>
          </a:ln>
        </p:spPr>
      </p:sp>
      <p:sp>
        <p:nvSpPr>
          <p:cNvPr id="50" name="Text 48"/>
          <p:cNvSpPr txBox="1"/>
          <p:nvPr/>
        </p:nvSpPr>
        <p:spPr>
          <a:xfrm>
            <a:off x="3081528" y="3675888"/>
            <a:ext cx="1746504" cy="521208"/>
          </a:xfrm>
          <a:prstGeom prst="rect">
            <a:avLst/>
          </a:prstGeom>
          <a:noFill/>
          <a:ln/>
        </p:spPr>
        <p:txBody>
          <a:bodyPr wrap="square" lIns="0" tIns="0" rIns="0" bIns="0" rtlCol="0" anchor="ctr"/>
          <a:lstStyle/>
          <a:p>
            <a:pPr algn="ctr" indent="0" marL="0">
              <a:buNone/>
            </a:pPr>
            <a:r>
              <a:rPr lang="en-US" sz="840" b="1" dirty="0">
                <a:solidFill>
                  <a:srgbClr val="0E7C6B"/>
                </a:solidFill>
                <a:latin typeface="Calibri" pitchFamily="34" charset="0"/>
                <a:ea typeface="Calibri" pitchFamily="34" charset="-122"/>
                <a:cs typeface="Calibri" pitchFamily="34" charset="-120"/>
              </a:rPr>
              <a:t>Operating</a:t>
            </a:r>
            <a:endParaRPr lang="en-US" sz="840" dirty="0"/>
          </a:p>
        </p:txBody>
      </p:sp>
      <p:sp>
        <p:nvSpPr>
          <p:cNvPr id="51" name="Shape 49"/>
          <p:cNvSpPr/>
          <p:nvPr/>
        </p:nvSpPr>
        <p:spPr>
          <a:xfrm>
            <a:off x="4892040" y="3675888"/>
            <a:ext cx="3794760" cy="521208"/>
          </a:xfrm>
          <a:prstGeom prst="rect">
            <a:avLst/>
          </a:prstGeom>
          <a:solidFill>
            <a:srgbClr val="FFFFFF"/>
          </a:solidFill>
          <a:ln w="6350">
            <a:solidFill>
              <a:srgbClr val="D3DCE5"/>
            </a:solidFill>
            <a:prstDash val="solid"/>
          </a:ln>
        </p:spPr>
      </p:sp>
      <p:sp>
        <p:nvSpPr>
          <p:cNvPr id="52" name="Text 50"/>
          <p:cNvSpPr txBox="1"/>
          <p:nvPr/>
        </p:nvSpPr>
        <p:spPr>
          <a:xfrm>
            <a:off x="4956048" y="3675888"/>
            <a:ext cx="3666744"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 GenOffGrid microgrid cutting emissions by more than 36%, about 529 tonnes CO2e a year, displacing roughly 200,000 litres of diesel.</a:t>
            </a:r>
            <a:endParaRPr lang="en-US" sz="840" dirty="0"/>
          </a:p>
        </p:txBody>
      </p:sp>
      <p:sp>
        <p:nvSpPr>
          <p:cNvPr id="53" name="Shape 51"/>
          <p:cNvSpPr/>
          <p:nvPr/>
        </p:nvSpPr>
        <p:spPr>
          <a:xfrm>
            <a:off x="8686800" y="3675888"/>
            <a:ext cx="3099816" cy="521208"/>
          </a:xfrm>
          <a:prstGeom prst="rect">
            <a:avLst/>
          </a:prstGeom>
          <a:solidFill>
            <a:srgbClr val="FFFFFF"/>
          </a:solidFill>
          <a:ln w="6350">
            <a:solidFill>
              <a:srgbClr val="D3DCE5"/>
            </a:solidFill>
            <a:prstDash val="solid"/>
          </a:ln>
        </p:spPr>
      </p:sp>
      <p:sp>
        <p:nvSpPr>
          <p:cNvPr id="54" name="Text 52"/>
          <p:cNvSpPr txBox="1"/>
          <p:nvPr/>
        </p:nvSpPr>
        <p:spPr>
          <a:xfrm>
            <a:off x="8750808" y="3675888"/>
            <a:ext cx="2971800"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Noted but immaterial: 529 tonnes against site emissions in the hundreds of thousands.</a:t>
            </a:r>
            <a:endParaRPr lang="en-US" sz="840" dirty="0"/>
          </a:p>
        </p:txBody>
      </p:sp>
      <p:sp>
        <p:nvSpPr>
          <p:cNvPr id="55" name="Shape 53"/>
          <p:cNvSpPr/>
          <p:nvPr/>
        </p:nvSpPr>
        <p:spPr>
          <a:xfrm>
            <a:off x="411480" y="4197096"/>
            <a:ext cx="2606040" cy="521208"/>
          </a:xfrm>
          <a:prstGeom prst="rect">
            <a:avLst/>
          </a:prstGeom>
          <a:solidFill>
            <a:srgbClr val="F7F9FB"/>
          </a:solidFill>
          <a:ln w="6350">
            <a:solidFill>
              <a:srgbClr val="D3DCE5"/>
            </a:solidFill>
            <a:prstDash val="solid"/>
          </a:ln>
        </p:spPr>
      </p:sp>
      <p:sp>
        <p:nvSpPr>
          <p:cNvPr id="56" name="Text 54"/>
          <p:cNvSpPr txBox="1"/>
          <p:nvPr/>
        </p:nvSpPr>
        <p:spPr>
          <a:xfrm>
            <a:off x="475488" y="4197096"/>
            <a:ext cx="2478024" cy="521208"/>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Electric haul fleet</a:t>
            </a:r>
            <a:endParaRPr lang="en-US" sz="840" dirty="0"/>
          </a:p>
        </p:txBody>
      </p:sp>
      <p:sp>
        <p:nvSpPr>
          <p:cNvPr id="57" name="Shape 55"/>
          <p:cNvSpPr/>
          <p:nvPr/>
        </p:nvSpPr>
        <p:spPr>
          <a:xfrm>
            <a:off x="3017520" y="4197096"/>
            <a:ext cx="1874520" cy="521208"/>
          </a:xfrm>
          <a:prstGeom prst="rect">
            <a:avLst/>
          </a:prstGeom>
          <a:solidFill>
            <a:srgbClr val="F7F9FB"/>
          </a:solidFill>
          <a:ln w="6350">
            <a:solidFill>
              <a:srgbClr val="D3DCE5"/>
            </a:solidFill>
            <a:prstDash val="solid"/>
          </a:ln>
        </p:spPr>
      </p:sp>
      <p:sp>
        <p:nvSpPr>
          <p:cNvPr id="58" name="Text 56"/>
          <p:cNvSpPr txBox="1"/>
          <p:nvPr/>
        </p:nvSpPr>
        <p:spPr>
          <a:xfrm>
            <a:off x="3081528" y="4197096"/>
            <a:ext cx="1746504" cy="521208"/>
          </a:xfrm>
          <a:prstGeom prst="rect">
            <a:avLst/>
          </a:prstGeom>
          <a:noFill/>
          <a:ln/>
        </p:spPr>
        <p:txBody>
          <a:bodyPr wrap="square" lIns="0" tIns="0" rIns="0" bIns="0" rtlCol="0" anchor="ctr"/>
          <a:lstStyle/>
          <a:p>
            <a:pPr algn="ctr" indent="0" marL="0">
              <a:buNone/>
            </a:pPr>
            <a:r>
              <a:rPr lang="en-US" sz="840" b="1" dirty="0">
                <a:solidFill>
                  <a:srgbClr val="A3282C"/>
                </a:solidFill>
                <a:latin typeface="Calibri" pitchFamily="34" charset="0"/>
                <a:ea typeface="Calibri" pitchFamily="34" charset="-122"/>
                <a:cs typeface="Calibri" pitchFamily="34" charset="-120"/>
              </a:rPr>
              <a:t>Not found</a:t>
            </a:r>
            <a:endParaRPr lang="en-US" sz="840" dirty="0"/>
          </a:p>
        </p:txBody>
      </p:sp>
      <p:sp>
        <p:nvSpPr>
          <p:cNvPr id="59" name="Shape 57"/>
          <p:cNvSpPr/>
          <p:nvPr/>
        </p:nvSpPr>
        <p:spPr>
          <a:xfrm>
            <a:off x="4892040" y="4197096"/>
            <a:ext cx="3794760" cy="521208"/>
          </a:xfrm>
          <a:prstGeom prst="rect">
            <a:avLst/>
          </a:prstGeom>
          <a:solidFill>
            <a:srgbClr val="F7F9FB"/>
          </a:solidFill>
          <a:ln w="6350">
            <a:solidFill>
              <a:srgbClr val="D3DCE5"/>
            </a:solidFill>
            <a:prstDash val="solid"/>
          </a:ln>
        </p:spPr>
      </p:sp>
      <p:sp>
        <p:nvSpPr>
          <p:cNvPr id="60" name="Text 58"/>
          <p:cNvSpPr txBox="1"/>
          <p:nvPr/>
        </p:nvSpPr>
        <p:spPr>
          <a:xfrm>
            <a:off x="4956048" y="4197096"/>
            <a:ext cx="3666744"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No electric haul truck or trolley-assist programme was found, while Fortescue runs public programmes.</a:t>
            </a:r>
            <a:endParaRPr lang="en-US" sz="840" dirty="0"/>
          </a:p>
        </p:txBody>
      </p:sp>
      <p:sp>
        <p:nvSpPr>
          <p:cNvPr id="61" name="Shape 59"/>
          <p:cNvSpPr/>
          <p:nvPr/>
        </p:nvSpPr>
        <p:spPr>
          <a:xfrm>
            <a:off x="8686800" y="4197096"/>
            <a:ext cx="3099816" cy="521208"/>
          </a:xfrm>
          <a:prstGeom prst="rect">
            <a:avLst/>
          </a:prstGeom>
          <a:solidFill>
            <a:srgbClr val="F7F9FB"/>
          </a:solidFill>
          <a:ln w="6350">
            <a:solidFill>
              <a:srgbClr val="D3DCE5"/>
            </a:solidFill>
            <a:prstDash val="solid"/>
          </a:ln>
        </p:spPr>
      </p:sp>
      <p:sp>
        <p:nvSpPr>
          <p:cNvPr id="62" name="Text 60"/>
          <p:cNvSpPr txBox="1"/>
          <p:nvPr/>
        </p:nvSpPr>
        <p:spPr>
          <a:xfrm>
            <a:off x="8750808" y="4197096"/>
            <a:ext cx="2971800" cy="521208"/>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Treated as a gap and an upside lever PLS has not pulled.</a:t>
            </a:r>
            <a:endParaRPr lang="en-US" sz="840" dirty="0"/>
          </a:p>
        </p:txBody>
      </p:sp>
      <p:sp>
        <p:nvSpPr>
          <p:cNvPr id="63" name="Shape 61"/>
          <p:cNvSpPr/>
          <p:nvPr/>
        </p:nvSpPr>
        <p:spPr>
          <a:xfrm>
            <a:off x="411480" y="4773168"/>
            <a:ext cx="11375136" cy="1133856"/>
          </a:xfrm>
          <a:prstGeom prst="rect">
            <a:avLst/>
          </a:prstGeom>
          <a:solidFill>
            <a:srgbClr val="EEF2F6"/>
          </a:solidFill>
          <a:ln w="9525">
            <a:solidFill>
              <a:srgbClr val="D3DCE5"/>
            </a:solidFill>
            <a:prstDash val="solid"/>
          </a:ln>
        </p:spPr>
      </p:sp>
      <p:sp>
        <p:nvSpPr>
          <p:cNvPr id="64" name="Text 62"/>
          <p:cNvSpPr txBox="1"/>
          <p:nvPr/>
        </p:nvSpPr>
        <p:spPr>
          <a:xfrm>
            <a:off x="576072" y="4901184"/>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discipline we applied to this page</a:t>
            </a:r>
            <a:endParaRPr lang="en-US" sz="1150" dirty="0"/>
          </a:p>
        </p:txBody>
      </p:sp>
      <p:sp>
        <p:nvSpPr>
          <p:cNvPr id="65" name="Text 63"/>
          <p:cNvSpPr txBox="1"/>
          <p:nvPr/>
        </p:nvSpPr>
        <p:spPr>
          <a:xfrm>
            <a:off x="576072" y="5230368"/>
            <a:ext cx="11045952" cy="585216"/>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It would have been easy to add the 80% by 2030 figure to the bridge and claim a larger shared-value number. We did not, because that target is explicitly conditional on wind that does not yet exist in the region. Equally, we could have presented the camp microgrid's 529 tonnes as evidence of decarbonisation; it is roughly 0.3% of site emissions on the best aggregator estimate we found, and presenting it as more would be exactly the greenwashing this case asks us to detect.</a:t>
            </a:r>
            <a:endParaRPr lang="en-US" sz="940" dirty="0"/>
          </a:p>
        </p:txBody>
      </p:sp>
      <p:sp>
        <p:nvSpPr>
          <p:cNvPr id="66" name="Text 64"/>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power strategy disclosures; pilbaraminerals.com.au news releases; GenOffGrid; mining.com.au. The Alinta Energy hybrid project that appears in searches relates to Fortescue's Newman operations, not PLS, and we have not attributed it here.</a:t>
            </a:r>
            <a:endParaRPr lang="en-US" sz="720" dirty="0"/>
          </a:p>
        </p:txBody>
      </p:sp>
      <p:sp>
        <p:nvSpPr>
          <p:cNvPr id="67" name="Text 65"/>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D3</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Worked through properly, because this is the one lever where the environmental and financial mechanisms are provably the same mechanism.</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D4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1375136" cy="548640"/>
          </a:xfrm>
          <a:prstGeom prst="rect">
            <a:avLst/>
          </a:prstGeom>
          <a:solidFill>
            <a:srgbClr val="FFFFFF"/>
          </a:solidFill>
          <a:ln w="7620">
            <a:solidFill>
              <a:srgbClr val="D3DCE5"/>
            </a:solidFill>
            <a:prstDash val="solid"/>
          </a:ln>
        </p:spPr>
      </p:sp>
      <p:sp>
        <p:nvSpPr>
          <p:cNvPr id="8" name="Text 6"/>
          <p:cNvSpPr txBox="1"/>
          <p:nvPr/>
        </p:nvSpPr>
        <p:spPr>
          <a:xfrm>
            <a:off x="576072" y="1298448"/>
            <a:ext cx="2331720" cy="548640"/>
          </a:xfrm>
          <a:prstGeom prst="rect">
            <a:avLst/>
          </a:prstGeom>
          <a:noFill/>
          <a:ln/>
        </p:spPr>
        <p:txBody>
          <a:bodyPr wrap="square" lIns="0" tIns="0" rIns="0" bIns="0" rtlCol="0" anchor="ctr"/>
          <a:lstStyle/>
          <a:p>
            <a:pPr indent="0" marL="0">
              <a:buNone/>
            </a:pPr>
            <a:r>
              <a:rPr lang="en-US" sz="980" b="1" dirty="0">
                <a:solidFill>
                  <a:srgbClr val="10233A"/>
                </a:solidFill>
                <a:latin typeface="Calibri" pitchFamily="34" charset="0"/>
                <a:ea typeface="Calibri" pitchFamily="34" charset="-122"/>
                <a:cs typeface="Calibri" pitchFamily="34" charset="-120"/>
              </a:rPr>
              <a:t>The problem</a:t>
            </a:r>
            <a:endParaRPr lang="en-US" sz="980" dirty="0"/>
          </a:p>
        </p:txBody>
      </p:sp>
      <p:sp>
        <p:nvSpPr>
          <p:cNvPr id="9" name="Text 7"/>
          <p:cNvSpPr txBox="1"/>
          <p:nvPr/>
        </p:nvSpPr>
        <p:spPr>
          <a:xfrm>
            <a:off x="3017520" y="1335024"/>
            <a:ext cx="8595360" cy="475488"/>
          </a:xfrm>
          <a:prstGeom prst="rect">
            <a:avLst/>
          </a:prstGeom>
          <a:noFill/>
          <a:ln/>
        </p:spPr>
        <p:txBody>
          <a:bodyPr wrap="square" lIns="0" tIns="0" rIns="0" bIns="0" rtlCol="0" anchor="ctr"/>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Milling and flotation are the energy-intensive steps. Every tonne of barren rock that enters them consumes power, water and reagents for no lithium.</a:t>
            </a:r>
            <a:endParaRPr lang="en-US" sz="870" dirty="0"/>
          </a:p>
        </p:txBody>
      </p:sp>
      <p:sp>
        <p:nvSpPr>
          <p:cNvPr id="10" name="Shape 8"/>
          <p:cNvSpPr/>
          <p:nvPr/>
        </p:nvSpPr>
        <p:spPr>
          <a:xfrm>
            <a:off x="411480" y="1901952"/>
            <a:ext cx="11375136" cy="548640"/>
          </a:xfrm>
          <a:prstGeom prst="rect">
            <a:avLst/>
          </a:prstGeom>
          <a:solidFill>
            <a:srgbClr val="F7F9FB"/>
          </a:solidFill>
          <a:ln w="7620">
            <a:solidFill>
              <a:srgbClr val="D3DCE5"/>
            </a:solidFill>
            <a:prstDash val="solid"/>
          </a:ln>
        </p:spPr>
      </p:sp>
      <p:sp>
        <p:nvSpPr>
          <p:cNvPr id="11" name="Text 9"/>
          <p:cNvSpPr txBox="1"/>
          <p:nvPr/>
        </p:nvSpPr>
        <p:spPr>
          <a:xfrm>
            <a:off x="576072" y="1901952"/>
            <a:ext cx="2331720" cy="548640"/>
          </a:xfrm>
          <a:prstGeom prst="rect">
            <a:avLst/>
          </a:prstGeom>
          <a:noFill/>
          <a:ln/>
        </p:spPr>
        <p:txBody>
          <a:bodyPr wrap="square" lIns="0" tIns="0" rIns="0" bIns="0" rtlCol="0" anchor="ctr"/>
          <a:lstStyle/>
          <a:p>
            <a:pPr indent="0" marL="0">
              <a:buNone/>
            </a:pPr>
            <a:r>
              <a:rPr lang="en-US" sz="980" b="1" dirty="0">
                <a:solidFill>
                  <a:srgbClr val="10233A"/>
                </a:solidFill>
                <a:latin typeface="Calibri" pitchFamily="34" charset="0"/>
                <a:ea typeface="Calibri" pitchFamily="34" charset="-122"/>
                <a:cs typeface="Calibri" pitchFamily="34" charset="-120"/>
              </a:rPr>
              <a:t>The intervention</a:t>
            </a:r>
            <a:endParaRPr lang="en-US" sz="980" dirty="0"/>
          </a:p>
        </p:txBody>
      </p:sp>
      <p:sp>
        <p:nvSpPr>
          <p:cNvPr id="12" name="Text 10"/>
          <p:cNvSpPr txBox="1"/>
          <p:nvPr/>
        </p:nvSpPr>
        <p:spPr>
          <a:xfrm>
            <a:off x="3017520" y="1938528"/>
            <a:ext cx="8595360" cy="475488"/>
          </a:xfrm>
          <a:prstGeom prst="rect">
            <a:avLst/>
          </a:prstGeom>
          <a:noFill/>
          <a:ln/>
        </p:spPr>
        <p:txBody>
          <a:bodyPr wrap="square" lIns="0" tIns="0" rIns="0" bIns="0" rtlCol="0" anchor="ctr"/>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A TOMRA sensor-based sorter, over 1,000 tonnes per hour, installed in the A$103m P680 project and commissioned in August 2024. Rock is scanned and waste ejected before it reaches the plant.</a:t>
            </a:r>
            <a:endParaRPr lang="en-US" sz="870" dirty="0"/>
          </a:p>
        </p:txBody>
      </p:sp>
      <p:sp>
        <p:nvSpPr>
          <p:cNvPr id="13" name="Shape 11"/>
          <p:cNvSpPr/>
          <p:nvPr/>
        </p:nvSpPr>
        <p:spPr>
          <a:xfrm>
            <a:off x="411480" y="2505456"/>
            <a:ext cx="11375136" cy="548640"/>
          </a:xfrm>
          <a:prstGeom prst="rect">
            <a:avLst/>
          </a:prstGeom>
          <a:solidFill>
            <a:srgbClr val="FFFFFF"/>
          </a:solidFill>
          <a:ln w="7620">
            <a:solidFill>
              <a:srgbClr val="D3DCE5"/>
            </a:solidFill>
            <a:prstDash val="solid"/>
          </a:ln>
        </p:spPr>
      </p:sp>
      <p:sp>
        <p:nvSpPr>
          <p:cNvPr id="14" name="Text 12"/>
          <p:cNvSpPr txBox="1"/>
          <p:nvPr/>
        </p:nvSpPr>
        <p:spPr>
          <a:xfrm>
            <a:off x="576072" y="2505456"/>
            <a:ext cx="2331720" cy="548640"/>
          </a:xfrm>
          <a:prstGeom prst="rect">
            <a:avLst/>
          </a:prstGeom>
          <a:noFill/>
          <a:ln/>
        </p:spPr>
        <p:txBody>
          <a:bodyPr wrap="square" lIns="0" tIns="0" rIns="0" bIns="0" rtlCol="0" anchor="ctr"/>
          <a:lstStyle/>
          <a:p>
            <a:pPr indent="0" marL="0">
              <a:buNone/>
            </a:pPr>
            <a:r>
              <a:rPr lang="en-US" sz="980" b="1" dirty="0">
                <a:solidFill>
                  <a:srgbClr val="10233A"/>
                </a:solidFill>
                <a:latin typeface="Calibri" pitchFamily="34" charset="0"/>
                <a:ea typeface="Calibri" pitchFamily="34" charset="-122"/>
                <a:cs typeface="Calibri" pitchFamily="34" charset="-120"/>
              </a:rPr>
              <a:t>The environmental outcome</a:t>
            </a:r>
            <a:endParaRPr lang="en-US" sz="980" dirty="0"/>
          </a:p>
        </p:txBody>
      </p:sp>
      <p:sp>
        <p:nvSpPr>
          <p:cNvPr id="15" name="Text 13"/>
          <p:cNvSpPr txBox="1"/>
          <p:nvPr/>
        </p:nvSpPr>
        <p:spPr>
          <a:xfrm>
            <a:off x="3017520" y="2542032"/>
            <a:ext cx="8595360" cy="475488"/>
          </a:xfrm>
          <a:prstGeom prst="rect">
            <a:avLst/>
          </a:prstGeom>
          <a:noFill/>
          <a:ln/>
        </p:spPr>
        <p:txBody>
          <a:bodyPr wrap="square" lIns="0" tIns="0" rIns="0" bIns="0" rtlCol="0" anchor="ctr"/>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Less ore milled per tonne of contained lithium means less energy per tonne of product, and waste that never enters the plant never enters the tailings stream.</a:t>
            </a:r>
            <a:endParaRPr lang="en-US" sz="870" dirty="0"/>
          </a:p>
        </p:txBody>
      </p:sp>
      <p:sp>
        <p:nvSpPr>
          <p:cNvPr id="16" name="Shape 14"/>
          <p:cNvSpPr/>
          <p:nvPr/>
        </p:nvSpPr>
        <p:spPr>
          <a:xfrm>
            <a:off x="411480" y="3108960"/>
            <a:ext cx="11375136" cy="548640"/>
          </a:xfrm>
          <a:prstGeom prst="rect">
            <a:avLst/>
          </a:prstGeom>
          <a:solidFill>
            <a:srgbClr val="F7F9FB"/>
          </a:solidFill>
          <a:ln w="7620">
            <a:solidFill>
              <a:srgbClr val="D3DCE5"/>
            </a:solidFill>
            <a:prstDash val="solid"/>
          </a:ln>
        </p:spPr>
      </p:sp>
      <p:sp>
        <p:nvSpPr>
          <p:cNvPr id="17" name="Text 15"/>
          <p:cNvSpPr txBox="1"/>
          <p:nvPr/>
        </p:nvSpPr>
        <p:spPr>
          <a:xfrm>
            <a:off x="576072" y="3108960"/>
            <a:ext cx="2331720" cy="548640"/>
          </a:xfrm>
          <a:prstGeom prst="rect">
            <a:avLst/>
          </a:prstGeom>
          <a:noFill/>
          <a:ln/>
        </p:spPr>
        <p:txBody>
          <a:bodyPr wrap="square" lIns="0" tIns="0" rIns="0" bIns="0" rtlCol="0" anchor="ctr"/>
          <a:lstStyle/>
          <a:p>
            <a:pPr indent="0" marL="0">
              <a:buNone/>
            </a:pPr>
            <a:r>
              <a:rPr lang="en-US" sz="980" b="1" dirty="0">
                <a:solidFill>
                  <a:srgbClr val="10233A"/>
                </a:solidFill>
                <a:latin typeface="Calibri" pitchFamily="34" charset="0"/>
                <a:ea typeface="Calibri" pitchFamily="34" charset="-122"/>
                <a:cs typeface="Calibri" pitchFamily="34" charset="-120"/>
              </a:rPr>
              <a:t>The financial outcome</a:t>
            </a:r>
            <a:endParaRPr lang="en-US" sz="980" dirty="0"/>
          </a:p>
        </p:txBody>
      </p:sp>
      <p:sp>
        <p:nvSpPr>
          <p:cNvPr id="18" name="Text 16"/>
          <p:cNvSpPr txBox="1"/>
          <p:nvPr/>
        </p:nvSpPr>
        <p:spPr>
          <a:xfrm>
            <a:off x="3017520" y="3145536"/>
            <a:ext cx="8595360" cy="475488"/>
          </a:xfrm>
          <a:prstGeom prst="rect">
            <a:avLst/>
          </a:prstGeom>
          <a:noFill/>
          <a:ln/>
        </p:spPr>
        <p:txBody>
          <a:bodyPr wrap="square" lIns="0" tIns="0" rIns="0" bIns="0" rtlCol="0" anchor="ctr"/>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FY26 unit costs fell A$58/t, from A$627 to A$569, while volumes rose 17%. We attribute roughly half the fall to volume scale and half - about A$29/t - to sorting and associated processing gains.</a:t>
            </a:r>
            <a:endParaRPr lang="en-US" sz="870" dirty="0"/>
          </a:p>
        </p:txBody>
      </p:sp>
      <p:sp>
        <p:nvSpPr>
          <p:cNvPr id="19" name="Shape 17"/>
          <p:cNvSpPr/>
          <p:nvPr/>
        </p:nvSpPr>
        <p:spPr>
          <a:xfrm>
            <a:off x="411480" y="3712464"/>
            <a:ext cx="11375136" cy="548640"/>
          </a:xfrm>
          <a:prstGeom prst="rect">
            <a:avLst/>
          </a:prstGeom>
          <a:solidFill>
            <a:srgbClr val="FBEBD9"/>
          </a:solidFill>
          <a:ln w="7620">
            <a:solidFill>
              <a:srgbClr val="D3DCE5"/>
            </a:solidFill>
            <a:prstDash val="solid"/>
          </a:ln>
        </p:spPr>
      </p:sp>
      <p:sp>
        <p:nvSpPr>
          <p:cNvPr id="20" name="Text 18"/>
          <p:cNvSpPr txBox="1"/>
          <p:nvPr/>
        </p:nvSpPr>
        <p:spPr>
          <a:xfrm>
            <a:off x="576072" y="3712464"/>
            <a:ext cx="2331720" cy="548640"/>
          </a:xfrm>
          <a:prstGeom prst="rect">
            <a:avLst/>
          </a:prstGeom>
          <a:noFill/>
          <a:ln/>
        </p:spPr>
        <p:txBody>
          <a:bodyPr wrap="square" lIns="0" tIns="0" rIns="0" bIns="0" rtlCol="0" anchor="ctr"/>
          <a:lstStyle/>
          <a:p>
            <a:pPr indent="0" marL="0">
              <a:buNone/>
            </a:pPr>
            <a:r>
              <a:rPr lang="en-US" sz="980" b="1" dirty="0">
                <a:solidFill>
                  <a:srgbClr val="C2610A"/>
                </a:solidFill>
                <a:latin typeface="Calibri" pitchFamily="34" charset="0"/>
                <a:ea typeface="Calibri" pitchFamily="34" charset="-122"/>
                <a:cs typeface="Calibri" pitchFamily="34" charset="-120"/>
              </a:rPr>
              <a:t>The shared-value test</a:t>
            </a:r>
            <a:endParaRPr lang="en-US" sz="980" dirty="0"/>
          </a:p>
        </p:txBody>
      </p:sp>
      <p:sp>
        <p:nvSpPr>
          <p:cNvPr id="21" name="Text 19"/>
          <p:cNvSpPr txBox="1"/>
          <p:nvPr/>
        </p:nvSpPr>
        <p:spPr>
          <a:xfrm>
            <a:off x="3017520" y="3749040"/>
            <a:ext cx="8595360" cy="475488"/>
          </a:xfrm>
          <a:prstGeom prst="rect">
            <a:avLst/>
          </a:prstGeom>
          <a:noFill/>
          <a:ln/>
        </p:spPr>
        <p:txBody>
          <a:bodyPr wrap="square" lIns="0" tIns="0" rIns="0" bIns="0" rtlCol="0" anchor="ctr"/>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Would PLS have done it without an ESG rationale? Almost certainly yes. That does not disqualify it under Porter and Kramer's second level - which is precisely about solving environmental problems in ways that lower cost - but it does mean it is not a differentiator. Any competitor can buy a sorter.</a:t>
            </a:r>
            <a:endParaRPr lang="en-US" sz="870" dirty="0"/>
          </a:p>
        </p:txBody>
      </p:sp>
      <p:sp>
        <p:nvSpPr>
          <p:cNvPr id="22" name="Shape 20"/>
          <p:cNvSpPr/>
          <p:nvPr/>
        </p:nvSpPr>
        <p:spPr>
          <a:xfrm>
            <a:off x="411480" y="4315968"/>
            <a:ext cx="11375136" cy="548640"/>
          </a:xfrm>
          <a:prstGeom prst="rect">
            <a:avLst/>
          </a:prstGeom>
          <a:solidFill>
            <a:srgbClr val="F7F9FB"/>
          </a:solidFill>
          <a:ln w="7620">
            <a:solidFill>
              <a:srgbClr val="D3DCE5"/>
            </a:solidFill>
            <a:prstDash val="solid"/>
          </a:ln>
        </p:spPr>
      </p:sp>
      <p:sp>
        <p:nvSpPr>
          <p:cNvPr id="23" name="Text 21"/>
          <p:cNvSpPr txBox="1"/>
          <p:nvPr/>
        </p:nvSpPr>
        <p:spPr>
          <a:xfrm>
            <a:off x="576072" y="4315968"/>
            <a:ext cx="2331720" cy="548640"/>
          </a:xfrm>
          <a:prstGeom prst="rect">
            <a:avLst/>
          </a:prstGeom>
          <a:noFill/>
          <a:ln/>
        </p:spPr>
        <p:txBody>
          <a:bodyPr wrap="square" lIns="0" tIns="0" rIns="0" bIns="0" rtlCol="0" anchor="ctr"/>
          <a:lstStyle/>
          <a:p>
            <a:pPr indent="0" marL="0">
              <a:buNone/>
            </a:pPr>
            <a:r>
              <a:rPr lang="en-US" sz="980" b="1" dirty="0">
                <a:solidFill>
                  <a:srgbClr val="10233A"/>
                </a:solidFill>
                <a:latin typeface="Calibri" pitchFamily="34" charset="0"/>
                <a:ea typeface="Calibri" pitchFamily="34" charset="-122"/>
                <a:cs typeface="Calibri" pitchFamily="34" charset="-120"/>
              </a:rPr>
              <a:t>The valuation treatment</a:t>
            </a:r>
            <a:endParaRPr lang="en-US" sz="980" dirty="0"/>
          </a:p>
        </p:txBody>
      </p:sp>
      <p:sp>
        <p:nvSpPr>
          <p:cNvPr id="24" name="Text 22"/>
          <p:cNvSpPr txBox="1"/>
          <p:nvPr/>
        </p:nvSpPr>
        <p:spPr>
          <a:xfrm>
            <a:off x="3017520" y="4352544"/>
            <a:ext cx="8595360" cy="475488"/>
          </a:xfrm>
          <a:prstGeom prst="rect">
            <a:avLst/>
          </a:prstGeom>
          <a:noFill/>
          <a:ln/>
        </p:spPr>
        <p:txBody>
          <a:bodyPr wrap="square" lIns="0" tIns="0" rIns="0" bIns="0" rtlCol="0" anchor="ctr"/>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A$30/t multiplied by the model's coefficient of A$20.5m of equity value per A$1/t gives A$614m, or A$0.19 per share. It is attributed from the existing valuation, not added to it.</a:t>
            </a:r>
            <a:endParaRPr lang="en-US" sz="870" dirty="0"/>
          </a:p>
        </p:txBody>
      </p:sp>
      <p:sp>
        <p:nvSpPr>
          <p:cNvPr id="25" name="Shape 23"/>
          <p:cNvSpPr/>
          <p:nvPr/>
        </p:nvSpPr>
        <p:spPr>
          <a:xfrm>
            <a:off x="411480" y="5047488"/>
            <a:ext cx="11375136" cy="1005840"/>
          </a:xfrm>
          <a:prstGeom prst="rect">
            <a:avLst/>
          </a:prstGeom>
          <a:solidFill>
            <a:srgbClr val="D6EBE7"/>
          </a:solidFill>
          <a:ln w="9525">
            <a:solidFill>
              <a:srgbClr val="AFD3CC"/>
            </a:solidFill>
            <a:prstDash val="solid"/>
          </a:ln>
        </p:spPr>
      </p:sp>
      <p:sp>
        <p:nvSpPr>
          <p:cNvPr id="26" name="Text 24"/>
          <p:cNvSpPr txBox="1"/>
          <p:nvPr/>
        </p:nvSpPr>
        <p:spPr>
          <a:xfrm>
            <a:off x="576072" y="5175504"/>
            <a:ext cx="11045952"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Why we included the fifth row</a:t>
            </a:r>
            <a:endParaRPr lang="en-US" sz="1150" dirty="0"/>
          </a:p>
        </p:txBody>
      </p:sp>
      <p:sp>
        <p:nvSpPr>
          <p:cNvPr id="27" name="Text 25"/>
          <p:cNvSpPr txBox="1"/>
          <p:nvPr/>
        </p:nvSpPr>
        <p:spPr>
          <a:xfrm>
            <a:off x="576072" y="5504688"/>
            <a:ext cx="11045952" cy="457200"/>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A judge will ask whether ore sorting is really shared value or just good engineering. It is both, and that the label does not change the cash flow. What it does change is how much weight the lever can carry: an advantage any competitor can buy is worth having and not worth paying a premium for. That is why our level-one argument rests on the mid-stream plant and the Korean joint venture rather than on this.</a:t>
            </a:r>
            <a:endParaRPr lang="en-US" sz="880" dirty="0"/>
          </a:p>
        </p:txBody>
      </p:sp>
      <p:sp>
        <p:nvSpPr>
          <p:cNvPr id="28" name="Text 26"/>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TOMRA Mining; Global Mining Review; PLS FY26 results; team valuation model, ESG Value Bridge sheet.</a:t>
            </a:r>
            <a:endParaRPr lang="en-US" sz="720" dirty="0"/>
          </a:p>
        </p:txBody>
      </p:sp>
      <p:sp>
        <p:nvSpPr>
          <p:cNvPr id="29" name="Text 27"/>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D4</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Structurally the strongest environmental position PLS holds, and largely an accident of geology rather than a strategic choice. We say so.</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D5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788920" cy="9144"/>
          </a:xfrm>
          <a:prstGeom prst="rect">
            <a:avLst/>
          </a:prstGeom>
          <a:solidFill>
            <a:srgbClr val="10233A"/>
          </a:solidFill>
          <a:ln/>
        </p:spPr>
      </p:sp>
      <p:sp>
        <p:nvSpPr>
          <p:cNvPr id="8" name="Text 6"/>
          <p:cNvSpPr txBox="1"/>
          <p:nvPr/>
        </p:nvSpPr>
        <p:spPr>
          <a:xfrm>
            <a:off x="475488" y="1298448"/>
            <a:ext cx="2660904" cy="9144"/>
          </a:xfrm>
          <a:prstGeom prst="rect">
            <a:avLst/>
          </a:prstGeom>
          <a:noFill/>
          <a:ln/>
        </p:spPr>
        <p:txBody>
          <a:bodyPr wrap="square" lIns="0" tIns="0" rIns="0" bIns="0" rtlCol="0" anchor="ctr"/>
          <a:lstStyle/>
          <a:p>
            <a:pPr algn="l" indent="0" marL="0">
              <a:buNone/>
            </a:pPr>
            <a:endParaRPr lang="en-US" sz="900" dirty="0"/>
          </a:p>
        </p:txBody>
      </p:sp>
      <p:sp>
        <p:nvSpPr>
          <p:cNvPr id="9" name="Shape 7"/>
          <p:cNvSpPr/>
          <p:nvPr/>
        </p:nvSpPr>
        <p:spPr>
          <a:xfrm>
            <a:off x="3200400" y="1298448"/>
            <a:ext cx="8586216" cy="9144"/>
          </a:xfrm>
          <a:prstGeom prst="rect">
            <a:avLst/>
          </a:prstGeom>
          <a:solidFill>
            <a:srgbClr val="10233A"/>
          </a:solidFill>
          <a:ln/>
        </p:spPr>
      </p:sp>
      <p:sp>
        <p:nvSpPr>
          <p:cNvPr id="10" name="Text 8"/>
          <p:cNvSpPr txBox="1"/>
          <p:nvPr/>
        </p:nvSpPr>
        <p:spPr>
          <a:xfrm>
            <a:off x="3264408" y="1298448"/>
            <a:ext cx="8458200" cy="9144"/>
          </a:xfrm>
          <a:prstGeom prst="rect">
            <a:avLst/>
          </a:prstGeom>
          <a:noFill/>
          <a:ln/>
        </p:spPr>
        <p:txBody>
          <a:bodyPr wrap="square" lIns="0" tIns="0" rIns="0" bIns="0" rtlCol="0" anchor="ctr"/>
          <a:lstStyle/>
          <a:p>
            <a:pPr algn="l" indent="0" marL="0">
              <a:buNone/>
            </a:pPr>
            <a:endParaRPr lang="en-US" sz="900" dirty="0"/>
          </a:p>
        </p:txBody>
      </p:sp>
      <p:sp>
        <p:nvSpPr>
          <p:cNvPr id="11" name="Shape 9"/>
          <p:cNvSpPr/>
          <p:nvPr/>
        </p:nvSpPr>
        <p:spPr>
          <a:xfrm>
            <a:off x="411480" y="1307592"/>
            <a:ext cx="2788920" cy="402336"/>
          </a:xfrm>
          <a:prstGeom prst="rect">
            <a:avLst/>
          </a:prstGeom>
          <a:solidFill>
            <a:srgbClr val="FFFFFF"/>
          </a:solidFill>
          <a:ln w="6350">
            <a:solidFill>
              <a:srgbClr val="D3DCE5"/>
            </a:solidFill>
            <a:prstDash val="solid"/>
          </a:ln>
        </p:spPr>
      </p:sp>
      <p:sp>
        <p:nvSpPr>
          <p:cNvPr id="12" name="Text 10"/>
          <p:cNvSpPr txBox="1"/>
          <p:nvPr/>
        </p:nvSpPr>
        <p:spPr>
          <a:xfrm>
            <a:off x="475488" y="1307592"/>
            <a:ext cx="2660904" cy="402336"/>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Source</a:t>
            </a:r>
            <a:endParaRPr lang="en-US" sz="880" dirty="0"/>
          </a:p>
        </p:txBody>
      </p:sp>
      <p:sp>
        <p:nvSpPr>
          <p:cNvPr id="13" name="Shape 11"/>
          <p:cNvSpPr/>
          <p:nvPr/>
        </p:nvSpPr>
        <p:spPr>
          <a:xfrm>
            <a:off x="3200400" y="1307592"/>
            <a:ext cx="8586216" cy="402336"/>
          </a:xfrm>
          <a:prstGeom prst="rect">
            <a:avLst/>
          </a:prstGeom>
          <a:solidFill>
            <a:srgbClr val="FFFFFF"/>
          </a:solidFill>
          <a:ln w="6350">
            <a:solidFill>
              <a:srgbClr val="D3DCE5"/>
            </a:solidFill>
            <a:prstDash val="solid"/>
          </a:ln>
        </p:spPr>
      </p:sp>
      <p:sp>
        <p:nvSpPr>
          <p:cNvPr id="14" name="Text 12"/>
          <p:cNvSpPr txBox="1"/>
          <p:nvPr/>
        </p:nvSpPr>
        <p:spPr>
          <a:xfrm>
            <a:off x="3264408" y="1307592"/>
            <a:ext cx="8458200" cy="402336"/>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Groundwater from the Pilbara fractured-rock aquifer, drawn via dewatering bores including the Southern Borefield and piped to the process plant</a:t>
            </a:r>
            <a:endParaRPr lang="en-US" sz="880" dirty="0"/>
          </a:p>
        </p:txBody>
      </p:sp>
      <p:sp>
        <p:nvSpPr>
          <p:cNvPr id="15" name="Shape 13"/>
          <p:cNvSpPr/>
          <p:nvPr/>
        </p:nvSpPr>
        <p:spPr>
          <a:xfrm>
            <a:off x="411480" y="1709928"/>
            <a:ext cx="2788920" cy="402336"/>
          </a:xfrm>
          <a:prstGeom prst="rect">
            <a:avLst/>
          </a:prstGeom>
          <a:solidFill>
            <a:srgbClr val="F7F9FB"/>
          </a:solidFill>
          <a:ln w="6350">
            <a:solidFill>
              <a:srgbClr val="D3DCE5"/>
            </a:solidFill>
            <a:prstDash val="solid"/>
          </a:ln>
        </p:spPr>
      </p:sp>
      <p:sp>
        <p:nvSpPr>
          <p:cNvPr id="16" name="Text 14"/>
          <p:cNvSpPr txBox="1"/>
          <p:nvPr/>
        </p:nvSpPr>
        <p:spPr>
          <a:xfrm>
            <a:off x="475488" y="1709928"/>
            <a:ext cx="2660904" cy="402336"/>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Salinity</a:t>
            </a:r>
            <a:endParaRPr lang="en-US" sz="880" dirty="0"/>
          </a:p>
        </p:txBody>
      </p:sp>
      <p:sp>
        <p:nvSpPr>
          <p:cNvPr id="17" name="Shape 15"/>
          <p:cNvSpPr/>
          <p:nvPr/>
        </p:nvSpPr>
        <p:spPr>
          <a:xfrm>
            <a:off x="3200400" y="1709928"/>
            <a:ext cx="8586216" cy="402336"/>
          </a:xfrm>
          <a:prstGeom prst="rect">
            <a:avLst/>
          </a:prstGeom>
          <a:solidFill>
            <a:srgbClr val="F7F9FB"/>
          </a:solidFill>
          <a:ln w="6350">
            <a:solidFill>
              <a:srgbClr val="D3DCE5"/>
            </a:solidFill>
            <a:prstDash val="solid"/>
          </a:ln>
        </p:spPr>
      </p:sp>
      <p:sp>
        <p:nvSpPr>
          <p:cNvPr id="18" name="Text 16"/>
          <p:cNvSpPr txBox="1"/>
          <p:nvPr/>
        </p:nvSpPr>
        <p:spPr>
          <a:xfrm>
            <a:off x="3264408" y="1709928"/>
            <a:ext cx="8458200" cy="402336"/>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Naturally saline. A reverse-osmosis plant on site produces potable water for camp and process needs</a:t>
            </a:r>
            <a:endParaRPr lang="en-US" sz="880" dirty="0"/>
          </a:p>
        </p:txBody>
      </p:sp>
      <p:sp>
        <p:nvSpPr>
          <p:cNvPr id="19" name="Shape 17"/>
          <p:cNvSpPr/>
          <p:nvPr/>
        </p:nvSpPr>
        <p:spPr>
          <a:xfrm>
            <a:off x="411480" y="2112264"/>
            <a:ext cx="2788920" cy="402336"/>
          </a:xfrm>
          <a:prstGeom prst="rect">
            <a:avLst/>
          </a:prstGeom>
          <a:solidFill>
            <a:srgbClr val="FBEBD9"/>
          </a:solidFill>
          <a:ln w="6350">
            <a:solidFill>
              <a:srgbClr val="D3DCE5"/>
            </a:solidFill>
            <a:prstDash val="solid"/>
          </a:ln>
        </p:spPr>
      </p:sp>
      <p:sp>
        <p:nvSpPr>
          <p:cNvPr id="20" name="Text 18"/>
          <p:cNvSpPr txBox="1"/>
          <p:nvPr/>
        </p:nvSpPr>
        <p:spPr>
          <a:xfrm>
            <a:off x="475488" y="2112264"/>
            <a:ext cx="2660904" cy="402336"/>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Recycling</a:t>
            </a:r>
            <a:endParaRPr lang="en-US" sz="880" dirty="0"/>
          </a:p>
        </p:txBody>
      </p:sp>
      <p:sp>
        <p:nvSpPr>
          <p:cNvPr id="21" name="Shape 19"/>
          <p:cNvSpPr/>
          <p:nvPr/>
        </p:nvSpPr>
        <p:spPr>
          <a:xfrm>
            <a:off x="3200400" y="2112264"/>
            <a:ext cx="8586216" cy="402336"/>
          </a:xfrm>
          <a:prstGeom prst="rect">
            <a:avLst/>
          </a:prstGeom>
          <a:solidFill>
            <a:srgbClr val="FBEBD9"/>
          </a:solidFill>
          <a:ln w="6350">
            <a:solidFill>
              <a:srgbClr val="D3DCE5"/>
            </a:solidFill>
            <a:prstDash val="solid"/>
          </a:ln>
        </p:spPr>
      </p:sp>
      <p:sp>
        <p:nvSpPr>
          <p:cNvPr id="22" name="Text 20"/>
          <p:cNvSpPr txBox="1"/>
          <p:nvPr/>
        </p:nvSpPr>
        <p:spPr>
          <a:xfrm>
            <a:off x="3264408" y="2112264"/>
            <a:ext cx="8458200" cy="402336"/>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More than 60% of processing water is recycled, per one source we rate as low-to-medium confidence and could not corroborate against a primary disclosure</a:t>
            </a:r>
            <a:endParaRPr lang="en-US" sz="880" dirty="0"/>
          </a:p>
        </p:txBody>
      </p:sp>
      <p:sp>
        <p:nvSpPr>
          <p:cNvPr id="23" name="Shape 21"/>
          <p:cNvSpPr/>
          <p:nvPr/>
        </p:nvSpPr>
        <p:spPr>
          <a:xfrm>
            <a:off x="411480" y="2514600"/>
            <a:ext cx="2788920" cy="402336"/>
          </a:xfrm>
          <a:prstGeom prst="rect">
            <a:avLst/>
          </a:prstGeom>
          <a:solidFill>
            <a:srgbClr val="F7E2E2"/>
          </a:solidFill>
          <a:ln w="6350">
            <a:solidFill>
              <a:srgbClr val="D3DCE5"/>
            </a:solidFill>
            <a:prstDash val="solid"/>
          </a:ln>
        </p:spPr>
      </p:sp>
      <p:sp>
        <p:nvSpPr>
          <p:cNvPr id="24" name="Text 22"/>
          <p:cNvSpPr txBox="1"/>
          <p:nvPr/>
        </p:nvSpPr>
        <p:spPr>
          <a:xfrm>
            <a:off x="475488" y="2514600"/>
            <a:ext cx="2660904" cy="402336"/>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Water intensity per tonne</a:t>
            </a:r>
            <a:endParaRPr lang="en-US" sz="880" dirty="0"/>
          </a:p>
        </p:txBody>
      </p:sp>
      <p:sp>
        <p:nvSpPr>
          <p:cNvPr id="25" name="Shape 23"/>
          <p:cNvSpPr/>
          <p:nvPr/>
        </p:nvSpPr>
        <p:spPr>
          <a:xfrm>
            <a:off x="3200400" y="2514600"/>
            <a:ext cx="8586216" cy="402336"/>
          </a:xfrm>
          <a:prstGeom prst="rect">
            <a:avLst/>
          </a:prstGeom>
          <a:solidFill>
            <a:srgbClr val="F7E2E2"/>
          </a:solidFill>
          <a:ln w="6350">
            <a:solidFill>
              <a:srgbClr val="D3DCE5"/>
            </a:solidFill>
            <a:prstDash val="solid"/>
          </a:ln>
        </p:spPr>
      </p:sp>
      <p:sp>
        <p:nvSpPr>
          <p:cNvPr id="26" name="Text 24"/>
          <p:cNvSpPr txBox="1"/>
          <p:nvPr/>
        </p:nvSpPr>
        <p:spPr>
          <a:xfrm>
            <a:off x="3264408" y="2514600"/>
            <a:ext cx="8458200" cy="402336"/>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Not found</a:t>
            </a:r>
            <a:endParaRPr lang="en-US" sz="880" dirty="0"/>
          </a:p>
        </p:txBody>
      </p:sp>
      <p:sp>
        <p:nvSpPr>
          <p:cNvPr id="27" name="Shape 25"/>
          <p:cNvSpPr/>
          <p:nvPr/>
        </p:nvSpPr>
        <p:spPr>
          <a:xfrm>
            <a:off x="411480" y="2916936"/>
            <a:ext cx="2788920" cy="402336"/>
          </a:xfrm>
          <a:prstGeom prst="rect">
            <a:avLst/>
          </a:prstGeom>
          <a:solidFill>
            <a:srgbClr val="F7E2E2"/>
          </a:solidFill>
          <a:ln w="6350">
            <a:solidFill>
              <a:srgbClr val="D3DCE5"/>
            </a:solidFill>
            <a:prstDash val="solid"/>
          </a:ln>
        </p:spPr>
      </p:sp>
      <p:sp>
        <p:nvSpPr>
          <p:cNvPr id="28" name="Text 26"/>
          <p:cNvSpPr txBox="1"/>
          <p:nvPr/>
        </p:nvSpPr>
        <p:spPr>
          <a:xfrm>
            <a:off x="475488" y="2916936"/>
            <a:ext cx="2660904" cy="402336"/>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Formal water stewardship target</a:t>
            </a:r>
            <a:endParaRPr lang="en-US" sz="880" dirty="0"/>
          </a:p>
        </p:txBody>
      </p:sp>
      <p:sp>
        <p:nvSpPr>
          <p:cNvPr id="29" name="Shape 27"/>
          <p:cNvSpPr/>
          <p:nvPr/>
        </p:nvSpPr>
        <p:spPr>
          <a:xfrm>
            <a:off x="3200400" y="2916936"/>
            <a:ext cx="8586216" cy="402336"/>
          </a:xfrm>
          <a:prstGeom prst="rect">
            <a:avLst/>
          </a:prstGeom>
          <a:solidFill>
            <a:srgbClr val="F7E2E2"/>
          </a:solidFill>
          <a:ln w="6350">
            <a:solidFill>
              <a:srgbClr val="D3DCE5"/>
            </a:solidFill>
            <a:prstDash val="solid"/>
          </a:ln>
        </p:spPr>
      </p:sp>
      <p:sp>
        <p:nvSpPr>
          <p:cNvPr id="30" name="Text 28"/>
          <p:cNvSpPr txBox="1"/>
          <p:nvPr/>
        </p:nvSpPr>
        <p:spPr>
          <a:xfrm>
            <a:off x="3264408" y="2916936"/>
            <a:ext cx="8458200" cy="402336"/>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Not found</a:t>
            </a:r>
            <a:endParaRPr lang="en-US" sz="880" dirty="0"/>
          </a:p>
        </p:txBody>
      </p:sp>
      <p:sp>
        <p:nvSpPr>
          <p:cNvPr id="31" name="Shape 29"/>
          <p:cNvSpPr/>
          <p:nvPr/>
        </p:nvSpPr>
        <p:spPr>
          <a:xfrm>
            <a:off x="411480" y="3319272"/>
            <a:ext cx="2788920" cy="402336"/>
          </a:xfrm>
          <a:prstGeom prst="rect">
            <a:avLst/>
          </a:prstGeom>
          <a:solidFill>
            <a:srgbClr val="D6EBE7"/>
          </a:solidFill>
          <a:ln w="6350">
            <a:solidFill>
              <a:srgbClr val="D3DCE5"/>
            </a:solidFill>
            <a:prstDash val="solid"/>
          </a:ln>
        </p:spPr>
      </p:sp>
      <p:sp>
        <p:nvSpPr>
          <p:cNvPr id="32" name="Text 30"/>
          <p:cNvSpPr txBox="1"/>
          <p:nvPr/>
        </p:nvSpPr>
        <p:spPr>
          <a:xfrm>
            <a:off x="475488" y="3319272"/>
            <a:ext cx="2660904" cy="402336"/>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Comparison with brine</a:t>
            </a:r>
            <a:endParaRPr lang="en-US" sz="880" dirty="0"/>
          </a:p>
        </p:txBody>
      </p:sp>
      <p:sp>
        <p:nvSpPr>
          <p:cNvPr id="33" name="Shape 31"/>
          <p:cNvSpPr/>
          <p:nvPr/>
        </p:nvSpPr>
        <p:spPr>
          <a:xfrm>
            <a:off x="3200400" y="3319272"/>
            <a:ext cx="8586216" cy="402336"/>
          </a:xfrm>
          <a:prstGeom prst="rect">
            <a:avLst/>
          </a:prstGeom>
          <a:solidFill>
            <a:srgbClr val="D6EBE7"/>
          </a:solidFill>
          <a:ln w="6350">
            <a:solidFill>
              <a:srgbClr val="D3DCE5"/>
            </a:solidFill>
            <a:prstDash val="solid"/>
          </a:ln>
        </p:spPr>
      </p:sp>
      <p:sp>
        <p:nvSpPr>
          <p:cNvPr id="34" name="Text 32"/>
          <p:cNvSpPr txBox="1"/>
          <p:nvPr/>
        </p:nvSpPr>
        <p:spPr>
          <a:xfrm>
            <a:off x="3264408" y="3319272"/>
            <a:ext cx="8458200" cy="402336"/>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South American brine operations consume large volumes in evaporation ponds in water-stressed basins, and have generated sustained community conflict. Hard rock does not carry that exposure</a:t>
            </a:r>
            <a:endParaRPr lang="en-US" sz="880" dirty="0"/>
          </a:p>
        </p:txBody>
      </p:sp>
      <p:sp>
        <p:nvSpPr>
          <p:cNvPr id="35" name="Shape 33"/>
          <p:cNvSpPr/>
          <p:nvPr/>
        </p:nvSpPr>
        <p:spPr>
          <a:xfrm>
            <a:off x="411480" y="3840480"/>
            <a:ext cx="5577840" cy="2194560"/>
          </a:xfrm>
          <a:prstGeom prst="rect">
            <a:avLst/>
          </a:prstGeom>
          <a:solidFill>
            <a:srgbClr val="D6EBE7"/>
          </a:solidFill>
          <a:ln w="9525">
            <a:solidFill>
              <a:srgbClr val="AFD3CC"/>
            </a:solidFill>
            <a:prstDash val="solid"/>
          </a:ln>
        </p:spPr>
      </p:sp>
      <p:sp>
        <p:nvSpPr>
          <p:cNvPr id="36" name="Text 34"/>
          <p:cNvSpPr txBox="1"/>
          <p:nvPr/>
        </p:nvSpPr>
        <p:spPr>
          <a:xfrm>
            <a:off x="576072" y="3968496"/>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What we are and are not claiming</a:t>
            </a:r>
            <a:endParaRPr lang="en-US" sz="1150" dirty="0"/>
          </a:p>
        </p:txBody>
      </p:sp>
      <p:sp>
        <p:nvSpPr>
          <p:cNvPr id="37" name="Text 35"/>
          <p:cNvSpPr txBox="1"/>
          <p:nvPr/>
        </p:nvSpPr>
        <p:spPr>
          <a:xfrm>
            <a:off x="576072" y="4297680"/>
            <a:ext cx="5248656" cy="1645920"/>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Using saline, non-potable groundwater rather than competing for community fresh water is an avoided-conflict advantage for a Pilbara hard-rock miner. But it is largely a geological given, not a distinctive strategic decision by PLS.</a:t>
            </a:r>
            <a:endParaRPr lang="en-US" sz="920" dirty="0"/>
          </a:p>
          <a:p>
            <a:pPr indent="0" marL="0">
              <a:lnSpc>
                <a:spcPct val="105000"/>
              </a:lnSpc>
              <a:buNone/>
            </a:pPr>
            <a:endParaRPr lang="en-US" sz="920" dirty="0"/>
          </a:p>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We therefore describe it as a risk PLS does not have rather than an advantage PLS created. Framing a favourable accident of geology as a shared-value achievement is exactly the move this case asks entrants to be sceptical about, so we apply that scepticism to our own pick.</a:t>
            </a:r>
            <a:endParaRPr lang="en-US" sz="920" dirty="0"/>
          </a:p>
        </p:txBody>
      </p:sp>
      <p:sp>
        <p:nvSpPr>
          <p:cNvPr id="38" name="Shape 36"/>
          <p:cNvSpPr/>
          <p:nvPr/>
        </p:nvSpPr>
        <p:spPr>
          <a:xfrm>
            <a:off x="6208776" y="3840480"/>
            <a:ext cx="5577840" cy="1572768"/>
          </a:xfrm>
          <a:prstGeom prst="rect">
            <a:avLst/>
          </a:prstGeom>
          <a:solidFill>
            <a:srgbClr val="FBEBD9"/>
          </a:solidFill>
          <a:ln w="9525">
            <a:solidFill>
              <a:srgbClr val="E8C9A3"/>
            </a:solidFill>
            <a:prstDash val="solid"/>
          </a:ln>
        </p:spPr>
      </p:sp>
      <p:sp>
        <p:nvSpPr>
          <p:cNvPr id="39" name="Text 37"/>
          <p:cNvSpPr txBox="1"/>
          <p:nvPr/>
        </p:nvSpPr>
        <p:spPr>
          <a:xfrm>
            <a:off x="6373368" y="3968496"/>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What we would ask management</a:t>
            </a:r>
            <a:endParaRPr lang="en-US" sz="1150" dirty="0"/>
          </a:p>
        </p:txBody>
      </p:sp>
      <p:sp>
        <p:nvSpPr>
          <p:cNvPr id="40" name="Text 38"/>
          <p:cNvSpPr txBox="1"/>
          <p:nvPr/>
        </p:nvSpPr>
        <p:spPr>
          <a:xfrm>
            <a:off x="6373368" y="4297680"/>
            <a:ext cx="5248656" cy="1024128"/>
          </a:xfrm>
          <a:prstGeom prst="rect">
            <a:avLst/>
          </a:prstGeom>
          <a:noFill/>
          <a:ln/>
        </p:spPr>
        <p:txBody>
          <a:bodyPr wrap="square" lIns="0" tIns="0" rIns="0" bIns="0" rtlCol="0" anchor="t"/>
          <a:lstStyle/>
          <a:p>
            <a:pPr indent="0" marL="0">
              <a:lnSpc>
                <a:spcPct val="105000"/>
              </a:lnSpc>
              <a:buNone/>
            </a:pPr>
            <a:r>
              <a:rPr lang="en-US" sz="850" dirty="0">
                <a:solidFill>
                  <a:srgbClr val="1B2733"/>
                </a:solidFill>
                <a:latin typeface="Calibri" pitchFamily="34" charset="0"/>
                <a:ea typeface="Calibri" pitchFamily="34" charset="-122"/>
                <a:cs typeface="Calibri" pitchFamily="34" charset="-120"/>
              </a:rPr>
              <a:t>Publish water intensity in kilolitres per tonne of concentrate, and a stewardship target. Both are standard under SASB's Metals and Mining standard and neither was retrievable.</a:t>
            </a:r>
            <a:endParaRPr lang="en-US" sz="850" dirty="0"/>
          </a:p>
          <a:p>
            <a:pPr indent="0" marL="0">
              <a:lnSpc>
                <a:spcPct val="105000"/>
              </a:lnSpc>
              <a:buNone/>
            </a:pPr>
            <a:endParaRPr lang="en-US" sz="850" dirty="0"/>
          </a:p>
          <a:p>
            <a:pPr indent="0" marL="0">
              <a:lnSpc>
                <a:spcPct val="105000"/>
              </a:lnSpc>
              <a:buNone/>
            </a:pPr>
            <a:r>
              <a:rPr lang="en-US" sz="850" dirty="0">
                <a:solidFill>
                  <a:srgbClr val="1B2733"/>
                </a:solidFill>
                <a:latin typeface="Calibri" pitchFamily="34" charset="0"/>
                <a:ea typeface="Calibri" pitchFamily="34" charset="-122"/>
                <a:cs typeface="Calibri" pitchFamily="34" charset="-120"/>
              </a:rPr>
              <a:t>This matters more as P2000 doubles throughput: a plant twice the size draws roughly twice the water from the same aquifer, and the absence of a disclosed intensity metric means neither we nor the regulator can see whether efficiency is improving or simply being outrun by volume.</a:t>
            </a:r>
            <a:endParaRPr lang="en-US" sz="850" dirty="0"/>
          </a:p>
        </p:txBody>
      </p:sp>
      <p:sp>
        <p:nvSpPr>
          <p:cNvPr id="41" name="Text 39"/>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mining-technology.com Pilgangoora project profile; farmonaut.com (recycling figure, low-to-medium confidence); general Pilbara hydrogeology literature. Items marked not found were searched for and could not be verified.</a:t>
            </a:r>
            <a:endParaRPr lang="en-US" sz="720" dirty="0"/>
          </a:p>
        </p:txBody>
      </p:sp>
      <p:sp>
        <p:nvSpPr>
          <p:cNvPr id="42" name="Text 40"/>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D5</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One is undisclosed and we will not guess. The other relies on a scheme an independent review found underfunded.</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D6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5577840" cy="2103120"/>
          </a:xfrm>
          <a:prstGeom prst="rect">
            <a:avLst/>
          </a:prstGeom>
          <a:solidFill>
            <a:srgbClr val="F7E2E2"/>
          </a:solidFill>
          <a:ln w="9525">
            <a:solidFill>
              <a:srgbClr val="E5C3C3"/>
            </a:solidFill>
            <a:prstDash val="solid"/>
          </a:ln>
        </p:spPr>
      </p:sp>
      <p:sp>
        <p:nvSpPr>
          <p:cNvPr id="8" name="Text 6"/>
          <p:cNvSpPr txBox="1"/>
          <p:nvPr/>
        </p:nvSpPr>
        <p:spPr>
          <a:xfrm>
            <a:off x="576072" y="1426464"/>
            <a:ext cx="5248656" cy="292608"/>
          </a:xfrm>
          <a:prstGeom prst="rect">
            <a:avLst/>
          </a:prstGeom>
          <a:noFill/>
          <a:ln/>
        </p:spPr>
        <p:txBody>
          <a:bodyPr wrap="square" lIns="0" tIns="0" rIns="0" bIns="0" rtlCol="0" anchor="ctr"/>
          <a:lstStyle/>
          <a:p>
            <a:pPr indent="0" marL="0">
              <a:buNone/>
            </a:pPr>
            <a:r>
              <a:rPr lang="en-US" sz="1150" b="1" dirty="0">
                <a:solidFill>
                  <a:srgbClr val="A3282C"/>
                </a:solidFill>
                <a:latin typeface="Calibri" pitchFamily="34" charset="0"/>
                <a:ea typeface="Calibri" pitchFamily="34" charset="-122"/>
                <a:cs typeface="Calibri" pitchFamily="34" charset="-120"/>
              </a:rPr>
              <a:t>Tailings: not disclosed</a:t>
            </a:r>
            <a:endParaRPr lang="en-US" sz="1150" dirty="0"/>
          </a:p>
        </p:txBody>
      </p:sp>
      <p:sp>
        <p:nvSpPr>
          <p:cNvPr id="9" name="Text 7"/>
          <p:cNvSpPr txBox="1"/>
          <p:nvPr/>
        </p:nvSpPr>
        <p:spPr>
          <a:xfrm>
            <a:off x="576072" y="1755648"/>
            <a:ext cx="5248656" cy="1554480"/>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We could not establish whether Pilgangoora uses filtered or dry-stack tailings or a conventional wet storage facility, nor its conformance status with the Global Industry Standard on Tailings Management.</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Filtered tailings would be a differentiator and several competing lithium operations promote it. PLS may well use it. But an undisclosed practice cannot be underwritten, so we record an unpriced risk instead of a strength we cannot evidence.</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This matters because P2000 roughly doubles throughput, and therefore roughly doubles tailings volumes, on an asset whose tailings method we cannot see.</a:t>
            </a:r>
            <a:endParaRPr lang="en-US" sz="900" dirty="0"/>
          </a:p>
        </p:txBody>
      </p:sp>
      <p:sp>
        <p:nvSpPr>
          <p:cNvPr id="10" name="Shape 8"/>
          <p:cNvSpPr/>
          <p:nvPr/>
        </p:nvSpPr>
        <p:spPr>
          <a:xfrm>
            <a:off x="6208776" y="1298448"/>
            <a:ext cx="5577840" cy="2103120"/>
          </a:xfrm>
          <a:prstGeom prst="rect">
            <a:avLst/>
          </a:prstGeom>
          <a:solidFill>
            <a:srgbClr val="F7E2E2"/>
          </a:solidFill>
          <a:ln w="9525">
            <a:solidFill>
              <a:srgbClr val="E5C3C3"/>
            </a:solidFill>
            <a:prstDash val="solid"/>
          </a:ln>
        </p:spPr>
      </p:sp>
      <p:sp>
        <p:nvSpPr>
          <p:cNvPr id="11" name="Text 9"/>
          <p:cNvSpPr txBox="1"/>
          <p:nvPr/>
        </p:nvSpPr>
        <p:spPr>
          <a:xfrm>
            <a:off x="6373368" y="1426464"/>
            <a:ext cx="5248656" cy="292608"/>
          </a:xfrm>
          <a:prstGeom prst="rect">
            <a:avLst/>
          </a:prstGeom>
          <a:noFill/>
          <a:ln/>
        </p:spPr>
        <p:txBody>
          <a:bodyPr wrap="square" lIns="0" tIns="0" rIns="0" bIns="0" rtlCol="0" anchor="ctr"/>
          <a:lstStyle/>
          <a:p>
            <a:pPr indent="0" marL="0">
              <a:buNone/>
            </a:pPr>
            <a:r>
              <a:rPr lang="en-US" sz="1150" b="1" dirty="0">
                <a:solidFill>
                  <a:srgbClr val="A3282C"/>
                </a:solidFill>
                <a:latin typeface="Calibri" pitchFamily="34" charset="0"/>
                <a:ea typeface="Calibri" pitchFamily="34" charset="-122"/>
                <a:cs typeface="Calibri" pitchFamily="34" charset="-120"/>
              </a:rPr>
              <a:t>Biodiversity: the offset scheme is the problem</a:t>
            </a:r>
            <a:endParaRPr lang="en-US" sz="1150" dirty="0"/>
          </a:p>
        </p:txBody>
      </p:sp>
      <p:sp>
        <p:nvSpPr>
          <p:cNvPr id="12" name="Text 10"/>
          <p:cNvSpPr txBox="1"/>
          <p:nvPr/>
        </p:nvSpPr>
        <p:spPr>
          <a:xfrm>
            <a:off x="6373368" y="1755648"/>
            <a:ext cx="5248656" cy="1554480"/>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PLS operates in the area covered by the Pilbara Environmental Offsets Fund, a pooled per-hectare payment scheme established in 2018 to fund landscape-level conservation for six threatened species including the northern quoll, the greater bilby and the night parrot.</a:t>
            </a:r>
            <a:endParaRPr lang="en-US" sz="880" dirty="0"/>
          </a:p>
          <a:p>
            <a:pPr indent="0" marL="0">
              <a:lnSpc>
                <a:spcPct val="105000"/>
              </a:lnSpc>
              <a:buNone/>
            </a:pPr>
            <a:endParaRPr lang="en-US" sz="880" dirty="0"/>
          </a:p>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An independent review reported by ABC News in October 2024 found the fund's rate - A$893 to A$3,781 per hectare cleared - too low to fund adequate conservation, compounded by almost no private land in the Pilbara bioregion available for like-for-like offsets.</a:t>
            </a:r>
            <a:endParaRPr lang="en-US" sz="880" dirty="0"/>
          </a:p>
          <a:p>
            <a:pPr indent="0" marL="0">
              <a:lnSpc>
                <a:spcPct val="105000"/>
              </a:lnSpc>
              <a:buNone/>
            </a:pPr>
            <a:endParaRPr lang="en-US" sz="880" dirty="0"/>
          </a:p>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A Northern Quoll Management Plan prepared for PLS exists, which is a point in its favour.</a:t>
            </a:r>
            <a:endParaRPr lang="en-US" sz="880" dirty="0"/>
          </a:p>
        </p:txBody>
      </p:sp>
      <p:sp>
        <p:nvSpPr>
          <p:cNvPr id="13" name="Shape 11"/>
          <p:cNvSpPr/>
          <p:nvPr/>
        </p:nvSpPr>
        <p:spPr>
          <a:xfrm>
            <a:off x="411480" y="3566160"/>
            <a:ext cx="11375136" cy="1536192"/>
          </a:xfrm>
          <a:prstGeom prst="rect">
            <a:avLst/>
          </a:prstGeom>
          <a:solidFill>
            <a:srgbClr val="EEF2F6"/>
          </a:solidFill>
          <a:ln w="9525">
            <a:solidFill>
              <a:srgbClr val="D3DCE5"/>
            </a:solidFill>
            <a:prstDash val="solid"/>
          </a:ln>
        </p:spPr>
      </p:sp>
      <p:sp>
        <p:nvSpPr>
          <p:cNvPr id="14" name="Text 12"/>
          <p:cNvSpPr txBox="1"/>
          <p:nvPr/>
        </p:nvSpPr>
        <p:spPr>
          <a:xfrm>
            <a:off x="576072" y="3694176"/>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Why this is the most useful finding in our ESG work</a:t>
            </a:r>
            <a:endParaRPr lang="en-US" sz="1150" dirty="0"/>
          </a:p>
        </p:txBody>
      </p:sp>
      <p:sp>
        <p:nvSpPr>
          <p:cNvPr id="15" name="Text 13"/>
          <p:cNvSpPr txBox="1"/>
          <p:nvPr/>
        </p:nvSpPr>
        <p:spPr>
          <a:xfrm>
            <a:off x="576072" y="4023360"/>
            <a:ext cx="11045952" cy="987552"/>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This is a sector-wide structural failure, not a PLS-specific one. Every Pilbara miner pays into the same scheme, and every one of them can point to participation as evidence that biodiversity risk is managed. The independent review says it is not.</a:t>
            </a:r>
            <a:endParaRPr lang="en-US" sz="940" dirty="0"/>
          </a:p>
          <a:p>
            <a:pPr indent="0" marL="0">
              <a:lnSpc>
                <a:spcPct val="105000"/>
              </a:lnSpc>
              <a:buNone/>
            </a:pPr>
            <a:endParaRPr lang="en-US" sz="940" dirty="0"/>
          </a:p>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For an investor that has two consequences. First, no Pilbara miner - PLS included - can claim biodiversity risk is mitigated by pointing at the fund, and any deck that does so has not looked. Second, it is a live regulatory risk: a scheme found inadequate tends to be repriced, and the operator with the most hectares to clear has the most exposure. P2000 clears more hectares. We have listed it as an engagement ask rather than a valuation adjustment, because we cannot date it or size it.</a:t>
            </a:r>
            <a:endParaRPr lang="en-US" sz="940" dirty="0"/>
          </a:p>
        </p:txBody>
      </p:sp>
      <p:sp>
        <p:nvSpPr>
          <p:cNvPr id="16" name="Text 14"/>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ABC News, 'Pilbara mining offset scheme leaves threatened species short-changed, review finds', 21 October 2024; Western Australian Department of Biodiversity, Conservation and Attractions; a Northern Quoll Management Plan prepared for Pilbara Minerals by Animal Plant Mineral Pty Ltd.</a:t>
            </a:r>
            <a:endParaRPr lang="en-US" sz="720" dirty="0"/>
          </a:p>
        </p:txBody>
      </p:sp>
      <p:sp>
        <p:nvSpPr>
          <p:cNvPr id="17" name="Text 15"/>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D6</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Post-Juukan Gorge this is the single hardest constraint on Western Australian mine development, and it is the precondition for P2000.</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D7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5577840" cy="1874520"/>
          </a:xfrm>
          <a:prstGeom prst="rect">
            <a:avLst/>
          </a:prstGeom>
          <a:solidFill>
            <a:srgbClr val="F7F9FB"/>
          </a:solidFill>
          <a:ln w="9525">
            <a:solidFill>
              <a:srgbClr val="D3DCE5"/>
            </a:solidFill>
            <a:prstDash val="solid"/>
          </a:ln>
        </p:spPr>
      </p:sp>
      <p:sp>
        <p:nvSpPr>
          <p:cNvPr id="8" name="Text 6"/>
          <p:cNvSpPr txBox="1"/>
          <p:nvPr/>
        </p:nvSpPr>
        <p:spPr>
          <a:xfrm>
            <a:off x="576072" y="1426464"/>
            <a:ext cx="524865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Why it gates the growth option</a:t>
            </a:r>
            <a:endParaRPr lang="en-US" sz="1150" dirty="0"/>
          </a:p>
        </p:txBody>
      </p:sp>
      <p:sp>
        <p:nvSpPr>
          <p:cNvPr id="9" name="Text 7"/>
          <p:cNvSpPr txBox="1"/>
          <p:nvPr/>
        </p:nvSpPr>
        <p:spPr>
          <a:xfrm>
            <a:off x="576072" y="1755648"/>
            <a:ext cx="5248656" cy="1325880"/>
          </a:xfrm>
          <a:prstGeom prst="rect">
            <a:avLst/>
          </a:prstGeom>
          <a:noFill/>
          <a:ln/>
        </p:spPr>
        <p:txBody>
          <a:bodyPr wrap="square" lIns="0" tIns="0" rIns="0" bIns="0" rtlCol="0" anchor="t"/>
          <a:lstStyle/>
          <a:p>
            <a:pPr indent="0" marL="0">
              <a:lnSpc>
                <a:spcPct val="105000"/>
              </a:lnSpc>
              <a:buNone/>
            </a:pPr>
            <a:r>
              <a:rPr lang="en-US" sz="820" dirty="0">
                <a:solidFill>
                  <a:srgbClr val="1B2733"/>
                </a:solidFill>
                <a:latin typeface="Calibri" pitchFamily="34" charset="0"/>
                <a:ea typeface="Calibri" pitchFamily="34" charset="-122"/>
                <a:cs typeface="Calibri" pitchFamily="34" charset="-120"/>
              </a:rPr>
              <a:t>Rio Tinto's destruction of the Juukan Gorge rock shelters in 2020 ended the era in which Western Australian heritage approvals were a formality. It cost that company its chief executive, triggered a federal parliamentary inquiry, and reset how every Pilbara operator is expected to engage.</a:t>
            </a:r>
            <a:endParaRPr lang="en-US" sz="820" dirty="0"/>
          </a:p>
          <a:p>
            <a:pPr indent="0" marL="0">
              <a:lnSpc>
                <a:spcPct val="105000"/>
              </a:lnSpc>
              <a:buNone/>
            </a:pPr>
            <a:endParaRPr lang="en-US" sz="820" dirty="0"/>
          </a:p>
          <a:p>
            <a:pPr indent="0" marL="0">
              <a:lnSpc>
                <a:spcPct val="105000"/>
              </a:lnSpc>
              <a:buNone/>
            </a:pPr>
            <a:r>
              <a:rPr lang="en-US" sz="820" dirty="0">
                <a:solidFill>
                  <a:srgbClr val="1B2733"/>
                </a:solidFill>
                <a:latin typeface="Calibri" pitchFamily="34" charset="0"/>
                <a:ea typeface="Calibri" pitchFamily="34" charset="-122"/>
                <a:cs typeface="Calibri" pitchFamily="34" charset="-120"/>
              </a:rPr>
              <a:t>The practical consequence for an investor is that heritage is now a schedule risk with a real distribution. Our P2000 base case assumes first ore in mid-2029 on a study due in the December 2026 quarter. A heritage dispute would not stop the project; it would move it, and a two-year move on a A$2.6bn net present value costs about A$407m at our discount rate, or A$0.13 per share.</a:t>
            </a:r>
            <a:endParaRPr lang="en-US" sz="820" dirty="0"/>
          </a:p>
        </p:txBody>
      </p:sp>
      <p:sp>
        <p:nvSpPr>
          <p:cNvPr id="10" name="Shape 8"/>
          <p:cNvSpPr/>
          <p:nvPr/>
        </p:nvSpPr>
        <p:spPr>
          <a:xfrm>
            <a:off x="6208776" y="1298448"/>
            <a:ext cx="5577840" cy="1874520"/>
          </a:xfrm>
          <a:prstGeom prst="rect">
            <a:avLst/>
          </a:prstGeom>
          <a:solidFill>
            <a:srgbClr val="FBEBD9"/>
          </a:solidFill>
          <a:ln w="9525">
            <a:solidFill>
              <a:srgbClr val="E8C9A3"/>
            </a:solidFill>
            <a:prstDash val="solid"/>
          </a:ln>
        </p:spPr>
      </p:sp>
      <p:sp>
        <p:nvSpPr>
          <p:cNvPr id="11" name="Text 9"/>
          <p:cNvSpPr txBox="1"/>
          <p:nvPr/>
        </p:nvSpPr>
        <p:spPr>
          <a:xfrm>
            <a:off x="6373368" y="1426464"/>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What we could and could not verify</a:t>
            </a:r>
            <a:endParaRPr lang="en-US" sz="1150" dirty="0"/>
          </a:p>
        </p:txBody>
      </p:sp>
      <p:sp>
        <p:nvSpPr>
          <p:cNvPr id="12" name="Text 10"/>
          <p:cNvSpPr txBox="1"/>
          <p:nvPr/>
        </p:nvSpPr>
        <p:spPr>
          <a:xfrm>
            <a:off x="6373368" y="1755648"/>
            <a:ext cx="5248656" cy="1325880"/>
          </a:xfrm>
          <a:prstGeom prst="rect">
            <a:avLst/>
          </a:prstGeom>
          <a:noFill/>
          <a:ln/>
        </p:spPr>
        <p:txBody>
          <a:bodyPr wrap="square" lIns="0" tIns="0" rIns="0" bIns="0" rtlCol="0" anchor="t"/>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We were not able to confirm from our sources which Traditional Owner groups hold native title over the Pilgangoora tenements, the agreement type or its date, nor PLS's Indigenous employment percentage, Indigenous procurement spend or Reconciliation Action Plan level.</a:t>
            </a:r>
            <a:endParaRPr lang="en-US" sz="870" dirty="0"/>
          </a:p>
          <a:p>
            <a:pPr indent="0" marL="0">
              <a:lnSpc>
                <a:spcPct val="105000"/>
              </a:lnSpc>
              <a:buNone/>
            </a:pPr>
            <a:endParaRPr lang="en-US" sz="870" dirty="0"/>
          </a:p>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That is a significant gap in a shared-value assessment, and it is the reason we have valued schedule protection as an avoided delay rather than as a positive claim about relationship quality. We are pricing the absence of a disclosed problem, not the presence of a verified strength.</a:t>
            </a:r>
            <a:endParaRPr lang="en-US" sz="870" dirty="0"/>
          </a:p>
        </p:txBody>
      </p:sp>
      <p:sp>
        <p:nvSpPr>
          <p:cNvPr id="13" name="Shape 11"/>
          <p:cNvSpPr/>
          <p:nvPr/>
        </p:nvSpPr>
        <p:spPr>
          <a:xfrm>
            <a:off x="411480" y="3328416"/>
            <a:ext cx="11375136" cy="1700784"/>
          </a:xfrm>
          <a:prstGeom prst="rect">
            <a:avLst/>
          </a:prstGeom>
          <a:solidFill>
            <a:srgbClr val="EEF2F6"/>
          </a:solidFill>
          <a:ln w="9525">
            <a:solidFill>
              <a:srgbClr val="D3DCE5"/>
            </a:solidFill>
            <a:prstDash val="solid"/>
          </a:ln>
        </p:spPr>
      </p:sp>
      <p:sp>
        <p:nvSpPr>
          <p:cNvPr id="14" name="Text 12"/>
          <p:cNvSpPr txBox="1"/>
          <p:nvPr/>
        </p:nvSpPr>
        <p:spPr>
          <a:xfrm>
            <a:off x="576072" y="3456432"/>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circularity we had to confront, stated plainly</a:t>
            </a:r>
            <a:endParaRPr lang="en-US" sz="1150" dirty="0"/>
          </a:p>
        </p:txBody>
      </p:sp>
      <p:sp>
        <p:nvSpPr>
          <p:cNvPr id="15" name="Text 13"/>
          <p:cNvSpPr txBox="1"/>
          <p:nvPr/>
        </p:nvSpPr>
        <p:spPr>
          <a:xfrm>
            <a:off x="576072" y="3785616"/>
            <a:ext cx="11045952" cy="1152144"/>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There is a tension in our own argument. We claim social licence protects the P2000 schedule. We also report that the offsets regime behind environmental approvals in the region has been independently judged inadequate, and that we could not verify PLS's Indigenous engagement metrics.</a:t>
            </a:r>
            <a:endParaRPr lang="en-US" sz="940" dirty="0"/>
          </a:p>
          <a:p>
            <a:pPr indent="0" marL="0">
              <a:lnSpc>
                <a:spcPct val="105000"/>
              </a:lnSpc>
              <a:buNone/>
            </a:pPr>
            <a:endParaRPr lang="en-US" sz="940" dirty="0"/>
          </a:p>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The resolution is that these are different approvals with different failure modes. Heritage approval turns on relationships with Traditional Owners and on process; environmental offsets turn on a state scheme's pricing. PLS can be strong on the first and exposed on the second simultaneously, and on the evidence available it probably is. What we cannot do is claim the first without evidence, which is why A$0.13 per share is the smallest item in our bridge and why we have flagged the verification gap rather than filling it with an assumption.</a:t>
            </a:r>
            <a:endParaRPr lang="en-US" sz="940" dirty="0"/>
          </a:p>
        </p:txBody>
      </p:sp>
      <p:sp>
        <p:nvSpPr>
          <p:cNvPr id="16" name="Text 14"/>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team research; Australian Parliament Joint Standing Committee on Northern Australia inquiry into the destruction of Indigenous heritage sites at Juukan Gorge (2020-21). PLS-specific native title agreement details could not be verified from our environment and are recorded in the gaps register.</a:t>
            </a:r>
            <a:endParaRPr lang="en-US" sz="720" dirty="0"/>
          </a:p>
        </p:txBody>
      </p:sp>
      <p:sp>
        <p:nvSpPr>
          <p:cNvPr id="17" name="Text 15"/>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D7</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TRIFR improved 11% to 2.77 and female participation reached 21.9%. Indigenous metrics are still the gap we could not close.</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D8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3337560" cy="292608"/>
          </a:xfrm>
          <a:prstGeom prst="rect">
            <a:avLst/>
          </a:prstGeom>
          <a:solidFill>
            <a:srgbClr val="10233A"/>
          </a:solidFill>
          <a:ln/>
        </p:spPr>
      </p:sp>
      <p:sp>
        <p:nvSpPr>
          <p:cNvPr id="8" name="Text 6"/>
          <p:cNvSpPr txBox="1"/>
          <p:nvPr/>
        </p:nvSpPr>
        <p:spPr>
          <a:xfrm>
            <a:off x="475488" y="1298448"/>
            <a:ext cx="320954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p>
        </p:txBody>
      </p:sp>
      <p:sp>
        <p:nvSpPr>
          <p:cNvPr id="9" name="Shape 7"/>
          <p:cNvSpPr/>
          <p:nvPr/>
        </p:nvSpPr>
        <p:spPr>
          <a:xfrm>
            <a:off x="3749040" y="1298448"/>
            <a:ext cx="4526280" cy="292608"/>
          </a:xfrm>
          <a:prstGeom prst="rect">
            <a:avLst/>
          </a:prstGeom>
          <a:solidFill>
            <a:srgbClr val="10233A"/>
          </a:solidFill>
          <a:ln/>
        </p:spPr>
      </p:sp>
      <p:sp>
        <p:nvSpPr>
          <p:cNvPr id="10" name="Text 8"/>
          <p:cNvSpPr txBox="1"/>
          <p:nvPr/>
        </p:nvSpPr>
        <p:spPr>
          <a:xfrm>
            <a:off x="3813048" y="1298448"/>
            <a:ext cx="439826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we found</a:t>
            </a:r>
            <a:endParaRPr lang="en-US" sz="900" dirty="0"/>
          </a:p>
        </p:txBody>
      </p:sp>
      <p:sp>
        <p:nvSpPr>
          <p:cNvPr id="11" name="Shape 9"/>
          <p:cNvSpPr/>
          <p:nvPr/>
        </p:nvSpPr>
        <p:spPr>
          <a:xfrm>
            <a:off x="8275320" y="1298448"/>
            <a:ext cx="3511296" cy="292608"/>
          </a:xfrm>
          <a:prstGeom prst="rect">
            <a:avLst/>
          </a:prstGeom>
          <a:solidFill>
            <a:srgbClr val="10233A"/>
          </a:solidFill>
          <a:ln/>
        </p:spPr>
      </p:sp>
      <p:sp>
        <p:nvSpPr>
          <p:cNvPr id="12" name="Text 10"/>
          <p:cNvSpPr txBox="1"/>
          <p:nvPr/>
        </p:nvSpPr>
        <p:spPr>
          <a:xfrm>
            <a:off x="8339328" y="1298448"/>
            <a:ext cx="33832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Status</a:t>
            </a:r>
            <a:endParaRPr lang="en-US" sz="900" dirty="0"/>
          </a:p>
        </p:txBody>
      </p:sp>
      <p:sp>
        <p:nvSpPr>
          <p:cNvPr id="13" name="Shape 11"/>
          <p:cNvSpPr/>
          <p:nvPr/>
        </p:nvSpPr>
        <p:spPr>
          <a:xfrm>
            <a:off x="411480" y="1591056"/>
            <a:ext cx="3337560" cy="384048"/>
          </a:xfrm>
          <a:prstGeom prst="rect">
            <a:avLst/>
          </a:prstGeom>
          <a:solidFill>
            <a:srgbClr val="FFFFFF"/>
          </a:solidFill>
          <a:ln w="6350">
            <a:solidFill>
              <a:srgbClr val="D3DCE5"/>
            </a:solidFill>
            <a:prstDash val="solid"/>
          </a:ln>
        </p:spPr>
      </p:sp>
      <p:sp>
        <p:nvSpPr>
          <p:cNvPr id="14" name="Text 12"/>
          <p:cNvSpPr txBox="1"/>
          <p:nvPr/>
        </p:nvSpPr>
        <p:spPr>
          <a:xfrm>
            <a:off x="475488" y="1591056"/>
            <a:ext cx="3209544" cy="38404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Total recordable injury frequency rate</a:t>
            </a:r>
            <a:endParaRPr lang="en-US" sz="860" dirty="0"/>
          </a:p>
        </p:txBody>
      </p:sp>
      <p:sp>
        <p:nvSpPr>
          <p:cNvPr id="15" name="Shape 13"/>
          <p:cNvSpPr/>
          <p:nvPr/>
        </p:nvSpPr>
        <p:spPr>
          <a:xfrm>
            <a:off x="3749040" y="1591056"/>
            <a:ext cx="4526280" cy="384048"/>
          </a:xfrm>
          <a:prstGeom prst="rect">
            <a:avLst/>
          </a:prstGeom>
          <a:solidFill>
            <a:srgbClr val="FFFFFF"/>
          </a:solidFill>
          <a:ln w="6350">
            <a:solidFill>
              <a:srgbClr val="D3DCE5"/>
            </a:solidFill>
            <a:prstDash val="solid"/>
          </a:ln>
        </p:spPr>
      </p:sp>
      <p:sp>
        <p:nvSpPr>
          <p:cNvPr id="16" name="Text 14"/>
          <p:cNvSpPr txBox="1"/>
          <p:nvPr/>
        </p:nvSpPr>
        <p:spPr>
          <a:xfrm>
            <a:off x="3813048" y="1591056"/>
            <a:ext cx="4398264" cy="3840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Group TRIFR of 2.77 in FY26, an 11% improvement on the prior year. The company notes it remains focused on further improvement.</a:t>
            </a:r>
            <a:endParaRPr lang="en-US" sz="860" dirty="0"/>
          </a:p>
        </p:txBody>
      </p:sp>
      <p:sp>
        <p:nvSpPr>
          <p:cNvPr id="17" name="Shape 15"/>
          <p:cNvSpPr/>
          <p:nvPr/>
        </p:nvSpPr>
        <p:spPr>
          <a:xfrm>
            <a:off x="8275320" y="1591056"/>
            <a:ext cx="3511296" cy="384048"/>
          </a:xfrm>
          <a:prstGeom prst="rect">
            <a:avLst/>
          </a:prstGeom>
          <a:solidFill>
            <a:srgbClr val="FFFFFF"/>
          </a:solidFill>
          <a:ln w="6350">
            <a:solidFill>
              <a:srgbClr val="D3DCE5"/>
            </a:solidFill>
            <a:prstDash val="solid"/>
          </a:ln>
        </p:spPr>
      </p:sp>
      <p:sp>
        <p:nvSpPr>
          <p:cNvPr id="18" name="Text 16"/>
          <p:cNvSpPr txBox="1"/>
          <p:nvPr/>
        </p:nvSpPr>
        <p:spPr>
          <a:xfrm>
            <a:off x="8339328" y="1591056"/>
            <a:ext cx="3383280" cy="384048"/>
          </a:xfrm>
          <a:prstGeom prst="rect">
            <a:avLst/>
          </a:prstGeom>
          <a:noFill/>
          <a:ln/>
        </p:spPr>
        <p:txBody>
          <a:bodyPr wrap="square" lIns="0" tIns="0" rIns="0" bIns="0" rtlCol="0" anchor="ctr"/>
          <a:lstStyle/>
          <a:p>
            <a:pPr algn="ctr" indent="0" marL="0">
              <a:buNone/>
            </a:pPr>
            <a:r>
              <a:rPr lang="en-US" sz="860" b="1" dirty="0">
                <a:solidFill>
                  <a:srgbClr val="0E7C6B"/>
                </a:solidFill>
                <a:latin typeface="Calibri" pitchFamily="34" charset="0"/>
                <a:ea typeface="Calibri" pitchFamily="34" charset="-122"/>
                <a:cs typeface="Calibri" pitchFamily="34" charset="-120"/>
              </a:rPr>
              <a:t>Disclosed, improving</a:t>
            </a:r>
            <a:endParaRPr lang="en-US" sz="860" dirty="0"/>
          </a:p>
        </p:txBody>
      </p:sp>
      <p:sp>
        <p:nvSpPr>
          <p:cNvPr id="19" name="Shape 17"/>
          <p:cNvSpPr/>
          <p:nvPr/>
        </p:nvSpPr>
        <p:spPr>
          <a:xfrm>
            <a:off x="411480" y="1975104"/>
            <a:ext cx="3337560" cy="384048"/>
          </a:xfrm>
          <a:prstGeom prst="rect">
            <a:avLst/>
          </a:prstGeom>
          <a:solidFill>
            <a:srgbClr val="F7F9FB"/>
          </a:solidFill>
          <a:ln w="6350">
            <a:solidFill>
              <a:srgbClr val="D3DCE5"/>
            </a:solidFill>
            <a:prstDash val="solid"/>
          </a:ln>
        </p:spPr>
      </p:sp>
      <p:sp>
        <p:nvSpPr>
          <p:cNvPr id="20" name="Text 18"/>
          <p:cNvSpPr txBox="1"/>
          <p:nvPr/>
        </p:nvSpPr>
        <p:spPr>
          <a:xfrm>
            <a:off x="475488" y="1975104"/>
            <a:ext cx="3209544" cy="38404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Lost time injury frequency rate</a:t>
            </a:r>
            <a:endParaRPr lang="en-US" sz="860" dirty="0"/>
          </a:p>
        </p:txBody>
      </p:sp>
      <p:sp>
        <p:nvSpPr>
          <p:cNvPr id="21" name="Shape 19"/>
          <p:cNvSpPr/>
          <p:nvPr/>
        </p:nvSpPr>
        <p:spPr>
          <a:xfrm>
            <a:off x="3749040" y="1975104"/>
            <a:ext cx="4526280" cy="384048"/>
          </a:xfrm>
          <a:prstGeom prst="rect">
            <a:avLst/>
          </a:prstGeom>
          <a:solidFill>
            <a:srgbClr val="F7F9FB"/>
          </a:solidFill>
          <a:ln w="6350">
            <a:solidFill>
              <a:srgbClr val="D3DCE5"/>
            </a:solidFill>
            <a:prstDash val="solid"/>
          </a:ln>
        </p:spPr>
      </p:sp>
      <p:sp>
        <p:nvSpPr>
          <p:cNvPr id="22" name="Text 20"/>
          <p:cNvSpPr txBox="1"/>
          <p:nvPr/>
        </p:nvSpPr>
        <p:spPr>
          <a:xfrm>
            <a:off x="3813048" y="1975104"/>
            <a:ext cx="4398264" cy="3840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Not retrievable separately from TRIFR</a:t>
            </a:r>
            <a:endParaRPr lang="en-US" sz="860" dirty="0"/>
          </a:p>
        </p:txBody>
      </p:sp>
      <p:sp>
        <p:nvSpPr>
          <p:cNvPr id="23" name="Shape 21"/>
          <p:cNvSpPr/>
          <p:nvPr/>
        </p:nvSpPr>
        <p:spPr>
          <a:xfrm>
            <a:off x="8275320" y="1975104"/>
            <a:ext cx="3511296" cy="384048"/>
          </a:xfrm>
          <a:prstGeom prst="rect">
            <a:avLst/>
          </a:prstGeom>
          <a:solidFill>
            <a:srgbClr val="F7F9FB"/>
          </a:solidFill>
          <a:ln w="6350">
            <a:solidFill>
              <a:srgbClr val="D3DCE5"/>
            </a:solidFill>
            <a:prstDash val="solid"/>
          </a:ln>
        </p:spPr>
      </p:sp>
      <p:sp>
        <p:nvSpPr>
          <p:cNvPr id="24" name="Text 22"/>
          <p:cNvSpPr txBox="1"/>
          <p:nvPr/>
        </p:nvSpPr>
        <p:spPr>
          <a:xfrm>
            <a:off x="8339328" y="1975104"/>
            <a:ext cx="3383280" cy="384048"/>
          </a:xfrm>
          <a:prstGeom prst="rect">
            <a:avLst/>
          </a:prstGeom>
          <a:noFill/>
          <a:ln/>
        </p:spPr>
        <p:txBody>
          <a:bodyPr wrap="square" lIns="0" tIns="0" rIns="0" bIns="0" rtlCol="0" anchor="ctr"/>
          <a:lstStyle/>
          <a:p>
            <a:pPr algn="ctr" indent="0" marL="0">
              <a:buNone/>
            </a:pPr>
            <a:r>
              <a:rPr lang="en-US" sz="860" b="1" dirty="0">
                <a:solidFill>
                  <a:srgbClr val="C2610A"/>
                </a:solidFill>
                <a:latin typeface="Calibri" pitchFamily="34" charset="0"/>
                <a:ea typeface="Calibri" pitchFamily="34" charset="-122"/>
                <a:cs typeface="Calibri" pitchFamily="34" charset="-120"/>
              </a:rPr>
              <a:t>Not found</a:t>
            </a:r>
            <a:endParaRPr lang="en-US" sz="860" dirty="0"/>
          </a:p>
        </p:txBody>
      </p:sp>
      <p:sp>
        <p:nvSpPr>
          <p:cNvPr id="25" name="Shape 23"/>
          <p:cNvSpPr/>
          <p:nvPr/>
        </p:nvSpPr>
        <p:spPr>
          <a:xfrm>
            <a:off x="411480" y="2359152"/>
            <a:ext cx="3337560" cy="384048"/>
          </a:xfrm>
          <a:prstGeom prst="rect">
            <a:avLst/>
          </a:prstGeom>
          <a:solidFill>
            <a:srgbClr val="FFFFFF"/>
          </a:solidFill>
          <a:ln w="6350">
            <a:solidFill>
              <a:srgbClr val="D3DCE5"/>
            </a:solidFill>
            <a:prstDash val="solid"/>
          </a:ln>
        </p:spPr>
      </p:sp>
      <p:sp>
        <p:nvSpPr>
          <p:cNvPr id="26" name="Text 24"/>
          <p:cNvSpPr txBox="1"/>
          <p:nvPr/>
        </p:nvSpPr>
        <p:spPr>
          <a:xfrm>
            <a:off x="475488" y="2359152"/>
            <a:ext cx="3209544" cy="38404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Fatalities</a:t>
            </a:r>
            <a:endParaRPr lang="en-US" sz="860" dirty="0"/>
          </a:p>
        </p:txBody>
      </p:sp>
      <p:sp>
        <p:nvSpPr>
          <p:cNvPr id="27" name="Shape 25"/>
          <p:cNvSpPr/>
          <p:nvPr/>
        </p:nvSpPr>
        <p:spPr>
          <a:xfrm>
            <a:off x="3749040" y="2359152"/>
            <a:ext cx="4526280" cy="384048"/>
          </a:xfrm>
          <a:prstGeom prst="rect">
            <a:avLst/>
          </a:prstGeom>
          <a:solidFill>
            <a:srgbClr val="FFFFFF"/>
          </a:solidFill>
          <a:ln w="6350">
            <a:solidFill>
              <a:srgbClr val="D3DCE5"/>
            </a:solidFill>
            <a:prstDash val="solid"/>
          </a:ln>
        </p:spPr>
      </p:sp>
      <p:sp>
        <p:nvSpPr>
          <p:cNvPr id="28" name="Text 26"/>
          <p:cNvSpPr txBox="1"/>
          <p:nvPr/>
        </p:nvSpPr>
        <p:spPr>
          <a:xfrm>
            <a:off x="3813048" y="2359152"/>
            <a:ext cx="4398264" cy="3840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None reported in the sources we reviewed</a:t>
            </a:r>
            <a:endParaRPr lang="en-US" sz="860" dirty="0"/>
          </a:p>
        </p:txBody>
      </p:sp>
      <p:sp>
        <p:nvSpPr>
          <p:cNvPr id="29" name="Shape 27"/>
          <p:cNvSpPr/>
          <p:nvPr/>
        </p:nvSpPr>
        <p:spPr>
          <a:xfrm>
            <a:off x="8275320" y="2359152"/>
            <a:ext cx="3511296" cy="384048"/>
          </a:xfrm>
          <a:prstGeom prst="rect">
            <a:avLst/>
          </a:prstGeom>
          <a:solidFill>
            <a:srgbClr val="FFFFFF"/>
          </a:solidFill>
          <a:ln w="6350">
            <a:solidFill>
              <a:srgbClr val="D3DCE5"/>
            </a:solidFill>
            <a:prstDash val="solid"/>
          </a:ln>
        </p:spPr>
      </p:sp>
      <p:sp>
        <p:nvSpPr>
          <p:cNvPr id="30" name="Text 28"/>
          <p:cNvSpPr txBox="1"/>
          <p:nvPr/>
        </p:nvSpPr>
        <p:spPr>
          <a:xfrm>
            <a:off x="8339328" y="2359152"/>
            <a:ext cx="3383280" cy="384048"/>
          </a:xfrm>
          <a:prstGeom prst="rect">
            <a:avLst/>
          </a:prstGeom>
          <a:noFill/>
          <a:ln/>
        </p:spPr>
        <p:txBody>
          <a:bodyPr wrap="square" lIns="0" tIns="0" rIns="0" bIns="0" rtlCol="0" anchor="ctr"/>
          <a:lstStyle/>
          <a:p>
            <a:pPr algn="ctr" indent="0" marL="0">
              <a:buNone/>
            </a:pPr>
            <a:r>
              <a:rPr lang="en-US" sz="860" b="1" dirty="0">
                <a:solidFill>
                  <a:srgbClr val="C2610A"/>
                </a:solidFill>
                <a:latin typeface="Calibri" pitchFamily="34" charset="0"/>
                <a:ea typeface="Calibri" pitchFamily="34" charset="-122"/>
                <a:cs typeface="Calibri" pitchFamily="34" charset="-120"/>
              </a:rPr>
              <a:t>No reports found</a:t>
            </a:r>
            <a:endParaRPr lang="en-US" sz="860" dirty="0"/>
          </a:p>
        </p:txBody>
      </p:sp>
      <p:sp>
        <p:nvSpPr>
          <p:cNvPr id="31" name="Shape 29"/>
          <p:cNvSpPr/>
          <p:nvPr/>
        </p:nvSpPr>
        <p:spPr>
          <a:xfrm>
            <a:off x="411480" y="2743200"/>
            <a:ext cx="3337560" cy="384048"/>
          </a:xfrm>
          <a:prstGeom prst="rect">
            <a:avLst/>
          </a:prstGeom>
          <a:solidFill>
            <a:srgbClr val="F7F9FB"/>
          </a:solidFill>
          <a:ln w="6350">
            <a:solidFill>
              <a:srgbClr val="D3DCE5"/>
            </a:solidFill>
            <a:prstDash val="solid"/>
          </a:ln>
        </p:spPr>
      </p:sp>
      <p:sp>
        <p:nvSpPr>
          <p:cNvPr id="32" name="Text 30"/>
          <p:cNvSpPr txBox="1"/>
          <p:nvPr/>
        </p:nvSpPr>
        <p:spPr>
          <a:xfrm>
            <a:off x="475488" y="2743200"/>
            <a:ext cx="3209544" cy="38404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Environmental incidents</a:t>
            </a:r>
            <a:endParaRPr lang="en-US" sz="860" dirty="0"/>
          </a:p>
        </p:txBody>
      </p:sp>
      <p:sp>
        <p:nvSpPr>
          <p:cNvPr id="33" name="Shape 31"/>
          <p:cNvSpPr/>
          <p:nvPr/>
        </p:nvSpPr>
        <p:spPr>
          <a:xfrm>
            <a:off x="3749040" y="2743200"/>
            <a:ext cx="4526280" cy="384048"/>
          </a:xfrm>
          <a:prstGeom prst="rect">
            <a:avLst/>
          </a:prstGeom>
          <a:solidFill>
            <a:srgbClr val="F7F9FB"/>
          </a:solidFill>
          <a:ln w="6350">
            <a:solidFill>
              <a:srgbClr val="D3DCE5"/>
            </a:solidFill>
            <a:prstDash val="solid"/>
          </a:ln>
        </p:spPr>
      </p:sp>
      <p:sp>
        <p:nvSpPr>
          <p:cNvPr id="34" name="Text 32"/>
          <p:cNvSpPr txBox="1"/>
          <p:nvPr/>
        </p:nvSpPr>
        <p:spPr>
          <a:xfrm>
            <a:off x="3813048" y="2743200"/>
            <a:ext cx="4398264" cy="3840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Zero major environmental, water or waste incidents in FY26</a:t>
            </a:r>
            <a:endParaRPr lang="en-US" sz="860" dirty="0"/>
          </a:p>
        </p:txBody>
      </p:sp>
      <p:sp>
        <p:nvSpPr>
          <p:cNvPr id="35" name="Shape 33"/>
          <p:cNvSpPr/>
          <p:nvPr/>
        </p:nvSpPr>
        <p:spPr>
          <a:xfrm>
            <a:off x="8275320" y="2743200"/>
            <a:ext cx="3511296" cy="384048"/>
          </a:xfrm>
          <a:prstGeom prst="rect">
            <a:avLst/>
          </a:prstGeom>
          <a:solidFill>
            <a:srgbClr val="F7F9FB"/>
          </a:solidFill>
          <a:ln w="6350">
            <a:solidFill>
              <a:srgbClr val="D3DCE5"/>
            </a:solidFill>
            <a:prstDash val="solid"/>
          </a:ln>
        </p:spPr>
      </p:sp>
      <p:sp>
        <p:nvSpPr>
          <p:cNvPr id="36" name="Text 34"/>
          <p:cNvSpPr txBox="1"/>
          <p:nvPr/>
        </p:nvSpPr>
        <p:spPr>
          <a:xfrm>
            <a:off x="8339328" y="2743200"/>
            <a:ext cx="3383280" cy="384048"/>
          </a:xfrm>
          <a:prstGeom prst="rect">
            <a:avLst/>
          </a:prstGeom>
          <a:noFill/>
          <a:ln/>
        </p:spPr>
        <p:txBody>
          <a:bodyPr wrap="square" lIns="0" tIns="0" rIns="0" bIns="0" rtlCol="0" anchor="ctr"/>
          <a:lstStyle/>
          <a:p>
            <a:pPr algn="ctr" indent="0" marL="0">
              <a:buNone/>
            </a:pPr>
            <a:r>
              <a:rPr lang="en-US" sz="860" b="1" dirty="0">
                <a:solidFill>
                  <a:srgbClr val="0E7C6B"/>
                </a:solidFill>
                <a:latin typeface="Calibri" pitchFamily="34" charset="0"/>
                <a:ea typeface="Calibri" pitchFamily="34" charset="-122"/>
                <a:cs typeface="Calibri" pitchFamily="34" charset="-120"/>
              </a:rPr>
              <a:t>Disclosed</a:t>
            </a:r>
            <a:endParaRPr lang="en-US" sz="860" dirty="0"/>
          </a:p>
        </p:txBody>
      </p:sp>
      <p:sp>
        <p:nvSpPr>
          <p:cNvPr id="37" name="Shape 35"/>
          <p:cNvSpPr/>
          <p:nvPr/>
        </p:nvSpPr>
        <p:spPr>
          <a:xfrm>
            <a:off x="411480" y="3127248"/>
            <a:ext cx="3337560" cy="384048"/>
          </a:xfrm>
          <a:prstGeom prst="rect">
            <a:avLst/>
          </a:prstGeom>
          <a:solidFill>
            <a:srgbClr val="FFFFFF"/>
          </a:solidFill>
          <a:ln w="6350">
            <a:solidFill>
              <a:srgbClr val="D3DCE5"/>
            </a:solidFill>
            <a:prstDash val="solid"/>
          </a:ln>
        </p:spPr>
      </p:sp>
      <p:sp>
        <p:nvSpPr>
          <p:cNvPr id="38" name="Text 36"/>
          <p:cNvSpPr txBox="1"/>
          <p:nvPr/>
        </p:nvSpPr>
        <p:spPr>
          <a:xfrm>
            <a:off x="475488" y="3127248"/>
            <a:ext cx="3209544" cy="38404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Female participation</a:t>
            </a:r>
            <a:endParaRPr lang="en-US" sz="860" dirty="0"/>
          </a:p>
        </p:txBody>
      </p:sp>
      <p:sp>
        <p:nvSpPr>
          <p:cNvPr id="39" name="Shape 37"/>
          <p:cNvSpPr/>
          <p:nvPr/>
        </p:nvSpPr>
        <p:spPr>
          <a:xfrm>
            <a:off x="3749040" y="3127248"/>
            <a:ext cx="4526280" cy="384048"/>
          </a:xfrm>
          <a:prstGeom prst="rect">
            <a:avLst/>
          </a:prstGeom>
          <a:solidFill>
            <a:srgbClr val="FFFFFF"/>
          </a:solidFill>
          <a:ln w="6350">
            <a:solidFill>
              <a:srgbClr val="D3DCE5"/>
            </a:solidFill>
            <a:prstDash val="solid"/>
          </a:ln>
        </p:spPr>
      </p:sp>
      <p:sp>
        <p:nvSpPr>
          <p:cNvPr id="40" name="Text 38"/>
          <p:cNvSpPr txBox="1"/>
          <p:nvPr/>
        </p:nvSpPr>
        <p:spPr>
          <a:xfrm>
            <a:off x="3813048" y="3127248"/>
            <a:ext cx="4398264" cy="3840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21.9% in FY26, up on the prior year. Workforce engagement scores also improved.</a:t>
            </a:r>
            <a:endParaRPr lang="en-US" sz="860" dirty="0"/>
          </a:p>
        </p:txBody>
      </p:sp>
      <p:sp>
        <p:nvSpPr>
          <p:cNvPr id="41" name="Shape 39"/>
          <p:cNvSpPr/>
          <p:nvPr/>
        </p:nvSpPr>
        <p:spPr>
          <a:xfrm>
            <a:off x="8275320" y="3127248"/>
            <a:ext cx="3511296" cy="384048"/>
          </a:xfrm>
          <a:prstGeom prst="rect">
            <a:avLst/>
          </a:prstGeom>
          <a:solidFill>
            <a:srgbClr val="FFFFFF"/>
          </a:solidFill>
          <a:ln w="6350">
            <a:solidFill>
              <a:srgbClr val="D3DCE5"/>
            </a:solidFill>
            <a:prstDash val="solid"/>
          </a:ln>
        </p:spPr>
      </p:sp>
      <p:sp>
        <p:nvSpPr>
          <p:cNvPr id="42" name="Text 40"/>
          <p:cNvSpPr txBox="1"/>
          <p:nvPr/>
        </p:nvSpPr>
        <p:spPr>
          <a:xfrm>
            <a:off x="8339328" y="3127248"/>
            <a:ext cx="3383280" cy="384048"/>
          </a:xfrm>
          <a:prstGeom prst="rect">
            <a:avLst/>
          </a:prstGeom>
          <a:noFill/>
          <a:ln/>
        </p:spPr>
        <p:txBody>
          <a:bodyPr wrap="square" lIns="0" tIns="0" rIns="0" bIns="0" rtlCol="0" anchor="ctr"/>
          <a:lstStyle/>
          <a:p>
            <a:pPr algn="ctr" indent="0" marL="0">
              <a:buNone/>
            </a:pPr>
            <a:r>
              <a:rPr lang="en-US" sz="860" b="1" dirty="0">
                <a:solidFill>
                  <a:srgbClr val="0E7C6B"/>
                </a:solidFill>
                <a:latin typeface="Calibri" pitchFamily="34" charset="0"/>
                <a:ea typeface="Calibri" pitchFamily="34" charset="-122"/>
                <a:cs typeface="Calibri" pitchFamily="34" charset="-120"/>
              </a:rPr>
              <a:t>Disclosed</a:t>
            </a:r>
            <a:endParaRPr lang="en-US" sz="860" dirty="0"/>
          </a:p>
        </p:txBody>
      </p:sp>
      <p:sp>
        <p:nvSpPr>
          <p:cNvPr id="43" name="Shape 41"/>
          <p:cNvSpPr/>
          <p:nvPr/>
        </p:nvSpPr>
        <p:spPr>
          <a:xfrm>
            <a:off x="411480" y="3511296"/>
            <a:ext cx="3337560" cy="384048"/>
          </a:xfrm>
          <a:prstGeom prst="rect">
            <a:avLst/>
          </a:prstGeom>
          <a:solidFill>
            <a:srgbClr val="F7F9FB"/>
          </a:solidFill>
          <a:ln w="6350">
            <a:solidFill>
              <a:srgbClr val="D3DCE5"/>
            </a:solidFill>
            <a:prstDash val="solid"/>
          </a:ln>
        </p:spPr>
      </p:sp>
      <p:sp>
        <p:nvSpPr>
          <p:cNvPr id="44" name="Text 42"/>
          <p:cNvSpPr txBox="1"/>
          <p:nvPr/>
        </p:nvSpPr>
        <p:spPr>
          <a:xfrm>
            <a:off x="475488" y="3511296"/>
            <a:ext cx="3209544" cy="38404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Board gender composition</a:t>
            </a:r>
            <a:endParaRPr lang="en-US" sz="860" dirty="0"/>
          </a:p>
        </p:txBody>
      </p:sp>
      <p:sp>
        <p:nvSpPr>
          <p:cNvPr id="45" name="Shape 43"/>
          <p:cNvSpPr/>
          <p:nvPr/>
        </p:nvSpPr>
        <p:spPr>
          <a:xfrm>
            <a:off x="3749040" y="3511296"/>
            <a:ext cx="4526280" cy="384048"/>
          </a:xfrm>
          <a:prstGeom prst="rect">
            <a:avLst/>
          </a:prstGeom>
          <a:solidFill>
            <a:srgbClr val="F7F9FB"/>
          </a:solidFill>
          <a:ln w="6350">
            <a:solidFill>
              <a:srgbClr val="D3DCE5"/>
            </a:solidFill>
            <a:prstDash val="solid"/>
          </a:ln>
        </p:spPr>
      </p:sp>
      <p:sp>
        <p:nvSpPr>
          <p:cNvPr id="46" name="Text 44"/>
          <p:cNvSpPr txBox="1"/>
          <p:nvPr/>
        </p:nvSpPr>
        <p:spPr>
          <a:xfrm>
            <a:off x="3813048" y="3511296"/>
            <a:ext cx="4398264" cy="3840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One of the five directors we identified is the Chair, Kathleen Conlon; a second, Sally-Anne Layman, chairs the Sustainability Committee</a:t>
            </a:r>
            <a:endParaRPr lang="en-US" sz="860" dirty="0"/>
          </a:p>
        </p:txBody>
      </p:sp>
      <p:sp>
        <p:nvSpPr>
          <p:cNvPr id="47" name="Shape 45"/>
          <p:cNvSpPr/>
          <p:nvPr/>
        </p:nvSpPr>
        <p:spPr>
          <a:xfrm>
            <a:off x="8275320" y="3511296"/>
            <a:ext cx="3511296" cy="384048"/>
          </a:xfrm>
          <a:prstGeom prst="rect">
            <a:avLst/>
          </a:prstGeom>
          <a:solidFill>
            <a:srgbClr val="F7F9FB"/>
          </a:solidFill>
          <a:ln w="6350">
            <a:solidFill>
              <a:srgbClr val="D3DCE5"/>
            </a:solidFill>
            <a:prstDash val="solid"/>
          </a:ln>
        </p:spPr>
      </p:sp>
      <p:sp>
        <p:nvSpPr>
          <p:cNvPr id="48" name="Text 46"/>
          <p:cNvSpPr txBox="1"/>
          <p:nvPr/>
        </p:nvSpPr>
        <p:spPr>
          <a:xfrm>
            <a:off x="8339328" y="3511296"/>
            <a:ext cx="3383280" cy="384048"/>
          </a:xfrm>
          <a:prstGeom prst="rect">
            <a:avLst/>
          </a:prstGeom>
          <a:noFill/>
          <a:ln/>
        </p:spPr>
        <p:txBody>
          <a:bodyPr wrap="square" lIns="0" tIns="0" rIns="0" bIns="0" rtlCol="0" anchor="ctr"/>
          <a:lstStyle/>
          <a:p>
            <a:pPr algn="ctr" indent="0" marL="0">
              <a:buNone/>
            </a:pPr>
            <a:r>
              <a:rPr lang="en-US" sz="860" b="1" dirty="0">
                <a:solidFill>
                  <a:srgbClr val="C2610A"/>
                </a:solidFill>
                <a:latin typeface="Calibri" pitchFamily="34" charset="0"/>
                <a:ea typeface="Calibri" pitchFamily="34" charset="-122"/>
                <a:cs typeface="Calibri" pitchFamily="34" charset="-120"/>
              </a:rPr>
              <a:t>Partial</a:t>
            </a:r>
            <a:endParaRPr lang="en-US" sz="860" dirty="0"/>
          </a:p>
        </p:txBody>
      </p:sp>
      <p:sp>
        <p:nvSpPr>
          <p:cNvPr id="49" name="Shape 47"/>
          <p:cNvSpPr/>
          <p:nvPr/>
        </p:nvSpPr>
        <p:spPr>
          <a:xfrm>
            <a:off x="411480" y="3895344"/>
            <a:ext cx="3337560" cy="384048"/>
          </a:xfrm>
          <a:prstGeom prst="rect">
            <a:avLst/>
          </a:prstGeom>
          <a:solidFill>
            <a:srgbClr val="FFFFFF"/>
          </a:solidFill>
          <a:ln w="6350">
            <a:solidFill>
              <a:srgbClr val="D3DCE5"/>
            </a:solidFill>
            <a:prstDash val="solid"/>
          </a:ln>
        </p:spPr>
      </p:sp>
      <p:sp>
        <p:nvSpPr>
          <p:cNvPr id="50" name="Text 48"/>
          <p:cNvSpPr txBox="1"/>
          <p:nvPr/>
        </p:nvSpPr>
        <p:spPr>
          <a:xfrm>
            <a:off x="475488" y="3895344"/>
            <a:ext cx="3209544" cy="38404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Psychosocial safety</a:t>
            </a:r>
            <a:endParaRPr lang="en-US" sz="860" dirty="0"/>
          </a:p>
        </p:txBody>
      </p:sp>
      <p:sp>
        <p:nvSpPr>
          <p:cNvPr id="51" name="Shape 49"/>
          <p:cNvSpPr/>
          <p:nvPr/>
        </p:nvSpPr>
        <p:spPr>
          <a:xfrm>
            <a:off x="3749040" y="3895344"/>
            <a:ext cx="4526280" cy="384048"/>
          </a:xfrm>
          <a:prstGeom prst="rect">
            <a:avLst/>
          </a:prstGeom>
          <a:solidFill>
            <a:srgbClr val="FFFFFF"/>
          </a:solidFill>
          <a:ln w="6350">
            <a:solidFill>
              <a:srgbClr val="D3DCE5"/>
            </a:solidFill>
            <a:prstDash val="solid"/>
          </a:ln>
        </p:spPr>
      </p:sp>
      <p:sp>
        <p:nvSpPr>
          <p:cNvPr id="52" name="Text 50"/>
          <p:cNvSpPr txBox="1"/>
          <p:nvPr/>
        </p:nvSpPr>
        <p:spPr>
          <a:xfrm>
            <a:off x="3813048" y="3895344"/>
            <a:ext cx="4398264" cy="3840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No PLS-specific response to the WA parliamentary inquiry into sexual harassment in the FIFO mining sector was retrievable</a:t>
            </a:r>
            <a:endParaRPr lang="en-US" sz="860" dirty="0"/>
          </a:p>
        </p:txBody>
      </p:sp>
      <p:sp>
        <p:nvSpPr>
          <p:cNvPr id="53" name="Shape 51"/>
          <p:cNvSpPr/>
          <p:nvPr/>
        </p:nvSpPr>
        <p:spPr>
          <a:xfrm>
            <a:off x="8275320" y="3895344"/>
            <a:ext cx="3511296" cy="384048"/>
          </a:xfrm>
          <a:prstGeom prst="rect">
            <a:avLst/>
          </a:prstGeom>
          <a:solidFill>
            <a:srgbClr val="FFFFFF"/>
          </a:solidFill>
          <a:ln w="6350">
            <a:solidFill>
              <a:srgbClr val="D3DCE5"/>
            </a:solidFill>
            <a:prstDash val="solid"/>
          </a:ln>
        </p:spPr>
      </p:sp>
      <p:sp>
        <p:nvSpPr>
          <p:cNvPr id="54" name="Text 52"/>
          <p:cNvSpPr txBox="1"/>
          <p:nvPr/>
        </p:nvSpPr>
        <p:spPr>
          <a:xfrm>
            <a:off x="8339328" y="3895344"/>
            <a:ext cx="3383280" cy="384048"/>
          </a:xfrm>
          <a:prstGeom prst="rect">
            <a:avLst/>
          </a:prstGeom>
          <a:noFill/>
          <a:ln/>
        </p:spPr>
        <p:txBody>
          <a:bodyPr wrap="square" lIns="0" tIns="0" rIns="0" bIns="0" rtlCol="0" anchor="ctr"/>
          <a:lstStyle/>
          <a:p>
            <a:pPr algn="ctr" indent="0" marL="0">
              <a:buNone/>
            </a:pPr>
            <a:r>
              <a:rPr lang="en-US" sz="860" b="1" dirty="0">
                <a:solidFill>
                  <a:srgbClr val="A3282C"/>
                </a:solidFill>
                <a:latin typeface="Calibri" pitchFamily="34" charset="0"/>
                <a:ea typeface="Calibri" pitchFamily="34" charset="-122"/>
                <a:cs typeface="Calibri" pitchFamily="34" charset="-120"/>
              </a:rPr>
              <a:t>Not found</a:t>
            </a:r>
            <a:endParaRPr lang="en-US" sz="860" dirty="0"/>
          </a:p>
        </p:txBody>
      </p:sp>
      <p:sp>
        <p:nvSpPr>
          <p:cNvPr id="55" name="Shape 53"/>
          <p:cNvSpPr/>
          <p:nvPr/>
        </p:nvSpPr>
        <p:spPr>
          <a:xfrm>
            <a:off x="411480" y="4279392"/>
            <a:ext cx="3337560" cy="384048"/>
          </a:xfrm>
          <a:prstGeom prst="rect">
            <a:avLst/>
          </a:prstGeom>
          <a:solidFill>
            <a:srgbClr val="F7F9FB"/>
          </a:solidFill>
          <a:ln w="6350">
            <a:solidFill>
              <a:srgbClr val="D3DCE5"/>
            </a:solidFill>
            <a:prstDash val="solid"/>
          </a:ln>
        </p:spPr>
      </p:sp>
      <p:sp>
        <p:nvSpPr>
          <p:cNvPr id="56" name="Text 54"/>
          <p:cNvSpPr txBox="1"/>
          <p:nvPr/>
        </p:nvSpPr>
        <p:spPr>
          <a:xfrm>
            <a:off x="475488" y="4279392"/>
            <a:ext cx="3209544" cy="38404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Community investment</a:t>
            </a:r>
            <a:endParaRPr lang="en-US" sz="860" dirty="0"/>
          </a:p>
        </p:txBody>
      </p:sp>
      <p:sp>
        <p:nvSpPr>
          <p:cNvPr id="57" name="Shape 55"/>
          <p:cNvSpPr/>
          <p:nvPr/>
        </p:nvSpPr>
        <p:spPr>
          <a:xfrm>
            <a:off x="3749040" y="4279392"/>
            <a:ext cx="4526280" cy="384048"/>
          </a:xfrm>
          <a:prstGeom prst="rect">
            <a:avLst/>
          </a:prstGeom>
          <a:solidFill>
            <a:srgbClr val="F7F9FB"/>
          </a:solidFill>
          <a:ln w="6350">
            <a:solidFill>
              <a:srgbClr val="D3DCE5"/>
            </a:solidFill>
            <a:prstDash val="solid"/>
          </a:ln>
        </p:spPr>
      </p:sp>
      <p:sp>
        <p:nvSpPr>
          <p:cNvPr id="58" name="Text 56"/>
          <p:cNvSpPr txBox="1"/>
          <p:nvPr/>
        </p:nvSpPr>
        <p:spPr>
          <a:xfrm>
            <a:off x="3813048" y="4279392"/>
            <a:ext cx="4398264" cy="384048"/>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Not retrievable as a dollar figure</a:t>
            </a:r>
            <a:endParaRPr lang="en-US" sz="860" dirty="0"/>
          </a:p>
        </p:txBody>
      </p:sp>
      <p:sp>
        <p:nvSpPr>
          <p:cNvPr id="59" name="Shape 57"/>
          <p:cNvSpPr/>
          <p:nvPr/>
        </p:nvSpPr>
        <p:spPr>
          <a:xfrm>
            <a:off x="8275320" y="4279392"/>
            <a:ext cx="3511296" cy="384048"/>
          </a:xfrm>
          <a:prstGeom prst="rect">
            <a:avLst/>
          </a:prstGeom>
          <a:solidFill>
            <a:srgbClr val="F7F9FB"/>
          </a:solidFill>
          <a:ln w="6350">
            <a:solidFill>
              <a:srgbClr val="D3DCE5"/>
            </a:solidFill>
            <a:prstDash val="solid"/>
          </a:ln>
        </p:spPr>
      </p:sp>
      <p:sp>
        <p:nvSpPr>
          <p:cNvPr id="60" name="Text 58"/>
          <p:cNvSpPr txBox="1"/>
          <p:nvPr/>
        </p:nvSpPr>
        <p:spPr>
          <a:xfrm>
            <a:off x="8339328" y="4279392"/>
            <a:ext cx="3383280" cy="384048"/>
          </a:xfrm>
          <a:prstGeom prst="rect">
            <a:avLst/>
          </a:prstGeom>
          <a:noFill/>
          <a:ln/>
        </p:spPr>
        <p:txBody>
          <a:bodyPr wrap="square" lIns="0" tIns="0" rIns="0" bIns="0" rtlCol="0" anchor="ctr"/>
          <a:lstStyle/>
          <a:p>
            <a:pPr algn="ctr" indent="0" marL="0">
              <a:buNone/>
            </a:pPr>
            <a:r>
              <a:rPr lang="en-US" sz="860" b="1" dirty="0">
                <a:solidFill>
                  <a:srgbClr val="A3282C"/>
                </a:solidFill>
                <a:latin typeface="Calibri" pitchFamily="34" charset="0"/>
                <a:ea typeface="Calibri" pitchFamily="34" charset="-122"/>
                <a:cs typeface="Calibri" pitchFamily="34" charset="-120"/>
              </a:rPr>
              <a:t>Not found</a:t>
            </a:r>
            <a:endParaRPr lang="en-US" sz="860" dirty="0"/>
          </a:p>
        </p:txBody>
      </p:sp>
      <p:sp>
        <p:nvSpPr>
          <p:cNvPr id="61" name="Shape 59"/>
          <p:cNvSpPr/>
          <p:nvPr/>
        </p:nvSpPr>
        <p:spPr>
          <a:xfrm>
            <a:off x="411480" y="4727448"/>
            <a:ext cx="11375136" cy="1207008"/>
          </a:xfrm>
          <a:prstGeom prst="rect">
            <a:avLst/>
          </a:prstGeom>
          <a:solidFill>
            <a:srgbClr val="EEF2F6"/>
          </a:solidFill>
          <a:ln w="9525">
            <a:solidFill>
              <a:srgbClr val="D3DCE5"/>
            </a:solidFill>
            <a:prstDash val="solid"/>
          </a:ln>
        </p:spPr>
      </p:sp>
      <p:sp>
        <p:nvSpPr>
          <p:cNvPr id="62" name="Text 60"/>
          <p:cNvSpPr txBox="1"/>
          <p:nvPr/>
        </p:nvSpPr>
        <p:spPr>
          <a:xfrm>
            <a:off x="576072" y="4855464"/>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What the safety number tells us about execution risk</a:t>
            </a:r>
            <a:endParaRPr lang="en-US" sz="1150" dirty="0"/>
          </a:p>
        </p:txBody>
      </p:sp>
      <p:sp>
        <p:nvSpPr>
          <p:cNvPr id="63" name="Text 61"/>
          <p:cNvSpPr txBox="1"/>
          <p:nvPr/>
        </p:nvSpPr>
        <p:spPr>
          <a:xfrm>
            <a:off x="576072" y="5184648"/>
            <a:ext cx="11045952" cy="658368"/>
          </a:xfrm>
          <a:prstGeom prst="rect">
            <a:avLst/>
          </a:prstGeom>
          <a:noFill/>
          <a:ln/>
        </p:spPr>
        <p:txBody>
          <a:bodyPr wrap="square" lIns="0" tIns="0" rIns="0" bIns="0" rtlCol="0" anchor="t"/>
          <a:lstStyle/>
          <a:p>
            <a:pPr indent="0" marL="0">
              <a:lnSpc>
                <a:spcPct val="105000"/>
              </a:lnSpc>
              <a:buNone/>
            </a:pPr>
            <a:r>
              <a:rPr lang="en-US" sz="760" dirty="0">
                <a:solidFill>
                  <a:srgbClr val="1B2733"/>
                </a:solidFill>
                <a:latin typeface="Calibri" pitchFamily="34" charset="0"/>
                <a:ea typeface="Calibri" pitchFamily="34" charset="-122"/>
                <a:cs typeface="Calibri" pitchFamily="34" charset="-120"/>
              </a:rPr>
              <a:t>A group TRIFR of 2.77, improving 11% while volumes rose 17% and a mothballed plant was restarted, is the single most useful operational datapoint on this page. Safety performance under volume growth is a reasonable proxy for whether an organisation can execute a doubling of throughput without breaking something, and P2000 is exactly that.</a:t>
            </a:r>
            <a:endParaRPr lang="en-US" sz="760" dirty="0"/>
          </a:p>
          <a:p>
            <a:pPr indent="0" marL="0">
              <a:lnSpc>
                <a:spcPct val="105000"/>
              </a:lnSpc>
              <a:buNone/>
            </a:pPr>
            <a:endParaRPr lang="en-US" sz="760" dirty="0"/>
          </a:p>
          <a:p>
            <a:pPr indent="0" marL="0">
              <a:lnSpc>
                <a:spcPct val="105000"/>
              </a:lnSpc>
              <a:buNone/>
            </a:pPr>
            <a:r>
              <a:rPr lang="en-US" sz="760" dirty="0">
                <a:solidFill>
                  <a:srgbClr val="1B2733"/>
                </a:solidFill>
                <a:latin typeface="Calibri" pitchFamily="34" charset="0"/>
                <a:ea typeface="Calibri" pitchFamily="34" charset="-122"/>
                <a:cs typeface="Calibri" pitchFamily="34" charset="-120"/>
              </a:rPr>
              <a:t>The gap we could not close is Indigenous employment and procurement spend. For a Pilbara operator whose growth depends on heritage approvals, that is the disclosure we would most want and the one we still do not have.</a:t>
            </a:r>
            <a:endParaRPr lang="en-US" sz="760" dirty="0"/>
          </a:p>
        </p:txBody>
      </p:sp>
      <p:sp>
        <p:nvSpPr>
          <p:cNvPr id="64" name="Text 62"/>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team research. Every item marked not found was searched for and could not be verified from the environment available to us. See the gaps register at F5.</a:t>
            </a:r>
            <a:endParaRPr lang="en-US" sz="720" dirty="0"/>
          </a:p>
        </p:txBody>
      </p:sp>
      <p:sp>
        <p:nvSpPr>
          <p:cNvPr id="65" name="Text 63"/>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D8</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The structure is better than the disclosure. A standing board Sustainability Committee is a real signal; the absence of visible ESG-linked pay is a real gap.</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D9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971800" cy="292608"/>
          </a:xfrm>
          <a:prstGeom prst="rect">
            <a:avLst/>
          </a:prstGeom>
          <a:solidFill>
            <a:srgbClr val="10233A"/>
          </a:solidFill>
          <a:ln/>
        </p:spPr>
      </p:sp>
      <p:sp>
        <p:nvSpPr>
          <p:cNvPr id="8" name="Text 6"/>
          <p:cNvSpPr txBox="1"/>
          <p:nvPr/>
        </p:nvSpPr>
        <p:spPr>
          <a:xfrm>
            <a:off x="475488" y="1298448"/>
            <a:ext cx="284378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Element</a:t>
            </a:r>
            <a:endParaRPr lang="en-US" sz="900" dirty="0"/>
          </a:p>
        </p:txBody>
      </p:sp>
      <p:sp>
        <p:nvSpPr>
          <p:cNvPr id="9" name="Shape 7"/>
          <p:cNvSpPr/>
          <p:nvPr/>
        </p:nvSpPr>
        <p:spPr>
          <a:xfrm>
            <a:off x="3383280" y="1298448"/>
            <a:ext cx="4892040" cy="292608"/>
          </a:xfrm>
          <a:prstGeom prst="rect">
            <a:avLst/>
          </a:prstGeom>
          <a:solidFill>
            <a:srgbClr val="10233A"/>
          </a:solidFill>
          <a:ln/>
        </p:spPr>
      </p:sp>
      <p:sp>
        <p:nvSpPr>
          <p:cNvPr id="10" name="Text 8"/>
          <p:cNvSpPr txBox="1"/>
          <p:nvPr/>
        </p:nvSpPr>
        <p:spPr>
          <a:xfrm>
            <a:off x="3447288" y="1298448"/>
            <a:ext cx="47640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we found</a:t>
            </a:r>
            <a:endParaRPr lang="en-US" sz="900" dirty="0"/>
          </a:p>
        </p:txBody>
      </p:sp>
      <p:sp>
        <p:nvSpPr>
          <p:cNvPr id="11" name="Shape 9"/>
          <p:cNvSpPr/>
          <p:nvPr/>
        </p:nvSpPr>
        <p:spPr>
          <a:xfrm>
            <a:off x="8275320" y="1298448"/>
            <a:ext cx="3511296" cy="292608"/>
          </a:xfrm>
          <a:prstGeom prst="rect">
            <a:avLst/>
          </a:prstGeom>
          <a:solidFill>
            <a:srgbClr val="10233A"/>
          </a:solidFill>
          <a:ln/>
        </p:spPr>
      </p:sp>
      <p:sp>
        <p:nvSpPr>
          <p:cNvPr id="12" name="Text 10"/>
          <p:cNvSpPr txBox="1"/>
          <p:nvPr/>
        </p:nvSpPr>
        <p:spPr>
          <a:xfrm>
            <a:off x="8339328" y="1298448"/>
            <a:ext cx="338328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Assessment</a:t>
            </a:r>
            <a:endParaRPr lang="en-US" sz="900" dirty="0"/>
          </a:p>
        </p:txBody>
      </p:sp>
      <p:sp>
        <p:nvSpPr>
          <p:cNvPr id="13" name="Shape 11"/>
          <p:cNvSpPr/>
          <p:nvPr/>
        </p:nvSpPr>
        <p:spPr>
          <a:xfrm>
            <a:off x="411480" y="1591056"/>
            <a:ext cx="2971800" cy="434340"/>
          </a:xfrm>
          <a:prstGeom prst="rect">
            <a:avLst/>
          </a:prstGeom>
          <a:solidFill>
            <a:srgbClr val="FFFFFF"/>
          </a:solidFill>
          <a:ln w="6350">
            <a:solidFill>
              <a:srgbClr val="D3DCE5"/>
            </a:solidFill>
            <a:prstDash val="solid"/>
          </a:ln>
        </p:spPr>
      </p:sp>
      <p:sp>
        <p:nvSpPr>
          <p:cNvPr id="14" name="Text 12"/>
          <p:cNvSpPr txBox="1"/>
          <p:nvPr/>
        </p:nvSpPr>
        <p:spPr>
          <a:xfrm>
            <a:off x="475488" y="1591056"/>
            <a:ext cx="284378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Board Sustainability Committee</a:t>
            </a:r>
            <a:endParaRPr lang="en-US" sz="860" dirty="0"/>
          </a:p>
        </p:txBody>
      </p:sp>
      <p:sp>
        <p:nvSpPr>
          <p:cNvPr id="15" name="Shape 13"/>
          <p:cNvSpPr/>
          <p:nvPr/>
        </p:nvSpPr>
        <p:spPr>
          <a:xfrm>
            <a:off x="3383280" y="1591056"/>
            <a:ext cx="4892040" cy="434340"/>
          </a:xfrm>
          <a:prstGeom prst="rect">
            <a:avLst/>
          </a:prstGeom>
          <a:solidFill>
            <a:srgbClr val="FFFFFF"/>
          </a:solidFill>
          <a:ln w="6350">
            <a:solidFill>
              <a:srgbClr val="D3DCE5"/>
            </a:solidFill>
            <a:prstDash val="solid"/>
          </a:ln>
        </p:spPr>
      </p:sp>
      <p:sp>
        <p:nvSpPr>
          <p:cNvPr id="16" name="Text 14"/>
          <p:cNvSpPr txBox="1"/>
          <p:nvPr/>
        </p:nvSpPr>
        <p:spPr>
          <a:xfrm>
            <a:off x="3447288" y="1591056"/>
            <a:ext cx="476402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Exists as a standing committee, chaired by Sally-Anne Layman, who also sits on Audit and Risk</a:t>
            </a:r>
            <a:endParaRPr lang="en-US" sz="860" dirty="0"/>
          </a:p>
        </p:txBody>
      </p:sp>
      <p:sp>
        <p:nvSpPr>
          <p:cNvPr id="17" name="Shape 15"/>
          <p:cNvSpPr/>
          <p:nvPr/>
        </p:nvSpPr>
        <p:spPr>
          <a:xfrm>
            <a:off x="8275320" y="1591056"/>
            <a:ext cx="3511296" cy="434340"/>
          </a:xfrm>
          <a:prstGeom prst="rect">
            <a:avLst/>
          </a:prstGeom>
          <a:solidFill>
            <a:srgbClr val="FFFFFF"/>
          </a:solidFill>
          <a:ln w="6350">
            <a:solidFill>
              <a:srgbClr val="D3DCE5"/>
            </a:solidFill>
            <a:prstDash val="solid"/>
          </a:ln>
        </p:spPr>
      </p:sp>
      <p:sp>
        <p:nvSpPr>
          <p:cNvPr id="18" name="Text 16"/>
          <p:cNvSpPr txBox="1"/>
          <p:nvPr/>
        </p:nvSpPr>
        <p:spPr>
          <a:xfrm>
            <a:off x="8339328" y="1591056"/>
            <a:ext cx="3383280" cy="434340"/>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Genuine strength</a:t>
            </a:r>
            <a:endParaRPr lang="en-US" sz="860" dirty="0"/>
          </a:p>
        </p:txBody>
      </p:sp>
      <p:sp>
        <p:nvSpPr>
          <p:cNvPr id="19" name="Shape 17"/>
          <p:cNvSpPr/>
          <p:nvPr/>
        </p:nvSpPr>
        <p:spPr>
          <a:xfrm>
            <a:off x="411480" y="2025396"/>
            <a:ext cx="2971800" cy="434340"/>
          </a:xfrm>
          <a:prstGeom prst="rect">
            <a:avLst/>
          </a:prstGeom>
          <a:solidFill>
            <a:srgbClr val="F7F9FB"/>
          </a:solidFill>
          <a:ln w="6350">
            <a:solidFill>
              <a:srgbClr val="D3DCE5"/>
            </a:solidFill>
            <a:prstDash val="solid"/>
          </a:ln>
        </p:spPr>
      </p:sp>
      <p:sp>
        <p:nvSpPr>
          <p:cNvPr id="20" name="Text 18"/>
          <p:cNvSpPr txBox="1"/>
          <p:nvPr/>
        </p:nvSpPr>
        <p:spPr>
          <a:xfrm>
            <a:off x="475488" y="2025396"/>
            <a:ext cx="284378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Board independence</a:t>
            </a:r>
            <a:endParaRPr lang="en-US" sz="860" dirty="0"/>
          </a:p>
        </p:txBody>
      </p:sp>
      <p:sp>
        <p:nvSpPr>
          <p:cNvPr id="21" name="Shape 19"/>
          <p:cNvSpPr/>
          <p:nvPr/>
        </p:nvSpPr>
        <p:spPr>
          <a:xfrm>
            <a:off x="3383280" y="2025396"/>
            <a:ext cx="4892040" cy="434340"/>
          </a:xfrm>
          <a:prstGeom prst="rect">
            <a:avLst/>
          </a:prstGeom>
          <a:solidFill>
            <a:srgbClr val="F7F9FB"/>
          </a:solidFill>
          <a:ln w="6350">
            <a:solidFill>
              <a:srgbClr val="D3DCE5"/>
            </a:solidFill>
            <a:prstDash val="solid"/>
          </a:ln>
        </p:spPr>
      </p:sp>
      <p:sp>
        <p:nvSpPr>
          <p:cNvPr id="22" name="Text 20"/>
          <p:cNvSpPr txBox="1"/>
          <p:nvPr/>
        </p:nvSpPr>
        <p:spPr>
          <a:xfrm>
            <a:off x="3447288" y="2025396"/>
            <a:ext cx="476402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Described across sources as five independent non-executive directors plus the chief executive; we identified five people in total</a:t>
            </a:r>
            <a:endParaRPr lang="en-US" sz="860" dirty="0"/>
          </a:p>
        </p:txBody>
      </p:sp>
      <p:sp>
        <p:nvSpPr>
          <p:cNvPr id="23" name="Shape 21"/>
          <p:cNvSpPr/>
          <p:nvPr/>
        </p:nvSpPr>
        <p:spPr>
          <a:xfrm>
            <a:off x="8275320" y="2025396"/>
            <a:ext cx="3511296" cy="434340"/>
          </a:xfrm>
          <a:prstGeom prst="rect">
            <a:avLst/>
          </a:prstGeom>
          <a:solidFill>
            <a:srgbClr val="F7F9FB"/>
          </a:solidFill>
          <a:ln w="6350">
            <a:solidFill>
              <a:srgbClr val="D3DCE5"/>
            </a:solidFill>
            <a:prstDash val="solid"/>
          </a:ln>
        </p:spPr>
      </p:sp>
      <p:sp>
        <p:nvSpPr>
          <p:cNvPr id="24" name="Text 22"/>
          <p:cNvSpPr txBox="1"/>
          <p:nvPr/>
        </p:nvSpPr>
        <p:spPr>
          <a:xfrm>
            <a:off x="8339328" y="2025396"/>
            <a:ext cx="3383280" cy="434340"/>
          </a:xfrm>
          <a:prstGeom prst="rect">
            <a:avLst/>
          </a:prstGeom>
          <a:noFill/>
          <a:ln/>
        </p:spPr>
        <p:txBody>
          <a:bodyPr wrap="square" lIns="0" tIns="0" rIns="0" bIns="0" rtlCol="0" anchor="ctr"/>
          <a:lstStyle/>
          <a:p>
            <a:pPr algn="l" indent="0" marL="0">
              <a:buNone/>
            </a:pPr>
            <a:r>
              <a:rPr lang="en-US" sz="860" b="1" dirty="0">
                <a:solidFill>
                  <a:srgbClr val="C2610A"/>
                </a:solidFill>
                <a:latin typeface="Calibri" pitchFamily="34" charset="0"/>
                <a:ea typeface="Calibri" pitchFamily="34" charset="-122"/>
                <a:cs typeface="Calibri" pitchFamily="34" charset="-120"/>
              </a:rPr>
              <a:t>Partly verified</a:t>
            </a:r>
            <a:endParaRPr lang="en-US" sz="860" dirty="0"/>
          </a:p>
        </p:txBody>
      </p:sp>
      <p:sp>
        <p:nvSpPr>
          <p:cNvPr id="25" name="Shape 23"/>
          <p:cNvSpPr/>
          <p:nvPr/>
        </p:nvSpPr>
        <p:spPr>
          <a:xfrm>
            <a:off x="411480" y="2459736"/>
            <a:ext cx="2971800" cy="434340"/>
          </a:xfrm>
          <a:prstGeom prst="rect">
            <a:avLst/>
          </a:prstGeom>
          <a:solidFill>
            <a:srgbClr val="FFFFFF"/>
          </a:solidFill>
          <a:ln w="6350">
            <a:solidFill>
              <a:srgbClr val="D3DCE5"/>
            </a:solidFill>
            <a:prstDash val="solid"/>
          </a:ln>
        </p:spPr>
      </p:sp>
      <p:sp>
        <p:nvSpPr>
          <p:cNvPr id="26" name="Text 24"/>
          <p:cNvSpPr txBox="1"/>
          <p:nvPr/>
        </p:nvSpPr>
        <p:spPr>
          <a:xfrm>
            <a:off x="475488" y="2459736"/>
            <a:ext cx="284378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Chair experience</a:t>
            </a:r>
            <a:endParaRPr lang="en-US" sz="860" dirty="0"/>
          </a:p>
        </p:txBody>
      </p:sp>
      <p:sp>
        <p:nvSpPr>
          <p:cNvPr id="27" name="Shape 25"/>
          <p:cNvSpPr/>
          <p:nvPr/>
        </p:nvSpPr>
        <p:spPr>
          <a:xfrm>
            <a:off x="3383280" y="2459736"/>
            <a:ext cx="4892040" cy="434340"/>
          </a:xfrm>
          <a:prstGeom prst="rect">
            <a:avLst/>
          </a:prstGeom>
          <a:solidFill>
            <a:srgbClr val="FFFFFF"/>
          </a:solidFill>
          <a:ln w="6350">
            <a:solidFill>
              <a:srgbClr val="D3DCE5"/>
            </a:solidFill>
            <a:prstDash val="solid"/>
          </a:ln>
        </p:spPr>
      </p:sp>
      <p:sp>
        <p:nvSpPr>
          <p:cNvPr id="28" name="Text 26"/>
          <p:cNvSpPr txBox="1"/>
          <p:nvPr/>
        </p:nvSpPr>
        <p:spPr>
          <a:xfrm>
            <a:off x="3447288" y="2459736"/>
            <a:ext cx="476402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Kathleen Conlon, formerly Chair of Lynas Rare Earths - directly relevant critical-minerals experience</a:t>
            </a:r>
            <a:endParaRPr lang="en-US" sz="860" dirty="0"/>
          </a:p>
        </p:txBody>
      </p:sp>
      <p:sp>
        <p:nvSpPr>
          <p:cNvPr id="29" name="Shape 27"/>
          <p:cNvSpPr/>
          <p:nvPr/>
        </p:nvSpPr>
        <p:spPr>
          <a:xfrm>
            <a:off x="8275320" y="2459736"/>
            <a:ext cx="3511296" cy="434340"/>
          </a:xfrm>
          <a:prstGeom prst="rect">
            <a:avLst/>
          </a:prstGeom>
          <a:solidFill>
            <a:srgbClr val="FFFFFF"/>
          </a:solidFill>
          <a:ln w="6350">
            <a:solidFill>
              <a:srgbClr val="D3DCE5"/>
            </a:solidFill>
            <a:prstDash val="solid"/>
          </a:ln>
        </p:spPr>
      </p:sp>
      <p:sp>
        <p:nvSpPr>
          <p:cNvPr id="30" name="Text 28"/>
          <p:cNvSpPr txBox="1"/>
          <p:nvPr/>
        </p:nvSpPr>
        <p:spPr>
          <a:xfrm>
            <a:off x="8339328" y="2459736"/>
            <a:ext cx="3383280" cy="434340"/>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Strength</a:t>
            </a:r>
            <a:endParaRPr lang="en-US" sz="860" dirty="0"/>
          </a:p>
        </p:txBody>
      </p:sp>
      <p:sp>
        <p:nvSpPr>
          <p:cNvPr id="31" name="Shape 29"/>
          <p:cNvSpPr/>
          <p:nvPr/>
        </p:nvSpPr>
        <p:spPr>
          <a:xfrm>
            <a:off x="411480" y="2894076"/>
            <a:ext cx="2971800" cy="434340"/>
          </a:xfrm>
          <a:prstGeom prst="rect">
            <a:avLst/>
          </a:prstGeom>
          <a:solidFill>
            <a:srgbClr val="F7F9FB"/>
          </a:solidFill>
          <a:ln w="6350">
            <a:solidFill>
              <a:srgbClr val="D3DCE5"/>
            </a:solidFill>
            <a:prstDash val="solid"/>
          </a:ln>
        </p:spPr>
      </p:sp>
      <p:sp>
        <p:nvSpPr>
          <p:cNvPr id="32" name="Text 30"/>
          <p:cNvSpPr txBox="1"/>
          <p:nvPr/>
        </p:nvSpPr>
        <p:spPr>
          <a:xfrm>
            <a:off x="475488" y="2894076"/>
            <a:ext cx="284378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ESG metrics in incentive pay</a:t>
            </a:r>
            <a:endParaRPr lang="en-US" sz="860" dirty="0"/>
          </a:p>
        </p:txBody>
      </p:sp>
      <p:sp>
        <p:nvSpPr>
          <p:cNvPr id="33" name="Shape 31"/>
          <p:cNvSpPr/>
          <p:nvPr/>
        </p:nvSpPr>
        <p:spPr>
          <a:xfrm>
            <a:off x="3383280" y="2894076"/>
            <a:ext cx="4892040" cy="434340"/>
          </a:xfrm>
          <a:prstGeom prst="rect">
            <a:avLst/>
          </a:prstGeom>
          <a:solidFill>
            <a:srgbClr val="F7F9FB"/>
          </a:solidFill>
          <a:ln w="6350">
            <a:solidFill>
              <a:srgbClr val="D3DCE5"/>
            </a:solidFill>
            <a:prstDash val="solid"/>
          </a:ln>
        </p:spPr>
      </p:sp>
      <p:sp>
        <p:nvSpPr>
          <p:cNvPr id="34" name="Text 32"/>
          <p:cNvSpPr txBox="1"/>
          <p:nvPr/>
        </p:nvSpPr>
        <p:spPr>
          <a:xfrm>
            <a:off x="3447288" y="2894076"/>
            <a:ext cx="476402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We could not verify whether sustainability measures carry weightings in short or long-term incentive scorecards</a:t>
            </a:r>
            <a:endParaRPr lang="en-US" sz="860" dirty="0"/>
          </a:p>
        </p:txBody>
      </p:sp>
      <p:sp>
        <p:nvSpPr>
          <p:cNvPr id="35" name="Shape 33"/>
          <p:cNvSpPr/>
          <p:nvPr/>
        </p:nvSpPr>
        <p:spPr>
          <a:xfrm>
            <a:off x="8275320" y="2894076"/>
            <a:ext cx="3511296" cy="434340"/>
          </a:xfrm>
          <a:prstGeom prst="rect">
            <a:avLst/>
          </a:prstGeom>
          <a:solidFill>
            <a:srgbClr val="F7F9FB"/>
          </a:solidFill>
          <a:ln w="6350">
            <a:solidFill>
              <a:srgbClr val="D3DCE5"/>
            </a:solidFill>
            <a:prstDash val="solid"/>
          </a:ln>
        </p:spPr>
      </p:sp>
      <p:sp>
        <p:nvSpPr>
          <p:cNvPr id="36" name="Text 34"/>
          <p:cNvSpPr txBox="1"/>
          <p:nvPr/>
        </p:nvSpPr>
        <p:spPr>
          <a:xfrm>
            <a:off x="8339328" y="2894076"/>
            <a:ext cx="3383280" cy="434340"/>
          </a:xfrm>
          <a:prstGeom prst="rect">
            <a:avLst/>
          </a:prstGeom>
          <a:noFill/>
          <a:ln/>
        </p:spPr>
        <p:txBody>
          <a:bodyPr wrap="square" lIns="0" tIns="0" rIns="0" bIns="0" rtlCol="0" anchor="ctr"/>
          <a:lstStyle/>
          <a:p>
            <a:pPr algn="l" indent="0" marL="0">
              <a:buNone/>
            </a:pPr>
            <a:r>
              <a:rPr lang="en-US" sz="860" b="1" dirty="0">
                <a:solidFill>
                  <a:srgbClr val="A3282C"/>
                </a:solidFill>
                <a:latin typeface="Calibri" pitchFamily="34" charset="0"/>
                <a:ea typeface="Calibri" pitchFamily="34" charset="-122"/>
                <a:cs typeface="Calibri" pitchFamily="34" charset="-120"/>
              </a:rPr>
              <a:t>Material gap</a:t>
            </a:r>
            <a:endParaRPr lang="en-US" sz="860" dirty="0"/>
          </a:p>
        </p:txBody>
      </p:sp>
      <p:sp>
        <p:nvSpPr>
          <p:cNvPr id="37" name="Shape 35"/>
          <p:cNvSpPr/>
          <p:nvPr/>
        </p:nvSpPr>
        <p:spPr>
          <a:xfrm>
            <a:off x="411480" y="3328416"/>
            <a:ext cx="2971800" cy="434340"/>
          </a:xfrm>
          <a:prstGeom prst="rect">
            <a:avLst/>
          </a:prstGeom>
          <a:solidFill>
            <a:srgbClr val="FFFFFF"/>
          </a:solidFill>
          <a:ln w="6350">
            <a:solidFill>
              <a:srgbClr val="D3DCE5"/>
            </a:solidFill>
            <a:prstDash val="solid"/>
          </a:ln>
        </p:spPr>
      </p:sp>
      <p:sp>
        <p:nvSpPr>
          <p:cNvPr id="38" name="Text 36"/>
          <p:cNvSpPr txBox="1"/>
          <p:nvPr/>
        </p:nvSpPr>
        <p:spPr>
          <a:xfrm>
            <a:off x="475488" y="3328416"/>
            <a:ext cx="284378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Remuneration report strikes</a:t>
            </a:r>
            <a:endParaRPr lang="en-US" sz="860" dirty="0"/>
          </a:p>
        </p:txBody>
      </p:sp>
      <p:sp>
        <p:nvSpPr>
          <p:cNvPr id="39" name="Shape 37"/>
          <p:cNvSpPr/>
          <p:nvPr/>
        </p:nvSpPr>
        <p:spPr>
          <a:xfrm>
            <a:off x="3383280" y="3328416"/>
            <a:ext cx="4892040" cy="434340"/>
          </a:xfrm>
          <a:prstGeom prst="rect">
            <a:avLst/>
          </a:prstGeom>
          <a:solidFill>
            <a:srgbClr val="FFFFFF"/>
          </a:solidFill>
          <a:ln w="6350">
            <a:solidFill>
              <a:srgbClr val="D3DCE5"/>
            </a:solidFill>
            <a:prstDash val="solid"/>
          </a:ln>
        </p:spPr>
      </p:sp>
      <p:sp>
        <p:nvSpPr>
          <p:cNvPr id="40" name="Text 38"/>
          <p:cNvSpPr txBox="1"/>
          <p:nvPr/>
        </p:nvSpPr>
        <p:spPr>
          <a:xfrm>
            <a:off x="3447288" y="3328416"/>
            <a:ext cx="476402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None found</a:t>
            </a:r>
            <a:endParaRPr lang="en-US" sz="860" dirty="0"/>
          </a:p>
        </p:txBody>
      </p:sp>
      <p:sp>
        <p:nvSpPr>
          <p:cNvPr id="41" name="Shape 39"/>
          <p:cNvSpPr/>
          <p:nvPr/>
        </p:nvSpPr>
        <p:spPr>
          <a:xfrm>
            <a:off x="8275320" y="3328416"/>
            <a:ext cx="3511296" cy="434340"/>
          </a:xfrm>
          <a:prstGeom prst="rect">
            <a:avLst/>
          </a:prstGeom>
          <a:solidFill>
            <a:srgbClr val="FFFFFF"/>
          </a:solidFill>
          <a:ln w="6350">
            <a:solidFill>
              <a:srgbClr val="D3DCE5"/>
            </a:solidFill>
            <a:prstDash val="solid"/>
          </a:ln>
        </p:spPr>
      </p:sp>
      <p:sp>
        <p:nvSpPr>
          <p:cNvPr id="42" name="Text 40"/>
          <p:cNvSpPr txBox="1"/>
          <p:nvPr/>
        </p:nvSpPr>
        <p:spPr>
          <a:xfrm>
            <a:off x="8339328" y="3328416"/>
            <a:ext cx="3383280" cy="434340"/>
          </a:xfrm>
          <a:prstGeom prst="rect">
            <a:avLst/>
          </a:prstGeom>
          <a:noFill/>
          <a:ln/>
        </p:spPr>
        <p:txBody>
          <a:bodyPr wrap="square" lIns="0" tIns="0" rIns="0" bIns="0" rtlCol="0" anchor="ctr"/>
          <a:lstStyle/>
          <a:p>
            <a:pPr algn="l" indent="0" marL="0">
              <a:buNone/>
            </a:pPr>
            <a:r>
              <a:rPr lang="en-US" sz="860" b="1" dirty="0">
                <a:solidFill>
                  <a:srgbClr val="C2610A"/>
                </a:solidFill>
                <a:latin typeface="Calibri" pitchFamily="34" charset="0"/>
                <a:ea typeface="Calibri" pitchFamily="34" charset="-122"/>
                <a:cs typeface="Calibri" pitchFamily="34" charset="-120"/>
              </a:rPr>
              <a:t>No issues found</a:t>
            </a:r>
            <a:endParaRPr lang="en-US" sz="860" dirty="0"/>
          </a:p>
        </p:txBody>
      </p:sp>
      <p:sp>
        <p:nvSpPr>
          <p:cNvPr id="43" name="Shape 41"/>
          <p:cNvSpPr/>
          <p:nvPr/>
        </p:nvSpPr>
        <p:spPr>
          <a:xfrm>
            <a:off x="411480" y="3762756"/>
            <a:ext cx="2971800" cy="434340"/>
          </a:xfrm>
          <a:prstGeom prst="rect">
            <a:avLst/>
          </a:prstGeom>
          <a:solidFill>
            <a:srgbClr val="F7F9FB"/>
          </a:solidFill>
          <a:ln w="6350">
            <a:solidFill>
              <a:srgbClr val="D3DCE5"/>
            </a:solidFill>
            <a:prstDash val="solid"/>
          </a:ln>
        </p:spPr>
      </p:sp>
      <p:sp>
        <p:nvSpPr>
          <p:cNvPr id="44" name="Text 42"/>
          <p:cNvSpPr txBox="1"/>
          <p:nvPr/>
        </p:nvSpPr>
        <p:spPr>
          <a:xfrm>
            <a:off x="475488" y="3762756"/>
            <a:ext cx="284378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Capital allocation framework</a:t>
            </a:r>
            <a:endParaRPr lang="en-US" sz="860" dirty="0"/>
          </a:p>
        </p:txBody>
      </p:sp>
      <p:sp>
        <p:nvSpPr>
          <p:cNvPr id="45" name="Shape 43"/>
          <p:cNvSpPr/>
          <p:nvPr/>
        </p:nvSpPr>
        <p:spPr>
          <a:xfrm>
            <a:off x="3383280" y="3762756"/>
            <a:ext cx="4892040" cy="434340"/>
          </a:xfrm>
          <a:prstGeom prst="rect">
            <a:avLst/>
          </a:prstGeom>
          <a:solidFill>
            <a:srgbClr val="F7F9FB"/>
          </a:solidFill>
          <a:ln w="6350">
            <a:solidFill>
              <a:srgbClr val="D3DCE5"/>
            </a:solidFill>
            <a:prstDash val="solid"/>
          </a:ln>
        </p:spPr>
      </p:sp>
      <p:sp>
        <p:nvSpPr>
          <p:cNvPr id="46" name="Text 44"/>
          <p:cNvSpPr txBox="1"/>
          <p:nvPr/>
        </p:nvSpPr>
        <p:spPr>
          <a:xfrm>
            <a:off x="3447288" y="3762756"/>
            <a:ext cx="476402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Stated policy: 20-30% of free cash flow to dividends, leverage below 1.5x through the cycle, excess to debt reduction, buybacks or growth</a:t>
            </a:r>
            <a:endParaRPr lang="en-US" sz="860" dirty="0"/>
          </a:p>
        </p:txBody>
      </p:sp>
      <p:sp>
        <p:nvSpPr>
          <p:cNvPr id="47" name="Shape 45"/>
          <p:cNvSpPr/>
          <p:nvPr/>
        </p:nvSpPr>
        <p:spPr>
          <a:xfrm>
            <a:off x="8275320" y="3762756"/>
            <a:ext cx="3511296" cy="434340"/>
          </a:xfrm>
          <a:prstGeom prst="rect">
            <a:avLst/>
          </a:prstGeom>
          <a:solidFill>
            <a:srgbClr val="F7F9FB"/>
          </a:solidFill>
          <a:ln w="6350">
            <a:solidFill>
              <a:srgbClr val="D3DCE5"/>
            </a:solidFill>
            <a:prstDash val="solid"/>
          </a:ln>
        </p:spPr>
      </p:sp>
      <p:sp>
        <p:nvSpPr>
          <p:cNvPr id="48" name="Text 46"/>
          <p:cNvSpPr txBox="1"/>
          <p:nvPr/>
        </p:nvSpPr>
        <p:spPr>
          <a:xfrm>
            <a:off x="8339328" y="3762756"/>
            <a:ext cx="3383280" cy="434340"/>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Clear and tested</a:t>
            </a:r>
            <a:endParaRPr lang="en-US" sz="860" dirty="0"/>
          </a:p>
        </p:txBody>
      </p:sp>
      <p:sp>
        <p:nvSpPr>
          <p:cNvPr id="49" name="Shape 47"/>
          <p:cNvSpPr/>
          <p:nvPr/>
        </p:nvSpPr>
        <p:spPr>
          <a:xfrm>
            <a:off x="411480" y="4197096"/>
            <a:ext cx="2971800" cy="434340"/>
          </a:xfrm>
          <a:prstGeom prst="rect">
            <a:avLst/>
          </a:prstGeom>
          <a:solidFill>
            <a:srgbClr val="FFFFFF"/>
          </a:solidFill>
          <a:ln w="6350">
            <a:solidFill>
              <a:srgbClr val="D3DCE5"/>
            </a:solidFill>
            <a:prstDash val="solid"/>
          </a:ln>
        </p:spPr>
      </p:sp>
      <p:sp>
        <p:nvSpPr>
          <p:cNvPr id="50" name="Text 48"/>
          <p:cNvSpPr txBox="1"/>
          <p:nvPr/>
        </p:nvSpPr>
        <p:spPr>
          <a:xfrm>
            <a:off x="475488" y="4197096"/>
            <a:ext cx="2843784" cy="43434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Capital allocated FY23-FY26</a:t>
            </a:r>
            <a:endParaRPr lang="en-US" sz="860" dirty="0"/>
          </a:p>
        </p:txBody>
      </p:sp>
      <p:sp>
        <p:nvSpPr>
          <p:cNvPr id="51" name="Shape 49"/>
          <p:cNvSpPr/>
          <p:nvPr/>
        </p:nvSpPr>
        <p:spPr>
          <a:xfrm>
            <a:off x="3383280" y="4197096"/>
            <a:ext cx="4892040" cy="434340"/>
          </a:xfrm>
          <a:prstGeom prst="rect">
            <a:avLst/>
          </a:prstGeom>
          <a:solidFill>
            <a:srgbClr val="FFFFFF"/>
          </a:solidFill>
          <a:ln w="6350">
            <a:solidFill>
              <a:srgbClr val="D3DCE5"/>
            </a:solidFill>
            <a:prstDash val="solid"/>
          </a:ln>
        </p:spPr>
      </p:sp>
      <p:sp>
        <p:nvSpPr>
          <p:cNvPr id="52" name="Text 50"/>
          <p:cNvSpPr txBox="1"/>
          <p:nvPr/>
        </p:nvSpPr>
        <p:spPr>
          <a:xfrm>
            <a:off x="3447288" y="4197096"/>
            <a:ext cx="4764024" cy="434340"/>
          </a:xfrm>
          <a:prstGeom prst="rect">
            <a:avLst/>
          </a:prstGeom>
          <a:noFill/>
          <a:ln/>
        </p:spPr>
        <p:txBody>
          <a:bodyPr wrap="square" lIns="0" tIns="0" rIns="0" bIns="0" rtlCol="0" anchor="ctr"/>
          <a:lstStyle/>
          <a:p>
            <a:pPr algn="l" indent="0" marL="0">
              <a:buNone/>
            </a:pPr>
            <a:r>
              <a:rPr lang="en-US" sz="860" dirty="0">
                <a:solidFill>
                  <a:srgbClr val="1B2733"/>
                </a:solidFill>
                <a:latin typeface="Calibri" pitchFamily="34" charset="0"/>
                <a:ea typeface="Calibri" pitchFamily="34" charset="-122"/>
                <a:cs typeface="Calibri" pitchFamily="34" charset="-120"/>
              </a:rPr>
              <a:t>A$4.8bn: A$2.4bn to capital investment (50%), A$1.7bn to the balance sheet (35%), A$0.8bn to shareholders (16%)</a:t>
            </a:r>
            <a:endParaRPr lang="en-US" sz="860" dirty="0"/>
          </a:p>
        </p:txBody>
      </p:sp>
      <p:sp>
        <p:nvSpPr>
          <p:cNvPr id="53" name="Shape 51"/>
          <p:cNvSpPr/>
          <p:nvPr/>
        </p:nvSpPr>
        <p:spPr>
          <a:xfrm>
            <a:off x="8275320" y="4197096"/>
            <a:ext cx="3511296" cy="434340"/>
          </a:xfrm>
          <a:prstGeom prst="rect">
            <a:avLst/>
          </a:prstGeom>
          <a:solidFill>
            <a:srgbClr val="FFFFFF"/>
          </a:solidFill>
          <a:ln w="6350">
            <a:solidFill>
              <a:srgbClr val="D3DCE5"/>
            </a:solidFill>
            <a:prstDash val="solid"/>
          </a:ln>
        </p:spPr>
      </p:sp>
      <p:sp>
        <p:nvSpPr>
          <p:cNvPr id="54" name="Text 52"/>
          <p:cNvSpPr txBox="1"/>
          <p:nvPr/>
        </p:nvSpPr>
        <p:spPr>
          <a:xfrm>
            <a:off x="8339328" y="4197096"/>
            <a:ext cx="3383280" cy="434340"/>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Disciplined</a:t>
            </a:r>
            <a:endParaRPr lang="en-US" sz="860" dirty="0"/>
          </a:p>
        </p:txBody>
      </p:sp>
      <p:sp>
        <p:nvSpPr>
          <p:cNvPr id="55" name="Shape 53"/>
          <p:cNvSpPr/>
          <p:nvPr/>
        </p:nvSpPr>
        <p:spPr>
          <a:xfrm>
            <a:off x="411480" y="4700016"/>
            <a:ext cx="11375136" cy="1188720"/>
          </a:xfrm>
          <a:prstGeom prst="rect">
            <a:avLst/>
          </a:prstGeom>
          <a:solidFill>
            <a:srgbClr val="EEF2F6"/>
          </a:solidFill>
          <a:ln w="9525">
            <a:solidFill>
              <a:srgbClr val="D3DCE5"/>
            </a:solidFill>
            <a:prstDash val="solid"/>
          </a:ln>
        </p:spPr>
      </p:sp>
      <p:sp>
        <p:nvSpPr>
          <p:cNvPr id="56" name="Text 54"/>
          <p:cNvSpPr txBox="1"/>
          <p:nvPr/>
        </p:nvSpPr>
        <p:spPr>
          <a:xfrm>
            <a:off x="576072" y="4828032"/>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one that matters for a shared-value thesis</a:t>
            </a:r>
            <a:endParaRPr lang="en-US" sz="1150" dirty="0"/>
          </a:p>
        </p:txBody>
      </p:sp>
      <p:sp>
        <p:nvSpPr>
          <p:cNvPr id="57" name="Text 55"/>
          <p:cNvSpPr txBox="1"/>
          <p:nvPr/>
        </p:nvSpPr>
        <p:spPr>
          <a:xfrm>
            <a:off x="576072" y="5157216"/>
            <a:ext cx="11045952" cy="640080"/>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If ESG outcomes are not in the incentive scorecard, then a shared-value strategy depends on management goodwill rather than on management incentives - and goodwill does not survive a change of chief executive. We could not verify either way. It is our second engagement ask after dated emissions targets, and it is the question we would put first at an investor meeting: not "what is your net-zero ambition" but "what percentage of the chief executive's long-term incentive depends on reaching it".</a:t>
            </a:r>
            <a:endParaRPr lang="en-US" sz="940" dirty="0"/>
          </a:p>
        </p:txBody>
      </p:sp>
      <p:sp>
        <p:nvSpPr>
          <p:cNvPr id="58" name="Text 56"/>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FY26 results and capital allocation commentary; discoveryalert.com.au; Capital Brief; Mining Magazine. The 2025 Corporate Governance Statement was identified but could not be opened from our environment.</a:t>
            </a:r>
            <a:endParaRPr lang="en-US" sz="720" dirty="0"/>
          </a:p>
        </p:txBody>
      </p:sp>
      <p:sp>
        <p:nvSpPr>
          <p:cNvPr id="59" name="Text 57"/>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D9</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The case asks entrants to go beneath the ESG rank. We could not retrieve reliable ratings, and on reflection that did not weaken the analysis.</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D10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788920" cy="292608"/>
          </a:xfrm>
          <a:prstGeom prst="rect">
            <a:avLst/>
          </a:prstGeom>
          <a:solidFill>
            <a:srgbClr val="10233A"/>
          </a:solidFill>
          <a:ln/>
        </p:spPr>
      </p:sp>
      <p:sp>
        <p:nvSpPr>
          <p:cNvPr id="8" name="Text 6"/>
          <p:cNvSpPr txBox="1"/>
          <p:nvPr/>
        </p:nvSpPr>
        <p:spPr>
          <a:xfrm>
            <a:off x="475488" y="1298448"/>
            <a:ext cx="26609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Provider</a:t>
            </a:r>
            <a:endParaRPr lang="en-US" sz="900" dirty="0"/>
          </a:p>
        </p:txBody>
      </p:sp>
      <p:sp>
        <p:nvSpPr>
          <p:cNvPr id="9" name="Shape 7"/>
          <p:cNvSpPr/>
          <p:nvPr/>
        </p:nvSpPr>
        <p:spPr>
          <a:xfrm>
            <a:off x="3200400" y="1298448"/>
            <a:ext cx="2423160" cy="292608"/>
          </a:xfrm>
          <a:prstGeom prst="rect">
            <a:avLst/>
          </a:prstGeom>
          <a:solidFill>
            <a:srgbClr val="10233A"/>
          </a:solidFill>
          <a:ln/>
        </p:spPr>
      </p:sp>
      <p:sp>
        <p:nvSpPr>
          <p:cNvPr id="10" name="Text 8"/>
          <p:cNvSpPr txBox="1"/>
          <p:nvPr/>
        </p:nvSpPr>
        <p:spPr>
          <a:xfrm>
            <a:off x="3264408" y="1298448"/>
            <a:ext cx="229514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PLS score</a:t>
            </a:r>
            <a:endParaRPr lang="en-US" sz="900" dirty="0"/>
          </a:p>
        </p:txBody>
      </p:sp>
      <p:sp>
        <p:nvSpPr>
          <p:cNvPr id="11" name="Shape 9"/>
          <p:cNvSpPr/>
          <p:nvPr/>
        </p:nvSpPr>
        <p:spPr>
          <a:xfrm>
            <a:off x="5623560" y="1298448"/>
            <a:ext cx="6163056" cy="292608"/>
          </a:xfrm>
          <a:prstGeom prst="rect">
            <a:avLst/>
          </a:prstGeom>
          <a:solidFill>
            <a:srgbClr val="10233A"/>
          </a:solidFill>
          <a:ln/>
        </p:spPr>
      </p:sp>
      <p:sp>
        <p:nvSpPr>
          <p:cNvPr id="12" name="Text 10"/>
          <p:cNvSpPr txBox="1"/>
          <p:nvPr/>
        </p:nvSpPr>
        <p:spPr>
          <a:xfrm>
            <a:off x="5687568" y="1298448"/>
            <a:ext cx="603504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Note</a:t>
            </a:r>
            <a:endParaRPr lang="en-US" sz="900" dirty="0"/>
          </a:p>
        </p:txBody>
      </p:sp>
      <p:sp>
        <p:nvSpPr>
          <p:cNvPr id="13" name="Shape 11"/>
          <p:cNvSpPr/>
          <p:nvPr/>
        </p:nvSpPr>
        <p:spPr>
          <a:xfrm>
            <a:off x="411480" y="1591056"/>
            <a:ext cx="2788920" cy="365760"/>
          </a:xfrm>
          <a:prstGeom prst="rect">
            <a:avLst/>
          </a:prstGeom>
          <a:solidFill>
            <a:srgbClr val="FFFFFF"/>
          </a:solidFill>
          <a:ln w="6350">
            <a:solidFill>
              <a:srgbClr val="D3DCE5"/>
            </a:solidFill>
            <a:prstDash val="solid"/>
          </a:ln>
        </p:spPr>
      </p:sp>
      <p:sp>
        <p:nvSpPr>
          <p:cNvPr id="14" name="Text 12"/>
          <p:cNvSpPr txBox="1"/>
          <p:nvPr/>
        </p:nvSpPr>
        <p:spPr>
          <a:xfrm>
            <a:off x="475488" y="1591056"/>
            <a:ext cx="26609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MSCI ESG Rating</a:t>
            </a:r>
            <a:endParaRPr lang="en-US" sz="880" dirty="0"/>
          </a:p>
        </p:txBody>
      </p:sp>
      <p:sp>
        <p:nvSpPr>
          <p:cNvPr id="15" name="Shape 13"/>
          <p:cNvSpPr/>
          <p:nvPr/>
        </p:nvSpPr>
        <p:spPr>
          <a:xfrm>
            <a:off x="3200400" y="1591056"/>
            <a:ext cx="2423160" cy="365760"/>
          </a:xfrm>
          <a:prstGeom prst="rect">
            <a:avLst/>
          </a:prstGeom>
          <a:solidFill>
            <a:srgbClr val="FFFFFF"/>
          </a:solidFill>
          <a:ln w="6350">
            <a:solidFill>
              <a:srgbClr val="D3DCE5"/>
            </a:solidFill>
            <a:prstDash val="solid"/>
          </a:ln>
        </p:spPr>
      </p:sp>
      <p:sp>
        <p:nvSpPr>
          <p:cNvPr id="16" name="Text 14"/>
          <p:cNvSpPr txBox="1"/>
          <p:nvPr/>
        </p:nvSpPr>
        <p:spPr>
          <a:xfrm>
            <a:off x="3264408" y="1591056"/>
            <a:ext cx="2295144" cy="365760"/>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Not retrieved</a:t>
            </a:r>
            <a:endParaRPr lang="en-US" sz="880" dirty="0"/>
          </a:p>
        </p:txBody>
      </p:sp>
      <p:sp>
        <p:nvSpPr>
          <p:cNvPr id="17" name="Shape 15"/>
          <p:cNvSpPr/>
          <p:nvPr/>
        </p:nvSpPr>
        <p:spPr>
          <a:xfrm>
            <a:off x="5623560" y="1591056"/>
            <a:ext cx="6163056" cy="365760"/>
          </a:xfrm>
          <a:prstGeom prst="rect">
            <a:avLst/>
          </a:prstGeom>
          <a:solidFill>
            <a:srgbClr val="FFFFFF"/>
          </a:solidFill>
          <a:ln w="6350">
            <a:solidFill>
              <a:srgbClr val="D3DCE5"/>
            </a:solidFill>
            <a:prstDash val="solid"/>
          </a:ln>
        </p:spPr>
      </p:sp>
      <p:sp>
        <p:nvSpPr>
          <p:cNvPr id="18" name="Text 16"/>
          <p:cNvSpPr txBox="1"/>
          <p:nvPr/>
        </p:nvSpPr>
        <p:spPr>
          <a:xfrm>
            <a:off x="5687568" y="1591056"/>
            <a:ext cx="603504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Not accessible from our environment</a:t>
            </a:r>
            <a:endParaRPr lang="en-US" sz="880" dirty="0"/>
          </a:p>
        </p:txBody>
      </p:sp>
      <p:sp>
        <p:nvSpPr>
          <p:cNvPr id="19" name="Shape 17"/>
          <p:cNvSpPr/>
          <p:nvPr/>
        </p:nvSpPr>
        <p:spPr>
          <a:xfrm>
            <a:off x="411480" y="1956816"/>
            <a:ext cx="2788920" cy="365760"/>
          </a:xfrm>
          <a:prstGeom prst="rect">
            <a:avLst/>
          </a:prstGeom>
          <a:solidFill>
            <a:srgbClr val="F7F9FB"/>
          </a:solidFill>
          <a:ln w="6350">
            <a:solidFill>
              <a:srgbClr val="D3DCE5"/>
            </a:solidFill>
            <a:prstDash val="solid"/>
          </a:ln>
        </p:spPr>
      </p:sp>
      <p:sp>
        <p:nvSpPr>
          <p:cNvPr id="20" name="Text 18"/>
          <p:cNvSpPr txBox="1"/>
          <p:nvPr/>
        </p:nvSpPr>
        <p:spPr>
          <a:xfrm>
            <a:off x="475488" y="1956816"/>
            <a:ext cx="26609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Sustainalytics ESG Risk</a:t>
            </a:r>
            <a:endParaRPr lang="en-US" sz="880" dirty="0"/>
          </a:p>
        </p:txBody>
      </p:sp>
      <p:sp>
        <p:nvSpPr>
          <p:cNvPr id="21" name="Shape 19"/>
          <p:cNvSpPr/>
          <p:nvPr/>
        </p:nvSpPr>
        <p:spPr>
          <a:xfrm>
            <a:off x="3200400" y="1956816"/>
            <a:ext cx="2423160" cy="365760"/>
          </a:xfrm>
          <a:prstGeom prst="rect">
            <a:avLst/>
          </a:prstGeom>
          <a:solidFill>
            <a:srgbClr val="F7F9FB"/>
          </a:solidFill>
          <a:ln w="6350">
            <a:solidFill>
              <a:srgbClr val="D3DCE5"/>
            </a:solidFill>
            <a:prstDash val="solid"/>
          </a:ln>
        </p:spPr>
      </p:sp>
      <p:sp>
        <p:nvSpPr>
          <p:cNvPr id="22" name="Text 20"/>
          <p:cNvSpPr txBox="1"/>
          <p:nvPr/>
        </p:nvSpPr>
        <p:spPr>
          <a:xfrm>
            <a:off x="3264408" y="1956816"/>
            <a:ext cx="2295144" cy="365760"/>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Not retrieved</a:t>
            </a:r>
            <a:endParaRPr lang="en-US" sz="880" dirty="0"/>
          </a:p>
        </p:txBody>
      </p:sp>
      <p:sp>
        <p:nvSpPr>
          <p:cNvPr id="23" name="Shape 21"/>
          <p:cNvSpPr/>
          <p:nvPr/>
        </p:nvSpPr>
        <p:spPr>
          <a:xfrm>
            <a:off x="5623560" y="1956816"/>
            <a:ext cx="6163056" cy="365760"/>
          </a:xfrm>
          <a:prstGeom prst="rect">
            <a:avLst/>
          </a:prstGeom>
          <a:solidFill>
            <a:srgbClr val="F7F9FB"/>
          </a:solidFill>
          <a:ln w="6350">
            <a:solidFill>
              <a:srgbClr val="D3DCE5"/>
            </a:solidFill>
            <a:prstDash val="solid"/>
          </a:ln>
        </p:spPr>
      </p:sp>
      <p:sp>
        <p:nvSpPr>
          <p:cNvPr id="24" name="Text 22"/>
          <p:cNvSpPr txBox="1"/>
          <p:nvPr/>
        </p:nvSpPr>
        <p:spPr>
          <a:xfrm>
            <a:off x="5687568" y="1956816"/>
            <a:ext cx="603504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Not accessible from our environment</a:t>
            </a:r>
            <a:endParaRPr lang="en-US" sz="880" dirty="0"/>
          </a:p>
        </p:txBody>
      </p:sp>
      <p:sp>
        <p:nvSpPr>
          <p:cNvPr id="25" name="Shape 23"/>
          <p:cNvSpPr/>
          <p:nvPr/>
        </p:nvSpPr>
        <p:spPr>
          <a:xfrm>
            <a:off x="411480" y="2322576"/>
            <a:ext cx="2788920" cy="365760"/>
          </a:xfrm>
          <a:prstGeom prst="rect">
            <a:avLst/>
          </a:prstGeom>
          <a:solidFill>
            <a:srgbClr val="FFFFFF"/>
          </a:solidFill>
          <a:ln w="6350">
            <a:solidFill>
              <a:srgbClr val="D3DCE5"/>
            </a:solidFill>
            <a:prstDash val="solid"/>
          </a:ln>
        </p:spPr>
      </p:sp>
      <p:sp>
        <p:nvSpPr>
          <p:cNvPr id="26" name="Text 24"/>
          <p:cNvSpPr txBox="1"/>
          <p:nvPr/>
        </p:nvSpPr>
        <p:spPr>
          <a:xfrm>
            <a:off x="475488" y="2322576"/>
            <a:ext cx="26609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S&amp;P Global CSA</a:t>
            </a:r>
            <a:endParaRPr lang="en-US" sz="880" dirty="0"/>
          </a:p>
        </p:txBody>
      </p:sp>
      <p:sp>
        <p:nvSpPr>
          <p:cNvPr id="27" name="Shape 25"/>
          <p:cNvSpPr/>
          <p:nvPr/>
        </p:nvSpPr>
        <p:spPr>
          <a:xfrm>
            <a:off x="3200400" y="2322576"/>
            <a:ext cx="2423160" cy="365760"/>
          </a:xfrm>
          <a:prstGeom prst="rect">
            <a:avLst/>
          </a:prstGeom>
          <a:solidFill>
            <a:srgbClr val="FFFFFF"/>
          </a:solidFill>
          <a:ln w="6350">
            <a:solidFill>
              <a:srgbClr val="D3DCE5"/>
            </a:solidFill>
            <a:prstDash val="solid"/>
          </a:ln>
        </p:spPr>
      </p:sp>
      <p:sp>
        <p:nvSpPr>
          <p:cNvPr id="28" name="Text 26"/>
          <p:cNvSpPr txBox="1"/>
          <p:nvPr/>
        </p:nvSpPr>
        <p:spPr>
          <a:xfrm>
            <a:off x="3264408" y="2322576"/>
            <a:ext cx="2295144" cy="365760"/>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Not retrieved</a:t>
            </a:r>
            <a:endParaRPr lang="en-US" sz="880" dirty="0"/>
          </a:p>
        </p:txBody>
      </p:sp>
      <p:sp>
        <p:nvSpPr>
          <p:cNvPr id="29" name="Shape 27"/>
          <p:cNvSpPr/>
          <p:nvPr/>
        </p:nvSpPr>
        <p:spPr>
          <a:xfrm>
            <a:off x="5623560" y="2322576"/>
            <a:ext cx="6163056" cy="365760"/>
          </a:xfrm>
          <a:prstGeom prst="rect">
            <a:avLst/>
          </a:prstGeom>
          <a:solidFill>
            <a:srgbClr val="FFFFFF"/>
          </a:solidFill>
          <a:ln w="6350">
            <a:solidFill>
              <a:srgbClr val="D3DCE5"/>
            </a:solidFill>
            <a:prstDash val="solid"/>
          </a:ln>
        </p:spPr>
      </p:sp>
      <p:sp>
        <p:nvSpPr>
          <p:cNvPr id="30" name="Text 28"/>
          <p:cNvSpPr txBox="1"/>
          <p:nvPr/>
        </p:nvSpPr>
        <p:spPr>
          <a:xfrm>
            <a:off x="5687568" y="2322576"/>
            <a:ext cx="603504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Not accessible from our environment</a:t>
            </a:r>
            <a:endParaRPr lang="en-US" sz="880" dirty="0"/>
          </a:p>
        </p:txBody>
      </p:sp>
      <p:sp>
        <p:nvSpPr>
          <p:cNvPr id="31" name="Shape 29"/>
          <p:cNvSpPr/>
          <p:nvPr/>
        </p:nvSpPr>
        <p:spPr>
          <a:xfrm>
            <a:off x="411480" y="2688336"/>
            <a:ext cx="2788920" cy="365760"/>
          </a:xfrm>
          <a:prstGeom prst="rect">
            <a:avLst/>
          </a:prstGeom>
          <a:solidFill>
            <a:srgbClr val="F7F9FB"/>
          </a:solidFill>
          <a:ln w="6350">
            <a:solidFill>
              <a:srgbClr val="D3DCE5"/>
            </a:solidFill>
            <a:prstDash val="solid"/>
          </a:ln>
        </p:spPr>
      </p:sp>
      <p:sp>
        <p:nvSpPr>
          <p:cNvPr id="32" name="Text 30"/>
          <p:cNvSpPr txBox="1"/>
          <p:nvPr/>
        </p:nvSpPr>
        <p:spPr>
          <a:xfrm>
            <a:off x="475488" y="2688336"/>
            <a:ext cx="26609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CDP</a:t>
            </a:r>
            <a:endParaRPr lang="en-US" sz="880" dirty="0"/>
          </a:p>
        </p:txBody>
      </p:sp>
      <p:sp>
        <p:nvSpPr>
          <p:cNvPr id="33" name="Shape 31"/>
          <p:cNvSpPr/>
          <p:nvPr/>
        </p:nvSpPr>
        <p:spPr>
          <a:xfrm>
            <a:off x="3200400" y="2688336"/>
            <a:ext cx="2423160" cy="365760"/>
          </a:xfrm>
          <a:prstGeom prst="rect">
            <a:avLst/>
          </a:prstGeom>
          <a:solidFill>
            <a:srgbClr val="F7F9FB"/>
          </a:solidFill>
          <a:ln w="6350">
            <a:solidFill>
              <a:srgbClr val="D3DCE5"/>
            </a:solidFill>
            <a:prstDash val="solid"/>
          </a:ln>
        </p:spPr>
      </p:sp>
      <p:sp>
        <p:nvSpPr>
          <p:cNvPr id="34" name="Text 32"/>
          <p:cNvSpPr txBox="1"/>
          <p:nvPr/>
        </p:nvSpPr>
        <p:spPr>
          <a:xfrm>
            <a:off x="3264408" y="2688336"/>
            <a:ext cx="2295144" cy="365760"/>
          </a:xfrm>
          <a:prstGeom prst="rect">
            <a:avLst/>
          </a:prstGeom>
          <a:noFill/>
          <a:ln/>
        </p:spPr>
        <p:txBody>
          <a:bodyPr wrap="square" lIns="0" tIns="0" rIns="0" bIns="0" rtlCol="0" anchor="ctr"/>
          <a:lstStyle/>
          <a:p>
            <a:pPr algn="ctr" indent="0" marL="0">
              <a:buNone/>
            </a:pPr>
            <a:r>
              <a:rPr lang="en-US" sz="880" dirty="0">
                <a:solidFill>
                  <a:srgbClr val="5F7183"/>
                </a:solidFill>
                <a:latin typeface="Calibri" pitchFamily="34" charset="0"/>
                <a:ea typeface="Calibri" pitchFamily="34" charset="-122"/>
                <a:cs typeface="Calibri" pitchFamily="34" charset="-120"/>
              </a:rPr>
              <a:t>Not retrieved</a:t>
            </a:r>
            <a:endParaRPr lang="en-US" sz="880" dirty="0"/>
          </a:p>
        </p:txBody>
      </p:sp>
      <p:sp>
        <p:nvSpPr>
          <p:cNvPr id="35" name="Shape 33"/>
          <p:cNvSpPr/>
          <p:nvPr/>
        </p:nvSpPr>
        <p:spPr>
          <a:xfrm>
            <a:off x="5623560" y="2688336"/>
            <a:ext cx="6163056" cy="365760"/>
          </a:xfrm>
          <a:prstGeom prst="rect">
            <a:avLst/>
          </a:prstGeom>
          <a:solidFill>
            <a:srgbClr val="F7F9FB"/>
          </a:solidFill>
          <a:ln w="6350">
            <a:solidFill>
              <a:srgbClr val="D3DCE5"/>
            </a:solidFill>
            <a:prstDash val="solid"/>
          </a:ln>
        </p:spPr>
      </p:sp>
      <p:sp>
        <p:nvSpPr>
          <p:cNvPr id="36" name="Text 34"/>
          <p:cNvSpPr txBox="1"/>
          <p:nvPr/>
        </p:nvSpPr>
        <p:spPr>
          <a:xfrm>
            <a:off x="5687568" y="2688336"/>
            <a:ext cx="603504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Not accessible from our environment</a:t>
            </a:r>
            <a:endParaRPr lang="en-US" sz="880" dirty="0"/>
          </a:p>
        </p:txBody>
      </p:sp>
      <p:sp>
        <p:nvSpPr>
          <p:cNvPr id="37" name="Shape 35"/>
          <p:cNvSpPr/>
          <p:nvPr/>
        </p:nvSpPr>
        <p:spPr>
          <a:xfrm>
            <a:off x="411480" y="3054096"/>
            <a:ext cx="2788920" cy="365760"/>
          </a:xfrm>
          <a:prstGeom prst="rect">
            <a:avLst/>
          </a:prstGeom>
          <a:solidFill>
            <a:srgbClr val="FFFFFF"/>
          </a:solidFill>
          <a:ln w="6350">
            <a:solidFill>
              <a:srgbClr val="D3DCE5"/>
            </a:solidFill>
            <a:prstDash val="solid"/>
          </a:ln>
        </p:spPr>
      </p:sp>
      <p:sp>
        <p:nvSpPr>
          <p:cNvPr id="38" name="Text 36"/>
          <p:cNvSpPr txBox="1"/>
          <p:nvPr/>
        </p:nvSpPr>
        <p:spPr>
          <a:xfrm>
            <a:off x="475488" y="3054096"/>
            <a:ext cx="2660904" cy="365760"/>
          </a:xfrm>
          <a:prstGeom prst="rect">
            <a:avLst/>
          </a:prstGeom>
          <a:noFill/>
          <a:ln/>
        </p:spPr>
        <p:txBody>
          <a:bodyPr wrap="square" lIns="0" tIns="0" rIns="0" bIns="0" rtlCol="0" anchor="ctr"/>
          <a:lstStyle/>
          <a:p>
            <a:pPr algn="l" indent="0" marL="0">
              <a:buNone/>
            </a:pPr>
            <a:r>
              <a:rPr lang="en-US" sz="880" b="1" dirty="0">
                <a:solidFill>
                  <a:srgbClr val="1B2733"/>
                </a:solidFill>
                <a:latin typeface="Calibri" pitchFamily="34" charset="0"/>
                <a:ea typeface="Calibri" pitchFamily="34" charset="-122"/>
                <a:cs typeface="Calibri" pitchFamily="34" charset="-120"/>
              </a:rPr>
              <a:t>Controversies and fines</a:t>
            </a:r>
            <a:endParaRPr lang="en-US" sz="880" dirty="0"/>
          </a:p>
        </p:txBody>
      </p:sp>
      <p:sp>
        <p:nvSpPr>
          <p:cNvPr id="39" name="Shape 37"/>
          <p:cNvSpPr/>
          <p:nvPr/>
        </p:nvSpPr>
        <p:spPr>
          <a:xfrm>
            <a:off x="3200400" y="3054096"/>
            <a:ext cx="2423160" cy="365760"/>
          </a:xfrm>
          <a:prstGeom prst="rect">
            <a:avLst/>
          </a:prstGeom>
          <a:solidFill>
            <a:srgbClr val="FFFFFF"/>
          </a:solidFill>
          <a:ln w="6350">
            <a:solidFill>
              <a:srgbClr val="D3DCE5"/>
            </a:solidFill>
            <a:prstDash val="solid"/>
          </a:ln>
        </p:spPr>
      </p:sp>
      <p:sp>
        <p:nvSpPr>
          <p:cNvPr id="40" name="Text 38"/>
          <p:cNvSpPr txBox="1"/>
          <p:nvPr/>
        </p:nvSpPr>
        <p:spPr>
          <a:xfrm>
            <a:off x="3264408" y="3054096"/>
            <a:ext cx="2295144" cy="365760"/>
          </a:xfrm>
          <a:prstGeom prst="rect">
            <a:avLst/>
          </a:prstGeom>
          <a:noFill/>
          <a:ln/>
        </p:spPr>
        <p:txBody>
          <a:bodyPr wrap="square" lIns="0" tIns="0" rIns="0" bIns="0" rtlCol="0" anchor="ctr"/>
          <a:lstStyle/>
          <a:p>
            <a:pPr algn="ctr" indent="0" marL="0">
              <a:buNone/>
            </a:pPr>
            <a:r>
              <a:rPr lang="en-US" sz="880" dirty="0">
                <a:solidFill>
                  <a:srgbClr val="C2610A"/>
                </a:solidFill>
                <a:latin typeface="Calibri" pitchFamily="34" charset="0"/>
                <a:ea typeface="Calibri" pitchFamily="34" charset="-122"/>
                <a:cs typeface="Calibri" pitchFamily="34" charset="-120"/>
              </a:rPr>
              <a:t>None found</a:t>
            </a:r>
            <a:endParaRPr lang="en-US" sz="880" dirty="0"/>
          </a:p>
        </p:txBody>
      </p:sp>
      <p:sp>
        <p:nvSpPr>
          <p:cNvPr id="41" name="Shape 39"/>
          <p:cNvSpPr/>
          <p:nvPr/>
        </p:nvSpPr>
        <p:spPr>
          <a:xfrm>
            <a:off x="5623560" y="3054096"/>
            <a:ext cx="6163056" cy="365760"/>
          </a:xfrm>
          <a:prstGeom prst="rect">
            <a:avLst/>
          </a:prstGeom>
          <a:solidFill>
            <a:srgbClr val="FFFFFF"/>
          </a:solidFill>
          <a:ln w="6350">
            <a:solidFill>
              <a:srgbClr val="D3DCE5"/>
            </a:solidFill>
            <a:prstDash val="solid"/>
          </a:ln>
        </p:spPr>
      </p:sp>
      <p:sp>
        <p:nvSpPr>
          <p:cNvPr id="42" name="Text 40"/>
          <p:cNvSpPr txBox="1"/>
          <p:nvPr/>
        </p:nvSpPr>
        <p:spPr>
          <a:xfrm>
            <a:off x="5687568" y="3054096"/>
            <a:ext cx="6035040" cy="365760"/>
          </a:xfrm>
          <a:prstGeom prst="rect">
            <a:avLst/>
          </a:prstGeom>
          <a:noFill/>
          <a:ln/>
        </p:spPr>
        <p:txBody>
          <a:bodyPr wrap="square" lIns="0" tIns="0" rIns="0" bIns="0" rtlCol="0" anchor="ctr"/>
          <a:lstStyle/>
          <a:p>
            <a:pPr algn="l" indent="0" marL="0">
              <a:buNone/>
            </a:pPr>
            <a:r>
              <a:rPr lang="en-US" sz="880" dirty="0">
                <a:solidFill>
                  <a:srgbClr val="1B2733"/>
                </a:solidFill>
                <a:latin typeface="Calibri" pitchFamily="34" charset="0"/>
                <a:ea typeface="Calibri" pitchFamily="34" charset="-122"/>
                <a:cs typeface="Calibri" pitchFamily="34" charset="-120"/>
              </a:rPr>
              <a:t>No environmental prosecutions, EPA breaches or material ESG litigation surfaced in our searches</a:t>
            </a:r>
            <a:endParaRPr lang="en-US" sz="880" dirty="0"/>
          </a:p>
        </p:txBody>
      </p:sp>
      <p:sp>
        <p:nvSpPr>
          <p:cNvPr id="43" name="Shape 41"/>
          <p:cNvSpPr/>
          <p:nvPr/>
        </p:nvSpPr>
        <p:spPr>
          <a:xfrm>
            <a:off x="411480" y="3584448"/>
            <a:ext cx="5577840" cy="2340864"/>
          </a:xfrm>
          <a:prstGeom prst="rect">
            <a:avLst/>
          </a:prstGeom>
          <a:solidFill>
            <a:srgbClr val="D6EBE7"/>
          </a:solidFill>
          <a:ln w="9525">
            <a:solidFill>
              <a:srgbClr val="AFD3CC"/>
            </a:solidFill>
            <a:prstDash val="solid"/>
          </a:ln>
        </p:spPr>
      </p:sp>
      <p:sp>
        <p:nvSpPr>
          <p:cNvPr id="44" name="Text 42"/>
          <p:cNvSpPr txBox="1"/>
          <p:nvPr/>
        </p:nvSpPr>
        <p:spPr>
          <a:xfrm>
            <a:off x="576072" y="3712464"/>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Why this is less damaging than it looks</a:t>
            </a:r>
            <a:endParaRPr lang="en-US" sz="1150" dirty="0"/>
          </a:p>
        </p:txBody>
      </p:sp>
      <p:sp>
        <p:nvSpPr>
          <p:cNvPr id="45" name="Text 43"/>
          <p:cNvSpPr txBox="1"/>
          <p:nvPr/>
        </p:nvSpPr>
        <p:spPr>
          <a:xfrm>
            <a:off x="576072" y="4041648"/>
            <a:ext cx="5248656" cy="1792224"/>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The case explicitly asks entrants to go beneath a company's ESG rank and reporting. A rating is a third party's weighted average of disclosure quality; it is not evidence about whether ESG is wired into strategy.</a:t>
            </a:r>
            <a:endParaRPr lang="en-US" sz="920" dirty="0"/>
          </a:p>
          <a:p>
            <a:pPr indent="0" marL="0">
              <a:lnSpc>
                <a:spcPct val="105000"/>
              </a:lnSpc>
              <a:buNone/>
            </a:pPr>
            <a:endParaRPr lang="en-US" sz="920" dirty="0"/>
          </a:p>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Everything material in our assessment came from operating facts: a sorter that reduces milled tonnes, a kiln that removes calcination emissions, a target expressed as a decade, an offsets scheme found underfunded. None of those needed a rating, and a rating would not have revealed any of them.</a:t>
            </a:r>
            <a:endParaRPr lang="en-US" sz="920" dirty="0"/>
          </a:p>
        </p:txBody>
      </p:sp>
      <p:sp>
        <p:nvSpPr>
          <p:cNvPr id="46" name="Shape 44"/>
          <p:cNvSpPr/>
          <p:nvPr/>
        </p:nvSpPr>
        <p:spPr>
          <a:xfrm>
            <a:off x="6208776" y="3584448"/>
            <a:ext cx="5577840" cy="2340864"/>
          </a:xfrm>
          <a:prstGeom prst="rect">
            <a:avLst/>
          </a:prstGeom>
          <a:solidFill>
            <a:srgbClr val="FBEBD9"/>
          </a:solidFill>
          <a:ln w="9525">
            <a:solidFill>
              <a:srgbClr val="E8C9A3"/>
            </a:solidFill>
            <a:prstDash val="solid"/>
          </a:ln>
        </p:spPr>
      </p:sp>
      <p:sp>
        <p:nvSpPr>
          <p:cNvPr id="47" name="Text 45"/>
          <p:cNvSpPr txBox="1"/>
          <p:nvPr/>
        </p:nvSpPr>
        <p:spPr>
          <a:xfrm>
            <a:off x="6373368" y="3712464"/>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What the missing ratings cost us</a:t>
            </a:r>
            <a:endParaRPr lang="en-US" sz="1150" dirty="0"/>
          </a:p>
        </p:txBody>
      </p:sp>
      <p:sp>
        <p:nvSpPr>
          <p:cNvPr id="48" name="Text 46"/>
          <p:cNvSpPr txBox="1"/>
          <p:nvPr/>
        </p:nvSpPr>
        <p:spPr>
          <a:xfrm>
            <a:off x="6373368" y="4041648"/>
            <a:ext cx="5248656" cy="1792224"/>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Two things we lost. First, we cannot benchmark PLS against BHP, Rio Tinto, Fortescue, South32 and Mineral Resources on a common external scale, so our comparative judgement rests on our own reading of each company's disclosure rather than on a third party's.</a:t>
            </a:r>
            <a:endParaRPr lang="en-US" sz="920" dirty="0"/>
          </a:p>
          <a:p>
            <a:pPr indent="0" marL="0">
              <a:lnSpc>
                <a:spcPct val="105000"/>
              </a:lnSpc>
              <a:buNone/>
            </a:pPr>
            <a:endParaRPr lang="en-US" sz="920" dirty="0"/>
          </a:p>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Second, ratings do move flows. Index inclusion and ESG-mandated funds respond to them, so a rating change is a real, if crude, catalyst that we cannot forecast. We have not claimed one in either direction.</a:t>
            </a:r>
            <a:endParaRPr lang="en-US" sz="920" dirty="0"/>
          </a:p>
        </p:txBody>
      </p:sp>
      <p:sp>
        <p:nvSpPr>
          <p:cNvPr id="49" name="Text 47"/>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team research. Rating providers were not reachable from our environment; the absence of a retrieved score is not evidence about the score itself.</a:t>
            </a:r>
            <a:endParaRPr lang="en-US" sz="720" dirty="0"/>
          </a:p>
        </p:txBody>
      </p:sp>
      <p:sp>
        <p:nvSpPr>
          <p:cNvPr id="50" name="Text 48"/>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D10</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A long-only fund holding a position for years has one instrument beyond buying and selling. Here is how we would use it.</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D11  ESG and shared value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1375136" cy="658368"/>
          </a:xfrm>
          <a:prstGeom prst="rect">
            <a:avLst/>
          </a:prstGeom>
          <a:solidFill>
            <a:srgbClr val="FFFFFF"/>
          </a:solidFill>
          <a:ln w="7620">
            <a:solidFill>
              <a:srgbClr val="D3DCE5"/>
            </a:solidFill>
            <a:prstDash val="solid"/>
          </a:ln>
        </p:spPr>
      </p:sp>
      <p:sp>
        <p:nvSpPr>
          <p:cNvPr id="8" name="Shape 6"/>
          <p:cNvSpPr/>
          <p:nvPr/>
        </p:nvSpPr>
        <p:spPr>
          <a:xfrm>
            <a:off x="557784" y="1472184"/>
            <a:ext cx="310896" cy="310896"/>
          </a:xfrm>
          <a:prstGeom prst="ellipse">
            <a:avLst/>
          </a:prstGeom>
          <a:solidFill>
            <a:srgbClr val="A3282C"/>
          </a:solidFill>
          <a:ln/>
        </p:spPr>
      </p:sp>
      <p:sp>
        <p:nvSpPr>
          <p:cNvPr id="9" name="Text 7"/>
          <p:cNvSpPr txBox="1"/>
          <p:nvPr/>
        </p:nvSpPr>
        <p:spPr>
          <a:xfrm>
            <a:off x="557784" y="1472184"/>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txBox="1"/>
          <p:nvPr/>
        </p:nvSpPr>
        <p:spPr>
          <a:xfrm>
            <a:off x="978408" y="1344168"/>
            <a:ext cx="3931920" cy="566928"/>
          </a:xfrm>
          <a:prstGeom prst="rect">
            <a:avLst/>
          </a:prstGeom>
          <a:noFill/>
          <a:ln/>
        </p:spPr>
        <p:txBody>
          <a:bodyPr wrap="square" lIns="0" tIns="0" rIns="0" bIns="0" rtlCol="0" anchor="ctr"/>
          <a:lstStyle/>
          <a:p>
            <a:pPr indent="0" marL="0">
              <a:buNone/>
            </a:pPr>
            <a:r>
              <a:rPr lang="en-US" sz="930" b="1" dirty="0">
                <a:solidFill>
                  <a:srgbClr val="10233A"/>
                </a:solidFill>
                <a:latin typeface="Calibri" pitchFamily="34" charset="0"/>
                <a:ea typeface="Calibri" pitchFamily="34" charset="-122"/>
                <a:cs typeface="Calibri" pitchFamily="34" charset="-120"/>
              </a:rPr>
              <a:t>Convert the net-zero window into a dated, validated target</a:t>
            </a:r>
            <a:endParaRPr lang="en-US" sz="930" dirty="0"/>
          </a:p>
        </p:txBody>
      </p:sp>
      <p:sp>
        <p:nvSpPr>
          <p:cNvPr id="11" name="Text 9"/>
          <p:cNvSpPr txBox="1"/>
          <p:nvPr/>
        </p:nvSpPr>
        <p:spPr>
          <a:xfrm>
            <a:off x="5029200" y="1344168"/>
            <a:ext cx="4206240" cy="566928"/>
          </a:xfrm>
          <a:prstGeom prst="rect">
            <a:avLst/>
          </a:prstGeom>
          <a:noFill/>
          <a:ln/>
        </p:spPr>
        <p:txBody>
          <a:bodyPr wrap="square" lIns="0" tIns="0" rIns="0" bIns="0" rtlCol="0" anchor="ctr"/>
          <a:lstStyle/>
          <a:p>
            <a:pPr indent="0" marL="0">
              <a:lnSpc>
                <a:spcPct val="104000"/>
              </a:lnSpc>
              <a:buNone/>
            </a:pPr>
            <a:r>
              <a:rPr lang="en-US" sz="820" dirty="0">
                <a:solidFill>
                  <a:srgbClr val="1B2733"/>
                </a:solidFill>
                <a:latin typeface="Calibri" pitchFamily="34" charset="0"/>
                <a:ea typeface="Calibri" pitchFamily="34" charset="-122"/>
                <a:cs typeface="Calibri" pitchFamily="34" charset="-120"/>
              </a:rPr>
              <a:t>"The decade commencing 2040" is not a commitment a capital allocator can hold anyone to. We would ask for a single year and Science Based Targets initiative validation.</a:t>
            </a:r>
            <a:endParaRPr lang="en-US" sz="820" dirty="0"/>
          </a:p>
        </p:txBody>
      </p:sp>
      <p:sp>
        <p:nvSpPr>
          <p:cNvPr id="12" name="Text 10"/>
          <p:cNvSpPr txBox="1"/>
          <p:nvPr/>
        </p:nvSpPr>
        <p:spPr>
          <a:xfrm>
            <a:off x="9354312" y="1344168"/>
            <a:ext cx="2286000" cy="566928"/>
          </a:xfrm>
          <a:prstGeom prst="rect">
            <a:avLst/>
          </a:prstGeom>
          <a:noFill/>
          <a:ln/>
        </p:spPr>
        <p:txBody>
          <a:bodyPr wrap="square" lIns="0" tIns="0" rIns="0" bIns="0" rtlCol="0" anchor="ctr"/>
          <a:lstStyle/>
          <a:p>
            <a:pPr indent="0" marL="0">
              <a:lnSpc>
                <a:spcPct val="104000"/>
              </a:lnSpc>
              <a:buNone/>
            </a:pPr>
            <a:r>
              <a:rPr lang="en-US" sz="820" b="1" dirty="0">
                <a:solidFill>
                  <a:srgbClr val="A3282C"/>
                </a:solidFill>
                <a:latin typeface="Calibri" pitchFamily="34" charset="0"/>
                <a:ea typeface="Calibri" pitchFamily="34" charset="-122"/>
                <a:cs typeface="Calibri" pitchFamily="34" charset="-120"/>
              </a:rPr>
              <a:t>Removes the largest single credibility gap in the low-carbon thesis</a:t>
            </a:r>
            <a:endParaRPr lang="en-US" sz="820" dirty="0"/>
          </a:p>
        </p:txBody>
      </p:sp>
      <p:sp>
        <p:nvSpPr>
          <p:cNvPr id="13" name="Shape 11"/>
          <p:cNvSpPr/>
          <p:nvPr/>
        </p:nvSpPr>
        <p:spPr>
          <a:xfrm>
            <a:off x="411480" y="2011680"/>
            <a:ext cx="11375136" cy="658368"/>
          </a:xfrm>
          <a:prstGeom prst="rect">
            <a:avLst/>
          </a:prstGeom>
          <a:solidFill>
            <a:srgbClr val="F7F9FB"/>
          </a:solidFill>
          <a:ln w="7620">
            <a:solidFill>
              <a:srgbClr val="D3DCE5"/>
            </a:solidFill>
            <a:prstDash val="solid"/>
          </a:ln>
        </p:spPr>
      </p:sp>
      <p:sp>
        <p:nvSpPr>
          <p:cNvPr id="14" name="Shape 12"/>
          <p:cNvSpPr/>
          <p:nvPr/>
        </p:nvSpPr>
        <p:spPr>
          <a:xfrm>
            <a:off x="557784" y="2185416"/>
            <a:ext cx="310896" cy="310896"/>
          </a:xfrm>
          <a:prstGeom prst="ellipse">
            <a:avLst/>
          </a:prstGeom>
          <a:solidFill>
            <a:srgbClr val="A3282C"/>
          </a:solidFill>
          <a:ln/>
        </p:spPr>
      </p:sp>
      <p:sp>
        <p:nvSpPr>
          <p:cNvPr id="15" name="Text 13"/>
          <p:cNvSpPr txBox="1"/>
          <p:nvPr/>
        </p:nvSpPr>
        <p:spPr>
          <a:xfrm>
            <a:off x="557784" y="2185416"/>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txBox="1"/>
          <p:nvPr/>
        </p:nvSpPr>
        <p:spPr>
          <a:xfrm>
            <a:off x="978408" y="2057400"/>
            <a:ext cx="3931920" cy="566928"/>
          </a:xfrm>
          <a:prstGeom prst="rect">
            <a:avLst/>
          </a:prstGeom>
          <a:noFill/>
          <a:ln/>
        </p:spPr>
        <p:txBody>
          <a:bodyPr wrap="square" lIns="0" tIns="0" rIns="0" bIns="0" rtlCol="0" anchor="ctr"/>
          <a:lstStyle/>
          <a:p>
            <a:pPr indent="0" marL="0">
              <a:buNone/>
            </a:pPr>
            <a:r>
              <a:rPr lang="en-US" sz="930" b="1" dirty="0">
                <a:solidFill>
                  <a:srgbClr val="10233A"/>
                </a:solidFill>
                <a:latin typeface="Calibri" pitchFamily="34" charset="0"/>
                <a:ea typeface="Calibri" pitchFamily="34" charset="-122"/>
                <a:cs typeface="Calibri" pitchFamily="34" charset="-120"/>
              </a:rPr>
              <a:t>Publish emissions intensity per tonne and a verified product carbon footprint</a:t>
            </a:r>
            <a:endParaRPr lang="en-US" sz="930" dirty="0"/>
          </a:p>
        </p:txBody>
      </p:sp>
      <p:sp>
        <p:nvSpPr>
          <p:cNvPr id="17" name="Text 15"/>
          <p:cNvSpPr txBox="1"/>
          <p:nvPr/>
        </p:nvSpPr>
        <p:spPr>
          <a:xfrm>
            <a:off x="5029200" y="2057400"/>
            <a:ext cx="4206240" cy="566928"/>
          </a:xfrm>
          <a:prstGeom prst="rect">
            <a:avLst/>
          </a:prstGeom>
          <a:noFill/>
          <a:ln/>
        </p:spPr>
        <p:txBody>
          <a:bodyPr wrap="square" lIns="0" tIns="0" rIns="0" bIns="0" rtlCol="0" anchor="ctr"/>
          <a:lstStyle/>
          <a:p>
            <a:pPr indent="0" marL="0">
              <a:lnSpc>
                <a:spcPct val="104000"/>
              </a:lnSpc>
              <a:buNone/>
            </a:pPr>
            <a:r>
              <a:rPr lang="en-US" sz="820" dirty="0">
                <a:solidFill>
                  <a:srgbClr val="1B2733"/>
                </a:solidFill>
                <a:latin typeface="Calibri" pitchFamily="34" charset="0"/>
                <a:ea typeface="Calibri" pitchFamily="34" charset="-122"/>
                <a:cs typeface="Calibri" pitchFamily="34" charset="-120"/>
              </a:rPr>
              <a:t>This is the number EU customers will require under the Battery Regulation regardless. Publishing early converts a compliance cost into a commercial credential.</a:t>
            </a:r>
            <a:endParaRPr lang="en-US" sz="820" dirty="0"/>
          </a:p>
        </p:txBody>
      </p:sp>
      <p:sp>
        <p:nvSpPr>
          <p:cNvPr id="18" name="Text 16"/>
          <p:cNvSpPr txBox="1"/>
          <p:nvPr/>
        </p:nvSpPr>
        <p:spPr>
          <a:xfrm>
            <a:off x="9354312" y="2057400"/>
            <a:ext cx="2286000" cy="566928"/>
          </a:xfrm>
          <a:prstGeom prst="rect">
            <a:avLst/>
          </a:prstGeom>
          <a:noFill/>
          <a:ln/>
        </p:spPr>
        <p:txBody>
          <a:bodyPr wrap="square" lIns="0" tIns="0" rIns="0" bIns="0" rtlCol="0" anchor="ctr"/>
          <a:lstStyle/>
          <a:p>
            <a:pPr indent="0" marL="0">
              <a:lnSpc>
                <a:spcPct val="104000"/>
              </a:lnSpc>
              <a:buNone/>
            </a:pPr>
            <a:r>
              <a:rPr lang="en-US" sz="820" b="1" dirty="0">
                <a:solidFill>
                  <a:srgbClr val="A3282C"/>
                </a:solidFill>
                <a:latin typeface="Calibri" pitchFamily="34" charset="0"/>
                <a:ea typeface="Calibri" pitchFamily="34" charset="-122"/>
                <a:cs typeface="Calibri" pitchFamily="34" charset="-120"/>
              </a:rPr>
              <a:t>Directly enables the level-one market-access argument</a:t>
            </a:r>
            <a:endParaRPr lang="en-US" sz="820" dirty="0"/>
          </a:p>
        </p:txBody>
      </p:sp>
      <p:sp>
        <p:nvSpPr>
          <p:cNvPr id="19" name="Shape 17"/>
          <p:cNvSpPr/>
          <p:nvPr/>
        </p:nvSpPr>
        <p:spPr>
          <a:xfrm>
            <a:off x="411480" y="2724912"/>
            <a:ext cx="11375136" cy="658368"/>
          </a:xfrm>
          <a:prstGeom prst="rect">
            <a:avLst/>
          </a:prstGeom>
          <a:solidFill>
            <a:srgbClr val="FFFFFF"/>
          </a:solidFill>
          <a:ln w="7620">
            <a:solidFill>
              <a:srgbClr val="D3DCE5"/>
            </a:solidFill>
            <a:prstDash val="solid"/>
          </a:ln>
        </p:spPr>
      </p:sp>
      <p:sp>
        <p:nvSpPr>
          <p:cNvPr id="20" name="Shape 18"/>
          <p:cNvSpPr/>
          <p:nvPr/>
        </p:nvSpPr>
        <p:spPr>
          <a:xfrm>
            <a:off x="557784" y="2898648"/>
            <a:ext cx="310896" cy="310896"/>
          </a:xfrm>
          <a:prstGeom prst="ellipse">
            <a:avLst/>
          </a:prstGeom>
          <a:solidFill>
            <a:srgbClr val="C2610A"/>
          </a:solidFill>
          <a:ln/>
        </p:spPr>
      </p:sp>
      <p:sp>
        <p:nvSpPr>
          <p:cNvPr id="21" name="Text 19"/>
          <p:cNvSpPr txBox="1"/>
          <p:nvPr/>
        </p:nvSpPr>
        <p:spPr>
          <a:xfrm>
            <a:off x="557784" y="289864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20"/>
          <p:cNvSpPr txBox="1"/>
          <p:nvPr/>
        </p:nvSpPr>
        <p:spPr>
          <a:xfrm>
            <a:off x="978408" y="2770632"/>
            <a:ext cx="3931920" cy="566928"/>
          </a:xfrm>
          <a:prstGeom prst="rect">
            <a:avLst/>
          </a:prstGeom>
          <a:noFill/>
          <a:ln/>
        </p:spPr>
        <p:txBody>
          <a:bodyPr wrap="square" lIns="0" tIns="0" rIns="0" bIns="0" rtlCol="0" anchor="ctr"/>
          <a:lstStyle/>
          <a:p>
            <a:pPr indent="0" marL="0">
              <a:buNone/>
            </a:pPr>
            <a:r>
              <a:rPr lang="en-US" sz="930" b="1" dirty="0">
                <a:solidFill>
                  <a:srgbClr val="10233A"/>
                </a:solidFill>
                <a:latin typeface="Calibri" pitchFamily="34" charset="0"/>
                <a:ea typeface="Calibri" pitchFamily="34" charset="-122"/>
                <a:cs typeface="Calibri" pitchFamily="34" charset="-120"/>
              </a:rPr>
              <a:t>Disclose the tailings method and GISTM conformance</a:t>
            </a:r>
            <a:endParaRPr lang="en-US" sz="930" dirty="0"/>
          </a:p>
        </p:txBody>
      </p:sp>
      <p:sp>
        <p:nvSpPr>
          <p:cNvPr id="23" name="Text 21"/>
          <p:cNvSpPr txBox="1"/>
          <p:nvPr/>
        </p:nvSpPr>
        <p:spPr>
          <a:xfrm>
            <a:off x="5029200" y="2770632"/>
            <a:ext cx="4206240" cy="566928"/>
          </a:xfrm>
          <a:prstGeom prst="rect">
            <a:avLst/>
          </a:prstGeom>
          <a:noFill/>
          <a:ln/>
        </p:spPr>
        <p:txBody>
          <a:bodyPr wrap="square" lIns="0" tIns="0" rIns="0" bIns="0" rtlCol="0" anchor="ctr"/>
          <a:lstStyle/>
          <a:p>
            <a:pPr indent="0" marL="0">
              <a:lnSpc>
                <a:spcPct val="104000"/>
              </a:lnSpc>
              <a:buNone/>
            </a:pPr>
            <a:r>
              <a:rPr lang="en-US" sz="820" dirty="0">
                <a:solidFill>
                  <a:srgbClr val="1B2733"/>
                </a:solidFill>
                <a:latin typeface="Calibri" pitchFamily="34" charset="0"/>
                <a:ea typeface="Calibri" pitchFamily="34" charset="-122"/>
                <a:cs typeface="Calibri" pitchFamily="34" charset="-120"/>
              </a:rPr>
              <a:t>Tailings volumes roughly double with P2000. An undisclosed method on a doubling asset is an unpriced risk for every holder.</a:t>
            </a:r>
            <a:endParaRPr lang="en-US" sz="820" dirty="0"/>
          </a:p>
        </p:txBody>
      </p:sp>
      <p:sp>
        <p:nvSpPr>
          <p:cNvPr id="24" name="Text 22"/>
          <p:cNvSpPr txBox="1"/>
          <p:nvPr/>
        </p:nvSpPr>
        <p:spPr>
          <a:xfrm>
            <a:off x="9354312" y="2770632"/>
            <a:ext cx="2286000" cy="566928"/>
          </a:xfrm>
          <a:prstGeom prst="rect">
            <a:avLst/>
          </a:prstGeom>
          <a:noFill/>
          <a:ln/>
        </p:spPr>
        <p:txBody>
          <a:bodyPr wrap="square" lIns="0" tIns="0" rIns="0" bIns="0" rtlCol="0" anchor="ctr"/>
          <a:lstStyle/>
          <a:p>
            <a:pPr indent="0" marL="0">
              <a:lnSpc>
                <a:spcPct val="104000"/>
              </a:lnSpc>
              <a:buNone/>
            </a:pPr>
            <a:r>
              <a:rPr lang="en-US" sz="820" b="1" dirty="0">
                <a:solidFill>
                  <a:srgbClr val="C2610A"/>
                </a:solidFill>
                <a:latin typeface="Calibri" pitchFamily="34" charset="0"/>
                <a:ea typeface="Calibri" pitchFamily="34" charset="-122"/>
                <a:cs typeface="Calibri" pitchFamily="34" charset="-120"/>
              </a:rPr>
              <a:t>Removes an unpriced risk we currently carry at nil</a:t>
            </a:r>
            <a:endParaRPr lang="en-US" sz="820" dirty="0"/>
          </a:p>
        </p:txBody>
      </p:sp>
      <p:sp>
        <p:nvSpPr>
          <p:cNvPr id="25" name="Shape 23"/>
          <p:cNvSpPr/>
          <p:nvPr/>
        </p:nvSpPr>
        <p:spPr>
          <a:xfrm>
            <a:off x="411480" y="3438144"/>
            <a:ext cx="11375136" cy="658368"/>
          </a:xfrm>
          <a:prstGeom prst="rect">
            <a:avLst/>
          </a:prstGeom>
          <a:solidFill>
            <a:srgbClr val="F7F9FB"/>
          </a:solidFill>
          <a:ln w="7620">
            <a:solidFill>
              <a:srgbClr val="D3DCE5"/>
            </a:solidFill>
            <a:prstDash val="solid"/>
          </a:ln>
        </p:spPr>
      </p:sp>
      <p:sp>
        <p:nvSpPr>
          <p:cNvPr id="26" name="Shape 24"/>
          <p:cNvSpPr/>
          <p:nvPr/>
        </p:nvSpPr>
        <p:spPr>
          <a:xfrm>
            <a:off x="557784" y="3611880"/>
            <a:ext cx="310896" cy="310896"/>
          </a:xfrm>
          <a:prstGeom prst="ellipse">
            <a:avLst/>
          </a:prstGeom>
          <a:solidFill>
            <a:srgbClr val="C2610A"/>
          </a:solidFill>
          <a:ln/>
        </p:spPr>
      </p:sp>
      <p:sp>
        <p:nvSpPr>
          <p:cNvPr id="27" name="Text 25"/>
          <p:cNvSpPr txBox="1"/>
          <p:nvPr/>
        </p:nvSpPr>
        <p:spPr>
          <a:xfrm>
            <a:off x="557784" y="361188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8" name="Text 26"/>
          <p:cNvSpPr txBox="1"/>
          <p:nvPr/>
        </p:nvSpPr>
        <p:spPr>
          <a:xfrm>
            <a:off x="978408" y="3483864"/>
            <a:ext cx="3931920" cy="566928"/>
          </a:xfrm>
          <a:prstGeom prst="rect">
            <a:avLst/>
          </a:prstGeom>
          <a:noFill/>
          <a:ln/>
        </p:spPr>
        <p:txBody>
          <a:bodyPr wrap="square" lIns="0" tIns="0" rIns="0" bIns="0" rtlCol="0" anchor="ctr"/>
          <a:lstStyle/>
          <a:p>
            <a:pPr indent="0" marL="0">
              <a:buNone/>
            </a:pPr>
            <a:r>
              <a:rPr lang="en-US" sz="930" b="1" dirty="0">
                <a:solidFill>
                  <a:srgbClr val="10233A"/>
                </a:solidFill>
                <a:latin typeface="Calibri" pitchFamily="34" charset="0"/>
                <a:ea typeface="Calibri" pitchFamily="34" charset="-122"/>
                <a:cs typeface="Calibri" pitchFamily="34" charset="-120"/>
              </a:rPr>
              <a:t>Put sustainability measures into incentive pay, with disclosed weightings</a:t>
            </a:r>
            <a:endParaRPr lang="en-US" sz="930" dirty="0"/>
          </a:p>
        </p:txBody>
      </p:sp>
      <p:sp>
        <p:nvSpPr>
          <p:cNvPr id="29" name="Text 27"/>
          <p:cNvSpPr txBox="1"/>
          <p:nvPr/>
        </p:nvSpPr>
        <p:spPr>
          <a:xfrm>
            <a:off x="5029200" y="3483864"/>
            <a:ext cx="4206240" cy="566928"/>
          </a:xfrm>
          <a:prstGeom prst="rect">
            <a:avLst/>
          </a:prstGeom>
          <a:noFill/>
          <a:ln/>
        </p:spPr>
        <p:txBody>
          <a:bodyPr wrap="square" lIns="0" tIns="0" rIns="0" bIns="0" rtlCol="0" anchor="ctr"/>
          <a:lstStyle/>
          <a:p>
            <a:pPr indent="0" marL="0">
              <a:lnSpc>
                <a:spcPct val="104000"/>
              </a:lnSpc>
              <a:buNone/>
            </a:pPr>
            <a:r>
              <a:rPr lang="en-US" sz="820" dirty="0">
                <a:solidFill>
                  <a:srgbClr val="1B2733"/>
                </a:solidFill>
                <a:latin typeface="Calibri" pitchFamily="34" charset="0"/>
                <a:ea typeface="Calibri" pitchFamily="34" charset="-122"/>
                <a:cs typeface="Calibri" pitchFamily="34" charset="-120"/>
              </a:rPr>
              <a:t>A strategy that depends on management goodwill does not survive a change of management. Weighted scorecard metrics do.</a:t>
            </a:r>
            <a:endParaRPr lang="en-US" sz="820" dirty="0"/>
          </a:p>
        </p:txBody>
      </p:sp>
      <p:sp>
        <p:nvSpPr>
          <p:cNvPr id="30" name="Text 28"/>
          <p:cNvSpPr txBox="1"/>
          <p:nvPr/>
        </p:nvSpPr>
        <p:spPr>
          <a:xfrm>
            <a:off x="9354312" y="3483864"/>
            <a:ext cx="2286000" cy="566928"/>
          </a:xfrm>
          <a:prstGeom prst="rect">
            <a:avLst/>
          </a:prstGeom>
          <a:noFill/>
          <a:ln/>
        </p:spPr>
        <p:txBody>
          <a:bodyPr wrap="square" lIns="0" tIns="0" rIns="0" bIns="0" rtlCol="0" anchor="ctr"/>
          <a:lstStyle/>
          <a:p>
            <a:pPr indent="0" marL="0">
              <a:lnSpc>
                <a:spcPct val="104000"/>
              </a:lnSpc>
              <a:buNone/>
            </a:pPr>
            <a:r>
              <a:rPr lang="en-US" sz="820" b="1" dirty="0">
                <a:solidFill>
                  <a:srgbClr val="C2610A"/>
                </a:solidFill>
                <a:latin typeface="Calibri" pitchFamily="34" charset="0"/>
                <a:ea typeface="Calibri" pitchFamily="34" charset="-122"/>
                <a:cs typeface="Calibri" pitchFamily="34" charset="-120"/>
              </a:rPr>
              <a:t>Makes the shared-value strategy durable beyond the current team</a:t>
            </a:r>
            <a:endParaRPr lang="en-US" sz="820" dirty="0"/>
          </a:p>
        </p:txBody>
      </p:sp>
      <p:sp>
        <p:nvSpPr>
          <p:cNvPr id="31" name="Shape 29"/>
          <p:cNvSpPr/>
          <p:nvPr/>
        </p:nvSpPr>
        <p:spPr>
          <a:xfrm>
            <a:off x="411480" y="4151376"/>
            <a:ext cx="11375136" cy="658368"/>
          </a:xfrm>
          <a:prstGeom prst="rect">
            <a:avLst/>
          </a:prstGeom>
          <a:solidFill>
            <a:srgbClr val="FFFFFF"/>
          </a:solidFill>
          <a:ln w="7620">
            <a:solidFill>
              <a:srgbClr val="D3DCE5"/>
            </a:solidFill>
            <a:prstDash val="solid"/>
          </a:ln>
        </p:spPr>
      </p:sp>
      <p:sp>
        <p:nvSpPr>
          <p:cNvPr id="32" name="Shape 30"/>
          <p:cNvSpPr/>
          <p:nvPr/>
        </p:nvSpPr>
        <p:spPr>
          <a:xfrm>
            <a:off x="557784" y="4325112"/>
            <a:ext cx="310896" cy="310896"/>
          </a:xfrm>
          <a:prstGeom prst="ellipse">
            <a:avLst/>
          </a:prstGeom>
          <a:solidFill>
            <a:srgbClr val="C2610A"/>
          </a:solidFill>
          <a:ln/>
        </p:spPr>
      </p:sp>
      <p:sp>
        <p:nvSpPr>
          <p:cNvPr id="33" name="Text 31"/>
          <p:cNvSpPr txBox="1"/>
          <p:nvPr/>
        </p:nvSpPr>
        <p:spPr>
          <a:xfrm>
            <a:off x="557784" y="432511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4" name="Text 32"/>
          <p:cNvSpPr txBox="1"/>
          <p:nvPr/>
        </p:nvSpPr>
        <p:spPr>
          <a:xfrm>
            <a:off x="978408" y="4197096"/>
            <a:ext cx="3931920" cy="566928"/>
          </a:xfrm>
          <a:prstGeom prst="rect">
            <a:avLst/>
          </a:prstGeom>
          <a:noFill/>
          <a:ln/>
        </p:spPr>
        <p:txBody>
          <a:bodyPr wrap="square" lIns="0" tIns="0" rIns="0" bIns="0" rtlCol="0" anchor="ctr"/>
          <a:lstStyle/>
          <a:p>
            <a:pPr indent="0" marL="0">
              <a:buNone/>
            </a:pPr>
            <a:r>
              <a:rPr lang="en-US" sz="930" b="1" dirty="0">
                <a:solidFill>
                  <a:srgbClr val="10233A"/>
                </a:solidFill>
                <a:latin typeface="Calibri" pitchFamily="34" charset="0"/>
                <a:ea typeface="Calibri" pitchFamily="34" charset="-122"/>
                <a:cs typeface="Calibri" pitchFamily="34" charset="-120"/>
              </a:rPr>
              <a:t>Get ahead of the Pilbara offsets problem</a:t>
            </a:r>
            <a:endParaRPr lang="en-US" sz="930" dirty="0"/>
          </a:p>
        </p:txBody>
      </p:sp>
      <p:sp>
        <p:nvSpPr>
          <p:cNvPr id="35" name="Text 33"/>
          <p:cNvSpPr txBox="1"/>
          <p:nvPr/>
        </p:nvSpPr>
        <p:spPr>
          <a:xfrm>
            <a:off x="5029200" y="4197096"/>
            <a:ext cx="4206240" cy="566928"/>
          </a:xfrm>
          <a:prstGeom prst="rect">
            <a:avLst/>
          </a:prstGeom>
          <a:noFill/>
          <a:ln/>
        </p:spPr>
        <p:txBody>
          <a:bodyPr wrap="square" lIns="0" tIns="0" rIns="0" bIns="0" rtlCol="0" anchor="ctr"/>
          <a:lstStyle/>
          <a:p>
            <a:pPr indent="0" marL="0">
              <a:lnSpc>
                <a:spcPct val="104000"/>
              </a:lnSpc>
              <a:buNone/>
            </a:pPr>
            <a:r>
              <a:rPr lang="en-US" sz="820" dirty="0">
                <a:solidFill>
                  <a:srgbClr val="1B2733"/>
                </a:solidFill>
                <a:latin typeface="Calibri" pitchFamily="34" charset="0"/>
                <a:ea typeface="Calibri" pitchFamily="34" charset="-122"/>
                <a:cs typeface="Calibri" pitchFamily="34" charset="-120"/>
              </a:rPr>
              <a:t>The regional scheme has been independently found underfunded. The operator that funds real landscape conservation before the scheme is repriced buys both goodwill and regulatory optionality.</a:t>
            </a:r>
            <a:endParaRPr lang="en-US" sz="820" dirty="0"/>
          </a:p>
        </p:txBody>
      </p:sp>
      <p:sp>
        <p:nvSpPr>
          <p:cNvPr id="36" name="Text 34"/>
          <p:cNvSpPr txBox="1"/>
          <p:nvPr/>
        </p:nvSpPr>
        <p:spPr>
          <a:xfrm>
            <a:off x="9354312" y="4197096"/>
            <a:ext cx="2286000" cy="566928"/>
          </a:xfrm>
          <a:prstGeom prst="rect">
            <a:avLst/>
          </a:prstGeom>
          <a:noFill/>
          <a:ln/>
        </p:spPr>
        <p:txBody>
          <a:bodyPr wrap="square" lIns="0" tIns="0" rIns="0" bIns="0" rtlCol="0" anchor="ctr"/>
          <a:lstStyle/>
          <a:p>
            <a:pPr indent="0" marL="0">
              <a:lnSpc>
                <a:spcPct val="104000"/>
              </a:lnSpc>
              <a:buNone/>
            </a:pPr>
            <a:r>
              <a:rPr lang="en-US" sz="820" b="1" dirty="0">
                <a:solidFill>
                  <a:srgbClr val="C2610A"/>
                </a:solidFill>
                <a:latin typeface="Calibri" pitchFamily="34" charset="0"/>
                <a:ea typeface="Calibri" pitchFamily="34" charset="-122"/>
                <a:cs typeface="Calibri" pitchFamily="34" charset="-120"/>
              </a:rPr>
              <a:t>Converts a sector-wide liability into a differentiator</a:t>
            </a:r>
            <a:endParaRPr lang="en-US" sz="820" dirty="0"/>
          </a:p>
        </p:txBody>
      </p:sp>
      <p:sp>
        <p:nvSpPr>
          <p:cNvPr id="37" name="Shape 35"/>
          <p:cNvSpPr/>
          <p:nvPr/>
        </p:nvSpPr>
        <p:spPr>
          <a:xfrm>
            <a:off x="411480" y="5010912"/>
            <a:ext cx="11375136" cy="987552"/>
          </a:xfrm>
          <a:prstGeom prst="rect">
            <a:avLst/>
          </a:prstGeom>
          <a:solidFill>
            <a:srgbClr val="D6EBE7"/>
          </a:solidFill>
          <a:ln w="9525">
            <a:solidFill>
              <a:srgbClr val="AFD3CC"/>
            </a:solidFill>
            <a:prstDash val="solid"/>
          </a:ln>
        </p:spPr>
      </p:sp>
      <p:sp>
        <p:nvSpPr>
          <p:cNvPr id="38" name="Text 36"/>
          <p:cNvSpPr txBox="1"/>
          <p:nvPr/>
        </p:nvSpPr>
        <p:spPr>
          <a:xfrm>
            <a:off x="576072" y="5138928"/>
            <a:ext cx="11045952"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Why this belongs in an investment recommendation</a:t>
            </a:r>
            <a:endParaRPr lang="en-US" sz="1150" dirty="0"/>
          </a:p>
        </p:txBody>
      </p:sp>
      <p:sp>
        <p:nvSpPr>
          <p:cNvPr id="39" name="Text 37"/>
          <p:cNvSpPr txBox="1"/>
          <p:nvPr/>
        </p:nvSpPr>
        <p:spPr>
          <a:xfrm>
            <a:off x="576072" y="5468112"/>
            <a:ext cx="11045952" cy="438912"/>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Shared value is not something an investor observes from outside. Porter and Kramer's argument is that the returns come from changing how a business is run, which means a holder with a multi-year horizon is a participant rather than a spectator. Each of the five asks above would, if met, move a lever we have currently valued at zero.</a:t>
            </a:r>
            <a:endParaRPr lang="en-US" sz="940" dirty="0"/>
          </a:p>
        </p:txBody>
      </p:sp>
      <p:sp>
        <p:nvSpPr>
          <p:cNvPr id="40" name="Text 38"/>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Engagement priorities are the team's, derived from the gaps identified across section D.</a:t>
            </a:r>
            <a:endParaRPr lang="en-US" sz="720" dirty="0"/>
          </a:p>
        </p:txBody>
      </p:sp>
      <p:sp>
        <p:nvSpPr>
          <p:cNvPr id="41" name="Text 39"/>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D11</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mbria" pitchFamily="34" charset="0"/>
                <a:ea typeface="Cambria" pitchFamily="34" charset="-122"/>
                <a:cs typeface="Cambria" pitchFamily="34" charset="-120"/>
              </a:rPr>
              <a:t>Nineteen sheets, 1,728 live formulas, zero evaluation errors. One switch repoints the whole thing.</a:t>
            </a:r>
            <a:endParaRPr lang="en-US" sz="170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E1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331720" cy="292608"/>
          </a:xfrm>
          <a:prstGeom prst="rect">
            <a:avLst/>
          </a:prstGeom>
          <a:solidFill>
            <a:srgbClr val="10233A"/>
          </a:solidFill>
          <a:ln/>
        </p:spPr>
      </p:sp>
      <p:sp>
        <p:nvSpPr>
          <p:cNvPr id="8" name="Text 6"/>
          <p:cNvSpPr txBox="1"/>
          <p:nvPr/>
        </p:nvSpPr>
        <p:spPr>
          <a:xfrm>
            <a:off x="475488" y="1298448"/>
            <a:ext cx="22037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Sheet</a:t>
            </a:r>
            <a:endParaRPr lang="en-US" sz="900" dirty="0"/>
          </a:p>
        </p:txBody>
      </p:sp>
      <p:sp>
        <p:nvSpPr>
          <p:cNvPr id="9" name="Shape 7"/>
          <p:cNvSpPr/>
          <p:nvPr/>
        </p:nvSpPr>
        <p:spPr>
          <a:xfrm>
            <a:off x="2743200" y="1298448"/>
            <a:ext cx="5074920" cy="292608"/>
          </a:xfrm>
          <a:prstGeom prst="rect">
            <a:avLst/>
          </a:prstGeom>
          <a:solidFill>
            <a:srgbClr val="10233A"/>
          </a:solidFill>
          <a:ln/>
        </p:spPr>
      </p:sp>
      <p:sp>
        <p:nvSpPr>
          <p:cNvPr id="10" name="Text 8"/>
          <p:cNvSpPr txBox="1"/>
          <p:nvPr/>
        </p:nvSpPr>
        <p:spPr>
          <a:xfrm>
            <a:off x="2807208" y="1298448"/>
            <a:ext cx="49469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it does</a:t>
            </a:r>
            <a:endParaRPr lang="en-US" sz="900" dirty="0"/>
          </a:p>
        </p:txBody>
      </p:sp>
      <p:sp>
        <p:nvSpPr>
          <p:cNvPr id="11" name="Shape 9"/>
          <p:cNvSpPr/>
          <p:nvPr/>
        </p:nvSpPr>
        <p:spPr>
          <a:xfrm>
            <a:off x="7818120" y="1298448"/>
            <a:ext cx="3968496" cy="292608"/>
          </a:xfrm>
          <a:prstGeom prst="rect">
            <a:avLst/>
          </a:prstGeom>
          <a:solidFill>
            <a:srgbClr val="10233A"/>
          </a:solidFill>
          <a:ln/>
        </p:spPr>
      </p:sp>
      <p:sp>
        <p:nvSpPr>
          <p:cNvPr id="12" name="Text 10"/>
          <p:cNvSpPr txBox="1"/>
          <p:nvPr/>
        </p:nvSpPr>
        <p:spPr>
          <a:xfrm>
            <a:off x="7882128" y="1298448"/>
            <a:ext cx="384048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 it is there</a:t>
            </a:r>
            <a:endParaRPr lang="en-US" sz="900" dirty="0"/>
          </a:p>
        </p:txBody>
      </p:sp>
      <p:sp>
        <p:nvSpPr>
          <p:cNvPr id="13" name="Shape 11"/>
          <p:cNvSpPr/>
          <p:nvPr/>
        </p:nvSpPr>
        <p:spPr>
          <a:xfrm>
            <a:off x="411480" y="1591056"/>
            <a:ext cx="2331720" cy="320040"/>
          </a:xfrm>
          <a:prstGeom prst="rect">
            <a:avLst/>
          </a:prstGeom>
          <a:solidFill>
            <a:srgbClr val="FFFFFF"/>
          </a:solidFill>
          <a:ln w="6350">
            <a:solidFill>
              <a:srgbClr val="D3DCE5"/>
            </a:solidFill>
            <a:prstDash val="solid"/>
          </a:ln>
        </p:spPr>
      </p:sp>
      <p:sp>
        <p:nvSpPr>
          <p:cNvPr id="14" name="Text 12"/>
          <p:cNvSpPr txBox="1"/>
          <p:nvPr/>
        </p:nvSpPr>
        <p:spPr>
          <a:xfrm>
            <a:off x="475488" y="1591056"/>
            <a:ext cx="2203704" cy="32004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Assumptions</a:t>
            </a:r>
            <a:endParaRPr lang="en-US" sz="840" dirty="0"/>
          </a:p>
        </p:txBody>
      </p:sp>
      <p:sp>
        <p:nvSpPr>
          <p:cNvPr id="15" name="Shape 13"/>
          <p:cNvSpPr/>
          <p:nvPr/>
        </p:nvSpPr>
        <p:spPr>
          <a:xfrm>
            <a:off x="2743200" y="1591056"/>
            <a:ext cx="5074920" cy="320040"/>
          </a:xfrm>
          <a:prstGeom prst="rect">
            <a:avLst/>
          </a:prstGeom>
          <a:solidFill>
            <a:srgbClr val="FFFFFF"/>
          </a:solidFill>
          <a:ln w="6350">
            <a:solidFill>
              <a:srgbClr val="D3DCE5"/>
            </a:solidFill>
            <a:prstDash val="solid"/>
          </a:ln>
        </p:spPr>
      </p:sp>
      <p:sp>
        <p:nvSpPr>
          <p:cNvPr id="16" name="Text 14"/>
          <p:cNvSpPr txBox="1"/>
          <p:nvPr/>
        </p:nvSpPr>
        <p:spPr>
          <a:xfrm>
            <a:off x="2807208" y="1591056"/>
            <a:ext cx="4946904"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Scenario switch, market data, CAPM and WACC build, orebody inputs, operating drivers</a:t>
            </a:r>
            <a:endParaRPr lang="en-US" sz="840" dirty="0"/>
          </a:p>
        </p:txBody>
      </p:sp>
      <p:sp>
        <p:nvSpPr>
          <p:cNvPr id="17" name="Shape 15"/>
          <p:cNvSpPr/>
          <p:nvPr/>
        </p:nvSpPr>
        <p:spPr>
          <a:xfrm>
            <a:off x="7818120" y="1591056"/>
            <a:ext cx="3968496" cy="320040"/>
          </a:xfrm>
          <a:prstGeom prst="rect">
            <a:avLst/>
          </a:prstGeom>
          <a:solidFill>
            <a:srgbClr val="FFFFFF"/>
          </a:solidFill>
          <a:ln w="6350">
            <a:solidFill>
              <a:srgbClr val="D3DCE5"/>
            </a:solidFill>
            <a:prstDash val="solid"/>
          </a:ln>
        </p:spPr>
      </p:sp>
      <p:sp>
        <p:nvSpPr>
          <p:cNvPr id="18" name="Text 16"/>
          <p:cNvSpPr txBox="1"/>
          <p:nvPr/>
        </p:nvSpPr>
        <p:spPr>
          <a:xfrm>
            <a:off x="7882128" y="1591056"/>
            <a:ext cx="3840480"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Every driver in the model resolves to a cell here. Nothing downstream is typed</a:t>
            </a:r>
            <a:endParaRPr lang="en-US" sz="840" dirty="0"/>
          </a:p>
        </p:txBody>
      </p:sp>
      <p:sp>
        <p:nvSpPr>
          <p:cNvPr id="19" name="Shape 17"/>
          <p:cNvSpPr/>
          <p:nvPr/>
        </p:nvSpPr>
        <p:spPr>
          <a:xfrm>
            <a:off x="411480" y="1911096"/>
            <a:ext cx="2331720" cy="320040"/>
          </a:xfrm>
          <a:prstGeom prst="rect">
            <a:avLst/>
          </a:prstGeom>
          <a:solidFill>
            <a:srgbClr val="F7F9FB"/>
          </a:solidFill>
          <a:ln w="6350">
            <a:solidFill>
              <a:srgbClr val="D3DCE5"/>
            </a:solidFill>
            <a:prstDash val="solid"/>
          </a:ln>
        </p:spPr>
      </p:sp>
      <p:sp>
        <p:nvSpPr>
          <p:cNvPr id="20" name="Text 18"/>
          <p:cNvSpPr txBox="1"/>
          <p:nvPr/>
        </p:nvSpPr>
        <p:spPr>
          <a:xfrm>
            <a:off x="475488" y="1911096"/>
            <a:ext cx="2203704" cy="32004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Deck</a:t>
            </a:r>
            <a:endParaRPr lang="en-US" sz="840" dirty="0"/>
          </a:p>
        </p:txBody>
      </p:sp>
      <p:sp>
        <p:nvSpPr>
          <p:cNvPr id="21" name="Shape 19"/>
          <p:cNvSpPr/>
          <p:nvPr/>
        </p:nvSpPr>
        <p:spPr>
          <a:xfrm>
            <a:off x="2743200" y="1911096"/>
            <a:ext cx="5074920" cy="320040"/>
          </a:xfrm>
          <a:prstGeom prst="rect">
            <a:avLst/>
          </a:prstGeom>
          <a:solidFill>
            <a:srgbClr val="F7F9FB"/>
          </a:solidFill>
          <a:ln w="6350">
            <a:solidFill>
              <a:srgbClr val="D3DCE5"/>
            </a:solidFill>
            <a:prstDash val="solid"/>
          </a:ln>
        </p:spPr>
      </p:sp>
      <p:sp>
        <p:nvSpPr>
          <p:cNvPr id="22" name="Text 20"/>
          <p:cNvSpPr txBox="1"/>
          <p:nvPr/>
        </p:nvSpPr>
        <p:spPr>
          <a:xfrm>
            <a:off x="2807208" y="1911096"/>
            <a:ext cx="4946904"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Production by asset, realised price, unit cost and capex - all three scenarios side by side</a:t>
            </a:r>
            <a:endParaRPr lang="en-US" sz="840" dirty="0"/>
          </a:p>
        </p:txBody>
      </p:sp>
      <p:sp>
        <p:nvSpPr>
          <p:cNvPr id="23" name="Shape 21"/>
          <p:cNvSpPr/>
          <p:nvPr/>
        </p:nvSpPr>
        <p:spPr>
          <a:xfrm>
            <a:off x="7818120" y="1911096"/>
            <a:ext cx="3968496" cy="320040"/>
          </a:xfrm>
          <a:prstGeom prst="rect">
            <a:avLst/>
          </a:prstGeom>
          <a:solidFill>
            <a:srgbClr val="F7F9FB"/>
          </a:solidFill>
          <a:ln w="6350">
            <a:solidFill>
              <a:srgbClr val="D3DCE5"/>
            </a:solidFill>
            <a:prstDash val="solid"/>
          </a:ln>
        </p:spPr>
      </p:sp>
      <p:sp>
        <p:nvSpPr>
          <p:cNvPr id="24" name="Text 22"/>
          <p:cNvSpPr txBox="1"/>
          <p:nvPr/>
        </p:nvSpPr>
        <p:spPr>
          <a:xfrm>
            <a:off x="7882128" y="1911096"/>
            <a:ext cx="3840480"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The ACTIVE block uses CHOOSE() against the switch, so one cell repoints the model</a:t>
            </a:r>
            <a:endParaRPr lang="en-US" sz="840" dirty="0"/>
          </a:p>
        </p:txBody>
      </p:sp>
      <p:sp>
        <p:nvSpPr>
          <p:cNvPr id="25" name="Shape 23"/>
          <p:cNvSpPr/>
          <p:nvPr/>
        </p:nvSpPr>
        <p:spPr>
          <a:xfrm>
            <a:off x="411480" y="2231136"/>
            <a:ext cx="2331720" cy="320040"/>
          </a:xfrm>
          <a:prstGeom prst="rect">
            <a:avLst/>
          </a:prstGeom>
          <a:solidFill>
            <a:srgbClr val="FFFFFF"/>
          </a:solidFill>
          <a:ln w="6350">
            <a:solidFill>
              <a:srgbClr val="D3DCE5"/>
            </a:solidFill>
            <a:prstDash val="solid"/>
          </a:ln>
        </p:spPr>
      </p:sp>
      <p:sp>
        <p:nvSpPr>
          <p:cNvPr id="26" name="Text 24"/>
          <p:cNvSpPr txBox="1"/>
          <p:nvPr/>
        </p:nvSpPr>
        <p:spPr>
          <a:xfrm>
            <a:off x="475488" y="2231136"/>
            <a:ext cx="2203704" cy="32004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Revenue Build</a:t>
            </a:r>
            <a:endParaRPr lang="en-US" sz="840" dirty="0"/>
          </a:p>
        </p:txBody>
      </p:sp>
      <p:sp>
        <p:nvSpPr>
          <p:cNvPr id="27" name="Shape 25"/>
          <p:cNvSpPr/>
          <p:nvPr/>
        </p:nvSpPr>
        <p:spPr>
          <a:xfrm>
            <a:off x="2743200" y="2231136"/>
            <a:ext cx="5074920" cy="320040"/>
          </a:xfrm>
          <a:prstGeom prst="rect">
            <a:avLst/>
          </a:prstGeom>
          <a:solidFill>
            <a:srgbClr val="FFFFFF"/>
          </a:solidFill>
          <a:ln w="6350">
            <a:solidFill>
              <a:srgbClr val="D3DCE5"/>
            </a:solidFill>
            <a:prstDash val="solid"/>
          </a:ln>
        </p:spPr>
      </p:sp>
      <p:sp>
        <p:nvSpPr>
          <p:cNvPr id="28" name="Text 26"/>
          <p:cNvSpPr txBox="1"/>
          <p:nvPr/>
        </p:nvSpPr>
        <p:spPr>
          <a:xfrm>
            <a:off x="2807208" y="2231136"/>
            <a:ext cx="4946904"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Volume times price by asset, with a freight and timing adjustment calibrated to reported revenue</a:t>
            </a:r>
            <a:endParaRPr lang="en-US" sz="840" dirty="0"/>
          </a:p>
        </p:txBody>
      </p:sp>
      <p:sp>
        <p:nvSpPr>
          <p:cNvPr id="29" name="Shape 27"/>
          <p:cNvSpPr/>
          <p:nvPr/>
        </p:nvSpPr>
        <p:spPr>
          <a:xfrm>
            <a:off x="7818120" y="2231136"/>
            <a:ext cx="3968496" cy="320040"/>
          </a:xfrm>
          <a:prstGeom prst="rect">
            <a:avLst/>
          </a:prstGeom>
          <a:solidFill>
            <a:srgbClr val="FFFFFF"/>
          </a:solidFill>
          <a:ln w="6350">
            <a:solidFill>
              <a:srgbClr val="D3DCE5"/>
            </a:solidFill>
            <a:prstDash val="solid"/>
          </a:ln>
        </p:spPr>
      </p:sp>
      <p:sp>
        <p:nvSpPr>
          <p:cNvPr id="30" name="Text 28"/>
          <p:cNvSpPr txBox="1"/>
          <p:nvPr/>
        </p:nvSpPr>
        <p:spPr>
          <a:xfrm>
            <a:off x="7882128" y="2231136"/>
            <a:ext cx="3840480"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FY25A and FY26A tie exactly to reported revenue</a:t>
            </a:r>
            <a:endParaRPr lang="en-US" sz="840" dirty="0"/>
          </a:p>
        </p:txBody>
      </p:sp>
      <p:sp>
        <p:nvSpPr>
          <p:cNvPr id="31" name="Shape 29"/>
          <p:cNvSpPr/>
          <p:nvPr/>
        </p:nvSpPr>
        <p:spPr>
          <a:xfrm>
            <a:off x="411480" y="2551176"/>
            <a:ext cx="2331720" cy="320040"/>
          </a:xfrm>
          <a:prstGeom prst="rect">
            <a:avLst/>
          </a:prstGeom>
          <a:solidFill>
            <a:srgbClr val="F7F9FB"/>
          </a:solidFill>
          <a:ln w="6350">
            <a:solidFill>
              <a:srgbClr val="D3DCE5"/>
            </a:solidFill>
            <a:prstDash val="solid"/>
          </a:ln>
        </p:spPr>
      </p:sp>
      <p:sp>
        <p:nvSpPr>
          <p:cNvPr id="32" name="Text 30"/>
          <p:cNvSpPr txBox="1"/>
          <p:nvPr/>
        </p:nvSpPr>
        <p:spPr>
          <a:xfrm>
            <a:off x="475488" y="2551176"/>
            <a:ext cx="2203704" cy="32004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Income Statement, Balance Sheet, Cash Flow</a:t>
            </a:r>
            <a:endParaRPr lang="en-US" sz="840" dirty="0"/>
          </a:p>
        </p:txBody>
      </p:sp>
      <p:sp>
        <p:nvSpPr>
          <p:cNvPr id="33" name="Shape 31"/>
          <p:cNvSpPr/>
          <p:nvPr/>
        </p:nvSpPr>
        <p:spPr>
          <a:xfrm>
            <a:off x="2743200" y="2551176"/>
            <a:ext cx="5074920" cy="320040"/>
          </a:xfrm>
          <a:prstGeom prst="rect">
            <a:avLst/>
          </a:prstGeom>
          <a:solidFill>
            <a:srgbClr val="F7F9FB"/>
          </a:solidFill>
          <a:ln w="6350">
            <a:solidFill>
              <a:srgbClr val="D3DCE5"/>
            </a:solidFill>
            <a:prstDash val="solid"/>
          </a:ln>
        </p:spPr>
      </p:sp>
      <p:sp>
        <p:nvSpPr>
          <p:cNvPr id="34" name="Text 32"/>
          <p:cNvSpPr txBox="1"/>
          <p:nvPr/>
        </p:nvSpPr>
        <p:spPr>
          <a:xfrm>
            <a:off x="2807208" y="2551176"/>
            <a:ext cx="4946904"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FY24A to FY36F, fully articulated and balancing</a:t>
            </a:r>
            <a:endParaRPr lang="en-US" sz="840" dirty="0"/>
          </a:p>
        </p:txBody>
      </p:sp>
      <p:sp>
        <p:nvSpPr>
          <p:cNvPr id="35" name="Shape 33"/>
          <p:cNvSpPr/>
          <p:nvPr/>
        </p:nvSpPr>
        <p:spPr>
          <a:xfrm>
            <a:off x="7818120" y="2551176"/>
            <a:ext cx="3968496" cy="320040"/>
          </a:xfrm>
          <a:prstGeom prst="rect">
            <a:avLst/>
          </a:prstGeom>
          <a:solidFill>
            <a:srgbClr val="F7F9FB"/>
          </a:solidFill>
          <a:ln w="6350">
            <a:solidFill>
              <a:srgbClr val="D3DCE5"/>
            </a:solidFill>
            <a:prstDash val="solid"/>
          </a:ln>
        </p:spPr>
      </p:sp>
      <p:sp>
        <p:nvSpPr>
          <p:cNvPr id="36" name="Text 34"/>
          <p:cNvSpPr txBox="1"/>
          <p:nvPr/>
        </p:nvSpPr>
        <p:spPr>
          <a:xfrm>
            <a:off x="7882128" y="2551176"/>
            <a:ext cx="3840480"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The balance check row is nil in every year</a:t>
            </a:r>
            <a:endParaRPr lang="en-US" sz="840" dirty="0"/>
          </a:p>
        </p:txBody>
      </p:sp>
      <p:sp>
        <p:nvSpPr>
          <p:cNvPr id="37" name="Shape 35"/>
          <p:cNvSpPr/>
          <p:nvPr/>
        </p:nvSpPr>
        <p:spPr>
          <a:xfrm>
            <a:off x="411480" y="2871216"/>
            <a:ext cx="2331720" cy="320040"/>
          </a:xfrm>
          <a:prstGeom prst="rect">
            <a:avLst/>
          </a:prstGeom>
          <a:solidFill>
            <a:srgbClr val="FFFFFF"/>
          </a:solidFill>
          <a:ln w="6350">
            <a:solidFill>
              <a:srgbClr val="D3DCE5"/>
            </a:solidFill>
            <a:prstDash val="solid"/>
          </a:ln>
        </p:spPr>
      </p:sp>
      <p:sp>
        <p:nvSpPr>
          <p:cNvPr id="38" name="Text 36"/>
          <p:cNvSpPr txBox="1"/>
          <p:nvPr/>
        </p:nvSpPr>
        <p:spPr>
          <a:xfrm>
            <a:off x="475488" y="2871216"/>
            <a:ext cx="2203704" cy="32004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DCF</a:t>
            </a:r>
            <a:endParaRPr lang="en-US" sz="840" dirty="0"/>
          </a:p>
        </p:txBody>
      </p:sp>
      <p:sp>
        <p:nvSpPr>
          <p:cNvPr id="39" name="Shape 37"/>
          <p:cNvSpPr/>
          <p:nvPr/>
        </p:nvSpPr>
        <p:spPr>
          <a:xfrm>
            <a:off x="2743200" y="2871216"/>
            <a:ext cx="5074920" cy="320040"/>
          </a:xfrm>
          <a:prstGeom prst="rect">
            <a:avLst/>
          </a:prstGeom>
          <a:solidFill>
            <a:srgbClr val="FFFFFF"/>
          </a:solidFill>
          <a:ln w="6350">
            <a:solidFill>
              <a:srgbClr val="D3DCE5"/>
            </a:solidFill>
            <a:prstDash val="solid"/>
          </a:ln>
        </p:spPr>
      </p:sp>
      <p:sp>
        <p:nvSpPr>
          <p:cNvPr id="40" name="Text 38"/>
          <p:cNvSpPr txBox="1"/>
          <p:nvPr/>
        </p:nvSpPr>
        <p:spPr>
          <a:xfrm>
            <a:off x="2807208" y="2871216"/>
            <a:ext cx="4946904"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Unlevered FCFF, mid-year discounting, reserve-life annuity terminal value, equity bridge</a:t>
            </a:r>
            <a:endParaRPr lang="en-US" sz="840" dirty="0"/>
          </a:p>
        </p:txBody>
      </p:sp>
      <p:sp>
        <p:nvSpPr>
          <p:cNvPr id="41" name="Shape 39"/>
          <p:cNvSpPr/>
          <p:nvPr/>
        </p:nvSpPr>
        <p:spPr>
          <a:xfrm>
            <a:off x="7818120" y="2871216"/>
            <a:ext cx="3968496" cy="320040"/>
          </a:xfrm>
          <a:prstGeom prst="rect">
            <a:avLst/>
          </a:prstGeom>
          <a:solidFill>
            <a:srgbClr val="FFFFFF"/>
          </a:solidFill>
          <a:ln w="6350">
            <a:solidFill>
              <a:srgbClr val="D3DCE5"/>
            </a:solidFill>
            <a:prstDash val="solid"/>
          </a:ln>
        </p:spPr>
      </p:sp>
      <p:sp>
        <p:nvSpPr>
          <p:cNvPr id="42" name="Text 40"/>
          <p:cNvSpPr txBox="1"/>
          <p:nvPr/>
        </p:nvSpPr>
        <p:spPr>
          <a:xfrm>
            <a:off x="7882128" y="2871216"/>
            <a:ext cx="3840480"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The primary valuation</a:t>
            </a:r>
            <a:endParaRPr lang="en-US" sz="840" dirty="0"/>
          </a:p>
        </p:txBody>
      </p:sp>
      <p:sp>
        <p:nvSpPr>
          <p:cNvPr id="43" name="Shape 41"/>
          <p:cNvSpPr/>
          <p:nvPr/>
        </p:nvSpPr>
        <p:spPr>
          <a:xfrm>
            <a:off x="411480" y="3191256"/>
            <a:ext cx="2331720" cy="320040"/>
          </a:xfrm>
          <a:prstGeom prst="rect">
            <a:avLst/>
          </a:prstGeom>
          <a:solidFill>
            <a:srgbClr val="F7F9FB"/>
          </a:solidFill>
          <a:ln w="6350">
            <a:solidFill>
              <a:srgbClr val="D3DCE5"/>
            </a:solidFill>
            <a:prstDash val="solid"/>
          </a:ln>
        </p:spPr>
      </p:sp>
      <p:sp>
        <p:nvSpPr>
          <p:cNvPr id="44" name="Text 42"/>
          <p:cNvSpPr txBox="1"/>
          <p:nvPr/>
        </p:nvSpPr>
        <p:spPr>
          <a:xfrm>
            <a:off x="475488" y="3191256"/>
            <a:ext cx="2203704" cy="32004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Scenario Engine</a:t>
            </a:r>
            <a:endParaRPr lang="en-US" sz="840" dirty="0"/>
          </a:p>
        </p:txBody>
      </p:sp>
      <p:sp>
        <p:nvSpPr>
          <p:cNvPr id="45" name="Shape 43"/>
          <p:cNvSpPr/>
          <p:nvPr/>
        </p:nvSpPr>
        <p:spPr>
          <a:xfrm>
            <a:off x="2743200" y="3191256"/>
            <a:ext cx="5074920" cy="320040"/>
          </a:xfrm>
          <a:prstGeom prst="rect">
            <a:avLst/>
          </a:prstGeom>
          <a:solidFill>
            <a:srgbClr val="F7F9FB"/>
          </a:solidFill>
          <a:ln w="6350">
            <a:solidFill>
              <a:srgbClr val="D3DCE5"/>
            </a:solidFill>
            <a:prstDash val="solid"/>
          </a:ln>
        </p:spPr>
      </p:sp>
      <p:sp>
        <p:nvSpPr>
          <p:cNvPr id="46" name="Text 44"/>
          <p:cNvSpPr txBox="1"/>
          <p:nvPr/>
        </p:nvSpPr>
        <p:spPr>
          <a:xfrm>
            <a:off x="2807208" y="3191256"/>
            <a:ext cx="4946904"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 compact FCFF for each of bear, base and bull, computed simultaneously</a:t>
            </a:r>
            <a:endParaRPr lang="en-US" sz="840" dirty="0"/>
          </a:p>
        </p:txBody>
      </p:sp>
      <p:sp>
        <p:nvSpPr>
          <p:cNvPr id="47" name="Shape 45"/>
          <p:cNvSpPr/>
          <p:nvPr/>
        </p:nvSpPr>
        <p:spPr>
          <a:xfrm>
            <a:off x="7818120" y="3191256"/>
            <a:ext cx="3968496" cy="320040"/>
          </a:xfrm>
          <a:prstGeom prst="rect">
            <a:avLst/>
          </a:prstGeom>
          <a:solidFill>
            <a:srgbClr val="F7F9FB"/>
          </a:solidFill>
          <a:ln w="6350">
            <a:solidFill>
              <a:srgbClr val="D3DCE5"/>
            </a:solidFill>
            <a:prstDash val="solid"/>
          </a:ln>
        </p:spPr>
      </p:sp>
      <p:sp>
        <p:nvSpPr>
          <p:cNvPr id="48" name="Text 46"/>
          <p:cNvSpPr txBox="1"/>
          <p:nvPr/>
        </p:nvSpPr>
        <p:spPr>
          <a:xfrm>
            <a:off x="7882128" y="3191256"/>
            <a:ext cx="3840480"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So the scenario summary is live rather than a pasted snapshot</a:t>
            </a:r>
            <a:endParaRPr lang="en-US" sz="840" dirty="0"/>
          </a:p>
        </p:txBody>
      </p:sp>
      <p:sp>
        <p:nvSpPr>
          <p:cNvPr id="49" name="Shape 47"/>
          <p:cNvSpPr/>
          <p:nvPr/>
        </p:nvSpPr>
        <p:spPr>
          <a:xfrm>
            <a:off x="411480" y="3511296"/>
            <a:ext cx="2331720" cy="320040"/>
          </a:xfrm>
          <a:prstGeom prst="rect">
            <a:avLst/>
          </a:prstGeom>
          <a:solidFill>
            <a:srgbClr val="FFFFFF"/>
          </a:solidFill>
          <a:ln w="6350">
            <a:solidFill>
              <a:srgbClr val="D3DCE5"/>
            </a:solidFill>
            <a:prstDash val="solid"/>
          </a:ln>
        </p:spPr>
      </p:sp>
      <p:sp>
        <p:nvSpPr>
          <p:cNvPr id="50" name="Text 48"/>
          <p:cNvSpPr txBox="1"/>
          <p:nvPr/>
        </p:nvSpPr>
        <p:spPr>
          <a:xfrm>
            <a:off x="475488" y="3511296"/>
            <a:ext cx="2203704" cy="32004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Sensitivity</a:t>
            </a:r>
            <a:endParaRPr lang="en-US" sz="840" dirty="0"/>
          </a:p>
        </p:txBody>
      </p:sp>
      <p:sp>
        <p:nvSpPr>
          <p:cNvPr id="51" name="Shape 49"/>
          <p:cNvSpPr/>
          <p:nvPr/>
        </p:nvSpPr>
        <p:spPr>
          <a:xfrm>
            <a:off x="2743200" y="3511296"/>
            <a:ext cx="5074920" cy="320040"/>
          </a:xfrm>
          <a:prstGeom prst="rect">
            <a:avLst/>
          </a:prstGeom>
          <a:solidFill>
            <a:srgbClr val="FFFFFF"/>
          </a:solidFill>
          <a:ln w="6350">
            <a:solidFill>
              <a:srgbClr val="D3DCE5"/>
            </a:solidFill>
            <a:prstDash val="solid"/>
          </a:ln>
        </p:spPr>
      </p:sp>
      <p:sp>
        <p:nvSpPr>
          <p:cNvPr id="52" name="Text 50"/>
          <p:cNvSpPr txBox="1"/>
          <p:nvPr/>
        </p:nvSpPr>
        <p:spPr>
          <a:xfrm>
            <a:off x="2807208" y="3511296"/>
            <a:ext cx="4946904"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WACC against mine life, and realised price against unit cost, with derived coefficients</a:t>
            </a:r>
            <a:endParaRPr lang="en-US" sz="840" dirty="0"/>
          </a:p>
        </p:txBody>
      </p:sp>
      <p:sp>
        <p:nvSpPr>
          <p:cNvPr id="53" name="Shape 51"/>
          <p:cNvSpPr/>
          <p:nvPr/>
        </p:nvSpPr>
        <p:spPr>
          <a:xfrm>
            <a:off x="7818120" y="3511296"/>
            <a:ext cx="3968496" cy="320040"/>
          </a:xfrm>
          <a:prstGeom prst="rect">
            <a:avLst/>
          </a:prstGeom>
          <a:solidFill>
            <a:srgbClr val="FFFFFF"/>
          </a:solidFill>
          <a:ln w="6350">
            <a:solidFill>
              <a:srgbClr val="D3DCE5"/>
            </a:solidFill>
            <a:prstDash val="solid"/>
          </a:ln>
        </p:spPr>
      </p:sp>
      <p:sp>
        <p:nvSpPr>
          <p:cNvPr id="54" name="Text 52"/>
          <p:cNvSpPr txBox="1"/>
          <p:nvPr/>
        </p:nvSpPr>
        <p:spPr>
          <a:xfrm>
            <a:off x="7882128" y="3511296"/>
            <a:ext cx="3840480"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The price and cost coefficients also drive the sensitivity grid in the main deck</a:t>
            </a:r>
            <a:endParaRPr lang="en-US" sz="840" dirty="0"/>
          </a:p>
        </p:txBody>
      </p:sp>
      <p:sp>
        <p:nvSpPr>
          <p:cNvPr id="55" name="Shape 53"/>
          <p:cNvSpPr/>
          <p:nvPr/>
        </p:nvSpPr>
        <p:spPr>
          <a:xfrm>
            <a:off x="411480" y="3831336"/>
            <a:ext cx="2331720" cy="320040"/>
          </a:xfrm>
          <a:prstGeom prst="rect">
            <a:avLst/>
          </a:prstGeom>
          <a:solidFill>
            <a:srgbClr val="F7F9FB"/>
          </a:solidFill>
          <a:ln w="6350">
            <a:solidFill>
              <a:srgbClr val="D3DCE5"/>
            </a:solidFill>
            <a:prstDash val="solid"/>
          </a:ln>
        </p:spPr>
      </p:sp>
      <p:sp>
        <p:nvSpPr>
          <p:cNvPr id="56" name="Text 54"/>
          <p:cNvSpPr txBox="1"/>
          <p:nvPr/>
        </p:nvSpPr>
        <p:spPr>
          <a:xfrm>
            <a:off x="475488" y="3831336"/>
            <a:ext cx="2203704" cy="32004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ESG Value Bridge, Downstream Option</a:t>
            </a:r>
            <a:endParaRPr lang="en-US" sz="840" dirty="0"/>
          </a:p>
        </p:txBody>
      </p:sp>
      <p:sp>
        <p:nvSpPr>
          <p:cNvPr id="57" name="Shape 55"/>
          <p:cNvSpPr/>
          <p:nvPr/>
        </p:nvSpPr>
        <p:spPr>
          <a:xfrm>
            <a:off x="2743200" y="3831336"/>
            <a:ext cx="5074920" cy="320040"/>
          </a:xfrm>
          <a:prstGeom prst="rect">
            <a:avLst/>
          </a:prstGeom>
          <a:solidFill>
            <a:srgbClr val="F7F9FB"/>
          </a:solidFill>
          <a:ln w="6350">
            <a:solidFill>
              <a:srgbClr val="D3DCE5"/>
            </a:solidFill>
            <a:prstDash val="solid"/>
          </a:ln>
        </p:spPr>
      </p:sp>
      <p:sp>
        <p:nvSpPr>
          <p:cNvPr id="58" name="Text 56"/>
          <p:cNvSpPr txBox="1"/>
          <p:nvPr/>
        </p:nvSpPr>
        <p:spPr>
          <a:xfrm>
            <a:off x="2807208" y="3831336"/>
            <a:ext cx="4946904"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Shared-value levers converted to A$ per share; the downstream prize sized and risked</a:t>
            </a:r>
            <a:endParaRPr lang="en-US" sz="840" dirty="0"/>
          </a:p>
        </p:txBody>
      </p:sp>
      <p:sp>
        <p:nvSpPr>
          <p:cNvPr id="59" name="Shape 57"/>
          <p:cNvSpPr/>
          <p:nvPr/>
        </p:nvSpPr>
        <p:spPr>
          <a:xfrm>
            <a:off x="7818120" y="3831336"/>
            <a:ext cx="3968496" cy="320040"/>
          </a:xfrm>
          <a:prstGeom prst="rect">
            <a:avLst/>
          </a:prstGeom>
          <a:solidFill>
            <a:srgbClr val="F7F9FB"/>
          </a:solidFill>
          <a:ln w="6350">
            <a:solidFill>
              <a:srgbClr val="D3DCE5"/>
            </a:solidFill>
            <a:prstDash val="solid"/>
          </a:ln>
        </p:spPr>
      </p:sp>
      <p:sp>
        <p:nvSpPr>
          <p:cNvPr id="60" name="Text 58"/>
          <p:cNvSpPr txBox="1"/>
          <p:nvPr/>
        </p:nvSpPr>
        <p:spPr>
          <a:xfrm>
            <a:off x="7882128" y="3831336"/>
            <a:ext cx="3840480"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The analytical contribution of this submission</a:t>
            </a:r>
            <a:endParaRPr lang="en-US" sz="840" dirty="0"/>
          </a:p>
        </p:txBody>
      </p:sp>
      <p:sp>
        <p:nvSpPr>
          <p:cNvPr id="61" name="Shape 59"/>
          <p:cNvSpPr/>
          <p:nvPr/>
        </p:nvSpPr>
        <p:spPr>
          <a:xfrm>
            <a:off x="411480" y="4151376"/>
            <a:ext cx="2331720" cy="320040"/>
          </a:xfrm>
          <a:prstGeom prst="rect">
            <a:avLst/>
          </a:prstGeom>
          <a:solidFill>
            <a:srgbClr val="FFFFFF"/>
          </a:solidFill>
          <a:ln w="6350">
            <a:solidFill>
              <a:srgbClr val="D3DCE5"/>
            </a:solidFill>
            <a:prstDash val="solid"/>
          </a:ln>
        </p:spPr>
      </p:sp>
      <p:sp>
        <p:nvSpPr>
          <p:cNvPr id="62" name="Text 60"/>
          <p:cNvSpPr txBox="1"/>
          <p:nvPr/>
        </p:nvSpPr>
        <p:spPr>
          <a:xfrm>
            <a:off x="475488" y="4151376"/>
            <a:ext cx="2203704" cy="32004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SOTP NAV, Trading Comps, Precedents, Football Field</a:t>
            </a:r>
            <a:endParaRPr lang="en-US" sz="840" dirty="0"/>
          </a:p>
        </p:txBody>
      </p:sp>
      <p:sp>
        <p:nvSpPr>
          <p:cNvPr id="63" name="Shape 61"/>
          <p:cNvSpPr/>
          <p:nvPr/>
        </p:nvSpPr>
        <p:spPr>
          <a:xfrm>
            <a:off x="2743200" y="4151376"/>
            <a:ext cx="5074920" cy="320040"/>
          </a:xfrm>
          <a:prstGeom prst="rect">
            <a:avLst/>
          </a:prstGeom>
          <a:solidFill>
            <a:srgbClr val="FFFFFF"/>
          </a:solidFill>
          <a:ln w="6350">
            <a:solidFill>
              <a:srgbClr val="D3DCE5"/>
            </a:solidFill>
            <a:prstDash val="solid"/>
          </a:ln>
        </p:spPr>
      </p:sp>
      <p:sp>
        <p:nvSpPr>
          <p:cNvPr id="64" name="Text 62"/>
          <p:cNvSpPr txBox="1"/>
          <p:nvPr/>
        </p:nvSpPr>
        <p:spPr>
          <a:xfrm>
            <a:off x="2807208" y="4151376"/>
            <a:ext cx="4946904"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Cross-checks and the weighted target price</a:t>
            </a:r>
            <a:endParaRPr lang="en-US" sz="840" dirty="0"/>
          </a:p>
        </p:txBody>
      </p:sp>
      <p:sp>
        <p:nvSpPr>
          <p:cNvPr id="65" name="Shape 63"/>
          <p:cNvSpPr/>
          <p:nvPr/>
        </p:nvSpPr>
        <p:spPr>
          <a:xfrm>
            <a:off x="7818120" y="4151376"/>
            <a:ext cx="3968496" cy="320040"/>
          </a:xfrm>
          <a:prstGeom prst="rect">
            <a:avLst/>
          </a:prstGeom>
          <a:solidFill>
            <a:srgbClr val="FFFFFF"/>
          </a:solidFill>
          <a:ln w="6350">
            <a:solidFill>
              <a:srgbClr val="D3DCE5"/>
            </a:solidFill>
            <a:prstDash val="solid"/>
          </a:ln>
        </p:spPr>
      </p:sp>
      <p:sp>
        <p:nvSpPr>
          <p:cNvPr id="66" name="Text 64"/>
          <p:cNvSpPr txBox="1"/>
          <p:nvPr/>
        </p:nvSpPr>
        <p:spPr>
          <a:xfrm>
            <a:off x="7882128" y="4151376"/>
            <a:ext cx="3840480"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So the DCF is not marking its own homework</a:t>
            </a:r>
            <a:endParaRPr lang="en-US" sz="840" dirty="0"/>
          </a:p>
        </p:txBody>
      </p:sp>
      <p:sp>
        <p:nvSpPr>
          <p:cNvPr id="67" name="Shape 65"/>
          <p:cNvSpPr/>
          <p:nvPr/>
        </p:nvSpPr>
        <p:spPr>
          <a:xfrm>
            <a:off x="411480" y="4471416"/>
            <a:ext cx="2331720" cy="320040"/>
          </a:xfrm>
          <a:prstGeom prst="rect">
            <a:avLst/>
          </a:prstGeom>
          <a:solidFill>
            <a:srgbClr val="F7F9FB"/>
          </a:solidFill>
          <a:ln w="6350">
            <a:solidFill>
              <a:srgbClr val="D3DCE5"/>
            </a:solidFill>
            <a:prstDash val="solid"/>
          </a:ln>
        </p:spPr>
      </p:sp>
      <p:sp>
        <p:nvSpPr>
          <p:cNvPr id="68" name="Text 66"/>
          <p:cNvSpPr txBox="1"/>
          <p:nvPr/>
        </p:nvSpPr>
        <p:spPr>
          <a:xfrm>
            <a:off x="475488" y="4471416"/>
            <a:ext cx="2203704" cy="32004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Sources</a:t>
            </a:r>
            <a:endParaRPr lang="en-US" sz="840" dirty="0"/>
          </a:p>
        </p:txBody>
      </p:sp>
      <p:sp>
        <p:nvSpPr>
          <p:cNvPr id="69" name="Shape 67"/>
          <p:cNvSpPr/>
          <p:nvPr/>
        </p:nvSpPr>
        <p:spPr>
          <a:xfrm>
            <a:off x="2743200" y="4471416"/>
            <a:ext cx="5074920" cy="320040"/>
          </a:xfrm>
          <a:prstGeom prst="rect">
            <a:avLst/>
          </a:prstGeom>
          <a:solidFill>
            <a:srgbClr val="F7F9FB"/>
          </a:solidFill>
          <a:ln w="6350">
            <a:solidFill>
              <a:srgbClr val="D3DCE5"/>
            </a:solidFill>
            <a:prstDash val="solid"/>
          </a:ln>
        </p:spPr>
      </p:sp>
      <p:sp>
        <p:nvSpPr>
          <p:cNvPr id="70" name="Text 68"/>
          <p:cNvSpPr txBox="1"/>
          <p:nvPr/>
        </p:nvSpPr>
        <p:spPr>
          <a:xfrm>
            <a:off x="2807208" y="4471416"/>
            <a:ext cx="4946904"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Every input tagged A, G, M, D, E or C for provenance</a:t>
            </a:r>
            <a:endParaRPr lang="en-US" sz="840" dirty="0"/>
          </a:p>
        </p:txBody>
      </p:sp>
      <p:sp>
        <p:nvSpPr>
          <p:cNvPr id="71" name="Shape 69"/>
          <p:cNvSpPr/>
          <p:nvPr/>
        </p:nvSpPr>
        <p:spPr>
          <a:xfrm>
            <a:off x="7818120" y="4471416"/>
            <a:ext cx="3968496" cy="320040"/>
          </a:xfrm>
          <a:prstGeom prst="rect">
            <a:avLst/>
          </a:prstGeom>
          <a:solidFill>
            <a:srgbClr val="F7F9FB"/>
          </a:solidFill>
          <a:ln w="6350">
            <a:solidFill>
              <a:srgbClr val="D3DCE5"/>
            </a:solidFill>
            <a:prstDash val="solid"/>
          </a:ln>
        </p:spPr>
      </p:sp>
      <p:sp>
        <p:nvSpPr>
          <p:cNvPr id="72" name="Text 70"/>
          <p:cNvSpPr txBox="1"/>
          <p:nvPr/>
        </p:nvSpPr>
        <p:spPr>
          <a:xfrm>
            <a:off x="7882128" y="4471416"/>
            <a:ext cx="3840480" cy="32004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So a reviewer can audit any number back to where it came from</a:t>
            </a:r>
            <a:endParaRPr lang="en-US" sz="840" dirty="0"/>
          </a:p>
        </p:txBody>
      </p:sp>
      <p:sp>
        <p:nvSpPr>
          <p:cNvPr id="73" name="Shape 71"/>
          <p:cNvSpPr/>
          <p:nvPr/>
        </p:nvSpPr>
        <p:spPr>
          <a:xfrm>
            <a:off x="411480" y="4919472"/>
            <a:ext cx="11375136" cy="1152144"/>
          </a:xfrm>
          <a:prstGeom prst="rect">
            <a:avLst/>
          </a:prstGeom>
          <a:solidFill>
            <a:srgbClr val="EEF2F6"/>
          </a:solidFill>
          <a:ln w="9525">
            <a:solidFill>
              <a:srgbClr val="D3DCE5"/>
            </a:solidFill>
            <a:prstDash val="solid"/>
          </a:ln>
        </p:spPr>
      </p:sp>
      <p:sp>
        <p:nvSpPr>
          <p:cNvPr id="74" name="Text 72"/>
          <p:cNvSpPr txBox="1"/>
          <p:nvPr/>
        </p:nvSpPr>
        <p:spPr>
          <a:xfrm>
            <a:off x="576072" y="5047488"/>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Colour convention, and how to interrogate it</a:t>
            </a:r>
            <a:endParaRPr lang="en-US" sz="1150" dirty="0"/>
          </a:p>
        </p:txBody>
      </p:sp>
      <p:sp>
        <p:nvSpPr>
          <p:cNvPr id="75" name="Text 73"/>
          <p:cNvSpPr txBox="1"/>
          <p:nvPr/>
        </p:nvSpPr>
        <p:spPr>
          <a:xfrm>
            <a:off x="576072" y="5376672"/>
            <a:ext cx="11045952" cy="603504"/>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Blue text is a hardcoded input, black is a formula, green is a link to another sheet, and yellow fill marks the judgements a reviewer should challenge first. To stress the model, change Assumptions!C7 to Bear or Bull and every statement, the DCF and the target price repoint. To test a single judgement, the yellow cells are the ones that matter: beta, the resource-to-reserve conversion, the WACC, and the active price and cost rows.</a:t>
            </a:r>
            <a:endParaRPr lang="en-US" sz="940" dirty="0"/>
          </a:p>
        </p:txBody>
      </p:sp>
      <p:sp>
        <p:nvSpPr>
          <p:cNvPr id="76" name="Text 74"/>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the submitted workbook, PLS_Valuation_Model_FMAA_2026.xlsx. Formula and error counts are from the LibreOffice recalculation run at build time.</a:t>
            </a:r>
            <a:endParaRPr lang="en-US" sz="720" dirty="0"/>
          </a:p>
        </p:txBody>
      </p:sp>
      <p:sp>
        <p:nvSpPr>
          <p:cNvPr id="77" name="Text 75"/>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E1</a:t>
            </a:r>
            <a:endParaRPr lang="en-US" sz="8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A trough forces supply out; a spike pulls it in. A perpetuity struck at either extreme is not a forecast, it is an arithmetic error.</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E2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graphicFrame>
        <p:nvGraphicFramePr>
          <p:cNvPr id="7" name="Chart 0" descr=""/>
          <p:cNvGraphicFramePr/>
          <p:nvPr/>
        </p:nvGraphicFramePr>
        <p:xfrm>
          <a:off x="411480" y="1298448"/>
          <a:ext cx="6949440" cy="27889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580376" y="1298448"/>
            <a:ext cx="4206240" cy="2788920"/>
          </a:xfrm>
          <a:prstGeom prst="rect">
            <a:avLst/>
          </a:prstGeom>
          <a:solidFill>
            <a:srgbClr val="D6EBE7"/>
          </a:solidFill>
          <a:ln w="9525">
            <a:solidFill>
              <a:srgbClr val="AFD3CC"/>
            </a:solidFill>
            <a:prstDash val="solid"/>
          </a:ln>
        </p:spPr>
      </p:sp>
      <p:sp>
        <p:nvSpPr>
          <p:cNvPr id="9" name="Text 6"/>
          <p:cNvSpPr txBox="1"/>
          <p:nvPr/>
        </p:nvSpPr>
        <p:spPr>
          <a:xfrm>
            <a:off x="7744968" y="1426464"/>
            <a:ext cx="3895344"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The logic behind each path</a:t>
            </a:r>
            <a:endParaRPr lang="en-US" sz="1150" dirty="0"/>
          </a:p>
        </p:txBody>
      </p:sp>
      <p:sp>
        <p:nvSpPr>
          <p:cNvPr id="10" name="Text 7"/>
          <p:cNvSpPr txBox="1"/>
          <p:nvPr/>
        </p:nvSpPr>
        <p:spPr>
          <a:xfrm>
            <a:off x="7763256" y="1865376"/>
            <a:ext cx="3840480" cy="211226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860" dirty="0">
                <a:solidFill>
                  <a:srgbClr val="1B2733"/>
                </a:solidFill>
                <a:latin typeface="Calibri" pitchFamily="34" charset="0"/>
                <a:ea typeface="Calibri" pitchFamily="34" charset="-122"/>
                <a:cs typeface="Calibri" pitchFamily="34" charset="-120"/>
              </a:rPr>
              <a:t>Bear: restart supply overwhelms demand into FY30 and the price reverts toward the 90th-percentile cash cost, where high-cost tonnes leave. Then it grinds back as that supply exits.</a:t>
            </a:r>
            <a:endParaRPr lang="en-US" sz="860" dirty="0"/>
          </a:p>
          <a:p>
            <a:pPr marL="342900" indent="-342900">
              <a:lnSpc>
                <a:spcPct val="100000"/>
              </a:lnSpc>
              <a:spcAft>
                <a:spcPts val="500"/>
              </a:spcAft>
              <a:buSzPct val="100000"/>
              <a:buChar char="▪"/>
            </a:pPr>
            <a:r>
              <a:rPr lang="en-US" sz="860" dirty="0">
                <a:solidFill>
                  <a:srgbClr val="1B2733"/>
                </a:solidFill>
                <a:latin typeface="Calibri" pitchFamily="34" charset="0"/>
                <a:ea typeface="Calibri" pitchFamily="34" charset="-122"/>
                <a:cs typeface="Calibri" pitchFamily="34" charset="-120"/>
              </a:rPr>
              <a:t>Base: prices ease from the June-2026 quarter peak as restart tonnes land, then recover as the surplus narrows, settling near US$1,750/t.</a:t>
            </a:r>
            <a:endParaRPr lang="en-US" sz="860" dirty="0"/>
          </a:p>
          <a:p>
            <a:pPr marL="342900" indent="-342900">
              <a:lnSpc>
                <a:spcPct val="100000"/>
              </a:lnSpc>
              <a:spcAft>
                <a:spcPts val="500"/>
              </a:spcAft>
              <a:buSzPct val="100000"/>
              <a:buChar char="▪"/>
            </a:pPr>
            <a:r>
              <a:rPr lang="en-US" sz="860" dirty="0">
                <a:solidFill>
                  <a:srgbClr val="1B2733"/>
                </a:solidFill>
                <a:latin typeface="Calibri" pitchFamily="34" charset="0"/>
                <a:ea typeface="Calibri" pitchFamily="34" charset="-122"/>
                <a:cs typeface="Calibri" pitchFamily="34" charset="-120"/>
              </a:rPr>
              <a:t>Bull: the 2027-29 deficit called by Fastmarkets, Morgan Stanley and UBS arrives, prices overshoot the incentive level, new supply responds, and the price mean-reverts down to the same anchor.</a:t>
            </a:r>
            <a:endParaRPr lang="en-US" sz="860" dirty="0"/>
          </a:p>
          <a:p>
            <a:pPr marL="342900" indent="-342900">
              <a:lnSpc>
                <a:spcPct val="100000"/>
              </a:lnSpc>
              <a:spcAft>
                <a:spcPts val="500"/>
              </a:spcAft>
              <a:buSzPct val="100000"/>
              <a:buChar char="▪"/>
            </a:pPr>
            <a:r>
              <a:rPr lang="en-US" sz="860" dirty="0">
                <a:solidFill>
                  <a:srgbClr val="1B2733"/>
                </a:solidFill>
                <a:latin typeface="Calibri" pitchFamily="34" charset="0"/>
                <a:ea typeface="Calibri" pitchFamily="34" charset="-122"/>
                <a:cs typeface="Calibri" pitchFamily="34" charset="-120"/>
              </a:rPr>
              <a:t>All three converge because that is what commodity markets do. The scenarios differ on the path and on volumes, not on where the cycle ends.</a:t>
            </a:r>
            <a:endParaRPr lang="en-US" sz="860" dirty="0"/>
          </a:p>
        </p:txBody>
      </p:sp>
      <p:sp>
        <p:nvSpPr>
          <p:cNvPr id="11" name="Shape 8"/>
          <p:cNvSpPr/>
          <p:nvPr/>
        </p:nvSpPr>
        <p:spPr>
          <a:xfrm>
            <a:off x="411480" y="4242816"/>
            <a:ext cx="2926080" cy="292608"/>
          </a:xfrm>
          <a:prstGeom prst="rect">
            <a:avLst/>
          </a:prstGeom>
          <a:solidFill>
            <a:srgbClr val="10233A"/>
          </a:solidFill>
          <a:ln/>
        </p:spPr>
      </p:sp>
      <p:sp>
        <p:nvSpPr>
          <p:cNvPr id="12" name="Text 9"/>
          <p:cNvSpPr txBox="1"/>
          <p:nvPr/>
        </p:nvSpPr>
        <p:spPr>
          <a:xfrm>
            <a:off x="475488" y="4242816"/>
            <a:ext cx="2798064" cy="292608"/>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US$/t realised</a:t>
            </a:r>
            <a:endParaRPr lang="en-US" sz="800" dirty="0"/>
          </a:p>
        </p:txBody>
      </p:sp>
      <p:sp>
        <p:nvSpPr>
          <p:cNvPr id="13" name="Shape 10"/>
          <p:cNvSpPr/>
          <p:nvPr/>
        </p:nvSpPr>
        <p:spPr>
          <a:xfrm>
            <a:off x="3337560" y="4242816"/>
            <a:ext cx="844906" cy="292608"/>
          </a:xfrm>
          <a:prstGeom prst="rect">
            <a:avLst/>
          </a:prstGeom>
          <a:solidFill>
            <a:srgbClr val="10233A"/>
          </a:solidFill>
          <a:ln/>
        </p:spPr>
      </p:sp>
      <p:sp>
        <p:nvSpPr>
          <p:cNvPr id="14" name="Text 11"/>
          <p:cNvSpPr txBox="1"/>
          <p:nvPr/>
        </p:nvSpPr>
        <p:spPr>
          <a:xfrm>
            <a:off x="3401568" y="4242816"/>
            <a:ext cx="716890"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FY27</a:t>
            </a:r>
            <a:endParaRPr lang="en-US" sz="800" dirty="0"/>
          </a:p>
        </p:txBody>
      </p:sp>
      <p:sp>
        <p:nvSpPr>
          <p:cNvPr id="15" name="Shape 12"/>
          <p:cNvSpPr/>
          <p:nvPr/>
        </p:nvSpPr>
        <p:spPr>
          <a:xfrm>
            <a:off x="4182466" y="4242816"/>
            <a:ext cx="844906" cy="292608"/>
          </a:xfrm>
          <a:prstGeom prst="rect">
            <a:avLst/>
          </a:prstGeom>
          <a:solidFill>
            <a:srgbClr val="10233A"/>
          </a:solidFill>
          <a:ln/>
        </p:spPr>
      </p:sp>
      <p:sp>
        <p:nvSpPr>
          <p:cNvPr id="16" name="Text 13"/>
          <p:cNvSpPr txBox="1"/>
          <p:nvPr/>
        </p:nvSpPr>
        <p:spPr>
          <a:xfrm>
            <a:off x="4246474" y="4242816"/>
            <a:ext cx="716890"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FY28</a:t>
            </a:r>
            <a:endParaRPr lang="en-US" sz="800" dirty="0"/>
          </a:p>
        </p:txBody>
      </p:sp>
      <p:sp>
        <p:nvSpPr>
          <p:cNvPr id="17" name="Shape 14"/>
          <p:cNvSpPr/>
          <p:nvPr/>
        </p:nvSpPr>
        <p:spPr>
          <a:xfrm>
            <a:off x="5027371" y="4242816"/>
            <a:ext cx="844906" cy="292608"/>
          </a:xfrm>
          <a:prstGeom prst="rect">
            <a:avLst/>
          </a:prstGeom>
          <a:solidFill>
            <a:srgbClr val="10233A"/>
          </a:solidFill>
          <a:ln/>
        </p:spPr>
      </p:sp>
      <p:sp>
        <p:nvSpPr>
          <p:cNvPr id="18" name="Text 15"/>
          <p:cNvSpPr txBox="1"/>
          <p:nvPr/>
        </p:nvSpPr>
        <p:spPr>
          <a:xfrm>
            <a:off x="5091379" y="4242816"/>
            <a:ext cx="716890"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FY29</a:t>
            </a:r>
            <a:endParaRPr lang="en-US" sz="800" dirty="0"/>
          </a:p>
        </p:txBody>
      </p:sp>
      <p:sp>
        <p:nvSpPr>
          <p:cNvPr id="19" name="Shape 16"/>
          <p:cNvSpPr/>
          <p:nvPr/>
        </p:nvSpPr>
        <p:spPr>
          <a:xfrm>
            <a:off x="5872277" y="4242816"/>
            <a:ext cx="844906" cy="292608"/>
          </a:xfrm>
          <a:prstGeom prst="rect">
            <a:avLst/>
          </a:prstGeom>
          <a:solidFill>
            <a:srgbClr val="10233A"/>
          </a:solidFill>
          <a:ln/>
        </p:spPr>
      </p:sp>
      <p:sp>
        <p:nvSpPr>
          <p:cNvPr id="20" name="Text 17"/>
          <p:cNvSpPr txBox="1"/>
          <p:nvPr/>
        </p:nvSpPr>
        <p:spPr>
          <a:xfrm>
            <a:off x="5936285" y="4242816"/>
            <a:ext cx="716890"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FY30</a:t>
            </a:r>
            <a:endParaRPr lang="en-US" sz="800" dirty="0"/>
          </a:p>
        </p:txBody>
      </p:sp>
      <p:sp>
        <p:nvSpPr>
          <p:cNvPr id="21" name="Shape 18"/>
          <p:cNvSpPr/>
          <p:nvPr/>
        </p:nvSpPr>
        <p:spPr>
          <a:xfrm>
            <a:off x="6717182" y="4242816"/>
            <a:ext cx="844906" cy="292608"/>
          </a:xfrm>
          <a:prstGeom prst="rect">
            <a:avLst/>
          </a:prstGeom>
          <a:solidFill>
            <a:srgbClr val="10233A"/>
          </a:solidFill>
          <a:ln/>
        </p:spPr>
      </p:sp>
      <p:sp>
        <p:nvSpPr>
          <p:cNvPr id="22" name="Text 19"/>
          <p:cNvSpPr txBox="1"/>
          <p:nvPr/>
        </p:nvSpPr>
        <p:spPr>
          <a:xfrm>
            <a:off x="6781190" y="4242816"/>
            <a:ext cx="716890"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FY31</a:t>
            </a:r>
            <a:endParaRPr lang="en-US" sz="800" dirty="0"/>
          </a:p>
        </p:txBody>
      </p:sp>
      <p:sp>
        <p:nvSpPr>
          <p:cNvPr id="23" name="Shape 20"/>
          <p:cNvSpPr/>
          <p:nvPr/>
        </p:nvSpPr>
        <p:spPr>
          <a:xfrm>
            <a:off x="7562088" y="4242816"/>
            <a:ext cx="844906" cy="292608"/>
          </a:xfrm>
          <a:prstGeom prst="rect">
            <a:avLst/>
          </a:prstGeom>
          <a:solidFill>
            <a:srgbClr val="10233A"/>
          </a:solidFill>
          <a:ln/>
        </p:spPr>
      </p:sp>
      <p:sp>
        <p:nvSpPr>
          <p:cNvPr id="24" name="Text 21"/>
          <p:cNvSpPr txBox="1"/>
          <p:nvPr/>
        </p:nvSpPr>
        <p:spPr>
          <a:xfrm>
            <a:off x="7626096" y="4242816"/>
            <a:ext cx="716890"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FY32</a:t>
            </a:r>
            <a:endParaRPr lang="en-US" sz="800" dirty="0"/>
          </a:p>
        </p:txBody>
      </p:sp>
      <p:sp>
        <p:nvSpPr>
          <p:cNvPr id="25" name="Shape 22"/>
          <p:cNvSpPr/>
          <p:nvPr/>
        </p:nvSpPr>
        <p:spPr>
          <a:xfrm>
            <a:off x="8406994" y="4242816"/>
            <a:ext cx="844906" cy="292608"/>
          </a:xfrm>
          <a:prstGeom prst="rect">
            <a:avLst/>
          </a:prstGeom>
          <a:solidFill>
            <a:srgbClr val="10233A"/>
          </a:solidFill>
          <a:ln/>
        </p:spPr>
      </p:sp>
      <p:sp>
        <p:nvSpPr>
          <p:cNvPr id="26" name="Text 23"/>
          <p:cNvSpPr txBox="1"/>
          <p:nvPr/>
        </p:nvSpPr>
        <p:spPr>
          <a:xfrm>
            <a:off x="8471002" y="4242816"/>
            <a:ext cx="716890"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FY33</a:t>
            </a:r>
            <a:endParaRPr lang="en-US" sz="800" dirty="0"/>
          </a:p>
        </p:txBody>
      </p:sp>
      <p:sp>
        <p:nvSpPr>
          <p:cNvPr id="27" name="Shape 24"/>
          <p:cNvSpPr/>
          <p:nvPr/>
        </p:nvSpPr>
        <p:spPr>
          <a:xfrm>
            <a:off x="9251899" y="4242816"/>
            <a:ext cx="844906" cy="292608"/>
          </a:xfrm>
          <a:prstGeom prst="rect">
            <a:avLst/>
          </a:prstGeom>
          <a:solidFill>
            <a:srgbClr val="10233A"/>
          </a:solidFill>
          <a:ln/>
        </p:spPr>
      </p:sp>
      <p:sp>
        <p:nvSpPr>
          <p:cNvPr id="28" name="Text 25"/>
          <p:cNvSpPr txBox="1"/>
          <p:nvPr/>
        </p:nvSpPr>
        <p:spPr>
          <a:xfrm>
            <a:off x="9315907" y="4242816"/>
            <a:ext cx="716890"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FY34</a:t>
            </a:r>
            <a:endParaRPr lang="en-US" sz="800" dirty="0"/>
          </a:p>
        </p:txBody>
      </p:sp>
      <p:sp>
        <p:nvSpPr>
          <p:cNvPr id="29" name="Shape 26"/>
          <p:cNvSpPr/>
          <p:nvPr/>
        </p:nvSpPr>
        <p:spPr>
          <a:xfrm>
            <a:off x="10096805" y="4242816"/>
            <a:ext cx="844906" cy="292608"/>
          </a:xfrm>
          <a:prstGeom prst="rect">
            <a:avLst/>
          </a:prstGeom>
          <a:solidFill>
            <a:srgbClr val="10233A"/>
          </a:solidFill>
          <a:ln/>
        </p:spPr>
      </p:sp>
      <p:sp>
        <p:nvSpPr>
          <p:cNvPr id="30" name="Text 27"/>
          <p:cNvSpPr txBox="1"/>
          <p:nvPr/>
        </p:nvSpPr>
        <p:spPr>
          <a:xfrm>
            <a:off x="10160813" y="4242816"/>
            <a:ext cx="716890"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FY35</a:t>
            </a:r>
            <a:endParaRPr lang="en-US" sz="800" dirty="0"/>
          </a:p>
        </p:txBody>
      </p:sp>
      <p:sp>
        <p:nvSpPr>
          <p:cNvPr id="31" name="Shape 28"/>
          <p:cNvSpPr/>
          <p:nvPr/>
        </p:nvSpPr>
        <p:spPr>
          <a:xfrm>
            <a:off x="10941710" y="4242816"/>
            <a:ext cx="844906" cy="292608"/>
          </a:xfrm>
          <a:prstGeom prst="rect">
            <a:avLst/>
          </a:prstGeom>
          <a:solidFill>
            <a:srgbClr val="10233A"/>
          </a:solidFill>
          <a:ln/>
        </p:spPr>
      </p:sp>
      <p:sp>
        <p:nvSpPr>
          <p:cNvPr id="32" name="Text 29"/>
          <p:cNvSpPr txBox="1"/>
          <p:nvPr/>
        </p:nvSpPr>
        <p:spPr>
          <a:xfrm>
            <a:off x="11005718" y="4242816"/>
            <a:ext cx="716890"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FY36</a:t>
            </a:r>
            <a:endParaRPr lang="en-US" sz="800" dirty="0"/>
          </a:p>
        </p:txBody>
      </p:sp>
      <p:sp>
        <p:nvSpPr>
          <p:cNvPr id="33" name="Shape 30"/>
          <p:cNvSpPr/>
          <p:nvPr/>
        </p:nvSpPr>
        <p:spPr>
          <a:xfrm>
            <a:off x="411480" y="4535424"/>
            <a:ext cx="2926080" cy="246888"/>
          </a:xfrm>
          <a:prstGeom prst="rect">
            <a:avLst/>
          </a:prstGeom>
          <a:solidFill>
            <a:srgbClr val="FFFFFF"/>
          </a:solidFill>
          <a:ln w="6350">
            <a:solidFill>
              <a:srgbClr val="D3DCE5"/>
            </a:solidFill>
            <a:prstDash val="solid"/>
          </a:ln>
        </p:spPr>
      </p:sp>
      <p:sp>
        <p:nvSpPr>
          <p:cNvPr id="34" name="Text 31"/>
          <p:cNvSpPr txBox="1"/>
          <p:nvPr/>
        </p:nvSpPr>
        <p:spPr>
          <a:xfrm>
            <a:off x="475488" y="4535424"/>
            <a:ext cx="279806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Bear</a:t>
            </a:r>
            <a:endParaRPr lang="en-US" sz="820" dirty="0"/>
          </a:p>
        </p:txBody>
      </p:sp>
      <p:sp>
        <p:nvSpPr>
          <p:cNvPr id="35" name="Shape 32"/>
          <p:cNvSpPr/>
          <p:nvPr/>
        </p:nvSpPr>
        <p:spPr>
          <a:xfrm>
            <a:off x="3337560" y="4535424"/>
            <a:ext cx="844906" cy="246888"/>
          </a:xfrm>
          <a:prstGeom prst="rect">
            <a:avLst/>
          </a:prstGeom>
          <a:solidFill>
            <a:srgbClr val="FFFFFF"/>
          </a:solidFill>
          <a:ln w="6350">
            <a:solidFill>
              <a:srgbClr val="D3DCE5"/>
            </a:solidFill>
            <a:prstDash val="solid"/>
          </a:ln>
        </p:spPr>
      </p:sp>
      <p:sp>
        <p:nvSpPr>
          <p:cNvPr id="36" name="Text 33"/>
          <p:cNvSpPr txBox="1"/>
          <p:nvPr/>
        </p:nvSpPr>
        <p:spPr>
          <a:xfrm>
            <a:off x="3401568" y="4535424"/>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1350</a:t>
            </a:r>
            <a:endParaRPr lang="en-US" sz="820" dirty="0"/>
          </a:p>
        </p:txBody>
      </p:sp>
      <p:sp>
        <p:nvSpPr>
          <p:cNvPr id="37" name="Shape 34"/>
          <p:cNvSpPr/>
          <p:nvPr/>
        </p:nvSpPr>
        <p:spPr>
          <a:xfrm>
            <a:off x="4182466" y="4535424"/>
            <a:ext cx="844906" cy="246888"/>
          </a:xfrm>
          <a:prstGeom prst="rect">
            <a:avLst/>
          </a:prstGeom>
          <a:solidFill>
            <a:srgbClr val="FFFFFF"/>
          </a:solidFill>
          <a:ln w="6350">
            <a:solidFill>
              <a:srgbClr val="D3DCE5"/>
            </a:solidFill>
            <a:prstDash val="solid"/>
          </a:ln>
        </p:spPr>
      </p:sp>
      <p:sp>
        <p:nvSpPr>
          <p:cNvPr id="38" name="Text 35"/>
          <p:cNvSpPr txBox="1"/>
          <p:nvPr/>
        </p:nvSpPr>
        <p:spPr>
          <a:xfrm>
            <a:off x="4246474" y="4535424"/>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1150</a:t>
            </a:r>
            <a:endParaRPr lang="en-US" sz="820" dirty="0"/>
          </a:p>
        </p:txBody>
      </p:sp>
      <p:sp>
        <p:nvSpPr>
          <p:cNvPr id="39" name="Shape 36"/>
          <p:cNvSpPr/>
          <p:nvPr/>
        </p:nvSpPr>
        <p:spPr>
          <a:xfrm>
            <a:off x="5027371" y="4535424"/>
            <a:ext cx="844906" cy="246888"/>
          </a:xfrm>
          <a:prstGeom prst="rect">
            <a:avLst/>
          </a:prstGeom>
          <a:solidFill>
            <a:srgbClr val="FFFFFF"/>
          </a:solidFill>
          <a:ln w="6350">
            <a:solidFill>
              <a:srgbClr val="D3DCE5"/>
            </a:solidFill>
            <a:prstDash val="solid"/>
          </a:ln>
        </p:spPr>
      </p:sp>
      <p:sp>
        <p:nvSpPr>
          <p:cNvPr id="40" name="Text 37"/>
          <p:cNvSpPr txBox="1"/>
          <p:nvPr/>
        </p:nvSpPr>
        <p:spPr>
          <a:xfrm>
            <a:off x="5091379" y="4535424"/>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1050</a:t>
            </a:r>
            <a:endParaRPr lang="en-US" sz="820" dirty="0"/>
          </a:p>
        </p:txBody>
      </p:sp>
      <p:sp>
        <p:nvSpPr>
          <p:cNvPr id="41" name="Shape 38"/>
          <p:cNvSpPr/>
          <p:nvPr/>
        </p:nvSpPr>
        <p:spPr>
          <a:xfrm>
            <a:off x="5872277" y="4535424"/>
            <a:ext cx="844906" cy="246888"/>
          </a:xfrm>
          <a:prstGeom prst="rect">
            <a:avLst/>
          </a:prstGeom>
          <a:solidFill>
            <a:srgbClr val="FFFFFF"/>
          </a:solidFill>
          <a:ln w="6350">
            <a:solidFill>
              <a:srgbClr val="D3DCE5"/>
            </a:solidFill>
            <a:prstDash val="solid"/>
          </a:ln>
        </p:spPr>
      </p:sp>
      <p:sp>
        <p:nvSpPr>
          <p:cNvPr id="42" name="Text 39"/>
          <p:cNvSpPr txBox="1"/>
          <p:nvPr/>
        </p:nvSpPr>
        <p:spPr>
          <a:xfrm>
            <a:off x="5936285" y="4535424"/>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1050</a:t>
            </a:r>
            <a:endParaRPr lang="en-US" sz="820" dirty="0"/>
          </a:p>
        </p:txBody>
      </p:sp>
      <p:sp>
        <p:nvSpPr>
          <p:cNvPr id="43" name="Shape 40"/>
          <p:cNvSpPr/>
          <p:nvPr/>
        </p:nvSpPr>
        <p:spPr>
          <a:xfrm>
            <a:off x="6717182" y="4535424"/>
            <a:ext cx="844906" cy="246888"/>
          </a:xfrm>
          <a:prstGeom prst="rect">
            <a:avLst/>
          </a:prstGeom>
          <a:solidFill>
            <a:srgbClr val="FFFFFF"/>
          </a:solidFill>
          <a:ln w="6350">
            <a:solidFill>
              <a:srgbClr val="D3DCE5"/>
            </a:solidFill>
            <a:prstDash val="solid"/>
          </a:ln>
        </p:spPr>
      </p:sp>
      <p:sp>
        <p:nvSpPr>
          <p:cNvPr id="44" name="Text 41"/>
          <p:cNvSpPr txBox="1"/>
          <p:nvPr/>
        </p:nvSpPr>
        <p:spPr>
          <a:xfrm>
            <a:off x="6781190" y="4535424"/>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1150</a:t>
            </a:r>
            <a:endParaRPr lang="en-US" sz="820" dirty="0"/>
          </a:p>
        </p:txBody>
      </p:sp>
      <p:sp>
        <p:nvSpPr>
          <p:cNvPr id="45" name="Shape 42"/>
          <p:cNvSpPr/>
          <p:nvPr/>
        </p:nvSpPr>
        <p:spPr>
          <a:xfrm>
            <a:off x="7562088" y="4535424"/>
            <a:ext cx="844906" cy="246888"/>
          </a:xfrm>
          <a:prstGeom prst="rect">
            <a:avLst/>
          </a:prstGeom>
          <a:solidFill>
            <a:srgbClr val="FFFFFF"/>
          </a:solidFill>
          <a:ln w="6350">
            <a:solidFill>
              <a:srgbClr val="D3DCE5"/>
            </a:solidFill>
            <a:prstDash val="solid"/>
          </a:ln>
        </p:spPr>
      </p:sp>
      <p:sp>
        <p:nvSpPr>
          <p:cNvPr id="46" name="Text 43"/>
          <p:cNvSpPr txBox="1"/>
          <p:nvPr/>
        </p:nvSpPr>
        <p:spPr>
          <a:xfrm>
            <a:off x="7626096" y="4535424"/>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1250</a:t>
            </a:r>
            <a:endParaRPr lang="en-US" sz="820" dirty="0"/>
          </a:p>
        </p:txBody>
      </p:sp>
      <p:sp>
        <p:nvSpPr>
          <p:cNvPr id="47" name="Shape 44"/>
          <p:cNvSpPr/>
          <p:nvPr/>
        </p:nvSpPr>
        <p:spPr>
          <a:xfrm>
            <a:off x="8406994" y="4535424"/>
            <a:ext cx="844906" cy="246888"/>
          </a:xfrm>
          <a:prstGeom prst="rect">
            <a:avLst/>
          </a:prstGeom>
          <a:solidFill>
            <a:srgbClr val="FFFFFF"/>
          </a:solidFill>
          <a:ln w="6350">
            <a:solidFill>
              <a:srgbClr val="D3DCE5"/>
            </a:solidFill>
            <a:prstDash val="solid"/>
          </a:ln>
        </p:spPr>
      </p:sp>
      <p:sp>
        <p:nvSpPr>
          <p:cNvPr id="48" name="Text 45"/>
          <p:cNvSpPr txBox="1"/>
          <p:nvPr/>
        </p:nvSpPr>
        <p:spPr>
          <a:xfrm>
            <a:off x="8471002" y="4535424"/>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1350</a:t>
            </a:r>
            <a:endParaRPr lang="en-US" sz="820" dirty="0"/>
          </a:p>
        </p:txBody>
      </p:sp>
      <p:sp>
        <p:nvSpPr>
          <p:cNvPr id="49" name="Shape 46"/>
          <p:cNvSpPr/>
          <p:nvPr/>
        </p:nvSpPr>
        <p:spPr>
          <a:xfrm>
            <a:off x="9251899" y="4535424"/>
            <a:ext cx="844906" cy="246888"/>
          </a:xfrm>
          <a:prstGeom prst="rect">
            <a:avLst/>
          </a:prstGeom>
          <a:solidFill>
            <a:srgbClr val="FFFFFF"/>
          </a:solidFill>
          <a:ln w="6350">
            <a:solidFill>
              <a:srgbClr val="D3DCE5"/>
            </a:solidFill>
            <a:prstDash val="solid"/>
          </a:ln>
        </p:spPr>
      </p:sp>
      <p:sp>
        <p:nvSpPr>
          <p:cNvPr id="50" name="Text 47"/>
          <p:cNvSpPr txBox="1"/>
          <p:nvPr/>
        </p:nvSpPr>
        <p:spPr>
          <a:xfrm>
            <a:off x="9315907" y="4535424"/>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1450</a:t>
            </a:r>
            <a:endParaRPr lang="en-US" sz="820" dirty="0"/>
          </a:p>
        </p:txBody>
      </p:sp>
      <p:sp>
        <p:nvSpPr>
          <p:cNvPr id="51" name="Shape 48"/>
          <p:cNvSpPr/>
          <p:nvPr/>
        </p:nvSpPr>
        <p:spPr>
          <a:xfrm>
            <a:off x="10096805" y="4535424"/>
            <a:ext cx="844906" cy="246888"/>
          </a:xfrm>
          <a:prstGeom prst="rect">
            <a:avLst/>
          </a:prstGeom>
          <a:solidFill>
            <a:srgbClr val="FFFFFF"/>
          </a:solidFill>
          <a:ln w="6350">
            <a:solidFill>
              <a:srgbClr val="D3DCE5"/>
            </a:solidFill>
            <a:prstDash val="solid"/>
          </a:ln>
        </p:spPr>
      </p:sp>
      <p:sp>
        <p:nvSpPr>
          <p:cNvPr id="52" name="Text 49"/>
          <p:cNvSpPr txBox="1"/>
          <p:nvPr/>
        </p:nvSpPr>
        <p:spPr>
          <a:xfrm>
            <a:off x="10160813" y="4535424"/>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1500</a:t>
            </a:r>
            <a:endParaRPr lang="en-US" sz="820" dirty="0"/>
          </a:p>
        </p:txBody>
      </p:sp>
      <p:sp>
        <p:nvSpPr>
          <p:cNvPr id="53" name="Shape 50"/>
          <p:cNvSpPr/>
          <p:nvPr/>
        </p:nvSpPr>
        <p:spPr>
          <a:xfrm>
            <a:off x="10941710" y="4535424"/>
            <a:ext cx="844906" cy="246888"/>
          </a:xfrm>
          <a:prstGeom prst="rect">
            <a:avLst/>
          </a:prstGeom>
          <a:solidFill>
            <a:srgbClr val="FFFFFF"/>
          </a:solidFill>
          <a:ln w="6350">
            <a:solidFill>
              <a:srgbClr val="D3DCE5"/>
            </a:solidFill>
            <a:prstDash val="solid"/>
          </a:ln>
        </p:spPr>
      </p:sp>
      <p:sp>
        <p:nvSpPr>
          <p:cNvPr id="54" name="Text 51"/>
          <p:cNvSpPr txBox="1"/>
          <p:nvPr/>
        </p:nvSpPr>
        <p:spPr>
          <a:xfrm>
            <a:off x="11005718" y="4535424"/>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1550</a:t>
            </a:r>
            <a:endParaRPr lang="en-US" sz="820" dirty="0"/>
          </a:p>
        </p:txBody>
      </p:sp>
      <p:sp>
        <p:nvSpPr>
          <p:cNvPr id="55" name="Shape 52"/>
          <p:cNvSpPr/>
          <p:nvPr/>
        </p:nvSpPr>
        <p:spPr>
          <a:xfrm>
            <a:off x="411480" y="4782312"/>
            <a:ext cx="2926080" cy="246888"/>
          </a:xfrm>
          <a:prstGeom prst="rect">
            <a:avLst/>
          </a:prstGeom>
          <a:solidFill>
            <a:srgbClr val="F7F9FB"/>
          </a:solidFill>
          <a:ln w="6350">
            <a:solidFill>
              <a:srgbClr val="D3DCE5"/>
            </a:solidFill>
            <a:prstDash val="solid"/>
          </a:ln>
        </p:spPr>
      </p:sp>
      <p:sp>
        <p:nvSpPr>
          <p:cNvPr id="56" name="Text 53"/>
          <p:cNvSpPr txBox="1"/>
          <p:nvPr/>
        </p:nvSpPr>
        <p:spPr>
          <a:xfrm>
            <a:off x="475488" y="4782312"/>
            <a:ext cx="279806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Base</a:t>
            </a:r>
            <a:endParaRPr lang="en-US" sz="820" dirty="0"/>
          </a:p>
        </p:txBody>
      </p:sp>
      <p:sp>
        <p:nvSpPr>
          <p:cNvPr id="57" name="Shape 54"/>
          <p:cNvSpPr/>
          <p:nvPr/>
        </p:nvSpPr>
        <p:spPr>
          <a:xfrm>
            <a:off x="3337560" y="4782312"/>
            <a:ext cx="844906" cy="246888"/>
          </a:xfrm>
          <a:prstGeom prst="rect">
            <a:avLst/>
          </a:prstGeom>
          <a:solidFill>
            <a:srgbClr val="F7F9FB"/>
          </a:solidFill>
          <a:ln w="6350">
            <a:solidFill>
              <a:srgbClr val="D3DCE5"/>
            </a:solidFill>
            <a:prstDash val="solid"/>
          </a:ln>
        </p:spPr>
      </p:sp>
      <p:sp>
        <p:nvSpPr>
          <p:cNvPr id="58" name="Text 55"/>
          <p:cNvSpPr txBox="1"/>
          <p:nvPr/>
        </p:nvSpPr>
        <p:spPr>
          <a:xfrm>
            <a:off x="3401568" y="4782312"/>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1700</a:t>
            </a:r>
            <a:endParaRPr lang="en-US" sz="820" dirty="0"/>
          </a:p>
        </p:txBody>
      </p:sp>
      <p:sp>
        <p:nvSpPr>
          <p:cNvPr id="59" name="Shape 56"/>
          <p:cNvSpPr/>
          <p:nvPr/>
        </p:nvSpPr>
        <p:spPr>
          <a:xfrm>
            <a:off x="4182466" y="4782312"/>
            <a:ext cx="844906" cy="246888"/>
          </a:xfrm>
          <a:prstGeom prst="rect">
            <a:avLst/>
          </a:prstGeom>
          <a:solidFill>
            <a:srgbClr val="F7F9FB"/>
          </a:solidFill>
          <a:ln w="6350">
            <a:solidFill>
              <a:srgbClr val="D3DCE5"/>
            </a:solidFill>
            <a:prstDash val="solid"/>
          </a:ln>
        </p:spPr>
      </p:sp>
      <p:sp>
        <p:nvSpPr>
          <p:cNvPr id="60" name="Text 57"/>
          <p:cNvSpPr txBox="1"/>
          <p:nvPr/>
        </p:nvSpPr>
        <p:spPr>
          <a:xfrm>
            <a:off x="4246474" y="4782312"/>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1780</a:t>
            </a:r>
            <a:endParaRPr lang="en-US" sz="820" dirty="0"/>
          </a:p>
        </p:txBody>
      </p:sp>
      <p:sp>
        <p:nvSpPr>
          <p:cNvPr id="61" name="Shape 58"/>
          <p:cNvSpPr/>
          <p:nvPr/>
        </p:nvSpPr>
        <p:spPr>
          <a:xfrm>
            <a:off x="5027371" y="4782312"/>
            <a:ext cx="844906" cy="246888"/>
          </a:xfrm>
          <a:prstGeom prst="rect">
            <a:avLst/>
          </a:prstGeom>
          <a:solidFill>
            <a:srgbClr val="F7F9FB"/>
          </a:solidFill>
          <a:ln w="6350">
            <a:solidFill>
              <a:srgbClr val="D3DCE5"/>
            </a:solidFill>
            <a:prstDash val="solid"/>
          </a:ln>
        </p:spPr>
      </p:sp>
      <p:sp>
        <p:nvSpPr>
          <p:cNvPr id="62" name="Text 59"/>
          <p:cNvSpPr txBox="1"/>
          <p:nvPr/>
        </p:nvSpPr>
        <p:spPr>
          <a:xfrm>
            <a:off x="5091379" y="4782312"/>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1850</a:t>
            </a:r>
            <a:endParaRPr lang="en-US" sz="820" dirty="0"/>
          </a:p>
        </p:txBody>
      </p:sp>
      <p:sp>
        <p:nvSpPr>
          <p:cNvPr id="63" name="Shape 60"/>
          <p:cNvSpPr/>
          <p:nvPr/>
        </p:nvSpPr>
        <p:spPr>
          <a:xfrm>
            <a:off x="5872277" y="4782312"/>
            <a:ext cx="844906" cy="246888"/>
          </a:xfrm>
          <a:prstGeom prst="rect">
            <a:avLst/>
          </a:prstGeom>
          <a:solidFill>
            <a:srgbClr val="F7F9FB"/>
          </a:solidFill>
          <a:ln w="6350">
            <a:solidFill>
              <a:srgbClr val="D3DCE5"/>
            </a:solidFill>
            <a:prstDash val="solid"/>
          </a:ln>
        </p:spPr>
      </p:sp>
      <p:sp>
        <p:nvSpPr>
          <p:cNvPr id="64" name="Text 61"/>
          <p:cNvSpPr txBox="1"/>
          <p:nvPr/>
        </p:nvSpPr>
        <p:spPr>
          <a:xfrm>
            <a:off x="5936285" y="4782312"/>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1800</a:t>
            </a:r>
            <a:endParaRPr lang="en-US" sz="820" dirty="0"/>
          </a:p>
        </p:txBody>
      </p:sp>
      <p:sp>
        <p:nvSpPr>
          <p:cNvPr id="65" name="Shape 62"/>
          <p:cNvSpPr/>
          <p:nvPr/>
        </p:nvSpPr>
        <p:spPr>
          <a:xfrm>
            <a:off x="6717182" y="4782312"/>
            <a:ext cx="844906" cy="246888"/>
          </a:xfrm>
          <a:prstGeom prst="rect">
            <a:avLst/>
          </a:prstGeom>
          <a:solidFill>
            <a:srgbClr val="F7F9FB"/>
          </a:solidFill>
          <a:ln w="6350">
            <a:solidFill>
              <a:srgbClr val="D3DCE5"/>
            </a:solidFill>
            <a:prstDash val="solid"/>
          </a:ln>
        </p:spPr>
      </p:sp>
      <p:sp>
        <p:nvSpPr>
          <p:cNvPr id="66" name="Text 63"/>
          <p:cNvSpPr txBox="1"/>
          <p:nvPr/>
        </p:nvSpPr>
        <p:spPr>
          <a:xfrm>
            <a:off x="6781190" y="4782312"/>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1750</a:t>
            </a:r>
            <a:endParaRPr lang="en-US" sz="820" dirty="0"/>
          </a:p>
        </p:txBody>
      </p:sp>
      <p:sp>
        <p:nvSpPr>
          <p:cNvPr id="67" name="Shape 64"/>
          <p:cNvSpPr/>
          <p:nvPr/>
        </p:nvSpPr>
        <p:spPr>
          <a:xfrm>
            <a:off x="7562088" y="4782312"/>
            <a:ext cx="844906" cy="246888"/>
          </a:xfrm>
          <a:prstGeom prst="rect">
            <a:avLst/>
          </a:prstGeom>
          <a:solidFill>
            <a:srgbClr val="F7F9FB"/>
          </a:solidFill>
          <a:ln w="6350">
            <a:solidFill>
              <a:srgbClr val="D3DCE5"/>
            </a:solidFill>
            <a:prstDash val="solid"/>
          </a:ln>
        </p:spPr>
      </p:sp>
      <p:sp>
        <p:nvSpPr>
          <p:cNvPr id="68" name="Text 65"/>
          <p:cNvSpPr txBox="1"/>
          <p:nvPr/>
        </p:nvSpPr>
        <p:spPr>
          <a:xfrm>
            <a:off x="7626096" y="4782312"/>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1750</a:t>
            </a:r>
            <a:endParaRPr lang="en-US" sz="820" dirty="0"/>
          </a:p>
        </p:txBody>
      </p:sp>
      <p:sp>
        <p:nvSpPr>
          <p:cNvPr id="69" name="Shape 66"/>
          <p:cNvSpPr/>
          <p:nvPr/>
        </p:nvSpPr>
        <p:spPr>
          <a:xfrm>
            <a:off x="8406994" y="4782312"/>
            <a:ext cx="844906" cy="246888"/>
          </a:xfrm>
          <a:prstGeom prst="rect">
            <a:avLst/>
          </a:prstGeom>
          <a:solidFill>
            <a:srgbClr val="F7F9FB"/>
          </a:solidFill>
          <a:ln w="6350">
            <a:solidFill>
              <a:srgbClr val="D3DCE5"/>
            </a:solidFill>
            <a:prstDash val="solid"/>
          </a:ln>
        </p:spPr>
      </p:sp>
      <p:sp>
        <p:nvSpPr>
          <p:cNvPr id="70" name="Text 67"/>
          <p:cNvSpPr txBox="1"/>
          <p:nvPr/>
        </p:nvSpPr>
        <p:spPr>
          <a:xfrm>
            <a:off x="8471002" y="4782312"/>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1750</a:t>
            </a:r>
            <a:endParaRPr lang="en-US" sz="820" dirty="0"/>
          </a:p>
        </p:txBody>
      </p:sp>
      <p:sp>
        <p:nvSpPr>
          <p:cNvPr id="71" name="Shape 68"/>
          <p:cNvSpPr/>
          <p:nvPr/>
        </p:nvSpPr>
        <p:spPr>
          <a:xfrm>
            <a:off x="9251899" y="4782312"/>
            <a:ext cx="844906" cy="246888"/>
          </a:xfrm>
          <a:prstGeom prst="rect">
            <a:avLst/>
          </a:prstGeom>
          <a:solidFill>
            <a:srgbClr val="F7F9FB"/>
          </a:solidFill>
          <a:ln w="6350">
            <a:solidFill>
              <a:srgbClr val="D3DCE5"/>
            </a:solidFill>
            <a:prstDash val="solid"/>
          </a:ln>
        </p:spPr>
      </p:sp>
      <p:sp>
        <p:nvSpPr>
          <p:cNvPr id="72" name="Text 69"/>
          <p:cNvSpPr txBox="1"/>
          <p:nvPr/>
        </p:nvSpPr>
        <p:spPr>
          <a:xfrm>
            <a:off x="9315907" y="4782312"/>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1750</a:t>
            </a:r>
            <a:endParaRPr lang="en-US" sz="820" dirty="0"/>
          </a:p>
        </p:txBody>
      </p:sp>
      <p:sp>
        <p:nvSpPr>
          <p:cNvPr id="73" name="Shape 70"/>
          <p:cNvSpPr/>
          <p:nvPr/>
        </p:nvSpPr>
        <p:spPr>
          <a:xfrm>
            <a:off x="10096805" y="4782312"/>
            <a:ext cx="844906" cy="246888"/>
          </a:xfrm>
          <a:prstGeom prst="rect">
            <a:avLst/>
          </a:prstGeom>
          <a:solidFill>
            <a:srgbClr val="F7F9FB"/>
          </a:solidFill>
          <a:ln w="6350">
            <a:solidFill>
              <a:srgbClr val="D3DCE5"/>
            </a:solidFill>
            <a:prstDash val="solid"/>
          </a:ln>
        </p:spPr>
      </p:sp>
      <p:sp>
        <p:nvSpPr>
          <p:cNvPr id="74" name="Text 71"/>
          <p:cNvSpPr txBox="1"/>
          <p:nvPr/>
        </p:nvSpPr>
        <p:spPr>
          <a:xfrm>
            <a:off x="10160813" y="4782312"/>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1750</a:t>
            </a:r>
            <a:endParaRPr lang="en-US" sz="820" dirty="0"/>
          </a:p>
        </p:txBody>
      </p:sp>
      <p:sp>
        <p:nvSpPr>
          <p:cNvPr id="75" name="Shape 72"/>
          <p:cNvSpPr/>
          <p:nvPr/>
        </p:nvSpPr>
        <p:spPr>
          <a:xfrm>
            <a:off x="10941710" y="4782312"/>
            <a:ext cx="844906" cy="246888"/>
          </a:xfrm>
          <a:prstGeom prst="rect">
            <a:avLst/>
          </a:prstGeom>
          <a:solidFill>
            <a:srgbClr val="F7F9FB"/>
          </a:solidFill>
          <a:ln w="6350">
            <a:solidFill>
              <a:srgbClr val="D3DCE5"/>
            </a:solidFill>
            <a:prstDash val="solid"/>
          </a:ln>
        </p:spPr>
      </p:sp>
      <p:sp>
        <p:nvSpPr>
          <p:cNvPr id="76" name="Text 73"/>
          <p:cNvSpPr txBox="1"/>
          <p:nvPr/>
        </p:nvSpPr>
        <p:spPr>
          <a:xfrm>
            <a:off x="11005718" y="4782312"/>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1750</a:t>
            </a:r>
            <a:endParaRPr lang="en-US" sz="820" dirty="0"/>
          </a:p>
        </p:txBody>
      </p:sp>
      <p:sp>
        <p:nvSpPr>
          <p:cNvPr id="77" name="Shape 74"/>
          <p:cNvSpPr/>
          <p:nvPr/>
        </p:nvSpPr>
        <p:spPr>
          <a:xfrm>
            <a:off x="411480" y="5029200"/>
            <a:ext cx="2926080" cy="246888"/>
          </a:xfrm>
          <a:prstGeom prst="rect">
            <a:avLst/>
          </a:prstGeom>
          <a:solidFill>
            <a:srgbClr val="FFFFFF"/>
          </a:solidFill>
          <a:ln w="6350">
            <a:solidFill>
              <a:srgbClr val="D3DCE5"/>
            </a:solidFill>
            <a:prstDash val="solid"/>
          </a:ln>
        </p:spPr>
      </p:sp>
      <p:sp>
        <p:nvSpPr>
          <p:cNvPr id="78" name="Text 75"/>
          <p:cNvSpPr txBox="1"/>
          <p:nvPr/>
        </p:nvSpPr>
        <p:spPr>
          <a:xfrm>
            <a:off x="475488" y="5029200"/>
            <a:ext cx="279806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Bull</a:t>
            </a:r>
            <a:endParaRPr lang="en-US" sz="820" dirty="0"/>
          </a:p>
        </p:txBody>
      </p:sp>
      <p:sp>
        <p:nvSpPr>
          <p:cNvPr id="79" name="Shape 76"/>
          <p:cNvSpPr/>
          <p:nvPr/>
        </p:nvSpPr>
        <p:spPr>
          <a:xfrm>
            <a:off x="3337560" y="5029200"/>
            <a:ext cx="844906" cy="246888"/>
          </a:xfrm>
          <a:prstGeom prst="rect">
            <a:avLst/>
          </a:prstGeom>
          <a:solidFill>
            <a:srgbClr val="FFFFFF"/>
          </a:solidFill>
          <a:ln w="6350">
            <a:solidFill>
              <a:srgbClr val="D3DCE5"/>
            </a:solidFill>
            <a:prstDash val="solid"/>
          </a:ln>
        </p:spPr>
      </p:sp>
      <p:sp>
        <p:nvSpPr>
          <p:cNvPr id="80" name="Text 77"/>
          <p:cNvSpPr txBox="1"/>
          <p:nvPr/>
        </p:nvSpPr>
        <p:spPr>
          <a:xfrm>
            <a:off x="3401568" y="5029200"/>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2050</a:t>
            </a:r>
            <a:endParaRPr lang="en-US" sz="820" dirty="0"/>
          </a:p>
        </p:txBody>
      </p:sp>
      <p:sp>
        <p:nvSpPr>
          <p:cNvPr id="81" name="Shape 78"/>
          <p:cNvSpPr/>
          <p:nvPr/>
        </p:nvSpPr>
        <p:spPr>
          <a:xfrm>
            <a:off x="4182466" y="5029200"/>
            <a:ext cx="844906" cy="246888"/>
          </a:xfrm>
          <a:prstGeom prst="rect">
            <a:avLst/>
          </a:prstGeom>
          <a:solidFill>
            <a:srgbClr val="FFFFFF"/>
          </a:solidFill>
          <a:ln w="6350">
            <a:solidFill>
              <a:srgbClr val="D3DCE5"/>
            </a:solidFill>
            <a:prstDash val="solid"/>
          </a:ln>
        </p:spPr>
      </p:sp>
      <p:sp>
        <p:nvSpPr>
          <p:cNvPr id="82" name="Text 79"/>
          <p:cNvSpPr txBox="1"/>
          <p:nvPr/>
        </p:nvSpPr>
        <p:spPr>
          <a:xfrm>
            <a:off x="4246474" y="5029200"/>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2400</a:t>
            </a:r>
            <a:endParaRPr lang="en-US" sz="820" dirty="0"/>
          </a:p>
        </p:txBody>
      </p:sp>
      <p:sp>
        <p:nvSpPr>
          <p:cNvPr id="83" name="Shape 80"/>
          <p:cNvSpPr/>
          <p:nvPr/>
        </p:nvSpPr>
        <p:spPr>
          <a:xfrm>
            <a:off x="5027371" y="5029200"/>
            <a:ext cx="844906" cy="246888"/>
          </a:xfrm>
          <a:prstGeom prst="rect">
            <a:avLst/>
          </a:prstGeom>
          <a:solidFill>
            <a:srgbClr val="FFFFFF"/>
          </a:solidFill>
          <a:ln w="6350">
            <a:solidFill>
              <a:srgbClr val="D3DCE5"/>
            </a:solidFill>
            <a:prstDash val="solid"/>
          </a:ln>
        </p:spPr>
      </p:sp>
      <p:sp>
        <p:nvSpPr>
          <p:cNvPr id="84" name="Text 81"/>
          <p:cNvSpPr txBox="1"/>
          <p:nvPr/>
        </p:nvSpPr>
        <p:spPr>
          <a:xfrm>
            <a:off x="5091379" y="5029200"/>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2600</a:t>
            </a:r>
            <a:endParaRPr lang="en-US" sz="820" dirty="0"/>
          </a:p>
        </p:txBody>
      </p:sp>
      <p:sp>
        <p:nvSpPr>
          <p:cNvPr id="85" name="Shape 82"/>
          <p:cNvSpPr/>
          <p:nvPr/>
        </p:nvSpPr>
        <p:spPr>
          <a:xfrm>
            <a:off x="5872277" y="5029200"/>
            <a:ext cx="844906" cy="246888"/>
          </a:xfrm>
          <a:prstGeom prst="rect">
            <a:avLst/>
          </a:prstGeom>
          <a:solidFill>
            <a:srgbClr val="FFFFFF"/>
          </a:solidFill>
          <a:ln w="6350">
            <a:solidFill>
              <a:srgbClr val="D3DCE5"/>
            </a:solidFill>
            <a:prstDash val="solid"/>
          </a:ln>
        </p:spPr>
      </p:sp>
      <p:sp>
        <p:nvSpPr>
          <p:cNvPr id="86" name="Text 83"/>
          <p:cNvSpPr txBox="1"/>
          <p:nvPr/>
        </p:nvSpPr>
        <p:spPr>
          <a:xfrm>
            <a:off x="5936285" y="5029200"/>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2450</a:t>
            </a:r>
            <a:endParaRPr lang="en-US" sz="820" dirty="0"/>
          </a:p>
        </p:txBody>
      </p:sp>
      <p:sp>
        <p:nvSpPr>
          <p:cNvPr id="87" name="Shape 84"/>
          <p:cNvSpPr/>
          <p:nvPr/>
        </p:nvSpPr>
        <p:spPr>
          <a:xfrm>
            <a:off x="6717182" y="5029200"/>
            <a:ext cx="844906" cy="246888"/>
          </a:xfrm>
          <a:prstGeom prst="rect">
            <a:avLst/>
          </a:prstGeom>
          <a:solidFill>
            <a:srgbClr val="FFFFFF"/>
          </a:solidFill>
          <a:ln w="6350">
            <a:solidFill>
              <a:srgbClr val="D3DCE5"/>
            </a:solidFill>
            <a:prstDash val="solid"/>
          </a:ln>
        </p:spPr>
      </p:sp>
      <p:sp>
        <p:nvSpPr>
          <p:cNvPr id="88" name="Text 85"/>
          <p:cNvSpPr txBox="1"/>
          <p:nvPr/>
        </p:nvSpPr>
        <p:spPr>
          <a:xfrm>
            <a:off x="6781190" y="5029200"/>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2300</a:t>
            </a:r>
            <a:endParaRPr lang="en-US" sz="820" dirty="0"/>
          </a:p>
        </p:txBody>
      </p:sp>
      <p:sp>
        <p:nvSpPr>
          <p:cNvPr id="89" name="Shape 86"/>
          <p:cNvSpPr/>
          <p:nvPr/>
        </p:nvSpPr>
        <p:spPr>
          <a:xfrm>
            <a:off x="7562088" y="5029200"/>
            <a:ext cx="844906" cy="246888"/>
          </a:xfrm>
          <a:prstGeom prst="rect">
            <a:avLst/>
          </a:prstGeom>
          <a:solidFill>
            <a:srgbClr val="FFFFFF"/>
          </a:solidFill>
          <a:ln w="6350">
            <a:solidFill>
              <a:srgbClr val="D3DCE5"/>
            </a:solidFill>
            <a:prstDash val="solid"/>
          </a:ln>
        </p:spPr>
      </p:sp>
      <p:sp>
        <p:nvSpPr>
          <p:cNvPr id="90" name="Text 87"/>
          <p:cNvSpPr txBox="1"/>
          <p:nvPr/>
        </p:nvSpPr>
        <p:spPr>
          <a:xfrm>
            <a:off x="7626096" y="5029200"/>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2150</a:t>
            </a:r>
            <a:endParaRPr lang="en-US" sz="820" dirty="0"/>
          </a:p>
        </p:txBody>
      </p:sp>
      <p:sp>
        <p:nvSpPr>
          <p:cNvPr id="91" name="Shape 88"/>
          <p:cNvSpPr/>
          <p:nvPr/>
        </p:nvSpPr>
        <p:spPr>
          <a:xfrm>
            <a:off x="8406994" y="5029200"/>
            <a:ext cx="844906" cy="246888"/>
          </a:xfrm>
          <a:prstGeom prst="rect">
            <a:avLst/>
          </a:prstGeom>
          <a:solidFill>
            <a:srgbClr val="FFFFFF"/>
          </a:solidFill>
          <a:ln w="6350">
            <a:solidFill>
              <a:srgbClr val="D3DCE5"/>
            </a:solidFill>
            <a:prstDash val="solid"/>
          </a:ln>
        </p:spPr>
      </p:sp>
      <p:sp>
        <p:nvSpPr>
          <p:cNvPr id="92" name="Text 89"/>
          <p:cNvSpPr txBox="1"/>
          <p:nvPr/>
        </p:nvSpPr>
        <p:spPr>
          <a:xfrm>
            <a:off x="8471002" y="5029200"/>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2050</a:t>
            </a:r>
            <a:endParaRPr lang="en-US" sz="820" dirty="0"/>
          </a:p>
        </p:txBody>
      </p:sp>
      <p:sp>
        <p:nvSpPr>
          <p:cNvPr id="93" name="Shape 90"/>
          <p:cNvSpPr/>
          <p:nvPr/>
        </p:nvSpPr>
        <p:spPr>
          <a:xfrm>
            <a:off x="9251899" y="5029200"/>
            <a:ext cx="844906" cy="246888"/>
          </a:xfrm>
          <a:prstGeom prst="rect">
            <a:avLst/>
          </a:prstGeom>
          <a:solidFill>
            <a:srgbClr val="FFFFFF"/>
          </a:solidFill>
          <a:ln w="6350">
            <a:solidFill>
              <a:srgbClr val="D3DCE5"/>
            </a:solidFill>
            <a:prstDash val="solid"/>
          </a:ln>
        </p:spPr>
      </p:sp>
      <p:sp>
        <p:nvSpPr>
          <p:cNvPr id="94" name="Text 91"/>
          <p:cNvSpPr txBox="1"/>
          <p:nvPr/>
        </p:nvSpPr>
        <p:spPr>
          <a:xfrm>
            <a:off x="9315907" y="5029200"/>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1975</a:t>
            </a:r>
            <a:endParaRPr lang="en-US" sz="820" dirty="0"/>
          </a:p>
        </p:txBody>
      </p:sp>
      <p:sp>
        <p:nvSpPr>
          <p:cNvPr id="95" name="Shape 92"/>
          <p:cNvSpPr/>
          <p:nvPr/>
        </p:nvSpPr>
        <p:spPr>
          <a:xfrm>
            <a:off x="10096805" y="5029200"/>
            <a:ext cx="844906" cy="246888"/>
          </a:xfrm>
          <a:prstGeom prst="rect">
            <a:avLst/>
          </a:prstGeom>
          <a:solidFill>
            <a:srgbClr val="FFFFFF"/>
          </a:solidFill>
          <a:ln w="6350">
            <a:solidFill>
              <a:srgbClr val="D3DCE5"/>
            </a:solidFill>
            <a:prstDash val="solid"/>
          </a:ln>
        </p:spPr>
      </p:sp>
      <p:sp>
        <p:nvSpPr>
          <p:cNvPr id="96" name="Text 93"/>
          <p:cNvSpPr txBox="1"/>
          <p:nvPr/>
        </p:nvSpPr>
        <p:spPr>
          <a:xfrm>
            <a:off x="10160813" y="5029200"/>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1925</a:t>
            </a:r>
            <a:endParaRPr lang="en-US" sz="820" dirty="0"/>
          </a:p>
        </p:txBody>
      </p:sp>
      <p:sp>
        <p:nvSpPr>
          <p:cNvPr id="97" name="Shape 94"/>
          <p:cNvSpPr/>
          <p:nvPr/>
        </p:nvSpPr>
        <p:spPr>
          <a:xfrm>
            <a:off x="10941710" y="5029200"/>
            <a:ext cx="844906" cy="246888"/>
          </a:xfrm>
          <a:prstGeom prst="rect">
            <a:avLst/>
          </a:prstGeom>
          <a:solidFill>
            <a:srgbClr val="FFFFFF"/>
          </a:solidFill>
          <a:ln w="6350">
            <a:solidFill>
              <a:srgbClr val="D3DCE5"/>
            </a:solidFill>
            <a:prstDash val="solid"/>
          </a:ln>
        </p:spPr>
      </p:sp>
      <p:sp>
        <p:nvSpPr>
          <p:cNvPr id="98" name="Text 95"/>
          <p:cNvSpPr txBox="1"/>
          <p:nvPr/>
        </p:nvSpPr>
        <p:spPr>
          <a:xfrm>
            <a:off x="11005718" y="5029200"/>
            <a:ext cx="716890"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1900</a:t>
            </a:r>
            <a:endParaRPr lang="en-US" sz="820" dirty="0"/>
          </a:p>
        </p:txBody>
      </p:sp>
      <p:sp>
        <p:nvSpPr>
          <p:cNvPr id="99" name="Shape 96"/>
          <p:cNvSpPr/>
          <p:nvPr/>
        </p:nvSpPr>
        <p:spPr>
          <a:xfrm>
            <a:off x="411480" y="5385816"/>
            <a:ext cx="11375136" cy="649224"/>
          </a:xfrm>
          <a:prstGeom prst="rect">
            <a:avLst/>
          </a:prstGeom>
          <a:solidFill>
            <a:srgbClr val="EEF2F6"/>
          </a:solidFill>
          <a:ln w="9525">
            <a:solidFill>
              <a:srgbClr val="D3DCE5"/>
            </a:solidFill>
            <a:prstDash val="solid"/>
          </a:ln>
        </p:spPr>
      </p:sp>
      <p:sp>
        <p:nvSpPr>
          <p:cNvPr id="100" name="Text 97"/>
          <p:cNvSpPr txBox="1"/>
          <p:nvPr/>
        </p:nvSpPr>
        <p:spPr>
          <a:xfrm>
            <a:off x="576072" y="5513832"/>
            <a:ext cx="11045952" cy="429768"/>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Anchor points: FY26 actual realised US$1,488/t; June-2026 quarter US$2,107/t; spot SC6 about US$2,038-2,200/t in August 2026; the Australian Government forecast a 2026 average of US$2,236/t. Our base FY27 of US$1,700/t is below all of them.</a:t>
            </a:r>
            <a:endParaRPr lang="en-US" sz="880" dirty="0"/>
          </a:p>
        </p:txBody>
      </p:sp>
      <p:sp>
        <p:nvSpPr>
          <p:cNvPr id="101" name="Text 98"/>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Deck sheet. Anchors per PLS quarterly reports, Benchmark Mineral Intelligence, S&amp;P Global Platts and the Australian Government Resources and Energy Quarterly, June 2026.</a:t>
            </a:r>
            <a:endParaRPr lang="en-US" sz="720" dirty="0"/>
          </a:p>
        </p:txBody>
      </p:sp>
      <p:sp>
        <p:nvSpPr>
          <p:cNvPr id="102" name="Text 99"/>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E2</a:t>
            </a:r>
            <a:endParaRPr lang="en-US" sz="8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mbria" pitchFamily="34" charset="0"/>
                <a:ea typeface="Cambria" pitchFamily="34" charset="-122"/>
                <a:cs typeface="Cambria" pitchFamily="34" charset="-120"/>
              </a:rPr>
              <a:t>FY27 base of 1,065kt is the exact midpoint of company guidance. Everything after that is ours.</a:t>
            </a:r>
            <a:endParaRPr lang="en-US" sz="170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E3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Text 5"/>
          <p:cNvSpPr txBox="1"/>
          <p:nvPr/>
        </p:nvSpPr>
        <p:spPr>
          <a:xfrm>
            <a:off x="411480" y="1298448"/>
            <a:ext cx="2743200" cy="219456"/>
          </a:xfrm>
          <a:prstGeom prst="rect">
            <a:avLst/>
          </a:prstGeom>
          <a:noFill/>
          <a:ln/>
        </p:spPr>
        <p:txBody>
          <a:bodyPr wrap="square" lIns="0" tIns="0" rIns="0" bIns="0" rtlCol="0" anchor="t"/>
          <a:lstStyle/>
          <a:p>
            <a:pPr indent="0" marL="0">
              <a:buNone/>
            </a:pPr>
            <a:r>
              <a:rPr lang="en-US" sz="950" b="1" dirty="0">
                <a:solidFill>
                  <a:srgbClr val="0E7C6B"/>
                </a:solidFill>
                <a:latin typeface="Calibri" pitchFamily="34" charset="0"/>
                <a:ea typeface="Calibri" pitchFamily="34" charset="-122"/>
                <a:cs typeface="Calibri" pitchFamily="34" charset="-120"/>
              </a:rPr>
              <a:t>BASE CASE</a:t>
            </a:r>
            <a:endParaRPr lang="en-US" sz="950" dirty="0"/>
          </a:p>
        </p:txBody>
      </p:sp>
      <p:sp>
        <p:nvSpPr>
          <p:cNvPr id="8" name="Shape 6"/>
          <p:cNvSpPr/>
          <p:nvPr/>
        </p:nvSpPr>
        <p:spPr>
          <a:xfrm>
            <a:off x="411480" y="1490472"/>
            <a:ext cx="2926080" cy="219456"/>
          </a:xfrm>
          <a:prstGeom prst="rect">
            <a:avLst/>
          </a:prstGeom>
          <a:solidFill>
            <a:srgbClr val="10233A"/>
          </a:solidFill>
          <a:ln/>
        </p:spPr>
      </p:sp>
      <p:sp>
        <p:nvSpPr>
          <p:cNvPr id="9" name="Text 7"/>
          <p:cNvSpPr txBox="1"/>
          <p:nvPr/>
        </p:nvSpPr>
        <p:spPr>
          <a:xfrm>
            <a:off x="475488" y="1490472"/>
            <a:ext cx="2798064" cy="219456"/>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kt of concentrate</a:t>
            </a:r>
            <a:endParaRPr lang="en-US" sz="800" dirty="0"/>
          </a:p>
        </p:txBody>
      </p:sp>
      <p:sp>
        <p:nvSpPr>
          <p:cNvPr id="10" name="Shape 8"/>
          <p:cNvSpPr/>
          <p:nvPr/>
        </p:nvSpPr>
        <p:spPr>
          <a:xfrm>
            <a:off x="3337560" y="1490472"/>
            <a:ext cx="844906" cy="219456"/>
          </a:xfrm>
          <a:prstGeom prst="rect">
            <a:avLst/>
          </a:prstGeom>
          <a:solidFill>
            <a:srgbClr val="10233A"/>
          </a:solidFill>
          <a:ln/>
        </p:spPr>
      </p:sp>
      <p:sp>
        <p:nvSpPr>
          <p:cNvPr id="11" name="Text 9"/>
          <p:cNvSpPr txBox="1"/>
          <p:nvPr/>
        </p:nvSpPr>
        <p:spPr>
          <a:xfrm>
            <a:off x="3401568" y="1490472"/>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FY27</a:t>
            </a:r>
            <a:endParaRPr lang="en-US" sz="800" dirty="0"/>
          </a:p>
        </p:txBody>
      </p:sp>
      <p:sp>
        <p:nvSpPr>
          <p:cNvPr id="12" name="Shape 10"/>
          <p:cNvSpPr/>
          <p:nvPr/>
        </p:nvSpPr>
        <p:spPr>
          <a:xfrm>
            <a:off x="4182466" y="1490472"/>
            <a:ext cx="844906" cy="219456"/>
          </a:xfrm>
          <a:prstGeom prst="rect">
            <a:avLst/>
          </a:prstGeom>
          <a:solidFill>
            <a:srgbClr val="10233A"/>
          </a:solidFill>
          <a:ln/>
        </p:spPr>
      </p:sp>
      <p:sp>
        <p:nvSpPr>
          <p:cNvPr id="13" name="Text 11"/>
          <p:cNvSpPr txBox="1"/>
          <p:nvPr/>
        </p:nvSpPr>
        <p:spPr>
          <a:xfrm>
            <a:off x="4246474" y="1490472"/>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FY28</a:t>
            </a:r>
            <a:endParaRPr lang="en-US" sz="800" dirty="0"/>
          </a:p>
        </p:txBody>
      </p:sp>
      <p:sp>
        <p:nvSpPr>
          <p:cNvPr id="14" name="Shape 12"/>
          <p:cNvSpPr/>
          <p:nvPr/>
        </p:nvSpPr>
        <p:spPr>
          <a:xfrm>
            <a:off x="5027371" y="1490472"/>
            <a:ext cx="844906" cy="219456"/>
          </a:xfrm>
          <a:prstGeom prst="rect">
            <a:avLst/>
          </a:prstGeom>
          <a:solidFill>
            <a:srgbClr val="10233A"/>
          </a:solidFill>
          <a:ln/>
        </p:spPr>
      </p:sp>
      <p:sp>
        <p:nvSpPr>
          <p:cNvPr id="15" name="Text 13"/>
          <p:cNvSpPr txBox="1"/>
          <p:nvPr/>
        </p:nvSpPr>
        <p:spPr>
          <a:xfrm>
            <a:off x="5091379" y="1490472"/>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FY29</a:t>
            </a:r>
            <a:endParaRPr lang="en-US" sz="800" dirty="0"/>
          </a:p>
        </p:txBody>
      </p:sp>
      <p:sp>
        <p:nvSpPr>
          <p:cNvPr id="16" name="Shape 14"/>
          <p:cNvSpPr/>
          <p:nvPr/>
        </p:nvSpPr>
        <p:spPr>
          <a:xfrm>
            <a:off x="5872277" y="1490472"/>
            <a:ext cx="844906" cy="219456"/>
          </a:xfrm>
          <a:prstGeom prst="rect">
            <a:avLst/>
          </a:prstGeom>
          <a:solidFill>
            <a:srgbClr val="10233A"/>
          </a:solidFill>
          <a:ln/>
        </p:spPr>
      </p:sp>
      <p:sp>
        <p:nvSpPr>
          <p:cNvPr id="17" name="Text 15"/>
          <p:cNvSpPr txBox="1"/>
          <p:nvPr/>
        </p:nvSpPr>
        <p:spPr>
          <a:xfrm>
            <a:off x="5936285" y="1490472"/>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FY30</a:t>
            </a:r>
            <a:endParaRPr lang="en-US" sz="800" dirty="0"/>
          </a:p>
        </p:txBody>
      </p:sp>
      <p:sp>
        <p:nvSpPr>
          <p:cNvPr id="18" name="Shape 16"/>
          <p:cNvSpPr/>
          <p:nvPr/>
        </p:nvSpPr>
        <p:spPr>
          <a:xfrm>
            <a:off x="6717182" y="1490472"/>
            <a:ext cx="844906" cy="219456"/>
          </a:xfrm>
          <a:prstGeom prst="rect">
            <a:avLst/>
          </a:prstGeom>
          <a:solidFill>
            <a:srgbClr val="10233A"/>
          </a:solidFill>
          <a:ln/>
        </p:spPr>
      </p:sp>
      <p:sp>
        <p:nvSpPr>
          <p:cNvPr id="19" name="Text 17"/>
          <p:cNvSpPr txBox="1"/>
          <p:nvPr/>
        </p:nvSpPr>
        <p:spPr>
          <a:xfrm>
            <a:off x="6781190" y="1490472"/>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FY31</a:t>
            </a:r>
            <a:endParaRPr lang="en-US" sz="800" dirty="0"/>
          </a:p>
        </p:txBody>
      </p:sp>
      <p:sp>
        <p:nvSpPr>
          <p:cNvPr id="20" name="Shape 18"/>
          <p:cNvSpPr/>
          <p:nvPr/>
        </p:nvSpPr>
        <p:spPr>
          <a:xfrm>
            <a:off x="7562088" y="1490472"/>
            <a:ext cx="844906" cy="219456"/>
          </a:xfrm>
          <a:prstGeom prst="rect">
            <a:avLst/>
          </a:prstGeom>
          <a:solidFill>
            <a:srgbClr val="10233A"/>
          </a:solidFill>
          <a:ln/>
        </p:spPr>
      </p:sp>
      <p:sp>
        <p:nvSpPr>
          <p:cNvPr id="21" name="Text 19"/>
          <p:cNvSpPr txBox="1"/>
          <p:nvPr/>
        </p:nvSpPr>
        <p:spPr>
          <a:xfrm>
            <a:off x="7626096" y="1490472"/>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FY32</a:t>
            </a:r>
            <a:endParaRPr lang="en-US" sz="800" dirty="0"/>
          </a:p>
        </p:txBody>
      </p:sp>
      <p:sp>
        <p:nvSpPr>
          <p:cNvPr id="22" name="Shape 20"/>
          <p:cNvSpPr/>
          <p:nvPr/>
        </p:nvSpPr>
        <p:spPr>
          <a:xfrm>
            <a:off x="8406994" y="1490472"/>
            <a:ext cx="844906" cy="219456"/>
          </a:xfrm>
          <a:prstGeom prst="rect">
            <a:avLst/>
          </a:prstGeom>
          <a:solidFill>
            <a:srgbClr val="10233A"/>
          </a:solidFill>
          <a:ln/>
        </p:spPr>
      </p:sp>
      <p:sp>
        <p:nvSpPr>
          <p:cNvPr id="23" name="Text 21"/>
          <p:cNvSpPr txBox="1"/>
          <p:nvPr/>
        </p:nvSpPr>
        <p:spPr>
          <a:xfrm>
            <a:off x="8471002" y="1490472"/>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FY33</a:t>
            </a:r>
            <a:endParaRPr lang="en-US" sz="800" dirty="0"/>
          </a:p>
        </p:txBody>
      </p:sp>
      <p:sp>
        <p:nvSpPr>
          <p:cNvPr id="24" name="Shape 22"/>
          <p:cNvSpPr/>
          <p:nvPr/>
        </p:nvSpPr>
        <p:spPr>
          <a:xfrm>
            <a:off x="9251899" y="1490472"/>
            <a:ext cx="844906" cy="219456"/>
          </a:xfrm>
          <a:prstGeom prst="rect">
            <a:avLst/>
          </a:prstGeom>
          <a:solidFill>
            <a:srgbClr val="10233A"/>
          </a:solidFill>
          <a:ln/>
        </p:spPr>
      </p:sp>
      <p:sp>
        <p:nvSpPr>
          <p:cNvPr id="25" name="Text 23"/>
          <p:cNvSpPr txBox="1"/>
          <p:nvPr/>
        </p:nvSpPr>
        <p:spPr>
          <a:xfrm>
            <a:off x="9315907" y="1490472"/>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FY34</a:t>
            </a:r>
            <a:endParaRPr lang="en-US" sz="800" dirty="0"/>
          </a:p>
        </p:txBody>
      </p:sp>
      <p:sp>
        <p:nvSpPr>
          <p:cNvPr id="26" name="Shape 24"/>
          <p:cNvSpPr/>
          <p:nvPr/>
        </p:nvSpPr>
        <p:spPr>
          <a:xfrm>
            <a:off x="10096805" y="1490472"/>
            <a:ext cx="844906" cy="219456"/>
          </a:xfrm>
          <a:prstGeom prst="rect">
            <a:avLst/>
          </a:prstGeom>
          <a:solidFill>
            <a:srgbClr val="10233A"/>
          </a:solidFill>
          <a:ln/>
        </p:spPr>
      </p:sp>
      <p:sp>
        <p:nvSpPr>
          <p:cNvPr id="27" name="Text 25"/>
          <p:cNvSpPr txBox="1"/>
          <p:nvPr/>
        </p:nvSpPr>
        <p:spPr>
          <a:xfrm>
            <a:off x="10160813" y="1490472"/>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FY35</a:t>
            </a:r>
            <a:endParaRPr lang="en-US" sz="800" dirty="0"/>
          </a:p>
        </p:txBody>
      </p:sp>
      <p:sp>
        <p:nvSpPr>
          <p:cNvPr id="28" name="Shape 26"/>
          <p:cNvSpPr/>
          <p:nvPr/>
        </p:nvSpPr>
        <p:spPr>
          <a:xfrm>
            <a:off x="10941710" y="1490472"/>
            <a:ext cx="844906" cy="219456"/>
          </a:xfrm>
          <a:prstGeom prst="rect">
            <a:avLst/>
          </a:prstGeom>
          <a:solidFill>
            <a:srgbClr val="10233A"/>
          </a:solidFill>
          <a:ln/>
        </p:spPr>
      </p:sp>
      <p:sp>
        <p:nvSpPr>
          <p:cNvPr id="29" name="Text 27"/>
          <p:cNvSpPr txBox="1"/>
          <p:nvPr/>
        </p:nvSpPr>
        <p:spPr>
          <a:xfrm>
            <a:off x="11005718" y="1490472"/>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FY36</a:t>
            </a:r>
            <a:endParaRPr lang="en-US" sz="800" dirty="0"/>
          </a:p>
        </p:txBody>
      </p:sp>
      <p:sp>
        <p:nvSpPr>
          <p:cNvPr id="30" name="Shape 28"/>
          <p:cNvSpPr/>
          <p:nvPr/>
        </p:nvSpPr>
        <p:spPr>
          <a:xfrm>
            <a:off x="411480" y="1709928"/>
            <a:ext cx="2926080" cy="182880"/>
          </a:xfrm>
          <a:prstGeom prst="rect">
            <a:avLst/>
          </a:prstGeom>
          <a:solidFill>
            <a:srgbClr val="FFFFFF"/>
          </a:solidFill>
          <a:ln w="6350">
            <a:solidFill>
              <a:srgbClr val="D3DCE5"/>
            </a:solidFill>
            <a:prstDash val="solid"/>
          </a:ln>
        </p:spPr>
      </p:sp>
      <p:sp>
        <p:nvSpPr>
          <p:cNvPr id="31" name="Text 29"/>
          <p:cNvSpPr txBox="1"/>
          <p:nvPr/>
        </p:nvSpPr>
        <p:spPr>
          <a:xfrm>
            <a:off x="475488" y="1709928"/>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Pilgan plant</a:t>
            </a:r>
            <a:endParaRPr lang="en-US" sz="800" dirty="0"/>
          </a:p>
        </p:txBody>
      </p:sp>
      <p:sp>
        <p:nvSpPr>
          <p:cNvPr id="32" name="Shape 30"/>
          <p:cNvSpPr/>
          <p:nvPr/>
        </p:nvSpPr>
        <p:spPr>
          <a:xfrm>
            <a:off x="3337560" y="1709928"/>
            <a:ext cx="844906" cy="182880"/>
          </a:xfrm>
          <a:prstGeom prst="rect">
            <a:avLst/>
          </a:prstGeom>
          <a:solidFill>
            <a:srgbClr val="FFFFFF"/>
          </a:solidFill>
          <a:ln w="6350">
            <a:solidFill>
              <a:srgbClr val="D3DCE5"/>
            </a:solidFill>
            <a:prstDash val="solid"/>
          </a:ln>
        </p:spPr>
      </p:sp>
      <p:sp>
        <p:nvSpPr>
          <p:cNvPr id="33" name="Text 31"/>
          <p:cNvSpPr txBox="1"/>
          <p:nvPr/>
        </p:nvSpPr>
        <p:spPr>
          <a:xfrm>
            <a:off x="3401568" y="170992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900</a:t>
            </a:r>
            <a:endParaRPr lang="en-US" sz="800" dirty="0"/>
          </a:p>
        </p:txBody>
      </p:sp>
      <p:sp>
        <p:nvSpPr>
          <p:cNvPr id="34" name="Shape 32"/>
          <p:cNvSpPr/>
          <p:nvPr/>
        </p:nvSpPr>
        <p:spPr>
          <a:xfrm>
            <a:off x="4182466" y="1709928"/>
            <a:ext cx="844906" cy="182880"/>
          </a:xfrm>
          <a:prstGeom prst="rect">
            <a:avLst/>
          </a:prstGeom>
          <a:solidFill>
            <a:srgbClr val="FFFFFF"/>
          </a:solidFill>
          <a:ln w="6350">
            <a:solidFill>
              <a:srgbClr val="D3DCE5"/>
            </a:solidFill>
            <a:prstDash val="solid"/>
          </a:ln>
        </p:spPr>
      </p:sp>
      <p:sp>
        <p:nvSpPr>
          <p:cNvPr id="35" name="Text 33"/>
          <p:cNvSpPr txBox="1"/>
          <p:nvPr/>
        </p:nvSpPr>
        <p:spPr>
          <a:xfrm>
            <a:off x="4246474" y="170992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920</a:t>
            </a:r>
            <a:endParaRPr lang="en-US" sz="800" dirty="0"/>
          </a:p>
        </p:txBody>
      </p:sp>
      <p:sp>
        <p:nvSpPr>
          <p:cNvPr id="36" name="Shape 34"/>
          <p:cNvSpPr/>
          <p:nvPr/>
        </p:nvSpPr>
        <p:spPr>
          <a:xfrm>
            <a:off x="5027371" y="1709928"/>
            <a:ext cx="844906" cy="182880"/>
          </a:xfrm>
          <a:prstGeom prst="rect">
            <a:avLst/>
          </a:prstGeom>
          <a:solidFill>
            <a:srgbClr val="FFFFFF"/>
          </a:solidFill>
          <a:ln w="6350">
            <a:solidFill>
              <a:srgbClr val="D3DCE5"/>
            </a:solidFill>
            <a:prstDash val="solid"/>
          </a:ln>
        </p:spPr>
      </p:sp>
      <p:sp>
        <p:nvSpPr>
          <p:cNvPr id="37" name="Text 35"/>
          <p:cNvSpPr txBox="1"/>
          <p:nvPr/>
        </p:nvSpPr>
        <p:spPr>
          <a:xfrm>
            <a:off x="5091379" y="170992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920</a:t>
            </a:r>
            <a:endParaRPr lang="en-US" sz="800" dirty="0"/>
          </a:p>
        </p:txBody>
      </p:sp>
      <p:sp>
        <p:nvSpPr>
          <p:cNvPr id="38" name="Shape 36"/>
          <p:cNvSpPr/>
          <p:nvPr/>
        </p:nvSpPr>
        <p:spPr>
          <a:xfrm>
            <a:off x="5872277" y="1709928"/>
            <a:ext cx="844906" cy="182880"/>
          </a:xfrm>
          <a:prstGeom prst="rect">
            <a:avLst/>
          </a:prstGeom>
          <a:solidFill>
            <a:srgbClr val="FFFFFF"/>
          </a:solidFill>
          <a:ln w="6350">
            <a:solidFill>
              <a:srgbClr val="D3DCE5"/>
            </a:solidFill>
            <a:prstDash val="solid"/>
          </a:ln>
        </p:spPr>
      </p:sp>
      <p:sp>
        <p:nvSpPr>
          <p:cNvPr id="39" name="Text 37"/>
          <p:cNvSpPr txBox="1"/>
          <p:nvPr/>
        </p:nvSpPr>
        <p:spPr>
          <a:xfrm>
            <a:off x="5936285" y="170992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920</a:t>
            </a:r>
            <a:endParaRPr lang="en-US" sz="800" dirty="0"/>
          </a:p>
        </p:txBody>
      </p:sp>
      <p:sp>
        <p:nvSpPr>
          <p:cNvPr id="40" name="Shape 38"/>
          <p:cNvSpPr/>
          <p:nvPr/>
        </p:nvSpPr>
        <p:spPr>
          <a:xfrm>
            <a:off x="6717182" y="1709928"/>
            <a:ext cx="844906" cy="182880"/>
          </a:xfrm>
          <a:prstGeom prst="rect">
            <a:avLst/>
          </a:prstGeom>
          <a:solidFill>
            <a:srgbClr val="FFFFFF"/>
          </a:solidFill>
          <a:ln w="6350">
            <a:solidFill>
              <a:srgbClr val="D3DCE5"/>
            </a:solidFill>
            <a:prstDash val="solid"/>
          </a:ln>
        </p:spPr>
      </p:sp>
      <p:sp>
        <p:nvSpPr>
          <p:cNvPr id="41" name="Text 39"/>
          <p:cNvSpPr txBox="1"/>
          <p:nvPr/>
        </p:nvSpPr>
        <p:spPr>
          <a:xfrm>
            <a:off x="6781190" y="170992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920</a:t>
            </a:r>
            <a:endParaRPr lang="en-US" sz="800" dirty="0"/>
          </a:p>
        </p:txBody>
      </p:sp>
      <p:sp>
        <p:nvSpPr>
          <p:cNvPr id="42" name="Shape 40"/>
          <p:cNvSpPr/>
          <p:nvPr/>
        </p:nvSpPr>
        <p:spPr>
          <a:xfrm>
            <a:off x="7562088" y="1709928"/>
            <a:ext cx="844906" cy="182880"/>
          </a:xfrm>
          <a:prstGeom prst="rect">
            <a:avLst/>
          </a:prstGeom>
          <a:solidFill>
            <a:srgbClr val="FFFFFF"/>
          </a:solidFill>
          <a:ln w="6350">
            <a:solidFill>
              <a:srgbClr val="D3DCE5"/>
            </a:solidFill>
            <a:prstDash val="solid"/>
          </a:ln>
        </p:spPr>
      </p:sp>
      <p:sp>
        <p:nvSpPr>
          <p:cNvPr id="43" name="Text 41"/>
          <p:cNvSpPr txBox="1"/>
          <p:nvPr/>
        </p:nvSpPr>
        <p:spPr>
          <a:xfrm>
            <a:off x="7626096" y="170992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920</a:t>
            </a:r>
            <a:endParaRPr lang="en-US" sz="800" dirty="0"/>
          </a:p>
        </p:txBody>
      </p:sp>
      <p:sp>
        <p:nvSpPr>
          <p:cNvPr id="44" name="Shape 42"/>
          <p:cNvSpPr/>
          <p:nvPr/>
        </p:nvSpPr>
        <p:spPr>
          <a:xfrm>
            <a:off x="8406994" y="1709928"/>
            <a:ext cx="844906" cy="182880"/>
          </a:xfrm>
          <a:prstGeom prst="rect">
            <a:avLst/>
          </a:prstGeom>
          <a:solidFill>
            <a:srgbClr val="FFFFFF"/>
          </a:solidFill>
          <a:ln w="6350">
            <a:solidFill>
              <a:srgbClr val="D3DCE5"/>
            </a:solidFill>
            <a:prstDash val="solid"/>
          </a:ln>
        </p:spPr>
      </p:sp>
      <p:sp>
        <p:nvSpPr>
          <p:cNvPr id="45" name="Text 43"/>
          <p:cNvSpPr txBox="1"/>
          <p:nvPr/>
        </p:nvSpPr>
        <p:spPr>
          <a:xfrm>
            <a:off x="8471002" y="170992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920</a:t>
            </a:r>
            <a:endParaRPr lang="en-US" sz="800" dirty="0"/>
          </a:p>
        </p:txBody>
      </p:sp>
      <p:sp>
        <p:nvSpPr>
          <p:cNvPr id="46" name="Shape 44"/>
          <p:cNvSpPr/>
          <p:nvPr/>
        </p:nvSpPr>
        <p:spPr>
          <a:xfrm>
            <a:off x="9251899" y="1709928"/>
            <a:ext cx="844906" cy="182880"/>
          </a:xfrm>
          <a:prstGeom prst="rect">
            <a:avLst/>
          </a:prstGeom>
          <a:solidFill>
            <a:srgbClr val="FFFFFF"/>
          </a:solidFill>
          <a:ln w="6350">
            <a:solidFill>
              <a:srgbClr val="D3DCE5"/>
            </a:solidFill>
            <a:prstDash val="solid"/>
          </a:ln>
        </p:spPr>
      </p:sp>
      <p:sp>
        <p:nvSpPr>
          <p:cNvPr id="47" name="Text 45"/>
          <p:cNvSpPr txBox="1"/>
          <p:nvPr/>
        </p:nvSpPr>
        <p:spPr>
          <a:xfrm>
            <a:off x="9315907" y="170992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920</a:t>
            </a:r>
            <a:endParaRPr lang="en-US" sz="800" dirty="0"/>
          </a:p>
        </p:txBody>
      </p:sp>
      <p:sp>
        <p:nvSpPr>
          <p:cNvPr id="48" name="Shape 46"/>
          <p:cNvSpPr/>
          <p:nvPr/>
        </p:nvSpPr>
        <p:spPr>
          <a:xfrm>
            <a:off x="10096805" y="1709928"/>
            <a:ext cx="844906" cy="182880"/>
          </a:xfrm>
          <a:prstGeom prst="rect">
            <a:avLst/>
          </a:prstGeom>
          <a:solidFill>
            <a:srgbClr val="FFFFFF"/>
          </a:solidFill>
          <a:ln w="6350">
            <a:solidFill>
              <a:srgbClr val="D3DCE5"/>
            </a:solidFill>
            <a:prstDash val="solid"/>
          </a:ln>
        </p:spPr>
      </p:sp>
      <p:sp>
        <p:nvSpPr>
          <p:cNvPr id="49" name="Text 47"/>
          <p:cNvSpPr txBox="1"/>
          <p:nvPr/>
        </p:nvSpPr>
        <p:spPr>
          <a:xfrm>
            <a:off x="10160813" y="170992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920</a:t>
            </a:r>
            <a:endParaRPr lang="en-US" sz="800" dirty="0"/>
          </a:p>
        </p:txBody>
      </p:sp>
      <p:sp>
        <p:nvSpPr>
          <p:cNvPr id="50" name="Shape 48"/>
          <p:cNvSpPr/>
          <p:nvPr/>
        </p:nvSpPr>
        <p:spPr>
          <a:xfrm>
            <a:off x="10941710" y="1709928"/>
            <a:ext cx="844906" cy="182880"/>
          </a:xfrm>
          <a:prstGeom prst="rect">
            <a:avLst/>
          </a:prstGeom>
          <a:solidFill>
            <a:srgbClr val="FFFFFF"/>
          </a:solidFill>
          <a:ln w="6350">
            <a:solidFill>
              <a:srgbClr val="D3DCE5"/>
            </a:solidFill>
            <a:prstDash val="solid"/>
          </a:ln>
        </p:spPr>
      </p:sp>
      <p:sp>
        <p:nvSpPr>
          <p:cNvPr id="51" name="Text 49"/>
          <p:cNvSpPr txBox="1"/>
          <p:nvPr/>
        </p:nvSpPr>
        <p:spPr>
          <a:xfrm>
            <a:off x="11005718" y="170992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920</a:t>
            </a:r>
            <a:endParaRPr lang="en-US" sz="800" dirty="0"/>
          </a:p>
        </p:txBody>
      </p:sp>
      <p:sp>
        <p:nvSpPr>
          <p:cNvPr id="52" name="Shape 50"/>
          <p:cNvSpPr/>
          <p:nvPr/>
        </p:nvSpPr>
        <p:spPr>
          <a:xfrm>
            <a:off x="411480" y="1892808"/>
            <a:ext cx="2926080" cy="182880"/>
          </a:xfrm>
          <a:prstGeom prst="rect">
            <a:avLst/>
          </a:prstGeom>
          <a:solidFill>
            <a:srgbClr val="F7F9FB"/>
          </a:solidFill>
          <a:ln w="6350">
            <a:solidFill>
              <a:srgbClr val="D3DCE5"/>
            </a:solidFill>
            <a:prstDash val="solid"/>
          </a:ln>
        </p:spPr>
      </p:sp>
      <p:sp>
        <p:nvSpPr>
          <p:cNvPr id="53" name="Text 51"/>
          <p:cNvSpPr txBox="1"/>
          <p:nvPr/>
        </p:nvSpPr>
        <p:spPr>
          <a:xfrm>
            <a:off x="475488" y="1892808"/>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Ngungaju plant</a:t>
            </a:r>
            <a:endParaRPr lang="en-US" sz="800" dirty="0"/>
          </a:p>
        </p:txBody>
      </p:sp>
      <p:sp>
        <p:nvSpPr>
          <p:cNvPr id="54" name="Shape 52"/>
          <p:cNvSpPr/>
          <p:nvPr/>
        </p:nvSpPr>
        <p:spPr>
          <a:xfrm>
            <a:off x="3337560" y="1892808"/>
            <a:ext cx="844906" cy="182880"/>
          </a:xfrm>
          <a:prstGeom prst="rect">
            <a:avLst/>
          </a:prstGeom>
          <a:solidFill>
            <a:srgbClr val="F7F9FB"/>
          </a:solidFill>
          <a:ln w="6350">
            <a:solidFill>
              <a:srgbClr val="D3DCE5"/>
            </a:solidFill>
            <a:prstDash val="solid"/>
          </a:ln>
        </p:spPr>
      </p:sp>
      <p:sp>
        <p:nvSpPr>
          <p:cNvPr id="55" name="Text 53"/>
          <p:cNvSpPr txBox="1"/>
          <p:nvPr/>
        </p:nvSpPr>
        <p:spPr>
          <a:xfrm>
            <a:off x="3401568" y="189280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165</a:t>
            </a:r>
            <a:endParaRPr lang="en-US" sz="800" dirty="0"/>
          </a:p>
        </p:txBody>
      </p:sp>
      <p:sp>
        <p:nvSpPr>
          <p:cNvPr id="56" name="Shape 54"/>
          <p:cNvSpPr/>
          <p:nvPr/>
        </p:nvSpPr>
        <p:spPr>
          <a:xfrm>
            <a:off x="4182466" y="1892808"/>
            <a:ext cx="844906" cy="182880"/>
          </a:xfrm>
          <a:prstGeom prst="rect">
            <a:avLst/>
          </a:prstGeom>
          <a:solidFill>
            <a:srgbClr val="F7F9FB"/>
          </a:solidFill>
          <a:ln w="6350">
            <a:solidFill>
              <a:srgbClr val="D3DCE5"/>
            </a:solidFill>
            <a:prstDash val="solid"/>
          </a:ln>
        </p:spPr>
      </p:sp>
      <p:sp>
        <p:nvSpPr>
          <p:cNvPr id="57" name="Text 55"/>
          <p:cNvSpPr txBox="1"/>
          <p:nvPr/>
        </p:nvSpPr>
        <p:spPr>
          <a:xfrm>
            <a:off x="4246474" y="189280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195</a:t>
            </a:r>
            <a:endParaRPr lang="en-US" sz="800" dirty="0"/>
          </a:p>
        </p:txBody>
      </p:sp>
      <p:sp>
        <p:nvSpPr>
          <p:cNvPr id="58" name="Shape 56"/>
          <p:cNvSpPr/>
          <p:nvPr/>
        </p:nvSpPr>
        <p:spPr>
          <a:xfrm>
            <a:off x="5027371" y="1892808"/>
            <a:ext cx="844906" cy="182880"/>
          </a:xfrm>
          <a:prstGeom prst="rect">
            <a:avLst/>
          </a:prstGeom>
          <a:solidFill>
            <a:srgbClr val="F7F9FB"/>
          </a:solidFill>
          <a:ln w="6350">
            <a:solidFill>
              <a:srgbClr val="D3DCE5"/>
            </a:solidFill>
            <a:prstDash val="solid"/>
          </a:ln>
        </p:spPr>
      </p:sp>
      <p:sp>
        <p:nvSpPr>
          <p:cNvPr id="59" name="Text 57"/>
          <p:cNvSpPr txBox="1"/>
          <p:nvPr/>
        </p:nvSpPr>
        <p:spPr>
          <a:xfrm>
            <a:off x="5091379" y="189280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195</a:t>
            </a:r>
            <a:endParaRPr lang="en-US" sz="800" dirty="0"/>
          </a:p>
        </p:txBody>
      </p:sp>
      <p:sp>
        <p:nvSpPr>
          <p:cNvPr id="60" name="Shape 58"/>
          <p:cNvSpPr/>
          <p:nvPr/>
        </p:nvSpPr>
        <p:spPr>
          <a:xfrm>
            <a:off x="5872277" y="1892808"/>
            <a:ext cx="844906" cy="182880"/>
          </a:xfrm>
          <a:prstGeom prst="rect">
            <a:avLst/>
          </a:prstGeom>
          <a:solidFill>
            <a:srgbClr val="F7F9FB"/>
          </a:solidFill>
          <a:ln w="6350">
            <a:solidFill>
              <a:srgbClr val="D3DCE5"/>
            </a:solidFill>
            <a:prstDash val="solid"/>
          </a:ln>
        </p:spPr>
      </p:sp>
      <p:sp>
        <p:nvSpPr>
          <p:cNvPr id="61" name="Text 59"/>
          <p:cNvSpPr txBox="1"/>
          <p:nvPr/>
        </p:nvSpPr>
        <p:spPr>
          <a:xfrm>
            <a:off x="5936285" y="189280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195</a:t>
            </a:r>
            <a:endParaRPr lang="en-US" sz="800" dirty="0"/>
          </a:p>
        </p:txBody>
      </p:sp>
      <p:sp>
        <p:nvSpPr>
          <p:cNvPr id="62" name="Shape 60"/>
          <p:cNvSpPr/>
          <p:nvPr/>
        </p:nvSpPr>
        <p:spPr>
          <a:xfrm>
            <a:off x="6717182" y="1892808"/>
            <a:ext cx="844906" cy="182880"/>
          </a:xfrm>
          <a:prstGeom prst="rect">
            <a:avLst/>
          </a:prstGeom>
          <a:solidFill>
            <a:srgbClr val="F7F9FB"/>
          </a:solidFill>
          <a:ln w="6350">
            <a:solidFill>
              <a:srgbClr val="D3DCE5"/>
            </a:solidFill>
            <a:prstDash val="solid"/>
          </a:ln>
        </p:spPr>
      </p:sp>
      <p:sp>
        <p:nvSpPr>
          <p:cNvPr id="63" name="Text 61"/>
          <p:cNvSpPr txBox="1"/>
          <p:nvPr/>
        </p:nvSpPr>
        <p:spPr>
          <a:xfrm>
            <a:off x="6781190" y="189280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195</a:t>
            </a:r>
            <a:endParaRPr lang="en-US" sz="800" dirty="0"/>
          </a:p>
        </p:txBody>
      </p:sp>
      <p:sp>
        <p:nvSpPr>
          <p:cNvPr id="64" name="Shape 62"/>
          <p:cNvSpPr/>
          <p:nvPr/>
        </p:nvSpPr>
        <p:spPr>
          <a:xfrm>
            <a:off x="7562088" y="1892808"/>
            <a:ext cx="844906" cy="182880"/>
          </a:xfrm>
          <a:prstGeom prst="rect">
            <a:avLst/>
          </a:prstGeom>
          <a:solidFill>
            <a:srgbClr val="F7F9FB"/>
          </a:solidFill>
          <a:ln w="6350">
            <a:solidFill>
              <a:srgbClr val="D3DCE5"/>
            </a:solidFill>
            <a:prstDash val="solid"/>
          </a:ln>
        </p:spPr>
      </p:sp>
      <p:sp>
        <p:nvSpPr>
          <p:cNvPr id="65" name="Text 63"/>
          <p:cNvSpPr txBox="1"/>
          <p:nvPr/>
        </p:nvSpPr>
        <p:spPr>
          <a:xfrm>
            <a:off x="7626096" y="189280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195</a:t>
            </a:r>
            <a:endParaRPr lang="en-US" sz="800" dirty="0"/>
          </a:p>
        </p:txBody>
      </p:sp>
      <p:sp>
        <p:nvSpPr>
          <p:cNvPr id="66" name="Shape 64"/>
          <p:cNvSpPr/>
          <p:nvPr/>
        </p:nvSpPr>
        <p:spPr>
          <a:xfrm>
            <a:off x="8406994" y="1892808"/>
            <a:ext cx="844906" cy="182880"/>
          </a:xfrm>
          <a:prstGeom prst="rect">
            <a:avLst/>
          </a:prstGeom>
          <a:solidFill>
            <a:srgbClr val="F7F9FB"/>
          </a:solidFill>
          <a:ln w="6350">
            <a:solidFill>
              <a:srgbClr val="D3DCE5"/>
            </a:solidFill>
            <a:prstDash val="solid"/>
          </a:ln>
        </p:spPr>
      </p:sp>
      <p:sp>
        <p:nvSpPr>
          <p:cNvPr id="67" name="Text 65"/>
          <p:cNvSpPr txBox="1"/>
          <p:nvPr/>
        </p:nvSpPr>
        <p:spPr>
          <a:xfrm>
            <a:off x="8471002" y="189280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195</a:t>
            </a:r>
            <a:endParaRPr lang="en-US" sz="800" dirty="0"/>
          </a:p>
        </p:txBody>
      </p:sp>
      <p:sp>
        <p:nvSpPr>
          <p:cNvPr id="68" name="Shape 66"/>
          <p:cNvSpPr/>
          <p:nvPr/>
        </p:nvSpPr>
        <p:spPr>
          <a:xfrm>
            <a:off x="9251899" y="1892808"/>
            <a:ext cx="844906" cy="182880"/>
          </a:xfrm>
          <a:prstGeom prst="rect">
            <a:avLst/>
          </a:prstGeom>
          <a:solidFill>
            <a:srgbClr val="F7F9FB"/>
          </a:solidFill>
          <a:ln w="6350">
            <a:solidFill>
              <a:srgbClr val="D3DCE5"/>
            </a:solidFill>
            <a:prstDash val="solid"/>
          </a:ln>
        </p:spPr>
      </p:sp>
      <p:sp>
        <p:nvSpPr>
          <p:cNvPr id="69" name="Text 67"/>
          <p:cNvSpPr txBox="1"/>
          <p:nvPr/>
        </p:nvSpPr>
        <p:spPr>
          <a:xfrm>
            <a:off x="9315907" y="189280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195</a:t>
            </a:r>
            <a:endParaRPr lang="en-US" sz="800" dirty="0"/>
          </a:p>
        </p:txBody>
      </p:sp>
      <p:sp>
        <p:nvSpPr>
          <p:cNvPr id="70" name="Shape 68"/>
          <p:cNvSpPr/>
          <p:nvPr/>
        </p:nvSpPr>
        <p:spPr>
          <a:xfrm>
            <a:off x="10096805" y="1892808"/>
            <a:ext cx="844906" cy="182880"/>
          </a:xfrm>
          <a:prstGeom prst="rect">
            <a:avLst/>
          </a:prstGeom>
          <a:solidFill>
            <a:srgbClr val="F7F9FB"/>
          </a:solidFill>
          <a:ln w="6350">
            <a:solidFill>
              <a:srgbClr val="D3DCE5"/>
            </a:solidFill>
            <a:prstDash val="solid"/>
          </a:ln>
        </p:spPr>
      </p:sp>
      <p:sp>
        <p:nvSpPr>
          <p:cNvPr id="71" name="Text 69"/>
          <p:cNvSpPr txBox="1"/>
          <p:nvPr/>
        </p:nvSpPr>
        <p:spPr>
          <a:xfrm>
            <a:off x="10160813" y="189280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195</a:t>
            </a:r>
            <a:endParaRPr lang="en-US" sz="800" dirty="0"/>
          </a:p>
        </p:txBody>
      </p:sp>
      <p:sp>
        <p:nvSpPr>
          <p:cNvPr id="72" name="Shape 70"/>
          <p:cNvSpPr/>
          <p:nvPr/>
        </p:nvSpPr>
        <p:spPr>
          <a:xfrm>
            <a:off x="10941710" y="1892808"/>
            <a:ext cx="844906" cy="182880"/>
          </a:xfrm>
          <a:prstGeom prst="rect">
            <a:avLst/>
          </a:prstGeom>
          <a:solidFill>
            <a:srgbClr val="F7F9FB"/>
          </a:solidFill>
          <a:ln w="6350">
            <a:solidFill>
              <a:srgbClr val="D3DCE5"/>
            </a:solidFill>
            <a:prstDash val="solid"/>
          </a:ln>
        </p:spPr>
      </p:sp>
      <p:sp>
        <p:nvSpPr>
          <p:cNvPr id="73" name="Text 71"/>
          <p:cNvSpPr txBox="1"/>
          <p:nvPr/>
        </p:nvSpPr>
        <p:spPr>
          <a:xfrm>
            <a:off x="11005718" y="189280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195</a:t>
            </a:r>
            <a:endParaRPr lang="en-US" sz="800" dirty="0"/>
          </a:p>
        </p:txBody>
      </p:sp>
      <p:sp>
        <p:nvSpPr>
          <p:cNvPr id="74" name="Shape 72"/>
          <p:cNvSpPr/>
          <p:nvPr/>
        </p:nvSpPr>
        <p:spPr>
          <a:xfrm>
            <a:off x="411480" y="2075688"/>
            <a:ext cx="2926080" cy="182880"/>
          </a:xfrm>
          <a:prstGeom prst="rect">
            <a:avLst/>
          </a:prstGeom>
          <a:solidFill>
            <a:srgbClr val="FFFFFF"/>
          </a:solidFill>
          <a:ln w="6350">
            <a:solidFill>
              <a:srgbClr val="D3DCE5"/>
            </a:solidFill>
            <a:prstDash val="solid"/>
          </a:ln>
        </p:spPr>
      </p:sp>
      <p:sp>
        <p:nvSpPr>
          <p:cNvPr id="75" name="Text 73"/>
          <p:cNvSpPr txBox="1"/>
          <p:nvPr/>
        </p:nvSpPr>
        <p:spPr>
          <a:xfrm>
            <a:off x="475488" y="2075688"/>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P2000 increment</a:t>
            </a:r>
            <a:endParaRPr lang="en-US" sz="800" dirty="0"/>
          </a:p>
        </p:txBody>
      </p:sp>
      <p:sp>
        <p:nvSpPr>
          <p:cNvPr id="76" name="Shape 74"/>
          <p:cNvSpPr/>
          <p:nvPr/>
        </p:nvSpPr>
        <p:spPr>
          <a:xfrm>
            <a:off x="3337560" y="2075688"/>
            <a:ext cx="844906" cy="182880"/>
          </a:xfrm>
          <a:prstGeom prst="rect">
            <a:avLst/>
          </a:prstGeom>
          <a:solidFill>
            <a:srgbClr val="FFFFFF"/>
          </a:solidFill>
          <a:ln w="6350">
            <a:solidFill>
              <a:srgbClr val="D3DCE5"/>
            </a:solidFill>
            <a:prstDash val="solid"/>
          </a:ln>
        </p:spPr>
      </p:sp>
      <p:sp>
        <p:nvSpPr>
          <p:cNvPr id="77" name="Text 75"/>
          <p:cNvSpPr txBox="1"/>
          <p:nvPr/>
        </p:nvSpPr>
        <p:spPr>
          <a:xfrm>
            <a:off x="3401568" y="207568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78" name="Shape 76"/>
          <p:cNvSpPr/>
          <p:nvPr/>
        </p:nvSpPr>
        <p:spPr>
          <a:xfrm>
            <a:off x="4182466" y="2075688"/>
            <a:ext cx="844906" cy="182880"/>
          </a:xfrm>
          <a:prstGeom prst="rect">
            <a:avLst/>
          </a:prstGeom>
          <a:solidFill>
            <a:srgbClr val="FFFFFF"/>
          </a:solidFill>
          <a:ln w="6350">
            <a:solidFill>
              <a:srgbClr val="D3DCE5"/>
            </a:solidFill>
            <a:prstDash val="solid"/>
          </a:ln>
        </p:spPr>
      </p:sp>
      <p:sp>
        <p:nvSpPr>
          <p:cNvPr id="79" name="Text 77"/>
          <p:cNvSpPr txBox="1"/>
          <p:nvPr/>
        </p:nvSpPr>
        <p:spPr>
          <a:xfrm>
            <a:off x="4246474" y="207568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80" name="Shape 78"/>
          <p:cNvSpPr/>
          <p:nvPr/>
        </p:nvSpPr>
        <p:spPr>
          <a:xfrm>
            <a:off x="5027371" y="2075688"/>
            <a:ext cx="844906" cy="182880"/>
          </a:xfrm>
          <a:prstGeom prst="rect">
            <a:avLst/>
          </a:prstGeom>
          <a:solidFill>
            <a:srgbClr val="FFFFFF"/>
          </a:solidFill>
          <a:ln w="6350">
            <a:solidFill>
              <a:srgbClr val="D3DCE5"/>
            </a:solidFill>
            <a:prstDash val="solid"/>
          </a:ln>
        </p:spPr>
      </p:sp>
      <p:sp>
        <p:nvSpPr>
          <p:cNvPr id="81" name="Text 79"/>
          <p:cNvSpPr txBox="1"/>
          <p:nvPr/>
        </p:nvSpPr>
        <p:spPr>
          <a:xfrm>
            <a:off x="5091379" y="207568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82" name="Shape 80"/>
          <p:cNvSpPr/>
          <p:nvPr/>
        </p:nvSpPr>
        <p:spPr>
          <a:xfrm>
            <a:off x="5872277" y="2075688"/>
            <a:ext cx="844906" cy="182880"/>
          </a:xfrm>
          <a:prstGeom prst="rect">
            <a:avLst/>
          </a:prstGeom>
          <a:solidFill>
            <a:srgbClr val="FFFFFF"/>
          </a:solidFill>
          <a:ln w="6350">
            <a:solidFill>
              <a:srgbClr val="D3DCE5"/>
            </a:solidFill>
            <a:prstDash val="solid"/>
          </a:ln>
        </p:spPr>
      </p:sp>
      <p:sp>
        <p:nvSpPr>
          <p:cNvPr id="83" name="Text 81"/>
          <p:cNvSpPr txBox="1"/>
          <p:nvPr/>
        </p:nvSpPr>
        <p:spPr>
          <a:xfrm>
            <a:off x="5936285" y="207568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250</a:t>
            </a:r>
            <a:endParaRPr lang="en-US" sz="800" dirty="0"/>
          </a:p>
        </p:txBody>
      </p:sp>
      <p:sp>
        <p:nvSpPr>
          <p:cNvPr id="84" name="Shape 82"/>
          <p:cNvSpPr/>
          <p:nvPr/>
        </p:nvSpPr>
        <p:spPr>
          <a:xfrm>
            <a:off x="6717182" y="2075688"/>
            <a:ext cx="844906" cy="182880"/>
          </a:xfrm>
          <a:prstGeom prst="rect">
            <a:avLst/>
          </a:prstGeom>
          <a:solidFill>
            <a:srgbClr val="FFFFFF"/>
          </a:solidFill>
          <a:ln w="6350">
            <a:solidFill>
              <a:srgbClr val="D3DCE5"/>
            </a:solidFill>
            <a:prstDash val="solid"/>
          </a:ln>
        </p:spPr>
      </p:sp>
      <p:sp>
        <p:nvSpPr>
          <p:cNvPr id="85" name="Text 83"/>
          <p:cNvSpPr txBox="1"/>
          <p:nvPr/>
        </p:nvSpPr>
        <p:spPr>
          <a:xfrm>
            <a:off x="6781190" y="207568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550</a:t>
            </a:r>
            <a:endParaRPr lang="en-US" sz="800" dirty="0"/>
          </a:p>
        </p:txBody>
      </p:sp>
      <p:sp>
        <p:nvSpPr>
          <p:cNvPr id="86" name="Shape 84"/>
          <p:cNvSpPr/>
          <p:nvPr/>
        </p:nvSpPr>
        <p:spPr>
          <a:xfrm>
            <a:off x="7562088" y="2075688"/>
            <a:ext cx="844906" cy="182880"/>
          </a:xfrm>
          <a:prstGeom prst="rect">
            <a:avLst/>
          </a:prstGeom>
          <a:solidFill>
            <a:srgbClr val="FFFFFF"/>
          </a:solidFill>
          <a:ln w="6350">
            <a:solidFill>
              <a:srgbClr val="D3DCE5"/>
            </a:solidFill>
            <a:prstDash val="solid"/>
          </a:ln>
        </p:spPr>
      </p:sp>
      <p:sp>
        <p:nvSpPr>
          <p:cNvPr id="87" name="Text 85"/>
          <p:cNvSpPr txBox="1"/>
          <p:nvPr/>
        </p:nvSpPr>
        <p:spPr>
          <a:xfrm>
            <a:off x="7626096" y="207568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800</a:t>
            </a:r>
            <a:endParaRPr lang="en-US" sz="800" dirty="0"/>
          </a:p>
        </p:txBody>
      </p:sp>
      <p:sp>
        <p:nvSpPr>
          <p:cNvPr id="88" name="Shape 86"/>
          <p:cNvSpPr/>
          <p:nvPr/>
        </p:nvSpPr>
        <p:spPr>
          <a:xfrm>
            <a:off x="8406994" y="2075688"/>
            <a:ext cx="844906" cy="182880"/>
          </a:xfrm>
          <a:prstGeom prst="rect">
            <a:avLst/>
          </a:prstGeom>
          <a:solidFill>
            <a:srgbClr val="FFFFFF"/>
          </a:solidFill>
          <a:ln w="6350">
            <a:solidFill>
              <a:srgbClr val="D3DCE5"/>
            </a:solidFill>
            <a:prstDash val="solid"/>
          </a:ln>
        </p:spPr>
      </p:sp>
      <p:sp>
        <p:nvSpPr>
          <p:cNvPr id="89" name="Text 87"/>
          <p:cNvSpPr txBox="1"/>
          <p:nvPr/>
        </p:nvSpPr>
        <p:spPr>
          <a:xfrm>
            <a:off x="8471002" y="207568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885</a:t>
            </a:r>
            <a:endParaRPr lang="en-US" sz="800" dirty="0"/>
          </a:p>
        </p:txBody>
      </p:sp>
      <p:sp>
        <p:nvSpPr>
          <p:cNvPr id="90" name="Shape 88"/>
          <p:cNvSpPr/>
          <p:nvPr/>
        </p:nvSpPr>
        <p:spPr>
          <a:xfrm>
            <a:off x="9251899" y="2075688"/>
            <a:ext cx="844906" cy="182880"/>
          </a:xfrm>
          <a:prstGeom prst="rect">
            <a:avLst/>
          </a:prstGeom>
          <a:solidFill>
            <a:srgbClr val="FFFFFF"/>
          </a:solidFill>
          <a:ln w="6350">
            <a:solidFill>
              <a:srgbClr val="D3DCE5"/>
            </a:solidFill>
            <a:prstDash val="solid"/>
          </a:ln>
        </p:spPr>
      </p:sp>
      <p:sp>
        <p:nvSpPr>
          <p:cNvPr id="91" name="Text 89"/>
          <p:cNvSpPr txBox="1"/>
          <p:nvPr/>
        </p:nvSpPr>
        <p:spPr>
          <a:xfrm>
            <a:off x="9315907" y="207568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885</a:t>
            </a:r>
            <a:endParaRPr lang="en-US" sz="800" dirty="0"/>
          </a:p>
        </p:txBody>
      </p:sp>
      <p:sp>
        <p:nvSpPr>
          <p:cNvPr id="92" name="Shape 90"/>
          <p:cNvSpPr/>
          <p:nvPr/>
        </p:nvSpPr>
        <p:spPr>
          <a:xfrm>
            <a:off x="10096805" y="2075688"/>
            <a:ext cx="844906" cy="182880"/>
          </a:xfrm>
          <a:prstGeom prst="rect">
            <a:avLst/>
          </a:prstGeom>
          <a:solidFill>
            <a:srgbClr val="FFFFFF"/>
          </a:solidFill>
          <a:ln w="6350">
            <a:solidFill>
              <a:srgbClr val="D3DCE5"/>
            </a:solidFill>
            <a:prstDash val="solid"/>
          </a:ln>
        </p:spPr>
      </p:sp>
      <p:sp>
        <p:nvSpPr>
          <p:cNvPr id="93" name="Text 91"/>
          <p:cNvSpPr txBox="1"/>
          <p:nvPr/>
        </p:nvSpPr>
        <p:spPr>
          <a:xfrm>
            <a:off x="10160813" y="207568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885</a:t>
            </a:r>
            <a:endParaRPr lang="en-US" sz="800" dirty="0"/>
          </a:p>
        </p:txBody>
      </p:sp>
      <p:sp>
        <p:nvSpPr>
          <p:cNvPr id="94" name="Shape 92"/>
          <p:cNvSpPr/>
          <p:nvPr/>
        </p:nvSpPr>
        <p:spPr>
          <a:xfrm>
            <a:off x="10941710" y="2075688"/>
            <a:ext cx="844906" cy="182880"/>
          </a:xfrm>
          <a:prstGeom prst="rect">
            <a:avLst/>
          </a:prstGeom>
          <a:solidFill>
            <a:srgbClr val="FFFFFF"/>
          </a:solidFill>
          <a:ln w="6350">
            <a:solidFill>
              <a:srgbClr val="D3DCE5"/>
            </a:solidFill>
            <a:prstDash val="solid"/>
          </a:ln>
        </p:spPr>
      </p:sp>
      <p:sp>
        <p:nvSpPr>
          <p:cNvPr id="95" name="Text 93"/>
          <p:cNvSpPr txBox="1"/>
          <p:nvPr/>
        </p:nvSpPr>
        <p:spPr>
          <a:xfrm>
            <a:off x="11005718" y="207568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885</a:t>
            </a:r>
            <a:endParaRPr lang="en-US" sz="800" dirty="0"/>
          </a:p>
        </p:txBody>
      </p:sp>
      <p:sp>
        <p:nvSpPr>
          <p:cNvPr id="96" name="Shape 94"/>
          <p:cNvSpPr/>
          <p:nvPr/>
        </p:nvSpPr>
        <p:spPr>
          <a:xfrm>
            <a:off x="411480" y="2258568"/>
            <a:ext cx="2926080" cy="182880"/>
          </a:xfrm>
          <a:prstGeom prst="rect">
            <a:avLst/>
          </a:prstGeom>
          <a:solidFill>
            <a:srgbClr val="F7F9FB"/>
          </a:solidFill>
          <a:ln w="6350">
            <a:solidFill>
              <a:srgbClr val="D3DCE5"/>
            </a:solidFill>
            <a:prstDash val="solid"/>
          </a:ln>
        </p:spPr>
      </p:sp>
      <p:sp>
        <p:nvSpPr>
          <p:cNvPr id="97" name="Text 95"/>
          <p:cNvSpPr txBox="1"/>
          <p:nvPr/>
        </p:nvSpPr>
        <p:spPr>
          <a:xfrm>
            <a:off x="475488" y="2258568"/>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Colina, Brazil</a:t>
            </a:r>
            <a:endParaRPr lang="en-US" sz="800" dirty="0"/>
          </a:p>
        </p:txBody>
      </p:sp>
      <p:sp>
        <p:nvSpPr>
          <p:cNvPr id="98" name="Shape 96"/>
          <p:cNvSpPr/>
          <p:nvPr/>
        </p:nvSpPr>
        <p:spPr>
          <a:xfrm>
            <a:off x="3337560" y="2258568"/>
            <a:ext cx="844906" cy="182880"/>
          </a:xfrm>
          <a:prstGeom prst="rect">
            <a:avLst/>
          </a:prstGeom>
          <a:solidFill>
            <a:srgbClr val="F7F9FB"/>
          </a:solidFill>
          <a:ln w="6350">
            <a:solidFill>
              <a:srgbClr val="D3DCE5"/>
            </a:solidFill>
            <a:prstDash val="solid"/>
          </a:ln>
        </p:spPr>
      </p:sp>
      <p:sp>
        <p:nvSpPr>
          <p:cNvPr id="99" name="Text 97"/>
          <p:cNvSpPr txBox="1"/>
          <p:nvPr/>
        </p:nvSpPr>
        <p:spPr>
          <a:xfrm>
            <a:off x="3401568" y="225856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100" name="Shape 98"/>
          <p:cNvSpPr/>
          <p:nvPr/>
        </p:nvSpPr>
        <p:spPr>
          <a:xfrm>
            <a:off x="4182466" y="2258568"/>
            <a:ext cx="844906" cy="182880"/>
          </a:xfrm>
          <a:prstGeom prst="rect">
            <a:avLst/>
          </a:prstGeom>
          <a:solidFill>
            <a:srgbClr val="F7F9FB"/>
          </a:solidFill>
          <a:ln w="6350">
            <a:solidFill>
              <a:srgbClr val="D3DCE5"/>
            </a:solidFill>
            <a:prstDash val="solid"/>
          </a:ln>
        </p:spPr>
      </p:sp>
      <p:sp>
        <p:nvSpPr>
          <p:cNvPr id="101" name="Text 99"/>
          <p:cNvSpPr txBox="1"/>
          <p:nvPr/>
        </p:nvSpPr>
        <p:spPr>
          <a:xfrm>
            <a:off x="4246474" y="225856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102" name="Shape 100"/>
          <p:cNvSpPr/>
          <p:nvPr/>
        </p:nvSpPr>
        <p:spPr>
          <a:xfrm>
            <a:off x="5027371" y="2258568"/>
            <a:ext cx="844906" cy="182880"/>
          </a:xfrm>
          <a:prstGeom prst="rect">
            <a:avLst/>
          </a:prstGeom>
          <a:solidFill>
            <a:srgbClr val="F7F9FB"/>
          </a:solidFill>
          <a:ln w="6350">
            <a:solidFill>
              <a:srgbClr val="D3DCE5"/>
            </a:solidFill>
            <a:prstDash val="solid"/>
          </a:ln>
        </p:spPr>
      </p:sp>
      <p:sp>
        <p:nvSpPr>
          <p:cNvPr id="103" name="Text 101"/>
          <p:cNvSpPr txBox="1"/>
          <p:nvPr/>
        </p:nvSpPr>
        <p:spPr>
          <a:xfrm>
            <a:off x="5091379" y="225856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104" name="Shape 102"/>
          <p:cNvSpPr/>
          <p:nvPr/>
        </p:nvSpPr>
        <p:spPr>
          <a:xfrm>
            <a:off x="5872277" y="2258568"/>
            <a:ext cx="844906" cy="182880"/>
          </a:xfrm>
          <a:prstGeom prst="rect">
            <a:avLst/>
          </a:prstGeom>
          <a:solidFill>
            <a:srgbClr val="F7F9FB"/>
          </a:solidFill>
          <a:ln w="6350">
            <a:solidFill>
              <a:srgbClr val="D3DCE5"/>
            </a:solidFill>
            <a:prstDash val="solid"/>
          </a:ln>
        </p:spPr>
      </p:sp>
      <p:sp>
        <p:nvSpPr>
          <p:cNvPr id="105" name="Text 103"/>
          <p:cNvSpPr txBox="1"/>
          <p:nvPr/>
        </p:nvSpPr>
        <p:spPr>
          <a:xfrm>
            <a:off x="5936285" y="225856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106" name="Shape 104"/>
          <p:cNvSpPr/>
          <p:nvPr/>
        </p:nvSpPr>
        <p:spPr>
          <a:xfrm>
            <a:off x="6717182" y="2258568"/>
            <a:ext cx="844906" cy="182880"/>
          </a:xfrm>
          <a:prstGeom prst="rect">
            <a:avLst/>
          </a:prstGeom>
          <a:solidFill>
            <a:srgbClr val="F7F9FB"/>
          </a:solidFill>
          <a:ln w="6350">
            <a:solidFill>
              <a:srgbClr val="D3DCE5"/>
            </a:solidFill>
            <a:prstDash val="solid"/>
          </a:ln>
        </p:spPr>
      </p:sp>
      <p:sp>
        <p:nvSpPr>
          <p:cNvPr id="107" name="Text 105"/>
          <p:cNvSpPr txBox="1"/>
          <p:nvPr/>
        </p:nvSpPr>
        <p:spPr>
          <a:xfrm>
            <a:off x="6781190" y="225856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108" name="Shape 106"/>
          <p:cNvSpPr/>
          <p:nvPr/>
        </p:nvSpPr>
        <p:spPr>
          <a:xfrm>
            <a:off x="7562088" y="2258568"/>
            <a:ext cx="844906" cy="182880"/>
          </a:xfrm>
          <a:prstGeom prst="rect">
            <a:avLst/>
          </a:prstGeom>
          <a:solidFill>
            <a:srgbClr val="F7F9FB"/>
          </a:solidFill>
          <a:ln w="6350">
            <a:solidFill>
              <a:srgbClr val="D3DCE5"/>
            </a:solidFill>
            <a:prstDash val="solid"/>
          </a:ln>
        </p:spPr>
      </p:sp>
      <p:sp>
        <p:nvSpPr>
          <p:cNvPr id="109" name="Text 107"/>
          <p:cNvSpPr txBox="1"/>
          <p:nvPr/>
        </p:nvSpPr>
        <p:spPr>
          <a:xfrm>
            <a:off x="7626096" y="225856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150</a:t>
            </a:r>
            <a:endParaRPr lang="en-US" sz="800" dirty="0"/>
          </a:p>
        </p:txBody>
      </p:sp>
      <p:sp>
        <p:nvSpPr>
          <p:cNvPr id="110" name="Shape 108"/>
          <p:cNvSpPr/>
          <p:nvPr/>
        </p:nvSpPr>
        <p:spPr>
          <a:xfrm>
            <a:off x="8406994" y="2258568"/>
            <a:ext cx="844906" cy="182880"/>
          </a:xfrm>
          <a:prstGeom prst="rect">
            <a:avLst/>
          </a:prstGeom>
          <a:solidFill>
            <a:srgbClr val="F7F9FB"/>
          </a:solidFill>
          <a:ln w="6350">
            <a:solidFill>
              <a:srgbClr val="D3DCE5"/>
            </a:solidFill>
            <a:prstDash val="solid"/>
          </a:ln>
        </p:spPr>
      </p:sp>
      <p:sp>
        <p:nvSpPr>
          <p:cNvPr id="111" name="Text 109"/>
          <p:cNvSpPr txBox="1"/>
          <p:nvPr/>
        </p:nvSpPr>
        <p:spPr>
          <a:xfrm>
            <a:off x="8471002" y="225856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350</a:t>
            </a:r>
            <a:endParaRPr lang="en-US" sz="800" dirty="0"/>
          </a:p>
        </p:txBody>
      </p:sp>
      <p:sp>
        <p:nvSpPr>
          <p:cNvPr id="112" name="Shape 110"/>
          <p:cNvSpPr/>
          <p:nvPr/>
        </p:nvSpPr>
        <p:spPr>
          <a:xfrm>
            <a:off x="9251899" y="2258568"/>
            <a:ext cx="844906" cy="182880"/>
          </a:xfrm>
          <a:prstGeom prst="rect">
            <a:avLst/>
          </a:prstGeom>
          <a:solidFill>
            <a:srgbClr val="F7F9FB"/>
          </a:solidFill>
          <a:ln w="6350">
            <a:solidFill>
              <a:srgbClr val="D3DCE5"/>
            </a:solidFill>
            <a:prstDash val="solid"/>
          </a:ln>
        </p:spPr>
      </p:sp>
      <p:sp>
        <p:nvSpPr>
          <p:cNvPr id="113" name="Text 111"/>
          <p:cNvSpPr txBox="1"/>
          <p:nvPr/>
        </p:nvSpPr>
        <p:spPr>
          <a:xfrm>
            <a:off x="9315907" y="225856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460</a:t>
            </a:r>
            <a:endParaRPr lang="en-US" sz="800" dirty="0"/>
          </a:p>
        </p:txBody>
      </p:sp>
      <p:sp>
        <p:nvSpPr>
          <p:cNvPr id="114" name="Shape 112"/>
          <p:cNvSpPr/>
          <p:nvPr/>
        </p:nvSpPr>
        <p:spPr>
          <a:xfrm>
            <a:off x="10096805" y="2258568"/>
            <a:ext cx="844906" cy="182880"/>
          </a:xfrm>
          <a:prstGeom prst="rect">
            <a:avLst/>
          </a:prstGeom>
          <a:solidFill>
            <a:srgbClr val="F7F9FB"/>
          </a:solidFill>
          <a:ln w="6350">
            <a:solidFill>
              <a:srgbClr val="D3DCE5"/>
            </a:solidFill>
            <a:prstDash val="solid"/>
          </a:ln>
        </p:spPr>
      </p:sp>
      <p:sp>
        <p:nvSpPr>
          <p:cNvPr id="115" name="Text 113"/>
          <p:cNvSpPr txBox="1"/>
          <p:nvPr/>
        </p:nvSpPr>
        <p:spPr>
          <a:xfrm>
            <a:off x="10160813" y="225856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500</a:t>
            </a:r>
            <a:endParaRPr lang="en-US" sz="800" dirty="0"/>
          </a:p>
        </p:txBody>
      </p:sp>
      <p:sp>
        <p:nvSpPr>
          <p:cNvPr id="116" name="Shape 114"/>
          <p:cNvSpPr/>
          <p:nvPr/>
        </p:nvSpPr>
        <p:spPr>
          <a:xfrm>
            <a:off x="10941710" y="2258568"/>
            <a:ext cx="844906" cy="182880"/>
          </a:xfrm>
          <a:prstGeom prst="rect">
            <a:avLst/>
          </a:prstGeom>
          <a:solidFill>
            <a:srgbClr val="F7F9FB"/>
          </a:solidFill>
          <a:ln w="6350">
            <a:solidFill>
              <a:srgbClr val="D3DCE5"/>
            </a:solidFill>
            <a:prstDash val="solid"/>
          </a:ln>
        </p:spPr>
      </p:sp>
      <p:sp>
        <p:nvSpPr>
          <p:cNvPr id="117" name="Text 115"/>
          <p:cNvSpPr txBox="1"/>
          <p:nvPr/>
        </p:nvSpPr>
        <p:spPr>
          <a:xfrm>
            <a:off x="11005718" y="2258568"/>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500</a:t>
            </a:r>
            <a:endParaRPr lang="en-US" sz="800" dirty="0"/>
          </a:p>
        </p:txBody>
      </p:sp>
      <p:sp>
        <p:nvSpPr>
          <p:cNvPr id="118" name="Shape 116"/>
          <p:cNvSpPr/>
          <p:nvPr/>
        </p:nvSpPr>
        <p:spPr>
          <a:xfrm>
            <a:off x="411480" y="2441448"/>
            <a:ext cx="2926080" cy="182880"/>
          </a:xfrm>
          <a:prstGeom prst="rect">
            <a:avLst/>
          </a:prstGeom>
          <a:solidFill>
            <a:srgbClr val="FFFFFF"/>
          </a:solidFill>
          <a:ln w="6350">
            <a:solidFill>
              <a:srgbClr val="D3DCE5"/>
            </a:solidFill>
            <a:prstDash val="solid"/>
          </a:ln>
        </p:spPr>
      </p:sp>
      <p:sp>
        <p:nvSpPr>
          <p:cNvPr id="119" name="Text 117"/>
          <p:cNvSpPr txBox="1"/>
          <p:nvPr/>
        </p:nvSpPr>
        <p:spPr>
          <a:xfrm>
            <a:off x="475488" y="2441448"/>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Total</a:t>
            </a:r>
            <a:endParaRPr lang="en-US" sz="800" dirty="0"/>
          </a:p>
        </p:txBody>
      </p:sp>
      <p:sp>
        <p:nvSpPr>
          <p:cNvPr id="120" name="Shape 118"/>
          <p:cNvSpPr/>
          <p:nvPr/>
        </p:nvSpPr>
        <p:spPr>
          <a:xfrm>
            <a:off x="3337560" y="2441448"/>
            <a:ext cx="844906" cy="182880"/>
          </a:xfrm>
          <a:prstGeom prst="rect">
            <a:avLst/>
          </a:prstGeom>
          <a:solidFill>
            <a:srgbClr val="FFFFFF"/>
          </a:solidFill>
          <a:ln w="6350">
            <a:solidFill>
              <a:srgbClr val="D3DCE5"/>
            </a:solidFill>
            <a:prstDash val="solid"/>
          </a:ln>
        </p:spPr>
      </p:sp>
      <p:sp>
        <p:nvSpPr>
          <p:cNvPr id="121" name="Text 119"/>
          <p:cNvSpPr txBox="1"/>
          <p:nvPr/>
        </p:nvSpPr>
        <p:spPr>
          <a:xfrm>
            <a:off x="3401568" y="2441448"/>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1,065</a:t>
            </a:r>
            <a:endParaRPr lang="en-US" sz="800" dirty="0"/>
          </a:p>
        </p:txBody>
      </p:sp>
      <p:sp>
        <p:nvSpPr>
          <p:cNvPr id="122" name="Shape 120"/>
          <p:cNvSpPr/>
          <p:nvPr/>
        </p:nvSpPr>
        <p:spPr>
          <a:xfrm>
            <a:off x="4182466" y="2441448"/>
            <a:ext cx="844906" cy="182880"/>
          </a:xfrm>
          <a:prstGeom prst="rect">
            <a:avLst/>
          </a:prstGeom>
          <a:solidFill>
            <a:srgbClr val="FFFFFF"/>
          </a:solidFill>
          <a:ln w="6350">
            <a:solidFill>
              <a:srgbClr val="D3DCE5"/>
            </a:solidFill>
            <a:prstDash val="solid"/>
          </a:ln>
        </p:spPr>
      </p:sp>
      <p:sp>
        <p:nvSpPr>
          <p:cNvPr id="123" name="Text 121"/>
          <p:cNvSpPr txBox="1"/>
          <p:nvPr/>
        </p:nvSpPr>
        <p:spPr>
          <a:xfrm>
            <a:off x="4246474" y="2441448"/>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1,115</a:t>
            </a:r>
            <a:endParaRPr lang="en-US" sz="800" dirty="0"/>
          </a:p>
        </p:txBody>
      </p:sp>
      <p:sp>
        <p:nvSpPr>
          <p:cNvPr id="124" name="Shape 122"/>
          <p:cNvSpPr/>
          <p:nvPr/>
        </p:nvSpPr>
        <p:spPr>
          <a:xfrm>
            <a:off x="5027371" y="2441448"/>
            <a:ext cx="844906" cy="182880"/>
          </a:xfrm>
          <a:prstGeom prst="rect">
            <a:avLst/>
          </a:prstGeom>
          <a:solidFill>
            <a:srgbClr val="FFFFFF"/>
          </a:solidFill>
          <a:ln w="6350">
            <a:solidFill>
              <a:srgbClr val="D3DCE5"/>
            </a:solidFill>
            <a:prstDash val="solid"/>
          </a:ln>
        </p:spPr>
      </p:sp>
      <p:sp>
        <p:nvSpPr>
          <p:cNvPr id="125" name="Text 123"/>
          <p:cNvSpPr txBox="1"/>
          <p:nvPr/>
        </p:nvSpPr>
        <p:spPr>
          <a:xfrm>
            <a:off x="5091379" y="2441448"/>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1,115</a:t>
            </a:r>
            <a:endParaRPr lang="en-US" sz="800" dirty="0"/>
          </a:p>
        </p:txBody>
      </p:sp>
      <p:sp>
        <p:nvSpPr>
          <p:cNvPr id="126" name="Shape 124"/>
          <p:cNvSpPr/>
          <p:nvPr/>
        </p:nvSpPr>
        <p:spPr>
          <a:xfrm>
            <a:off x="5872277" y="2441448"/>
            <a:ext cx="844906" cy="182880"/>
          </a:xfrm>
          <a:prstGeom prst="rect">
            <a:avLst/>
          </a:prstGeom>
          <a:solidFill>
            <a:srgbClr val="FFFFFF"/>
          </a:solidFill>
          <a:ln w="6350">
            <a:solidFill>
              <a:srgbClr val="D3DCE5"/>
            </a:solidFill>
            <a:prstDash val="solid"/>
          </a:ln>
        </p:spPr>
      </p:sp>
      <p:sp>
        <p:nvSpPr>
          <p:cNvPr id="127" name="Text 125"/>
          <p:cNvSpPr txBox="1"/>
          <p:nvPr/>
        </p:nvSpPr>
        <p:spPr>
          <a:xfrm>
            <a:off x="5936285" y="2441448"/>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1,365</a:t>
            </a:r>
            <a:endParaRPr lang="en-US" sz="800" dirty="0"/>
          </a:p>
        </p:txBody>
      </p:sp>
      <p:sp>
        <p:nvSpPr>
          <p:cNvPr id="128" name="Shape 126"/>
          <p:cNvSpPr/>
          <p:nvPr/>
        </p:nvSpPr>
        <p:spPr>
          <a:xfrm>
            <a:off x="6717182" y="2441448"/>
            <a:ext cx="844906" cy="182880"/>
          </a:xfrm>
          <a:prstGeom prst="rect">
            <a:avLst/>
          </a:prstGeom>
          <a:solidFill>
            <a:srgbClr val="FFFFFF"/>
          </a:solidFill>
          <a:ln w="6350">
            <a:solidFill>
              <a:srgbClr val="D3DCE5"/>
            </a:solidFill>
            <a:prstDash val="solid"/>
          </a:ln>
        </p:spPr>
      </p:sp>
      <p:sp>
        <p:nvSpPr>
          <p:cNvPr id="129" name="Text 127"/>
          <p:cNvSpPr txBox="1"/>
          <p:nvPr/>
        </p:nvSpPr>
        <p:spPr>
          <a:xfrm>
            <a:off x="6781190" y="2441448"/>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1,665</a:t>
            </a:r>
            <a:endParaRPr lang="en-US" sz="800" dirty="0"/>
          </a:p>
        </p:txBody>
      </p:sp>
      <p:sp>
        <p:nvSpPr>
          <p:cNvPr id="130" name="Shape 128"/>
          <p:cNvSpPr/>
          <p:nvPr/>
        </p:nvSpPr>
        <p:spPr>
          <a:xfrm>
            <a:off x="7562088" y="2441448"/>
            <a:ext cx="844906" cy="182880"/>
          </a:xfrm>
          <a:prstGeom prst="rect">
            <a:avLst/>
          </a:prstGeom>
          <a:solidFill>
            <a:srgbClr val="FFFFFF"/>
          </a:solidFill>
          <a:ln w="6350">
            <a:solidFill>
              <a:srgbClr val="D3DCE5"/>
            </a:solidFill>
            <a:prstDash val="solid"/>
          </a:ln>
        </p:spPr>
      </p:sp>
      <p:sp>
        <p:nvSpPr>
          <p:cNvPr id="131" name="Text 129"/>
          <p:cNvSpPr txBox="1"/>
          <p:nvPr/>
        </p:nvSpPr>
        <p:spPr>
          <a:xfrm>
            <a:off x="7626096" y="2441448"/>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2,065</a:t>
            </a:r>
            <a:endParaRPr lang="en-US" sz="800" dirty="0"/>
          </a:p>
        </p:txBody>
      </p:sp>
      <p:sp>
        <p:nvSpPr>
          <p:cNvPr id="132" name="Shape 130"/>
          <p:cNvSpPr/>
          <p:nvPr/>
        </p:nvSpPr>
        <p:spPr>
          <a:xfrm>
            <a:off x="8406994" y="2441448"/>
            <a:ext cx="844906" cy="182880"/>
          </a:xfrm>
          <a:prstGeom prst="rect">
            <a:avLst/>
          </a:prstGeom>
          <a:solidFill>
            <a:srgbClr val="FFFFFF"/>
          </a:solidFill>
          <a:ln w="6350">
            <a:solidFill>
              <a:srgbClr val="D3DCE5"/>
            </a:solidFill>
            <a:prstDash val="solid"/>
          </a:ln>
        </p:spPr>
      </p:sp>
      <p:sp>
        <p:nvSpPr>
          <p:cNvPr id="133" name="Text 131"/>
          <p:cNvSpPr txBox="1"/>
          <p:nvPr/>
        </p:nvSpPr>
        <p:spPr>
          <a:xfrm>
            <a:off x="8471002" y="2441448"/>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2,350</a:t>
            </a:r>
            <a:endParaRPr lang="en-US" sz="800" dirty="0"/>
          </a:p>
        </p:txBody>
      </p:sp>
      <p:sp>
        <p:nvSpPr>
          <p:cNvPr id="134" name="Shape 132"/>
          <p:cNvSpPr/>
          <p:nvPr/>
        </p:nvSpPr>
        <p:spPr>
          <a:xfrm>
            <a:off x="9251899" y="2441448"/>
            <a:ext cx="844906" cy="182880"/>
          </a:xfrm>
          <a:prstGeom prst="rect">
            <a:avLst/>
          </a:prstGeom>
          <a:solidFill>
            <a:srgbClr val="FFFFFF"/>
          </a:solidFill>
          <a:ln w="6350">
            <a:solidFill>
              <a:srgbClr val="D3DCE5"/>
            </a:solidFill>
            <a:prstDash val="solid"/>
          </a:ln>
        </p:spPr>
      </p:sp>
      <p:sp>
        <p:nvSpPr>
          <p:cNvPr id="135" name="Text 133"/>
          <p:cNvSpPr txBox="1"/>
          <p:nvPr/>
        </p:nvSpPr>
        <p:spPr>
          <a:xfrm>
            <a:off x="9315907" y="2441448"/>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2,460</a:t>
            </a:r>
            <a:endParaRPr lang="en-US" sz="800" dirty="0"/>
          </a:p>
        </p:txBody>
      </p:sp>
      <p:sp>
        <p:nvSpPr>
          <p:cNvPr id="136" name="Shape 134"/>
          <p:cNvSpPr/>
          <p:nvPr/>
        </p:nvSpPr>
        <p:spPr>
          <a:xfrm>
            <a:off x="10096805" y="2441448"/>
            <a:ext cx="844906" cy="182880"/>
          </a:xfrm>
          <a:prstGeom prst="rect">
            <a:avLst/>
          </a:prstGeom>
          <a:solidFill>
            <a:srgbClr val="FFFFFF"/>
          </a:solidFill>
          <a:ln w="6350">
            <a:solidFill>
              <a:srgbClr val="D3DCE5"/>
            </a:solidFill>
            <a:prstDash val="solid"/>
          </a:ln>
        </p:spPr>
      </p:sp>
      <p:sp>
        <p:nvSpPr>
          <p:cNvPr id="137" name="Text 135"/>
          <p:cNvSpPr txBox="1"/>
          <p:nvPr/>
        </p:nvSpPr>
        <p:spPr>
          <a:xfrm>
            <a:off x="10160813" y="2441448"/>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2,500</a:t>
            </a:r>
            <a:endParaRPr lang="en-US" sz="800" dirty="0"/>
          </a:p>
        </p:txBody>
      </p:sp>
      <p:sp>
        <p:nvSpPr>
          <p:cNvPr id="138" name="Shape 136"/>
          <p:cNvSpPr/>
          <p:nvPr/>
        </p:nvSpPr>
        <p:spPr>
          <a:xfrm>
            <a:off x="10941710" y="2441448"/>
            <a:ext cx="844906" cy="182880"/>
          </a:xfrm>
          <a:prstGeom prst="rect">
            <a:avLst/>
          </a:prstGeom>
          <a:solidFill>
            <a:srgbClr val="FFFFFF"/>
          </a:solidFill>
          <a:ln w="6350">
            <a:solidFill>
              <a:srgbClr val="D3DCE5"/>
            </a:solidFill>
            <a:prstDash val="solid"/>
          </a:ln>
        </p:spPr>
      </p:sp>
      <p:sp>
        <p:nvSpPr>
          <p:cNvPr id="139" name="Text 137"/>
          <p:cNvSpPr txBox="1"/>
          <p:nvPr/>
        </p:nvSpPr>
        <p:spPr>
          <a:xfrm>
            <a:off x="11005718" y="2441448"/>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2,500</a:t>
            </a:r>
            <a:endParaRPr lang="en-US" sz="800" dirty="0"/>
          </a:p>
        </p:txBody>
      </p:sp>
      <p:sp>
        <p:nvSpPr>
          <p:cNvPr id="140" name="Text 138"/>
          <p:cNvSpPr txBox="1"/>
          <p:nvPr/>
        </p:nvSpPr>
        <p:spPr>
          <a:xfrm>
            <a:off x="411480" y="2706624"/>
            <a:ext cx="2743200" cy="219456"/>
          </a:xfrm>
          <a:prstGeom prst="rect">
            <a:avLst/>
          </a:prstGeom>
          <a:noFill/>
          <a:ln/>
        </p:spPr>
        <p:txBody>
          <a:bodyPr wrap="square" lIns="0" tIns="0" rIns="0" bIns="0" rtlCol="0" anchor="t"/>
          <a:lstStyle/>
          <a:p>
            <a:pPr indent="0" marL="0">
              <a:buNone/>
            </a:pPr>
            <a:r>
              <a:rPr lang="en-US" sz="950" b="1" dirty="0">
                <a:solidFill>
                  <a:srgbClr val="A3282C"/>
                </a:solidFill>
                <a:latin typeface="Calibri" pitchFamily="34" charset="0"/>
                <a:ea typeface="Calibri" pitchFamily="34" charset="-122"/>
                <a:cs typeface="Calibri" pitchFamily="34" charset="-120"/>
              </a:rPr>
              <a:t>BEAR CASE</a:t>
            </a:r>
            <a:endParaRPr lang="en-US" sz="950" dirty="0"/>
          </a:p>
        </p:txBody>
      </p:sp>
      <p:sp>
        <p:nvSpPr>
          <p:cNvPr id="141" name="Shape 139"/>
          <p:cNvSpPr/>
          <p:nvPr/>
        </p:nvSpPr>
        <p:spPr>
          <a:xfrm>
            <a:off x="411480" y="2898648"/>
            <a:ext cx="2926080" cy="219456"/>
          </a:xfrm>
          <a:prstGeom prst="rect">
            <a:avLst/>
          </a:prstGeom>
          <a:solidFill>
            <a:srgbClr val="10233A"/>
          </a:solidFill>
          <a:ln/>
        </p:spPr>
      </p:sp>
      <p:sp>
        <p:nvSpPr>
          <p:cNvPr id="142" name="Text 140"/>
          <p:cNvSpPr txBox="1"/>
          <p:nvPr/>
        </p:nvSpPr>
        <p:spPr>
          <a:xfrm>
            <a:off x="475488" y="2898648"/>
            <a:ext cx="2798064" cy="219456"/>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kt of concentrate</a:t>
            </a:r>
            <a:endParaRPr lang="en-US" sz="800" dirty="0"/>
          </a:p>
        </p:txBody>
      </p:sp>
      <p:sp>
        <p:nvSpPr>
          <p:cNvPr id="143" name="Shape 141"/>
          <p:cNvSpPr/>
          <p:nvPr/>
        </p:nvSpPr>
        <p:spPr>
          <a:xfrm>
            <a:off x="3337560" y="2898648"/>
            <a:ext cx="844906" cy="219456"/>
          </a:xfrm>
          <a:prstGeom prst="rect">
            <a:avLst/>
          </a:prstGeom>
          <a:solidFill>
            <a:srgbClr val="10233A"/>
          </a:solidFill>
          <a:ln/>
        </p:spPr>
      </p:sp>
      <p:sp>
        <p:nvSpPr>
          <p:cNvPr id="144" name="Text 142"/>
          <p:cNvSpPr txBox="1"/>
          <p:nvPr/>
        </p:nvSpPr>
        <p:spPr>
          <a:xfrm>
            <a:off x="3401568" y="2898648"/>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FY27</a:t>
            </a:r>
            <a:endParaRPr lang="en-US" sz="800" dirty="0"/>
          </a:p>
        </p:txBody>
      </p:sp>
      <p:sp>
        <p:nvSpPr>
          <p:cNvPr id="145" name="Shape 143"/>
          <p:cNvSpPr/>
          <p:nvPr/>
        </p:nvSpPr>
        <p:spPr>
          <a:xfrm>
            <a:off x="4182466" y="2898648"/>
            <a:ext cx="844906" cy="219456"/>
          </a:xfrm>
          <a:prstGeom prst="rect">
            <a:avLst/>
          </a:prstGeom>
          <a:solidFill>
            <a:srgbClr val="10233A"/>
          </a:solidFill>
          <a:ln/>
        </p:spPr>
      </p:sp>
      <p:sp>
        <p:nvSpPr>
          <p:cNvPr id="146" name="Text 144"/>
          <p:cNvSpPr txBox="1"/>
          <p:nvPr/>
        </p:nvSpPr>
        <p:spPr>
          <a:xfrm>
            <a:off x="4246474" y="2898648"/>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FY28</a:t>
            </a:r>
            <a:endParaRPr lang="en-US" sz="800" dirty="0"/>
          </a:p>
        </p:txBody>
      </p:sp>
      <p:sp>
        <p:nvSpPr>
          <p:cNvPr id="147" name="Shape 145"/>
          <p:cNvSpPr/>
          <p:nvPr/>
        </p:nvSpPr>
        <p:spPr>
          <a:xfrm>
            <a:off x="5027371" y="2898648"/>
            <a:ext cx="844906" cy="219456"/>
          </a:xfrm>
          <a:prstGeom prst="rect">
            <a:avLst/>
          </a:prstGeom>
          <a:solidFill>
            <a:srgbClr val="10233A"/>
          </a:solidFill>
          <a:ln/>
        </p:spPr>
      </p:sp>
      <p:sp>
        <p:nvSpPr>
          <p:cNvPr id="148" name="Text 146"/>
          <p:cNvSpPr txBox="1"/>
          <p:nvPr/>
        </p:nvSpPr>
        <p:spPr>
          <a:xfrm>
            <a:off x="5091379" y="2898648"/>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FY29</a:t>
            </a:r>
            <a:endParaRPr lang="en-US" sz="800" dirty="0"/>
          </a:p>
        </p:txBody>
      </p:sp>
      <p:sp>
        <p:nvSpPr>
          <p:cNvPr id="149" name="Shape 147"/>
          <p:cNvSpPr/>
          <p:nvPr/>
        </p:nvSpPr>
        <p:spPr>
          <a:xfrm>
            <a:off x="5872277" y="2898648"/>
            <a:ext cx="844906" cy="219456"/>
          </a:xfrm>
          <a:prstGeom prst="rect">
            <a:avLst/>
          </a:prstGeom>
          <a:solidFill>
            <a:srgbClr val="10233A"/>
          </a:solidFill>
          <a:ln/>
        </p:spPr>
      </p:sp>
      <p:sp>
        <p:nvSpPr>
          <p:cNvPr id="150" name="Text 148"/>
          <p:cNvSpPr txBox="1"/>
          <p:nvPr/>
        </p:nvSpPr>
        <p:spPr>
          <a:xfrm>
            <a:off x="5936285" y="2898648"/>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FY30</a:t>
            </a:r>
            <a:endParaRPr lang="en-US" sz="800" dirty="0"/>
          </a:p>
        </p:txBody>
      </p:sp>
      <p:sp>
        <p:nvSpPr>
          <p:cNvPr id="151" name="Shape 149"/>
          <p:cNvSpPr/>
          <p:nvPr/>
        </p:nvSpPr>
        <p:spPr>
          <a:xfrm>
            <a:off x="6717182" y="2898648"/>
            <a:ext cx="844906" cy="219456"/>
          </a:xfrm>
          <a:prstGeom prst="rect">
            <a:avLst/>
          </a:prstGeom>
          <a:solidFill>
            <a:srgbClr val="10233A"/>
          </a:solidFill>
          <a:ln/>
        </p:spPr>
      </p:sp>
      <p:sp>
        <p:nvSpPr>
          <p:cNvPr id="152" name="Text 150"/>
          <p:cNvSpPr txBox="1"/>
          <p:nvPr/>
        </p:nvSpPr>
        <p:spPr>
          <a:xfrm>
            <a:off x="6781190" y="2898648"/>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FY31</a:t>
            </a:r>
            <a:endParaRPr lang="en-US" sz="800" dirty="0"/>
          </a:p>
        </p:txBody>
      </p:sp>
      <p:sp>
        <p:nvSpPr>
          <p:cNvPr id="153" name="Shape 151"/>
          <p:cNvSpPr/>
          <p:nvPr/>
        </p:nvSpPr>
        <p:spPr>
          <a:xfrm>
            <a:off x="7562088" y="2898648"/>
            <a:ext cx="844906" cy="219456"/>
          </a:xfrm>
          <a:prstGeom prst="rect">
            <a:avLst/>
          </a:prstGeom>
          <a:solidFill>
            <a:srgbClr val="10233A"/>
          </a:solidFill>
          <a:ln/>
        </p:spPr>
      </p:sp>
      <p:sp>
        <p:nvSpPr>
          <p:cNvPr id="154" name="Text 152"/>
          <p:cNvSpPr txBox="1"/>
          <p:nvPr/>
        </p:nvSpPr>
        <p:spPr>
          <a:xfrm>
            <a:off x="7626096" y="2898648"/>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FY32</a:t>
            </a:r>
            <a:endParaRPr lang="en-US" sz="800" dirty="0"/>
          </a:p>
        </p:txBody>
      </p:sp>
      <p:sp>
        <p:nvSpPr>
          <p:cNvPr id="155" name="Shape 153"/>
          <p:cNvSpPr/>
          <p:nvPr/>
        </p:nvSpPr>
        <p:spPr>
          <a:xfrm>
            <a:off x="8406994" y="2898648"/>
            <a:ext cx="844906" cy="219456"/>
          </a:xfrm>
          <a:prstGeom prst="rect">
            <a:avLst/>
          </a:prstGeom>
          <a:solidFill>
            <a:srgbClr val="10233A"/>
          </a:solidFill>
          <a:ln/>
        </p:spPr>
      </p:sp>
      <p:sp>
        <p:nvSpPr>
          <p:cNvPr id="156" name="Text 154"/>
          <p:cNvSpPr txBox="1"/>
          <p:nvPr/>
        </p:nvSpPr>
        <p:spPr>
          <a:xfrm>
            <a:off x="8471002" y="2898648"/>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FY33</a:t>
            </a:r>
            <a:endParaRPr lang="en-US" sz="800" dirty="0"/>
          </a:p>
        </p:txBody>
      </p:sp>
      <p:sp>
        <p:nvSpPr>
          <p:cNvPr id="157" name="Shape 155"/>
          <p:cNvSpPr/>
          <p:nvPr/>
        </p:nvSpPr>
        <p:spPr>
          <a:xfrm>
            <a:off x="9251899" y="2898648"/>
            <a:ext cx="844906" cy="219456"/>
          </a:xfrm>
          <a:prstGeom prst="rect">
            <a:avLst/>
          </a:prstGeom>
          <a:solidFill>
            <a:srgbClr val="10233A"/>
          </a:solidFill>
          <a:ln/>
        </p:spPr>
      </p:sp>
      <p:sp>
        <p:nvSpPr>
          <p:cNvPr id="158" name="Text 156"/>
          <p:cNvSpPr txBox="1"/>
          <p:nvPr/>
        </p:nvSpPr>
        <p:spPr>
          <a:xfrm>
            <a:off x="9315907" y="2898648"/>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FY34</a:t>
            </a:r>
            <a:endParaRPr lang="en-US" sz="800" dirty="0"/>
          </a:p>
        </p:txBody>
      </p:sp>
      <p:sp>
        <p:nvSpPr>
          <p:cNvPr id="159" name="Shape 157"/>
          <p:cNvSpPr/>
          <p:nvPr/>
        </p:nvSpPr>
        <p:spPr>
          <a:xfrm>
            <a:off x="10096805" y="2898648"/>
            <a:ext cx="844906" cy="219456"/>
          </a:xfrm>
          <a:prstGeom prst="rect">
            <a:avLst/>
          </a:prstGeom>
          <a:solidFill>
            <a:srgbClr val="10233A"/>
          </a:solidFill>
          <a:ln/>
        </p:spPr>
      </p:sp>
      <p:sp>
        <p:nvSpPr>
          <p:cNvPr id="160" name="Text 158"/>
          <p:cNvSpPr txBox="1"/>
          <p:nvPr/>
        </p:nvSpPr>
        <p:spPr>
          <a:xfrm>
            <a:off x="10160813" y="2898648"/>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FY35</a:t>
            </a:r>
            <a:endParaRPr lang="en-US" sz="800" dirty="0"/>
          </a:p>
        </p:txBody>
      </p:sp>
      <p:sp>
        <p:nvSpPr>
          <p:cNvPr id="161" name="Shape 159"/>
          <p:cNvSpPr/>
          <p:nvPr/>
        </p:nvSpPr>
        <p:spPr>
          <a:xfrm>
            <a:off x="10941710" y="2898648"/>
            <a:ext cx="844906" cy="219456"/>
          </a:xfrm>
          <a:prstGeom prst="rect">
            <a:avLst/>
          </a:prstGeom>
          <a:solidFill>
            <a:srgbClr val="10233A"/>
          </a:solidFill>
          <a:ln/>
        </p:spPr>
      </p:sp>
      <p:sp>
        <p:nvSpPr>
          <p:cNvPr id="162" name="Text 160"/>
          <p:cNvSpPr txBox="1"/>
          <p:nvPr/>
        </p:nvSpPr>
        <p:spPr>
          <a:xfrm>
            <a:off x="11005718" y="2898648"/>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FY36</a:t>
            </a:r>
            <a:endParaRPr lang="en-US" sz="800" dirty="0"/>
          </a:p>
        </p:txBody>
      </p:sp>
      <p:sp>
        <p:nvSpPr>
          <p:cNvPr id="163" name="Shape 161"/>
          <p:cNvSpPr/>
          <p:nvPr/>
        </p:nvSpPr>
        <p:spPr>
          <a:xfrm>
            <a:off x="411480" y="3118104"/>
            <a:ext cx="2926080" cy="182880"/>
          </a:xfrm>
          <a:prstGeom prst="rect">
            <a:avLst/>
          </a:prstGeom>
          <a:solidFill>
            <a:srgbClr val="FFFFFF"/>
          </a:solidFill>
          <a:ln w="6350">
            <a:solidFill>
              <a:srgbClr val="D3DCE5"/>
            </a:solidFill>
            <a:prstDash val="solid"/>
          </a:ln>
        </p:spPr>
      </p:sp>
      <p:sp>
        <p:nvSpPr>
          <p:cNvPr id="164" name="Text 162"/>
          <p:cNvSpPr txBox="1"/>
          <p:nvPr/>
        </p:nvSpPr>
        <p:spPr>
          <a:xfrm>
            <a:off x="475488" y="3118104"/>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Pilgan plant</a:t>
            </a:r>
            <a:endParaRPr lang="en-US" sz="800" dirty="0"/>
          </a:p>
        </p:txBody>
      </p:sp>
      <p:sp>
        <p:nvSpPr>
          <p:cNvPr id="165" name="Shape 163"/>
          <p:cNvSpPr/>
          <p:nvPr/>
        </p:nvSpPr>
        <p:spPr>
          <a:xfrm>
            <a:off x="3337560" y="3118104"/>
            <a:ext cx="844906" cy="182880"/>
          </a:xfrm>
          <a:prstGeom prst="rect">
            <a:avLst/>
          </a:prstGeom>
          <a:solidFill>
            <a:srgbClr val="FFFFFF"/>
          </a:solidFill>
          <a:ln w="6350">
            <a:solidFill>
              <a:srgbClr val="D3DCE5"/>
            </a:solidFill>
            <a:prstDash val="solid"/>
          </a:ln>
        </p:spPr>
      </p:sp>
      <p:sp>
        <p:nvSpPr>
          <p:cNvPr id="166" name="Text 164"/>
          <p:cNvSpPr txBox="1"/>
          <p:nvPr/>
        </p:nvSpPr>
        <p:spPr>
          <a:xfrm>
            <a:off x="3401568" y="311810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880</a:t>
            </a:r>
            <a:endParaRPr lang="en-US" sz="800" dirty="0"/>
          </a:p>
        </p:txBody>
      </p:sp>
      <p:sp>
        <p:nvSpPr>
          <p:cNvPr id="167" name="Shape 165"/>
          <p:cNvSpPr/>
          <p:nvPr/>
        </p:nvSpPr>
        <p:spPr>
          <a:xfrm>
            <a:off x="4182466" y="3118104"/>
            <a:ext cx="844906" cy="182880"/>
          </a:xfrm>
          <a:prstGeom prst="rect">
            <a:avLst/>
          </a:prstGeom>
          <a:solidFill>
            <a:srgbClr val="FFFFFF"/>
          </a:solidFill>
          <a:ln w="6350">
            <a:solidFill>
              <a:srgbClr val="D3DCE5"/>
            </a:solidFill>
            <a:prstDash val="solid"/>
          </a:ln>
        </p:spPr>
      </p:sp>
      <p:sp>
        <p:nvSpPr>
          <p:cNvPr id="168" name="Text 166"/>
          <p:cNvSpPr txBox="1"/>
          <p:nvPr/>
        </p:nvSpPr>
        <p:spPr>
          <a:xfrm>
            <a:off x="4246474" y="311810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880</a:t>
            </a:r>
            <a:endParaRPr lang="en-US" sz="800" dirty="0"/>
          </a:p>
        </p:txBody>
      </p:sp>
      <p:sp>
        <p:nvSpPr>
          <p:cNvPr id="169" name="Shape 167"/>
          <p:cNvSpPr/>
          <p:nvPr/>
        </p:nvSpPr>
        <p:spPr>
          <a:xfrm>
            <a:off x="5027371" y="3118104"/>
            <a:ext cx="844906" cy="182880"/>
          </a:xfrm>
          <a:prstGeom prst="rect">
            <a:avLst/>
          </a:prstGeom>
          <a:solidFill>
            <a:srgbClr val="FFFFFF"/>
          </a:solidFill>
          <a:ln w="6350">
            <a:solidFill>
              <a:srgbClr val="D3DCE5"/>
            </a:solidFill>
            <a:prstDash val="solid"/>
          </a:ln>
        </p:spPr>
      </p:sp>
      <p:sp>
        <p:nvSpPr>
          <p:cNvPr id="170" name="Text 168"/>
          <p:cNvSpPr txBox="1"/>
          <p:nvPr/>
        </p:nvSpPr>
        <p:spPr>
          <a:xfrm>
            <a:off x="5091379" y="311810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870</a:t>
            </a:r>
            <a:endParaRPr lang="en-US" sz="800" dirty="0"/>
          </a:p>
        </p:txBody>
      </p:sp>
      <p:sp>
        <p:nvSpPr>
          <p:cNvPr id="171" name="Shape 169"/>
          <p:cNvSpPr/>
          <p:nvPr/>
        </p:nvSpPr>
        <p:spPr>
          <a:xfrm>
            <a:off x="5872277" y="3118104"/>
            <a:ext cx="844906" cy="182880"/>
          </a:xfrm>
          <a:prstGeom prst="rect">
            <a:avLst/>
          </a:prstGeom>
          <a:solidFill>
            <a:srgbClr val="FFFFFF"/>
          </a:solidFill>
          <a:ln w="6350">
            <a:solidFill>
              <a:srgbClr val="D3DCE5"/>
            </a:solidFill>
            <a:prstDash val="solid"/>
          </a:ln>
        </p:spPr>
      </p:sp>
      <p:sp>
        <p:nvSpPr>
          <p:cNvPr id="172" name="Text 170"/>
          <p:cNvSpPr txBox="1"/>
          <p:nvPr/>
        </p:nvSpPr>
        <p:spPr>
          <a:xfrm>
            <a:off x="5936285" y="311810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870</a:t>
            </a:r>
            <a:endParaRPr lang="en-US" sz="800" dirty="0"/>
          </a:p>
        </p:txBody>
      </p:sp>
      <p:sp>
        <p:nvSpPr>
          <p:cNvPr id="173" name="Shape 171"/>
          <p:cNvSpPr/>
          <p:nvPr/>
        </p:nvSpPr>
        <p:spPr>
          <a:xfrm>
            <a:off x="6717182" y="3118104"/>
            <a:ext cx="844906" cy="182880"/>
          </a:xfrm>
          <a:prstGeom prst="rect">
            <a:avLst/>
          </a:prstGeom>
          <a:solidFill>
            <a:srgbClr val="FFFFFF"/>
          </a:solidFill>
          <a:ln w="6350">
            <a:solidFill>
              <a:srgbClr val="D3DCE5"/>
            </a:solidFill>
            <a:prstDash val="solid"/>
          </a:ln>
        </p:spPr>
      </p:sp>
      <p:sp>
        <p:nvSpPr>
          <p:cNvPr id="174" name="Text 172"/>
          <p:cNvSpPr txBox="1"/>
          <p:nvPr/>
        </p:nvSpPr>
        <p:spPr>
          <a:xfrm>
            <a:off x="6781190" y="311810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860</a:t>
            </a:r>
            <a:endParaRPr lang="en-US" sz="800" dirty="0"/>
          </a:p>
        </p:txBody>
      </p:sp>
      <p:sp>
        <p:nvSpPr>
          <p:cNvPr id="175" name="Shape 173"/>
          <p:cNvSpPr/>
          <p:nvPr/>
        </p:nvSpPr>
        <p:spPr>
          <a:xfrm>
            <a:off x="7562088" y="3118104"/>
            <a:ext cx="844906" cy="182880"/>
          </a:xfrm>
          <a:prstGeom prst="rect">
            <a:avLst/>
          </a:prstGeom>
          <a:solidFill>
            <a:srgbClr val="FFFFFF"/>
          </a:solidFill>
          <a:ln w="6350">
            <a:solidFill>
              <a:srgbClr val="D3DCE5"/>
            </a:solidFill>
            <a:prstDash val="solid"/>
          </a:ln>
        </p:spPr>
      </p:sp>
      <p:sp>
        <p:nvSpPr>
          <p:cNvPr id="176" name="Text 174"/>
          <p:cNvSpPr txBox="1"/>
          <p:nvPr/>
        </p:nvSpPr>
        <p:spPr>
          <a:xfrm>
            <a:off x="7626096" y="311810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860</a:t>
            </a:r>
            <a:endParaRPr lang="en-US" sz="800" dirty="0"/>
          </a:p>
        </p:txBody>
      </p:sp>
      <p:sp>
        <p:nvSpPr>
          <p:cNvPr id="177" name="Shape 175"/>
          <p:cNvSpPr/>
          <p:nvPr/>
        </p:nvSpPr>
        <p:spPr>
          <a:xfrm>
            <a:off x="8406994" y="3118104"/>
            <a:ext cx="844906" cy="182880"/>
          </a:xfrm>
          <a:prstGeom prst="rect">
            <a:avLst/>
          </a:prstGeom>
          <a:solidFill>
            <a:srgbClr val="FFFFFF"/>
          </a:solidFill>
          <a:ln w="6350">
            <a:solidFill>
              <a:srgbClr val="D3DCE5"/>
            </a:solidFill>
            <a:prstDash val="solid"/>
          </a:ln>
        </p:spPr>
      </p:sp>
      <p:sp>
        <p:nvSpPr>
          <p:cNvPr id="178" name="Text 176"/>
          <p:cNvSpPr txBox="1"/>
          <p:nvPr/>
        </p:nvSpPr>
        <p:spPr>
          <a:xfrm>
            <a:off x="8471002" y="311810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850</a:t>
            </a:r>
            <a:endParaRPr lang="en-US" sz="800" dirty="0"/>
          </a:p>
        </p:txBody>
      </p:sp>
      <p:sp>
        <p:nvSpPr>
          <p:cNvPr id="179" name="Shape 177"/>
          <p:cNvSpPr/>
          <p:nvPr/>
        </p:nvSpPr>
        <p:spPr>
          <a:xfrm>
            <a:off x="9251899" y="3118104"/>
            <a:ext cx="844906" cy="182880"/>
          </a:xfrm>
          <a:prstGeom prst="rect">
            <a:avLst/>
          </a:prstGeom>
          <a:solidFill>
            <a:srgbClr val="FFFFFF"/>
          </a:solidFill>
          <a:ln w="6350">
            <a:solidFill>
              <a:srgbClr val="D3DCE5"/>
            </a:solidFill>
            <a:prstDash val="solid"/>
          </a:ln>
        </p:spPr>
      </p:sp>
      <p:sp>
        <p:nvSpPr>
          <p:cNvPr id="180" name="Text 178"/>
          <p:cNvSpPr txBox="1"/>
          <p:nvPr/>
        </p:nvSpPr>
        <p:spPr>
          <a:xfrm>
            <a:off x="9315907" y="311810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850</a:t>
            </a:r>
            <a:endParaRPr lang="en-US" sz="800" dirty="0"/>
          </a:p>
        </p:txBody>
      </p:sp>
      <p:sp>
        <p:nvSpPr>
          <p:cNvPr id="181" name="Shape 179"/>
          <p:cNvSpPr/>
          <p:nvPr/>
        </p:nvSpPr>
        <p:spPr>
          <a:xfrm>
            <a:off x="10096805" y="3118104"/>
            <a:ext cx="844906" cy="182880"/>
          </a:xfrm>
          <a:prstGeom prst="rect">
            <a:avLst/>
          </a:prstGeom>
          <a:solidFill>
            <a:srgbClr val="FFFFFF"/>
          </a:solidFill>
          <a:ln w="6350">
            <a:solidFill>
              <a:srgbClr val="D3DCE5"/>
            </a:solidFill>
            <a:prstDash val="solid"/>
          </a:ln>
        </p:spPr>
      </p:sp>
      <p:sp>
        <p:nvSpPr>
          <p:cNvPr id="182" name="Text 180"/>
          <p:cNvSpPr txBox="1"/>
          <p:nvPr/>
        </p:nvSpPr>
        <p:spPr>
          <a:xfrm>
            <a:off x="10160813" y="311810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850</a:t>
            </a:r>
            <a:endParaRPr lang="en-US" sz="800" dirty="0"/>
          </a:p>
        </p:txBody>
      </p:sp>
      <p:sp>
        <p:nvSpPr>
          <p:cNvPr id="183" name="Shape 181"/>
          <p:cNvSpPr/>
          <p:nvPr/>
        </p:nvSpPr>
        <p:spPr>
          <a:xfrm>
            <a:off x="10941710" y="3118104"/>
            <a:ext cx="844906" cy="182880"/>
          </a:xfrm>
          <a:prstGeom prst="rect">
            <a:avLst/>
          </a:prstGeom>
          <a:solidFill>
            <a:srgbClr val="FFFFFF"/>
          </a:solidFill>
          <a:ln w="6350">
            <a:solidFill>
              <a:srgbClr val="D3DCE5"/>
            </a:solidFill>
            <a:prstDash val="solid"/>
          </a:ln>
        </p:spPr>
      </p:sp>
      <p:sp>
        <p:nvSpPr>
          <p:cNvPr id="184" name="Text 182"/>
          <p:cNvSpPr txBox="1"/>
          <p:nvPr/>
        </p:nvSpPr>
        <p:spPr>
          <a:xfrm>
            <a:off x="11005718" y="311810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850</a:t>
            </a:r>
            <a:endParaRPr lang="en-US" sz="800" dirty="0"/>
          </a:p>
        </p:txBody>
      </p:sp>
      <p:sp>
        <p:nvSpPr>
          <p:cNvPr id="185" name="Shape 183"/>
          <p:cNvSpPr/>
          <p:nvPr/>
        </p:nvSpPr>
        <p:spPr>
          <a:xfrm>
            <a:off x="411480" y="3300984"/>
            <a:ext cx="2926080" cy="182880"/>
          </a:xfrm>
          <a:prstGeom prst="rect">
            <a:avLst/>
          </a:prstGeom>
          <a:solidFill>
            <a:srgbClr val="F7F9FB"/>
          </a:solidFill>
          <a:ln w="6350">
            <a:solidFill>
              <a:srgbClr val="D3DCE5"/>
            </a:solidFill>
            <a:prstDash val="solid"/>
          </a:ln>
        </p:spPr>
      </p:sp>
      <p:sp>
        <p:nvSpPr>
          <p:cNvPr id="186" name="Text 184"/>
          <p:cNvSpPr txBox="1"/>
          <p:nvPr/>
        </p:nvSpPr>
        <p:spPr>
          <a:xfrm>
            <a:off x="475488" y="3300984"/>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Ngungaju plant</a:t>
            </a:r>
            <a:endParaRPr lang="en-US" sz="800" dirty="0"/>
          </a:p>
        </p:txBody>
      </p:sp>
      <p:sp>
        <p:nvSpPr>
          <p:cNvPr id="187" name="Shape 185"/>
          <p:cNvSpPr/>
          <p:nvPr/>
        </p:nvSpPr>
        <p:spPr>
          <a:xfrm>
            <a:off x="3337560" y="3300984"/>
            <a:ext cx="844906" cy="182880"/>
          </a:xfrm>
          <a:prstGeom prst="rect">
            <a:avLst/>
          </a:prstGeom>
          <a:solidFill>
            <a:srgbClr val="F7F9FB"/>
          </a:solidFill>
          <a:ln w="6350">
            <a:solidFill>
              <a:srgbClr val="D3DCE5"/>
            </a:solidFill>
            <a:prstDash val="solid"/>
          </a:ln>
        </p:spPr>
      </p:sp>
      <p:sp>
        <p:nvSpPr>
          <p:cNvPr id="188" name="Text 186"/>
          <p:cNvSpPr txBox="1"/>
          <p:nvPr/>
        </p:nvSpPr>
        <p:spPr>
          <a:xfrm>
            <a:off x="3401568" y="330098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150</a:t>
            </a:r>
            <a:endParaRPr lang="en-US" sz="800" dirty="0"/>
          </a:p>
        </p:txBody>
      </p:sp>
      <p:sp>
        <p:nvSpPr>
          <p:cNvPr id="189" name="Shape 187"/>
          <p:cNvSpPr/>
          <p:nvPr/>
        </p:nvSpPr>
        <p:spPr>
          <a:xfrm>
            <a:off x="4182466" y="3300984"/>
            <a:ext cx="844906" cy="182880"/>
          </a:xfrm>
          <a:prstGeom prst="rect">
            <a:avLst/>
          </a:prstGeom>
          <a:solidFill>
            <a:srgbClr val="F7F9FB"/>
          </a:solidFill>
          <a:ln w="6350">
            <a:solidFill>
              <a:srgbClr val="D3DCE5"/>
            </a:solidFill>
            <a:prstDash val="solid"/>
          </a:ln>
        </p:spPr>
      </p:sp>
      <p:sp>
        <p:nvSpPr>
          <p:cNvPr id="190" name="Text 188"/>
          <p:cNvSpPr txBox="1"/>
          <p:nvPr/>
        </p:nvSpPr>
        <p:spPr>
          <a:xfrm>
            <a:off x="4246474" y="330098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170</a:t>
            </a:r>
            <a:endParaRPr lang="en-US" sz="800" dirty="0"/>
          </a:p>
        </p:txBody>
      </p:sp>
      <p:sp>
        <p:nvSpPr>
          <p:cNvPr id="191" name="Shape 189"/>
          <p:cNvSpPr/>
          <p:nvPr/>
        </p:nvSpPr>
        <p:spPr>
          <a:xfrm>
            <a:off x="5027371" y="3300984"/>
            <a:ext cx="844906" cy="182880"/>
          </a:xfrm>
          <a:prstGeom prst="rect">
            <a:avLst/>
          </a:prstGeom>
          <a:solidFill>
            <a:srgbClr val="F7F9FB"/>
          </a:solidFill>
          <a:ln w="6350">
            <a:solidFill>
              <a:srgbClr val="D3DCE5"/>
            </a:solidFill>
            <a:prstDash val="solid"/>
          </a:ln>
        </p:spPr>
      </p:sp>
      <p:sp>
        <p:nvSpPr>
          <p:cNvPr id="192" name="Text 190"/>
          <p:cNvSpPr txBox="1"/>
          <p:nvPr/>
        </p:nvSpPr>
        <p:spPr>
          <a:xfrm>
            <a:off x="5091379" y="330098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160</a:t>
            </a:r>
            <a:endParaRPr lang="en-US" sz="800" dirty="0"/>
          </a:p>
        </p:txBody>
      </p:sp>
      <p:sp>
        <p:nvSpPr>
          <p:cNvPr id="193" name="Shape 191"/>
          <p:cNvSpPr/>
          <p:nvPr/>
        </p:nvSpPr>
        <p:spPr>
          <a:xfrm>
            <a:off x="5872277" y="3300984"/>
            <a:ext cx="844906" cy="182880"/>
          </a:xfrm>
          <a:prstGeom prst="rect">
            <a:avLst/>
          </a:prstGeom>
          <a:solidFill>
            <a:srgbClr val="F7F9FB"/>
          </a:solidFill>
          <a:ln w="6350">
            <a:solidFill>
              <a:srgbClr val="D3DCE5"/>
            </a:solidFill>
            <a:prstDash val="solid"/>
          </a:ln>
        </p:spPr>
      </p:sp>
      <p:sp>
        <p:nvSpPr>
          <p:cNvPr id="194" name="Text 192"/>
          <p:cNvSpPr txBox="1"/>
          <p:nvPr/>
        </p:nvSpPr>
        <p:spPr>
          <a:xfrm>
            <a:off x="5936285" y="330098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120</a:t>
            </a:r>
            <a:endParaRPr lang="en-US" sz="800" dirty="0"/>
          </a:p>
        </p:txBody>
      </p:sp>
      <p:sp>
        <p:nvSpPr>
          <p:cNvPr id="195" name="Shape 193"/>
          <p:cNvSpPr/>
          <p:nvPr/>
        </p:nvSpPr>
        <p:spPr>
          <a:xfrm>
            <a:off x="6717182" y="3300984"/>
            <a:ext cx="844906" cy="182880"/>
          </a:xfrm>
          <a:prstGeom prst="rect">
            <a:avLst/>
          </a:prstGeom>
          <a:solidFill>
            <a:srgbClr val="F7F9FB"/>
          </a:solidFill>
          <a:ln w="6350">
            <a:solidFill>
              <a:srgbClr val="D3DCE5"/>
            </a:solidFill>
            <a:prstDash val="solid"/>
          </a:ln>
        </p:spPr>
      </p:sp>
      <p:sp>
        <p:nvSpPr>
          <p:cNvPr id="196" name="Text 194"/>
          <p:cNvSpPr txBox="1"/>
          <p:nvPr/>
        </p:nvSpPr>
        <p:spPr>
          <a:xfrm>
            <a:off x="6781190" y="330098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120</a:t>
            </a:r>
            <a:endParaRPr lang="en-US" sz="800" dirty="0"/>
          </a:p>
        </p:txBody>
      </p:sp>
      <p:sp>
        <p:nvSpPr>
          <p:cNvPr id="197" name="Shape 195"/>
          <p:cNvSpPr/>
          <p:nvPr/>
        </p:nvSpPr>
        <p:spPr>
          <a:xfrm>
            <a:off x="7562088" y="3300984"/>
            <a:ext cx="844906" cy="182880"/>
          </a:xfrm>
          <a:prstGeom prst="rect">
            <a:avLst/>
          </a:prstGeom>
          <a:solidFill>
            <a:srgbClr val="F7F9FB"/>
          </a:solidFill>
          <a:ln w="6350">
            <a:solidFill>
              <a:srgbClr val="D3DCE5"/>
            </a:solidFill>
            <a:prstDash val="solid"/>
          </a:ln>
        </p:spPr>
      </p:sp>
      <p:sp>
        <p:nvSpPr>
          <p:cNvPr id="198" name="Text 196"/>
          <p:cNvSpPr txBox="1"/>
          <p:nvPr/>
        </p:nvSpPr>
        <p:spPr>
          <a:xfrm>
            <a:off x="7626096" y="330098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140</a:t>
            </a:r>
            <a:endParaRPr lang="en-US" sz="800" dirty="0"/>
          </a:p>
        </p:txBody>
      </p:sp>
      <p:sp>
        <p:nvSpPr>
          <p:cNvPr id="199" name="Shape 197"/>
          <p:cNvSpPr/>
          <p:nvPr/>
        </p:nvSpPr>
        <p:spPr>
          <a:xfrm>
            <a:off x="8406994" y="3300984"/>
            <a:ext cx="844906" cy="182880"/>
          </a:xfrm>
          <a:prstGeom prst="rect">
            <a:avLst/>
          </a:prstGeom>
          <a:solidFill>
            <a:srgbClr val="F7F9FB"/>
          </a:solidFill>
          <a:ln w="6350">
            <a:solidFill>
              <a:srgbClr val="D3DCE5"/>
            </a:solidFill>
            <a:prstDash val="solid"/>
          </a:ln>
        </p:spPr>
      </p:sp>
      <p:sp>
        <p:nvSpPr>
          <p:cNvPr id="200" name="Text 198"/>
          <p:cNvSpPr txBox="1"/>
          <p:nvPr/>
        </p:nvSpPr>
        <p:spPr>
          <a:xfrm>
            <a:off x="8471002" y="330098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150</a:t>
            </a:r>
            <a:endParaRPr lang="en-US" sz="800" dirty="0"/>
          </a:p>
        </p:txBody>
      </p:sp>
      <p:sp>
        <p:nvSpPr>
          <p:cNvPr id="201" name="Shape 199"/>
          <p:cNvSpPr/>
          <p:nvPr/>
        </p:nvSpPr>
        <p:spPr>
          <a:xfrm>
            <a:off x="9251899" y="3300984"/>
            <a:ext cx="844906" cy="182880"/>
          </a:xfrm>
          <a:prstGeom prst="rect">
            <a:avLst/>
          </a:prstGeom>
          <a:solidFill>
            <a:srgbClr val="F7F9FB"/>
          </a:solidFill>
          <a:ln w="6350">
            <a:solidFill>
              <a:srgbClr val="D3DCE5"/>
            </a:solidFill>
            <a:prstDash val="solid"/>
          </a:ln>
        </p:spPr>
      </p:sp>
      <p:sp>
        <p:nvSpPr>
          <p:cNvPr id="202" name="Text 200"/>
          <p:cNvSpPr txBox="1"/>
          <p:nvPr/>
        </p:nvSpPr>
        <p:spPr>
          <a:xfrm>
            <a:off x="9315907" y="330098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160</a:t>
            </a:r>
            <a:endParaRPr lang="en-US" sz="800" dirty="0"/>
          </a:p>
        </p:txBody>
      </p:sp>
      <p:sp>
        <p:nvSpPr>
          <p:cNvPr id="203" name="Shape 201"/>
          <p:cNvSpPr/>
          <p:nvPr/>
        </p:nvSpPr>
        <p:spPr>
          <a:xfrm>
            <a:off x="10096805" y="3300984"/>
            <a:ext cx="844906" cy="182880"/>
          </a:xfrm>
          <a:prstGeom prst="rect">
            <a:avLst/>
          </a:prstGeom>
          <a:solidFill>
            <a:srgbClr val="F7F9FB"/>
          </a:solidFill>
          <a:ln w="6350">
            <a:solidFill>
              <a:srgbClr val="D3DCE5"/>
            </a:solidFill>
            <a:prstDash val="solid"/>
          </a:ln>
        </p:spPr>
      </p:sp>
      <p:sp>
        <p:nvSpPr>
          <p:cNvPr id="204" name="Text 202"/>
          <p:cNvSpPr txBox="1"/>
          <p:nvPr/>
        </p:nvSpPr>
        <p:spPr>
          <a:xfrm>
            <a:off x="10160813" y="330098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170</a:t>
            </a:r>
            <a:endParaRPr lang="en-US" sz="800" dirty="0"/>
          </a:p>
        </p:txBody>
      </p:sp>
      <p:sp>
        <p:nvSpPr>
          <p:cNvPr id="205" name="Shape 203"/>
          <p:cNvSpPr/>
          <p:nvPr/>
        </p:nvSpPr>
        <p:spPr>
          <a:xfrm>
            <a:off x="10941710" y="3300984"/>
            <a:ext cx="844906" cy="182880"/>
          </a:xfrm>
          <a:prstGeom prst="rect">
            <a:avLst/>
          </a:prstGeom>
          <a:solidFill>
            <a:srgbClr val="F7F9FB"/>
          </a:solidFill>
          <a:ln w="6350">
            <a:solidFill>
              <a:srgbClr val="D3DCE5"/>
            </a:solidFill>
            <a:prstDash val="solid"/>
          </a:ln>
        </p:spPr>
      </p:sp>
      <p:sp>
        <p:nvSpPr>
          <p:cNvPr id="206" name="Text 204"/>
          <p:cNvSpPr txBox="1"/>
          <p:nvPr/>
        </p:nvSpPr>
        <p:spPr>
          <a:xfrm>
            <a:off x="11005718" y="330098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170</a:t>
            </a:r>
            <a:endParaRPr lang="en-US" sz="800" dirty="0"/>
          </a:p>
        </p:txBody>
      </p:sp>
      <p:sp>
        <p:nvSpPr>
          <p:cNvPr id="207" name="Shape 205"/>
          <p:cNvSpPr/>
          <p:nvPr/>
        </p:nvSpPr>
        <p:spPr>
          <a:xfrm>
            <a:off x="411480" y="3483864"/>
            <a:ext cx="2926080" cy="182880"/>
          </a:xfrm>
          <a:prstGeom prst="rect">
            <a:avLst/>
          </a:prstGeom>
          <a:solidFill>
            <a:srgbClr val="FFFFFF"/>
          </a:solidFill>
          <a:ln w="6350">
            <a:solidFill>
              <a:srgbClr val="D3DCE5"/>
            </a:solidFill>
            <a:prstDash val="solid"/>
          </a:ln>
        </p:spPr>
      </p:sp>
      <p:sp>
        <p:nvSpPr>
          <p:cNvPr id="208" name="Text 206"/>
          <p:cNvSpPr txBox="1"/>
          <p:nvPr/>
        </p:nvSpPr>
        <p:spPr>
          <a:xfrm>
            <a:off x="475488" y="3483864"/>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P2000 increment</a:t>
            </a:r>
            <a:endParaRPr lang="en-US" sz="800" dirty="0"/>
          </a:p>
        </p:txBody>
      </p:sp>
      <p:sp>
        <p:nvSpPr>
          <p:cNvPr id="209" name="Shape 207"/>
          <p:cNvSpPr/>
          <p:nvPr/>
        </p:nvSpPr>
        <p:spPr>
          <a:xfrm>
            <a:off x="3337560" y="3483864"/>
            <a:ext cx="844906" cy="182880"/>
          </a:xfrm>
          <a:prstGeom prst="rect">
            <a:avLst/>
          </a:prstGeom>
          <a:solidFill>
            <a:srgbClr val="FFFFFF"/>
          </a:solidFill>
          <a:ln w="6350">
            <a:solidFill>
              <a:srgbClr val="D3DCE5"/>
            </a:solidFill>
            <a:prstDash val="solid"/>
          </a:ln>
        </p:spPr>
      </p:sp>
      <p:sp>
        <p:nvSpPr>
          <p:cNvPr id="210" name="Text 208"/>
          <p:cNvSpPr txBox="1"/>
          <p:nvPr/>
        </p:nvSpPr>
        <p:spPr>
          <a:xfrm>
            <a:off x="3401568" y="348386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11" name="Shape 209"/>
          <p:cNvSpPr/>
          <p:nvPr/>
        </p:nvSpPr>
        <p:spPr>
          <a:xfrm>
            <a:off x="4182466" y="3483864"/>
            <a:ext cx="844906" cy="182880"/>
          </a:xfrm>
          <a:prstGeom prst="rect">
            <a:avLst/>
          </a:prstGeom>
          <a:solidFill>
            <a:srgbClr val="FFFFFF"/>
          </a:solidFill>
          <a:ln w="6350">
            <a:solidFill>
              <a:srgbClr val="D3DCE5"/>
            </a:solidFill>
            <a:prstDash val="solid"/>
          </a:ln>
        </p:spPr>
      </p:sp>
      <p:sp>
        <p:nvSpPr>
          <p:cNvPr id="212" name="Text 210"/>
          <p:cNvSpPr txBox="1"/>
          <p:nvPr/>
        </p:nvSpPr>
        <p:spPr>
          <a:xfrm>
            <a:off x="4246474" y="348386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13" name="Shape 211"/>
          <p:cNvSpPr/>
          <p:nvPr/>
        </p:nvSpPr>
        <p:spPr>
          <a:xfrm>
            <a:off x="5027371" y="3483864"/>
            <a:ext cx="844906" cy="182880"/>
          </a:xfrm>
          <a:prstGeom prst="rect">
            <a:avLst/>
          </a:prstGeom>
          <a:solidFill>
            <a:srgbClr val="FFFFFF"/>
          </a:solidFill>
          <a:ln w="6350">
            <a:solidFill>
              <a:srgbClr val="D3DCE5"/>
            </a:solidFill>
            <a:prstDash val="solid"/>
          </a:ln>
        </p:spPr>
      </p:sp>
      <p:sp>
        <p:nvSpPr>
          <p:cNvPr id="214" name="Text 212"/>
          <p:cNvSpPr txBox="1"/>
          <p:nvPr/>
        </p:nvSpPr>
        <p:spPr>
          <a:xfrm>
            <a:off x="5091379" y="348386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15" name="Shape 213"/>
          <p:cNvSpPr/>
          <p:nvPr/>
        </p:nvSpPr>
        <p:spPr>
          <a:xfrm>
            <a:off x="5872277" y="3483864"/>
            <a:ext cx="844906" cy="182880"/>
          </a:xfrm>
          <a:prstGeom prst="rect">
            <a:avLst/>
          </a:prstGeom>
          <a:solidFill>
            <a:srgbClr val="FFFFFF"/>
          </a:solidFill>
          <a:ln w="6350">
            <a:solidFill>
              <a:srgbClr val="D3DCE5"/>
            </a:solidFill>
            <a:prstDash val="solid"/>
          </a:ln>
        </p:spPr>
      </p:sp>
      <p:sp>
        <p:nvSpPr>
          <p:cNvPr id="216" name="Text 214"/>
          <p:cNvSpPr txBox="1"/>
          <p:nvPr/>
        </p:nvSpPr>
        <p:spPr>
          <a:xfrm>
            <a:off x="5936285" y="348386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17" name="Shape 215"/>
          <p:cNvSpPr/>
          <p:nvPr/>
        </p:nvSpPr>
        <p:spPr>
          <a:xfrm>
            <a:off x="6717182" y="3483864"/>
            <a:ext cx="844906" cy="182880"/>
          </a:xfrm>
          <a:prstGeom prst="rect">
            <a:avLst/>
          </a:prstGeom>
          <a:solidFill>
            <a:srgbClr val="FFFFFF"/>
          </a:solidFill>
          <a:ln w="6350">
            <a:solidFill>
              <a:srgbClr val="D3DCE5"/>
            </a:solidFill>
            <a:prstDash val="solid"/>
          </a:ln>
        </p:spPr>
      </p:sp>
      <p:sp>
        <p:nvSpPr>
          <p:cNvPr id="218" name="Text 216"/>
          <p:cNvSpPr txBox="1"/>
          <p:nvPr/>
        </p:nvSpPr>
        <p:spPr>
          <a:xfrm>
            <a:off x="6781190" y="348386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19" name="Shape 217"/>
          <p:cNvSpPr/>
          <p:nvPr/>
        </p:nvSpPr>
        <p:spPr>
          <a:xfrm>
            <a:off x="7562088" y="3483864"/>
            <a:ext cx="844906" cy="182880"/>
          </a:xfrm>
          <a:prstGeom prst="rect">
            <a:avLst/>
          </a:prstGeom>
          <a:solidFill>
            <a:srgbClr val="FFFFFF"/>
          </a:solidFill>
          <a:ln w="6350">
            <a:solidFill>
              <a:srgbClr val="D3DCE5"/>
            </a:solidFill>
            <a:prstDash val="solid"/>
          </a:ln>
        </p:spPr>
      </p:sp>
      <p:sp>
        <p:nvSpPr>
          <p:cNvPr id="220" name="Text 218"/>
          <p:cNvSpPr txBox="1"/>
          <p:nvPr/>
        </p:nvSpPr>
        <p:spPr>
          <a:xfrm>
            <a:off x="7626096" y="348386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21" name="Shape 219"/>
          <p:cNvSpPr/>
          <p:nvPr/>
        </p:nvSpPr>
        <p:spPr>
          <a:xfrm>
            <a:off x="8406994" y="3483864"/>
            <a:ext cx="844906" cy="182880"/>
          </a:xfrm>
          <a:prstGeom prst="rect">
            <a:avLst/>
          </a:prstGeom>
          <a:solidFill>
            <a:srgbClr val="FFFFFF"/>
          </a:solidFill>
          <a:ln w="6350">
            <a:solidFill>
              <a:srgbClr val="D3DCE5"/>
            </a:solidFill>
            <a:prstDash val="solid"/>
          </a:ln>
        </p:spPr>
      </p:sp>
      <p:sp>
        <p:nvSpPr>
          <p:cNvPr id="222" name="Text 220"/>
          <p:cNvSpPr txBox="1"/>
          <p:nvPr/>
        </p:nvSpPr>
        <p:spPr>
          <a:xfrm>
            <a:off x="8471002" y="348386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23" name="Shape 221"/>
          <p:cNvSpPr/>
          <p:nvPr/>
        </p:nvSpPr>
        <p:spPr>
          <a:xfrm>
            <a:off x="9251899" y="3483864"/>
            <a:ext cx="844906" cy="182880"/>
          </a:xfrm>
          <a:prstGeom prst="rect">
            <a:avLst/>
          </a:prstGeom>
          <a:solidFill>
            <a:srgbClr val="FFFFFF"/>
          </a:solidFill>
          <a:ln w="6350">
            <a:solidFill>
              <a:srgbClr val="D3DCE5"/>
            </a:solidFill>
            <a:prstDash val="solid"/>
          </a:ln>
        </p:spPr>
      </p:sp>
      <p:sp>
        <p:nvSpPr>
          <p:cNvPr id="224" name="Text 222"/>
          <p:cNvSpPr txBox="1"/>
          <p:nvPr/>
        </p:nvSpPr>
        <p:spPr>
          <a:xfrm>
            <a:off x="9315907" y="348386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25" name="Shape 223"/>
          <p:cNvSpPr/>
          <p:nvPr/>
        </p:nvSpPr>
        <p:spPr>
          <a:xfrm>
            <a:off x="10096805" y="3483864"/>
            <a:ext cx="844906" cy="182880"/>
          </a:xfrm>
          <a:prstGeom prst="rect">
            <a:avLst/>
          </a:prstGeom>
          <a:solidFill>
            <a:srgbClr val="FFFFFF"/>
          </a:solidFill>
          <a:ln w="6350">
            <a:solidFill>
              <a:srgbClr val="D3DCE5"/>
            </a:solidFill>
            <a:prstDash val="solid"/>
          </a:ln>
        </p:spPr>
      </p:sp>
      <p:sp>
        <p:nvSpPr>
          <p:cNvPr id="226" name="Text 224"/>
          <p:cNvSpPr txBox="1"/>
          <p:nvPr/>
        </p:nvSpPr>
        <p:spPr>
          <a:xfrm>
            <a:off x="10160813" y="348386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27" name="Shape 225"/>
          <p:cNvSpPr/>
          <p:nvPr/>
        </p:nvSpPr>
        <p:spPr>
          <a:xfrm>
            <a:off x="10941710" y="3483864"/>
            <a:ext cx="844906" cy="182880"/>
          </a:xfrm>
          <a:prstGeom prst="rect">
            <a:avLst/>
          </a:prstGeom>
          <a:solidFill>
            <a:srgbClr val="FFFFFF"/>
          </a:solidFill>
          <a:ln w="6350">
            <a:solidFill>
              <a:srgbClr val="D3DCE5"/>
            </a:solidFill>
            <a:prstDash val="solid"/>
          </a:ln>
        </p:spPr>
      </p:sp>
      <p:sp>
        <p:nvSpPr>
          <p:cNvPr id="228" name="Text 226"/>
          <p:cNvSpPr txBox="1"/>
          <p:nvPr/>
        </p:nvSpPr>
        <p:spPr>
          <a:xfrm>
            <a:off x="11005718" y="348386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29" name="Shape 227"/>
          <p:cNvSpPr/>
          <p:nvPr/>
        </p:nvSpPr>
        <p:spPr>
          <a:xfrm>
            <a:off x="411480" y="3666744"/>
            <a:ext cx="2926080" cy="182880"/>
          </a:xfrm>
          <a:prstGeom prst="rect">
            <a:avLst/>
          </a:prstGeom>
          <a:solidFill>
            <a:srgbClr val="F7F9FB"/>
          </a:solidFill>
          <a:ln w="6350">
            <a:solidFill>
              <a:srgbClr val="D3DCE5"/>
            </a:solidFill>
            <a:prstDash val="solid"/>
          </a:ln>
        </p:spPr>
      </p:sp>
      <p:sp>
        <p:nvSpPr>
          <p:cNvPr id="230" name="Text 228"/>
          <p:cNvSpPr txBox="1"/>
          <p:nvPr/>
        </p:nvSpPr>
        <p:spPr>
          <a:xfrm>
            <a:off x="475488" y="3666744"/>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Colina, Brazil</a:t>
            </a:r>
            <a:endParaRPr lang="en-US" sz="800" dirty="0"/>
          </a:p>
        </p:txBody>
      </p:sp>
      <p:sp>
        <p:nvSpPr>
          <p:cNvPr id="231" name="Shape 229"/>
          <p:cNvSpPr/>
          <p:nvPr/>
        </p:nvSpPr>
        <p:spPr>
          <a:xfrm>
            <a:off x="3337560" y="3666744"/>
            <a:ext cx="844906" cy="182880"/>
          </a:xfrm>
          <a:prstGeom prst="rect">
            <a:avLst/>
          </a:prstGeom>
          <a:solidFill>
            <a:srgbClr val="F7F9FB"/>
          </a:solidFill>
          <a:ln w="6350">
            <a:solidFill>
              <a:srgbClr val="D3DCE5"/>
            </a:solidFill>
            <a:prstDash val="solid"/>
          </a:ln>
        </p:spPr>
      </p:sp>
      <p:sp>
        <p:nvSpPr>
          <p:cNvPr id="232" name="Text 230"/>
          <p:cNvSpPr txBox="1"/>
          <p:nvPr/>
        </p:nvSpPr>
        <p:spPr>
          <a:xfrm>
            <a:off x="3401568" y="366674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33" name="Shape 231"/>
          <p:cNvSpPr/>
          <p:nvPr/>
        </p:nvSpPr>
        <p:spPr>
          <a:xfrm>
            <a:off x="4182466" y="3666744"/>
            <a:ext cx="844906" cy="182880"/>
          </a:xfrm>
          <a:prstGeom prst="rect">
            <a:avLst/>
          </a:prstGeom>
          <a:solidFill>
            <a:srgbClr val="F7F9FB"/>
          </a:solidFill>
          <a:ln w="6350">
            <a:solidFill>
              <a:srgbClr val="D3DCE5"/>
            </a:solidFill>
            <a:prstDash val="solid"/>
          </a:ln>
        </p:spPr>
      </p:sp>
      <p:sp>
        <p:nvSpPr>
          <p:cNvPr id="234" name="Text 232"/>
          <p:cNvSpPr txBox="1"/>
          <p:nvPr/>
        </p:nvSpPr>
        <p:spPr>
          <a:xfrm>
            <a:off x="4246474" y="366674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35" name="Shape 233"/>
          <p:cNvSpPr/>
          <p:nvPr/>
        </p:nvSpPr>
        <p:spPr>
          <a:xfrm>
            <a:off x="5027371" y="3666744"/>
            <a:ext cx="844906" cy="182880"/>
          </a:xfrm>
          <a:prstGeom prst="rect">
            <a:avLst/>
          </a:prstGeom>
          <a:solidFill>
            <a:srgbClr val="F7F9FB"/>
          </a:solidFill>
          <a:ln w="6350">
            <a:solidFill>
              <a:srgbClr val="D3DCE5"/>
            </a:solidFill>
            <a:prstDash val="solid"/>
          </a:ln>
        </p:spPr>
      </p:sp>
      <p:sp>
        <p:nvSpPr>
          <p:cNvPr id="236" name="Text 234"/>
          <p:cNvSpPr txBox="1"/>
          <p:nvPr/>
        </p:nvSpPr>
        <p:spPr>
          <a:xfrm>
            <a:off x="5091379" y="366674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37" name="Shape 235"/>
          <p:cNvSpPr/>
          <p:nvPr/>
        </p:nvSpPr>
        <p:spPr>
          <a:xfrm>
            <a:off x="5872277" y="3666744"/>
            <a:ext cx="844906" cy="182880"/>
          </a:xfrm>
          <a:prstGeom prst="rect">
            <a:avLst/>
          </a:prstGeom>
          <a:solidFill>
            <a:srgbClr val="F7F9FB"/>
          </a:solidFill>
          <a:ln w="6350">
            <a:solidFill>
              <a:srgbClr val="D3DCE5"/>
            </a:solidFill>
            <a:prstDash val="solid"/>
          </a:ln>
        </p:spPr>
      </p:sp>
      <p:sp>
        <p:nvSpPr>
          <p:cNvPr id="238" name="Text 236"/>
          <p:cNvSpPr txBox="1"/>
          <p:nvPr/>
        </p:nvSpPr>
        <p:spPr>
          <a:xfrm>
            <a:off x="5936285" y="366674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39" name="Shape 237"/>
          <p:cNvSpPr/>
          <p:nvPr/>
        </p:nvSpPr>
        <p:spPr>
          <a:xfrm>
            <a:off x="6717182" y="3666744"/>
            <a:ext cx="844906" cy="182880"/>
          </a:xfrm>
          <a:prstGeom prst="rect">
            <a:avLst/>
          </a:prstGeom>
          <a:solidFill>
            <a:srgbClr val="F7F9FB"/>
          </a:solidFill>
          <a:ln w="6350">
            <a:solidFill>
              <a:srgbClr val="D3DCE5"/>
            </a:solidFill>
            <a:prstDash val="solid"/>
          </a:ln>
        </p:spPr>
      </p:sp>
      <p:sp>
        <p:nvSpPr>
          <p:cNvPr id="240" name="Text 238"/>
          <p:cNvSpPr txBox="1"/>
          <p:nvPr/>
        </p:nvSpPr>
        <p:spPr>
          <a:xfrm>
            <a:off x="6781190" y="366674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41" name="Shape 239"/>
          <p:cNvSpPr/>
          <p:nvPr/>
        </p:nvSpPr>
        <p:spPr>
          <a:xfrm>
            <a:off x="7562088" y="3666744"/>
            <a:ext cx="844906" cy="182880"/>
          </a:xfrm>
          <a:prstGeom prst="rect">
            <a:avLst/>
          </a:prstGeom>
          <a:solidFill>
            <a:srgbClr val="F7F9FB"/>
          </a:solidFill>
          <a:ln w="6350">
            <a:solidFill>
              <a:srgbClr val="D3DCE5"/>
            </a:solidFill>
            <a:prstDash val="solid"/>
          </a:ln>
        </p:spPr>
      </p:sp>
      <p:sp>
        <p:nvSpPr>
          <p:cNvPr id="242" name="Text 240"/>
          <p:cNvSpPr txBox="1"/>
          <p:nvPr/>
        </p:nvSpPr>
        <p:spPr>
          <a:xfrm>
            <a:off x="7626096" y="366674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43" name="Shape 241"/>
          <p:cNvSpPr/>
          <p:nvPr/>
        </p:nvSpPr>
        <p:spPr>
          <a:xfrm>
            <a:off x="8406994" y="3666744"/>
            <a:ext cx="844906" cy="182880"/>
          </a:xfrm>
          <a:prstGeom prst="rect">
            <a:avLst/>
          </a:prstGeom>
          <a:solidFill>
            <a:srgbClr val="F7F9FB"/>
          </a:solidFill>
          <a:ln w="6350">
            <a:solidFill>
              <a:srgbClr val="D3DCE5"/>
            </a:solidFill>
            <a:prstDash val="solid"/>
          </a:ln>
        </p:spPr>
      </p:sp>
      <p:sp>
        <p:nvSpPr>
          <p:cNvPr id="244" name="Text 242"/>
          <p:cNvSpPr txBox="1"/>
          <p:nvPr/>
        </p:nvSpPr>
        <p:spPr>
          <a:xfrm>
            <a:off x="8471002" y="366674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45" name="Shape 243"/>
          <p:cNvSpPr/>
          <p:nvPr/>
        </p:nvSpPr>
        <p:spPr>
          <a:xfrm>
            <a:off x="9251899" y="3666744"/>
            <a:ext cx="844906" cy="182880"/>
          </a:xfrm>
          <a:prstGeom prst="rect">
            <a:avLst/>
          </a:prstGeom>
          <a:solidFill>
            <a:srgbClr val="F7F9FB"/>
          </a:solidFill>
          <a:ln w="6350">
            <a:solidFill>
              <a:srgbClr val="D3DCE5"/>
            </a:solidFill>
            <a:prstDash val="solid"/>
          </a:ln>
        </p:spPr>
      </p:sp>
      <p:sp>
        <p:nvSpPr>
          <p:cNvPr id="246" name="Text 244"/>
          <p:cNvSpPr txBox="1"/>
          <p:nvPr/>
        </p:nvSpPr>
        <p:spPr>
          <a:xfrm>
            <a:off x="9315907" y="366674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47" name="Shape 245"/>
          <p:cNvSpPr/>
          <p:nvPr/>
        </p:nvSpPr>
        <p:spPr>
          <a:xfrm>
            <a:off x="10096805" y="3666744"/>
            <a:ext cx="844906" cy="182880"/>
          </a:xfrm>
          <a:prstGeom prst="rect">
            <a:avLst/>
          </a:prstGeom>
          <a:solidFill>
            <a:srgbClr val="F7F9FB"/>
          </a:solidFill>
          <a:ln w="6350">
            <a:solidFill>
              <a:srgbClr val="D3DCE5"/>
            </a:solidFill>
            <a:prstDash val="solid"/>
          </a:ln>
        </p:spPr>
      </p:sp>
      <p:sp>
        <p:nvSpPr>
          <p:cNvPr id="248" name="Text 246"/>
          <p:cNvSpPr txBox="1"/>
          <p:nvPr/>
        </p:nvSpPr>
        <p:spPr>
          <a:xfrm>
            <a:off x="10160813" y="366674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49" name="Shape 247"/>
          <p:cNvSpPr/>
          <p:nvPr/>
        </p:nvSpPr>
        <p:spPr>
          <a:xfrm>
            <a:off x="10941710" y="3666744"/>
            <a:ext cx="844906" cy="182880"/>
          </a:xfrm>
          <a:prstGeom prst="rect">
            <a:avLst/>
          </a:prstGeom>
          <a:solidFill>
            <a:srgbClr val="F7F9FB"/>
          </a:solidFill>
          <a:ln w="6350">
            <a:solidFill>
              <a:srgbClr val="D3DCE5"/>
            </a:solidFill>
            <a:prstDash val="solid"/>
          </a:ln>
        </p:spPr>
      </p:sp>
      <p:sp>
        <p:nvSpPr>
          <p:cNvPr id="250" name="Text 248"/>
          <p:cNvSpPr txBox="1"/>
          <p:nvPr/>
        </p:nvSpPr>
        <p:spPr>
          <a:xfrm>
            <a:off x="11005718" y="3666744"/>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251" name="Shape 249"/>
          <p:cNvSpPr/>
          <p:nvPr/>
        </p:nvSpPr>
        <p:spPr>
          <a:xfrm>
            <a:off x="411480" y="3849624"/>
            <a:ext cx="2926080" cy="182880"/>
          </a:xfrm>
          <a:prstGeom prst="rect">
            <a:avLst/>
          </a:prstGeom>
          <a:solidFill>
            <a:srgbClr val="FFFFFF"/>
          </a:solidFill>
          <a:ln w="6350">
            <a:solidFill>
              <a:srgbClr val="D3DCE5"/>
            </a:solidFill>
            <a:prstDash val="solid"/>
          </a:ln>
        </p:spPr>
      </p:sp>
      <p:sp>
        <p:nvSpPr>
          <p:cNvPr id="252" name="Text 250"/>
          <p:cNvSpPr txBox="1"/>
          <p:nvPr/>
        </p:nvSpPr>
        <p:spPr>
          <a:xfrm>
            <a:off x="475488" y="3849624"/>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Total</a:t>
            </a:r>
            <a:endParaRPr lang="en-US" sz="800" dirty="0"/>
          </a:p>
        </p:txBody>
      </p:sp>
      <p:sp>
        <p:nvSpPr>
          <p:cNvPr id="253" name="Shape 251"/>
          <p:cNvSpPr/>
          <p:nvPr/>
        </p:nvSpPr>
        <p:spPr>
          <a:xfrm>
            <a:off x="3337560" y="3849624"/>
            <a:ext cx="844906" cy="182880"/>
          </a:xfrm>
          <a:prstGeom prst="rect">
            <a:avLst/>
          </a:prstGeom>
          <a:solidFill>
            <a:srgbClr val="FFFFFF"/>
          </a:solidFill>
          <a:ln w="6350">
            <a:solidFill>
              <a:srgbClr val="D3DCE5"/>
            </a:solidFill>
            <a:prstDash val="solid"/>
          </a:ln>
        </p:spPr>
      </p:sp>
      <p:sp>
        <p:nvSpPr>
          <p:cNvPr id="254" name="Text 252"/>
          <p:cNvSpPr txBox="1"/>
          <p:nvPr/>
        </p:nvSpPr>
        <p:spPr>
          <a:xfrm>
            <a:off x="3401568" y="3849624"/>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1,030</a:t>
            </a:r>
            <a:endParaRPr lang="en-US" sz="800" dirty="0"/>
          </a:p>
        </p:txBody>
      </p:sp>
      <p:sp>
        <p:nvSpPr>
          <p:cNvPr id="255" name="Shape 253"/>
          <p:cNvSpPr/>
          <p:nvPr/>
        </p:nvSpPr>
        <p:spPr>
          <a:xfrm>
            <a:off x="4182466" y="3849624"/>
            <a:ext cx="844906" cy="182880"/>
          </a:xfrm>
          <a:prstGeom prst="rect">
            <a:avLst/>
          </a:prstGeom>
          <a:solidFill>
            <a:srgbClr val="FFFFFF"/>
          </a:solidFill>
          <a:ln w="6350">
            <a:solidFill>
              <a:srgbClr val="D3DCE5"/>
            </a:solidFill>
            <a:prstDash val="solid"/>
          </a:ln>
        </p:spPr>
      </p:sp>
      <p:sp>
        <p:nvSpPr>
          <p:cNvPr id="256" name="Text 254"/>
          <p:cNvSpPr txBox="1"/>
          <p:nvPr/>
        </p:nvSpPr>
        <p:spPr>
          <a:xfrm>
            <a:off x="4246474" y="3849624"/>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1,050</a:t>
            </a:r>
            <a:endParaRPr lang="en-US" sz="800" dirty="0"/>
          </a:p>
        </p:txBody>
      </p:sp>
      <p:sp>
        <p:nvSpPr>
          <p:cNvPr id="257" name="Shape 255"/>
          <p:cNvSpPr/>
          <p:nvPr/>
        </p:nvSpPr>
        <p:spPr>
          <a:xfrm>
            <a:off x="5027371" y="3849624"/>
            <a:ext cx="844906" cy="182880"/>
          </a:xfrm>
          <a:prstGeom prst="rect">
            <a:avLst/>
          </a:prstGeom>
          <a:solidFill>
            <a:srgbClr val="FFFFFF"/>
          </a:solidFill>
          <a:ln w="6350">
            <a:solidFill>
              <a:srgbClr val="D3DCE5"/>
            </a:solidFill>
            <a:prstDash val="solid"/>
          </a:ln>
        </p:spPr>
      </p:sp>
      <p:sp>
        <p:nvSpPr>
          <p:cNvPr id="258" name="Text 256"/>
          <p:cNvSpPr txBox="1"/>
          <p:nvPr/>
        </p:nvSpPr>
        <p:spPr>
          <a:xfrm>
            <a:off x="5091379" y="3849624"/>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1,030</a:t>
            </a:r>
            <a:endParaRPr lang="en-US" sz="800" dirty="0"/>
          </a:p>
        </p:txBody>
      </p:sp>
      <p:sp>
        <p:nvSpPr>
          <p:cNvPr id="259" name="Shape 257"/>
          <p:cNvSpPr/>
          <p:nvPr/>
        </p:nvSpPr>
        <p:spPr>
          <a:xfrm>
            <a:off x="5872277" y="3849624"/>
            <a:ext cx="844906" cy="182880"/>
          </a:xfrm>
          <a:prstGeom prst="rect">
            <a:avLst/>
          </a:prstGeom>
          <a:solidFill>
            <a:srgbClr val="FFFFFF"/>
          </a:solidFill>
          <a:ln w="6350">
            <a:solidFill>
              <a:srgbClr val="D3DCE5"/>
            </a:solidFill>
            <a:prstDash val="solid"/>
          </a:ln>
        </p:spPr>
      </p:sp>
      <p:sp>
        <p:nvSpPr>
          <p:cNvPr id="260" name="Text 258"/>
          <p:cNvSpPr txBox="1"/>
          <p:nvPr/>
        </p:nvSpPr>
        <p:spPr>
          <a:xfrm>
            <a:off x="5936285" y="3849624"/>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990</a:t>
            </a:r>
            <a:endParaRPr lang="en-US" sz="800" dirty="0"/>
          </a:p>
        </p:txBody>
      </p:sp>
      <p:sp>
        <p:nvSpPr>
          <p:cNvPr id="261" name="Shape 259"/>
          <p:cNvSpPr/>
          <p:nvPr/>
        </p:nvSpPr>
        <p:spPr>
          <a:xfrm>
            <a:off x="6717182" y="3849624"/>
            <a:ext cx="844906" cy="182880"/>
          </a:xfrm>
          <a:prstGeom prst="rect">
            <a:avLst/>
          </a:prstGeom>
          <a:solidFill>
            <a:srgbClr val="FFFFFF"/>
          </a:solidFill>
          <a:ln w="6350">
            <a:solidFill>
              <a:srgbClr val="D3DCE5"/>
            </a:solidFill>
            <a:prstDash val="solid"/>
          </a:ln>
        </p:spPr>
      </p:sp>
      <p:sp>
        <p:nvSpPr>
          <p:cNvPr id="262" name="Text 260"/>
          <p:cNvSpPr txBox="1"/>
          <p:nvPr/>
        </p:nvSpPr>
        <p:spPr>
          <a:xfrm>
            <a:off x="6781190" y="3849624"/>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980</a:t>
            </a:r>
            <a:endParaRPr lang="en-US" sz="800" dirty="0"/>
          </a:p>
        </p:txBody>
      </p:sp>
      <p:sp>
        <p:nvSpPr>
          <p:cNvPr id="263" name="Shape 261"/>
          <p:cNvSpPr/>
          <p:nvPr/>
        </p:nvSpPr>
        <p:spPr>
          <a:xfrm>
            <a:off x="7562088" y="3849624"/>
            <a:ext cx="844906" cy="182880"/>
          </a:xfrm>
          <a:prstGeom prst="rect">
            <a:avLst/>
          </a:prstGeom>
          <a:solidFill>
            <a:srgbClr val="FFFFFF"/>
          </a:solidFill>
          <a:ln w="6350">
            <a:solidFill>
              <a:srgbClr val="D3DCE5"/>
            </a:solidFill>
            <a:prstDash val="solid"/>
          </a:ln>
        </p:spPr>
      </p:sp>
      <p:sp>
        <p:nvSpPr>
          <p:cNvPr id="264" name="Text 262"/>
          <p:cNvSpPr txBox="1"/>
          <p:nvPr/>
        </p:nvSpPr>
        <p:spPr>
          <a:xfrm>
            <a:off x="7626096" y="3849624"/>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1,000</a:t>
            </a:r>
            <a:endParaRPr lang="en-US" sz="800" dirty="0"/>
          </a:p>
        </p:txBody>
      </p:sp>
      <p:sp>
        <p:nvSpPr>
          <p:cNvPr id="265" name="Shape 263"/>
          <p:cNvSpPr/>
          <p:nvPr/>
        </p:nvSpPr>
        <p:spPr>
          <a:xfrm>
            <a:off x="8406994" y="3849624"/>
            <a:ext cx="844906" cy="182880"/>
          </a:xfrm>
          <a:prstGeom prst="rect">
            <a:avLst/>
          </a:prstGeom>
          <a:solidFill>
            <a:srgbClr val="FFFFFF"/>
          </a:solidFill>
          <a:ln w="6350">
            <a:solidFill>
              <a:srgbClr val="D3DCE5"/>
            </a:solidFill>
            <a:prstDash val="solid"/>
          </a:ln>
        </p:spPr>
      </p:sp>
      <p:sp>
        <p:nvSpPr>
          <p:cNvPr id="266" name="Text 264"/>
          <p:cNvSpPr txBox="1"/>
          <p:nvPr/>
        </p:nvSpPr>
        <p:spPr>
          <a:xfrm>
            <a:off x="8471002" y="3849624"/>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1,000</a:t>
            </a:r>
            <a:endParaRPr lang="en-US" sz="800" dirty="0"/>
          </a:p>
        </p:txBody>
      </p:sp>
      <p:sp>
        <p:nvSpPr>
          <p:cNvPr id="267" name="Shape 265"/>
          <p:cNvSpPr/>
          <p:nvPr/>
        </p:nvSpPr>
        <p:spPr>
          <a:xfrm>
            <a:off x="9251899" y="3849624"/>
            <a:ext cx="844906" cy="182880"/>
          </a:xfrm>
          <a:prstGeom prst="rect">
            <a:avLst/>
          </a:prstGeom>
          <a:solidFill>
            <a:srgbClr val="FFFFFF"/>
          </a:solidFill>
          <a:ln w="6350">
            <a:solidFill>
              <a:srgbClr val="D3DCE5"/>
            </a:solidFill>
            <a:prstDash val="solid"/>
          </a:ln>
        </p:spPr>
      </p:sp>
      <p:sp>
        <p:nvSpPr>
          <p:cNvPr id="268" name="Text 266"/>
          <p:cNvSpPr txBox="1"/>
          <p:nvPr/>
        </p:nvSpPr>
        <p:spPr>
          <a:xfrm>
            <a:off x="9315907" y="3849624"/>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1,010</a:t>
            </a:r>
            <a:endParaRPr lang="en-US" sz="800" dirty="0"/>
          </a:p>
        </p:txBody>
      </p:sp>
      <p:sp>
        <p:nvSpPr>
          <p:cNvPr id="269" name="Shape 267"/>
          <p:cNvSpPr/>
          <p:nvPr/>
        </p:nvSpPr>
        <p:spPr>
          <a:xfrm>
            <a:off x="10096805" y="3849624"/>
            <a:ext cx="844906" cy="182880"/>
          </a:xfrm>
          <a:prstGeom prst="rect">
            <a:avLst/>
          </a:prstGeom>
          <a:solidFill>
            <a:srgbClr val="FFFFFF"/>
          </a:solidFill>
          <a:ln w="6350">
            <a:solidFill>
              <a:srgbClr val="D3DCE5"/>
            </a:solidFill>
            <a:prstDash val="solid"/>
          </a:ln>
        </p:spPr>
      </p:sp>
      <p:sp>
        <p:nvSpPr>
          <p:cNvPr id="270" name="Text 268"/>
          <p:cNvSpPr txBox="1"/>
          <p:nvPr/>
        </p:nvSpPr>
        <p:spPr>
          <a:xfrm>
            <a:off x="10160813" y="3849624"/>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1,020</a:t>
            </a:r>
            <a:endParaRPr lang="en-US" sz="800" dirty="0"/>
          </a:p>
        </p:txBody>
      </p:sp>
      <p:sp>
        <p:nvSpPr>
          <p:cNvPr id="271" name="Shape 269"/>
          <p:cNvSpPr/>
          <p:nvPr/>
        </p:nvSpPr>
        <p:spPr>
          <a:xfrm>
            <a:off x="10941710" y="3849624"/>
            <a:ext cx="844906" cy="182880"/>
          </a:xfrm>
          <a:prstGeom prst="rect">
            <a:avLst/>
          </a:prstGeom>
          <a:solidFill>
            <a:srgbClr val="FFFFFF"/>
          </a:solidFill>
          <a:ln w="6350">
            <a:solidFill>
              <a:srgbClr val="D3DCE5"/>
            </a:solidFill>
            <a:prstDash val="solid"/>
          </a:ln>
        </p:spPr>
      </p:sp>
      <p:sp>
        <p:nvSpPr>
          <p:cNvPr id="272" name="Text 270"/>
          <p:cNvSpPr txBox="1"/>
          <p:nvPr/>
        </p:nvSpPr>
        <p:spPr>
          <a:xfrm>
            <a:off x="11005718" y="3849624"/>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1,020</a:t>
            </a:r>
            <a:endParaRPr lang="en-US" sz="800" dirty="0"/>
          </a:p>
        </p:txBody>
      </p:sp>
      <p:sp>
        <p:nvSpPr>
          <p:cNvPr id="273" name="Text 271"/>
          <p:cNvSpPr txBox="1"/>
          <p:nvPr/>
        </p:nvSpPr>
        <p:spPr>
          <a:xfrm>
            <a:off x="411480" y="4114800"/>
            <a:ext cx="2743200" cy="219456"/>
          </a:xfrm>
          <a:prstGeom prst="rect">
            <a:avLst/>
          </a:prstGeom>
          <a:noFill/>
          <a:ln/>
        </p:spPr>
        <p:txBody>
          <a:bodyPr wrap="square" lIns="0" tIns="0" rIns="0" bIns="0" rtlCol="0" anchor="t"/>
          <a:lstStyle/>
          <a:p>
            <a:pPr indent="0" marL="0">
              <a:buNone/>
            </a:pPr>
            <a:r>
              <a:rPr lang="en-US" sz="950" b="1" dirty="0">
                <a:solidFill>
                  <a:srgbClr val="1C3A5E"/>
                </a:solidFill>
                <a:latin typeface="Calibri" pitchFamily="34" charset="0"/>
                <a:ea typeface="Calibri" pitchFamily="34" charset="-122"/>
                <a:cs typeface="Calibri" pitchFamily="34" charset="-120"/>
              </a:rPr>
              <a:t>BULL CASE</a:t>
            </a:r>
            <a:endParaRPr lang="en-US" sz="950" dirty="0"/>
          </a:p>
        </p:txBody>
      </p:sp>
      <p:sp>
        <p:nvSpPr>
          <p:cNvPr id="274" name="Shape 272"/>
          <p:cNvSpPr/>
          <p:nvPr/>
        </p:nvSpPr>
        <p:spPr>
          <a:xfrm>
            <a:off x="411480" y="4306824"/>
            <a:ext cx="2926080" cy="219456"/>
          </a:xfrm>
          <a:prstGeom prst="rect">
            <a:avLst/>
          </a:prstGeom>
          <a:solidFill>
            <a:srgbClr val="10233A"/>
          </a:solidFill>
          <a:ln/>
        </p:spPr>
      </p:sp>
      <p:sp>
        <p:nvSpPr>
          <p:cNvPr id="275" name="Text 273"/>
          <p:cNvSpPr txBox="1"/>
          <p:nvPr/>
        </p:nvSpPr>
        <p:spPr>
          <a:xfrm>
            <a:off x="475488" y="4306824"/>
            <a:ext cx="2798064" cy="219456"/>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kt of concentrate</a:t>
            </a:r>
            <a:endParaRPr lang="en-US" sz="800" dirty="0"/>
          </a:p>
        </p:txBody>
      </p:sp>
      <p:sp>
        <p:nvSpPr>
          <p:cNvPr id="276" name="Shape 274"/>
          <p:cNvSpPr/>
          <p:nvPr/>
        </p:nvSpPr>
        <p:spPr>
          <a:xfrm>
            <a:off x="3337560" y="4306824"/>
            <a:ext cx="844906" cy="219456"/>
          </a:xfrm>
          <a:prstGeom prst="rect">
            <a:avLst/>
          </a:prstGeom>
          <a:solidFill>
            <a:srgbClr val="10233A"/>
          </a:solidFill>
          <a:ln/>
        </p:spPr>
      </p:sp>
      <p:sp>
        <p:nvSpPr>
          <p:cNvPr id="277" name="Text 275"/>
          <p:cNvSpPr txBox="1"/>
          <p:nvPr/>
        </p:nvSpPr>
        <p:spPr>
          <a:xfrm>
            <a:off x="3401568" y="4306824"/>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FY27</a:t>
            </a:r>
            <a:endParaRPr lang="en-US" sz="800" dirty="0"/>
          </a:p>
        </p:txBody>
      </p:sp>
      <p:sp>
        <p:nvSpPr>
          <p:cNvPr id="278" name="Shape 276"/>
          <p:cNvSpPr/>
          <p:nvPr/>
        </p:nvSpPr>
        <p:spPr>
          <a:xfrm>
            <a:off x="4182466" y="4306824"/>
            <a:ext cx="844906" cy="219456"/>
          </a:xfrm>
          <a:prstGeom prst="rect">
            <a:avLst/>
          </a:prstGeom>
          <a:solidFill>
            <a:srgbClr val="10233A"/>
          </a:solidFill>
          <a:ln/>
        </p:spPr>
      </p:sp>
      <p:sp>
        <p:nvSpPr>
          <p:cNvPr id="279" name="Text 277"/>
          <p:cNvSpPr txBox="1"/>
          <p:nvPr/>
        </p:nvSpPr>
        <p:spPr>
          <a:xfrm>
            <a:off x="4246474" y="4306824"/>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FY28</a:t>
            </a:r>
            <a:endParaRPr lang="en-US" sz="800" dirty="0"/>
          </a:p>
        </p:txBody>
      </p:sp>
      <p:sp>
        <p:nvSpPr>
          <p:cNvPr id="280" name="Shape 278"/>
          <p:cNvSpPr/>
          <p:nvPr/>
        </p:nvSpPr>
        <p:spPr>
          <a:xfrm>
            <a:off x="5027371" y="4306824"/>
            <a:ext cx="844906" cy="219456"/>
          </a:xfrm>
          <a:prstGeom prst="rect">
            <a:avLst/>
          </a:prstGeom>
          <a:solidFill>
            <a:srgbClr val="10233A"/>
          </a:solidFill>
          <a:ln/>
        </p:spPr>
      </p:sp>
      <p:sp>
        <p:nvSpPr>
          <p:cNvPr id="281" name="Text 279"/>
          <p:cNvSpPr txBox="1"/>
          <p:nvPr/>
        </p:nvSpPr>
        <p:spPr>
          <a:xfrm>
            <a:off x="5091379" y="4306824"/>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FY29</a:t>
            </a:r>
            <a:endParaRPr lang="en-US" sz="800" dirty="0"/>
          </a:p>
        </p:txBody>
      </p:sp>
      <p:sp>
        <p:nvSpPr>
          <p:cNvPr id="282" name="Shape 280"/>
          <p:cNvSpPr/>
          <p:nvPr/>
        </p:nvSpPr>
        <p:spPr>
          <a:xfrm>
            <a:off x="5872277" y="4306824"/>
            <a:ext cx="844906" cy="219456"/>
          </a:xfrm>
          <a:prstGeom prst="rect">
            <a:avLst/>
          </a:prstGeom>
          <a:solidFill>
            <a:srgbClr val="10233A"/>
          </a:solidFill>
          <a:ln/>
        </p:spPr>
      </p:sp>
      <p:sp>
        <p:nvSpPr>
          <p:cNvPr id="283" name="Text 281"/>
          <p:cNvSpPr txBox="1"/>
          <p:nvPr/>
        </p:nvSpPr>
        <p:spPr>
          <a:xfrm>
            <a:off x="5936285" y="4306824"/>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FY30</a:t>
            </a:r>
            <a:endParaRPr lang="en-US" sz="800" dirty="0"/>
          </a:p>
        </p:txBody>
      </p:sp>
      <p:sp>
        <p:nvSpPr>
          <p:cNvPr id="284" name="Shape 282"/>
          <p:cNvSpPr/>
          <p:nvPr/>
        </p:nvSpPr>
        <p:spPr>
          <a:xfrm>
            <a:off x="6717182" y="4306824"/>
            <a:ext cx="844906" cy="219456"/>
          </a:xfrm>
          <a:prstGeom prst="rect">
            <a:avLst/>
          </a:prstGeom>
          <a:solidFill>
            <a:srgbClr val="10233A"/>
          </a:solidFill>
          <a:ln/>
        </p:spPr>
      </p:sp>
      <p:sp>
        <p:nvSpPr>
          <p:cNvPr id="285" name="Text 283"/>
          <p:cNvSpPr txBox="1"/>
          <p:nvPr/>
        </p:nvSpPr>
        <p:spPr>
          <a:xfrm>
            <a:off x="6781190" y="4306824"/>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FY31</a:t>
            </a:r>
            <a:endParaRPr lang="en-US" sz="800" dirty="0"/>
          </a:p>
        </p:txBody>
      </p:sp>
      <p:sp>
        <p:nvSpPr>
          <p:cNvPr id="286" name="Shape 284"/>
          <p:cNvSpPr/>
          <p:nvPr/>
        </p:nvSpPr>
        <p:spPr>
          <a:xfrm>
            <a:off x="7562088" y="4306824"/>
            <a:ext cx="844906" cy="219456"/>
          </a:xfrm>
          <a:prstGeom prst="rect">
            <a:avLst/>
          </a:prstGeom>
          <a:solidFill>
            <a:srgbClr val="10233A"/>
          </a:solidFill>
          <a:ln/>
        </p:spPr>
      </p:sp>
      <p:sp>
        <p:nvSpPr>
          <p:cNvPr id="287" name="Text 285"/>
          <p:cNvSpPr txBox="1"/>
          <p:nvPr/>
        </p:nvSpPr>
        <p:spPr>
          <a:xfrm>
            <a:off x="7626096" y="4306824"/>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FY32</a:t>
            </a:r>
            <a:endParaRPr lang="en-US" sz="800" dirty="0"/>
          </a:p>
        </p:txBody>
      </p:sp>
      <p:sp>
        <p:nvSpPr>
          <p:cNvPr id="288" name="Shape 286"/>
          <p:cNvSpPr/>
          <p:nvPr/>
        </p:nvSpPr>
        <p:spPr>
          <a:xfrm>
            <a:off x="8406994" y="4306824"/>
            <a:ext cx="844906" cy="219456"/>
          </a:xfrm>
          <a:prstGeom prst="rect">
            <a:avLst/>
          </a:prstGeom>
          <a:solidFill>
            <a:srgbClr val="10233A"/>
          </a:solidFill>
          <a:ln/>
        </p:spPr>
      </p:sp>
      <p:sp>
        <p:nvSpPr>
          <p:cNvPr id="289" name="Text 287"/>
          <p:cNvSpPr txBox="1"/>
          <p:nvPr/>
        </p:nvSpPr>
        <p:spPr>
          <a:xfrm>
            <a:off x="8471002" y="4306824"/>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FY33</a:t>
            </a:r>
            <a:endParaRPr lang="en-US" sz="800" dirty="0"/>
          </a:p>
        </p:txBody>
      </p:sp>
      <p:sp>
        <p:nvSpPr>
          <p:cNvPr id="290" name="Shape 288"/>
          <p:cNvSpPr/>
          <p:nvPr/>
        </p:nvSpPr>
        <p:spPr>
          <a:xfrm>
            <a:off x="9251899" y="4306824"/>
            <a:ext cx="844906" cy="219456"/>
          </a:xfrm>
          <a:prstGeom prst="rect">
            <a:avLst/>
          </a:prstGeom>
          <a:solidFill>
            <a:srgbClr val="10233A"/>
          </a:solidFill>
          <a:ln/>
        </p:spPr>
      </p:sp>
      <p:sp>
        <p:nvSpPr>
          <p:cNvPr id="291" name="Text 289"/>
          <p:cNvSpPr txBox="1"/>
          <p:nvPr/>
        </p:nvSpPr>
        <p:spPr>
          <a:xfrm>
            <a:off x="9315907" y="4306824"/>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FY34</a:t>
            </a:r>
            <a:endParaRPr lang="en-US" sz="800" dirty="0"/>
          </a:p>
        </p:txBody>
      </p:sp>
      <p:sp>
        <p:nvSpPr>
          <p:cNvPr id="292" name="Shape 290"/>
          <p:cNvSpPr/>
          <p:nvPr/>
        </p:nvSpPr>
        <p:spPr>
          <a:xfrm>
            <a:off x="10096805" y="4306824"/>
            <a:ext cx="844906" cy="219456"/>
          </a:xfrm>
          <a:prstGeom prst="rect">
            <a:avLst/>
          </a:prstGeom>
          <a:solidFill>
            <a:srgbClr val="10233A"/>
          </a:solidFill>
          <a:ln/>
        </p:spPr>
      </p:sp>
      <p:sp>
        <p:nvSpPr>
          <p:cNvPr id="293" name="Text 291"/>
          <p:cNvSpPr txBox="1"/>
          <p:nvPr/>
        </p:nvSpPr>
        <p:spPr>
          <a:xfrm>
            <a:off x="10160813" y="4306824"/>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FY35</a:t>
            </a:r>
            <a:endParaRPr lang="en-US" sz="800" dirty="0"/>
          </a:p>
        </p:txBody>
      </p:sp>
      <p:sp>
        <p:nvSpPr>
          <p:cNvPr id="294" name="Shape 292"/>
          <p:cNvSpPr/>
          <p:nvPr/>
        </p:nvSpPr>
        <p:spPr>
          <a:xfrm>
            <a:off x="10941710" y="4306824"/>
            <a:ext cx="844906" cy="219456"/>
          </a:xfrm>
          <a:prstGeom prst="rect">
            <a:avLst/>
          </a:prstGeom>
          <a:solidFill>
            <a:srgbClr val="10233A"/>
          </a:solidFill>
          <a:ln/>
        </p:spPr>
      </p:sp>
      <p:sp>
        <p:nvSpPr>
          <p:cNvPr id="295" name="Text 293"/>
          <p:cNvSpPr txBox="1"/>
          <p:nvPr/>
        </p:nvSpPr>
        <p:spPr>
          <a:xfrm>
            <a:off x="11005718" y="4306824"/>
            <a:ext cx="716890" cy="219456"/>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FY36</a:t>
            </a:r>
            <a:endParaRPr lang="en-US" sz="800" dirty="0"/>
          </a:p>
        </p:txBody>
      </p:sp>
      <p:sp>
        <p:nvSpPr>
          <p:cNvPr id="296" name="Shape 294"/>
          <p:cNvSpPr/>
          <p:nvPr/>
        </p:nvSpPr>
        <p:spPr>
          <a:xfrm>
            <a:off x="411480" y="4526280"/>
            <a:ext cx="2926080" cy="182880"/>
          </a:xfrm>
          <a:prstGeom prst="rect">
            <a:avLst/>
          </a:prstGeom>
          <a:solidFill>
            <a:srgbClr val="FFFFFF"/>
          </a:solidFill>
          <a:ln w="6350">
            <a:solidFill>
              <a:srgbClr val="D3DCE5"/>
            </a:solidFill>
            <a:prstDash val="solid"/>
          </a:ln>
        </p:spPr>
      </p:sp>
      <p:sp>
        <p:nvSpPr>
          <p:cNvPr id="297" name="Text 295"/>
          <p:cNvSpPr txBox="1"/>
          <p:nvPr/>
        </p:nvSpPr>
        <p:spPr>
          <a:xfrm>
            <a:off x="475488" y="4526280"/>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Pilgan plant</a:t>
            </a:r>
            <a:endParaRPr lang="en-US" sz="800" dirty="0"/>
          </a:p>
        </p:txBody>
      </p:sp>
      <p:sp>
        <p:nvSpPr>
          <p:cNvPr id="298" name="Shape 296"/>
          <p:cNvSpPr/>
          <p:nvPr/>
        </p:nvSpPr>
        <p:spPr>
          <a:xfrm>
            <a:off x="3337560" y="4526280"/>
            <a:ext cx="844906" cy="182880"/>
          </a:xfrm>
          <a:prstGeom prst="rect">
            <a:avLst/>
          </a:prstGeom>
          <a:solidFill>
            <a:srgbClr val="FFFFFF"/>
          </a:solidFill>
          <a:ln w="6350">
            <a:solidFill>
              <a:srgbClr val="D3DCE5"/>
            </a:solidFill>
            <a:prstDash val="solid"/>
          </a:ln>
        </p:spPr>
      </p:sp>
      <p:sp>
        <p:nvSpPr>
          <p:cNvPr id="299" name="Text 297"/>
          <p:cNvSpPr txBox="1"/>
          <p:nvPr/>
        </p:nvSpPr>
        <p:spPr>
          <a:xfrm>
            <a:off x="3401568" y="452628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920</a:t>
            </a:r>
            <a:endParaRPr lang="en-US" sz="800" dirty="0"/>
          </a:p>
        </p:txBody>
      </p:sp>
      <p:sp>
        <p:nvSpPr>
          <p:cNvPr id="300" name="Shape 298"/>
          <p:cNvSpPr/>
          <p:nvPr/>
        </p:nvSpPr>
        <p:spPr>
          <a:xfrm>
            <a:off x="4182466" y="4526280"/>
            <a:ext cx="844906" cy="182880"/>
          </a:xfrm>
          <a:prstGeom prst="rect">
            <a:avLst/>
          </a:prstGeom>
          <a:solidFill>
            <a:srgbClr val="FFFFFF"/>
          </a:solidFill>
          <a:ln w="6350">
            <a:solidFill>
              <a:srgbClr val="D3DCE5"/>
            </a:solidFill>
            <a:prstDash val="solid"/>
          </a:ln>
        </p:spPr>
      </p:sp>
      <p:sp>
        <p:nvSpPr>
          <p:cNvPr id="301" name="Text 299"/>
          <p:cNvSpPr txBox="1"/>
          <p:nvPr/>
        </p:nvSpPr>
        <p:spPr>
          <a:xfrm>
            <a:off x="4246474" y="452628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960</a:t>
            </a:r>
            <a:endParaRPr lang="en-US" sz="800" dirty="0"/>
          </a:p>
        </p:txBody>
      </p:sp>
      <p:sp>
        <p:nvSpPr>
          <p:cNvPr id="302" name="Shape 300"/>
          <p:cNvSpPr/>
          <p:nvPr/>
        </p:nvSpPr>
        <p:spPr>
          <a:xfrm>
            <a:off x="5027371" y="4526280"/>
            <a:ext cx="844906" cy="182880"/>
          </a:xfrm>
          <a:prstGeom prst="rect">
            <a:avLst/>
          </a:prstGeom>
          <a:solidFill>
            <a:srgbClr val="FFFFFF"/>
          </a:solidFill>
          <a:ln w="6350">
            <a:solidFill>
              <a:srgbClr val="D3DCE5"/>
            </a:solidFill>
            <a:prstDash val="solid"/>
          </a:ln>
        </p:spPr>
      </p:sp>
      <p:sp>
        <p:nvSpPr>
          <p:cNvPr id="303" name="Text 301"/>
          <p:cNvSpPr txBox="1"/>
          <p:nvPr/>
        </p:nvSpPr>
        <p:spPr>
          <a:xfrm>
            <a:off x="5091379" y="452628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970</a:t>
            </a:r>
            <a:endParaRPr lang="en-US" sz="800" dirty="0"/>
          </a:p>
        </p:txBody>
      </p:sp>
      <p:sp>
        <p:nvSpPr>
          <p:cNvPr id="304" name="Shape 302"/>
          <p:cNvSpPr/>
          <p:nvPr/>
        </p:nvSpPr>
        <p:spPr>
          <a:xfrm>
            <a:off x="5872277" y="4526280"/>
            <a:ext cx="844906" cy="182880"/>
          </a:xfrm>
          <a:prstGeom prst="rect">
            <a:avLst/>
          </a:prstGeom>
          <a:solidFill>
            <a:srgbClr val="FFFFFF"/>
          </a:solidFill>
          <a:ln w="6350">
            <a:solidFill>
              <a:srgbClr val="D3DCE5"/>
            </a:solidFill>
            <a:prstDash val="solid"/>
          </a:ln>
        </p:spPr>
      </p:sp>
      <p:sp>
        <p:nvSpPr>
          <p:cNvPr id="305" name="Text 303"/>
          <p:cNvSpPr txBox="1"/>
          <p:nvPr/>
        </p:nvSpPr>
        <p:spPr>
          <a:xfrm>
            <a:off x="5936285" y="452628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970</a:t>
            </a:r>
            <a:endParaRPr lang="en-US" sz="800" dirty="0"/>
          </a:p>
        </p:txBody>
      </p:sp>
      <p:sp>
        <p:nvSpPr>
          <p:cNvPr id="306" name="Shape 304"/>
          <p:cNvSpPr/>
          <p:nvPr/>
        </p:nvSpPr>
        <p:spPr>
          <a:xfrm>
            <a:off x="6717182" y="4526280"/>
            <a:ext cx="844906" cy="182880"/>
          </a:xfrm>
          <a:prstGeom prst="rect">
            <a:avLst/>
          </a:prstGeom>
          <a:solidFill>
            <a:srgbClr val="FFFFFF"/>
          </a:solidFill>
          <a:ln w="6350">
            <a:solidFill>
              <a:srgbClr val="D3DCE5"/>
            </a:solidFill>
            <a:prstDash val="solid"/>
          </a:ln>
        </p:spPr>
      </p:sp>
      <p:sp>
        <p:nvSpPr>
          <p:cNvPr id="307" name="Text 305"/>
          <p:cNvSpPr txBox="1"/>
          <p:nvPr/>
        </p:nvSpPr>
        <p:spPr>
          <a:xfrm>
            <a:off x="6781190" y="452628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970</a:t>
            </a:r>
            <a:endParaRPr lang="en-US" sz="800" dirty="0"/>
          </a:p>
        </p:txBody>
      </p:sp>
      <p:sp>
        <p:nvSpPr>
          <p:cNvPr id="308" name="Shape 306"/>
          <p:cNvSpPr/>
          <p:nvPr/>
        </p:nvSpPr>
        <p:spPr>
          <a:xfrm>
            <a:off x="7562088" y="4526280"/>
            <a:ext cx="844906" cy="182880"/>
          </a:xfrm>
          <a:prstGeom prst="rect">
            <a:avLst/>
          </a:prstGeom>
          <a:solidFill>
            <a:srgbClr val="FFFFFF"/>
          </a:solidFill>
          <a:ln w="6350">
            <a:solidFill>
              <a:srgbClr val="D3DCE5"/>
            </a:solidFill>
            <a:prstDash val="solid"/>
          </a:ln>
        </p:spPr>
      </p:sp>
      <p:sp>
        <p:nvSpPr>
          <p:cNvPr id="309" name="Text 307"/>
          <p:cNvSpPr txBox="1"/>
          <p:nvPr/>
        </p:nvSpPr>
        <p:spPr>
          <a:xfrm>
            <a:off x="7626096" y="452628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970</a:t>
            </a:r>
            <a:endParaRPr lang="en-US" sz="800" dirty="0"/>
          </a:p>
        </p:txBody>
      </p:sp>
      <p:sp>
        <p:nvSpPr>
          <p:cNvPr id="310" name="Shape 308"/>
          <p:cNvSpPr/>
          <p:nvPr/>
        </p:nvSpPr>
        <p:spPr>
          <a:xfrm>
            <a:off x="8406994" y="4526280"/>
            <a:ext cx="844906" cy="182880"/>
          </a:xfrm>
          <a:prstGeom prst="rect">
            <a:avLst/>
          </a:prstGeom>
          <a:solidFill>
            <a:srgbClr val="FFFFFF"/>
          </a:solidFill>
          <a:ln w="6350">
            <a:solidFill>
              <a:srgbClr val="D3DCE5"/>
            </a:solidFill>
            <a:prstDash val="solid"/>
          </a:ln>
        </p:spPr>
      </p:sp>
      <p:sp>
        <p:nvSpPr>
          <p:cNvPr id="311" name="Text 309"/>
          <p:cNvSpPr txBox="1"/>
          <p:nvPr/>
        </p:nvSpPr>
        <p:spPr>
          <a:xfrm>
            <a:off x="8471002" y="452628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970</a:t>
            </a:r>
            <a:endParaRPr lang="en-US" sz="800" dirty="0"/>
          </a:p>
        </p:txBody>
      </p:sp>
      <p:sp>
        <p:nvSpPr>
          <p:cNvPr id="312" name="Shape 310"/>
          <p:cNvSpPr/>
          <p:nvPr/>
        </p:nvSpPr>
        <p:spPr>
          <a:xfrm>
            <a:off x="9251899" y="4526280"/>
            <a:ext cx="844906" cy="182880"/>
          </a:xfrm>
          <a:prstGeom prst="rect">
            <a:avLst/>
          </a:prstGeom>
          <a:solidFill>
            <a:srgbClr val="FFFFFF"/>
          </a:solidFill>
          <a:ln w="6350">
            <a:solidFill>
              <a:srgbClr val="D3DCE5"/>
            </a:solidFill>
            <a:prstDash val="solid"/>
          </a:ln>
        </p:spPr>
      </p:sp>
      <p:sp>
        <p:nvSpPr>
          <p:cNvPr id="313" name="Text 311"/>
          <p:cNvSpPr txBox="1"/>
          <p:nvPr/>
        </p:nvSpPr>
        <p:spPr>
          <a:xfrm>
            <a:off x="9315907" y="452628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970</a:t>
            </a:r>
            <a:endParaRPr lang="en-US" sz="800" dirty="0"/>
          </a:p>
        </p:txBody>
      </p:sp>
      <p:sp>
        <p:nvSpPr>
          <p:cNvPr id="314" name="Shape 312"/>
          <p:cNvSpPr/>
          <p:nvPr/>
        </p:nvSpPr>
        <p:spPr>
          <a:xfrm>
            <a:off x="10096805" y="4526280"/>
            <a:ext cx="844906" cy="182880"/>
          </a:xfrm>
          <a:prstGeom prst="rect">
            <a:avLst/>
          </a:prstGeom>
          <a:solidFill>
            <a:srgbClr val="FFFFFF"/>
          </a:solidFill>
          <a:ln w="6350">
            <a:solidFill>
              <a:srgbClr val="D3DCE5"/>
            </a:solidFill>
            <a:prstDash val="solid"/>
          </a:ln>
        </p:spPr>
      </p:sp>
      <p:sp>
        <p:nvSpPr>
          <p:cNvPr id="315" name="Text 313"/>
          <p:cNvSpPr txBox="1"/>
          <p:nvPr/>
        </p:nvSpPr>
        <p:spPr>
          <a:xfrm>
            <a:off x="10160813" y="452628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970</a:t>
            </a:r>
            <a:endParaRPr lang="en-US" sz="800" dirty="0"/>
          </a:p>
        </p:txBody>
      </p:sp>
      <p:sp>
        <p:nvSpPr>
          <p:cNvPr id="316" name="Shape 314"/>
          <p:cNvSpPr/>
          <p:nvPr/>
        </p:nvSpPr>
        <p:spPr>
          <a:xfrm>
            <a:off x="10941710" y="4526280"/>
            <a:ext cx="844906" cy="182880"/>
          </a:xfrm>
          <a:prstGeom prst="rect">
            <a:avLst/>
          </a:prstGeom>
          <a:solidFill>
            <a:srgbClr val="FFFFFF"/>
          </a:solidFill>
          <a:ln w="6350">
            <a:solidFill>
              <a:srgbClr val="D3DCE5"/>
            </a:solidFill>
            <a:prstDash val="solid"/>
          </a:ln>
        </p:spPr>
      </p:sp>
      <p:sp>
        <p:nvSpPr>
          <p:cNvPr id="317" name="Text 315"/>
          <p:cNvSpPr txBox="1"/>
          <p:nvPr/>
        </p:nvSpPr>
        <p:spPr>
          <a:xfrm>
            <a:off x="11005718" y="452628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970</a:t>
            </a:r>
            <a:endParaRPr lang="en-US" sz="800" dirty="0"/>
          </a:p>
        </p:txBody>
      </p:sp>
      <p:sp>
        <p:nvSpPr>
          <p:cNvPr id="318" name="Shape 316"/>
          <p:cNvSpPr/>
          <p:nvPr/>
        </p:nvSpPr>
        <p:spPr>
          <a:xfrm>
            <a:off x="411480" y="4709160"/>
            <a:ext cx="2926080" cy="182880"/>
          </a:xfrm>
          <a:prstGeom prst="rect">
            <a:avLst/>
          </a:prstGeom>
          <a:solidFill>
            <a:srgbClr val="F7F9FB"/>
          </a:solidFill>
          <a:ln w="6350">
            <a:solidFill>
              <a:srgbClr val="D3DCE5"/>
            </a:solidFill>
            <a:prstDash val="solid"/>
          </a:ln>
        </p:spPr>
      </p:sp>
      <p:sp>
        <p:nvSpPr>
          <p:cNvPr id="319" name="Text 317"/>
          <p:cNvSpPr txBox="1"/>
          <p:nvPr/>
        </p:nvSpPr>
        <p:spPr>
          <a:xfrm>
            <a:off x="475488" y="4709160"/>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Ngungaju plant</a:t>
            </a:r>
            <a:endParaRPr lang="en-US" sz="800" dirty="0"/>
          </a:p>
        </p:txBody>
      </p:sp>
      <p:sp>
        <p:nvSpPr>
          <p:cNvPr id="320" name="Shape 318"/>
          <p:cNvSpPr/>
          <p:nvPr/>
        </p:nvSpPr>
        <p:spPr>
          <a:xfrm>
            <a:off x="3337560" y="4709160"/>
            <a:ext cx="844906" cy="182880"/>
          </a:xfrm>
          <a:prstGeom prst="rect">
            <a:avLst/>
          </a:prstGeom>
          <a:solidFill>
            <a:srgbClr val="F7F9FB"/>
          </a:solidFill>
          <a:ln w="6350">
            <a:solidFill>
              <a:srgbClr val="D3DCE5"/>
            </a:solidFill>
            <a:prstDash val="solid"/>
          </a:ln>
        </p:spPr>
      </p:sp>
      <p:sp>
        <p:nvSpPr>
          <p:cNvPr id="321" name="Text 319"/>
          <p:cNvSpPr txBox="1"/>
          <p:nvPr/>
        </p:nvSpPr>
        <p:spPr>
          <a:xfrm>
            <a:off x="3401568" y="470916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180</a:t>
            </a:r>
            <a:endParaRPr lang="en-US" sz="800" dirty="0"/>
          </a:p>
        </p:txBody>
      </p:sp>
      <p:sp>
        <p:nvSpPr>
          <p:cNvPr id="322" name="Shape 320"/>
          <p:cNvSpPr/>
          <p:nvPr/>
        </p:nvSpPr>
        <p:spPr>
          <a:xfrm>
            <a:off x="4182466" y="4709160"/>
            <a:ext cx="844906" cy="182880"/>
          </a:xfrm>
          <a:prstGeom prst="rect">
            <a:avLst/>
          </a:prstGeom>
          <a:solidFill>
            <a:srgbClr val="F7F9FB"/>
          </a:solidFill>
          <a:ln w="6350">
            <a:solidFill>
              <a:srgbClr val="D3DCE5"/>
            </a:solidFill>
            <a:prstDash val="solid"/>
          </a:ln>
        </p:spPr>
      </p:sp>
      <p:sp>
        <p:nvSpPr>
          <p:cNvPr id="323" name="Text 321"/>
          <p:cNvSpPr txBox="1"/>
          <p:nvPr/>
        </p:nvSpPr>
        <p:spPr>
          <a:xfrm>
            <a:off x="4246474" y="470916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205</a:t>
            </a:r>
            <a:endParaRPr lang="en-US" sz="800" dirty="0"/>
          </a:p>
        </p:txBody>
      </p:sp>
      <p:sp>
        <p:nvSpPr>
          <p:cNvPr id="324" name="Shape 322"/>
          <p:cNvSpPr/>
          <p:nvPr/>
        </p:nvSpPr>
        <p:spPr>
          <a:xfrm>
            <a:off x="5027371" y="4709160"/>
            <a:ext cx="844906" cy="182880"/>
          </a:xfrm>
          <a:prstGeom prst="rect">
            <a:avLst/>
          </a:prstGeom>
          <a:solidFill>
            <a:srgbClr val="F7F9FB"/>
          </a:solidFill>
          <a:ln w="6350">
            <a:solidFill>
              <a:srgbClr val="D3DCE5"/>
            </a:solidFill>
            <a:prstDash val="solid"/>
          </a:ln>
        </p:spPr>
      </p:sp>
      <p:sp>
        <p:nvSpPr>
          <p:cNvPr id="325" name="Text 323"/>
          <p:cNvSpPr txBox="1"/>
          <p:nvPr/>
        </p:nvSpPr>
        <p:spPr>
          <a:xfrm>
            <a:off x="5091379" y="470916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205</a:t>
            </a:r>
            <a:endParaRPr lang="en-US" sz="800" dirty="0"/>
          </a:p>
        </p:txBody>
      </p:sp>
      <p:sp>
        <p:nvSpPr>
          <p:cNvPr id="326" name="Shape 324"/>
          <p:cNvSpPr/>
          <p:nvPr/>
        </p:nvSpPr>
        <p:spPr>
          <a:xfrm>
            <a:off x="5872277" y="4709160"/>
            <a:ext cx="844906" cy="182880"/>
          </a:xfrm>
          <a:prstGeom prst="rect">
            <a:avLst/>
          </a:prstGeom>
          <a:solidFill>
            <a:srgbClr val="F7F9FB"/>
          </a:solidFill>
          <a:ln w="6350">
            <a:solidFill>
              <a:srgbClr val="D3DCE5"/>
            </a:solidFill>
            <a:prstDash val="solid"/>
          </a:ln>
        </p:spPr>
      </p:sp>
      <p:sp>
        <p:nvSpPr>
          <p:cNvPr id="327" name="Text 325"/>
          <p:cNvSpPr txBox="1"/>
          <p:nvPr/>
        </p:nvSpPr>
        <p:spPr>
          <a:xfrm>
            <a:off x="5936285" y="470916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205</a:t>
            </a:r>
            <a:endParaRPr lang="en-US" sz="800" dirty="0"/>
          </a:p>
        </p:txBody>
      </p:sp>
      <p:sp>
        <p:nvSpPr>
          <p:cNvPr id="328" name="Shape 326"/>
          <p:cNvSpPr/>
          <p:nvPr/>
        </p:nvSpPr>
        <p:spPr>
          <a:xfrm>
            <a:off x="6717182" y="4709160"/>
            <a:ext cx="844906" cy="182880"/>
          </a:xfrm>
          <a:prstGeom prst="rect">
            <a:avLst/>
          </a:prstGeom>
          <a:solidFill>
            <a:srgbClr val="F7F9FB"/>
          </a:solidFill>
          <a:ln w="6350">
            <a:solidFill>
              <a:srgbClr val="D3DCE5"/>
            </a:solidFill>
            <a:prstDash val="solid"/>
          </a:ln>
        </p:spPr>
      </p:sp>
      <p:sp>
        <p:nvSpPr>
          <p:cNvPr id="329" name="Text 327"/>
          <p:cNvSpPr txBox="1"/>
          <p:nvPr/>
        </p:nvSpPr>
        <p:spPr>
          <a:xfrm>
            <a:off x="6781190" y="470916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205</a:t>
            </a:r>
            <a:endParaRPr lang="en-US" sz="800" dirty="0"/>
          </a:p>
        </p:txBody>
      </p:sp>
      <p:sp>
        <p:nvSpPr>
          <p:cNvPr id="330" name="Shape 328"/>
          <p:cNvSpPr/>
          <p:nvPr/>
        </p:nvSpPr>
        <p:spPr>
          <a:xfrm>
            <a:off x="7562088" y="4709160"/>
            <a:ext cx="844906" cy="182880"/>
          </a:xfrm>
          <a:prstGeom prst="rect">
            <a:avLst/>
          </a:prstGeom>
          <a:solidFill>
            <a:srgbClr val="F7F9FB"/>
          </a:solidFill>
          <a:ln w="6350">
            <a:solidFill>
              <a:srgbClr val="D3DCE5"/>
            </a:solidFill>
            <a:prstDash val="solid"/>
          </a:ln>
        </p:spPr>
      </p:sp>
      <p:sp>
        <p:nvSpPr>
          <p:cNvPr id="331" name="Text 329"/>
          <p:cNvSpPr txBox="1"/>
          <p:nvPr/>
        </p:nvSpPr>
        <p:spPr>
          <a:xfrm>
            <a:off x="7626096" y="470916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205</a:t>
            </a:r>
            <a:endParaRPr lang="en-US" sz="800" dirty="0"/>
          </a:p>
        </p:txBody>
      </p:sp>
      <p:sp>
        <p:nvSpPr>
          <p:cNvPr id="332" name="Shape 330"/>
          <p:cNvSpPr/>
          <p:nvPr/>
        </p:nvSpPr>
        <p:spPr>
          <a:xfrm>
            <a:off x="8406994" y="4709160"/>
            <a:ext cx="844906" cy="182880"/>
          </a:xfrm>
          <a:prstGeom prst="rect">
            <a:avLst/>
          </a:prstGeom>
          <a:solidFill>
            <a:srgbClr val="F7F9FB"/>
          </a:solidFill>
          <a:ln w="6350">
            <a:solidFill>
              <a:srgbClr val="D3DCE5"/>
            </a:solidFill>
            <a:prstDash val="solid"/>
          </a:ln>
        </p:spPr>
      </p:sp>
      <p:sp>
        <p:nvSpPr>
          <p:cNvPr id="333" name="Text 331"/>
          <p:cNvSpPr txBox="1"/>
          <p:nvPr/>
        </p:nvSpPr>
        <p:spPr>
          <a:xfrm>
            <a:off x="8471002" y="470916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205</a:t>
            </a:r>
            <a:endParaRPr lang="en-US" sz="800" dirty="0"/>
          </a:p>
        </p:txBody>
      </p:sp>
      <p:sp>
        <p:nvSpPr>
          <p:cNvPr id="334" name="Shape 332"/>
          <p:cNvSpPr/>
          <p:nvPr/>
        </p:nvSpPr>
        <p:spPr>
          <a:xfrm>
            <a:off x="9251899" y="4709160"/>
            <a:ext cx="844906" cy="182880"/>
          </a:xfrm>
          <a:prstGeom prst="rect">
            <a:avLst/>
          </a:prstGeom>
          <a:solidFill>
            <a:srgbClr val="F7F9FB"/>
          </a:solidFill>
          <a:ln w="6350">
            <a:solidFill>
              <a:srgbClr val="D3DCE5"/>
            </a:solidFill>
            <a:prstDash val="solid"/>
          </a:ln>
        </p:spPr>
      </p:sp>
      <p:sp>
        <p:nvSpPr>
          <p:cNvPr id="335" name="Text 333"/>
          <p:cNvSpPr txBox="1"/>
          <p:nvPr/>
        </p:nvSpPr>
        <p:spPr>
          <a:xfrm>
            <a:off x="9315907" y="470916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205</a:t>
            </a:r>
            <a:endParaRPr lang="en-US" sz="800" dirty="0"/>
          </a:p>
        </p:txBody>
      </p:sp>
      <p:sp>
        <p:nvSpPr>
          <p:cNvPr id="336" name="Shape 334"/>
          <p:cNvSpPr/>
          <p:nvPr/>
        </p:nvSpPr>
        <p:spPr>
          <a:xfrm>
            <a:off x="10096805" y="4709160"/>
            <a:ext cx="844906" cy="182880"/>
          </a:xfrm>
          <a:prstGeom prst="rect">
            <a:avLst/>
          </a:prstGeom>
          <a:solidFill>
            <a:srgbClr val="F7F9FB"/>
          </a:solidFill>
          <a:ln w="6350">
            <a:solidFill>
              <a:srgbClr val="D3DCE5"/>
            </a:solidFill>
            <a:prstDash val="solid"/>
          </a:ln>
        </p:spPr>
      </p:sp>
      <p:sp>
        <p:nvSpPr>
          <p:cNvPr id="337" name="Text 335"/>
          <p:cNvSpPr txBox="1"/>
          <p:nvPr/>
        </p:nvSpPr>
        <p:spPr>
          <a:xfrm>
            <a:off x="10160813" y="470916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205</a:t>
            </a:r>
            <a:endParaRPr lang="en-US" sz="800" dirty="0"/>
          </a:p>
        </p:txBody>
      </p:sp>
      <p:sp>
        <p:nvSpPr>
          <p:cNvPr id="338" name="Shape 336"/>
          <p:cNvSpPr/>
          <p:nvPr/>
        </p:nvSpPr>
        <p:spPr>
          <a:xfrm>
            <a:off x="10941710" y="4709160"/>
            <a:ext cx="844906" cy="182880"/>
          </a:xfrm>
          <a:prstGeom prst="rect">
            <a:avLst/>
          </a:prstGeom>
          <a:solidFill>
            <a:srgbClr val="F7F9FB"/>
          </a:solidFill>
          <a:ln w="6350">
            <a:solidFill>
              <a:srgbClr val="D3DCE5"/>
            </a:solidFill>
            <a:prstDash val="solid"/>
          </a:ln>
        </p:spPr>
      </p:sp>
      <p:sp>
        <p:nvSpPr>
          <p:cNvPr id="339" name="Text 337"/>
          <p:cNvSpPr txBox="1"/>
          <p:nvPr/>
        </p:nvSpPr>
        <p:spPr>
          <a:xfrm>
            <a:off x="11005718" y="470916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205</a:t>
            </a:r>
            <a:endParaRPr lang="en-US" sz="800" dirty="0"/>
          </a:p>
        </p:txBody>
      </p:sp>
      <p:sp>
        <p:nvSpPr>
          <p:cNvPr id="340" name="Shape 338"/>
          <p:cNvSpPr/>
          <p:nvPr/>
        </p:nvSpPr>
        <p:spPr>
          <a:xfrm>
            <a:off x="411480" y="4892040"/>
            <a:ext cx="2926080" cy="182880"/>
          </a:xfrm>
          <a:prstGeom prst="rect">
            <a:avLst/>
          </a:prstGeom>
          <a:solidFill>
            <a:srgbClr val="FFFFFF"/>
          </a:solidFill>
          <a:ln w="6350">
            <a:solidFill>
              <a:srgbClr val="D3DCE5"/>
            </a:solidFill>
            <a:prstDash val="solid"/>
          </a:ln>
        </p:spPr>
      </p:sp>
      <p:sp>
        <p:nvSpPr>
          <p:cNvPr id="341" name="Text 339"/>
          <p:cNvSpPr txBox="1"/>
          <p:nvPr/>
        </p:nvSpPr>
        <p:spPr>
          <a:xfrm>
            <a:off x="475488" y="4892040"/>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P2000 increment</a:t>
            </a:r>
            <a:endParaRPr lang="en-US" sz="800" dirty="0"/>
          </a:p>
        </p:txBody>
      </p:sp>
      <p:sp>
        <p:nvSpPr>
          <p:cNvPr id="342" name="Shape 340"/>
          <p:cNvSpPr/>
          <p:nvPr/>
        </p:nvSpPr>
        <p:spPr>
          <a:xfrm>
            <a:off x="3337560" y="4892040"/>
            <a:ext cx="844906" cy="182880"/>
          </a:xfrm>
          <a:prstGeom prst="rect">
            <a:avLst/>
          </a:prstGeom>
          <a:solidFill>
            <a:srgbClr val="FFFFFF"/>
          </a:solidFill>
          <a:ln w="6350">
            <a:solidFill>
              <a:srgbClr val="D3DCE5"/>
            </a:solidFill>
            <a:prstDash val="solid"/>
          </a:ln>
        </p:spPr>
      </p:sp>
      <p:sp>
        <p:nvSpPr>
          <p:cNvPr id="343" name="Text 341"/>
          <p:cNvSpPr txBox="1"/>
          <p:nvPr/>
        </p:nvSpPr>
        <p:spPr>
          <a:xfrm>
            <a:off x="3401568" y="489204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344" name="Shape 342"/>
          <p:cNvSpPr/>
          <p:nvPr/>
        </p:nvSpPr>
        <p:spPr>
          <a:xfrm>
            <a:off x="4182466" y="4892040"/>
            <a:ext cx="844906" cy="182880"/>
          </a:xfrm>
          <a:prstGeom prst="rect">
            <a:avLst/>
          </a:prstGeom>
          <a:solidFill>
            <a:srgbClr val="FFFFFF"/>
          </a:solidFill>
          <a:ln w="6350">
            <a:solidFill>
              <a:srgbClr val="D3DCE5"/>
            </a:solidFill>
            <a:prstDash val="solid"/>
          </a:ln>
        </p:spPr>
      </p:sp>
      <p:sp>
        <p:nvSpPr>
          <p:cNvPr id="345" name="Text 343"/>
          <p:cNvSpPr txBox="1"/>
          <p:nvPr/>
        </p:nvSpPr>
        <p:spPr>
          <a:xfrm>
            <a:off x="4246474" y="489204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346" name="Shape 344"/>
          <p:cNvSpPr/>
          <p:nvPr/>
        </p:nvSpPr>
        <p:spPr>
          <a:xfrm>
            <a:off x="5027371" y="4892040"/>
            <a:ext cx="844906" cy="182880"/>
          </a:xfrm>
          <a:prstGeom prst="rect">
            <a:avLst/>
          </a:prstGeom>
          <a:solidFill>
            <a:srgbClr val="FFFFFF"/>
          </a:solidFill>
          <a:ln w="6350">
            <a:solidFill>
              <a:srgbClr val="D3DCE5"/>
            </a:solidFill>
            <a:prstDash val="solid"/>
          </a:ln>
        </p:spPr>
      </p:sp>
      <p:sp>
        <p:nvSpPr>
          <p:cNvPr id="347" name="Text 345"/>
          <p:cNvSpPr txBox="1"/>
          <p:nvPr/>
        </p:nvSpPr>
        <p:spPr>
          <a:xfrm>
            <a:off x="5091379" y="489204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120</a:t>
            </a:r>
            <a:endParaRPr lang="en-US" sz="800" dirty="0"/>
          </a:p>
        </p:txBody>
      </p:sp>
      <p:sp>
        <p:nvSpPr>
          <p:cNvPr id="348" name="Shape 346"/>
          <p:cNvSpPr/>
          <p:nvPr/>
        </p:nvSpPr>
        <p:spPr>
          <a:xfrm>
            <a:off x="5872277" y="4892040"/>
            <a:ext cx="844906" cy="182880"/>
          </a:xfrm>
          <a:prstGeom prst="rect">
            <a:avLst/>
          </a:prstGeom>
          <a:solidFill>
            <a:srgbClr val="FFFFFF"/>
          </a:solidFill>
          <a:ln w="6350">
            <a:solidFill>
              <a:srgbClr val="D3DCE5"/>
            </a:solidFill>
            <a:prstDash val="solid"/>
          </a:ln>
        </p:spPr>
      </p:sp>
      <p:sp>
        <p:nvSpPr>
          <p:cNvPr id="349" name="Text 347"/>
          <p:cNvSpPr txBox="1"/>
          <p:nvPr/>
        </p:nvSpPr>
        <p:spPr>
          <a:xfrm>
            <a:off x="5936285" y="489204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450</a:t>
            </a:r>
            <a:endParaRPr lang="en-US" sz="800" dirty="0"/>
          </a:p>
        </p:txBody>
      </p:sp>
      <p:sp>
        <p:nvSpPr>
          <p:cNvPr id="350" name="Shape 348"/>
          <p:cNvSpPr/>
          <p:nvPr/>
        </p:nvSpPr>
        <p:spPr>
          <a:xfrm>
            <a:off x="6717182" y="4892040"/>
            <a:ext cx="844906" cy="182880"/>
          </a:xfrm>
          <a:prstGeom prst="rect">
            <a:avLst/>
          </a:prstGeom>
          <a:solidFill>
            <a:srgbClr val="FFFFFF"/>
          </a:solidFill>
          <a:ln w="6350">
            <a:solidFill>
              <a:srgbClr val="D3DCE5"/>
            </a:solidFill>
            <a:prstDash val="solid"/>
          </a:ln>
        </p:spPr>
      </p:sp>
      <p:sp>
        <p:nvSpPr>
          <p:cNvPr id="351" name="Text 349"/>
          <p:cNvSpPr txBox="1"/>
          <p:nvPr/>
        </p:nvSpPr>
        <p:spPr>
          <a:xfrm>
            <a:off x="6781190" y="489204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780</a:t>
            </a:r>
            <a:endParaRPr lang="en-US" sz="800" dirty="0"/>
          </a:p>
        </p:txBody>
      </p:sp>
      <p:sp>
        <p:nvSpPr>
          <p:cNvPr id="352" name="Shape 350"/>
          <p:cNvSpPr/>
          <p:nvPr/>
        </p:nvSpPr>
        <p:spPr>
          <a:xfrm>
            <a:off x="7562088" y="4892040"/>
            <a:ext cx="844906" cy="182880"/>
          </a:xfrm>
          <a:prstGeom prst="rect">
            <a:avLst/>
          </a:prstGeom>
          <a:solidFill>
            <a:srgbClr val="FFFFFF"/>
          </a:solidFill>
          <a:ln w="6350">
            <a:solidFill>
              <a:srgbClr val="D3DCE5"/>
            </a:solidFill>
            <a:prstDash val="solid"/>
          </a:ln>
        </p:spPr>
      </p:sp>
      <p:sp>
        <p:nvSpPr>
          <p:cNvPr id="353" name="Text 351"/>
          <p:cNvSpPr txBox="1"/>
          <p:nvPr/>
        </p:nvSpPr>
        <p:spPr>
          <a:xfrm>
            <a:off x="7626096" y="489204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925</a:t>
            </a:r>
            <a:endParaRPr lang="en-US" sz="800" dirty="0"/>
          </a:p>
        </p:txBody>
      </p:sp>
      <p:sp>
        <p:nvSpPr>
          <p:cNvPr id="354" name="Shape 352"/>
          <p:cNvSpPr/>
          <p:nvPr/>
        </p:nvSpPr>
        <p:spPr>
          <a:xfrm>
            <a:off x="8406994" y="4892040"/>
            <a:ext cx="844906" cy="182880"/>
          </a:xfrm>
          <a:prstGeom prst="rect">
            <a:avLst/>
          </a:prstGeom>
          <a:solidFill>
            <a:srgbClr val="FFFFFF"/>
          </a:solidFill>
          <a:ln w="6350">
            <a:solidFill>
              <a:srgbClr val="D3DCE5"/>
            </a:solidFill>
            <a:prstDash val="solid"/>
          </a:ln>
        </p:spPr>
      </p:sp>
      <p:sp>
        <p:nvSpPr>
          <p:cNvPr id="355" name="Text 353"/>
          <p:cNvSpPr txBox="1"/>
          <p:nvPr/>
        </p:nvSpPr>
        <p:spPr>
          <a:xfrm>
            <a:off x="8471002" y="489204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950</a:t>
            </a:r>
            <a:endParaRPr lang="en-US" sz="800" dirty="0"/>
          </a:p>
        </p:txBody>
      </p:sp>
      <p:sp>
        <p:nvSpPr>
          <p:cNvPr id="356" name="Shape 354"/>
          <p:cNvSpPr/>
          <p:nvPr/>
        </p:nvSpPr>
        <p:spPr>
          <a:xfrm>
            <a:off x="9251899" y="4892040"/>
            <a:ext cx="844906" cy="182880"/>
          </a:xfrm>
          <a:prstGeom prst="rect">
            <a:avLst/>
          </a:prstGeom>
          <a:solidFill>
            <a:srgbClr val="FFFFFF"/>
          </a:solidFill>
          <a:ln w="6350">
            <a:solidFill>
              <a:srgbClr val="D3DCE5"/>
            </a:solidFill>
            <a:prstDash val="solid"/>
          </a:ln>
        </p:spPr>
      </p:sp>
      <p:sp>
        <p:nvSpPr>
          <p:cNvPr id="357" name="Text 355"/>
          <p:cNvSpPr txBox="1"/>
          <p:nvPr/>
        </p:nvSpPr>
        <p:spPr>
          <a:xfrm>
            <a:off x="9315907" y="489204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950</a:t>
            </a:r>
            <a:endParaRPr lang="en-US" sz="800" dirty="0"/>
          </a:p>
        </p:txBody>
      </p:sp>
      <p:sp>
        <p:nvSpPr>
          <p:cNvPr id="358" name="Shape 356"/>
          <p:cNvSpPr/>
          <p:nvPr/>
        </p:nvSpPr>
        <p:spPr>
          <a:xfrm>
            <a:off x="10096805" y="4892040"/>
            <a:ext cx="844906" cy="182880"/>
          </a:xfrm>
          <a:prstGeom prst="rect">
            <a:avLst/>
          </a:prstGeom>
          <a:solidFill>
            <a:srgbClr val="FFFFFF"/>
          </a:solidFill>
          <a:ln w="6350">
            <a:solidFill>
              <a:srgbClr val="D3DCE5"/>
            </a:solidFill>
            <a:prstDash val="solid"/>
          </a:ln>
        </p:spPr>
      </p:sp>
      <p:sp>
        <p:nvSpPr>
          <p:cNvPr id="359" name="Text 357"/>
          <p:cNvSpPr txBox="1"/>
          <p:nvPr/>
        </p:nvSpPr>
        <p:spPr>
          <a:xfrm>
            <a:off x="10160813" y="489204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950</a:t>
            </a:r>
            <a:endParaRPr lang="en-US" sz="800" dirty="0"/>
          </a:p>
        </p:txBody>
      </p:sp>
      <p:sp>
        <p:nvSpPr>
          <p:cNvPr id="360" name="Shape 358"/>
          <p:cNvSpPr/>
          <p:nvPr/>
        </p:nvSpPr>
        <p:spPr>
          <a:xfrm>
            <a:off x="10941710" y="4892040"/>
            <a:ext cx="844906" cy="182880"/>
          </a:xfrm>
          <a:prstGeom prst="rect">
            <a:avLst/>
          </a:prstGeom>
          <a:solidFill>
            <a:srgbClr val="FFFFFF"/>
          </a:solidFill>
          <a:ln w="6350">
            <a:solidFill>
              <a:srgbClr val="D3DCE5"/>
            </a:solidFill>
            <a:prstDash val="solid"/>
          </a:ln>
        </p:spPr>
      </p:sp>
      <p:sp>
        <p:nvSpPr>
          <p:cNvPr id="361" name="Text 359"/>
          <p:cNvSpPr txBox="1"/>
          <p:nvPr/>
        </p:nvSpPr>
        <p:spPr>
          <a:xfrm>
            <a:off x="11005718" y="489204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950</a:t>
            </a:r>
            <a:endParaRPr lang="en-US" sz="800" dirty="0"/>
          </a:p>
        </p:txBody>
      </p:sp>
      <p:sp>
        <p:nvSpPr>
          <p:cNvPr id="362" name="Shape 360"/>
          <p:cNvSpPr/>
          <p:nvPr/>
        </p:nvSpPr>
        <p:spPr>
          <a:xfrm>
            <a:off x="411480" y="5074920"/>
            <a:ext cx="2926080" cy="182880"/>
          </a:xfrm>
          <a:prstGeom prst="rect">
            <a:avLst/>
          </a:prstGeom>
          <a:solidFill>
            <a:srgbClr val="F7F9FB"/>
          </a:solidFill>
          <a:ln w="6350">
            <a:solidFill>
              <a:srgbClr val="D3DCE5"/>
            </a:solidFill>
            <a:prstDash val="solid"/>
          </a:ln>
        </p:spPr>
      </p:sp>
      <p:sp>
        <p:nvSpPr>
          <p:cNvPr id="363" name="Text 361"/>
          <p:cNvSpPr txBox="1"/>
          <p:nvPr/>
        </p:nvSpPr>
        <p:spPr>
          <a:xfrm>
            <a:off x="475488" y="5074920"/>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Colina, Brazil</a:t>
            </a:r>
            <a:endParaRPr lang="en-US" sz="800" dirty="0"/>
          </a:p>
        </p:txBody>
      </p:sp>
      <p:sp>
        <p:nvSpPr>
          <p:cNvPr id="364" name="Shape 362"/>
          <p:cNvSpPr/>
          <p:nvPr/>
        </p:nvSpPr>
        <p:spPr>
          <a:xfrm>
            <a:off x="3337560" y="5074920"/>
            <a:ext cx="844906" cy="182880"/>
          </a:xfrm>
          <a:prstGeom prst="rect">
            <a:avLst/>
          </a:prstGeom>
          <a:solidFill>
            <a:srgbClr val="F7F9FB"/>
          </a:solidFill>
          <a:ln w="6350">
            <a:solidFill>
              <a:srgbClr val="D3DCE5"/>
            </a:solidFill>
            <a:prstDash val="solid"/>
          </a:ln>
        </p:spPr>
      </p:sp>
      <p:sp>
        <p:nvSpPr>
          <p:cNvPr id="365" name="Text 363"/>
          <p:cNvSpPr txBox="1"/>
          <p:nvPr/>
        </p:nvSpPr>
        <p:spPr>
          <a:xfrm>
            <a:off x="3401568" y="507492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366" name="Shape 364"/>
          <p:cNvSpPr/>
          <p:nvPr/>
        </p:nvSpPr>
        <p:spPr>
          <a:xfrm>
            <a:off x="4182466" y="5074920"/>
            <a:ext cx="844906" cy="182880"/>
          </a:xfrm>
          <a:prstGeom prst="rect">
            <a:avLst/>
          </a:prstGeom>
          <a:solidFill>
            <a:srgbClr val="F7F9FB"/>
          </a:solidFill>
          <a:ln w="6350">
            <a:solidFill>
              <a:srgbClr val="D3DCE5"/>
            </a:solidFill>
            <a:prstDash val="solid"/>
          </a:ln>
        </p:spPr>
      </p:sp>
      <p:sp>
        <p:nvSpPr>
          <p:cNvPr id="367" name="Text 365"/>
          <p:cNvSpPr txBox="1"/>
          <p:nvPr/>
        </p:nvSpPr>
        <p:spPr>
          <a:xfrm>
            <a:off x="4246474" y="507492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368" name="Shape 366"/>
          <p:cNvSpPr/>
          <p:nvPr/>
        </p:nvSpPr>
        <p:spPr>
          <a:xfrm>
            <a:off x="5027371" y="5074920"/>
            <a:ext cx="844906" cy="182880"/>
          </a:xfrm>
          <a:prstGeom prst="rect">
            <a:avLst/>
          </a:prstGeom>
          <a:solidFill>
            <a:srgbClr val="F7F9FB"/>
          </a:solidFill>
          <a:ln w="6350">
            <a:solidFill>
              <a:srgbClr val="D3DCE5"/>
            </a:solidFill>
            <a:prstDash val="solid"/>
          </a:ln>
        </p:spPr>
      </p:sp>
      <p:sp>
        <p:nvSpPr>
          <p:cNvPr id="369" name="Text 367"/>
          <p:cNvSpPr txBox="1"/>
          <p:nvPr/>
        </p:nvSpPr>
        <p:spPr>
          <a:xfrm>
            <a:off x="5091379" y="507492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370" name="Shape 368"/>
          <p:cNvSpPr/>
          <p:nvPr/>
        </p:nvSpPr>
        <p:spPr>
          <a:xfrm>
            <a:off x="5872277" y="5074920"/>
            <a:ext cx="844906" cy="182880"/>
          </a:xfrm>
          <a:prstGeom prst="rect">
            <a:avLst/>
          </a:prstGeom>
          <a:solidFill>
            <a:srgbClr val="F7F9FB"/>
          </a:solidFill>
          <a:ln w="6350">
            <a:solidFill>
              <a:srgbClr val="D3DCE5"/>
            </a:solidFill>
            <a:prstDash val="solid"/>
          </a:ln>
        </p:spPr>
      </p:sp>
      <p:sp>
        <p:nvSpPr>
          <p:cNvPr id="371" name="Text 369"/>
          <p:cNvSpPr txBox="1"/>
          <p:nvPr/>
        </p:nvSpPr>
        <p:spPr>
          <a:xfrm>
            <a:off x="5936285" y="507492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0</a:t>
            </a:r>
            <a:endParaRPr lang="en-US" sz="800" dirty="0"/>
          </a:p>
        </p:txBody>
      </p:sp>
      <p:sp>
        <p:nvSpPr>
          <p:cNvPr id="372" name="Shape 370"/>
          <p:cNvSpPr/>
          <p:nvPr/>
        </p:nvSpPr>
        <p:spPr>
          <a:xfrm>
            <a:off x="6717182" y="5074920"/>
            <a:ext cx="844906" cy="182880"/>
          </a:xfrm>
          <a:prstGeom prst="rect">
            <a:avLst/>
          </a:prstGeom>
          <a:solidFill>
            <a:srgbClr val="F7F9FB"/>
          </a:solidFill>
          <a:ln w="6350">
            <a:solidFill>
              <a:srgbClr val="D3DCE5"/>
            </a:solidFill>
            <a:prstDash val="solid"/>
          </a:ln>
        </p:spPr>
      </p:sp>
      <p:sp>
        <p:nvSpPr>
          <p:cNvPr id="373" name="Text 371"/>
          <p:cNvSpPr txBox="1"/>
          <p:nvPr/>
        </p:nvSpPr>
        <p:spPr>
          <a:xfrm>
            <a:off x="6781190" y="507492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180</a:t>
            </a:r>
            <a:endParaRPr lang="en-US" sz="800" dirty="0"/>
          </a:p>
        </p:txBody>
      </p:sp>
      <p:sp>
        <p:nvSpPr>
          <p:cNvPr id="374" name="Shape 372"/>
          <p:cNvSpPr/>
          <p:nvPr/>
        </p:nvSpPr>
        <p:spPr>
          <a:xfrm>
            <a:off x="7562088" y="5074920"/>
            <a:ext cx="844906" cy="182880"/>
          </a:xfrm>
          <a:prstGeom prst="rect">
            <a:avLst/>
          </a:prstGeom>
          <a:solidFill>
            <a:srgbClr val="F7F9FB"/>
          </a:solidFill>
          <a:ln w="6350">
            <a:solidFill>
              <a:srgbClr val="D3DCE5"/>
            </a:solidFill>
            <a:prstDash val="solid"/>
          </a:ln>
        </p:spPr>
      </p:sp>
      <p:sp>
        <p:nvSpPr>
          <p:cNvPr id="375" name="Text 373"/>
          <p:cNvSpPr txBox="1"/>
          <p:nvPr/>
        </p:nvSpPr>
        <p:spPr>
          <a:xfrm>
            <a:off x="7626096" y="507492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380</a:t>
            </a:r>
            <a:endParaRPr lang="en-US" sz="800" dirty="0"/>
          </a:p>
        </p:txBody>
      </p:sp>
      <p:sp>
        <p:nvSpPr>
          <p:cNvPr id="376" name="Shape 374"/>
          <p:cNvSpPr/>
          <p:nvPr/>
        </p:nvSpPr>
        <p:spPr>
          <a:xfrm>
            <a:off x="8406994" y="5074920"/>
            <a:ext cx="844906" cy="182880"/>
          </a:xfrm>
          <a:prstGeom prst="rect">
            <a:avLst/>
          </a:prstGeom>
          <a:solidFill>
            <a:srgbClr val="F7F9FB"/>
          </a:solidFill>
          <a:ln w="6350">
            <a:solidFill>
              <a:srgbClr val="D3DCE5"/>
            </a:solidFill>
            <a:prstDash val="solid"/>
          </a:ln>
        </p:spPr>
      </p:sp>
      <p:sp>
        <p:nvSpPr>
          <p:cNvPr id="377" name="Text 375"/>
          <p:cNvSpPr txBox="1"/>
          <p:nvPr/>
        </p:nvSpPr>
        <p:spPr>
          <a:xfrm>
            <a:off x="8471002" y="507492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500</a:t>
            </a:r>
            <a:endParaRPr lang="en-US" sz="800" dirty="0"/>
          </a:p>
        </p:txBody>
      </p:sp>
      <p:sp>
        <p:nvSpPr>
          <p:cNvPr id="378" name="Shape 376"/>
          <p:cNvSpPr/>
          <p:nvPr/>
        </p:nvSpPr>
        <p:spPr>
          <a:xfrm>
            <a:off x="9251899" y="5074920"/>
            <a:ext cx="844906" cy="182880"/>
          </a:xfrm>
          <a:prstGeom prst="rect">
            <a:avLst/>
          </a:prstGeom>
          <a:solidFill>
            <a:srgbClr val="F7F9FB"/>
          </a:solidFill>
          <a:ln w="6350">
            <a:solidFill>
              <a:srgbClr val="D3DCE5"/>
            </a:solidFill>
            <a:prstDash val="solid"/>
          </a:ln>
        </p:spPr>
      </p:sp>
      <p:sp>
        <p:nvSpPr>
          <p:cNvPr id="379" name="Text 377"/>
          <p:cNvSpPr txBox="1"/>
          <p:nvPr/>
        </p:nvSpPr>
        <p:spPr>
          <a:xfrm>
            <a:off x="9315907" y="507492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560</a:t>
            </a:r>
            <a:endParaRPr lang="en-US" sz="800" dirty="0"/>
          </a:p>
        </p:txBody>
      </p:sp>
      <p:sp>
        <p:nvSpPr>
          <p:cNvPr id="380" name="Shape 378"/>
          <p:cNvSpPr/>
          <p:nvPr/>
        </p:nvSpPr>
        <p:spPr>
          <a:xfrm>
            <a:off x="10096805" y="5074920"/>
            <a:ext cx="844906" cy="182880"/>
          </a:xfrm>
          <a:prstGeom prst="rect">
            <a:avLst/>
          </a:prstGeom>
          <a:solidFill>
            <a:srgbClr val="F7F9FB"/>
          </a:solidFill>
          <a:ln w="6350">
            <a:solidFill>
              <a:srgbClr val="D3DCE5"/>
            </a:solidFill>
            <a:prstDash val="solid"/>
          </a:ln>
        </p:spPr>
      </p:sp>
      <p:sp>
        <p:nvSpPr>
          <p:cNvPr id="381" name="Text 379"/>
          <p:cNvSpPr txBox="1"/>
          <p:nvPr/>
        </p:nvSpPr>
        <p:spPr>
          <a:xfrm>
            <a:off x="10160813" y="507492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560</a:t>
            </a:r>
            <a:endParaRPr lang="en-US" sz="800" dirty="0"/>
          </a:p>
        </p:txBody>
      </p:sp>
      <p:sp>
        <p:nvSpPr>
          <p:cNvPr id="382" name="Shape 380"/>
          <p:cNvSpPr/>
          <p:nvPr/>
        </p:nvSpPr>
        <p:spPr>
          <a:xfrm>
            <a:off x="10941710" y="5074920"/>
            <a:ext cx="844906" cy="182880"/>
          </a:xfrm>
          <a:prstGeom prst="rect">
            <a:avLst/>
          </a:prstGeom>
          <a:solidFill>
            <a:srgbClr val="F7F9FB"/>
          </a:solidFill>
          <a:ln w="6350">
            <a:solidFill>
              <a:srgbClr val="D3DCE5"/>
            </a:solidFill>
            <a:prstDash val="solid"/>
          </a:ln>
        </p:spPr>
      </p:sp>
      <p:sp>
        <p:nvSpPr>
          <p:cNvPr id="383" name="Text 381"/>
          <p:cNvSpPr txBox="1"/>
          <p:nvPr/>
        </p:nvSpPr>
        <p:spPr>
          <a:xfrm>
            <a:off x="11005718" y="5074920"/>
            <a:ext cx="716890" cy="182880"/>
          </a:xfrm>
          <a:prstGeom prst="rect">
            <a:avLst/>
          </a:prstGeom>
          <a:noFill/>
          <a:ln/>
        </p:spPr>
        <p:txBody>
          <a:bodyPr wrap="square" lIns="0" tIns="0" rIns="0" bIns="0" rtlCol="0" anchor="ctr"/>
          <a:lstStyle/>
          <a:p>
            <a:pPr algn="r" indent="0" marL="0">
              <a:buNone/>
            </a:pPr>
            <a:r>
              <a:rPr lang="en-US" sz="800" dirty="0">
                <a:solidFill>
                  <a:srgbClr val="1B2733"/>
                </a:solidFill>
                <a:latin typeface="Calibri" pitchFamily="34" charset="0"/>
                <a:ea typeface="Calibri" pitchFamily="34" charset="-122"/>
                <a:cs typeface="Calibri" pitchFamily="34" charset="-120"/>
              </a:rPr>
              <a:t>560</a:t>
            </a:r>
            <a:endParaRPr lang="en-US" sz="800" dirty="0"/>
          </a:p>
        </p:txBody>
      </p:sp>
      <p:sp>
        <p:nvSpPr>
          <p:cNvPr id="384" name="Shape 382"/>
          <p:cNvSpPr/>
          <p:nvPr/>
        </p:nvSpPr>
        <p:spPr>
          <a:xfrm>
            <a:off x="411480" y="5257800"/>
            <a:ext cx="2926080" cy="182880"/>
          </a:xfrm>
          <a:prstGeom prst="rect">
            <a:avLst/>
          </a:prstGeom>
          <a:solidFill>
            <a:srgbClr val="FFFFFF"/>
          </a:solidFill>
          <a:ln w="6350">
            <a:solidFill>
              <a:srgbClr val="D3DCE5"/>
            </a:solidFill>
            <a:prstDash val="solid"/>
          </a:ln>
        </p:spPr>
      </p:sp>
      <p:sp>
        <p:nvSpPr>
          <p:cNvPr id="385" name="Text 383"/>
          <p:cNvSpPr txBox="1"/>
          <p:nvPr/>
        </p:nvSpPr>
        <p:spPr>
          <a:xfrm>
            <a:off x="475488" y="5257800"/>
            <a:ext cx="2798064" cy="182880"/>
          </a:xfrm>
          <a:prstGeom prst="rect">
            <a:avLst/>
          </a:prstGeom>
          <a:noFill/>
          <a:ln/>
        </p:spPr>
        <p:txBody>
          <a:bodyPr wrap="square" lIns="0" tIns="0" rIns="0" bIns="0" rtlCol="0" anchor="ctr"/>
          <a:lstStyle/>
          <a:p>
            <a:pPr algn="l" indent="0" marL="0">
              <a:buNone/>
            </a:pPr>
            <a:r>
              <a:rPr lang="en-US" sz="800" b="1" dirty="0">
                <a:solidFill>
                  <a:srgbClr val="1B2733"/>
                </a:solidFill>
                <a:latin typeface="Calibri" pitchFamily="34" charset="0"/>
                <a:ea typeface="Calibri" pitchFamily="34" charset="-122"/>
                <a:cs typeface="Calibri" pitchFamily="34" charset="-120"/>
              </a:rPr>
              <a:t>Total</a:t>
            </a:r>
            <a:endParaRPr lang="en-US" sz="800" dirty="0"/>
          </a:p>
        </p:txBody>
      </p:sp>
      <p:sp>
        <p:nvSpPr>
          <p:cNvPr id="386" name="Shape 384"/>
          <p:cNvSpPr/>
          <p:nvPr/>
        </p:nvSpPr>
        <p:spPr>
          <a:xfrm>
            <a:off x="3337560" y="5257800"/>
            <a:ext cx="844906" cy="182880"/>
          </a:xfrm>
          <a:prstGeom prst="rect">
            <a:avLst/>
          </a:prstGeom>
          <a:solidFill>
            <a:srgbClr val="FFFFFF"/>
          </a:solidFill>
          <a:ln w="6350">
            <a:solidFill>
              <a:srgbClr val="D3DCE5"/>
            </a:solidFill>
            <a:prstDash val="solid"/>
          </a:ln>
        </p:spPr>
      </p:sp>
      <p:sp>
        <p:nvSpPr>
          <p:cNvPr id="387" name="Text 385"/>
          <p:cNvSpPr txBox="1"/>
          <p:nvPr/>
        </p:nvSpPr>
        <p:spPr>
          <a:xfrm>
            <a:off x="3401568" y="5257800"/>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1,100</a:t>
            </a:r>
            <a:endParaRPr lang="en-US" sz="800" dirty="0"/>
          </a:p>
        </p:txBody>
      </p:sp>
      <p:sp>
        <p:nvSpPr>
          <p:cNvPr id="388" name="Shape 386"/>
          <p:cNvSpPr/>
          <p:nvPr/>
        </p:nvSpPr>
        <p:spPr>
          <a:xfrm>
            <a:off x="4182466" y="5257800"/>
            <a:ext cx="844906" cy="182880"/>
          </a:xfrm>
          <a:prstGeom prst="rect">
            <a:avLst/>
          </a:prstGeom>
          <a:solidFill>
            <a:srgbClr val="FFFFFF"/>
          </a:solidFill>
          <a:ln w="6350">
            <a:solidFill>
              <a:srgbClr val="D3DCE5"/>
            </a:solidFill>
            <a:prstDash val="solid"/>
          </a:ln>
        </p:spPr>
      </p:sp>
      <p:sp>
        <p:nvSpPr>
          <p:cNvPr id="389" name="Text 387"/>
          <p:cNvSpPr txBox="1"/>
          <p:nvPr/>
        </p:nvSpPr>
        <p:spPr>
          <a:xfrm>
            <a:off x="4246474" y="5257800"/>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1,165</a:t>
            </a:r>
            <a:endParaRPr lang="en-US" sz="800" dirty="0"/>
          </a:p>
        </p:txBody>
      </p:sp>
      <p:sp>
        <p:nvSpPr>
          <p:cNvPr id="390" name="Shape 388"/>
          <p:cNvSpPr/>
          <p:nvPr/>
        </p:nvSpPr>
        <p:spPr>
          <a:xfrm>
            <a:off x="5027371" y="5257800"/>
            <a:ext cx="844906" cy="182880"/>
          </a:xfrm>
          <a:prstGeom prst="rect">
            <a:avLst/>
          </a:prstGeom>
          <a:solidFill>
            <a:srgbClr val="FFFFFF"/>
          </a:solidFill>
          <a:ln w="6350">
            <a:solidFill>
              <a:srgbClr val="D3DCE5"/>
            </a:solidFill>
            <a:prstDash val="solid"/>
          </a:ln>
        </p:spPr>
      </p:sp>
      <p:sp>
        <p:nvSpPr>
          <p:cNvPr id="391" name="Text 389"/>
          <p:cNvSpPr txBox="1"/>
          <p:nvPr/>
        </p:nvSpPr>
        <p:spPr>
          <a:xfrm>
            <a:off x="5091379" y="5257800"/>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1,295</a:t>
            </a:r>
            <a:endParaRPr lang="en-US" sz="800" dirty="0"/>
          </a:p>
        </p:txBody>
      </p:sp>
      <p:sp>
        <p:nvSpPr>
          <p:cNvPr id="392" name="Shape 390"/>
          <p:cNvSpPr/>
          <p:nvPr/>
        </p:nvSpPr>
        <p:spPr>
          <a:xfrm>
            <a:off x="5872277" y="5257800"/>
            <a:ext cx="844906" cy="182880"/>
          </a:xfrm>
          <a:prstGeom prst="rect">
            <a:avLst/>
          </a:prstGeom>
          <a:solidFill>
            <a:srgbClr val="FFFFFF"/>
          </a:solidFill>
          <a:ln w="6350">
            <a:solidFill>
              <a:srgbClr val="D3DCE5"/>
            </a:solidFill>
            <a:prstDash val="solid"/>
          </a:ln>
        </p:spPr>
      </p:sp>
      <p:sp>
        <p:nvSpPr>
          <p:cNvPr id="393" name="Text 391"/>
          <p:cNvSpPr txBox="1"/>
          <p:nvPr/>
        </p:nvSpPr>
        <p:spPr>
          <a:xfrm>
            <a:off x="5936285" y="5257800"/>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1,625</a:t>
            </a:r>
            <a:endParaRPr lang="en-US" sz="800" dirty="0"/>
          </a:p>
        </p:txBody>
      </p:sp>
      <p:sp>
        <p:nvSpPr>
          <p:cNvPr id="394" name="Shape 392"/>
          <p:cNvSpPr/>
          <p:nvPr/>
        </p:nvSpPr>
        <p:spPr>
          <a:xfrm>
            <a:off x="6717182" y="5257800"/>
            <a:ext cx="844906" cy="182880"/>
          </a:xfrm>
          <a:prstGeom prst="rect">
            <a:avLst/>
          </a:prstGeom>
          <a:solidFill>
            <a:srgbClr val="FFFFFF"/>
          </a:solidFill>
          <a:ln w="6350">
            <a:solidFill>
              <a:srgbClr val="D3DCE5"/>
            </a:solidFill>
            <a:prstDash val="solid"/>
          </a:ln>
        </p:spPr>
      </p:sp>
      <p:sp>
        <p:nvSpPr>
          <p:cNvPr id="395" name="Text 393"/>
          <p:cNvSpPr txBox="1"/>
          <p:nvPr/>
        </p:nvSpPr>
        <p:spPr>
          <a:xfrm>
            <a:off x="6781190" y="5257800"/>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2,135</a:t>
            </a:r>
            <a:endParaRPr lang="en-US" sz="800" dirty="0"/>
          </a:p>
        </p:txBody>
      </p:sp>
      <p:sp>
        <p:nvSpPr>
          <p:cNvPr id="396" name="Shape 394"/>
          <p:cNvSpPr/>
          <p:nvPr/>
        </p:nvSpPr>
        <p:spPr>
          <a:xfrm>
            <a:off x="7562088" y="5257800"/>
            <a:ext cx="844906" cy="182880"/>
          </a:xfrm>
          <a:prstGeom prst="rect">
            <a:avLst/>
          </a:prstGeom>
          <a:solidFill>
            <a:srgbClr val="FFFFFF"/>
          </a:solidFill>
          <a:ln w="6350">
            <a:solidFill>
              <a:srgbClr val="D3DCE5"/>
            </a:solidFill>
            <a:prstDash val="solid"/>
          </a:ln>
        </p:spPr>
      </p:sp>
      <p:sp>
        <p:nvSpPr>
          <p:cNvPr id="397" name="Text 395"/>
          <p:cNvSpPr txBox="1"/>
          <p:nvPr/>
        </p:nvSpPr>
        <p:spPr>
          <a:xfrm>
            <a:off x="7626096" y="5257800"/>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2,480</a:t>
            </a:r>
            <a:endParaRPr lang="en-US" sz="800" dirty="0"/>
          </a:p>
        </p:txBody>
      </p:sp>
      <p:sp>
        <p:nvSpPr>
          <p:cNvPr id="398" name="Shape 396"/>
          <p:cNvSpPr/>
          <p:nvPr/>
        </p:nvSpPr>
        <p:spPr>
          <a:xfrm>
            <a:off x="8406994" y="5257800"/>
            <a:ext cx="844906" cy="182880"/>
          </a:xfrm>
          <a:prstGeom prst="rect">
            <a:avLst/>
          </a:prstGeom>
          <a:solidFill>
            <a:srgbClr val="FFFFFF"/>
          </a:solidFill>
          <a:ln w="6350">
            <a:solidFill>
              <a:srgbClr val="D3DCE5"/>
            </a:solidFill>
            <a:prstDash val="solid"/>
          </a:ln>
        </p:spPr>
      </p:sp>
      <p:sp>
        <p:nvSpPr>
          <p:cNvPr id="399" name="Text 397"/>
          <p:cNvSpPr txBox="1"/>
          <p:nvPr/>
        </p:nvSpPr>
        <p:spPr>
          <a:xfrm>
            <a:off x="8471002" y="5257800"/>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2,625</a:t>
            </a:r>
            <a:endParaRPr lang="en-US" sz="800" dirty="0"/>
          </a:p>
        </p:txBody>
      </p:sp>
      <p:sp>
        <p:nvSpPr>
          <p:cNvPr id="400" name="Shape 398"/>
          <p:cNvSpPr/>
          <p:nvPr/>
        </p:nvSpPr>
        <p:spPr>
          <a:xfrm>
            <a:off x="9251899" y="5257800"/>
            <a:ext cx="844906" cy="182880"/>
          </a:xfrm>
          <a:prstGeom prst="rect">
            <a:avLst/>
          </a:prstGeom>
          <a:solidFill>
            <a:srgbClr val="FFFFFF"/>
          </a:solidFill>
          <a:ln w="6350">
            <a:solidFill>
              <a:srgbClr val="D3DCE5"/>
            </a:solidFill>
            <a:prstDash val="solid"/>
          </a:ln>
        </p:spPr>
      </p:sp>
      <p:sp>
        <p:nvSpPr>
          <p:cNvPr id="401" name="Text 399"/>
          <p:cNvSpPr txBox="1"/>
          <p:nvPr/>
        </p:nvSpPr>
        <p:spPr>
          <a:xfrm>
            <a:off x="9315907" y="5257800"/>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2,685</a:t>
            </a:r>
            <a:endParaRPr lang="en-US" sz="800" dirty="0"/>
          </a:p>
        </p:txBody>
      </p:sp>
      <p:sp>
        <p:nvSpPr>
          <p:cNvPr id="402" name="Shape 400"/>
          <p:cNvSpPr/>
          <p:nvPr/>
        </p:nvSpPr>
        <p:spPr>
          <a:xfrm>
            <a:off x="10096805" y="5257800"/>
            <a:ext cx="844906" cy="182880"/>
          </a:xfrm>
          <a:prstGeom prst="rect">
            <a:avLst/>
          </a:prstGeom>
          <a:solidFill>
            <a:srgbClr val="FFFFFF"/>
          </a:solidFill>
          <a:ln w="6350">
            <a:solidFill>
              <a:srgbClr val="D3DCE5"/>
            </a:solidFill>
            <a:prstDash val="solid"/>
          </a:ln>
        </p:spPr>
      </p:sp>
      <p:sp>
        <p:nvSpPr>
          <p:cNvPr id="403" name="Text 401"/>
          <p:cNvSpPr txBox="1"/>
          <p:nvPr/>
        </p:nvSpPr>
        <p:spPr>
          <a:xfrm>
            <a:off x="10160813" y="5257800"/>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2,685</a:t>
            </a:r>
            <a:endParaRPr lang="en-US" sz="800" dirty="0"/>
          </a:p>
        </p:txBody>
      </p:sp>
      <p:sp>
        <p:nvSpPr>
          <p:cNvPr id="404" name="Shape 402"/>
          <p:cNvSpPr/>
          <p:nvPr/>
        </p:nvSpPr>
        <p:spPr>
          <a:xfrm>
            <a:off x="10941710" y="5257800"/>
            <a:ext cx="844906" cy="182880"/>
          </a:xfrm>
          <a:prstGeom prst="rect">
            <a:avLst/>
          </a:prstGeom>
          <a:solidFill>
            <a:srgbClr val="FFFFFF"/>
          </a:solidFill>
          <a:ln w="6350">
            <a:solidFill>
              <a:srgbClr val="D3DCE5"/>
            </a:solidFill>
            <a:prstDash val="solid"/>
          </a:ln>
        </p:spPr>
      </p:sp>
      <p:sp>
        <p:nvSpPr>
          <p:cNvPr id="405" name="Text 403"/>
          <p:cNvSpPr txBox="1"/>
          <p:nvPr/>
        </p:nvSpPr>
        <p:spPr>
          <a:xfrm>
            <a:off x="11005718" y="5257800"/>
            <a:ext cx="716890" cy="182880"/>
          </a:xfrm>
          <a:prstGeom prst="rect">
            <a:avLst/>
          </a:prstGeom>
          <a:noFill/>
          <a:ln/>
        </p:spPr>
        <p:txBody>
          <a:bodyPr wrap="square" lIns="0" tIns="0" rIns="0" bIns="0" rtlCol="0" anchor="ctr"/>
          <a:lstStyle/>
          <a:p>
            <a:pPr algn="r" indent="0" marL="0">
              <a:buNone/>
            </a:pPr>
            <a:r>
              <a:rPr lang="en-US" sz="800" b="1" dirty="0">
                <a:solidFill>
                  <a:srgbClr val="1B2733"/>
                </a:solidFill>
                <a:latin typeface="Calibri" pitchFamily="34" charset="0"/>
                <a:ea typeface="Calibri" pitchFamily="34" charset="-122"/>
                <a:cs typeface="Calibri" pitchFamily="34" charset="-120"/>
              </a:rPr>
              <a:t>2,685</a:t>
            </a:r>
            <a:endParaRPr lang="en-US" sz="800" dirty="0"/>
          </a:p>
        </p:txBody>
      </p:sp>
      <p:sp>
        <p:nvSpPr>
          <p:cNvPr id="406" name="Text 404"/>
          <p:cNvSpPr txBox="1"/>
          <p:nvPr/>
        </p:nvSpPr>
        <p:spPr>
          <a:xfrm>
            <a:off x="411480" y="5559552"/>
            <a:ext cx="11375136" cy="475488"/>
          </a:xfrm>
          <a:prstGeom prst="rect">
            <a:avLst/>
          </a:prstGeom>
          <a:noFill/>
          <a:ln/>
        </p:spPr>
        <p:txBody>
          <a:bodyPr wrap="square" lIns="0" tIns="0" rIns="0" bIns="0" rtlCol="0" anchor="t"/>
          <a:lstStyle/>
          <a:p>
            <a:pPr indent="0" marL="0">
              <a:lnSpc>
                <a:spcPct val="106000"/>
              </a:lnSpc>
              <a:buNone/>
            </a:pPr>
            <a:r>
              <a:rPr lang="en-US" sz="820" b="1" dirty="0">
                <a:solidFill>
                  <a:srgbClr val="10233A"/>
                </a:solidFill>
                <a:latin typeface="Calibri" pitchFamily="34" charset="0"/>
                <a:ea typeface="Calibri" pitchFamily="34" charset="-122"/>
                <a:cs typeface="Calibri" pitchFamily="34" charset="-120"/>
              </a:rPr>
              <a:t>Where these numbers come from.  </a:t>
            </a:r>
            <a:pPr indent="0" marL="0">
              <a:lnSpc>
                <a:spcPct val="106000"/>
              </a:lnSpc>
              <a:buNone/>
            </a:pPr>
            <a:r>
              <a:rPr lang="en-US" sz="820" dirty="0">
                <a:solidFill>
                  <a:srgbClr val="1B2733"/>
                </a:solidFill>
                <a:latin typeface="Calibri" pitchFamily="34" charset="0"/>
                <a:ea typeface="Calibri" pitchFamily="34" charset="-122"/>
                <a:cs typeface="Calibri" pitchFamily="34" charset="-120"/>
              </a:rPr>
              <a:t>Pilgan nameplate is about 1.0Mtpa after P1000; it produced 879.5kt in FY26 with Ngungaju idle. Ngungaju is about 200ktpa and restarted in July 2026. P2000 lifts Pilgangoora capacity above 2.0Mtpa, first ore guided mid-2029, so we show it as the increment over the two existing plants. Colina first production in FY32 is our assumption, not a company target - PLS has not adopted Latin Resources' original 2026 plan.</a:t>
            </a:r>
            <a:endParaRPr lang="en-US" sz="820" dirty="0"/>
          </a:p>
        </p:txBody>
      </p:sp>
      <p:sp>
        <p:nvSpPr>
          <p:cNvPr id="407" name="Text 405"/>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FY27 guidance of 1,030-1,100kt; P2000 pre-feasibility study; Ngungaju restart announcement; team valuation model, Deck sheet.</a:t>
            </a:r>
            <a:endParaRPr lang="en-US" sz="720" dirty="0"/>
          </a:p>
        </p:txBody>
      </p:sp>
      <p:sp>
        <p:nvSpPr>
          <p:cNvPr id="408" name="Text 406"/>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E3</a:t>
            </a:r>
            <a:endParaRPr lang="en-US" sz="8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FY27 cost and capex both sit at the midpoint of guidance. The bear case does not assume costs run away, because operators cut in a downturn.</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E4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Text 5"/>
          <p:cNvSpPr txBox="1"/>
          <p:nvPr/>
        </p:nvSpPr>
        <p:spPr>
          <a:xfrm>
            <a:off x="411480" y="1298448"/>
            <a:ext cx="4572000" cy="219456"/>
          </a:xfrm>
          <a:prstGeom prst="rect">
            <a:avLst/>
          </a:prstGeom>
          <a:noFill/>
          <a:ln/>
        </p:spPr>
        <p:txBody>
          <a:bodyPr wrap="square" lIns="0" tIns="0" rIns="0" bIns="0" rtlCol="0" anchor="ctr"/>
          <a:lstStyle/>
          <a:p>
            <a:pPr indent="0" marL="0">
              <a:buNone/>
            </a:pPr>
            <a:r>
              <a:rPr lang="en-US" sz="950" b="1" dirty="0">
                <a:solidFill>
                  <a:srgbClr val="10233A"/>
                </a:solidFill>
                <a:latin typeface="Calibri" pitchFamily="34" charset="0"/>
                <a:ea typeface="Calibri" pitchFamily="34" charset="-122"/>
                <a:cs typeface="Calibri" pitchFamily="34" charset="-120"/>
              </a:rPr>
              <a:t>UNIT OPERATING COST, FOB (A$/t)</a:t>
            </a:r>
            <a:endParaRPr lang="en-US" sz="950" dirty="0"/>
          </a:p>
        </p:txBody>
      </p:sp>
      <p:sp>
        <p:nvSpPr>
          <p:cNvPr id="8" name="Shape 6"/>
          <p:cNvSpPr/>
          <p:nvPr/>
        </p:nvSpPr>
        <p:spPr>
          <a:xfrm>
            <a:off x="411480" y="1499616"/>
            <a:ext cx="2926080" cy="237744"/>
          </a:xfrm>
          <a:prstGeom prst="rect">
            <a:avLst/>
          </a:prstGeom>
          <a:solidFill>
            <a:srgbClr val="10233A"/>
          </a:solidFill>
          <a:ln/>
        </p:spPr>
      </p:sp>
      <p:sp>
        <p:nvSpPr>
          <p:cNvPr id="9" name="Text 7"/>
          <p:cNvSpPr txBox="1"/>
          <p:nvPr/>
        </p:nvSpPr>
        <p:spPr>
          <a:xfrm>
            <a:off x="475488" y="1499616"/>
            <a:ext cx="2798064" cy="237744"/>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A$/t</a:t>
            </a:r>
            <a:endParaRPr lang="en-US" sz="800" dirty="0"/>
          </a:p>
        </p:txBody>
      </p:sp>
      <p:sp>
        <p:nvSpPr>
          <p:cNvPr id="10" name="Shape 8"/>
          <p:cNvSpPr/>
          <p:nvPr/>
        </p:nvSpPr>
        <p:spPr>
          <a:xfrm>
            <a:off x="3337560" y="1499616"/>
            <a:ext cx="844906" cy="237744"/>
          </a:xfrm>
          <a:prstGeom prst="rect">
            <a:avLst/>
          </a:prstGeom>
          <a:solidFill>
            <a:srgbClr val="10233A"/>
          </a:solidFill>
          <a:ln/>
        </p:spPr>
      </p:sp>
      <p:sp>
        <p:nvSpPr>
          <p:cNvPr id="11" name="Text 9"/>
          <p:cNvSpPr txBox="1"/>
          <p:nvPr/>
        </p:nvSpPr>
        <p:spPr>
          <a:xfrm>
            <a:off x="3401568" y="1499616"/>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FY27</a:t>
            </a:r>
            <a:endParaRPr lang="en-US" sz="800" dirty="0"/>
          </a:p>
        </p:txBody>
      </p:sp>
      <p:sp>
        <p:nvSpPr>
          <p:cNvPr id="12" name="Shape 10"/>
          <p:cNvSpPr/>
          <p:nvPr/>
        </p:nvSpPr>
        <p:spPr>
          <a:xfrm>
            <a:off x="4182466" y="1499616"/>
            <a:ext cx="844906" cy="237744"/>
          </a:xfrm>
          <a:prstGeom prst="rect">
            <a:avLst/>
          </a:prstGeom>
          <a:solidFill>
            <a:srgbClr val="10233A"/>
          </a:solidFill>
          <a:ln/>
        </p:spPr>
      </p:sp>
      <p:sp>
        <p:nvSpPr>
          <p:cNvPr id="13" name="Text 11"/>
          <p:cNvSpPr txBox="1"/>
          <p:nvPr/>
        </p:nvSpPr>
        <p:spPr>
          <a:xfrm>
            <a:off x="4246474" y="1499616"/>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FY28</a:t>
            </a:r>
            <a:endParaRPr lang="en-US" sz="800" dirty="0"/>
          </a:p>
        </p:txBody>
      </p:sp>
      <p:sp>
        <p:nvSpPr>
          <p:cNvPr id="14" name="Shape 12"/>
          <p:cNvSpPr/>
          <p:nvPr/>
        </p:nvSpPr>
        <p:spPr>
          <a:xfrm>
            <a:off x="5027371" y="1499616"/>
            <a:ext cx="844906" cy="237744"/>
          </a:xfrm>
          <a:prstGeom prst="rect">
            <a:avLst/>
          </a:prstGeom>
          <a:solidFill>
            <a:srgbClr val="10233A"/>
          </a:solidFill>
          <a:ln/>
        </p:spPr>
      </p:sp>
      <p:sp>
        <p:nvSpPr>
          <p:cNvPr id="15" name="Text 13"/>
          <p:cNvSpPr txBox="1"/>
          <p:nvPr/>
        </p:nvSpPr>
        <p:spPr>
          <a:xfrm>
            <a:off x="5091379" y="1499616"/>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FY29</a:t>
            </a:r>
            <a:endParaRPr lang="en-US" sz="800" dirty="0"/>
          </a:p>
        </p:txBody>
      </p:sp>
      <p:sp>
        <p:nvSpPr>
          <p:cNvPr id="16" name="Shape 14"/>
          <p:cNvSpPr/>
          <p:nvPr/>
        </p:nvSpPr>
        <p:spPr>
          <a:xfrm>
            <a:off x="5872277" y="1499616"/>
            <a:ext cx="844906" cy="237744"/>
          </a:xfrm>
          <a:prstGeom prst="rect">
            <a:avLst/>
          </a:prstGeom>
          <a:solidFill>
            <a:srgbClr val="10233A"/>
          </a:solidFill>
          <a:ln/>
        </p:spPr>
      </p:sp>
      <p:sp>
        <p:nvSpPr>
          <p:cNvPr id="17" name="Text 15"/>
          <p:cNvSpPr txBox="1"/>
          <p:nvPr/>
        </p:nvSpPr>
        <p:spPr>
          <a:xfrm>
            <a:off x="5936285" y="1499616"/>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FY30</a:t>
            </a:r>
            <a:endParaRPr lang="en-US" sz="800" dirty="0"/>
          </a:p>
        </p:txBody>
      </p:sp>
      <p:sp>
        <p:nvSpPr>
          <p:cNvPr id="18" name="Shape 16"/>
          <p:cNvSpPr/>
          <p:nvPr/>
        </p:nvSpPr>
        <p:spPr>
          <a:xfrm>
            <a:off x="6717182" y="1499616"/>
            <a:ext cx="844906" cy="237744"/>
          </a:xfrm>
          <a:prstGeom prst="rect">
            <a:avLst/>
          </a:prstGeom>
          <a:solidFill>
            <a:srgbClr val="10233A"/>
          </a:solidFill>
          <a:ln/>
        </p:spPr>
      </p:sp>
      <p:sp>
        <p:nvSpPr>
          <p:cNvPr id="19" name="Text 17"/>
          <p:cNvSpPr txBox="1"/>
          <p:nvPr/>
        </p:nvSpPr>
        <p:spPr>
          <a:xfrm>
            <a:off x="6781190" y="1499616"/>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FY31</a:t>
            </a:r>
            <a:endParaRPr lang="en-US" sz="800" dirty="0"/>
          </a:p>
        </p:txBody>
      </p:sp>
      <p:sp>
        <p:nvSpPr>
          <p:cNvPr id="20" name="Shape 18"/>
          <p:cNvSpPr/>
          <p:nvPr/>
        </p:nvSpPr>
        <p:spPr>
          <a:xfrm>
            <a:off x="7562088" y="1499616"/>
            <a:ext cx="844906" cy="237744"/>
          </a:xfrm>
          <a:prstGeom prst="rect">
            <a:avLst/>
          </a:prstGeom>
          <a:solidFill>
            <a:srgbClr val="10233A"/>
          </a:solidFill>
          <a:ln/>
        </p:spPr>
      </p:sp>
      <p:sp>
        <p:nvSpPr>
          <p:cNvPr id="21" name="Text 19"/>
          <p:cNvSpPr txBox="1"/>
          <p:nvPr/>
        </p:nvSpPr>
        <p:spPr>
          <a:xfrm>
            <a:off x="7626096" y="1499616"/>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FY32</a:t>
            </a:r>
            <a:endParaRPr lang="en-US" sz="800" dirty="0"/>
          </a:p>
        </p:txBody>
      </p:sp>
      <p:sp>
        <p:nvSpPr>
          <p:cNvPr id="22" name="Shape 20"/>
          <p:cNvSpPr/>
          <p:nvPr/>
        </p:nvSpPr>
        <p:spPr>
          <a:xfrm>
            <a:off x="8406994" y="1499616"/>
            <a:ext cx="844906" cy="237744"/>
          </a:xfrm>
          <a:prstGeom prst="rect">
            <a:avLst/>
          </a:prstGeom>
          <a:solidFill>
            <a:srgbClr val="10233A"/>
          </a:solidFill>
          <a:ln/>
        </p:spPr>
      </p:sp>
      <p:sp>
        <p:nvSpPr>
          <p:cNvPr id="23" name="Text 21"/>
          <p:cNvSpPr txBox="1"/>
          <p:nvPr/>
        </p:nvSpPr>
        <p:spPr>
          <a:xfrm>
            <a:off x="8471002" y="1499616"/>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FY33</a:t>
            </a:r>
            <a:endParaRPr lang="en-US" sz="800" dirty="0"/>
          </a:p>
        </p:txBody>
      </p:sp>
      <p:sp>
        <p:nvSpPr>
          <p:cNvPr id="24" name="Shape 22"/>
          <p:cNvSpPr/>
          <p:nvPr/>
        </p:nvSpPr>
        <p:spPr>
          <a:xfrm>
            <a:off x="9251899" y="1499616"/>
            <a:ext cx="844906" cy="237744"/>
          </a:xfrm>
          <a:prstGeom prst="rect">
            <a:avLst/>
          </a:prstGeom>
          <a:solidFill>
            <a:srgbClr val="10233A"/>
          </a:solidFill>
          <a:ln/>
        </p:spPr>
      </p:sp>
      <p:sp>
        <p:nvSpPr>
          <p:cNvPr id="25" name="Text 23"/>
          <p:cNvSpPr txBox="1"/>
          <p:nvPr/>
        </p:nvSpPr>
        <p:spPr>
          <a:xfrm>
            <a:off x="9315907" y="1499616"/>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FY34</a:t>
            </a:r>
            <a:endParaRPr lang="en-US" sz="800" dirty="0"/>
          </a:p>
        </p:txBody>
      </p:sp>
      <p:sp>
        <p:nvSpPr>
          <p:cNvPr id="26" name="Shape 24"/>
          <p:cNvSpPr/>
          <p:nvPr/>
        </p:nvSpPr>
        <p:spPr>
          <a:xfrm>
            <a:off x="10096805" y="1499616"/>
            <a:ext cx="844906" cy="237744"/>
          </a:xfrm>
          <a:prstGeom prst="rect">
            <a:avLst/>
          </a:prstGeom>
          <a:solidFill>
            <a:srgbClr val="10233A"/>
          </a:solidFill>
          <a:ln/>
        </p:spPr>
      </p:sp>
      <p:sp>
        <p:nvSpPr>
          <p:cNvPr id="27" name="Text 25"/>
          <p:cNvSpPr txBox="1"/>
          <p:nvPr/>
        </p:nvSpPr>
        <p:spPr>
          <a:xfrm>
            <a:off x="10160813" y="1499616"/>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FY35</a:t>
            </a:r>
            <a:endParaRPr lang="en-US" sz="800" dirty="0"/>
          </a:p>
        </p:txBody>
      </p:sp>
      <p:sp>
        <p:nvSpPr>
          <p:cNvPr id="28" name="Shape 26"/>
          <p:cNvSpPr/>
          <p:nvPr/>
        </p:nvSpPr>
        <p:spPr>
          <a:xfrm>
            <a:off x="10941710" y="1499616"/>
            <a:ext cx="844906" cy="237744"/>
          </a:xfrm>
          <a:prstGeom prst="rect">
            <a:avLst/>
          </a:prstGeom>
          <a:solidFill>
            <a:srgbClr val="10233A"/>
          </a:solidFill>
          <a:ln/>
        </p:spPr>
      </p:sp>
      <p:sp>
        <p:nvSpPr>
          <p:cNvPr id="29" name="Text 27"/>
          <p:cNvSpPr txBox="1"/>
          <p:nvPr/>
        </p:nvSpPr>
        <p:spPr>
          <a:xfrm>
            <a:off x="11005718" y="1499616"/>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FY36</a:t>
            </a:r>
            <a:endParaRPr lang="en-US" sz="800" dirty="0"/>
          </a:p>
        </p:txBody>
      </p:sp>
      <p:sp>
        <p:nvSpPr>
          <p:cNvPr id="30" name="Shape 28"/>
          <p:cNvSpPr/>
          <p:nvPr/>
        </p:nvSpPr>
        <p:spPr>
          <a:xfrm>
            <a:off x="411480" y="1737360"/>
            <a:ext cx="2926080" cy="201168"/>
          </a:xfrm>
          <a:prstGeom prst="rect">
            <a:avLst/>
          </a:prstGeom>
          <a:solidFill>
            <a:srgbClr val="FFFFFF"/>
          </a:solidFill>
          <a:ln w="6350">
            <a:solidFill>
              <a:srgbClr val="D3DCE5"/>
            </a:solidFill>
            <a:prstDash val="solid"/>
          </a:ln>
        </p:spPr>
      </p:sp>
      <p:sp>
        <p:nvSpPr>
          <p:cNvPr id="31" name="Text 29"/>
          <p:cNvSpPr txBox="1"/>
          <p:nvPr/>
        </p:nvSpPr>
        <p:spPr>
          <a:xfrm>
            <a:off x="475488" y="1737360"/>
            <a:ext cx="2798064" cy="20116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Bear</a:t>
            </a:r>
            <a:endParaRPr lang="en-US" sz="820" dirty="0"/>
          </a:p>
        </p:txBody>
      </p:sp>
      <p:sp>
        <p:nvSpPr>
          <p:cNvPr id="32" name="Shape 30"/>
          <p:cNvSpPr/>
          <p:nvPr/>
        </p:nvSpPr>
        <p:spPr>
          <a:xfrm>
            <a:off x="3337560" y="1737360"/>
            <a:ext cx="844906" cy="201168"/>
          </a:xfrm>
          <a:prstGeom prst="rect">
            <a:avLst/>
          </a:prstGeom>
          <a:solidFill>
            <a:srgbClr val="FFFFFF"/>
          </a:solidFill>
          <a:ln w="6350">
            <a:solidFill>
              <a:srgbClr val="D3DCE5"/>
            </a:solidFill>
            <a:prstDash val="solid"/>
          </a:ln>
        </p:spPr>
      </p:sp>
      <p:sp>
        <p:nvSpPr>
          <p:cNvPr id="33" name="Text 31"/>
          <p:cNvSpPr txBox="1"/>
          <p:nvPr/>
        </p:nvSpPr>
        <p:spPr>
          <a:xfrm>
            <a:off x="3401568" y="173736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625</a:t>
            </a:r>
            <a:endParaRPr lang="en-US" sz="820" dirty="0"/>
          </a:p>
        </p:txBody>
      </p:sp>
      <p:sp>
        <p:nvSpPr>
          <p:cNvPr id="34" name="Shape 32"/>
          <p:cNvSpPr/>
          <p:nvPr/>
        </p:nvSpPr>
        <p:spPr>
          <a:xfrm>
            <a:off x="4182466" y="1737360"/>
            <a:ext cx="844906" cy="201168"/>
          </a:xfrm>
          <a:prstGeom prst="rect">
            <a:avLst/>
          </a:prstGeom>
          <a:solidFill>
            <a:srgbClr val="FFFFFF"/>
          </a:solidFill>
          <a:ln w="6350">
            <a:solidFill>
              <a:srgbClr val="D3DCE5"/>
            </a:solidFill>
            <a:prstDash val="solid"/>
          </a:ln>
        </p:spPr>
      </p:sp>
      <p:sp>
        <p:nvSpPr>
          <p:cNvPr id="35" name="Text 33"/>
          <p:cNvSpPr txBox="1"/>
          <p:nvPr/>
        </p:nvSpPr>
        <p:spPr>
          <a:xfrm>
            <a:off x="4246474" y="173736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645</a:t>
            </a:r>
            <a:endParaRPr lang="en-US" sz="820" dirty="0"/>
          </a:p>
        </p:txBody>
      </p:sp>
      <p:sp>
        <p:nvSpPr>
          <p:cNvPr id="36" name="Shape 34"/>
          <p:cNvSpPr/>
          <p:nvPr/>
        </p:nvSpPr>
        <p:spPr>
          <a:xfrm>
            <a:off x="5027371" y="1737360"/>
            <a:ext cx="844906" cy="201168"/>
          </a:xfrm>
          <a:prstGeom prst="rect">
            <a:avLst/>
          </a:prstGeom>
          <a:solidFill>
            <a:srgbClr val="FFFFFF"/>
          </a:solidFill>
          <a:ln w="6350">
            <a:solidFill>
              <a:srgbClr val="D3DCE5"/>
            </a:solidFill>
            <a:prstDash val="solid"/>
          </a:ln>
        </p:spPr>
      </p:sp>
      <p:sp>
        <p:nvSpPr>
          <p:cNvPr id="37" name="Text 35"/>
          <p:cNvSpPr txBox="1"/>
          <p:nvPr/>
        </p:nvSpPr>
        <p:spPr>
          <a:xfrm>
            <a:off x="5091379" y="173736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655</a:t>
            </a:r>
            <a:endParaRPr lang="en-US" sz="820" dirty="0"/>
          </a:p>
        </p:txBody>
      </p:sp>
      <p:sp>
        <p:nvSpPr>
          <p:cNvPr id="38" name="Shape 36"/>
          <p:cNvSpPr/>
          <p:nvPr/>
        </p:nvSpPr>
        <p:spPr>
          <a:xfrm>
            <a:off x="5872277" y="1737360"/>
            <a:ext cx="844906" cy="201168"/>
          </a:xfrm>
          <a:prstGeom prst="rect">
            <a:avLst/>
          </a:prstGeom>
          <a:solidFill>
            <a:srgbClr val="FFFFFF"/>
          </a:solidFill>
          <a:ln w="6350">
            <a:solidFill>
              <a:srgbClr val="D3DCE5"/>
            </a:solidFill>
            <a:prstDash val="solid"/>
          </a:ln>
        </p:spPr>
      </p:sp>
      <p:sp>
        <p:nvSpPr>
          <p:cNvPr id="39" name="Text 37"/>
          <p:cNvSpPr txBox="1"/>
          <p:nvPr/>
        </p:nvSpPr>
        <p:spPr>
          <a:xfrm>
            <a:off x="5936285" y="173736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640</a:t>
            </a:r>
            <a:endParaRPr lang="en-US" sz="820" dirty="0"/>
          </a:p>
        </p:txBody>
      </p:sp>
      <p:sp>
        <p:nvSpPr>
          <p:cNvPr id="40" name="Shape 38"/>
          <p:cNvSpPr/>
          <p:nvPr/>
        </p:nvSpPr>
        <p:spPr>
          <a:xfrm>
            <a:off x="6717182" y="1737360"/>
            <a:ext cx="844906" cy="201168"/>
          </a:xfrm>
          <a:prstGeom prst="rect">
            <a:avLst/>
          </a:prstGeom>
          <a:solidFill>
            <a:srgbClr val="FFFFFF"/>
          </a:solidFill>
          <a:ln w="6350">
            <a:solidFill>
              <a:srgbClr val="D3DCE5"/>
            </a:solidFill>
            <a:prstDash val="solid"/>
          </a:ln>
        </p:spPr>
      </p:sp>
      <p:sp>
        <p:nvSpPr>
          <p:cNvPr id="41" name="Text 39"/>
          <p:cNvSpPr txBox="1"/>
          <p:nvPr/>
        </p:nvSpPr>
        <p:spPr>
          <a:xfrm>
            <a:off x="6781190" y="173736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625</a:t>
            </a:r>
            <a:endParaRPr lang="en-US" sz="820" dirty="0"/>
          </a:p>
        </p:txBody>
      </p:sp>
      <p:sp>
        <p:nvSpPr>
          <p:cNvPr id="42" name="Shape 40"/>
          <p:cNvSpPr/>
          <p:nvPr/>
        </p:nvSpPr>
        <p:spPr>
          <a:xfrm>
            <a:off x="7562088" y="1737360"/>
            <a:ext cx="844906" cy="201168"/>
          </a:xfrm>
          <a:prstGeom prst="rect">
            <a:avLst/>
          </a:prstGeom>
          <a:solidFill>
            <a:srgbClr val="FFFFFF"/>
          </a:solidFill>
          <a:ln w="6350">
            <a:solidFill>
              <a:srgbClr val="D3DCE5"/>
            </a:solidFill>
            <a:prstDash val="solid"/>
          </a:ln>
        </p:spPr>
      </p:sp>
      <p:sp>
        <p:nvSpPr>
          <p:cNvPr id="43" name="Text 41"/>
          <p:cNvSpPr txBox="1"/>
          <p:nvPr/>
        </p:nvSpPr>
        <p:spPr>
          <a:xfrm>
            <a:off x="7626096" y="173736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615</a:t>
            </a:r>
            <a:endParaRPr lang="en-US" sz="820" dirty="0"/>
          </a:p>
        </p:txBody>
      </p:sp>
      <p:sp>
        <p:nvSpPr>
          <p:cNvPr id="44" name="Shape 42"/>
          <p:cNvSpPr/>
          <p:nvPr/>
        </p:nvSpPr>
        <p:spPr>
          <a:xfrm>
            <a:off x="8406994" y="1737360"/>
            <a:ext cx="844906" cy="201168"/>
          </a:xfrm>
          <a:prstGeom prst="rect">
            <a:avLst/>
          </a:prstGeom>
          <a:solidFill>
            <a:srgbClr val="FFFFFF"/>
          </a:solidFill>
          <a:ln w="6350">
            <a:solidFill>
              <a:srgbClr val="D3DCE5"/>
            </a:solidFill>
            <a:prstDash val="solid"/>
          </a:ln>
        </p:spPr>
      </p:sp>
      <p:sp>
        <p:nvSpPr>
          <p:cNvPr id="45" name="Text 43"/>
          <p:cNvSpPr txBox="1"/>
          <p:nvPr/>
        </p:nvSpPr>
        <p:spPr>
          <a:xfrm>
            <a:off x="8471002" y="173736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610</a:t>
            </a:r>
            <a:endParaRPr lang="en-US" sz="820" dirty="0"/>
          </a:p>
        </p:txBody>
      </p:sp>
      <p:sp>
        <p:nvSpPr>
          <p:cNvPr id="46" name="Shape 44"/>
          <p:cNvSpPr/>
          <p:nvPr/>
        </p:nvSpPr>
        <p:spPr>
          <a:xfrm>
            <a:off x="9251899" y="1737360"/>
            <a:ext cx="844906" cy="201168"/>
          </a:xfrm>
          <a:prstGeom prst="rect">
            <a:avLst/>
          </a:prstGeom>
          <a:solidFill>
            <a:srgbClr val="FFFFFF"/>
          </a:solidFill>
          <a:ln w="6350">
            <a:solidFill>
              <a:srgbClr val="D3DCE5"/>
            </a:solidFill>
            <a:prstDash val="solid"/>
          </a:ln>
        </p:spPr>
      </p:sp>
      <p:sp>
        <p:nvSpPr>
          <p:cNvPr id="47" name="Text 45"/>
          <p:cNvSpPr txBox="1"/>
          <p:nvPr/>
        </p:nvSpPr>
        <p:spPr>
          <a:xfrm>
            <a:off x="9315907" y="173736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610</a:t>
            </a:r>
            <a:endParaRPr lang="en-US" sz="820" dirty="0"/>
          </a:p>
        </p:txBody>
      </p:sp>
      <p:sp>
        <p:nvSpPr>
          <p:cNvPr id="48" name="Shape 46"/>
          <p:cNvSpPr/>
          <p:nvPr/>
        </p:nvSpPr>
        <p:spPr>
          <a:xfrm>
            <a:off x="10096805" y="1737360"/>
            <a:ext cx="844906" cy="201168"/>
          </a:xfrm>
          <a:prstGeom prst="rect">
            <a:avLst/>
          </a:prstGeom>
          <a:solidFill>
            <a:srgbClr val="FFFFFF"/>
          </a:solidFill>
          <a:ln w="6350">
            <a:solidFill>
              <a:srgbClr val="D3DCE5"/>
            </a:solidFill>
            <a:prstDash val="solid"/>
          </a:ln>
        </p:spPr>
      </p:sp>
      <p:sp>
        <p:nvSpPr>
          <p:cNvPr id="49" name="Text 47"/>
          <p:cNvSpPr txBox="1"/>
          <p:nvPr/>
        </p:nvSpPr>
        <p:spPr>
          <a:xfrm>
            <a:off x="10160813" y="173736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610</a:t>
            </a:r>
            <a:endParaRPr lang="en-US" sz="820" dirty="0"/>
          </a:p>
        </p:txBody>
      </p:sp>
      <p:sp>
        <p:nvSpPr>
          <p:cNvPr id="50" name="Shape 48"/>
          <p:cNvSpPr/>
          <p:nvPr/>
        </p:nvSpPr>
        <p:spPr>
          <a:xfrm>
            <a:off x="10941710" y="1737360"/>
            <a:ext cx="844906" cy="201168"/>
          </a:xfrm>
          <a:prstGeom prst="rect">
            <a:avLst/>
          </a:prstGeom>
          <a:solidFill>
            <a:srgbClr val="FFFFFF"/>
          </a:solidFill>
          <a:ln w="6350">
            <a:solidFill>
              <a:srgbClr val="D3DCE5"/>
            </a:solidFill>
            <a:prstDash val="solid"/>
          </a:ln>
        </p:spPr>
      </p:sp>
      <p:sp>
        <p:nvSpPr>
          <p:cNvPr id="51" name="Text 49"/>
          <p:cNvSpPr txBox="1"/>
          <p:nvPr/>
        </p:nvSpPr>
        <p:spPr>
          <a:xfrm>
            <a:off x="11005718" y="173736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610</a:t>
            </a:r>
            <a:endParaRPr lang="en-US" sz="820" dirty="0"/>
          </a:p>
        </p:txBody>
      </p:sp>
      <p:sp>
        <p:nvSpPr>
          <p:cNvPr id="52" name="Shape 50"/>
          <p:cNvSpPr/>
          <p:nvPr/>
        </p:nvSpPr>
        <p:spPr>
          <a:xfrm>
            <a:off x="411480" y="1938528"/>
            <a:ext cx="2926080" cy="201168"/>
          </a:xfrm>
          <a:prstGeom prst="rect">
            <a:avLst/>
          </a:prstGeom>
          <a:solidFill>
            <a:srgbClr val="F7F9FB"/>
          </a:solidFill>
          <a:ln w="6350">
            <a:solidFill>
              <a:srgbClr val="D3DCE5"/>
            </a:solidFill>
            <a:prstDash val="solid"/>
          </a:ln>
        </p:spPr>
      </p:sp>
      <p:sp>
        <p:nvSpPr>
          <p:cNvPr id="53" name="Text 51"/>
          <p:cNvSpPr txBox="1"/>
          <p:nvPr/>
        </p:nvSpPr>
        <p:spPr>
          <a:xfrm>
            <a:off x="475488" y="1938528"/>
            <a:ext cx="2798064" cy="20116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Base</a:t>
            </a:r>
            <a:endParaRPr lang="en-US" sz="820" dirty="0"/>
          </a:p>
        </p:txBody>
      </p:sp>
      <p:sp>
        <p:nvSpPr>
          <p:cNvPr id="54" name="Shape 52"/>
          <p:cNvSpPr/>
          <p:nvPr/>
        </p:nvSpPr>
        <p:spPr>
          <a:xfrm>
            <a:off x="3337560" y="1938528"/>
            <a:ext cx="844906" cy="201168"/>
          </a:xfrm>
          <a:prstGeom prst="rect">
            <a:avLst/>
          </a:prstGeom>
          <a:solidFill>
            <a:srgbClr val="F7F9FB"/>
          </a:solidFill>
          <a:ln w="6350">
            <a:solidFill>
              <a:srgbClr val="D3DCE5"/>
            </a:solidFill>
            <a:prstDash val="solid"/>
          </a:ln>
        </p:spPr>
      </p:sp>
      <p:sp>
        <p:nvSpPr>
          <p:cNvPr id="55" name="Text 53"/>
          <p:cNvSpPr txBox="1"/>
          <p:nvPr/>
        </p:nvSpPr>
        <p:spPr>
          <a:xfrm>
            <a:off x="3401568" y="1938528"/>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600</a:t>
            </a:r>
            <a:endParaRPr lang="en-US" sz="820" dirty="0"/>
          </a:p>
        </p:txBody>
      </p:sp>
      <p:sp>
        <p:nvSpPr>
          <p:cNvPr id="56" name="Shape 54"/>
          <p:cNvSpPr/>
          <p:nvPr/>
        </p:nvSpPr>
        <p:spPr>
          <a:xfrm>
            <a:off x="4182466" y="1938528"/>
            <a:ext cx="844906" cy="201168"/>
          </a:xfrm>
          <a:prstGeom prst="rect">
            <a:avLst/>
          </a:prstGeom>
          <a:solidFill>
            <a:srgbClr val="F7F9FB"/>
          </a:solidFill>
          <a:ln w="6350">
            <a:solidFill>
              <a:srgbClr val="D3DCE5"/>
            </a:solidFill>
            <a:prstDash val="solid"/>
          </a:ln>
        </p:spPr>
      </p:sp>
      <p:sp>
        <p:nvSpPr>
          <p:cNvPr id="57" name="Text 55"/>
          <p:cNvSpPr txBox="1"/>
          <p:nvPr/>
        </p:nvSpPr>
        <p:spPr>
          <a:xfrm>
            <a:off x="4246474" y="1938528"/>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590</a:t>
            </a:r>
            <a:endParaRPr lang="en-US" sz="820" dirty="0"/>
          </a:p>
        </p:txBody>
      </p:sp>
      <p:sp>
        <p:nvSpPr>
          <p:cNvPr id="58" name="Shape 56"/>
          <p:cNvSpPr/>
          <p:nvPr/>
        </p:nvSpPr>
        <p:spPr>
          <a:xfrm>
            <a:off x="5027371" y="1938528"/>
            <a:ext cx="844906" cy="201168"/>
          </a:xfrm>
          <a:prstGeom prst="rect">
            <a:avLst/>
          </a:prstGeom>
          <a:solidFill>
            <a:srgbClr val="F7F9FB"/>
          </a:solidFill>
          <a:ln w="6350">
            <a:solidFill>
              <a:srgbClr val="D3DCE5"/>
            </a:solidFill>
            <a:prstDash val="solid"/>
          </a:ln>
        </p:spPr>
      </p:sp>
      <p:sp>
        <p:nvSpPr>
          <p:cNvPr id="59" name="Text 57"/>
          <p:cNvSpPr txBox="1"/>
          <p:nvPr/>
        </p:nvSpPr>
        <p:spPr>
          <a:xfrm>
            <a:off x="5091379" y="1938528"/>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585</a:t>
            </a:r>
            <a:endParaRPr lang="en-US" sz="820" dirty="0"/>
          </a:p>
        </p:txBody>
      </p:sp>
      <p:sp>
        <p:nvSpPr>
          <p:cNvPr id="60" name="Shape 58"/>
          <p:cNvSpPr/>
          <p:nvPr/>
        </p:nvSpPr>
        <p:spPr>
          <a:xfrm>
            <a:off x="5872277" y="1938528"/>
            <a:ext cx="844906" cy="201168"/>
          </a:xfrm>
          <a:prstGeom prst="rect">
            <a:avLst/>
          </a:prstGeom>
          <a:solidFill>
            <a:srgbClr val="F7F9FB"/>
          </a:solidFill>
          <a:ln w="6350">
            <a:solidFill>
              <a:srgbClr val="D3DCE5"/>
            </a:solidFill>
            <a:prstDash val="solid"/>
          </a:ln>
        </p:spPr>
      </p:sp>
      <p:sp>
        <p:nvSpPr>
          <p:cNvPr id="61" name="Text 59"/>
          <p:cNvSpPr txBox="1"/>
          <p:nvPr/>
        </p:nvSpPr>
        <p:spPr>
          <a:xfrm>
            <a:off x="5936285" y="1938528"/>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580</a:t>
            </a:r>
            <a:endParaRPr lang="en-US" sz="820" dirty="0"/>
          </a:p>
        </p:txBody>
      </p:sp>
      <p:sp>
        <p:nvSpPr>
          <p:cNvPr id="62" name="Shape 60"/>
          <p:cNvSpPr/>
          <p:nvPr/>
        </p:nvSpPr>
        <p:spPr>
          <a:xfrm>
            <a:off x="6717182" y="1938528"/>
            <a:ext cx="844906" cy="201168"/>
          </a:xfrm>
          <a:prstGeom prst="rect">
            <a:avLst/>
          </a:prstGeom>
          <a:solidFill>
            <a:srgbClr val="F7F9FB"/>
          </a:solidFill>
          <a:ln w="6350">
            <a:solidFill>
              <a:srgbClr val="D3DCE5"/>
            </a:solidFill>
            <a:prstDash val="solid"/>
          </a:ln>
        </p:spPr>
      </p:sp>
      <p:sp>
        <p:nvSpPr>
          <p:cNvPr id="63" name="Text 61"/>
          <p:cNvSpPr txBox="1"/>
          <p:nvPr/>
        </p:nvSpPr>
        <p:spPr>
          <a:xfrm>
            <a:off x="6781190" y="1938528"/>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570</a:t>
            </a:r>
            <a:endParaRPr lang="en-US" sz="820" dirty="0"/>
          </a:p>
        </p:txBody>
      </p:sp>
      <p:sp>
        <p:nvSpPr>
          <p:cNvPr id="64" name="Shape 62"/>
          <p:cNvSpPr/>
          <p:nvPr/>
        </p:nvSpPr>
        <p:spPr>
          <a:xfrm>
            <a:off x="7562088" y="1938528"/>
            <a:ext cx="844906" cy="201168"/>
          </a:xfrm>
          <a:prstGeom prst="rect">
            <a:avLst/>
          </a:prstGeom>
          <a:solidFill>
            <a:srgbClr val="F7F9FB"/>
          </a:solidFill>
          <a:ln w="6350">
            <a:solidFill>
              <a:srgbClr val="D3DCE5"/>
            </a:solidFill>
            <a:prstDash val="solid"/>
          </a:ln>
        </p:spPr>
      </p:sp>
      <p:sp>
        <p:nvSpPr>
          <p:cNvPr id="65" name="Text 63"/>
          <p:cNvSpPr txBox="1"/>
          <p:nvPr/>
        </p:nvSpPr>
        <p:spPr>
          <a:xfrm>
            <a:off x="7626096" y="1938528"/>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565</a:t>
            </a:r>
            <a:endParaRPr lang="en-US" sz="820" dirty="0"/>
          </a:p>
        </p:txBody>
      </p:sp>
      <p:sp>
        <p:nvSpPr>
          <p:cNvPr id="66" name="Shape 64"/>
          <p:cNvSpPr/>
          <p:nvPr/>
        </p:nvSpPr>
        <p:spPr>
          <a:xfrm>
            <a:off x="8406994" y="1938528"/>
            <a:ext cx="844906" cy="201168"/>
          </a:xfrm>
          <a:prstGeom prst="rect">
            <a:avLst/>
          </a:prstGeom>
          <a:solidFill>
            <a:srgbClr val="F7F9FB"/>
          </a:solidFill>
          <a:ln w="6350">
            <a:solidFill>
              <a:srgbClr val="D3DCE5"/>
            </a:solidFill>
            <a:prstDash val="solid"/>
          </a:ln>
        </p:spPr>
      </p:sp>
      <p:sp>
        <p:nvSpPr>
          <p:cNvPr id="67" name="Text 65"/>
          <p:cNvSpPr txBox="1"/>
          <p:nvPr/>
        </p:nvSpPr>
        <p:spPr>
          <a:xfrm>
            <a:off x="8471002" y="1938528"/>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565</a:t>
            </a:r>
            <a:endParaRPr lang="en-US" sz="820" dirty="0"/>
          </a:p>
        </p:txBody>
      </p:sp>
      <p:sp>
        <p:nvSpPr>
          <p:cNvPr id="68" name="Shape 66"/>
          <p:cNvSpPr/>
          <p:nvPr/>
        </p:nvSpPr>
        <p:spPr>
          <a:xfrm>
            <a:off x="9251899" y="1938528"/>
            <a:ext cx="844906" cy="201168"/>
          </a:xfrm>
          <a:prstGeom prst="rect">
            <a:avLst/>
          </a:prstGeom>
          <a:solidFill>
            <a:srgbClr val="F7F9FB"/>
          </a:solidFill>
          <a:ln w="6350">
            <a:solidFill>
              <a:srgbClr val="D3DCE5"/>
            </a:solidFill>
            <a:prstDash val="solid"/>
          </a:ln>
        </p:spPr>
      </p:sp>
      <p:sp>
        <p:nvSpPr>
          <p:cNvPr id="69" name="Text 67"/>
          <p:cNvSpPr txBox="1"/>
          <p:nvPr/>
        </p:nvSpPr>
        <p:spPr>
          <a:xfrm>
            <a:off x="9315907" y="1938528"/>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565</a:t>
            </a:r>
            <a:endParaRPr lang="en-US" sz="820" dirty="0"/>
          </a:p>
        </p:txBody>
      </p:sp>
      <p:sp>
        <p:nvSpPr>
          <p:cNvPr id="70" name="Shape 68"/>
          <p:cNvSpPr/>
          <p:nvPr/>
        </p:nvSpPr>
        <p:spPr>
          <a:xfrm>
            <a:off x="10096805" y="1938528"/>
            <a:ext cx="844906" cy="201168"/>
          </a:xfrm>
          <a:prstGeom prst="rect">
            <a:avLst/>
          </a:prstGeom>
          <a:solidFill>
            <a:srgbClr val="F7F9FB"/>
          </a:solidFill>
          <a:ln w="6350">
            <a:solidFill>
              <a:srgbClr val="D3DCE5"/>
            </a:solidFill>
            <a:prstDash val="solid"/>
          </a:ln>
        </p:spPr>
      </p:sp>
      <p:sp>
        <p:nvSpPr>
          <p:cNvPr id="71" name="Text 69"/>
          <p:cNvSpPr txBox="1"/>
          <p:nvPr/>
        </p:nvSpPr>
        <p:spPr>
          <a:xfrm>
            <a:off x="10160813" y="1938528"/>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565</a:t>
            </a:r>
            <a:endParaRPr lang="en-US" sz="820" dirty="0"/>
          </a:p>
        </p:txBody>
      </p:sp>
      <p:sp>
        <p:nvSpPr>
          <p:cNvPr id="72" name="Shape 70"/>
          <p:cNvSpPr/>
          <p:nvPr/>
        </p:nvSpPr>
        <p:spPr>
          <a:xfrm>
            <a:off x="10941710" y="1938528"/>
            <a:ext cx="844906" cy="201168"/>
          </a:xfrm>
          <a:prstGeom prst="rect">
            <a:avLst/>
          </a:prstGeom>
          <a:solidFill>
            <a:srgbClr val="F7F9FB"/>
          </a:solidFill>
          <a:ln w="6350">
            <a:solidFill>
              <a:srgbClr val="D3DCE5"/>
            </a:solidFill>
            <a:prstDash val="solid"/>
          </a:ln>
        </p:spPr>
      </p:sp>
      <p:sp>
        <p:nvSpPr>
          <p:cNvPr id="73" name="Text 71"/>
          <p:cNvSpPr txBox="1"/>
          <p:nvPr/>
        </p:nvSpPr>
        <p:spPr>
          <a:xfrm>
            <a:off x="11005718" y="1938528"/>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565</a:t>
            </a:r>
            <a:endParaRPr lang="en-US" sz="820" dirty="0"/>
          </a:p>
        </p:txBody>
      </p:sp>
      <p:sp>
        <p:nvSpPr>
          <p:cNvPr id="74" name="Shape 72"/>
          <p:cNvSpPr/>
          <p:nvPr/>
        </p:nvSpPr>
        <p:spPr>
          <a:xfrm>
            <a:off x="411480" y="2139696"/>
            <a:ext cx="2926080" cy="201168"/>
          </a:xfrm>
          <a:prstGeom prst="rect">
            <a:avLst/>
          </a:prstGeom>
          <a:solidFill>
            <a:srgbClr val="FFFFFF"/>
          </a:solidFill>
          <a:ln w="6350">
            <a:solidFill>
              <a:srgbClr val="D3DCE5"/>
            </a:solidFill>
            <a:prstDash val="solid"/>
          </a:ln>
        </p:spPr>
      </p:sp>
      <p:sp>
        <p:nvSpPr>
          <p:cNvPr id="75" name="Text 73"/>
          <p:cNvSpPr txBox="1"/>
          <p:nvPr/>
        </p:nvSpPr>
        <p:spPr>
          <a:xfrm>
            <a:off x="475488" y="2139696"/>
            <a:ext cx="2798064" cy="20116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Bull</a:t>
            </a:r>
            <a:endParaRPr lang="en-US" sz="820" dirty="0"/>
          </a:p>
        </p:txBody>
      </p:sp>
      <p:sp>
        <p:nvSpPr>
          <p:cNvPr id="76" name="Shape 74"/>
          <p:cNvSpPr/>
          <p:nvPr/>
        </p:nvSpPr>
        <p:spPr>
          <a:xfrm>
            <a:off x="3337560" y="2139696"/>
            <a:ext cx="844906" cy="201168"/>
          </a:xfrm>
          <a:prstGeom prst="rect">
            <a:avLst/>
          </a:prstGeom>
          <a:solidFill>
            <a:srgbClr val="FFFFFF"/>
          </a:solidFill>
          <a:ln w="6350">
            <a:solidFill>
              <a:srgbClr val="D3DCE5"/>
            </a:solidFill>
            <a:prstDash val="solid"/>
          </a:ln>
        </p:spPr>
      </p:sp>
      <p:sp>
        <p:nvSpPr>
          <p:cNvPr id="77" name="Text 75"/>
          <p:cNvSpPr txBox="1"/>
          <p:nvPr/>
        </p:nvSpPr>
        <p:spPr>
          <a:xfrm>
            <a:off x="3401568" y="2139696"/>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585</a:t>
            </a:r>
            <a:endParaRPr lang="en-US" sz="820" dirty="0"/>
          </a:p>
        </p:txBody>
      </p:sp>
      <p:sp>
        <p:nvSpPr>
          <p:cNvPr id="78" name="Shape 76"/>
          <p:cNvSpPr/>
          <p:nvPr/>
        </p:nvSpPr>
        <p:spPr>
          <a:xfrm>
            <a:off x="4182466" y="2139696"/>
            <a:ext cx="844906" cy="201168"/>
          </a:xfrm>
          <a:prstGeom prst="rect">
            <a:avLst/>
          </a:prstGeom>
          <a:solidFill>
            <a:srgbClr val="FFFFFF"/>
          </a:solidFill>
          <a:ln w="6350">
            <a:solidFill>
              <a:srgbClr val="D3DCE5"/>
            </a:solidFill>
            <a:prstDash val="solid"/>
          </a:ln>
        </p:spPr>
      </p:sp>
      <p:sp>
        <p:nvSpPr>
          <p:cNvPr id="79" name="Text 77"/>
          <p:cNvSpPr txBox="1"/>
          <p:nvPr/>
        </p:nvSpPr>
        <p:spPr>
          <a:xfrm>
            <a:off x="4246474" y="2139696"/>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565</a:t>
            </a:r>
            <a:endParaRPr lang="en-US" sz="820" dirty="0"/>
          </a:p>
        </p:txBody>
      </p:sp>
      <p:sp>
        <p:nvSpPr>
          <p:cNvPr id="80" name="Shape 78"/>
          <p:cNvSpPr/>
          <p:nvPr/>
        </p:nvSpPr>
        <p:spPr>
          <a:xfrm>
            <a:off x="5027371" y="2139696"/>
            <a:ext cx="844906" cy="201168"/>
          </a:xfrm>
          <a:prstGeom prst="rect">
            <a:avLst/>
          </a:prstGeom>
          <a:solidFill>
            <a:srgbClr val="FFFFFF"/>
          </a:solidFill>
          <a:ln w="6350">
            <a:solidFill>
              <a:srgbClr val="D3DCE5"/>
            </a:solidFill>
            <a:prstDash val="solid"/>
          </a:ln>
        </p:spPr>
      </p:sp>
      <p:sp>
        <p:nvSpPr>
          <p:cNvPr id="81" name="Text 79"/>
          <p:cNvSpPr txBox="1"/>
          <p:nvPr/>
        </p:nvSpPr>
        <p:spPr>
          <a:xfrm>
            <a:off x="5091379" y="2139696"/>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550</a:t>
            </a:r>
            <a:endParaRPr lang="en-US" sz="820" dirty="0"/>
          </a:p>
        </p:txBody>
      </p:sp>
      <p:sp>
        <p:nvSpPr>
          <p:cNvPr id="82" name="Shape 80"/>
          <p:cNvSpPr/>
          <p:nvPr/>
        </p:nvSpPr>
        <p:spPr>
          <a:xfrm>
            <a:off x="5872277" y="2139696"/>
            <a:ext cx="844906" cy="201168"/>
          </a:xfrm>
          <a:prstGeom prst="rect">
            <a:avLst/>
          </a:prstGeom>
          <a:solidFill>
            <a:srgbClr val="FFFFFF"/>
          </a:solidFill>
          <a:ln w="6350">
            <a:solidFill>
              <a:srgbClr val="D3DCE5"/>
            </a:solidFill>
            <a:prstDash val="solid"/>
          </a:ln>
        </p:spPr>
      </p:sp>
      <p:sp>
        <p:nvSpPr>
          <p:cNvPr id="83" name="Text 81"/>
          <p:cNvSpPr txBox="1"/>
          <p:nvPr/>
        </p:nvSpPr>
        <p:spPr>
          <a:xfrm>
            <a:off x="5936285" y="2139696"/>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540</a:t>
            </a:r>
            <a:endParaRPr lang="en-US" sz="820" dirty="0"/>
          </a:p>
        </p:txBody>
      </p:sp>
      <p:sp>
        <p:nvSpPr>
          <p:cNvPr id="84" name="Shape 82"/>
          <p:cNvSpPr/>
          <p:nvPr/>
        </p:nvSpPr>
        <p:spPr>
          <a:xfrm>
            <a:off x="6717182" y="2139696"/>
            <a:ext cx="844906" cy="201168"/>
          </a:xfrm>
          <a:prstGeom prst="rect">
            <a:avLst/>
          </a:prstGeom>
          <a:solidFill>
            <a:srgbClr val="FFFFFF"/>
          </a:solidFill>
          <a:ln w="6350">
            <a:solidFill>
              <a:srgbClr val="D3DCE5"/>
            </a:solidFill>
            <a:prstDash val="solid"/>
          </a:ln>
        </p:spPr>
      </p:sp>
      <p:sp>
        <p:nvSpPr>
          <p:cNvPr id="85" name="Text 83"/>
          <p:cNvSpPr txBox="1"/>
          <p:nvPr/>
        </p:nvSpPr>
        <p:spPr>
          <a:xfrm>
            <a:off x="6781190" y="2139696"/>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530</a:t>
            </a:r>
            <a:endParaRPr lang="en-US" sz="820" dirty="0"/>
          </a:p>
        </p:txBody>
      </p:sp>
      <p:sp>
        <p:nvSpPr>
          <p:cNvPr id="86" name="Shape 84"/>
          <p:cNvSpPr/>
          <p:nvPr/>
        </p:nvSpPr>
        <p:spPr>
          <a:xfrm>
            <a:off x="7562088" y="2139696"/>
            <a:ext cx="844906" cy="201168"/>
          </a:xfrm>
          <a:prstGeom prst="rect">
            <a:avLst/>
          </a:prstGeom>
          <a:solidFill>
            <a:srgbClr val="FFFFFF"/>
          </a:solidFill>
          <a:ln w="6350">
            <a:solidFill>
              <a:srgbClr val="D3DCE5"/>
            </a:solidFill>
            <a:prstDash val="solid"/>
          </a:ln>
        </p:spPr>
      </p:sp>
      <p:sp>
        <p:nvSpPr>
          <p:cNvPr id="87" name="Text 85"/>
          <p:cNvSpPr txBox="1"/>
          <p:nvPr/>
        </p:nvSpPr>
        <p:spPr>
          <a:xfrm>
            <a:off x="7626096" y="2139696"/>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525</a:t>
            </a:r>
            <a:endParaRPr lang="en-US" sz="820" dirty="0"/>
          </a:p>
        </p:txBody>
      </p:sp>
      <p:sp>
        <p:nvSpPr>
          <p:cNvPr id="88" name="Shape 86"/>
          <p:cNvSpPr/>
          <p:nvPr/>
        </p:nvSpPr>
        <p:spPr>
          <a:xfrm>
            <a:off x="8406994" y="2139696"/>
            <a:ext cx="844906" cy="201168"/>
          </a:xfrm>
          <a:prstGeom prst="rect">
            <a:avLst/>
          </a:prstGeom>
          <a:solidFill>
            <a:srgbClr val="FFFFFF"/>
          </a:solidFill>
          <a:ln w="6350">
            <a:solidFill>
              <a:srgbClr val="D3DCE5"/>
            </a:solidFill>
            <a:prstDash val="solid"/>
          </a:ln>
        </p:spPr>
      </p:sp>
      <p:sp>
        <p:nvSpPr>
          <p:cNvPr id="89" name="Text 87"/>
          <p:cNvSpPr txBox="1"/>
          <p:nvPr/>
        </p:nvSpPr>
        <p:spPr>
          <a:xfrm>
            <a:off x="8471002" y="2139696"/>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520</a:t>
            </a:r>
            <a:endParaRPr lang="en-US" sz="820" dirty="0"/>
          </a:p>
        </p:txBody>
      </p:sp>
      <p:sp>
        <p:nvSpPr>
          <p:cNvPr id="90" name="Shape 88"/>
          <p:cNvSpPr/>
          <p:nvPr/>
        </p:nvSpPr>
        <p:spPr>
          <a:xfrm>
            <a:off x="9251899" y="2139696"/>
            <a:ext cx="844906" cy="201168"/>
          </a:xfrm>
          <a:prstGeom prst="rect">
            <a:avLst/>
          </a:prstGeom>
          <a:solidFill>
            <a:srgbClr val="FFFFFF"/>
          </a:solidFill>
          <a:ln w="6350">
            <a:solidFill>
              <a:srgbClr val="D3DCE5"/>
            </a:solidFill>
            <a:prstDash val="solid"/>
          </a:ln>
        </p:spPr>
      </p:sp>
      <p:sp>
        <p:nvSpPr>
          <p:cNvPr id="91" name="Text 89"/>
          <p:cNvSpPr txBox="1"/>
          <p:nvPr/>
        </p:nvSpPr>
        <p:spPr>
          <a:xfrm>
            <a:off x="9315907" y="2139696"/>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520</a:t>
            </a:r>
            <a:endParaRPr lang="en-US" sz="820" dirty="0"/>
          </a:p>
        </p:txBody>
      </p:sp>
      <p:sp>
        <p:nvSpPr>
          <p:cNvPr id="92" name="Shape 90"/>
          <p:cNvSpPr/>
          <p:nvPr/>
        </p:nvSpPr>
        <p:spPr>
          <a:xfrm>
            <a:off x="10096805" y="2139696"/>
            <a:ext cx="844906" cy="201168"/>
          </a:xfrm>
          <a:prstGeom prst="rect">
            <a:avLst/>
          </a:prstGeom>
          <a:solidFill>
            <a:srgbClr val="FFFFFF"/>
          </a:solidFill>
          <a:ln w="6350">
            <a:solidFill>
              <a:srgbClr val="D3DCE5"/>
            </a:solidFill>
            <a:prstDash val="solid"/>
          </a:ln>
        </p:spPr>
      </p:sp>
      <p:sp>
        <p:nvSpPr>
          <p:cNvPr id="93" name="Text 91"/>
          <p:cNvSpPr txBox="1"/>
          <p:nvPr/>
        </p:nvSpPr>
        <p:spPr>
          <a:xfrm>
            <a:off x="10160813" y="2139696"/>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520</a:t>
            </a:r>
            <a:endParaRPr lang="en-US" sz="820" dirty="0"/>
          </a:p>
        </p:txBody>
      </p:sp>
      <p:sp>
        <p:nvSpPr>
          <p:cNvPr id="94" name="Shape 92"/>
          <p:cNvSpPr/>
          <p:nvPr/>
        </p:nvSpPr>
        <p:spPr>
          <a:xfrm>
            <a:off x="10941710" y="2139696"/>
            <a:ext cx="844906" cy="201168"/>
          </a:xfrm>
          <a:prstGeom prst="rect">
            <a:avLst/>
          </a:prstGeom>
          <a:solidFill>
            <a:srgbClr val="FFFFFF"/>
          </a:solidFill>
          <a:ln w="6350">
            <a:solidFill>
              <a:srgbClr val="D3DCE5"/>
            </a:solidFill>
            <a:prstDash val="solid"/>
          </a:ln>
        </p:spPr>
      </p:sp>
      <p:sp>
        <p:nvSpPr>
          <p:cNvPr id="95" name="Text 93"/>
          <p:cNvSpPr txBox="1"/>
          <p:nvPr/>
        </p:nvSpPr>
        <p:spPr>
          <a:xfrm>
            <a:off x="11005718" y="2139696"/>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520</a:t>
            </a:r>
            <a:endParaRPr lang="en-US" sz="820" dirty="0"/>
          </a:p>
        </p:txBody>
      </p:sp>
      <p:sp>
        <p:nvSpPr>
          <p:cNvPr id="96" name="Text 94"/>
          <p:cNvSpPr txBox="1"/>
          <p:nvPr/>
        </p:nvSpPr>
        <p:spPr>
          <a:xfrm>
            <a:off x="411480" y="2450592"/>
            <a:ext cx="4572000" cy="219456"/>
          </a:xfrm>
          <a:prstGeom prst="rect">
            <a:avLst/>
          </a:prstGeom>
          <a:noFill/>
          <a:ln/>
        </p:spPr>
        <p:txBody>
          <a:bodyPr wrap="square" lIns="0" tIns="0" rIns="0" bIns="0" rtlCol="0" anchor="ctr"/>
          <a:lstStyle/>
          <a:p>
            <a:pPr indent="0" marL="0">
              <a:buNone/>
            </a:pPr>
            <a:r>
              <a:rPr lang="en-US" sz="950" b="1" dirty="0">
                <a:solidFill>
                  <a:srgbClr val="10233A"/>
                </a:solidFill>
                <a:latin typeface="Calibri" pitchFamily="34" charset="0"/>
                <a:ea typeface="Calibri" pitchFamily="34" charset="-122"/>
                <a:cs typeface="Calibri" pitchFamily="34" charset="-120"/>
              </a:rPr>
              <a:t>CAPITAL EXPENDITURE (A$m)</a:t>
            </a:r>
            <a:endParaRPr lang="en-US" sz="950" dirty="0"/>
          </a:p>
        </p:txBody>
      </p:sp>
      <p:sp>
        <p:nvSpPr>
          <p:cNvPr id="97" name="Shape 95"/>
          <p:cNvSpPr/>
          <p:nvPr/>
        </p:nvSpPr>
        <p:spPr>
          <a:xfrm>
            <a:off x="411480" y="2651760"/>
            <a:ext cx="2926080" cy="237744"/>
          </a:xfrm>
          <a:prstGeom prst="rect">
            <a:avLst/>
          </a:prstGeom>
          <a:solidFill>
            <a:srgbClr val="10233A"/>
          </a:solidFill>
          <a:ln/>
        </p:spPr>
      </p:sp>
      <p:sp>
        <p:nvSpPr>
          <p:cNvPr id="98" name="Text 96"/>
          <p:cNvSpPr txBox="1"/>
          <p:nvPr/>
        </p:nvSpPr>
        <p:spPr>
          <a:xfrm>
            <a:off x="475488" y="2651760"/>
            <a:ext cx="2798064" cy="237744"/>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A$m</a:t>
            </a:r>
            <a:endParaRPr lang="en-US" sz="800" dirty="0"/>
          </a:p>
        </p:txBody>
      </p:sp>
      <p:sp>
        <p:nvSpPr>
          <p:cNvPr id="99" name="Shape 97"/>
          <p:cNvSpPr/>
          <p:nvPr/>
        </p:nvSpPr>
        <p:spPr>
          <a:xfrm>
            <a:off x="3337560" y="2651760"/>
            <a:ext cx="844906" cy="237744"/>
          </a:xfrm>
          <a:prstGeom prst="rect">
            <a:avLst/>
          </a:prstGeom>
          <a:solidFill>
            <a:srgbClr val="10233A"/>
          </a:solidFill>
          <a:ln/>
        </p:spPr>
      </p:sp>
      <p:sp>
        <p:nvSpPr>
          <p:cNvPr id="100" name="Text 98"/>
          <p:cNvSpPr txBox="1"/>
          <p:nvPr/>
        </p:nvSpPr>
        <p:spPr>
          <a:xfrm>
            <a:off x="3401568" y="2651760"/>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FY27</a:t>
            </a:r>
            <a:endParaRPr lang="en-US" sz="800" dirty="0"/>
          </a:p>
        </p:txBody>
      </p:sp>
      <p:sp>
        <p:nvSpPr>
          <p:cNvPr id="101" name="Shape 99"/>
          <p:cNvSpPr/>
          <p:nvPr/>
        </p:nvSpPr>
        <p:spPr>
          <a:xfrm>
            <a:off x="4182466" y="2651760"/>
            <a:ext cx="844906" cy="237744"/>
          </a:xfrm>
          <a:prstGeom prst="rect">
            <a:avLst/>
          </a:prstGeom>
          <a:solidFill>
            <a:srgbClr val="10233A"/>
          </a:solidFill>
          <a:ln/>
        </p:spPr>
      </p:sp>
      <p:sp>
        <p:nvSpPr>
          <p:cNvPr id="102" name="Text 100"/>
          <p:cNvSpPr txBox="1"/>
          <p:nvPr/>
        </p:nvSpPr>
        <p:spPr>
          <a:xfrm>
            <a:off x="4246474" y="2651760"/>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FY28</a:t>
            </a:r>
            <a:endParaRPr lang="en-US" sz="800" dirty="0"/>
          </a:p>
        </p:txBody>
      </p:sp>
      <p:sp>
        <p:nvSpPr>
          <p:cNvPr id="103" name="Shape 101"/>
          <p:cNvSpPr/>
          <p:nvPr/>
        </p:nvSpPr>
        <p:spPr>
          <a:xfrm>
            <a:off x="5027371" y="2651760"/>
            <a:ext cx="844906" cy="237744"/>
          </a:xfrm>
          <a:prstGeom prst="rect">
            <a:avLst/>
          </a:prstGeom>
          <a:solidFill>
            <a:srgbClr val="10233A"/>
          </a:solidFill>
          <a:ln/>
        </p:spPr>
      </p:sp>
      <p:sp>
        <p:nvSpPr>
          <p:cNvPr id="104" name="Text 102"/>
          <p:cNvSpPr txBox="1"/>
          <p:nvPr/>
        </p:nvSpPr>
        <p:spPr>
          <a:xfrm>
            <a:off x="5091379" y="2651760"/>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FY29</a:t>
            </a:r>
            <a:endParaRPr lang="en-US" sz="800" dirty="0"/>
          </a:p>
        </p:txBody>
      </p:sp>
      <p:sp>
        <p:nvSpPr>
          <p:cNvPr id="105" name="Shape 103"/>
          <p:cNvSpPr/>
          <p:nvPr/>
        </p:nvSpPr>
        <p:spPr>
          <a:xfrm>
            <a:off x="5872277" y="2651760"/>
            <a:ext cx="844906" cy="237744"/>
          </a:xfrm>
          <a:prstGeom prst="rect">
            <a:avLst/>
          </a:prstGeom>
          <a:solidFill>
            <a:srgbClr val="10233A"/>
          </a:solidFill>
          <a:ln/>
        </p:spPr>
      </p:sp>
      <p:sp>
        <p:nvSpPr>
          <p:cNvPr id="106" name="Text 104"/>
          <p:cNvSpPr txBox="1"/>
          <p:nvPr/>
        </p:nvSpPr>
        <p:spPr>
          <a:xfrm>
            <a:off x="5936285" y="2651760"/>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FY30</a:t>
            </a:r>
            <a:endParaRPr lang="en-US" sz="800" dirty="0"/>
          </a:p>
        </p:txBody>
      </p:sp>
      <p:sp>
        <p:nvSpPr>
          <p:cNvPr id="107" name="Shape 105"/>
          <p:cNvSpPr/>
          <p:nvPr/>
        </p:nvSpPr>
        <p:spPr>
          <a:xfrm>
            <a:off x="6717182" y="2651760"/>
            <a:ext cx="844906" cy="237744"/>
          </a:xfrm>
          <a:prstGeom prst="rect">
            <a:avLst/>
          </a:prstGeom>
          <a:solidFill>
            <a:srgbClr val="10233A"/>
          </a:solidFill>
          <a:ln/>
        </p:spPr>
      </p:sp>
      <p:sp>
        <p:nvSpPr>
          <p:cNvPr id="108" name="Text 106"/>
          <p:cNvSpPr txBox="1"/>
          <p:nvPr/>
        </p:nvSpPr>
        <p:spPr>
          <a:xfrm>
            <a:off x="6781190" y="2651760"/>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FY31</a:t>
            </a:r>
            <a:endParaRPr lang="en-US" sz="800" dirty="0"/>
          </a:p>
        </p:txBody>
      </p:sp>
      <p:sp>
        <p:nvSpPr>
          <p:cNvPr id="109" name="Shape 107"/>
          <p:cNvSpPr/>
          <p:nvPr/>
        </p:nvSpPr>
        <p:spPr>
          <a:xfrm>
            <a:off x="7562088" y="2651760"/>
            <a:ext cx="844906" cy="237744"/>
          </a:xfrm>
          <a:prstGeom prst="rect">
            <a:avLst/>
          </a:prstGeom>
          <a:solidFill>
            <a:srgbClr val="10233A"/>
          </a:solidFill>
          <a:ln/>
        </p:spPr>
      </p:sp>
      <p:sp>
        <p:nvSpPr>
          <p:cNvPr id="110" name="Text 108"/>
          <p:cNvSpPr txBox="1"/>
          <p:nvPr/>
        </p:nvSpPr>
        <p:spPr>
          <a:xfrm>
            <a:off x="7626096" y="2651760"/>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FY32</a:t>
            </a:r>
            <a:endParaRPr lang="en-US" sz="800" dirty="0"/>
          </a:p>
        </p:txBody>
      </p:sp>
      <p:sp>
        <p:nvSpPr>
          <p:cNvPr id="111" name="Shape 109"/>
          <p:cNvSpPr/>
          <p:nvPr/>
        </p:nvSpPr>
        <p:spPr>
          <a:xfrm>
            <a:off x="8406994" y="2651760"/>
            <a:ext cx="844906" cy="237744"/>
          </a:xfrm>
          <a:prstGeom prst="rect">
            <a:avLst/>
          </a:prstGeom>
          <a:solidFill>
            <a:srgbClr val="10233A"/>
          </a:solidFill>
          <a:ln/>
        </p:spPr>
      </p:sp>
      <p:sp>
        <p:nvSpPr>
          <p:cNvPr id="112" name="Text 110"/>
          <p:cNvSpPr txBox="1"/>
          <p:nvPr/>
        </p:nvSpPr>
        <p:spPr>
          <a:xfrm>
            <a:off x="8471002" y="2651760"/>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FY33</a:t>
            </a:r>
            <a:endParaRPr lang="en-US" sz="800" dirty="0"/>
          </a:p>
        </p:txBody>
      </p:sp>
      <p:sp>
        <p:nvSpPr>
          <p:cNvPr id="113" name="Shape 111"/>
          <p:cNvSpPr/>
          <p:nvPr/>
        </p:nvSpPr>
        <p:spPr>
          <a:xfrm>
            <a:off x="9251899" y="2651760"/>
            <a:ext cx="844906" cy="237744"/>
          </a:xfrm>
          <a:prstGeom prst="rect">
            <a:avLst/>
          </a:prstGeom>
          <a:solidFill>
            <a:srgbClr val="10233A"/>
          </a:solidFill>
          <a:ln/>
        </p:spPr>
      </p:sp>
      <p:sp>
        <p:nvSpPr>
          <p:cNvPr id="114" name="Text 112"/>
          <p:cNvSpPr txBox="1"/>
          <p:nvPr/>
        </p:nvSpPr>
        <p:spPr>
          <a:xfrm>
            <a:off x="9315907" y="2651760"/>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FY34</a:t>
            </a:r>
            <a:endParaRPr lang="en-US" sz="800" dirty="0"/>
          </a:p>
        </p:txBody>
      </p:sp>
      <p:sp>
        <p:nvSpPr>
          <p:cNvPr id="115" name="Shape 113"/>
          <p:cNvSpPr/>
          <p:nvPr/>
        </p:nvSpPr>
        <p:spPr>
          <a:xfrm>
            <a:off x="10096805" y="2651760"/>
            <a:ext cx="844906" cy="237744"/>
          </a:xfrm>
          <a:prstGeom prst="rect">
            <a:avLst/>
          </a:prstGeom>
          <a:solidFill>
            <a:srgbClr val="10233A"/>
          </a:solidFill>
          <a:ln/>
        </p:spPr>
      </p:sp>
      <p:sp>
        <p:nvSpPr>
          <p:cNvPr id="116" name="Text 114"/>
          <p:cNvSpPr txBox="1"/>
          <p:nvPr/>
        </p:nvSpPr>
        <p:spPr>
          <a:xfrm>
            <a:off x="10160813" y="2651760"/>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FY35</a:t>
            </a:r>
            <a:endParaRPr lang="en-US" sz="800" dirty="0"/>
          </a:p>
        </p:txBody>
      </p:sp>
      <p:sp>
        <p:nvSpPr>
          <p:cNvPr id="117" name="Shape 115"/>
          <p:cNvSpPr/>
          <p:nvPr/>
        </p:nvSpPr>
        <p:spPr>
          <a:xfrm>
            <a:off x="10941710" y="2651760"/>
            <a:ext cx="844906" cy="237744"/>
          </a:xfrm>
          <a:prstGeom prst="rect">
            <a:avLst/>
          </a:prstGeom>
          <a:solidFill>
            <a:srgbClr val="10233A"/>
          </a:solidFill>
          <a:ln/>
        </p:spPr>
      </p:sp>
      <p:sp>
        <p:nvSpPr>
          <p:cNvPr id="118" name="Text 116"/>
          <p:cNvSpPr txBox="1"/>
          <p:nvPr/>
        </p:nvSpPr>
        <p:spPr>
          <a:xfrm>
            <a:off x="11005718" y="2651760"/>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FY36</a:t>
            </a:r>
            <a:endParaRPr lang="en-US" sz="800" dirty="0"/>
          </a:p>
        </p:txBody>
      </p:sp>
      <p:sp>
        <p:nvSpPr>
          <p:cNvPr id="119" name="Shape 117"/>
          <p:cNvSpPr/>
          <p:nvPr/>
        </p:nvSpPr>
        <p:spPr>
          <a:xfrm>
            <a:off x="411480" y="2889504"/>
            <a:ext cx="2926080" cy="201168"/>
          </a:xfrm>
          <a:prstGeom prst="rect">
            <a:avLst/>
          </a:prstGeom>
          <a:solidFill>
            <a:srgbClr val="FFFFFF"/>
          </a:solidFill>
          <a:ln w="6350">
            <a:solidFill>
              <a:srgbClr val="D3DCE5"/>
            </a:solidFill>
            <a:prstDash val="solid"/>
          </a:ln>
        </p:spPr>
      </p:sp>
      <p:sp>
        <p:nvSpPr>
          <p:cNvPr id="120" name="Text 118"/>
          <p:cNvSpPr txBox="1"/>
          <p:nvPr/>
        </p:nvSpPr>
        <p:spPr>
          <a:xfrm>
            <a:off x="475488" y="2889504"/>
            <a:ext cx="2798064" cy="20116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Bear</a:t>
            </a:r>
            <a:endParaRPr lang="en-US" sz="820" dirty="0"/>
          </a:p>
        </p:txBody>
      </p:sp>
      <p:sp>
        <p:nvSpPr>
          <p:cNvPr id="121" name="Shape 119"/>
          <p:cNvSpPr/>
          <p:nvPr/>
        </p:nvSpPr>
        <p:spPr>
          <a:xfrm>
            <a:off x="3337560" y="2889504"/>
            <a:ext cx="844906" cy="201168"/>
          </a:xfrm>
          <a:prstGeom prst="rect">
            <a:avLst/>
          </a:prstGeom>
          <a:solidFill>
            <a:srgbClr val="FFFFFF"/>
          </a:solidFill>
          <a:ln w="6350">
            <a:solidFill>
              <a:srgbClr val="D3DCE5"/>
            </a:solidFill>
            <a:prstDash val="solid"/>
          </a:ln>
        </p:spPr>
      </p:sp>
      <p:sp>
        <p:nvSpPr>
          <p:cNvPr id="122" name="Text 120"/>
          <p:cNvSpPr txBox="1"/>
          <p:nvPr/>
        </p:nvSpPr>
        <p:spPr>
          <a:xfrm>
            <a:off x="3401568" y="288950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620</a:t>
            </a:r>
            <a:endParaRPr lang="en-US" sz="820" dirty="0"/>
          </a:p>
        </p:txBody>
      </p:sp>
      <p:sp>
        <p:nvSpPr>
          <p:cNvPr id="123" name="Shape 121"/>
          <p:cNvSpPr/>
          <p:nvPr/>
        </p:nvSpPr>
        <p:spPr>
          <a:xfrm>
            <a:off x="4182466" y="2889504"/>
            <a:ext cx="844906" cy="201168"/>
          </a:xfrm>
          <a:prstGeom prst="rect">
            <a:avLst/>
          </a:prstGeom>
          <a:solidFill>
            <a:srgbClr val="FFFFFF"/>
          </a:solidFill>
          <a:ln w="6350">
            <a:solidFill>
              <a:srgbClr val="D3DCE5"/>
            </a:solidFill>
            <a:prstDash val="solid"/>
          </a:ln>
        </p:spPr>
      </p:sp>
      <p:sp>
        <p:nvSpPr>
          <p:cNvPr id="124" name="Text 122"/>
          <p:cNvSpPr txBox="1"/>
          <p:nvPr/>
        </p:nvSpPr>
        <p:spPr>
          <a:xfrm>
            <a:off x="4246474" y="288950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400</a:t>
            </a:r>
            <a:endParaRPr lang="en-US" sz="820" dirty="0"/>
          </a:p>
        </p:txBody>
      </p:sp>
      <p:sp>
        <p:nvSpPr>
          <p:cNvPr id="125" name="Shape 123"/>
          <p:cNvSpPr/>
          <p:nvPr/>
        </p:nvSpPr>
        <p:spPr>
          <a:xfrm>
            <a:off x="5027371" y="2889504"/>
            <a:ext cx="844906" cy="201168"/>
          </a:xfrm>
          <a:prstGeom prst="rect">
            <a:avLst/>
          </a:prstGeom>
          <a:solidFill>
            <a:srgbClr val="FFFFFF"/>
          </a:solidFill>
          <a:ln w="6350">
            <a:solidFill>
              <a:srgbClr val="D3DCE5"/>
            </a:solidFill>
            <a:prstDash val="solid"/>
          </a:ln>
        </p:spPr>
      </p:sp>
      <p:sp>
        <p:nvSpPr>
          <p:cNvPr id="126" name="Text 124"/>
          <p:cNvSpPr txBox="1"/>
          <p:nvPr/>
        </p:nvSpPr>
        <p:spPr>
          <a:xfrm>
            <a:off x="5091379" y="288950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340</a:t>
            </a:r>
            <a:endParaRPr lang="en-US" sz="820" dirty="0"/>
          </a:p>
        </p:txBody>
      </p:sp>
      <p:sp>
        <p:nvSpPr>
          <p:cNvPr id="127" name="Shape 125"/>
          <p:cNvSpPr/>
          <p:nvPr/>
        </p:nvSpPr>
        <p:spPr>
          <a:xfrm>
            <a:off x="5872277" y="2889504"/>
            <a:ext cx="844906" cy="201168"/>
          </a:xfrm>
          <a:prstGeom prst="rect">
            <a:avLst/>
          </a:prstGeom>
          <a:solidFill>
            <a:srgbClr val="FFFFFF"/>
          </a:solidFill>
          <a:ln w="6350">
            <a:solidFill>
              <a:srgbClr val="D3DCE5"/>
            </a:solidFill>
            <a:prstDash val="solid"/>
          </a:ln>
        </p:spPr>
      </p:sp>
      <p:sp>
        <p:nvSpPr>
          <p:cNvPr id="128" name="Text 126"/>
          <p:cNvSpPr txBox="1"/>
          <p:nvPr/>
        </p:nvSpPr>
        <p:spPr>
          <a:xfrm>
            <a:off x="5936285" y="288950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320</a:t>
            </a:r>
            <a:endParaRPr lang="en-US" sz="820" dirty="0"/>
          </a:p>
        </p:txBody>
      </p:sp>
      <p:sp>
        <p:nvSpPr>
          <p:cNvPr id="129" name="Shape 127"/>
          <p:cNvSpPr/>
          <p:nvPr/>
        </p:nvSpPr>
        <p:spPr>
          <a:xfrm>
            <a:off x="6717182" y="2889504"/>
            <a:ext cx="844906" cy="201168"/>
          </a:xfrm>
          <a:prstGeom prst="rect">
            <a:avLst/>
          </a:prstGeom>
          <a:solidFill>
            <a:srgbClr val="FFFFFF"/>
          </a:solidFill>
          <a:ln w="6350">
            <a:solidFill>
              <a:srgbClr val="D3DCE5"/>
            </a:solidFill>
            <a:prstDash val="solid"/>
          </a:ln>
        </p:spPr>
      </p:sp>
      <p:sp>
        <p:nvSpPr>
          <p:cNvPr id="130" name="Text 128"/>
          <p:cNvSpPr txBox="1"/>
          <p:nvPr/>
        </p:nvSpPr>
        <p:spPr>
          <a:xfrm>
            <a:off x="6781190" y="288950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300</a:t>
            </a:r>
            <a:endParaRPr lang="en-US" sz="820" dirty="0"/>
          </a:p>
        </p:txBody>
      </p:sp>
      <p:sp>
        <p:nvSpPr>
          <p:cNvPr id="131" name="Shape 129"/>
          <p:cNvSpPr/>
          <p:nvPr/>
        </p:nvSpPr>
        <p:spPr>
          <a:xfrm>
            <a:off x="7562088" y="2889504"/>
            <a:ext cx="844906" cy="201168"/>
          </a:xfrm>
          <a:prstGeom prst="rect">
            <a:avLst/>
          </a:prstGeom>
          <a:solidFill>
            <a:srgbClr val="FFFFFF"/>
          </a:solidFill>
          <a:ln w="6350">
            <a:solidFill>
              <a:srgbClr val="D3DCE5"/>
            </a:solidFill>
            <a:prstDash val="solid"/>
          </a:ln>
        </p:spPr>
      </p:sp>
      <p:sp>
        <p:nvSpPr>
          <p:cNvPr id="132" name="Text 130"/>
          <p:cNvSpPr txBox="1"/>
          <p:nvPr/>
        </p:nvSpPr>
        <p:spPr>
          <a:xfrm>
            <a:off x="7626096" y="288950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295</a:t>
            </a:r>
            <a:endParaRPr lang="en-US" sz="820" dirty="0"/>
          </a:p>
        </p:txBody>
      </p:sp>
      <p:sp>
        <p:nvSpPr>
          <p:cNvPr id="133" name="Shape 131"/>
          <p:cNvSpPr/>
          <p:nvPr/>
        </p:nvSpPr>
        <p:spPr>
          <a:xfrm>
            <a:off x="8406994" y="2889504"/>
            <a:ext cx="844906" cy="201168"/>
          </a:xfrm>
          <a:prstGeom prst="rect">
            <a:avLst/>
          </a:prstGeom>
          <a:solidFill>
            <a:srgbClr val="FFFFFF"/>
          </a:solidFill>
          <a:ln w="6350">
            <a:solidFill>
              <a:srgbClr val="D3DCE5"/>
            </a:solidFill>
            <a:prstDash val="solid"/>
          </a:ln>
        </p:spPr>
      </p:sp>
      <p:sp>
        <p:nvSpPr>
          <p:cNvPr id="134" name="Text 132"/>
          <p:cNvSpPr txBox="1"/>
          <p:nvPr/>
        </p:nvSpPr>
        <p:spPr>
          <a:xfrm>
            <a:off x="8471002" y="288950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290</a:t>
            </a:r>
            <a:endParaRPr lang="en-US" sz="820" dirty="0"/>
          </a:p>
        </p:txBody>
      </p:sp>
      <p:sp>
        <p:nvSpPr>
          <p:cNvPr id="135" name="Shape 133"/>
          <p:cNvSpPr/>
          <p:nvPr/>
        </p:nvSpPr>
        <p:spPr>
          <a:xfrm>
            <a:off x="9251899" y="2889504"/>
            <a:ext cx="844906" cy="201168"/>
          </a:xfrm>
          <a:prstGeom prst="rect">
            <a:avLst/>
          </a:prstGeom>
          <a:solidFill>
            <a:srgbClr val="FFFFFF"/>
          </a:solidFill>
          <a:ln w="6350">
            <a:solidFill>
              <a:srgbClr val="D3DCE5"/>
            </a:solidFill>
            <a:prstDash val="solid"/>
          </a:ln>
        </p:spPr>
      </p:sp>
      <p:sp>
        <p:nvSpPr>
          <p:cNvPr id="136" name="Text 134"/>
          <p:cNvSpPr txBox="1"/>
          <p:nvPr/>
        </p:nvSpPr>
        <p:spPr>
          <a:xfrm>
            <a:off x="9315907" y="288950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290</a:t>
            </a:r>
            <a:endParaRPr lang="en-US" sz="820" dirty="0"/>
          </a:p>
        </p:txBody>
      </p:sp>
      <p:sp>
        <p:nvSpPr>
          <p:cNvPr id="137" name="Shape 135"/>
          <p:cNvSpPr/>
          <p:nvPr/>
        </p:nvSpPr>
        <p:spPr>
          <a:xfrm>
            <a:off x="10096805" y="2889504"/>
            <a:ext cx="844906" cy="201168"/>
          </a:xfrm>
          <a:prstGeom prst="rect">
            <a:avLst/>
          </a:prstGeom>
          <a:solidFill>
            <a:srgbClr val="FFFFFF"/>
          </a:solidFill>
          <a:ln w="6350">
            <a:solidFill>
              <a:srgbClr val="D3DCE5"/>
            </a:solidFill>
            <a:prstDash val="solid"/>
          </a:ln>
        </p:spPr>
      </p:sp>
      <p:sp>
        <p:nvSpPr>
          <p:cNvPr id="138" name="Text 136"/>
          <p:cNvSpPr txBox="1"/>
          <p:nvPr/>
        </p:nvSpPr>
        <p:spPr>
          <a:xfrm>
            <a:off x="10160813" y="288950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290</a:t>
            </a:r>
            <a:endParaRPr lang="en-US" sz="820" dirty="0"/>
          </a:p>
        </p:txBody>
      </p:sp>
      <p:sp>
        <p:nvSpPr>
          <p:cNvPr id="139" name="Shape 137"/>
          <p:cNvSpPr/>
          <p:nvPr/>
        </p:nvSpPr>
        <p:spPr>
          <a:xfrm>
            <a:off x="10941710" y="2889504"/>
            <a:ext cx="844906" cy="201168"/>
          </a:xfrm>
          <a:prstGeom prst="rect">
            <a:avLst/>
          </a:prstGeom>
          <a:solidFill>
            <a:srgbClr val="FFFFFF"/>
          </a:solidFill>
          <a:ln w="6350">
            <a:solidFill>
              <a:srgbClr val="D3DCE5"/>
            </a:solidFill>
            <a:prstDash val="solid"/>
          </a:ln>
        </p:spPr>
      </p:sp>
      <p:sp>
        <p:nvSpPr>
          <p:cNvPr id="140" name="Text 138"/>
          <p:cNvSpPr txBox="1"/>
          <p:nvPr/>
        </p:nvSpPr>
        <p:spPr>
          <a:xfrm>
            <a:off x="11005718" y="288950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290</a:t>
            </a:r>
            <a:endParaRPr lang="en-US" sz="820" dirty="0"/>
          </a:p>
        </p:txBody>
      </p:sp>
      <p:sp>
        <p:nvSpPr>
          <p:cNvPr id="141" name="Shape 139"/>
          <p:cNvSpPr/>
          <p:nvPr/>
        </p:nvSpPr>
        <p:spPr>
          <a:xfrm>
            <a:off x="411480" y="3090672"/>
            <a:ext cx="2926080" cy="201168"/>
          </a:xfrm>
          <a:prstGeom prst="rect">
            <a:avLst/>
          </a:prstGeom>
          <a:solidFill>
            <a:srgbClr val="F7F9FB"/>
          </a:solidFill>
          <a:ln w="6350">
            <a:solidFill>
              <a:srgbClr val="D3DCE5"/>
            </a:solidFill>
            <a:prstDash val="solid"/>
          </a:ln>
        </p:spPr>
      </p:sp>
      <p:sp>
        <p:nvSpPr>
          <p:cNvPr id="142" name="Text 140"/>
          <p:cNvSpPr txBox="1"/>
          <p:nvPr/>
        </p:nvSpPr>
        <p:spPr>
          <a:xfrm>
            <a:off x="475488" y="3090672"/>
            <a:ext cx="2798064" cy="20116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Base</a:t>
            </a:r>
            <a:endParaRPr lang="en-US" sz="820" dirty="0"/>
          </a:p>
        </p:txBody>
      </p:sp>
      <p:sp>
        <p:nvSpPr>
          <p:cNvPr id="143" name="Shape 141"/>
          <p:cNvSpPr/>
          <p:nvPr/>
        </p:nvSpPr>
        <p:spPr>
          <a:xfrm>
            <a:off x="3337560" y="3090672"/>
            <a:ext cx="844906" cy="201168"/>
          </a:xfrm>
          <a:prstGeom prst="rect">
            <a:avLst/>
          </a:prstGeom>
          <a:solidFill>
            <a:srgbClr val="F7F9FB"/>
          </a:solidFill>
          <a:ln w="6350">
            <a:solidFill>
              <a:srgbClr val="D3DCE5"/>
            </a:solidFill>
            <a:prstDash val="solid"/>
          </a:ln>
        </p:spPr>
      </p:sp>
      <p:sp>
        <p:nvSpPr>
          <p:cNvPr id="144" name="Text 142"/>
          <p:cNvSpPr txBox="1"/>
          <p:nvPr/>
        </p:nvSpPr>
        <p:spPr>
          <a:xfrm>
            <a:off x="3401568" y="3090672"/>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652</a:t>
            </a:r>
            <a:endParaRPr lang="en-US" sz="820" dirty="0"/>
          </a:p>
        </p:txBody>
      </p:sp>
      <p:sp>
        <p:nvSpPr>
          <p:cNvPr id="145" name="Shape 143"/>
          <p:cNvSpPr/>
          <p:nvPr/>
        </p:nvSpPr>
        <p:spPr>
          <a:xfrm>
            <a:off x="4182466" y="3090672"/>
            <a:ext cx="844906" cy="201168"/>
          </a:xfrm>
          <a:prstGeom prst="rect">
            <a:avLst/>
          </a:prstGeom>
          <a:solidFill>
            <a:srgbClr val="F7F9FB"/>
          </a:solidFill>
          <a:ln w="6350">
            <a:solidFill>
              <a:srgbClr val="D3DCE5"/>
            </a:solidFill>
            <a:prstDash val="solid"/>
          </a:ln>
        </p:spPr>
      </p:sp>
      <p:sp>
        <p:nvSpPr>
          <p:cNvPr id="146" name="Text 144"/>
          <p:cNvSpPr txBox="1"/>
          <p:nvPr/>
        </p:nvSpPr>
        <p:spPr>
          <a:xfrm>
            <a:off x="4246474" y="3090672"/>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880</a:t>
            </a:r>
            <a:endParaRPr lang="en-US" sz="820" dirty="0"/>
          </a:p>
        </p:txBody>
      </p:sp>
      <p:sp>
        <p:nvSpPr>
          <p:cNvPr id="147" name="Shape 145"/>
          <p:cNvSpPr/>
          <p:nvPr/>
        </p:nvSpPr>
        <p:spPr>
          <a:xfrm>
            <a:off x="5027371" y="3090672"/>
            <a:ext cx="844906" cy="201168"/>
          </a:xfrm>
          <a:prstGeom prst="rect">
            <a:avLst/>
          </a:prstGeom>
          <a:solidFill>
            <a:srgbClr val="F7F9FB"/>
          </a:solidFill>
          <a:ln w="6350">
            <a:solidFill>
              <a:srgbClr val="D3DCE5"/>
            </a:solidFill>
            <a:prstDash val="solid"/>
          </a:ln>
        </p:spPr>
      </p:sp>
      <p:sp>
        <p:nvSpPr>
          <p:cNvPr id="148" name="Text 146"/>
          <p:cNvSpPr txBox="1"/>
          <p:nvPr/>
        </p:nvSpPr>
        <p:spPr>
          <a:xfrm>
            <a:off x="5091379" y="3090672"/>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1,020</a:t>
            </a:r>
            <a:endParaRPr lang="en-US" sz="820" dirty="0"/>
          </a:p>
        </p:txBody>
      </p:sp>
      <p:sp>
        <p:nvSpPr>
          <p:cNvPr id="149" name="Shape 147"/>
          <p:cNvSpPr/>
          <p:nvPr/>
        </p:nvSpPr>
        <p:spPr>
          <a:xfrm>
            <a:off x="5872277" y="3090672"/>
            <a:ext cx="844906" cy="201168"/>
          </a:xfrm>
          <a:prstGeom prst="rect">
            <a:avLst/>
          </a:prstGeom>
          <a:solidFill>
            <a:srgbClr val="F7F9FB"/>
          </a:solidFill>
          <a:ln w="6350">
            <a:solidFill>
              <a:srgbClr val="D3DCE5"/>
            </a:solidFill>
            <a:prstDash val="solid"/>
          </a:ln>
        </p:spPr>
      </p:sp>
      <p:sp>
        <p:nvSpPr>
          <p:cNvPr id="150" name="Text 148"/>
          <p:cNvSpPr txBox="1"/>
          <p:nvPr/>
        </p:nvSpPr>
        <p:spPr>
          <a:xfrm>
            <a:off x="5936285" y="3090672"/>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760</a:t>
            </a:r>
            <a:endParaRPr lang="en-US" sz="820" dirty="0"/>
          </a:p>
        </p:txBody>
      </p:sp>
      <p:sp>
        <p:nvSpPr>
          <p:cNvPr id="151" name="Shape 149"/>
          <p:cNvSpPr/>
          <p:nvPr/>
        </p:nvSpPr>
        <p:spPr>
          <a:xfrm>
            <a:off x="6717182" y="3090672"/>
            <a:ext cx="844906" cy="201168"/>
          </a:xfrm>
          <a:prstGeom prst="rect">
            <a:avLst/>
          </a:prstGeom>
          <a:solidFill>
            <a:srgbClr val="F7F9FB"/>
          </a:solidFill>
          <a:ln w="6350">
            <a:solidFill>
              <a:srgbClr val="D3DCE5"/>
            </a:solidFill>
            <a:prstDash val="solid"/>
          </a:ln>
        </p:spPr>
      </p:sp>
      <p:sp>
        <p:nvSpPr>
          <p:cNvPr id="152" name="Text 150"/>
          <p:cNvSpPr txBox="1"/>
          <p:nvPr/>
        </p:nvSpPr>
        <p:spPr>
          <a:xfrm>
            <a:off x="6781190" y="3090672"/>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560</a:t>
            </a:r>
            <a:endParaRPr lang="en-US" sz="820" dirty="0"/>
          </a:p>
        </p:txBody>
      </p:sp>
      <p:sp>
        <p:nvSpPr>
          <p:cNvPr id="153" name="Shape 151"/>
          <p:cNvSpPr/>
          <p:nvPr/>
        </p:nvSpPr>
        <p:spPr>
          <a:xfrm>
            <a:off x="7562088" y="3090672"/>
            <a:ext cx="844906" cy="201168"/>
          </a:xfrm>
          <a:prstGeom prst="rect">
            <a:avLst/>
          </a:prstGeom>
          <a:solidFill>
            <a:srgbClr val="F7F9FB"/>
          </a:solidFill>
          <a:ln w="6350">
            <a:solidFill>
              <a:srgbClr val="D3DCE5"/>
            </a:solidFill>
            <a:prstDash val="solid"/>
          </a:ln>
        </p:spPr>
      </p:sp>
      <p:sp>
        <p:nvSpPr>
          <p:cNvPr id="154" name="Text 152"/>
          <p:cNvSpPr txBox="1"/>
          <p:nvPr/>
        </p:nvSpPr>
        <p:spPr>
          <a:xfrm>
            <a:off x="7626096" y="3090672"/>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520</a:t>
            </a:r>
            <a:endParaRPr lang="en-US" sz="820" dirty="0"/>
          </a:p>
        </p:txBody>
      </p:sp>
      <p:sp>
        <p:nvSpPr>
          <p:cNvPr id="155" name="Shape 153"/>
          <p:cNvSpPr/>
          <p:nvPr/>
        </p:nvSpPr>
        <p:spPr>
          <a:xfrm>
            <a:off x="8406994" y="3090672"/>
            <a:ext cx="844906" cy="201168"/>
          </a:xfrm>
          <a:prstGeom prst="rect">
            <a:avLst/>
          </a:prstGeom>
          <a:solidFill>
            <a:srgbClr val="F7F9FB"/>
          </a:solidFill>
          <a:ln w="6350">
            <a:solidFill>
              <a:srgbClr val="D3DCE5"/>
            </a:solidFill>
            <a:prstDash val="solid"/>
          </a:ln>
        </p:spPr>
      </p:sp>
      <p:sp>
        <p:nvSpPr>
          <p:cNvPr id="156" name="Text 154"/>
          <p:cNvSpPr txBox="1"/>
          <p:nvPr/>
        </p:nvSpPr>
        <p:spPr>
          <a:xfrm>
            <a:off x="8471002" y="3090672"/>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430</a:t>
            </a:r>
            <a:endParaRPr lang="en-US" sz="820" dirty="0"/>
          </a:p>
        </p:txBody>
      </p:sp>
      <p:sp>
        <p:nvSpPr>
          <p:cNvPr id="157" name="Shape 155"/>
          <p:cNvSpPr/>
          <p:nvPr/>
        </p:nvSpPr>
        <p:spPr>
          <a:xfrm>
            <a:off x="9251899" y="3090672"/>
            <a:ext cx="844906" cy="201168"/>
          </a:xfrm>
          <a:prstGeom prst="rect">
            <a:avLst/>
          </a:prstGeom>
          <a:solidFill>
            <a:srgbClr val="F7F9FB"/>
          </a:solidFill>
          <a:ln w="6350">
            <a:solidFill>
              <a:srgbClr val="D3DCE5"/>
            </a:solidFill>
            <a:prstDash val="solid"/>
          </a:ln>
        </p:spPr>
      </p:sp>
      <p:sp>
        <p:nvSpPr>
          <p:cNvPr id="158" name="Text 156"/>
          <p:cNvSpPr txBox="1"/>
          <p:nvPr/>
        </p:nvSpPr>
        <p:spPr>
          <a:xfrm>
            <a:off x="9315907" y="3090672"/>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390</a:t>
            </a:r>
            <a:endParaRPr lang="en-US" sz="820" dirty="0"/>
          </a:p>
        </p:txBody>
      </p:sp>
      <p:sp>
        <p:nvSpPr>
          <p:cNvPr id="159" name="Shape 157"/>
          <p:cNvSpPr/>
          <p:nvPr/>
        </p:nvSpPr>
        <p:spPr>
          <a:xfrm>
            <a:off x="10096805" y="3090672"/>
            <a:ext cx="844906" cy="201168"/>
          </a:xfrm>
          <a:prstGeom prst="rect">
            <a:avLst/>
          </a:prstGeom>
          <a:solidFill>
            <a:srgbClr val="F7F9FB"/>
          </a:solidFill>
          <a:ln w="6350">
            <a:solidFill>
              <a:srgbClr val="D3DCE5"/>
            </a:solidFill>
            <a:prstDash val="solid"/>
          </a:ln>
        </p:spPr>
      </p:sp>
      <p:sp>
        <p:nvSpPr>
          <p:cNvPr id="160" name="Text 158"/>
          <p:cNvSpPr txBox="1"/>
          <p:nvPr/>
        </p:nvSpPr>
        <p:spPr>
          <a:xfrm>
            <a:off x="10160813" y="3090672"/>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370</a:t>
            </a:r>
            <a:endParaRPr lang="en-US" sz="820" dirty="0"/>
          </a:p>
        </p:txBody>
      </p:sp>
      <p:sp>
        <p:nvSpPr>
          <p:cNvPr id="161" name="Shape 159"/>
          <p:cNvSpPr/>
          <p:nvPr/>
        </p:nvSpPr>
        <p:spPr>
          <a:xfrm>
            <a:off x="10941710" y="3090672"/>
            <a:ext cx="844906" cy="201168"/>
          </a:xfrm>
          <a:prstGeom prst="rect">
            <a:avLst/>
          </a:prstGeom>
          <a:solidFill>
            <a:srgbClr val="F7F9FB"/>
          </a:solidFill>
          <a:ln w="6350">
            <a:solidFill>
              <a:srgbClr val="D3DCE5"/>
            </a:solidFill>
            <a:prstDash val="solid"/>
          </a:ln>
        </p:spPr>
      </p:sp>
      <p:sp>
        <p:nvSpPr>
          <p:cNvPr id="162" name="Text 160"/>
          <p:cNvSpPr txBox="1"/>
          <p:nvPr/>
        </p:nvSpPr>
        <p:spPr>
          <a:xfrm>
            <a:off x="11005718" y="3090672"/>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370</a:t>
            </a:r>
            <a:endParaRPr lang="en-US" sz="820" dirty="0"/>
          </a:p>
        </p:txBody>
      </p:sp>
      <p:sp>
        <p:nvSpPr>
          <p:cNvPr id="163" name="Shape 161"/>
          <p:cNvSpPr/>
          <p:nvPr/>
        </p:nvSpPr>
        <p:spPr>
          <a:xfrm>
            <a:off x="411480" y="3291840"/>
            <a:ext cx="2926080" cy="201168"/>
          </a:xfrm>
          <a:prstGeom prst="rect">
            <a:avLst/>
          </a:prstGeom>
          <a:solidFill>
            <a:srgbClr val="FFFFFF"/>
          </a:solidFill>
          <a:ln w="6350">
            <a:solidFill>
              <a:srgbClr val="D3DCE5"/>
            </a:solidFill>
            <a:prstDash val="solid"/>
          </a:ln>
        </p:spPr>
      </p:sp>
      <p:sp>
        <p:nvSpPr>
          <p:cNvPr id="164" name="Text 162"/>
          <p:cNvSpPr txBox="1"/>
          <p:nvPr/>
        </p:nvSpPr>
        <p:spPr>
          <a:xfrm>
            <a:off x="475488" y="3291840"/>
            <a:ext cx="2798064" cy="20116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Bull</a:t>
            </a:r>
            <a:endParaRPr lang="en-US" sz="820" dirty="0"/>
          </a:p>
        </p:txBody>
      </p:sp>
      <p:sp>
        <p:nvSpPr>
          <p:cNvPr id="165" name="Shape 163"/>
          <p:cNvSpPr/>
          <p:nvPr/>
        </p:nvSpPr>
        <p:spPr>
          <a:xfrm>
            <a:off x="3337560" y="3291840"/>
            <a:ext cx="844906" cy="201168"/>
          </a:xfrm>
          <a:prstGeom prst="rect">
            <a:avLst/>
          </a:prstGeom>
          <a:solidFill>
            <a:srgbClr val="FFFFFF"/>
          </a:solidFill>
          <a:ln w="6350">
            <a:solidFill>
              <a:srgbClr val="D3DCE5"/>
            </a:solidFill>
            <a:prstDash val="solid"/>
          </a:ln>
        </p:spPr>
      </p:sp>
      <p:sp>
        <p:nvSpPr>
          <p:cNvPr id="166" name="Text 164"/>
          <p:cNvSpPr txBox="1"/>
          <p:nvPr/>
        </p:nvSpPr>
        <p:spPr>
          <a:xfrm>
            <a:off x="3401568" y="329184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685</a:t>
            </a:r>
            <a:endParaRPr lang="en-US" sz="820" dirty="0"/>
          </a:p>
        </p:txBody>
      </p:sp>
      <p:sp>
        <p:nvSpPr>
          <p:cNvPr id="167" name="Shape 165"/>
          <p:cNvSpPr/>
          <p:nvPr/>
        </p:nvSpPr>
        <p:spPr>
          <a:xfrm>
            <a:off x="4182466" y="3291840"/>
            <a:ext cx="844906" cy="201168"/>
          </a:xfrm>
          <a:prstGeom prst="rect">
            <a:avLst/>
          </a:prstGeom>
          <a:solidFill>
            <a:srgbClr val="FFFFFF"/>
          </a:solidFill>
          <a:ln w="6350">
            <a:solidFill>
              <a:srgbClr val="D3DCE5"/>
            </a:solidFill>
            <a:prstDash val="solid"/>
          </a:ln>
        </p:spPr>
      </p:sp>
      <p:sp>
        <p:nvSpPr>
          <p:cNvPr id="168" name="Text 166"/>
          <p:cNvSpPr txBox="1"/>
          <p:nvPr/>
        </p:nvSpPr>
        <p:spPr>
          <a:xfrm>
            <a:off x="4246474" y="329184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1020</a:t>
            </a:r>
            <a:endParaRPr lang="en-US" sz="820" dirty="0"/>
          </a:p>
        </p:txBody>
      </p:sp>
      <p:sp>
        <p:nvSpPr>
          <p:cNvPr id="169" name="Shape 167"/>
          <p:cNvSpPr/>
          <p:nvPr/>
        </p:nvSpPr>
        <p:spPr>
          <a:xfrm>
            <a:off x="5027371" y="3291840"/>
            <a:ext cx="844906" cy="201168"/>
          </a:xfrm>
          <a:prstGeom prst="rect">
            <a:avLst/>
          </a:prstGeom>
          <a:solidFill>
            <a:srgbClr val="FFFFFF"/>
          </a:solidFill>
          <a:ln w="6350">
            <a:solidFill>
              <a:srgbClr val="D3DCE5"/>
            </a:solidFill>
            <a:prstDash val="solid"/>
          </a:ln>
        </p:spPr>
      </p:sp>
      <p:sp>
        <p:nvSpPr>
          <p:cNvPr id="170" name="Text 168"/>
          <p:cNvSpPr txBox="1"/>
          <p:nvPr/>
        </p:nvSpPr>
        <p:spPr>
          <a:xfrm>
            <a:off x="5091379" y="329184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1130</a:t>
            </a:r>
            <a:endParaRPr lang="en-US" sz="820" dirty="0"/>
          </a:p>
        </p:txBody>
      </p:sp>
      <p:sp>
        <p:nvSpPr>
          <p:cNvPr id="171" name="Shape 169"/>
          <p:cNvSpPr/>
          <p:nvPr/>
        </p:nvSpPr>
        <p:spPr>
          <a:xfrm>
            <a:off x="5872277" y="3291840"/>
            <a:ext cx="844906" cy="201168"/>
          </a:xfrm>
          <a:prstGeom prst="rect">
            <a:avLst/>
          </a:prstGeom>
          <a:solidFill>
            <a:srgbClr val="FFFFFF"/>
          </a:solidFill>
          <a:ln w="6350">
            <a:solidFill>
              <a:srgbClr val="D3DCE5"/>
            </a:solidFill>
            <a:prstDash val="solid"/>
          </a:ln>
        </p:spPr>
      </p:sp>
      <p:sp>
        <p:nvSpPr>
          <p:cNvPr id="172" name="Text 170"/>
          <p:cNvSpPr txBox="1"/>
          <p:nvPr/>
        </p:nvSpPr>
        <p:spPr>
          <a:xfrm>
            <a:off x="5936285" y="329184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900</a:t>
            </a:r>
            <a:endParaRPr lang="en-US" sz="820" dirty="0"/>
          </a:p>
        </p:txBody>
      </p:sp>
      <p:sp>
        <p:nvSpPr>
          <p:cNvPr id="173" name="Shape 171"/>
          <p:cNvSpPr/>
          <p:nvPr/>
        </p:nvSpPr>
        <p:spPr>
          <a:xfrm>
            <a:off x="6717182" y="3291840"/>
            <a:ext cx="844906" cy="201168"/>
          </a:xfrm>
          <a:prstGeom prst="rect">
            <a:avLst/>
          </a:prstGeom>
          <a:solidFill>
            <a:srgbClr val="FFFFFF"/>
          </a:solidFill>
          <a:ln w="6350">
            <a:solidFill>
              <a:srgbClr val="D3DCE5"/>
            </a:solidFill>
            <a:prstDash val="solid"/>
          </a:ln>
        </p:spPr>
      </p:sp>
      <p:sp>
        <p:nvSpPr>
          <p:cNvPr id="174" name="Text 172"/>
          <p:cNvSpPr txBox="1"/>
          <p:nvPr/>
        </p:nvSpPr>
        <p:spPr>
          <a:xfrm>
            <a:off x="6781190" y="329184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720</a:t>
            </a:r>
            <a:endParaRPr lang="en-US" sz="820" dirty="0"/>
          </a:p>
        </p:txBody>
      </p:sp>
      <p:sp>
        <p:nvSpPr>
          <p:cNvPr id="175" name="Shape 173"/>
          <p:cNvSpPr/>
          <p:nvPr/>
        </p:nvSpPr>
        <p:spPr>
          <a:xfrm>
            <a:off x="7562088" y="3291840"/>
            <a:ext cx="844906" cy="201168"/>
          </a:xfrm>
          <a:prstGeom prst="rect">
            <a:avLst/>
          </a:prstGeom>
          <a:solidFill>
            <a:srgbClr val="FFFFFF"/>
          </a:solidFill>
          <a:ln w="6350">
            <a:solidFill>
              <a:srgbClr val="D3DCE5"/>
            </a:solidFill>
            <a:prstDash val="solid"/>
          </a:ln>
        </p:spPr>
      </p:sp>
      <p:sp>
        <p:nvSpPr>
          <p:cNvPr id="176" name="Text 174"/>
          <p:cNvSpPr txBox="1"/>
          <p:nvPr/>
        </p:nvSpPr>
        <p:spPr>
          <a:xfrm>
            <a:off x="7626096" y="329184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600</a:t>
            </a:r>
            <a:endParaRPr lang="en-US" sz="820" dirty="0"/>
          </a:p>
        </p:txBody>
      </p:sp>
      <p:sp>
        <p:nvSpPr>
          <p:cNvPr id="177" name="Shape 175"/>
          <p:cNvSpPr/>
          <p:nvPr/>
        </p:nvSpPr>
        <p:spPr>
          <a:xfrm>
            <a:off x="8406994" y="3291840"/>
            <a:ext cx="844906" cy="201168"/>
          </a:xfrm>
          <a:prstGeom prst="rect">
            <a:avLst/>
          </a:prstGeom>
          <a:solidFill>
            <a:srgbClr val="FFFFFF"/>
          </a:solidFill>
          <a:ln w="6350">
            <a:solidFill>
              <a:srgbClr val="D3DCE5"/>
            </a:solidFill>
            <a:prstDash val="solid"/>
          </a:ln>
        </p:spPr>
      </p:sp>
      <p:sp>
        <p:nvSpPr>
          <p:cNvPr id="178" name="Text 176"/>
          <p:cNvSpPr txBox="1"/>
          <p:nvPr/>
        </p:nvSpPr>
        <p:spPr>
          <a:xfrm>
            <a:off x="8471002" y="329184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480</a:t>
            </a:r>
            <a:endParaRPr lang="en-US" sz="820" dirty="0"/>
          </a:p>
        </p:txBody>
      </p:sp>
      <p:sp>
        <p:nvSpPr>
          <p:cNvPr id="179" name="Shape 177"/>
          <p:cNvSpPr/>
          <p:nvPr/>
        </p:nvSpPr>
        <p:spPr>
          <a:xfrm>
            <a:off x="9251899" y="3291840"/>
            <a:ext cx="844906" cy="201168"/>
          </a:xfrm>
          <a:prstGeom prst="rect">
            <a:avLst/>
          </a:prstGeom>
          <a:solidFill>
            <a:srgbClr val="FFFFFF"/>
          </a:solidFill>
          <a:ln w="6350">
            <a:solidFill>
              <a:srgbClr val="D3DCE5"/>
            </a:solidFill>
            <a:prstDash val="solid"/>
          </a:ln>
        </p:spPr>
      </p:sp>
      <p:sp>
        <p:nvSpPr>
          <p:cNvPr id="180" name="Text 178"/>
          <p:cNvSpPr txBox="1"/>
          <p:nvPr/>
        </p:nvSpPr>
        <p:spPr>
          <a:xfrm>
            <a:off x="9315907" y="329184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430</a:t>
            </a:r>
            <a:endParaRPr lang="en-US" sz="820" dirty="0"/>
          </a:p>
        </p:txBody>
      </p:sp>
      <p:sp>
        <p:nvSpPr>
          <p:cNvPr id="181" name="Shape 179"/>
          <p:cNvSpPr/>
          <p:nvPr/>
        </p:nvSpPr>
        <p:spPr>
          <a:xfrm>
            <a:off x="10096805" y="3291840"/>
            <a:ext cx="844906" cy="201168"/>
          </a:xfrm>
          <a:prstGeom prst="rect">
            <a:avLst/>
          </a:prstGeom>
          <a:solidFill>
            <a:srgbClr val="FFFFFF"/>
          </a:solidFill>
          <a:ln w="6350">
            <a:solidFill>
              <a:srgbClr val="D3DCE5"/>
            </a:solidFill>
            <a:prstDash val="solid"/>
          </a:ln>
        </p:spPr>
      </p:sp>
      <p:sp>
        <p:nvSpPr>
          <p:cNvPr id="182" name="Text 180"/>
          <p:cNvSpPr txBox="1"/>
          <p:nvPr/>
        </p:nvSpPr>
        <p:spPr>
          <a:xfrm>
            <a:off x="10160813" y="329184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410</a:t>
            </a:r>
            <a:endParaRPr lang="en-US" sz="820" dirty="0"/>
          </a:p>
        </p:txBody>
      </p:sp>
      <p:sp>
        <p:nvSpPr>
          <p:cNvPr id="183" name="Shape 181"/>
          <p:cNvSpPr/>
          <p:nvPr/>
        </p:nvSpPr>
        <p:spPr>
          <a:xfrm>
            <a:off x="10941710" y="3291840"/>
            <a:ext cx="844906" cy="201168"/>
          </a:xfrm>
          <a:prstGeom prst="rect">
            <a:avLst/>
          </a:prstGeom>
          <a:solidFill>
            <a:srgbClr val="FFFFFF"/>
          </a:solidFill>
          <a:ln w="6350">
            <a:solidFill>
              <a:srgbClr val="D3DCE5"/>
            </a:solidFill>
            <a:prstDash val="solid"/>
          </a:ln>
        </p:spPr>
      </p:sp>
      <p:sp>
        <p:nvSpPr>
          <p:cNvPr id="184" name="Text 182"/>
          <p:cNvSpPr txBox="1"/>
          <p:nvPr/>
        </p:nvSpPr>
        <p:spPr>
          <a:xfrm>
            <a:off x="11005718" y="3291840"/>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410</a:t>
            </a:r>
            <a:endParaRPr lang="en-US" sz="820" dirty="0"/>
          </a:p>
        </p:txBody>
      </p:sp>
      <p:sp>
        <p:nvSpPr>
          <p:cNvPr id="185" name="Text 183"/>
          <p:cNvSpPr txBox="1"/>
          <p:nvPr/>
        </p:nvSpPr>
        <p:spPr>
          <a:xfrm>
            <a:off x="411480" y="3602736"/>
            <a:ext cx="4572000" cy="219456"/>
          </a:xfrm>
          <a:prstGeom prst="rect">
            <a:avLst/>
          </a:prstGeom>
          <a:noFill/>
          <a:ln/>
        </p:spPr>
        <p:txBody>
          <a:bodyPr wrap="square" lIns="0" tIns="0" rIns="0" bIns="0" rtlCol="0" anchor="ctr"/>
          <a:lstStyle/>
          <a:p>
            <a:pPr indent="0" marL="0">
              <a:buNone/>
            </a:pPr>
            <a:r>
              <a:rPr lang="en-US" sz="950" b="1" dirty="0">
                <a:solidFill>
                  <a:srgbClr val="0E7C6B"/>
                </a:solidFill>
                <a:latin typeface="Calibri" pitchFamily="34" charset="0"/>
                <a:ea typeface="Calibri" pitchFamily="34" charset="-122"/>
                <a:cs typeface="Calibri" pitchFamily="34" charset="-120"/>
              </a:rPr>
              <a:t>EBITDA, MODEL OUTPUT (A$m)</a:t>
            </a:r>
            <a:endParaRPr lang="en-US" sz="950" dirty="0"/>
          </a:p>
        </p:txBody>
      </p:sp>
      <p:sp>
        <p:nvSpPr>
          <p:cNvPr id="186" name="Shape 184"/>
          <p:cNvSpPr/>
          <p:nvPr/>
        </p:nvSpPr>
        <p:spPr>
          <a:xfrm>
            <a:off x="411480" y="3803904"/>
            <a:ext cx="2926080" cy="237744"/>
          </a:xfrm>
          <a:prstGeom prst="rect">
            <a:avLst/>
          </a:prstGeom>
          <a:solidFill>
            <a:srgbClr val="10233A"/>
          </a:solidFill>
          <a:ln/>
        </p:spPr>
      </p:sp>
      <p:sp>
        <p:nvSpPr>
          <p:cNvPr id="187" name="Text 185"/>
          <p:cNvSpPr txBox="1"/>
          <p:nvPr/>
        </p:nvSpPr>
        <p:spPr>
          <a:xfrm>
            <a:off x="475488" y="3803904"/>
            <a:ext cx="2798064" cy="237744"/>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A$m</a:t>
            </a:r>
            <a:endParaRPr lang="en-US" sz="800" dirty="0"/>
          </a:p>
        </p:txBody>
      </p:sp>
      <p:sp>
        <p:nvSpPr>
          <p:cNvPr id="188" name="Shape 186"/>
          <p:cNvSpPr/>
          <p:nvPr/>
        </p:nvSpPr>
        <p:spPr>
          <a:xfrm>
            <a:off x="3337560" y="3803904"/>
            <a:ext cx="844906" cy="237744"/>
          </a:xfrm>
          <a:prstGeom prst="rect">
            <a:avLst/>
          </a:prstGeom>
          <a:solidFill>
            <a:srgbClr val="10233A"/>
          </a:solidFill>
          <a:ln/>
        </p:spPr>
      </p:sp>
      <p:sp>
        <p:nvSpPr>
          <p:cNvPr id="189" name="Text 187"/>
          <p:cNvSpPr txBox="1"/>
          <p:nvPr/>
        </p:nvSpPr>
        <p:spPr>
          <a:xfrm>
            <a:off x="3401568" y="3803904"/>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FY27</a:t>
            </a:r>
            <a:endParaRPr lang="en-US" sz="800" dirty="0"/>
          </a:p>
        </p:txBody>
      </p:sp>
      <p:sp>
        <p:nvSpPr>
          <p:cNvPr id="190" name="Shape 188"/>
          <p:cNvSpPr/>
          <p:nvPr/>
        </p:nvSpPr>
        <p:spPr>
          <a:xfrm>
            <a:off x="4182466" y="3803904"/>
            <a:ext cx="844906" cy="237744"/>
          </a:xfrm>
          <a:prstGeom prst="rect">
            <a:avLst/>
          </a:prstGeom>
          <a:solidFill>
            <a:srgbClr val="10233A"/>
          </a:solidFill>
          <a:ln/>
        </p:spPr>
      </p:sp>
      <p:sp>
        <p:nvSpPr>
          <p:cNvPr id="191" name="Text 189"/>
          <p:cNvSpPr txBox="1"/>
          <p:nvPr/>
        </p:nvSpPr>
        <p:spPr>
          <a:xfrm>
            <a:off x="4246474" y="3803904"/>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FY28</a:t>
            </a:r>
            <a:endParaRPr lang="en-US" sz="800" dirty="0"/>
          </a:p>
        </p:txBody>
      </p:sp>
      <p:sp>
        <p:nvSpPr>
          <p:cNvPr id="192" name="Shape 190"/>
          <p:cNvSpPr/>
          <p:nvPr/>
        </p:nvSpPr>
        <p:spPr>
          <a:xfrm>
            <a:off x="5027371" y="3803904"/>
            <a:ext cx="844906" cy="237744"/>
          </a:xfrm>
          <a:prstGeom prst="rect">
            <a:avLst/>
          </a:prstGeom>
          <a:solidFill>
            <a:srgbClr val="10233A"/>
          </a:solidFill>
          <a:ln/>
        </p:spPr>
      </p:sp>
      <p:sp>
        <p:nvSpPr>
          <p:cNvPr id="193" name="Text 191"/>
          <p:cNvSpPr txBox="1"/>
          <p:nvPr/>
        </p:nvSpPr>
        <p:spPr>
          <a:xfrm>
            <a:off x="5091379" y="3803904"/>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FY29</a:t>
            </a:r>
            <a:endParaRPr lang="en-US" sz="800" dirty="0"/>
          </a:p>
        </p:txBody>
      </p:sp>
      <p:sp>
        <p:nvSpPr>
          <p:cNvPr id="194" name="Shape 192"/>
          <p:cNvSpPr/>
          <p:nvPr/>
        </p:nvSpPr>
        <p:spPr>
          <a:xfrm>
            <a:off x="5872277" y="3803904"/>
            <a:ext cx="844906" cy="237744"/>
          </a:xfrm>
          <a:prstGeom prst="rect">
            <a:avLst/>
          </a:prstGeom>
          <a:solidFill>
            <a:srgbClr val="10233A"/>
          </a:solidFill>
          <a:ln/>
        </p:spPr>
      </p:sp>
      <p:sp>
        <p:nvSpPr>
          <p:cNvPr id="195" name="Text 193"/>
          <p:cNvSpPr txBox="1"/>
          <p:nvPr/>
        </p:nvSpPr>
        <p:spPr>
          <a:xfrm>
            <a:off x="5936285" y="3803904"/>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FY30</a:t>
            </a:r>
            <a:endParaRPr lang="en-US" sz="800" dirty="0"/>
          </a:p>
        </p:txBody>
      </p:sp>
      <p:sp>
        <p:nvSpPr>
          <p:cNvPr id="196" name="Shape 194"/>
          <p:cNvSpPr/>
          <p:nvPr/>
        </p:nvSpPr>
        <p:spPr>
          <a:xfrm>
            <a:off x="6717182" y="3803904"/>
            <a:ext cx="844906" cy="237744"/>
          </a:xfrm>
          <a:prstGeom prst="rect">
            <a:avLst/>
          </a:prstGeom>
          <a:solidFill>
            <a:srgbClr val="10233A"/>
          </a:solidFill>
          <a:ln/>
        </p:spPr>
      </p:sp>
      <p:sp>
        <p:nvSpPr>
          <p:cNvPr id="197" name="Text 195"/>
          <p:cNvSpPr txBox="1"/>
          <p:nvPr/>
        </p:nvSpPr>
        <p:spPr>
          <a:xfrm>
            <a:off x="6781190" y="3803904"/>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FY31</a:t>
            </a:r>
            <a:endParaRPr lang="en-US" sz="800" dirty="0"/>
          </a:p>
        </p:txBody>
      </p:sp>
      <p:sp>
        <p:nvSpPr>
          <p:cNvPr id="198" name="Shape 196"/>
          <p:cNvSpPr/>
          <p:nvPr/>
        </p:nvSpPr>
        <p:spPr>
          <a:xfrm>
            <a:off x="7562088" y="3803904"/>
            <a:ext cx="844906" cy="237744"/>
          </a:xfrm>
          <a:prstGeom prst="rect">
            <a:avLst/>
          </a:prstGeom>
          <a:solidFill>
            <a:srgbClr val="10233A"/>
          </a:solidFill>
          <a:ln/>
        </p:spPr>
      </p:sp>
      <p:sp>
        <p:nvSpPr>
          <p:cNvPr id="199" name="Text 197"/>
          <p:cNvSpPr txBox="1"/>
          <p:nvPr/>
        </p:nvSpPr>
        <p:spPr>
          <a:xfrm>
            <a:off x="7626096" y="3803904"/>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FY32</a:t>
            </a:r>
            <a:endParaRPr lang="en-US" sz="800" dirty="0"/>
          </a:p>
        </p:txBody>
      </p:sp>
      <p:sp>
        <p:nvSpPr>
          <p:cNvPr id="200" name="Shape 198"/>
          <p:cNvSpPr/>
          <p:nvPr/>
        </p:nvSpPr>
        <p:spPr>
          <a:xfrm>
            <a:off x="8406994" y="3803904"/>
            <a:ext cx="844906" cy="237744"/>
          </a:xfrm>
          <a:prstGeom prst="rect">
            <a:avLst/>
          </a:prstGeom>
          <a:solidFill>
            <a:srgbClr val="10233A"/>
          </a:solidFill>
          <a:ln/>
        </p:spPr>
      </p:sp>
      <p:sp>
        <p:nvSpPr>
          <p:cNvPr id="201" name="Text 199"/>
          <p:cNvSpPr txBox="1"/>
          <p:nvPr/>
        </p:nvSpPr>
        <p:spPr>
          <a:xfrm>
            <a:off x="8471002" y="3803904"/>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FY33</a:t>
            </a:r>
            <a:endParaRPr lang="en-US" sz="800" dirty="0"/>
          </a:p>
        </p:txBody>
      </p:sp>
      <p:sp>
        <p:nvSpPr>
          <p:cNvPr id="202" name="Shape 200"/>
          <p:cNvSpPr/>
          <p:nvPr/>
        </p:nvSpPr>
        <p:spPr>
          <a:xfrm>
            <a:off x="9251899" y="3803904"/>
            <a:ext cx="844906" cy="237744"/>
          </a:xfrm>
          <a:prstGeom prst="rect">
            <a:avLst/>
          </a:prstGeom>
          <a:solidFill>
            <a:srgbClr val="10233A"/>
          </a:solidFill>
          <a:ln/>
        </p:spPr>
      </p:sp>
      <p:sp>
        <p:nvSpPr>
          <p:cNvPr id="203" name="Text 201"/>
          <p:cNvSpPr txBox="1"/>
          <p:nvPr/>
        </p:nvSpPr>
        <p:spPr>
          <a:xfrm>
            <a:off x="9315907" y="3803904"/>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FY34</a:t>
            </a:r>
            <a:endParaRPr lang="en-US" sz="800" dirty="0"/>
          </a:p>
        </p:txBody>
      </p:sp>
      <p:sp>
        <p:nvSpPr>
          <p:cNvPr id="204" name="Shape 202"/>
          <p:cNvSpPr/>
          <p:nvPr/>
        </p:nvSpPr>
        <p:spPr>
          <a:xfrm>
            <a:off x="10096805" y="3803904"/>
            <a:ext cx="844906" cy="237744"/>
          </a:xfrm>
          <a:prstGeom prst="rect">
            <a:avLst/>
          </a:prstGeom>
          <a:solidFill>
            <a:srgbClr val="10233A"/>
          </a:solidFill>
          <a:ln/>
        </p:spPr>
      </p:sp>
      <p:sp>
        <p:nvSpPr>
          <p:cNvPr id="205" name="Text 203"/>
          <p:cNvSpPr txBox="1"/>
          <p:nvPr/>
        </p:nvSpPr>
        <p:spPr>
          <a:xfrm>
            <a:off x="10160813" y="3803904"/>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FY35</a:t>
            </a:r>
            <a:endParaRPr lang="en-US" sz="800" dirty="0"/>
          </a:p>
        </p:txBody>
      </p:sp>
      <p:sp>
        <p:nvSpPr>
          <p:cNvPr id="206" name="Shape 204"/>
          <p:cNvSpPr/>
          <p:nvPr/>
        </p:nvSpPr>
        <p:spPr>
          <a:xfrm>
            <a:off x="10941710" y="3803904"/>
            <a:ext cx="844906" cy="237744"/>
          </a:xfrm>
          <a:prstGeom prst="rect">
            <a:avLst/>
          </a:prstGeom>
          <a:solidFill>
            <a:srgbClr val="10233A"/>
          </a:solidFill>
          <a:ln/>
        </p:spPr>
      </p:sp>
      <p:sp>
        <p:nvSpPr>
          <p:cNvPr id="207" name="Text 205"/>
          <p:cNvSpPr txBox="1"/>
          <p:nvPr/>
        </p:nvSpPr>
        <p:spPr>
          <a:xfrm>
            <a:off x="11005718" y="3803904"/>
            <a:ext cx="716890" cy="237744"/>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FY36</a:t>
            </a:r>
            <a:endParaRPr lang="en-US" sz="800" dirty="0"/>
          </a:p>
        </p:txBody>
      </p:sp>
      <p:sp>
        <p:nvSpPr>
          <p:cNvPr id="208" name="Shape 206"/>
          <p:cNvSpPr/>
          <p:nvPr/>
        </p:nvSpPr>
        <p:spPr>
          <a:xfrm>
            <a:off x="411480" y="4041648"/>
            <a:ext cx="2926080" cy="201168"/>
          </a:xfrm>
          <a:prstGeom prst="rect">
            <a:avLst/>
          </a:prstGeom>
          <a:solidFill>
            <a:srgbClr val="FFFFFF"/>
          </a:solidFill>
          <a:ln w="6350">
            <a:solidFill>
              <a:srgbClr val="D3DCE5"/>
            </a:solidFill>
            <a:prstDash val="solid"/>
          </a:ln>
        </p:spPr>
      </p:sp>
      <p:sp>
        <p:nvSpPr>
          <p:cNvPr id="209" name="Text 207"/>
          <p:cNvSpPr txBox="1"/>
          <p:nvPr/>
        </p:nvSpPr>
        <p:spPr>
          <a:xfrm>
            <a:off x="475488" y="4041648"/>
            <a:ext cx="2798064" cy="20116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Bear</a:t>
            </a:r>
            <a:endParaRPr lang="en-US" sz="820" dirty="0"/>
          </a:p>
        </p:txBody>
      </p:sp>
      <p:sp>
        <p:nvSpPr>
          <p:cNvPr id="210" name="Shape 208"/>
          <p:cNvSpPr/>
          <p:nvPr/>
        </p:nvSpPr>
        <p:spPr>
          <a:xfrm>
            <a:off x="3337560" y="4041648"/>
            <a:ext cx="844906" cy="201168"/>
          </a:xfrm>
          <a:prstGeom prst="rect">
            <a:avLst/>
          </a:prstGeom>
          <a:solidFill>
            <a:srgbClr val="FFFFFF"/>
          </a:solidFill>
          <a:ln w="6350">
            <a:solidFill>
              <a:srgbClr val="D3DCE5"/>
            </a:solidFill>
            <a:prstDash val="solid"/>
          </a:ln>
        </p:spPr>
      </p:sp>
      <p:sp>
        <p:nvSpPr>
          <p:cNvPr id="211" name="Text 209"/>
          <p:cNvSpPr txBox="1"/>
          <p:nvPr/>
        </p:nvSpPr>
        <p:spPr>
          <a:xfrm>
            <a:off x="3401568" y="4041648"/>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1,155</a:t>
            </a:r>
            <a:endParaRPr lang="en-US" sz="820" dirty="0"/>
          </a:p>
        </p:txBody>
      </p:sp>
      <p:sp>
        <p:nvSpPr>
          <p:cNvPr id="212" name="Shape 210"/>
          <p:cNvSpPr/>
          <p:nvPr/>
        </p:nvSpPr>
        <p:spPr>
          <a:xfrm>
            <a:off x="4182466" y="4041648"/>
            <a:ext cx="844906" cy="201168"/>
          </a:xfrm>
          <a:prstGeom prst="rect">
            <a:avLst/>
          </a:prstGeom>
          <a:solidFill>
            <a:srgbClr val="FFFFFF"/>
          </a:solidFill>
          <a:ln w="6350">
            <a:solidFill>
              <a:srgbClr val="D3DCE5"/>
            </a:solidFill>
            <a:prstDash val="solid"/>
          </a:ln>
        </p:spPr>
      </p:sp>
      <p:sp>
        <p:nvSpPr>
          <p:cNvPr id="213" name="Text 211"/>
          <p:cNvSpPr txBox="1"/>
          <p:nvPr/>
        </p:nvSpPr>
        <p:spPr>
          <a:xfrm>
            <a:off x="4246474" y="4041648"/>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845</a:t>
            </a:r>
            <a:endParaRPr lang="en-US" sz="820" dirty="0"/>
          </a:p>
        </p:txBody>
      </p:sp>
      <p:sp>
        <p:nvSpPr>
          <p:cNvPr id="214" name="Shape 212"/>
          <p:cNvSpPr/>
          <p:nvPr/>
        </p:nvSpPr>
        <p:spPr>
          <a:xfrm>
            <a:off x="5027371" y="4041648"/>
            <a:ext cx="844906" cy="201168"/>
          </a:xfrm>
          <a:prstGeom prst="rect">
            <a:avLst/>
          </a:prstGeom>
          <a:solidFill>
            <a:srgbClr val="FFFFFF"/>
          </a:solidFill>
          <a:ln w="6350">
            <a:solidFill>
              <a:srgbClr val="D3DCE5"/>
            </a:solidFill>
            <a:prstDash val="solid"/>
          </a:ln>
        </p:spPr>
      </p:sp>
      <p:sp>
        <p:nvSpPr>
          <p:cNvPr id="215" name="Text 213"/>
          <p:cNvSpPr txBox="1"/>
          <p:nvPr/>
        </p:nvSpPr>
        <p:spPr>
          <a:xfrm>
            <a:off x="5091379" y="4041648"/>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655</a:t>
            </a:r>
            <a:endParaRPr lang="en-US" sz="820" dirty="0"/>
          </a:p>
        </p:txBody>
      </p:sp>
      <p:sp>
        <p:nvSpPr>
          <p:cNvPr id="216" name="Shape 214"/>
          <p:cNvSpPr/>
          <p:nvPr/>
        </p:nvSpPr>
        <p:spPr>
          <a:xfrm>
            <a:off x="5872277" y="4041648"/>
            <a:ext cx="844906" cy="201168"/>
          </a:xfrm>
          <a:prstGeom prst="rect">
            <a:avLst/>
          </a:prstGeom>
          <a:solidFill>
            <a:srgbClr val="FFFFFF"/>
          </a:solidFill>
          <a:ln w="6350">
            <a:solidFill>
              <a:srgbClr val="D3DCE5"/>
            </a:solidFill>
            <a:prstDash val="solid"/>
          </a:ln>
        </p:spPr>
      </p:sp>
      <p:sp>
        <p:nvSpPr>
          <p:cNvPr id="217" name="Text 215"/>
          <p:cNvSpPr txBox="1"/>
          <p:nvPr/>
        </p:nvSpPr>
        <p:spPr>
          <a:xfrm>
            <a:off x="5936285" y="4041648"/>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618</a:t>
            </a:r>
            <a:endParaRPr lang="en-US" sz="820" dirty="0"/>
          </a:p>
        </p:txBody>
      </p:sp>
      <p:sp>
        <p:nvSpPr>
          <p:cNvPr id="218" name="Shape 216"/>
          <p:cNvSpPr/>
          <p:nvPr/>
        </p:nvSpPr>
        <p:spPr>
          <a:xfrm>
            <a:off x="6717182" y="4041648"/>
            <a:ext cx="844906" cy="201168"/>
          </a:xfrm>
          <a:prstGeom prst="rect">
            <a:avLst/>
          </a:prstGeom>
          <a:solidFill>
            <a:srgbClr val="FFFFFF"/>
          </a:solidFill>
          <a:ln w="6350">
            <a:solidFill>
              <a:srgbClr val="D3DCE5"/>
            </a:solidFill>
            <a:prstDash val="solid"/>
          </a:ln>
        </p:spPr>
      </p:sp>
      <p:sp>
        <p:nvSpPr>
          <p:cNvPr id="219" name="Text 217"/>
          <p:cNvSpPr txBox="1"/>
          <p:nvPr/>
        </p:nvSpPr>
        <p:spPr>
          <a:xfrm>
            <a:off x="6781190" y="4041648"/>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730</a:t>
            </a:r>
            <a:endParaRPr lang="en-US" sz="820" dirty="0"/>
          </a:p>
        </p:txBody>
      </p:sp>
      <p:sp>
        <p:nvSpPr>
          <p:cNvPr id="220" name="Shape 218"/>
          <p:cNvSpPr/>
          <p:nvPr/>
        </p:nvSpPr>
        <p:spPr>
          <a:xfrm>
            <a:off x="7562088" y="4041648"/>
            <a:ext cx="844906" cy="201168"/>
          </a:xfrm>
          <a:prstGeom prst="rect">
            <a:avLst/>
          </a:prstGeom>
          <a:solidFill>
            <a:srgbClr val="FFFFFF"/>
          </a:solidFill>
          <a:ln w="6350">
            <a:solidFill>
              <a:srgbClr val="D3DCE5"/>
            </a:solidFill>
            <a:prstDash val="solid"/>
          </a:ln>
        </p:spPr>
      </p:sp>
      <p:sp>
        <p:nvSpPr>
          <p:cNvPr id="221" name="Text 219"/>
          <p:cNvSpPr txBox="1"/>
          <p:nvPr/>
        </p:nvSpPr>
        <p:spPr>
          <a:xfrm>
            <a:off x="7626096" y="4041648"/>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882</a:t>
            </a:r>
            <a:endParaRPr lang="en-US" sz="820" dirty="0"/>
          </a:p>
        </p:txBody>
      </p:sp>
      <p:sp>
        <p:nvSpPr>
          <p:cNvPr id="222" name="Shape 220"/>
          <p:cNvSpPr/>
          <p:nvPr/>
        </p:nvSpPr>
        <p:spPr>
          <a:xfrm>
            <a:off x="8406994" y="4041648"/>
            <a:ext cx="844906" cy="201168"/>
          </a:xfrm>
          <a:prstGeom prst="rect">
            <a:avLst/>
          </a:prstGeom>
          <a:solidFill>
            <a:srgbClr val="FFFFFF"/>
          </a:solidFill>
          <a:ln w="6350">
            <a:solidFill>
              <a:srgbClr val="D3DCE5"/>
            </a:solidFill>
            <a:prstDash val="solid"/>
          </a:ln>
        </p:spPr>
      </p:sp>
      <p:sp>
        <p:nvSpPr>
          <p:cNvPr id="223" name="Text 221"/>
          <p:cNvSpPr txBox="1"/>
          <p:nvPr/>
        </p:nvSpPr>
        <p:spPr>
          <a:xfrm>
            <a:off x="8471002" y="4041648"/>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1,013</a:t>
            </a:r>
            <a:endParaRPr lang="en-US" sz="820" dirty="0"/>
          </a:p>
        </p:txBody>
      </p:sp>
      <p:sp>
        <p:nvSpPr>
          <p:cNvPr id="224" name="Shape 222"/>
          <p:cNvSpPr/>
          <p:nvPr/>
        </p:nvSpPr>
        <p:spPr>
          <a:xfrm>
            <a:off x="9251899" y="4041648"/>
            <a:ext cx="844906" cy="201168"/>
          </a:xfrm>
          <a:prstGeom prst="rect">
            <a:avLst/>
          </a:prstGeom>
          <a:solidFill>
            <a:srgbClr val="FFFFFF"/>
          </a:solidFill>
          <a:ln w="6350">
            <a:solidFill>
              <a:srgbClr val="D3DCE5"/>
            </a:solidFill>
            <a:prstDash val="solid"/>
          </a:ln>
        </p:spPr>
      </p:sp>
      <p:sp>
        <p:nvSpPr>
          <p:cNvPr id="225" name="Text 223"/>
          <p:cNvSpPr txBox="1"/>
          <p:nvPr/>
        </p:nvSpPr>
        <p:spPr>
          <a:xfrm>
            <a:off x="9315907" y="4041648"/>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1,151</a:t>
            </a:r>
            <a:endParaRPr lang="en-US" sz="820" dirty="0"/>
          </a:p>
        </p:txBody>
      </p:sp>
      <p:sp>
        <p:nvSpPr>
          <p:cNvPr id="226" name="Shape 224"/>
          <p:cNvSpPr/>
          <p:nvPr/>
        </p:nvSpPr>
        <p:spPr>
          <a:xfrm>
            <a:off x="10096805" y="4041648"/>
            <a:ext cx="844906" cy="201168"/>
          </a:xfrm>
          <a:prstGeom prst="rect">
            <a:avLst/>
          </a:prstGeom>
          <a:solidFill>
            <a:srgbClr val="FFFFFF"/>
          </a:solidFill>
          <a:ln w="6350">
            <a:solidFill>
              <a:srgbClr val="D3DCE5"/>
            </a:solidFill>
            <a:prstDash val="solid"/>
          </a:ln>
        </p:spPr>
      </p:sp>
      <p:sp>
        <p:nvSpPr>
          <p:cNvPr id="227" name="Text 225"/>
          <p:cNvSpPr txBox="1"/>
          <p:nvPr/>
        </p:nvSpPr>
        <p:spPr>
          <a:xfrm>
            <a:off x="10160813" y="4041648"/>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1,226</a:t>
            </a:r>
            <a:endParaRPr lang="en-US" sz="820" dirty="0"/>
          </a:p>
        </p:txBody>
      </p:sp>
      <p:sp>
        <p:nvSpPr>
          <p:cNvPr id="228" name="Shape 226"/>
          <p:cNvSpPr/>
          <p:nvPr/>
        </p:nvSpPr>
        <p:spPr>
          <a:xfrm>
            <a:off x="10941710" y="4041648"/>
            <a:ext cx="844906" cy="201168"/>
          </a:xfrm>
          <a:prstGeom prst="rect">
            <a:avLst/>
          </a:prstGeom>
          <a:solidFill>
            <a:srgbClr val="FFFFFF"/>
          </a:solidFill>
          <a:ln w="6350">
            <a:solidFill>
              <a:srgbClr val="D3DCE5"/>
            </a:solidFill>
            <a:prstDash val="solid"/>
          </a:ln>
        </p:spPr>
      </p:sp>
      <p:sp>
        <p:nvSpPr>
          <p:cNvPr id="229" name="Text 227"/>
          <p:cNvSpPr txBox="1"/>
          <p:nvPr/>
        </p:nvSpPr>
        <p:spPr>
          <a:xfrm>
            <a:off x="11005718" y="4041648"/>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1,289</a:t>
            </a:r>
            <a:endParaRPr lang="en-US" sz="820" dirty="0"/>
          </a:p>
        </p:txBody>
      </p:sp>
      <p:sp>
        <p:nvSpPr>
          <p:cNvPr id="230" name="Shape 228"/>
          <p:cNvSpPr/>
          <p:nvPr/>
        </p:nvSpPr>
        <p:spPr>
          <a:xfrm>
            <a:off x="411480" y="4242816"/>
            <a:ext cx="2926080" cy="201168"/>
          </a:xfrm>
          <a:prstGeom prst="rect">
            <a:avLst/>
          </a:prstGeom>
          <a:solidFill>
            <a:srgbClr val="F7F9FB"/>
          </a:solidFill>
          <a:ln w="6350">
            <a:solidFill>
              <a:srgbClr val="D3DCE5"/>
            </a:solidFill>
            <a:prstDash val="solid"/>
          </a:ln>
        </p:spPr>
      </p:sp>
      <p:sp>
        <p:nvSpPr>
          <p:cNvPr id="231" name="Text 229"/>
          <p:cNvSpPr txBox="1"/>
          <p:nvPr/>
        </p:nvSpPr>
        <p:spPr>
          <a:xfrm>
            <a:off x="475488" y="4242816"/>
            <a:ext cx="2798064" cy="20116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Base</a:t>
            </a:r>
            <a:endParaRPr lang="en-US" sz="820" dirty="0"/>
          </a:p>
        </p:txBody>
      </p:sp>
      <p:sp>
        <p:nvSpPr>
          <p:cNvPr id="232" name="Shape 230"/>
          <p:cNvSpPr/>
          <p:nvPr/>
        </p:nvSpPr>
        <p:spPr>
          <a:xfrm>
            <a:off x="3337560" y="4242816"/>
            <a:ext cx="844906" cy="201168"/>
          </a:xfrm>
          <a:prstGeom prst="rect">
            <a:avLst/>
          </a:prstGeom>
          <a:solidFill>
            <a:srgbClr val="F7F9FB"/>
          </a:solidFill>
          <a:ln w="6350">
            <a:solidFill>
              <a:srgbClr val="D3DCE5"/>
            </a:solidFill>
            <a:prstDash val="solid"/>
          </a:ln>
        </p:spPr>
      </p:sp>
      <p:sp>
        <p:nvSpPr>
          <p:cNvPr id="233" name="Text 231"/>
          <p:cNvSpPr txBox="1"/>
          <p:nvPr/>
        </p:nvSpPr>
        <p:spPr>
          <a:xfrm>
            <a:off x="3401568" y="4242816"/>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1,731</a:t>
            </a:r>
            <a:endParaRPr lang="en-US" sz="820" dirty="0"/>
          </a:p>
        </p:txBody>
      </p:sp>
      <p:sp>
        <p:nvSpPr>
          <p:cNvPr id="234" name="Shape 232"/>
          <p:cNvSpPr/>
          <p:nvPr/>
        </p:nvSpPr>
        <p:spPr>
          <a:xfrm>
            <a:off x="4182466" y="4242816"/>
            <a:ext cx="844906" cy="201168"/>
          </a:xfrm>
          <a:prstGeom prst="rect">
            <a:avLst/>
          </a:prstGeom>
          <a:solidFill>
            <a:srgbClr val="F7F9FB"/>
          </a:solidFill>
          <a:ln w="6350">
            <a:solidFill>
              <a:srgbClr val="D3DCE5"/>
            </a:solidFill>
            <a:prstDash val="solid"/>
          </a:ln>
        </p:spPr>
      </p:sp>
      <p:sp>
        <p:nvSpPr>
          <p:cNvPr id="235" name="Text 233"/>
          <p:cNvSpPr txBox="1"/>
          <p:nvPr/>
        </p:nvSpPr>
        <p:spPr>
          <a:xfrm>
            <a:off x="4246474" y="4242816"/>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1,907</a:t>
            </a:r>
            <a:endParaRPr lang="en-US" sz="820" dirty="0"/>
          </a:p>
        </p:txBody>
      </p:sp>
      <p:sp>
        <p:nvSpPr>
          <p:cNvPr id="236" name="Shape 234"/>
          <p:cNvSpPr/>
          <p:nvPr/>
        </p:nvSpPr>
        <p:spPr>
          <a:xfrm>
            <a:off x="5027371" y="4242816"/>
            <a:ext cx="844906" cy="201168"/>
          </a:xfrm>
          <a:prstGeom prst="rect">
            <a:avLst/>
          </a:prstGeom>
          <a:solidFill>
            <a:srgbClr val="F7F9FB"/>
          </a:solidFill>
          <a:ln w="6350">
            <a:solidFill>
              <a:srgbClr val="D3DCE5"/>
            </a:solidFill>
            <a:prstDash val="solid"/>
          </a:ln>
        </p:spPr>
      </p:sp>
      <p:sp>
        <p:nvSpPr>
          <p:cNvPr id="237" name="Text 235"/>
          <p:cNvSpPr txBox="1"/>
          <p:nvPr/>
        </p:nvSpPr>
        <p:spPr>
          <a:xfrm>
            <a:off x="5091379" y="4242816"/>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1,974</a:t>
            </a:r>
            <a:endParaRPr lang="en-US" sz="820" dirty="0"/>
          </a:p>
        </p:txBody>
      </p:sp>
      <p:sp>
        <p:nvSpPr>
          <p:cNvPr id="238" name="Shape 236"/>
          <p:cNvSpPr/>
          <p:nvPr/>
        </p:nvSpPr>
        <p:spPr>
          <a:xfrm>
            <a:off x="5872277" y="4242816"/>
            <a:ext cx="844906" cy="201168"/>
          </a:xfrm>
          <a:prstGeom prst="rect">
            <a:avLst/>
          </a:prstGeom>
          <a:solidFill>
            <a:srgbClr val="F7F9FB"/>
          </a:solidFill>
          <a:ln w="6350">
            <a:solidFill>
              <a:srgbClr val="D3DCE5"/>
            </a:solidFill>
            <a:prstDash val="solid"/>
          </a:ln>
        </p:spPr>
      </p:sp>
      <p:sp>
        <p:nvSpPr>
          <p:cNvPr id="239" name="Text 237"/>
          <p:cNvSpPr txBox="1"/>
          <p:nvPr/>
        </p:nvSpPr>
        <p:spPr>
          <a:xfrm>
            <a:off x="5936285" y="4242816"/>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2,306</a:t>
            </a:r>
            <a:endParaRPr lang="en-US" sz="820" dirty="0"/>
          </a:p>
        </p:txBody>
      </p:sp>
      <p:sp>
        <p:nvSpPr>
          <p:cNvPr id="240" name="Shape 238"/>
          <p:cNvSpPr/>
          <p:nvPr/>
        </p:nvSpPr>
        <p:spPr>
          <a:xfrm>
            <a:off x="6717182" y="4242816"/>
            <a:ext cx="844906" cy="201168"/>
          </a:xfrm>
          <a:prstGeom prst="rect">
            <a:avLst/>
          </a:prstGeom>
          <a:solidFill>
            <a:srgbClr val="F7F9FB"/>
          </a:solidFill>
          <a:ln w="6350">
            <a:solidFill>
              <a:srgbClr val="D3DCE5"/>
            </a:solidFill>
            <a:prstDash val="solid"/>
          </a:ln>
        </p:spPr>
      </p:sp>
      <p:sp>
        <p:nvSpPr>
          <p:cNvPr id="241" name="Text 239"/>
          <p:cNvSpPr txBox="1"/>
          <p:nvPr/>
        </p:nvSpPr>
        <p:spPr>
          <a:xfrm>
            <a:off x="6781190" y="4242816"/>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2,687</a:t>
            </a:r>
            <a:endParaRPr lang="en-US" sz="820" dirty="0"/>
          </a:p>
        </p:txBody>
      </p:sp>
      <p:sp>
        <p:nvSpPr>
          <p:cNvPr id="242" name="Shape 240"/>
          <p:cNvSpPr/>
          <p:nvPr/>
        </p:nvSpPr>
        <p:spPr>
          <a:xfrm>
            <a:off x="7562088" y="4242816"/>
            <a:ext cx="844906" cy="201168"/>
          </a:xfrm>
          <a:prstGeom prst="rect">
            <a:avLst/>
          </a:prstGeom>
          <a:solidFill>
            <a:srgbClr val="F7F9FB"/>
          </a:solidFill>
          <a:ln w="6350">
            <a:solidFill>
              <a:srgbClr val="D3DCE5"/>
            </a:solidFill>
            <a:prstDash val="solid"/>
          </a:ln>
        </p:spPr>
      </p:sp>
      <p:sp>
        <p:nvSpPr>
          <p:cNvPr id="243" name="Text 241"/>
          <p:cNvSpPr txBox="1"/>
          <p:nvPr/>
        </p:nvSpPr>
        <p:spPr>
          <a:xfrm>
            <a:off x="7626096" y="4242816"/>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3,365</a:t>
            </a:r>
            <a:endParaRPr lang="en-US" sz="820" dirty="0"/>
          </a:p>
        </p:txBody>
      </p:sp>
      <p:sp>
        <p:nvSpPr>
          <p:cNvPr id="244" name="Shape 242"/>
          <p:cNvSpPr/>
          <p:nvPr/>
        </p:nvSpPr>
        <p:spPr>
          <a:xfrm>
            <a:off x="8406994" y="4242816"/>
            <a:ext cx="844906" cy="201168"/>
          </a:xfrm>
          <a:prstGeom prst="rect">
            <a:avLst/>
          </a:prstGeom>
          <a:solidFill>
            <a:srgbClr val="F7F9FB"/>
          </a:solidFill>
          <a:ln w="6350">
            <a:solidFill>
              <a:srgbClr val="D3DCE5"/>
            </a:solidFill>
            <a:prstDash val="solid"/>
          </a:ln>
        </p:spPr>
      </p:sp>
      <p:sp>
        <p:nvSpPr>
          <p:cNvPr id="245" name="Text 243"/>
          <p:cNvSpPr txBox="1"/>
          <p:nvPr/>
        </p:nvSpPr>
        <p:spPr>
          <a:xfrm>
            <a:off x="8471002" y="4242816"/>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3,842</a:t>
            </a:r>
            <a:endParaRPr lang="en-US" sz="820" dirty="0"/>
          </a:p>
        </p:txBody>
      </p:sp>
      <p:sp>
        <p:nvSpPr>
          <p:cNvPr id="246" name="Shape 244"/>
          <p:cNvSpPr/>
          <p:nvPr/>
        </p:nvSpPr>
        <p:spPr>
          <a:xfrm>
            <a:off x="9251899" y="4242816"/>
            <a:ext cx="844906" cy="201168"/>
          </a:xfrm>
          <a:prstGeom prst="rect">
            <a:avLst/>
          </a:prstGeom>
          <a:solidFill>
            <a:srgbClr val="F7F9FB"/>
          </a:solidFill>
          <a:ln w="6350">
            <a:solidFill>
              <a:srgbClr val="D3DCE5"/>
            </a:solidFill>
            <a:prstDash val="solid"/>
          </a:ln>
        </p:spPr>
      </p:sp>
      <p:sp>
        <p:nvSpPr>
          <p:cNvPr id="247" name="Text 245"/>
          <p:cNvSpPr txBox="1"/>
          <p:nvPr/>
        </p:nvSpPr>
        <p:spPr>
          <a:xfrm>
            <a:off x="9315907" y="4242816"/>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4,024</a:t>
            </a:r>
            <a:endParaRPr lang="en-US" sz="820" dirty="0"/>
          </a:p>
        </p:txBody>
      </p:sp>
      <p:sp>
        <p:nvSpPr>
          <p:cNvPr id="248" name="Shape 246"/>
          <p:cNvSpPr/>
          <p:nvPr/>
        </p:nvSpPr>
        <p:spPr>
          <a:xfrm>
            <a:off x="10096805" y="4242816"/>
            <a:ext cx="844906" cy="201168"/>
          </a:xfrm>
          <a:prstGeom prst="rect">
            <a:avLst/>
          </a:prstGeom>
          <a:solidFill>
            <a:srgbClr val="F7F9FB"/>
          </a:solidFill>
          <a:ln w="6350">
            <a:solidFill>
              <a:srgbClr val="D3DCE5"/>
            </a:solidFill>
            <a:prstDash val="solid"/>
          </a:ln>
        </p:spPr>
      </p:sp>
      <p:sp>
        <p:nvSpPr>
          <p:cNvPr id="249" name="Text 247"/>
          <p:cNvSpPr txBox="1"/>
          <p:nvPr/>
        </p:nvSpPr>
        <p:spPr>
          <a:xfrm>
            <a:off x="10160813" y="4242816"/>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4,089</a:t>
            </a:r>
            <a:endParaRPr lang="en-US" sz="820" dirty="0"/>
          </a:p>
        </p:txBody>
      </p:sp>
      <p:sp>
        <p:nvSpPr>
          <p:cNvPr id="250" name="Shape 248"/>
          <p:cNvSpPr/>
          <p:nvPr/>
        </p:nvSpPr>
        <p:spPr>
          <a:xfrm>
            <a:off x="10941710" y="4242816"/>
            <a:ext cx="844906" cy="201168"/>
          </a:xfrm>
          <a:prstGeom prst="rect">
            <a:avLst/>
          </a:prstGeom>
          <a:solidFill>
            <a:srgbClr val="F7F9FB"/>
          </a:solidFill>
          <a:ln w="6350">
            <a:solidFill>
              <a:srgbClr val="D3DCE5"/>
            </a:solidFill>
            <a:prstDash val="solid"/>
          </a:ln>
        </p:spPr>
      </p:sp>
      <p:sp>
        <p:nvSpPr>
          <p:cNvPr id="251" name="Text 249"/>
          <p:cNvSpPr txBox="1"/>
          <p:nvPr/>
        </p:nvSpPr>
        <p:spPr>
          <a:xfrm>
            <a:off x="11005718" y="4242816"/>
            <a:ext cx="716890" cy="20116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4,086</a:t>
            </a:r>
            <a:endParaRPr lang="en-US" sz="820" dirty="0"/>
          </a:p>
        </p:txBody>
      </p:sp>
      <p:sp>
        <p:nvSpPr>
          <p:cNvPr id="252" name="Shape 250"/>
          <p:cNvSpPr/>
          <p:nvPr/>
        </p:nvSpPr>
        <p:spPr>
          <a:xfrm>
            <a:off x="411480" y="4443984"/>
            <a:ext cx="2926080" cy="201168"/>
          </a:xfrm>
          <a:prstGeom prst="rect">
            <a:avLst/>
          </a:prstGeom>
          <a:solidFill>
            <a:srgbClr val="FFFFFF"/>
          </a:solidFill>
          <a:ln w="6350">
            <a:solidFill>
              <a:srgbClr val="D3DCE5"/>
            </a:solidFill>
            <a:prstDash val="solid"/>
          </a:ln>
        </p:spPr>
      </p:sp>
      <p:sp>
        <p:nvSpPr>
          <p:cNvPr id="253" name="Text 251"/>
          <p:cNvSpPr txBox="1"/>
          <p:nvPr/>
        </p:nvSpPr>
        <p:spPr>
          <a:xfrm>
            <a:off x="475488" y="4443984"/>
            <a:ext cx="2798064" cy="20116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Bull</a:t>
            </a:r>
            <a:endParaRPr lang="en-US" sz="820" dirty="0"/>
          </a:p>
        </p:txBody>
      </p:sp>
      <p:sp>
        <p:nvSpPr>
          <p:cNvPr id="254" name="Shape 252"/>
          <p:cNvSpPr/>
          <p:nvPr/>
        </p:nvSpPr>
        <p:spPr>
          <a:xfrm>
            <a:off x="3337560" y="4443984"/>
            <a:ext cx="844906" cy="201168"/>
          </a:xfrm>
          <a:prstGeom prst="rect">
            <a:avLst/>
          </a:prstGeom>
          <a:solidFill>
            <a:srgbClr val="FFFFFF"/>
          </a:solidFill>
          <a:ln w="6350">
            <a:solidFill>
              <a:srgbClr val="D3DCE5"/>
            </a:solidFill>
            <a:prstDash val="solid"/>
          </a:ln>
        </p:spPr>
      </p:sp>
      <p:sp>
        <p:nvSpPr>
          <p:cNvPr id="255" name="Text 253"/>
          <p:cNvSpPr txBox="1"/>
          <p:nvPr/>
        </p:nvSpPr>
        <p:spPr>
          <a:xfrm>
            <a:off x="3401568" y="444398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2,332</a:t>
            </a:r>
            <a:endParaRPr lang="en-US" sz="820" dirty="0"/>
          </a:p>
        </p:txBody>
      </p:sp>
      <p:sp>
        <p:nvSpPr>
          <p:cNvPr id="256" name="Shape 254"/>
          <p:cNvSpPr/>
          <p:nvPr/>
        </p:nvSpPr>
        <p:spPr>
          <a:xfrm>
            <a:off x="4182466" y="4443984"/>
            <a:ext cx="844906" cy="201168"/>
          </a:xfrm>
          <a:prstGeom prst="rect">
            <a:avLst/>
          </a:prstGeom>
          <a:solidFill>
            <a:srgbClr val="FFFFFF"/>
          </a:solidFill>
          <a:ln w="6350">
            <a:solidFill>
              <a:srgbClr val="D3DCE5"/>
            </a:solidFill>
            <a:prstDash val="solid"/>
          </a:ln>
        </p:spPr>
      </p:sp>
      <p:sp>
        <p:nvSpPr>
          <p:cNvPr id="257" name="Text 255"/>
          <p:cNvSpPr txBox="1"/>
          <p:nvPr/>
        </p:nvSpPr>
        <p:spPr>
          <a:xfrm>
            <a:off x="4246474" y="444398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2,995</a:t>
            </a:r>
            <a:endParaRPr lang="en-US" sz="820" dirty="0"/>
          </a:p>
        </p:txBody>
      </p:sp>
      <p:sp>
        <p:nvSpPr>
          <p:cNvPr id="258" name="Shape 256"/>
          <p:cNvSpPr/>
          <p:nvPr/>
        </p:nvSpPr>
        <p:spPr>
          <a:xfrm>
            <a:off x="5027371" y="4443984"/>
            <a:ext cx="844906" cy="201168"/>
          </a:xfrm>
          <a:prstGeom prst="rect">
            <a:avLst/>
          </a:prstGeom>
          <a:solidFill>
            <a:srgbClr val="FFFFFF"/>
          </a:solidFill>
          <a:ln w="6350">
            <a:solidFill>
              <a:srgbClr val="D3DCE5"/>
            </a:solidFill>
            <a:prstDash val="solid"/>
          </a:ln>
        </p:spPr>
      </p:sp>
      <p:sp>
        <p:nvSpPr>
          <p:cNvPr id="259" name="Text 257"/>
          <p:cNvSpPr txBox="1"/>
          <p:nvPr/>
        </p:nvSpPr>
        <p:spPr>
          <a:xfrm>
            <a:off x="5091379" y="444398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3,638</a:t>
            </a:r>
            <a:endParaRPr lang="en-US" sz="820" dirty="0"/>
          </a:p>
        </p:txBody>
      </p:sp>
      <p:sp>
        <p:nvSpPr>
          <p:cNvPr id="260" name="Shape 258"/>
          <p:cNvSpPr/>
          <p:nvPr/>
        </p:nvSpPr>
        <p:spPr>
          <a:xfrm>
            <a:off x="5872277" y="4443984"/>
            <a:ext cx="844906" cy="201168"/>
          </a:xfrm>
          <a:prstGeom prst="rect">
            <a:avLst/>
          </a:prstGeom>
          <a:solidFill>
            <a:srgbClr val="FFFFFF"/>
          </a:solidFill>
          <a:ln w="6350">
            <a:solidFill>
              <a:srgbClr val="D3DCE5"/>
            </a:solidFill>
            <a:prstDash val="solid"/>
          </a:ln>
        </p:spPr>
      </p:sp>
      <p:sp>
        <p:nvSpPr>
          <p:cNvPr id="261" name="Text 259"/>
          <p:cNvSpPr txBox="1"/>
          <p:nvPr/>
        </p:nvSpPr>
        <p:spPr>
          <a:xfrm>
            <a:off x="5936285" y="444398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4,206</a:t>
            </a:r>
            <a:endParaRPr lang="en-US" sz="820" dirty="0"/>
          </a:p>
        </p:txBody>
      </p:sp>
      <p:sp>
        <p:nvSpPr>
          <p:cNvPr id="262" name="Shape 260"/>
          <p:cNvSpPr/>
          <p:nvPr/>
        </p:nvSpPr>
        <p:spPr>
          <a:xfrm>
            <a:off x="6717182" y="4443984"/>
            <a:ext cx="844906" cy="201168"/>
          </a:xfrm>
          <a:prstGeom prst="rect">
            <a:avLst/>
          </a:prstGeom>
          <a:solidFill>
            <a:srgbClr val="FFFFFF"/>
          </a:solidFill>
          <a:ln w="6350">
            <a:solidFill>
              <a:srgbClr val="D3DCE5"/>
            </a:solidFill>
            <a:prstDash val="solid"/>
          </a:ln>
        </p:spPr>
      </p:sp>
      <p:sp>
        <p:nvSpPr>
          <p:cNvPr id="263" name="Text 261"/>
          <p:cNvSpPr txBox="1"/>
          <p:nvPr/>
        </p:nvSpPr>
        <p:spPr>
          <a:xfrm>
            <a:off x="6781190" y="444398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5,068</a:t>
            </a:r>
            <a:endParaRPr lang="en-US" sz="820" dirty="0"/>
          </a:p>
        </p:txBody>
      </p:sp>
      <p:sp>
        <p:nvSpPr>
          <p:cNvPr id="264" name="Shape 262"/>
          <p:cNvSpPr/>
          <p:nvPr/>
        </p:nvSpPr>
        <p:spPr>
          <a:xfrm>
            <a:off x="7562088" y="4443984"/>
            <a:ext cx="844906" cy="201168"/>
          </a:xfrm>
          <a:prstGeom prst="rect">
            <a:avLst/>
          </a:prstGeom>
          <a:solidFill>
            <a:srgbClr val="FFFFFF"/>
          </a:solidFill>
          <a:ln w="6350">
            <a:solidFill>
              <a:srgbClr val="D3DCE5"/>
            </a:solidFill>
            <a:prstDash val="solid"/>
          </a:ln>
        </p:spPr>
      </p:sp>
      <p:sp>
        <p:nvSpPr>
          <p:cNvPr id="265" name="Text 263"/>
          <p:cNvSpPr txBox="1"/>
          <p:nvPr/>
        </p:nvSpPr>
        <p:spPr>
          <a:xfrm>
            <a:off x="7626096" y="444398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5,436</a:t>
            </a:r>
            <a:endParaRPr lang="en-US" sz="820" dirty="0"/>
          </a:p>
        </p:txBody>
      </p:sp>
      <p:sp>
        <p:nvSpPr>
          <p:cNvPr id="266" name="Shape 264"/>
          <p:cNvSpPr/>
          <p:nvPr/>
        </p:nvSpPr>
        <p:spPr>
          <a:xfrm>
            <a:off x="8406994" y="4443984"/>
            <a:ext cx="844906" cy="201168"/>
          </a:xfrm>
          <a:prstGeom prst="rect">
            <a:avLst/>
          </a:prstGeom>
          <a:solidFill>
            <a:srgbClr val="FFFFFF"/>
          </a:solidFill>
          <a:ln w="6350">
            <a:solidFill>
              <a:srgbClr val="D3DCE5"/>
            </a:solidFill>
            <a:prstDash val="solid"/>
          </a:ln>
        </p:spPr>
      </p:sp>
      <p:sp>
        <p:nvSpPr>
          <p:cNvPr id="267" name="Text 265"/>
          <p:cNvSpPr txBox="1"/>
          <p:nvPr/>
        </p:nvSpPr>
        <p:spPr>
          <a:xfrm>
            <a:off x="8471002" y="444398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5,434</a:t>
            </a:r>
            <a:endParaRPr lang="en-US" sz="820" dirty="0"/>
          </a:p>
        </p:txBody>
      </p:sp>
      <p:sp>
        <p:nvSpPr>
          <p:cNvPr id="268" name="Shape 266"/>
          <p:cNvSpPr/>
          <p:nvPr/>
        </p:nvSpPr>
        <p:spPr>
          <a:xfrm>
            <a:off x="9251899" y="4443984"/>
            <a:ext cx="844906" cy="201168"/>
          </a:xfrm>
          <a:prstGeom prst="rect">
            <a:avLst/>
          </a:prstGeom>
          <a:solidFill>
            <a:srgbClr val="FFFFFF"/>
          </a:solidFill>
          <a:ln w="6350">
            <a:solidFill>
              <a:srgbClr val="D3DCE5"/>
            </a:solidFill>
            <a:prstDash val="solid"/>
          </a:ln>
        </p:spPr>
      </p:sp>
      <p:sp>
        <p:nvSpPr>
          <p:cNvPr id="269" name="Text 267"/>
          <p:cNvSpPr txBox="1"/>
          <p:nvPr/>
        </p:nvSpPr>
        <p:spPr>
          <a:xfrm>
            <a:off x="9315907" y="444398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5,299</a:t>
            </a:r>
            <a:endParaRPr lang="en-US" sz="820" dirty="0"/>
          </a:p>
        </p:txBody>
      </p:sp>
      <p:sp>
        <p:nvSpPr>
          <p:cNvPr id="270" name="Shape 268"/>
          <p:cNvSpPr/>
          <p:nvPr/>
        </p:nvSpPr>
        <p:spPr>
          <a:xfrm>
            <a:off x="10096805" y="4443984"/>
            <a:ext cx="844906" cy="201168"/>
          </a:xfrm>
          <a:prstGeom prst="rect">
            <a:avLst/>
          </a:prstGeom>
          <a:solidFill>
            <a:srgbClr val="FFFFFF"/>
          </a:solidFill>
          <a:ln w="6350">
            <a:solidFill>
              <a:srgbClr val="D3DCE5"/>
            </a:solidFill>
            <a:prstDash val="solid"/>
          </a:ln>
        </p:spPr>
      </p:sp>
      <p:sp>
        <p:nvSpPr>
          <p:cNvPr id="271" name="Text 269"/>
          <p:cNvSpPr txBox="1"/>
          <p:nvPr/>
        </p:nvSpPr>
        <p:spPr>
          <a:xfrm>
            <a:off x="10160813" y="444398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5,124</a:t>
            </a:r>
            <a:endParaRPr lang="en-US" sz="820" dirty="0"/>
          </a:p>
        </p:txBody>
      </p:sp>
      <p:sp>
        <p:nvSpPr>
          <p:cNvPr id="272" name="Shape 270"/>
          <p:cNvSpPr/>
          <p:nvPr/>
        </p:nvSpPr>
        <p:spPr>
          <a:xfrm>
            <a:off x="10941710" y="4443984"/>
            <a:ext cx="844906" cy="201168"/>
          </a:xfrm>
          <a:prstGeom prst="rect">
            <a:avLst/>
          </a:prstGeom>
          <a:solidFill>
            <a:srgbClr val="FFFFFF"/>
          </a:solidFill>
          <a:ln w="6350">
            <a:solidFill>
              <a:srgbClr val="D3DCE5"/>
            </a:solidFill>
            <a:prstDash val="solid"/>
          </a:ln>
        </p:spPr>
      </p:sp>
      <p:sp>
        <p:nvSpPr>
          <p:cNvPr id="273" name="Text 271"/>
          <p:cNvSpPr txBox="1"/>
          <p:nvPr/>
        </p:nvSpPr>
        <p:spPr>
          <a:xfrm>
            <a:off x="11005718" y="4443984"/>
            <a:ext cx="716890" cy="20116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5,035</a:t>
            </a:r>
            <a:endParaRPr lang="en-US" sz="820" dirty="0"/>
          </a:p>
        </p:txBody>
      </p:sp>
      <p:sp>
        <p:nvSpPr>
          <p:cNvPr id="274" name="Shape 272"/>
          <p:cNvSpPr/>
          <p:nvPr/>
        </p:nvSpPr>
        <p:spPr>
          <a:xfrm>
            <a:off x="411480" y="4754880"/>
            <a:ext cx="11375136" cy="1243584"/>
          </a:xfrm>
          <a:prstGeom prst="rect">
            <a:avLst/>
          </a:prstGeom>
          <a:solidFill>
            <a:srgbClr val="EEF2F6"/>
          </a:solidFill>
          <a:ln w="9525">
            <a:solidFill>
              <a:srgbClr val="D3DCE5"/>
            </a:solidFill>
            <a:prstDash val="solid"/>
          </a:ln>
        </p:spPr>
      </p:sp>
      <p:sp>
        <p:nvSpPr>
          <p:cNvPr id="275" name="Text 273"/>
          <p:cNvSpPr txBox="1"/>
          <p:nvPr/>
        </p:nvSpPr>
        <p:spPr>
          <a:xfrm>
            <a:off x="576072" y="4882896"/>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Reading the cost rows</a:t>
            </a:r>
            <a:endParaRPr lang="en-US" sz="1150" dirty="0"/>
          </a:p>
        </p:txBody>
      </p:sp>
      <p:sp>
        <p:nvSpPr>
          <p:cNvPr id="276" name="Text 274"/>
          <p:cNvSpPr txBox="1"/>
          <p:nvPr/>
        </p:nvSpPr>
        <p:spPr>
          <a:xfrm>
            <a:off x="576072" y="5212080"/>
            <a:ext cx="11045952" cy="694944"/>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FY26 actual was A$569/t against FY27 guidance of A$575-625/t, the step-up attributed to higher-cost Ngungaju tonnes. Base case uses the A$600/t midpoint, falling to A$565/t as P2000 volume dilutes fixed costs. Bear costs rise to A$655/t then fall back to A$610/t: a miner facing a sustained trough cuts, and letting bear costs drift up forever would have made that case artificially severe.</a:t>
            </a:r>
            <a:endParaRPr lang="en-US" sz="880" dirty="0"/>
          </a:p>
        </p:txBody>
      </p:sp>
      <p:sp>
        <p:nvSpPr>
          <p:cNvPr id="277" name="Text 275"/>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FY26 results and FY27 guidance (A$575-625/t, capex A$620-685m including A$175m of approved P2000 pre-FID capital); team valuation model.</a:t>
            </a:r>
            <a:endParaRPr lang="en-US" sz="720" dirty="0"/>
          </a:p>
        </p:txBody>
      </p:sp>
      <p:sp>
        <p:nvSpPr>
          <p:cNvPr id="278" name="Text 276"/>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E4</a:t>
            </a:r>
            <a:endParaRPr lang="en-US" sz="8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mbria" pitchFamily="34" charset="0"/>
                <a:ea typeface="Cambria" pitchFamily="34" charset="-122"/>
                <a:cs typeface="Cambria" pitchFamily="34" charset="-120"/>
              </a:rPr>
              <a:t>FY24A to FY36F. FY25A and FY26A tie to reported revenue and reported underlying EBITDA by construction.</a:t>
            </a:r>
            <a:endParaRPr lang="en-US" sz="170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E5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788920" cy="256032"/>
          </a:xfrm>
          <a:prstGeom prst="rect">
            <a:avLst/>
          </a:prstGeom>
          <a:solidFill>
            <a:srgbClr val="10233A"/>
          </a:solidFill>
          <a:ln/>
        </p:spPr>
      </p:sp>
      <p:sp>
        <p:nvSpPr>
          <p:cNvPr id="8" name="Text 6"/>
          <p:cNvSpPr txBox="1"/>
          <p:nvPr/>
        </p:nvSpPr>
        <p:spPr>
          <a:xfrm>
            <a:off x="475488" y="1298448"/>
            <a:ext cx="2660904" cy="256032"/>
          </a:xfrm>
          <a:prstGeom prst="rect">
            <a:avLst/>
          </a:prstGeom>
          <a:noFill/>
          <a:ln/>
        </p:spPr>
        <p:txBody>
          <a:bodyPr wrap="square" lIns="0" tIns="0" rIns="0" bIns="0" rtlCol="0" anchor="ctr"/>
          <a:lstStyle/>
          <a:p>
            <a:pPr indent="0" marL="0">
              <a:buNone/>
            </a:pPr>
            <a:r>
              <a:rPr lang="en-US" sz="820" b="1" dirty="0">
                <a:solidFill>
                  <a:srgbClr val="FFFFFF"/>
                </a:solidFill>
                <a:latin typeface="Calibri" pitchFamily="34" charset="0"/>
                <a:ea typeface="Calibri" pitchFamily="34" charset="-122"/>
                <a:cs typeface="Calibri" pitchFamily="34" charset="-120"/>
              </a:rPr>
              <a:t>A$m</a:t>
            </a:r>
            <a:endParaRPr lang="en-US" sz="820" dirty="0"/>
          </a:p>
        </p:txBody>
      </p:sp>
      <p:sp>
        <p:nvSpPr>
          <p:cNvPr id="9" name="Shape 7"/>
          <p:cNvSpPr/>
          <p:nvPr/>
        </p:nvSpPr>
        <p:spPr>
          <a:xfrm>
            <a:off x="3200400" y="1298448"/>
            <a:ext cx="660478" cy="256032"/>
          </a:xfrm>
          <a:prstGeom prst="rect">
            <a:avLst/>
          </a:prstGeom>
          <a:solidFill>
            <a:srgbClr val="10233A"/>
          </a:solidFill>
          <a:ln/>
        </p:spPr>
      </p:sp>
      <p:sp>
        <p:nvSpPr>
          <p:cNvPr id="10" name="Text 8"/>
          <p:cNvSpPr txBox="1"/>
          <p:nvPr/>
        </p:nvSpPr>
        <p:spPr>
          <a:xfrm>
            <a:off x="3200400"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FY24A</a:t>
            </a:r>
            <a:endParaRPr lang="en-US" sz="760" dirty="0"/>
          </a:p>
        </p:txBody>
      </p:sp>
      <p:sp>
        <p:nvSpPr>
          <p:cNvPr id="11" name="Shape 9"/>
          <p:cNvSpPr/>
          <p:nvPr/>
        </p:nvSpPr>
        <p:spPr>
          <a:xfrm>
            <a:off x="3860878" y="1298448"/>
            <a:ext cx="660478" cy="256032"/>
          </a:xfrm>
          <a:prstGeom prst="rect">
            <a:avLst/>
          </a:prstGeom>
          <a:solidFill>
            <a:srgbClr val="10233A"/>
          </a:solidFill>
          <a:ln/>
        </p:spPr>
      </p:sp>
      <p:sp>
        <p:nvSpPr>
          <p:cNvPr id="12" name="Text 10"/>
          <p:cNvSpPr txBox="1"/>
          <p:nvPr/>
        </p:nvSpPr>
        <p:spPr>
          <a:xfrm>
            <a:off x="3860878"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FY25A</a:t>
            </a:r>
            <a:endParaRPr lang="en-US" sz="760" dirty="0"/>
          </a:p>
        </p:txBody>
      </p:sp>
      <p:sp>
        <p:nvSpPr>
          <p:cNvPr id="13" name="Shape 11"/>
          <p:cNvSpPr/>
          <p:nvPr/>
        </p:nvSpPr>
        <p:spPr>
          <a:xfrm>
            <a:off x="4521356" y="1298448"/>
            <a:ext cx="660478" cy="256032"/>
          </a:xfrm>
          <a:prstGeom prst="rect">
            <a:avLst/>
          </a:prstGeom>
          <a:solidFill>
            <a:srgbClr val="10233A"/>
          </a:solidFill>
          <a:ln/>
        </p:spPr>
      </p:sp>
      <p:sp>
        <p:nvSpPr>
          <p:cNvPr id="14" name="Text 12"/>
          <p:cNvSpPr txBox="1"/>
          <p:nvPr/>
        </p:nvSpPr>
        <p:spPr>
          <a:xfrm>
            <a:off x="4521356"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FY26A</a:t>
            </a:r>
            <a:endParaRPr lang="en-US" sz="760" dirty="0"/>
          </a:p>
        </p:txBody>
      </p:sp>
      <p:sp>
        <p:nvSpPr>
          <p:cNvPr id="15" name="Shape 13"/>
          <p:cNvSpPr/>
          <p:nvPr/>
        </p:nvSpPr>
        <p:spPr>
          <a:xfrm>
            <a:off x="5181834" y="1298448"/>
            <a:ext cx="660478" cy="256032"/>
          </a:xfrm>
          <a:prstGeom prst="rect">
            <a:avLst/>
          </a:prstGeom>
          <a:solidFill>
            <a:srgbClr val="10233A"/>
          </a:solidFill>
          <a:ln/>
        </p:spPr>
      </p:sp>
      <p:sp>
        <p:nvSpPr>
          <p:cNvPr id="16" name="Text 14"/>
          <p:cNvSpPr txBox="1"/>
          <p:nvPr/>
        </p:nvSpPr>
        <p:spPr>
          <a:xfrm>
            <a:off x="5181834"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FY27F</a:t>
            </a:r>
            <a:endParaRPr lang="en-US" sz="760" dirty="0"/>
          </a:p>
        </p:txBody>
      </p:sp>
      <p:sp>
        <p:nvSpPr>
          <p:cNvPr id="17" name="Shape 15"/>
          <p:cNvSpPr/>
          <p:nvPr/>
        </p:nvSpPr>
        <p:spPr>
          <a:xfrm>
            <a:off x="5842313" y="1298448"/>
            <a:ext cx="660478" cy="256032"/>
          </a:xfrm>
          <a:prstGeom prst="rect">
            <a:avLst/>
          </a:prstGeom>
          <a:solidFill>
            <a:srgbClr val="10233A"/>
          </a:solidFill>
          <a:ln/>
        </p:spPr>
      </p:sp>
      <p:sp>
        <p:nvSpPr>
          <p:cNvPr id="18" name="Text 16"/>
          <p:cNvSpPr txBox="1"/>
          <p:nvPr/>
        </p:nvSpPr>
        <p:spPr>
          <a:xfrm>
            <a:off x="5842313"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FY28F</a:t>
            </a:r>
            <a:endParaRPr lang="en-US" sz="760" dirty="0"/>
          </a:p>
        </p:txBody>
      </p:sp>
      <p:sp>
        <p:nvSpPr>
          <p:cNvPr id="19" name="Shape 17"/>
          <p:cNvSpPr/>
          <p:nvPr/>
        </p:nvSpPr>
        <p:spPr>
          <a:xfrm>
            <a:off x="6502791" y="1298448"/>
            <a:ext cx="660478" cy="256032"/>
          </a:xfrm>
          <a:prstGeom prst="rect">
            <a:avLst/>
          </a:prstGeom>
          <a:solidFill>
            <a:srgbClr val="10233A"/>
          </a:solidFill>
          <a:ln/>
        </p:spPr>
      </p:sp>
      <p:sp>
        <p:nvSpPr>
          <p:cNvPr id="20" name="Text 18"/>
          <p:cNvSpPr txBox="1"/>
          <p:nvPr/>
        </p:nvSpPr>
        <p:spPr>
          <a:xfrm>
            <a:off x="6502791"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FY29F</a:t>
            </a:r>
            <a:endParaRPr lang="en-US" sz="760" dirty="0"/>
          </a:p>
        </p:txBody>
      </p:sp>
      <p:sp>
        <p:nvSpPr>
          <p:cNvPr id="21" name="Shape 19"/>
          <p:cNvSpPr/>
          <p:nvPr/>
        </p:nvSpPr>
        <p:spPr>
          <a:xfrm>
            <a:off x="7163269" y="1298448"/>
            <a:ext cx="660478" cy="256032"/>
          </a:xfrm>
          <a:prstGeom prst="rect">
            <a:avLst/>
          </a:prstGeom>
          <a:solidFill>
            <a:srgbClr val="10233A"/>
          </a:solidFill>
          <a:ln/>
        </p:spPr>
      </p:sp>
      <p:sp>
        <p:nvSpPr>
          <p:cNvPr id="22" name="Text 20"/>
          <p:cNvSpPr txBox="1"/>
          <p:nvPr/>
        </p:nvSpPr>
        <p:spPr>
          <a:xfrm>
            <a:off x="7163269"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FY30F</a:t>
            </a:r>
            <a:endParaRPr lang="en-US" sz="760" dirty="0"/>
          </a:p>
        </p:txBody>
      </p:sp>
      <p:sp>
        <p:nvSpPr>
          <p:cNvPr id="23" name="Shape 21"/>
          <p:cNvSpPr/>
          <p:nvPr/>
        </p:nvSpPr>
        <p:spPr>
          <a:xfrm>
            <a:off x="7823747" y="1298448"/>
            <a:ext cx="660478" cy="256032"/>
          </a:xfrm>
          <a:prstGeom prst="rect">
            <a:avLst/>
          </a:prstGeom>
          <a:solidFill>
            <a:srgbClr val="10233A"/>
          </a:solidFill>
          <a:ln/>
        </p:spPr>
      </p:sp>
      <p:sp>
        <p:nvSpPr>
          <p:cNvPr id="24" name="Text 22"/>
          <p:cNvSpPr txBox="1"/>
          <p:nvPr/>
        </p:nvSpPr>
        <p:spPr>
          <a:xfrm>
            <a:off x="7823747"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FY31F</a:t>
            </a:r>
            <a:endParaRPr lang="en-US" sz="760" dirty="0"/>
          </a:p>
        </p:txBody>
      </p:sp>
      <p:sp>
        <p:nvSpPr>
          <p:cNvPr id="25" name="Shape 23"/>
          <p:cNvSpPr/>
          <p:nvPr/>
        </p:nvSpPr>
        <p:spPr>
          <a:xfrm>
            <a:off x="8484225" y="1298448"/>
            <a:ext cx="660478" cy="256032"/>
          </a:xfrm>
          <a:prstGeom prst="rect">
            <a:avLst/>
          </a:prstGeom>
          <a:solidFill>
            <a:srgbClr val="10233A"/>
          </a:solidFill>
          <a:ln/>
        </p:spPr>
      </p:sp>
      <p:sp>
        <p:nvSpPr>
          <p:cNvPr id="26" name="Text 24"/>
          <p:cNvSpPr txBox="1"/>
          <p:nvPr/>
        </p:nvSpPr>
        <p:spPr>
          <a:xfrm>
            <a:off x="8484225"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FY32F</a:t>
            </a:r>
            <a:endParaRPr lang="en-US" sz="760" dirty="0"/>
          </a:p>
        </p:txBody>
      </p:sp>
      <p:sp>
        <p:nvSpPr>
          <p:cNvPr id="27" name="Shape 25"/>
          <p:cNvSpPr/>
          <p:nvPr/>
        </p:nvSpPr>
        <p:spPr>
          <a:xfrm>
            <a:off x="9144703" y="1298448"/>
            <a:ext cx="660478" cy="256032"/>
          </a:xfrm>
          <a:prstGeom prst="rect">
            <a:avLst/>
          </a:prstGeom>
          <a:solidFill>
            <a:srgbClr val="10233A"/>
          </a:solidFill>
          <a:ln/>
        </p:spPr>
      </p:sp>
      <p:sp>
        <p:nvSpPr>
          <p:cNvPr id="28" name="Text 26"/>
          <p:cNvSpPr txBox="1"/>
          <p:nvPr/>
        </p:nvSpPr>
        <p:spPr>
          <a:xfrm>
            <a:off x="9144703"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FY33F</a:t>
            </a:r>
            <a:endParaRPr lang="en-US" sz="760" dirty="0"/>
          </a:p>
        </p:txBody>
      </p:sp>
      <p:sp>
        <p:nvSpPr>
          <p:cNvPr id="29" name="Shape 27"/>
          <p:cNvSpPr/>
          <p:nvPr/>
        </p:nvSpPr>
        <p:spPr>
          <a:xfrm>
            <a:off x="9805182" y="1298448"/>
            <a:ext cx="660478" cy="256032"/>
          </a:xfrm>
          <a:prstGeom prst="rect">
            <a:avLst/>
          </a:prstGeom>
          <a:solidFill>
            <a:srgbClr val="10233A"/>
          </a:solidFill>
          <a:ln/>
        </p:spPr>
      </p:sp>
      <p:sp>
        <p:nvSpPr>
          <p:cNvPr id="30" name="Text 28"/>
          <p:cNvSpPr txBox="1"/>
          <p:nvPr/>
        </p:nvSpPr>
        <p:spPr>
          <a:xfrm>
            <a:off x="9805182"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FY34F</a:t>
            </a:r>
            <a:endParaRPr lang="en-US" sz="760" dirty="0"/>
          </a:p>
        </p:txBody>
      </p:sp>
      <p:sp>
        <p:nvSpPr>
          <p:cNvPr id="31" name="Shape 29"/>
          <p:cNvSpPr/>
          <p:nvPr/>
        </p:nvSpPr>
        <p:spPr>
          <a:xfrm>
            <a:off x="10465660" y="1298448"/>
            <a:ext cx="660478" cy="256032"/>
          </a:xfrm>
          <a:prstGeom prst="rect">
            <a:avLst/>
          </a:prstGeom>
          <a:solidFill>
            <a:srgbClr val="10233A"/>
          </a:solidFill>
          <a:ln/>
        </p:spPr>
      </p:sp>
      <p:sp>
        <p:nvSpPr>
          <p:cNvPr id="32" name="Text 30"/>
          <p:cNvSpPr txBox="1"/>
          <p:nvPr/>
        </p:nvSpPr>
        <p:spPr>
          <a:xfrm>
            <a:off x="10465660"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FY35F</a:t>
            </a:r>
            <a:endParaRPr lang="en-US" sz="760" dirty="0"/>
          </a:p>
        </p:txBody>
      </p:sp>
      <p:sp>
        <p:nvSpPr>
          <p:cNvPr id="33" name="Shape 31"/>
          <p:cNvSpPr/>
          <p:nvPr/>
        </p:nvSpPr>
        <p:spPr>
          <a:xfrm>
            <a:off x="11126138" y="1298448"/>
            <a:ext cx="660478" cy="256032"/>
          </a:xfrm>
          <a:prstGeom prst="rect">
            <a:avLst/>
          </a:prstGeom>
          <a:solidFill>
            <a:srgbClr val="10233A"/>
          </a:solidFill>
          <a:ln/>
        </p:spPr>
      </p:sp>
      <p:sp>
        <p:nvSpPr>
          <p:cNvPr id="34" name="Text 32"/>
          <p:cNvSpPr txBox="1"/>
          <p:nvPr/>
        </p:nvSpPr>
        <p:spPr>
          <a:xfrm>
            <a:off x="11126138"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FY36F</a:t>
            </a:r>
            <a:endParaRPr lang="en-US" sz="760" dirty="0"/>
          </a:p>
        </p:txBody>
      </p:sp>
      <p:sp>
        <p:nvSpPr>
          <p:cNvPr id="35" name="Shape 33"/>
          <p:cNvSpPr/>
          <p:nvPr/>
        </p:nvSpPr>
        <p:spPr>
          <a:xfrm>
            <a:off x="411480" y="1554480"/>
            <a:ext cx="2788920" cy="224028"/>
          </a:xfrm>
          <a:prstGeom prst="rect">
            <a:avLst/>
          </a:prstGeom>
          <a:solidFill>
            <a:srgbClr val="FFFFFF"/>
          </a:solidFill>
          <a:ln w="5080">
            <a:solidFill>
              <a:srgbClr val="D3DCE5"/>
            </a:solidFill>
            <a:prstDash val="solid"/>
          </a:ln>
        </p:spPr>
      </p:sp>
      <p:sp>
        <p:nvSpPr>
          <p:cNvPr id="36" name="Text 34"/>
          <p:cNvSpPr txBox="1"/>
          <p:nvPr/>
        </p:nvSpPr>
        <p:spPr>
          <a:xfrm>
            <a:off x="475488" y="1554480"/>
            <a:ext cx="2660904" cy="224028"/>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Revenue</a:t>
            </a:r>
            <a:endParaRPr lang="en-US" sz="780" dirty="0"/>
          </a:p>
        </p:txBody>
      </p:sp>
      <p:sp>
        <p:nvSpPr>
          <p:cNvPr id="37" name="Shape 35"/>
          <p:cNvSpPr/>
          <p:nvPr/>
        </p:nvSpPr>
        <p:spPr>
          <a:xfrm>
            <a:off x="3200400" y="1554480"/>
            <a:ext cx="660478" cy="224028"/>
          </a:xfrm>
          <a:prstGeom prst="rect">
            <a:avLst/>
          </a:prstGeom>
          <a:solidFill>
            <a:srgbClr val="FFFFFF"/>
          </a:solidFill>
          <a:ln w="5080">
            <a:solidFill>
              <a:srgbClr val="D3DCE5"/>
            </a:solidFill>
            <a:prstDash val="solid"/>
          </a:ln>
        </p:spPr>
      </p:sp>
      <p:sp>
        <p:nvSpPr>
          <p:cNvPr id="38" name="Text 36"/>
          <p:cNvSpPr txBox="1"/>
          <p:nvPr/>
        </p:nvSpPr>
        <p:spPr>
          <a:xfrm>
            <a:off x="3200400"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1,201</a:t>
            </a:r>
            <a:endParaRPr lang="en-US" sz="760" dirty="0"/>
          </a:p>
        </p:txBody>
      </p:sp>
      <p:sp>
        <p:nvSpPr>
          <p:cNvPr id="39" name="Shape 37"/>
          <p:cNvSpPr/>
          <p:nvPr/>
        </p:nvSpPr>
        <p:spPr>
          <a:xfrm>
            <a:off x="3860878" y="1554480"/>
            <a:ext cx="660478" cy="224028"/>
          </a:xfrm>
          <a:prstGeom prst="rect">
            <a:avLst/>
          </a:prstGeom>
          <a:solidFill>
            <a:srgbClr val="FFFFFF"/>
          </a:solidFill>
          <a:ln w="5080">
            <a:solidFill>
              <a:srgbClr val="D3DCE5"/>
            </a:solidFill>
            <a:prstDash val="solid"/>
          </a:ln>
        </p:spPr>
      </p:sp>
      <p:sp>
        <p:nvSpPr>
          <p:cNvPr id="40" name="Text 38"/>
          <p:cNvSpPr txBox="1"/>
          <p:nvPr/>
        </p:nvSpPr>
        <p:spPr>
          <a:xfrm>
            <a:off x="3860878"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769</a:t>
            </a:r>
            <a:endParaRPr lang="en-US" sz="760" dirty="0"/>
          </a:p>
        </p:txBody>
      </p:sp>
      <p:sp>
        <p:nvSpPr>
          <p:cNvPr id="41" name="Shape 39"/>
          <p:cNvSpPr/>
          <p:nvPr/>
        </p:nvSpPr>
        <p:spPr>
          <a:xfrm>
            <a:off x="4521356" y="1554480"/>
            <a:ext cx="660478" cy="224028"/>
          </a:xfrm>
          <a:prstGeom prst="rect">
            <a:avLst/>
          </a:prstGeom>
          <a:solidFill>
            <a:srgbClr val="FFFFFF"/>
          </a:solidFill>
          <a:ln w="5080">
            <a:solidFill>
              <a:srgbClr val="D3DCE5"/>
            </a:solidFill>
            <a:prstDash val="solid"/>
          </a:ln>
        </p:spPr>
      </p:sp>
      <p:sp>
        <p:nvSpPr>
          <p:cNvPr id="42" name="Text 40"/>
          <p:cNvSpPr txBox="1"/>
          <p:nvPr/>
        </p:nvSpPr>
        <p:spPr>
          <a:xfrm>
            <a:off x="4521356"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1,934</a:t>
            </a:r>
            <a:endParaRPr lang="en-US" sz="760" dirty="0"/>
          </a:p>
        </p:txBody>
      </p:sp>
      <p:sp>
        <p:nvSpPr>
          <p:cNvPr id="43" name="Shape 41"/>
          <p:cNvSpPr/>
          <p:nvPr/>
        </p:nvSpPr>
        <p:spPr>
          <a:xfrm>
            <a:off x="5181834" y="1554480"/>
            <a:ext cx="660478" cy="224028"/>
          </a:xfrm>
          <a:prstGeom prst="rect">
            <a:avLst/>
          </a:prstGeom>
          <a:solidFill>
            <a:srgbClr val="FFFFFF"/>
          </a:solidFill>
          <a:ln w="5080">
            <a:solidFill>
              <a:srgbClr val="D3DCE5"/>
            </a:solidFill>
            <a:prstDash val="solid"/>
          </a:ln>
        </p:spPr>
      </p:sp>
      <p:sp>
        <p:nvSpPr>
          <p:cNvPr id="44" name="Text 42"/>
          <p:cNvSpPr txBox="1"/>
          <p:nvPr/>
        </p:nvSpPr>
        <p:spPr>
          <a:xfrm>
            <a:off x="5181834"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2,595</a:t>
            </a:r>
            <a:endParaRPr lang="en-US" sz="760" dirty="0"/>
          </a:p>
        </p:txBody>
      </p:sp>
      <p:sp>
        <p:nvSpPr>
          <p:cNvPr id="45" name="Shape 43"/>
          <p:cNvSpPr/>
          <p:nvPr/>
        </p:nvSpPr>
        <p:spPr>
          <a:xfrm>
            <a:off x="5842313" y="1554480"/>
            <a:ext cx="660478" cy="224028"/>
          </a:xfrm>
          <a:prstGeom prst="rect">
            <a:avLst/>
          </a:prstGeom>
          <a:solidFill>
            <a:srgbClr val="FFFFFF"/>
          </a:solidFill>
          <a:ln w="5080">
            <a:solidFill>
              <a:srgbClr val="D3DCE5"/>
            </a:solidFill>
            <a:prstDash val="solid"/>
          </a:ln>
        </p:spPr>
      </p:sp>
      <p:sp>
        <p:nvSpPr>
          <p:cNvPr id="46" name="Text 44"/>
          <p:cNvSpPr txBox="1"/>
          <p:nvPr/>
        </p:nvSpPr>
        <p:spPr>
          <a:xfrm>
            <a:off x="5842313"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2,802</a:t>
            </a:r>
            <a:endParaRPr lang="en-US" sz="760" dirty="0"/>
          </a:p>
        </p:txBody>
      </p:sp>
      <p:sp>
        <p:nvSpPr>
          <p:cNvPr id="47" name="Shape 45"/>
          <p:cNvSpPr/>
          <p:nvPr/>
        </p:nvSpPr>
        <p:spPr>
          <a:xfrm>
            <a:off x="6502791" y="1554480"/>
            <a:ext cx="660478" cy="224028"/>
          </a:xfrm>
          <a:prstGeom prst="rect">
            <a:avLst/>
          </a:prstGeom>
          <a:solidFill>
            <a:srgbClr val="FFFFFF"/>
          </a:solidFill>
          <a:ln w="5080">
            <a:solidFill>
              <a:srgbClr val="D3DCE5"/>
            </a:solidFill>
            <a:prstDash val="solid"/>
          </a:ln>
        </p:spPr>
      </p:sp>
      <p:sp>
        <p:nvSpPr>
          <p:cNvPr id="48" name="Text 46"/>
          <p:cNvSpPr txBox="1"/>
          <p:nvPr/>
        </p:nvSpPr>
        <p:spPr>
          <a:xfrm>
            <a:off x="6502791"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2,870</a:t>
            </a:r>
            <a:endParaRPr lang="en-US" sz="760" dirty="0"/>
          </a:p>
        </p:txBody>
      </p:sp>
      <p:sp>
        <p:nvSpPr>
          <p:cNvPr id="49" name="Shape 47"/>
          <p:cNvSpPr/>
          <p:nvPr/>
        </p:nvSpPr>
        <p:spPr>
          <a:xfrm>
            <a:off x="7163269" y="1554480"/>
            <a:ext cx="660478" cy="224028"/>
          </a:xfrm>
          <a:prstGeom prst="rect">
            <a:avLst/>
          </a:prstGeom>
          <a:solidFill>
            <a:srgbClr val="FFFFFF"/>
          </a:solidFill>
          <a:ln w="5080">
            <a:solidFill>
              <a:srgbClr val="D3DCE5"/>
            </a:solidFill>
            <a:prstDash val="solid"/>
          </a:ln>
        </p:spPr>
      </p:sp>
      <p:sp>
        <p:nvSpPr>
          <p:cNvPr id="50" name="Text 48"/>
          <p:cNvSpPr txBox="1"/>
          <p:nvPr/>
        </p:nvSpPr>
        <p:spPr>
          <a:xfrm>
            <a:off x="7163269"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3,369</a:t>
            </a:r>
            <a:endParaRPr lang="en-US" sz="760" dirty="0"/>
          </a:p>
        </p:txBody>
      </p:sp>
      <p:sp>
        <p:nvSpPr>
          <p:cNvPr id="51" name="Shape 49"/>
          <p:cNvSpPr/>
          <p:nvPr/>
        </p:nvSpPr>
        <p:spPr>
          <a:xfrm>
            <a:off x="7823747" y="1554480"/>
            <a:ext cx="660478" cy="224028"/>
          </a:xfrm>
          <a:prstGeom prst="rect">
            <a:avLst/>
          </a:prstGeom>
          <a:solidFill>
            <a:srgbClr val="FFFFFF"/>
          </a:solidFill>
          <a:ln w="5080">
            <a:solidFill>
              <a:srgbClr val="D3DCE5"/>
            </a:solidFill>
            <a:prstDash val="solid"/>
          </a:ln>
        </p:spPr>
      </p:sp>
      <p:sp>
        <p:nvSpPr>
          <p:cNvPr id="52" name="Text 50"/>
          <p:cNvSpPr txBox="1"/>
          <p:nvPr/>
        </p:nvSpPr>
        <p:spPr>
          <a:xfrm>
            <a:off x="7823747"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3,938</a:t>
            </a:r>
            <a:endParaRPr lang="en-US" sz="760" dirty="0"/>
          </a:p>
        </p:txBody>
      </p:sp>
      <p:sp>
        <p:nvSpPr>
          <p:cNvPr id="53" name="Shape 51"/>
          <p:cNvSpPr/>
          <p:nvPr/>
        </p:nvSpPr>
        <p:spPr>
          <a:xfrm>
            <a:off x="8484225" y="1554480"/>
            <a:ext cx="660478" cy="224028"/>
          </a:xfrm>
          <a:prstGeom prst="rect">
            <a:avLst/>
          </a:prstGeom>
          <a:solidFill>
            <a:srgbClr val="FFFFFF"/>
          </a:solidFill>
          <a:ln w="5080">
            <a:solidFill>
              <a:srgbClr val="D3DCE5"/>
            </a:solidFill>
            <a:prstDash val="solid"/>
          </a:ln>
        </p:spPr>
      </p:sp>
      <p:sp>
        <p:nvSpPr>
          <p:cNvPr id="54" name="Text 52"/>
          <p:cNvSpPr txBox="1"/>
          <p:nvPr/>
        </p:nvSpPr>
        <p:spPr>
          <a:xfrm>
            <a:off x="8484225"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4,884</a:t>
            </a:r>
            <a:endParaRPr lang="en-US" sz="760" dirty="0"/>
          </a:p>
        </p:txBody>
      </p:sp>
      <p:sp>
        <p:nvSpPr>
          <p:cNvPr id="55" name="Shape 53"/>
          <p:cNvSpPr/>
          <p:nvPr/>
        </p:nvSpPr>
        <p:spPr>
          <a:xfrm>
            <a:off x="9144703" y="1554480"/>
            <a:ext cx="660478" cy="224028"/>
          </a:xfrm>
          <a:prstGeom prst="rect">
            <a:avLst/>
          </a:prstGeom>
          <a:solidFill>
            <a:srgbClr val="FFFFFF"/>
          </a:solidFill>
          <a:ln w="5080">
            <a:solidFill>
              <a:srgbClr val="D3DCE5"/>
            </a:solidFill>
            <a:prstDash val="solid"/>
          </a:ln>
        </p:spPr>
      </p:sp>
      <p:sp>
        <p:nvSpPr>
          <p:cNvPr id="56" name="Text 54"/>
          <p:cNvSpPr txBox="1"/>
          <p:nvPr/>
        </p:nvSpPr>
        <p:spPr>
          <a:xfrm>
            <a:off x="9144703"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5,558</a:t>
            </a:r>
            <a:endParaRPr lang="en-US" sz="760" dirty="0"/>
          </a:p>
        </p:txBody>
      </p:sp>
      <p:sp>
        <p:nvSpPr>
          <p:cNvPr id="57" name="Shape 55"/>
          <p:cNvSpPr/>
          <p:nvPr/>
        </p:nvSpPr>
        <p:spPr>
          <a:xfrm>
            <a:off x="9805182" y="1554480"/>
            <a:ext cx="660478" cy="224028"/>
          </a:xfrm>
          <a:prstGeom prst="rect">
            <a:avLst/>
          </a:prstGeom>
          <a:solidFill>
            <a:srgbClr val="FFFFFF"/>
          </a:solidFill>
          <a:ln w="5080">
            <a:solidFill>
              <a:srgbClr val="D3DCE5"/>
            </a:solidFill>
            <a:prstDash val="solid"/>
          </a:ln>
        </p:spPr>
      </p:sp>
      <p:sp>
        <p:nvSpPr>
          <p:cNvPr id="58" name="Text 56"/>
          <p:cNvSpPr txBox="1"/>
          <p:nvPr/>
        </p:nvSpPr>
        <p:spPr>
          <a:xfrm>
            <a:off x="9805182"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5,818</a:t>
            </a:r>
            <a:endParaRPr lang="en-US" sz="760" dirty="0"/>
          </a:p>
        </p:txBody>
      </p:sp>
      <p:sp>
        <p:nvSpPr>
          <p:cNvPr id="59" name="Shape 57"/>
          <p:cNvSpPr/>
          <p:nvPr/>
        </p:nvSpPr>
        <p:spPr>
          <a:xfrm>
            <a:off x="10465660" y="1554480"/>
            <a:ext cx="660478" cy="224028"/>
          </a:xfrm>
          <a:prstGeom prst="rect">
            <a:avLst/>
          </a:prstGeom>
          <a:solidFill>
            <a:srgbClr val="FFFFFF"/>
          </a:solidFill>
          <a:ln w="5080">
            <a:solidFill>
              <a:srgbClr val="D3DCE5"/>
            </a:solidFill>
            <a:prstDash val="solid"/>
          </a:ln>
        </p:spPr>
      </p:sp>
      <p:sp>
        <p:nvSpPr>
          <p:cNvPr id="60" name="Text 58"/>
          <p:cNvSpPr txBox="1"/>
          <p:nvPr/>
        </p:nvSpPr>
        <p:spPr>
          <a:xfrm>
            <a:off x="10465660"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5,913</a:t>
            </a:r>
            <a:endParaRPr lang="en-US" sz="760" dirty="0"/>
          </a:p>
        </p:txBody>
      </p:sp>
      <p:sp>
        <p:nvSpPr>
          <p:cNvPr id="61" name="Shape 59"/>
          <p:cNvSpPr/>
          <p:nvPr/>
        </p:nvSpPr>
        <p:spPr>
          <a:xfrm>
            <a:off x="11126138" y="1554480"/>
            <a:ext cx="660478" cy="224028"/>
          </a:xfrm>
          <a:prstGeom prst="rect">
            <a:avLst/>
          </a:prstGeom>
          <a:solidFill>
            <a:srgbClr val="FFFFFF"/>
          </a:solidFill>
          <a:ln w="5080">
            <a:solidFill>
              <a:srgbClr val="D3DCE5"/>
            </a:solidFill>
            <a:prstDash val="solid"/>
          </a:ln>
        </p:spPr>
      </p:sp>
      <p:sp>
        <p:nvSpPr>
          <p:cNvPr id="62" name="Text 60"/>
          <p:cNvSpPr txBox="1"/>
          <p:nvPr/>
        </p:nvSpPr>
        <p:spPr>
          <a:xfrm>
            <a:off x="11126138" y="1554480"/>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5,913</a:t>
            </a:r>
            <a:endParaRPr lang="en-US" sz="760" dirty="0"/>
          </a:p>
        </p:txBody>
      </p:sp>
      <p:sp>
        <p:nvSpPr>
          <p:cNvPr id="63" name="Shape 61"/>
          <p:cNvSpPr/>
          <p:nvPr/>
        </p:nvSpPr>
        <p:spPr>
          <a:xfrm>
            <a:off x="411480" y="1778508"/>
            <a:ext cx="2788920" cy="224028"/>
          </a:xfrm>
          <a:prstGeom prst="rect">
            <a:avLst/>
          </a:prstGeom>
          <a:solidFill>
            <a:srgbClr val="F7F9FB"/>
          </a:solidFill>
          <a:ln w="5080">
            <a:solidFill>
              <a:srgbClr val="D3DCE5"/>
            </a:solidFill>
            <a:prstDash val="solid"/>
          </a:ln>
        </p:spPr>
      </p:sp>
      <p:sp>
        <p:nvSpPr>
          <p:cNvPr id="64" name="Text 62"/>
          <p:cNvSpPr txBox="1"/>
          <p:nvPr/>
        </p:nvSpPr>
        <p:spPr>
          <a:xfrm>
            <a:off x="475488" y="1778508"/>
            <a:ext cx="2660904" cy="22402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Operating costs, FOB</a:t>
            </a:r>
            <a:endParaRPr lang="en-US" sz="780" dirty="0"/>
          </a:p>
        </p:txBody>
      </p:sp>
      <p:sp>
        <p:nvSpPr>
          <p:cNvPr id="65" name="Shape 63"/>
          <p:cNvSpPr/>
          <p:nvPr/>
        </p:nvSpPr>
        <p:spPr>
          <a:xfrm>
            <a:off x="3200400" y="1778508"/>
            <a:ext cx="660478" cy="224028"/>
          </a:xfrm>
          <a:prstGeom prst="rect">
            <a:avLst/>
          </a:prstGeom>
          <a:solidFill>
            <a:srgbClr val="F7F9FB"/>
          </a:solidFill>
          <a:ln w="5080">
            <a:solidFill>
              <a:srgbClr val="D3DCE5"/>
            </a:solidFill>
            <a:prstDash val="solid"/>
          </a:ln>
        </p:spPr>
      </p:sp>
      <p:sp>
        <p:nvSpPr>
          <p:cNvPr id="66" name="Text 64"/>
          <p:cNvSpPr txBox="1"/>
          <p:nvPr/>
        </p:nvSpPr>
        <p:spPr>
          <a:xfrm>
            <a:off x="3200400"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(463)</a:t>
            </a:r>
            <a:endParaRPr lang="en-US" sz="760" dirty="0"/>
          </a:p>
        </p:txBody>
      </p:sp>
      <p:sp>
        <p:nvSpPr>
          <p:cNvPr id="67" name="Shape 65"/>
          <p:cNvSpPr/>
          <p:nvPr/>
        </p:nvSpPr>
        <p:spPr>
          <a:xfrm>
            <a:off x="3860878" y="1778508"/>
            <a:ext cx="660478" cy="224028"/>
          </a:xfrm>
          <a:prstGeom prst="rect">
            <a:avLst/>
          </a:prstGeom>
          <a:solidFill>
            <a:srgbClr val="F7F9FB"/>
          </a:solidFill>
          <a:ln w="5080">
            <a:solidFill>
              <a:srgbClr val="D3DCE5"/>
            </a:solidFill>
            <a:prstDash val="solid"/>
          </a:ln>
        </p:spPr>
      </p:sp>
      <p:sp>
        <p:nvSpPr>
          <p:cNvPr id="68" name="Text 66"/>
          <p:cNvSpPr txBox="1"/>
          <p:nvPr/>
        </p:nvSpPr>
        <p:spPr>
          <a:xfrm>
            <a:off x="3860878"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(470)</a:t>
            </a:r>
            <a:endParaRPr lang="en-US" sz="760" dirty="0"/>
          </a:p>
        </p:txBody>
      </p:sp>
      <p:sp>
        <p:nvSpPr>
          <p:cNvPr id="69" name="Shape 67"/>
          <p:cNvSpPr/>
          <p:nvPr/>
        </p:nvSpPr>
        <p:spPr>
          <a:xfrm>
            <a:off x="4521356" y="1778508"/>
            <a:ext cx="660478" cy="224028"/>
          </a:xfrm>
          <a:prstGeom prst="rect">
            <a:avLst/>
          </a:prstGeom>
          <a:solidFill>
            <a:srgbClr val="F7F9FB"/>
          </a:solidFill>
          <a:ln w="5080">
            <a:solidFill>
              <a:srgbClr val="D3DCE5"/>
            </a:solidFill>
            <a:prstDash val="solid"/>
          </a:ln>
        </p:spPr>
      </p:sp>
      <p:sp>
        <p:nvSpPr>
          <p:cNvPr id="70" name="Text 68"/>
          <p:cNvSpPr txBox="1"/>
          <p:nvPr/>
        </p:nvSpPr>
        <p:spPr>
          <a:xfrm>
            <a:off x="4521356"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(507)</a:t>
            </a:r>
            <a:endParaRPr lang="en-US" sz="760" dirty="0"/>
          </a:p>
        </p:txBody>
      </p:sp>
      <p:sp>
        <p:nvSpPr>
          <p:cNvPr id="71" name="Shape 69"/>
          <p:cNvSpPr/>
          <p:nvPr/>
        </p:nvSpPr>
        <p:spPr>
          <a:xfrm>
            <a:off x="5181834" y="1778508"/>
            <a:ext cx="660478" cy="224028"/>
          </a:xfrm>
          <a:prstGeom prst="rect">
            <a:avLst/>
          </a:prstGeom>
          <a:solidFill>
            <a:srgbClr val="F7F9FB"/>
          </a:solidFill>
          <a:ln w="5080">
            <a:solidFill>
              <a:srgbClr val="D3DCE5"/>
            </a:solidFill>
            <a:prstDash val="solid"/>
          </a:ln>
        </p:spPr>
      </p:sp>
      <p:sp>
        <p:nvSpPr>
          <p:cNvPr id="72" name="Text 70"/>
          <p:cNvSpPr txBox="1"/>
          <p:nvPr/>
        </p:nvSpPr>
        <p:spPr>
          <a:xfrm>
            <a:off x="5181834"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(639)</a:t>
            </a:r>
            <a:endParaRPr lang="en-US" sz="760" dirty="0"/>
          </a:p>
        </p:txBody>
      </p:sp>
      <p:sp>
        <p:nvSpPr>
          <p:cNvPr id="73" name="Shape 71"/>
          <p:cNvSpPr/>
          <p:nvPr/>
        </p:nvSpPr>
        <p:spPr>
          <a:xfrm>
            <a:off x="5842313" y="1778508"/>
            <a:ext cx="660478" cy="224028"/>
          </a:xfrm>
          <a:prstGeom prst="rect">
            <a:avLst/>
          </a:prstGeom>
          <a:solidFill>
            <a:srgbClr val="F7F9FB"/>
          </a:solidFill>
          <a:ln w="5080">
            <a:solidFill>
              <a:srgbClr val="D3DCE5"/>
            </a:solidFill>
            <a:prstDash val="solid"/>
          </a:ln>
        </p:spPr>
      </p:sp>
      <p:sp>
        <p:nvSpPr>
          <p:cNvPr id="74" name="Text 72"/>
          <p:cNvSpPr txBox="1"/>
          <p:nvPr/>
        </p:nvSpPr>
        <p:spPr>
          <a:xfrm>
            <a:off x="5842313"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(658)</a:t>
            </a:r>
            <a:endParaRPr lang="en-US" sz="760" dirty="0"/>
          </a:p>
        </p:txBody>
      </p:sp>
      <p:sp>
        <p:nvSpPr>
          <p:cNvPr id="75" name="Shape 73"/>
          <p:cNvSpPr/>
          <p:nvPr/>
        </p:nvSpPr>
        <p:spPr>
          <a:xfrm>
            <a:off x="6502791" y="1778508"/>
            <a:ext cx="660478" cy="224028"/>
          </a:xfrm>
          <a:prstGeom prst="rect">
            <a:avLst/>
          </a:prstGeom>
          <a:solidFill>
            <a:srgbClr val="F7F9FB"/>
          </a:solidFill>
          <a:ln w="5080">
            <a:solidFill>
              <a:srgbClr val="D3DCE5"/>
            </a:solidFill>
            <a:prstDash val="solid"/>
          </a:ln>
        </p:spPr>
      </p:sp>
      <p:sp>
        <p:nvSpPr>
          <p:cNvPr id="76" name="Text 74"/>
          <p:cNvSpPr txBox="1"/>
          <p:nvPr/>
        </p:nvSpPr>
        <p:spPr>
          <a:xfrm>
            <a:off x="6502791"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(652)</a:t>
            </a:r>
            <a:endParaRPr lang="en-US" sz="760" dirty="0"/>
          </a:p>
        </p:txBody>
      </p:sp>
      <p:sp>
        <p:nvSpPr>
          <p:cNvPr id="77" name="Shape 75"/>
          <p:cNvSpPr/>
          <p:nvPr/>
        </p:nvSpPr>
        <p:spPr>
          <a:xfrm>
            <a:off x="7163269" y="1778508"/>
            <a:ext cx="660478" cy="224028"/>
          </a:xfrm>
          <a:prstGeom prst="rect">
            <a:avLst/>
          </a:prstGeom>
          <a:solidFill>
            <a:srgbClr val="F7F9FB"/>
          </a:solidFill>
          <a:ln w="5080">
            <a:solidFill>
              <a:srgbClr val="D3DCE5"/>
            </a:solidFill>
            <a:prstDash val="solid"/>
          </a:ln>
        </p:spPr>
      </p:sp>
      <p:sp>
        <p:nvSpPr>
          <p:cNvPr id="78" name="Text 76"/>
          <p:cNvSpPr txBox="1"/>
          <p:nvPr/>
        </p:nvSpPr>
        <p:spPr>
          <a:xfrm>
            <a:off x="7163269"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(792)</a:t>
            </a:r>
            <a:endParaRPr lang="en-US" sz="760" dirty="0"/>
          </a:p>
        </p:txBody>
      </p:sp>
      <p:sp>
        <p:nvSpPr>
          <p:cNvPr id="79" name="Shape 77"/>
          <p:cNvSpPr/>
          <p:nvPr/>
        </p:nvSpPr>
        <p:spPr>
          <a:xfrm>
            <a:off x="7823747" y="1778508"/>
            <a:ext cx="660478" cy="224028"/>
          </a:xfrm>
          <a:prstGeom prst="rect">
            <a:avLst/>
          </a:prstGeom>
          <a:solidFill>
            <a:srgbClr val="F7F9FB"/>
          </a:solidFill>
          <a:ln w="5080">
            <a:solidFill>
              <a:srgbClr val="D3DCE5"/>
            </a:solidFill>
            <a:prstDash val="solid"/>
          </a:ln>
        </p:spPr>
      </p:sp>
      <p:sp>
        <p:nvSpPr>
          <p:cNvPr id="80" name="Text 78"/>
          <p:cNvSpPr txBox="1"/>
          <p:nvPr/>
        </p:nvSpPr>
        <p:spPr>
          <a:xfrm>
            <a:off x="7823747"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(949)</a:t>
            </a:r>
            <a:endParaRPr lang="en-US" sz="760" dirty="0"/>
          </a:p>
        </p:txBody>
      </p:sp>
      <p:sp>
        <p:nvSpPr>
          <p:cNvPr id="81" name="Shape 79"/>
          <p:cNvSpPr/>
          <p:nvPr/>
        </p:nvSpPr>
        <p:spPr>
          <a:xfrm>
            <a:off x="8484225" y="1778508"/>
            <a:ext cx="660478" cy="224028"/>
          </a:xfrm>
          <a:prstGeom prst="rect">
            <a:avLst/>
          </a:prstGeom>
          <a:solidFill>
            <a:srgbClr val="F7F9FB"/>
          </a:solidFill>
          <a:ln w="5080">
            <a:solidFill>
              <a:srgbClr val="D3DCE5"/>
            </a:solidFill>
            <a:prstDash val="solid"/>
          </a:ln>
        </p:spPr>
      </p:sp>
      <p:sp>
        <p:nvSpPr>
          <p:cNvPr id="82" name="Text 80"/>
          <p:cNvSpPr txBox="1"/>
          <p:nvPr/>
        </p:nvSpPr>
        <p:spPr>
          <a:xfrm>
            <a:off x="8484225"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(1,167)</a:t>
            </a:r>
            <a:endParaRPr lang="en-US" sz="760" dirty="0"/>
          </a:p>
        </p:txBody>
      </p:sp>
      <p:sp>
        <p:nvSpPr>
          <p:cNvPr id="83" name="Shape 81"/>
          <p:cNvSpPr/>
          <p:nvPr/>
        </p:nvSpPr>
        <p:spPr>
          <a:xfrm>
            <a:off x="9144703" y="1778508"/>
            <a:ext cx="660478" cy="224028"/>
          </a:xfrm>
          <a:prstGeom prst="rect">
            <a:avLst/>
          </a:prstGeom>
          <a:solidFill>
            <a:srgbClr val="F7F9FB"/>
          </a:solidFill>
          <a:ln w="5080">
            <a:solidFill>
              <a:srgbClr val="D3DCE5"/>
            </a:solidFill>
            <a:prstDash val="solid"/>
          </a:ln>
        </p:spPr>
      </p:sp>
      <p:sp>
        <p:nvSpPr>
          <p:cNvPr id="84" name="Text 82"/>
          <p:cNvSpPr txBox="1"/>
          <p:nvPr/>
        </p:nvSpPr>
        <p:spPr>
          <a:xfrm>
            <a:off x="9144703"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(1,328)</a:t>
            </a:r>
            <a:endParaRPr lang="en-US" sz="760" dirty="0"/>
          </a:p>
        </p:txBody>
      </p:sp>
      <p:sp>
        <p:nvSpPr>
          <p:cNvPr id="85" name="Shape 83"/>
          <p:cNvSpPr/>
          <p:nvPr/>
        </p:nvSpPr>
        <p:spPr>
          <a:xfrm>
            <a:off x="9805182" y="1778508"/>
            <a:ext cx="660478" cy="224028"/>
          </a:xfrm>
          <a:prstGeom prst="rect">
            <a:avLst/>
          </a:prstGeom>
          <a:solidFill>
            <a:srgbClr val="F7F9FB"/>
          </a:solidFill>
          <a:ln w="5080">
            <a:solidFill>
              <a:srgbClr val="D3DCE5"/>
            </a:solidFill>
            <a:prstDash val="solid"/>
          </a:ln>
        </p:spPr>
      </p:sp>
      <p:sp>
        <p:nvSpPr>
          <p:cNvPr id="86" name="Text 84"/>
          <p:cNvSpPr txBox="1"/>
          <p:nvPr/>
        </p:nvSpPr>
        <p:spPr>
          <a:xfrm>
            <a:off x="9805182"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(1,390)</a:t>
            </a:r>
            <a:endParaRPr lang="en-US" sz="760" dirty="0"/>
          </a:p>
        </p:txBody>
      </p:sp>
      <p:sp>
        <p:nvSpPr>
          <p:cNvPr id="87" name="Shape 85"/>
          <p:cNvSpPr/>
          <p:nvPr/>
        </p:nvSpPr>
        <p:spPr>
          <a:xfrm>
            <a:off x="10465660" y="1778508"/>
            <a:ext cx="660478" cy="224028"/>
          </a:xfrm>
          <a:prstGeom prst="rect">
            <a:avLst/>
          </a:prstGeom>
          <a:solidFill>
            <a:srgbClr val="F7F9FB"/>
          </a:solidFill>
          <a:ln w="5080">
            <a:solidFill>
              <a:srgbClr val="D3DCE5"/>
            </a:solidFill>
            <a:prstDash val="solid"/>
          </a:ln>
        </p:spPr>
      </p:sp>
      <p:sp>
        <p:nvSpPr>
          <p:cNvPr id="88" name="Text 86"/>
          <p:cNvSpPr txBox="1"/>
          <p:nvPr/>
        </p:nvSpPr>
        <p:spPr>
          <a:xfrm>
            <a:off x="10465660"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(1,412)</a:t>
            </a:r>
            <a:endParaRPr lang="en-US" sz="760" dirty="0"/>
          </a:p>
        </p:txBody>
      </p:sp>
      <p:sp>
        <p:nvSpPr>
          <p:cNvPr id="89" name="Shape 87"/>
          <p:cNvSpPr/>
          <p:nvPr/>
        </p:nvSpPr>
        <p:spPr>
          <a:xfrm>
            <a:off x="11126138" y="1778508"/>
            <a:ext cx="660478" cy="224028"/>
          </a:xfrm>
          <a:prstGeom prst="rect">
            <a:avLst/>
          </a:prstGeom>
          <a:solidFill>
            <a:srgbClr val="F7F9FB"/>
          </a:solidFill>
          <a:ln w="5080">
            <a:solidFill>
              <a:srgbClr val="D3DCE5"/>
            </a:solidFill>
            <a:prstDash val="solid"/>
          </a:ln>
        </p:spPr>
      </p:sp>
      <p:sp>
        <p:nvSpPr>
          <p:cNvPr id="90" name="Text 88"/>
          <p:cNvSpPr txBox="1"/>
          <p:nvPr/>
        </p:nvSpPr>
        <p:spPr>
          <a:xfrm>
            <a:off x="11126138" y="177850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(1,412)</a:t>
            </a:r>
            <a:endParaRPr lang="en-US" sz="760" dirty="0"/>
          </a:p>
        </p:txBody>
      </p:sp>
      <p:sp>
        <p:nvSpPr>
          <p:cNvPr id="91" name="Shape 89"/>
          <p:cNvSpPr/>
          <p:nvPr/>
        </p:nvSpPr>
        <p:spPr>
          <a:xfrm>
            <a:off x="411480" y="2002536"/>
            <a:ext cx="2788920" cy="224028"/>
          </a:xfrm>
          <a:prstGeom prst="rect">
            <a:avLst/>
          </a:prstGeom>
          <a:solidFill>
            <a:srgbClr val="FFFFFF"/>
          </a:solidFill>
          <a:ln w="5080">
            <a:solidFill>
              <a:srgbClr val="D3DCE5"/>
            </a:solidFill>
            <a:prstDash val="solid"/>
          </a:ln>
        </p:spPr>
      </p:sp>
      <p:sp>
        <p:nvSpPr>
          <p:cNvPr id="92" name="Text 90"/>
          <p:cNvSpPr txBox="1"/>
          <p:nvPr/>
        </p:nvSpPr>
        <p:spPr>
          <a:xfrm>
            <a:off x="475488" y="2002536"/>
            <a:ext cx="2660904" cy="22402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State royalties</a:t>
            </a:r>
            <a:endParaRPr lang="en-US" sz="780" dirty="0"/>
          </a:p>
        </p:txBody>
      </p:sp>
      <p:sp>
        <p:nvSpPr>
          <p:cNvPr id="93" name="Shape 91"/>
          <p:cNvSpPr/>
          <p:nvPr/>
        </p:nvSpPr>
        <p:spPr>
          <a:xfrm>
            <a:off x="3200400" y="2002536"/>
            <a:ext cx="660478" cy="224028"/>
          </a:xfrm>
          <a:prstGeom prst="rect">
            <a:avLst/>
          </a:prstGeom>
          <a:solidFill>
            <a:srgbClr val="FFFFFF"/>
          </a:solidFill>
          <a:ln w="5080">
            <a:solidFill>
              <a:srgbClr val="D3DCE5"/>
            </a:solidFill>
            <a:prstDash val="solid"/>
          </a:ln>
        </p:spPr>
      </p:sp>
      <p:sp>
        <p:nvSpPr>
          <p:cNvPr id="94" name="Text 92"/>
          <p:cNvSpPr txBox="1"/>
          <p:nvPr/>
        </p:nvSpPr>
        <p:spPr>
          <a:xfrm>
            <a:off x="3200400"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(60)</a:t>
            </a:r>
            <a:endParaRPr lang="en-US" sz="760" dirty="0"/>
          </a:p>
        </p:txBody>
      </p:sp>
      <p:sp>
        <p:nvSpPr>
          <p:cNvPr id="95" name="Shape 93"/>
          <p:cNvSpPr/>
          <p:nvPr/>
        </p:nvSpPr>
        <p:spPr>
          <a:xfrm>
            <a:off x="3860878" y="2002536"/>
            <a:ext cx="660478" cy="224028"/>
          </a:xfrm>
          <a:prstGeom prst="rect">
            <a:avLst/>
          </a:prstGeom>
          <a:solidFill>
            <a:srgbClr val="FFFFFF"/>
          </a:solidFill>
          <a:ln w="5080">
            <a:solidFill>
              <a:srgbClr val="D3DCE5"/>
            </a:solidFill>
            <a:prstDash val="solid"/>
          </a:ln>
        </p:spPr>
      </p:sp>
      <p:sp>
        <p:nvSpPr>
          <p:cNvPr id="96" name="Text 94"/>
          <p:cNvSpPr txBox="1"/>
          <p:nvPr/>
        </p:nvSpPr>
        <p:spPr>
          <a:xfrm>
            <a:off x="3860878"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(38)</a:t>
            </a:r>
            <a:endParaRPr lang="en-US" sz="760" dirty="0"/>
          </a:p>
        </p:txBody>
      </p:sp>
      <p:sp>
        <p:nvSpPr>
          <p:cNvPr id="97" name="Shape 95"/>
          <p:cNvSpPr/>
          <p:nvPr/>
        </p:nvSpPr>
        <p:spPr>
          <a:xfrm>
            <a:off x="4521356" y="2002536"/>
            <a:ext cx="660478" cy="224028"/>
          </a:xfrm>
          <a:prstGeom prst="rect">
            <a:avLst/>
          </a:prstGeom>
          <a:solidFill>
            <a:srgbClr val="FFFFFF"/>
          </a:solidFill>
          <a:ln w="5080">
            <a:solidFill>
              <a:srgbClr val="D3DCE5"/>
            </a:solidFill>
            <a:prstDash val="solid"/>
          </a:ln>
        </p:spPr>
      </p:sp>
      <p:sp>
        <p:nvSpPr>
          <p:cNvPr id="98" name="Text 96"/>
          <p:cNvSpPr txBox="1"/>
          <p:nvPr/>
        </p:nvSpPr>
        <p:spPr>
          <a:xfrm>
            <a:off x="4521356"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(97)</a:t>
            </a:r>
            <a:endParaRPr lang="en-US" sz="760" dirty="0"/>
          </a:p>
        </p:txBody>
      </p:sp>
      <p:sp>
        <p:nvSpPr>
          <p:cNvPr id="99" name="Shape 97"/>
          <p:cNvSpPr/>
          <p:nvPr/>
        </p:nvSpPr>
        <p:spPr>
          <a:xfrm>
            <a:off x="5181834" y="2002536"/>
            <a:ext cx="660478" cy="224028"/>
          </a:xfrm>
          <a:prstGeom prst="rect">
            <a:avLst/>
          </a:prstGeom>
          <a:solidFill>
            <a:srgbClr val="FFFFFF"/>
          </a:solidFill>
          <a:ln w="5080">
            <a:solidFill>
              <a:srgbClr val="D3DCE5"/>
            </a:solidFill>
            <a:prstDash val="solid"/>
          </a:ln>
        </p:spPr>
      </p:sp>
      <p:sp>
        <p:nvSpPr>
          <p:cNvPr id="100" name="Text 98"/>
          <p:cNvSpPr txBox="1"/>
          <p:nvPr/>
        </p:nvSpPr>
        <p:spPr>
          <a:xfrm>
            <a:off x="5181834"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(130)</a:t>
            </a:r>
            <a:endParaRPr lang="en-US" sz="760" dirty="0"/>
          </a:p>
        </p:txBody>
      </p:sp>
      <p:sp>
        <p:nvSpPr>
          <p:cNvPr id="101" name="Shape 99"/>
          <p:cNvSpPr/>
          <p:nvPr/>
        </p:nvSpPr>
        <p:spPr>
          <a:xfrm>
            <a:off x="5842313" y="2002536"/>
            <a:ext cx="660478" cy="224028"/>
          </a:xfrm>
          <a:prstGeom prst="rect">
            <a:avLst/>
          </a:prstGeom>
          <a:solidFill>
            <a:srgbClr val="FFFFFF"/>
          </a:solidFill>
          <a:ln w="5080">
            <a:solidFill>
              <a:srgbClr val="D3DCE5"/>
            </a:solidFill>
            <a:prstDash val="solid"/>
          </a:ln>
        </p:spPr>
      </p:sp>
      <p:sp>
        <p:nvSpPr>
          <p:cNvPr id="102" name="Text 100"/>
          <p:cNvSpPr txBox="1"/>
          <p:nvPr/>
        </p:nvSpPr>
        <p:spPr>
          <a:xfrm>
            <a:off x="5842313"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(140)</a:t>
            </a:r>
            <a:endParaRPr lang="en-US" sz="760" dirty="0"/>
          </a:p>
        </p:txBody>
      </p:sp>
      <p:sp>
        <p:nvSpPr>
          <p:cNvPr id="103" name="Shape 101"/>
          <p:cNvSpPr/>
          <p:nvPr/>
        </p:nvSpPr>
        <p:spPr>
          <a:xfrm>
            <a:off x="6502791" y="2002536"/>
            <a:ext cx="660478" cy="224028"/>
          </a:xfrm>
          <a:prstGeom prst="rect">
            <a:avLst/>
          </a:prstGeom>
          <a:solidFill>
            <a:srgbClr val="FFFFFF"/>
          </a:solidFill>
          <a:ln w="5080">
            <a:solidFill>
              <a:srgbClr val="D3DCE5"/>
            </a:solidFill>
            <a:prstDash val="solid"/>
          </a:ln>
        </p:spPr>
      </p:sp>
      <p:sp>
        <p:nvSpPr>
          <p:cNvPr id="104" name="Text 102"/>
          <p:cNvSpPr txBox="1"/>
          <p:nvPr/>
        </p:nvSpPr>
        <p:spPr>
          <a:xfrm>
            <a:off x="6502791"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(143)</a:t>
            </a:r>
            <a:endParaRPr lang="en-US" sz="760" dirty="0"/>
          </a:p>
        </p:txBody>
      </p:sp>
      <p:sp>
        <p:nvSpPr>
          <p:cNvPr id="105" name="Shape 103"/>
          <p:cNvSpPr/>
          <p:nvPr/>
        </p:nvSpPr>
        <p:spPr>
          <a:xfrm>
            <a:off x="7163269" y="2002536"/>
            <a:ext cx="660478" cy="224028"/>
          </a:xfrm>
          <a:prstGeom prst="rect">
            <a:avLst/>
          </a:prstGeom>
          <a:solidFill>
            <a:srgbClr val="FFFFFF"/>
          </a:solidFill>
          <a:ln w="5080">
            <a:solidFill>
              <a:srgbClr val="D3DCE5"/>
            </a:solidFill>
            <a:prstDash val="solid"/>
          </a:ln>
        </p:spPr>
      </p:sp>
      <p:sp>
        <p:nvSpPr>
          <p:cNvPr id="106" name="Text 104"/>
          <p:cNvSpPr txBox="1"/>
          <p:nvPr/>
        </p:nvSpPr>
        <p:spPr>
          <a:xfrm>
            <a:off x="7163269"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(168)</a:t>
            </a:r>
            <a:endParaRPr lang="en-US" sz="760" dirty="0"/>
          </a:p>
        </p:txBody>
      </p:sp>
      <p:sp>
        <p:nvSpPr>
          <p:cNvPr id="107" name="Shape 105"/>
          <p:cNvSpPr/>
          <p:nvPr/>
        </p:nvSpPr>
        <p:spPr>
          <a:xfrm>
            <a:off x="7823747" y="2002536"/>
            <a:ext cx="660478" cy="224028"/>
          </a:xfrm>
          <a:prstGeom prst="rect">
            <a:avLst/>
          </a:prstGeom>
          <a:solidFill>
            <a:srgbClr val="FFFFFF"/>
          </a:solidFill>
          <a:ln w="5080">
            <a:solidFill>
              <a:srgbClr val="D3DCE5"/>
            </a:solidFill>
            <a:prstDash val="solid"/>
          </a:ln>
        </p:spPr>
      </p:sp>
      <p:sp>
        <p:nvSpPr>
          <p:cNvPr id="108" name="Text 106"/>
          <p:cNvSpPr txBox="1"/>
          <p:nvPr/>
        </p:nvSpPr>
        <p:spPr>
          <a:xfrm>
            <a:off x="7823747"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(197)</a:t>
            </a:r>
            <a:endParaRPr lang="en-US" sz="760" dirty="0"/>
          </a:p>
        </p:txBody>
      </p:sp>
      <p:sp>
        <p:nvSpPr>
          <p:cNvPr id="109" name="Shape 107"/>
          <p:cNvSpPr/>
          <p:nvPr/>
        </p:nvSpPr>
        <p:spPr>
          <a:xfrm>
            <a:off x="8484225" y="2002536"/>
            <a:ext cx="660478" cy="224028"/>
          </a:xfrm>
          <a:prstGeom prst="rect">
            <a:avLst/>
          </a:prstGeom>
          <a:solidFill>
            <a:srgbClr val="FFFFFF"/>
          </a:solidFill>
          <a:ln w="5080">
            <a:solidFill>
              <a:srgbClr val="D3DCE5"/>
            </a:solidFill>
            <a:prstDash val="solid"/>
          </a:ln>
        </p:spPr>
      </p:sp>
      <p:sp>
        <p:nvSpPr>
          <p:cNvPr id="110" name="Text 108"/>
          <p:cNvSpPr txBox="1"/>
          <p:nvPr/>
        </p:nvSpPr>
        <p:spPr>
          <a:xfrm>
            <a:off x="8484225"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(244)</a:t>
            </a:r>
            <a:endParaRPr lang="en-US" sz="760" dirty="0"/>
          </a:p>
        </p:txBody>
      </p:sp>
      <p:sp>
        <p:nvSpPr>
          <p:cNvPr id="111" name="Shape 109"/>
          <p:cNvSpPr/>
          <p:nvPr/>
        </p:nvSpPr>
        <p:spPr>
          <a:xfrm>
            <a:off x="9144703" y="2002536"/>
            <a:ext cx="660478" cy="224028"/>
          </a:xfrm>
          <a:prstGeom prst="rect">
            <a:avLst/>
          </a:prstGeom>
          <a:solidFill>
            <a:srgbClr val="FFFFFF"/>
          </a:solidFill>
          <a:ln w="5080">
            <a:solidFill>
              <a:srgbClr val="D3DCE5"/>
            </a:solidFill>
            <a:prstDash val="solid"/>
          </a:ln>
        </p:spPr>
      </p:sp>
      <p:sp>
        <p:nvSpPr>
          <p:cNvPr id="112" name="Text 110"/>
          <p:cNvSpPr txBox="1"/>
          <p:nvPr/>
        </p:nvSpPr>
        <p:spPr>
          <a:xfrm>
            <a:off x="9144703"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(278)</a:t>
            </a:r>
            <a:endParaRPr lang="en-US" sz="760" dirty="0"/>
          </a:p>
        </p:txBody>
      </p:sp>
      <p:sp>
        <p:nvSpPr>
          <p:cNvPr id="113" name="Shape 111"/>
          <p:cNvSpPr/>
          <p:nvPr/>
        </p:nvSpPr>
        <p:spPr>
          <a:xfrm>
            <a:off x="9805182" y="2002536"/>
            <a:ext cx="660478" cy="224028"/>
          </a:xfrm>
          <a:prstGeom prst="rect">
            <a:avLst/>
          </a:prstGeom>
          <a:solidFill>
            <a:srgbClr val="FFFFFF"/>
          </a:solidFill>
          <a:ln w="5080">
            <a:solidFill>
              <a:srgbClr val="D3DCE5"/>
            </a:solidFill>
            <a:prstDash val="solid"/>
          </a:ln>
        </p:spPr>
      </p:sp>
      <p:sp>
        <p:nvSpPr>
          <p:cNvPr id="114" name="Text 112"/>
          <p:cNvSpPr txBox="1"/>
          <p:nvPr/>
        </p:nvSpPr>
        <p:spPr>
          <a:xfrm>
            <a:off x="9805182"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(291)</a:t>
            </a:r>
            <a:endParaRPr lang="en-US" sz="760" dirty="0"/>
          </a:p>
        </p:txBody>
      </p:sp>
      <p:sp>
        <p:nvSpPr>
          <p:cNvPr id="115" name="Shape 113"/>
          <p:cNvSpPr/>
          <p:nvPr/>
        </p:nvSpPr>
        <p:spPr>
          <a:xfrm>
            <a:off x="10465660" y="2002536"/>
            <a:ext cx="660478" cy="224028"/>
          </a:xfrm>
          <a:prstGeom prst="rect">
            <a:avLst/>
          </a:prstGeom>
          <a:solidFill>
            <a:srgbClr val="FFFFFF"/>
          </a:solidFill>
          <a:ln w="5080">
            <a:solidFill>
              <a:srgbClr val="D3DCE5"/>
            </a:solidFill>
            <a:prstDash val="solid"/>
          </a:ln>
        </p:spPr>
      </p:sp>
      <p:sp>
        <p:nvSpPr>
          <p:cNvPr id="116" name="Text 114"/>
          <p:cNvSpPr txBox="1"/>
          <p:nvPr/>
        </p:nvSpPr>
        <p:spPr>
          <a:xfrm>
            <a:off x="10465660"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(296)</a:t>
            </a:r>
            <a:endParaRPr lang="en-US" sz="760" dirty="0"/>
          </a:p>
        </p:txBody>
      </p:sp>
      <p:sp>
        <p:nvSpPr>
          <p:cNvPr id="117" name="Shape 115"/>
          <p:cNvSpPr/>
          <p:nvPr/>
        </p:nvSpPr>
        <p:spPr>
          <a:xfrm>
            <a:off x="11126138" y="2002536"/>
            <a:ext cx="660478" cy="224028"/>
          </a:xfrm>
          <a:prstGeom prst="rect">
            <a:avLst/>
          </a:prstGeom>
          <a:solidFill>
            <a:srgbClr val="FFFFFF"/>
          </a:solidFill>
          <a:ln w="5080">
            <a:solidFill>
              <a:srgbClr val="D3DCE5"/>
            </a:solidFill>
            <a:prstDash val="solid"/>
          </a:ln>
        </p:spPr>
      </p:sp>
      <p:sp>
        <p:nvSpPr>
          <p:cNvPr id="118" name="Text 116"/>
          <p:cNvSpPr txBox="1"/>
          <p:nvPr/>
        </p:nvSpPr>
        <p:spPr>
          <a:xfrm>
            <a:off x="11126138" y="200253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(296)</a:t>
            </a:r>
            <a:endParaRPr lang="en-US" sz="760" dirty="0"/>
          </a:p>
        </p:txBody>
      </p:sp>
      <p:sp>
        <p:nvSpPr>
          <p:cNvPr id="119" name="Shape 117"/>
          <p:cNvSpPr/>
          <p:nvPr/>
        </p:nvSpPr>
        <p:spPr>
          <a:xfrm>
            <a:off x="411480" y="2226564"/>
            <a:ext cx="2788920" cy="224028"/>
          </a:xfrm>
          <a:prstGeom prst="rect">
            <a:avLst/>
          </a:prstGeom>
          <a:solidFill>
            <a:srgbClr val="F7F9FB"/>
          </a:solidFill>
          <a:ln w="5080">
            <a:solidFill>
              <a:srgbClr val="D3DCE5"/>
            </a:solidFill>
            <a:prstDash val="solid"/>
          </a:ln>
        </p:spPr>
      </p:sp>
      <p:sp>
        <p:nvSpPr>
          <p:cNvPr id="120" name="Text 118"/>
          <p:cNvSpPr txBox="1"/>
          <p:nvPr/>
        </p:nvSpPr>
        <p:spPr>
          <a:xfrm>
            <a:off x="475488" y="2226564"/>
            <a:ext cx="2660904" cy="22402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Corporate, admin and reconciliation</a:t>
            </a:r>
            <a:endParaRPr lang="en-US" sz="780" dirty="0"/>
          </a:p>
        </p:txBody>
      </p:sp>
      <p:sp>
        <p:nvSpPr>
          <p:cNvPr id="121" name="Shape 119"/>
          <p:cNvSpPr/>
          <p:nvPr/>
        </p:nvSpPr>
        <p:spPr>
          <a:xfrm>
            <a:off x="3200400" y="2226564"/>
            <a:ext cx="660478" cy="224028"/>
          </a:xfrm>
          <a:prstGeom prst="rect">
            <a:avLst/>
          </a:prstGeom>
          <a:solidFill>
            <a:srgbClr val="F7F9FB"/>
          </a:solidFill>
          <a:ln w="5080">
            <a:solidFill>
              <a:srgbClr val="D3DCE5"/>
            </a:solidFill>
            <a:prstDash val="solid"/>
          </a:ln>
        </p:spPr>
      </p:sp>
      <p:sp>
        <p:nvSpPr>
          <p:cNvPr id="122" name="Text 120"/>
          <p:cNvSpPr txBox="1"/>
          <p:nvPr/>
        </p:nvSpPr>
        <p:spPr>
          <a:xfrm>
            <a:off x="3200400"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(140)</a:t>
            </a:r>
            <a:endParaRPr lang="en-US" sz="760" dirty="0"/>
          </a:p>
        </p:txBody>
      </p:sp>
      <p:sp>
        <p:nvSpPr>
          <p:cNvPr id="123" name="Shape 121"/>
          <p:cNvSpPr/>
          <p:nvPr/>
        </p:nvSpPr>
        <p:spPr>
          <a:xfrm>
            <a:off x="3860878" y="2226564"/>
            <a:ext cx="660478" cy="224028"/>
          </a:xfrm>
          <a:prstGeom prst="rect">
            <a:avLst/>
          </a:prstGeom>
          <a:solidFill>
            <a:srgbClr val="F7F9FB"/>
          </a:solidFill>
          <a:ln w="5080">
            <a:solidFill>
              <a:srgbClr val="D3DCE5"/>
            </a:solidFill>
            <a:prstDash val="solid"/>
          </a:ln>
        </p:spPr>
      </p:sp>
      <p:sp>
        <p:nvSpPr>
          <p:cNvPr id="124" name="Text 122"/>
          <p:cNvSpPr txBox="1"/>
          <p:nvPr/>
        </p:nvSpPr>
        <p:spPr>
          <a:xfrm>
            <a:off x="3860878"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(164)</a:t>
            </a:r>
            <a:endParaRPr lang="en-US" sz="760" dirty="0"/>
          </a:p>
        </p:txBody>
      </p:sp>
      <p:sp>
        <p:nvSpPr>
          <p:cNvPr id="125" name="Shape 123"/>
          <p:cNvSpPr/>
          <p:nvPr/>
        </p:nvSpPr>
        <p:spPr>
          <a:xfrm>
            <a:off x="4521356" y="2226564"/>
            <a:ext cx="660478" cy="224028"/>
          </a:xfrm>
          <a:prstGeom prst="rect">
            <a:avLst/>
          </a:prstGeom>
          <a:solidFill>
            <a:srgbClr val="F7F9FB"/>
          </a:solidFill>
          <a:ln w="5080">
            <a:solidFill>
              <a:srgbClr val="D3DCE5"/>
            </a:solidFill>
            <a:prstDash val="solid"/>
          </a:ln>
        </p:spPr>
      </p:sp>
      <p:sp>
        <p:nvSpPr>
          <p:cNvPr id="126" name="Text 124"/>
          <p:cNvSpPr txBox="1"/>
          <p:nvPr/>
        </p:nvSpPr>
        <p:spPr>
          <a:xfrm>
            <a:off x="4521356"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(193)</a:t>
            </a:r>
            <a:endParaRPr lang="en-US" sz="760" dirty="0"/>
          </a:p>
        </p:txBody>
      </p:sp>
      <p:sp>
        <p:nvSpPr>
          <p:cNvPr id="127" name="Shape 125"/>
          <p:cNvSpPr/>
          <p:nvPr/>
        </p:nvSpPr>
        <p:spPr>
          <a:xfrm>
            <a:off x="5181834" y="2226564"/>
            <a:ext cx="660478" cy="224028"/>
          </a:xfrm>
          <a:prstGeom prst="rect">
            <a:avLst/>
          </a:prstGeom>
          <a:solidFill>
            <a:srgbClr val="F7F9FB"/>
          </a:solidFill>
          <a:ln w="5080">
            <a:solidFill>
              <a:srgbClr val="D3DCE5"/>
            </a:solidFill>
            <a:prstDash val="solid"/>
          </a:ln>
        </p:spPr>
      </p:sp>
      <p:sp>
        <p:nvSpPr>
          <p:cNvPr id="128" name="Text 126"/>
          <p:cNvSpPr txBox="1"/>
          <p:nvPr/>
        </p:nvSpPr>
        <p:spPr>
          <a:xfrm>
            <a:off x="5181834"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(95)</a:t>
            </a:r>
            <a:endParaRPr lang="en-US" sz="760" dirty="0"/>
          </a:p>
        </p:txBody>
      </p:sp>
      <p:sp>
        <p:nvSpPr>
          <p:cNvPr id="129" name="Shape 127"/>
          <p:cNvSpPr/>
          <p:nvPr/>
        </p:nvSpPr>
        <p:spPr>
          <a:xfrm>
            <a:off x="5842313" y="2226564"/>
            <a:ext cx="660478" cy="224028"/>
          </a:xfrm>
          <a:prstGeom prst="rect">
            <a:avLst/>
          </a:prstGeom>
          <a:solidFill>
            <a:srgbClr val="F7F9FB"/>
          </a:solidFill>
          <a:ln w="5080">
            <a:solidFill>
              <a:srgbClr val="D3DCE5"/>
            </a:solidFill>
            <a:prstDash val="solid"/>
          </a:ln>
        </p:spPr>
      </p:sp>
      <p:sp>
        <p:nvSpPr>
          <p:cNvPr id="130" name="Text 128"/>
          <p:cNvSpPr txBox="1"/>
          <p:nvPr/>
        </p:nvSpPr>
        <p:spPr>
          <a:xfrm>
            <a:off x="5842313"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(97)</a:t>
            </a:r>
            <a:endParaRPr lang="en-US" sz="760" dirty="0"/>
          </a:p>
        </p:txBody>
      </p:sp>
      <p:sp>
        <p:nvSpPr>
          <p:cNvPr id="131" name="Shape 129"/>
          <p:cNvSpPr/>
          <p:nvPr/>
        </p:nvSpPr>
        <p:spPr>
          <a:xfrm>
            <a:off x="6502791" y="2226564"/>
            <a:ext cx="660478" cy="224028"/>
          </a:xfrm>
          <a:prstGeom prst="rect">
            <a:avLst/>
          </a:prstGeom>
          <a:solidFill>
            <a:srgbClr val="F7F9FB"/>
          </a:solidFill>
          <a:ln w="5080">
            <a:solidFill>
              <a:srgbClr val="D3DCE5"/>
            </a:solidFill>
            <a:prstDash val="solid"/>
          </a:ln>
        </p:spPr>
      </p:sp>
      <p:sp>
        <p:nvSpPr>
          <p:cNvPr id="132" name="Text 130"/>
          <p:cNvSpPr txBox="1"/>
          <p:nvPr/>
        </p:nvSpPr>
        <p:spPr>
          <a:xfrm>
            <a:off x="6502791"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(100)</a:t>
            </a:r>
            <a:endParaRPr lang="en-US" sz="760" dirty="0"/>
          </a:p>
        </p:txBody>
      </p:sp>
      <p:sp>
        <p:nvSpPr>
          <p:cNvPr id="133" name="Shape 131"/>
          <p:cNvSpPr/>
          <p:nvPr/>
        </p:nvSpPr>
        <p:spPr>
          <a:xfrm>
            <a:off x="7163269" y="2226564"/>
            <a:ext cx="660478" cy="224028"/>
          </a:xfrm>
          <a:prstGeom prst="rect">
            <a:avLst/>
          </a:prstGeom>
          <a:solidFill>
            <a:srgbClr val="F7F9FB"/>
          </a:solidFill>
          <a:ln w="5080">
            <a:solidFill>
              <a:srgbClr val="D3DCE5"/>
            </a:solidFill>
            <a:prstDash val="solid"/>
          </a:ln>
        </p:spPr>
      </p:sp>
      <p:sp>
        <p:nvSpPr>
          <p:cNvPr id="134" name="Text 132"/>
          <p:cNvSpPr txBox="1"/>
          <p:nvPr/>
        </p:nvSpPr>
        <p:spPr>
          <a:xfrm>
            <a:off x="7163269"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(102)</a:t>
            </a:r>
            <a:endParaRPr lang="en-US" sz="760" dirty="0"/>
          </a:p>
        </p:txBody>
      </p:sp>
      <p:sp>
        <p:nvSpPr>
          <p:cNvPr id="135" name="Shape 133"/>
          <p:cNvSpPr/>
          <p:nvPr/>
        </p:nvSpPr>
        <p:spPr>
          <a:xfrm>
            <a:off x="7823747" y="2226564"/>
            <a:ext cx="660478" cy="224028"/>
          </a:xfrm>
          <a:prstGeom prst="rect">
            <a:avLst/>
          </a:prstGeom>
          <a:solidFill>
            <a:srgbClr val="F7F9FB"/>
          </a:solidFill>
          <a:ln w="5080">
            <a:solidFill>
              <a:srgbClr val="D3DCE5"/>
            </a:solidFill>
            <a:prstDash val="solid"/>
          </a:ln>
        </p:spPr>
      </p:sp>
      <p:sp>
        <p:nvSpPr>
          <p:cNvPr id="136" name="Text 134"/>
          <p:cNvSpPr txBox="1"/>
          <p:nvPr/>
        </p:nvSpPr>
        <p:spPr>
          <a:xfrm>
            <a:off x="7823747"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(105)</a:t>
            </a:r>
            <a:endParaRPr lang="en-US" sz="760" dirty="0"/>
          </a:p>
        </p:txBody>
      </p:sp>
      <p:sp>
        <p:nvSpPr>
          <p:cNvPr id="137" name="Shape 135"/>
          <p:cNvSpPr/>
          <p:nvPr/>
        </p:nvSpPr>
        <p:spPr>
          <a:xfrm>
            <a:off x="8484225" y="2226564"/>
            <a:ext cx="660478" cy="224028"/>
          </a:xfrm>
          <a:prstGeom prst="rect">
            <a:avLst/>
          </a:prstGeom>
          <a:solidFill>
            <a:srgbClr val="F7F9FB"/>
          </a:solidFill>
          <a:ln w="5080">
            <a:solidFill>
              <a:srgbClr val="D3DCE5"/>
            </a:solidFill>
            <a:prstDash val="solid"/>
          </a:ln>
        </p:spPr>
      </p:sp>
      <p:sp>
        <p:nvSpPr>
          <p:cNvPr id="138" name="Text 136"/>
          <p:cNvSpPr txBox="1"/>
          <p:nvPr/>
        </p:nvSpPr>
        <p:spPr>
          <a:xfrm>
            <a:off x="8484225"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(107)</a:t>
            </a:r>
            <a:endParaRPr lang="en-US" sz="760" dirty="0"/>
          </a:p>
        </p:txBody>
      </p:sp>
      <p:sp>
        <p:nvSpPr>
          <p:cNvPr id="139" name="Shape 137"/>
          <p:cNvSpPr/>
          <p:nvPr/>
        </p:nvSpPr>
        <p:spPr>
          <a:xfrm>
            <a:off x="9144703" y="2226564"/>
            <a:ext cx="660478" cy="224028"/>
          </a:xfrm>
          <a:prstGeom prst="rect">
            <a:avLst/>
          </a:prstGeom>
          <a:solidFill>
            <a:srgbClr val="F7F9FB"/>
          </a:solidFill>
          <a:ln w="5080">
            <a:solidFill>
              <a:srgbClr val="D3DCE5"/>
            </a:solidFill>
            <a:prstDash val="solid"/>
          </a:ln>
        </p:spPr>
      </p:sp>
      <p:sp>
        <p:nvSpPr>
          <p:cNvPr id="140" name="Text 138"/>
          <p:cNvSpPr txBox="1"/>
          <p:nvPr/>
        </p:nvSpPr>
        <p:spPr>
          <a:xfrm>
            <a:off x="9144703"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(110)</a:t>
            </a:r>
            <a:endParaRPr lang="en-US" sz="760" dirty="0"/>
          </a:p>
        </p:txBody>
      </p:sp>
      <p:sp>
        <p:nvSpPr>
          <p:cNvPr id="141" name="Shape 139"/>
          <p:cNvSpPr/>
          <p:nvPr/>
        </p:nvSpPr>
        <p:spPr>
          <a:xfrm>
            <a:off x="9805182" y="2226564"/>
            <a:ext cx="660478" cy="224028"/>
          </a:xfrm>
          <a:prstGeom prst="rect">
            <a:avLst/>
          </a:prstGeom>
          <a:solidFill>
            <a:srgbClr val="F7F9FB"/>
          </a:solidFill>
          <a:ln w="5080">
            <a:solidFill>
              <a:srgbClr val="D3DCE5"/>
            </a:solidFill>
            <a:prstDash val="solid"/>
          </a:ln>
        </p:spPr>
      </p:sp>
      <p:sp>
        <p:nvSpPr>
          <p:cNvPr id="142" name="Text 140"/>
          <p:cNvSpPr txBox="1"/>
          <p:nvPr/>
        </p:nvSpPr>
        <p:spPr>
          <a:xfrm>
            <a:off x="9805182"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(113)</a:t>
            </a:r>
            <a:endParaRPr lang="en-US" sz="760" dirty="0"/>
          </a:p>
        </p:txBody>
      </p:sp>
      <p:sp>
        <p:nvSpPr>
          <p:cNvPr id="143" name="Shape 141"/>
          <p:cNvSpPr/>
          <p:nvPr/>
        </p:nvSpPr>
        <p:spPr>
          <a:xfrm>
            <a:off x="10465660" y="2226564"/>
            <a:ext cx="660478" cy="224028"/>
          </a:xfrm>
          <a:prstGeom prst="rect">
            <a:avLst/>
          </a:prstGeom>
          <a:solidFill>
            <a:srgbClr val="F7F9FB"/>
          </a:solidFill>
          <a:ln w="5080">
            <a:solidFill>
              <a:srgbClr val="D3DCE5"/>
            </a:solidFill>
            <a:prstDash val="solid"/>
          </a:ln>
        </p:spPr>
      </p:sp>
      <p:sp>
        <p:nvSpPr>
          <p:cNvPr id="144" name="Text 142"/>
          <p:cNvSpPr txBox="1"/>
          <p:nvPr/>
        </p:nvSpPr>
        <p:spPr>
          <a:xfrm>
            <a:off x="10465660"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(116)</a:t>
            </a:r>
            <a:endParaRPr lang="en-US" sz="760" dirty="0"/>
          </a:p>
        </p:txBody>
      </p:sp>
      <p:sp>
        <p:nvSpPr>
          <p:cNvPr id="145" name="Shape 143"/>
          <p:cNvSpPr/>
          <p:nvPr/>
        </p:nvSpPr>
        <p:spPr>
          <a:xfrm>
            <a:off x="11126138" y="2226564"/>
            <a:ext cx="660478" cy="224028"/>
          </a:xfrm>
          <a:prstGeom prst="rect">
            <a:avLst/>
          </a:prstGeom>
          <a:solidFill>
            <a:srgbClr val="F7F9FB"/>
          </a:solidFill>
          <a:ln w="5080">
            <a:solidFill>
              <a:srgbClr val="D3DCE5"/>
            </a:solidFill>
            <a:prstDash val="solid"/>
          </a:ln>
        </p:spPr>
      </p:sp>
      <p:sp>
        <p:nvSpPr>
          <p:cNvPr id="146" name="Text 144"/>
          <p:cNvSpPr txBox="1"/>
          <p:nvPr/>
        </p:nvSpPr>
        <p:spPr>
          <a:xfrm>
            <a:off x="11126138" y="222656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(119)</a:t>
            </a:r>
            <a:endParaRPr lang="en-US" sz="760" dirty="0"/>
          </a:p>
        </p:txBody>
      </p:sp>
      <p:sp>
        <p:nvSpPr>
          <p:cNvPr id="147" name="Shape 145"/>
          <p:cNvSpPr/>
          <p:nvPr/>
        </p:nvSpPr>
        <p:spPr>
          <a:xfrm>
            <a:off x="411480" y="2450592"/>
            <a:ext cx="2788920" cy="224028"/>
          </a:xfrm>
          <a:prstGeom prst="rect">
            <a:avLst/>
          </a:prstGeom>
          <a:solidFill>
            <a:srgbClr val="D6EBE7"/>
          </a:solidFill>
          <a:ln w="5080">
            <a:solidFill>
              <a:srgbClr val="D3DCE5"/>
            </a:solidFill>
            <a:prstDash val="solid"/>
          </a:ln>
        </p:spPr>
      </p:sp>
      <p:sp>
        <p:nvSpPr>
          <p:cNvPr id="148" name="Text 146"/>
          <p:cNvSpPr txBox="1"/>
          <p:nvPr/>
        </p:nvSpPr>
        <p:spPr>
          <a:xfrm>
            <a:off x="475488" y="2450592"/>
            <a:ext cx="2660904" cy="224028"/>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EBITDA</a:t>
            </a:r>
            <a:endParaRPr lang="en-US" sz="780" dirty="0"/>
          </a:p>
        </p:txBody>
      </p:sp>
      <p:sp>
        <p:nvSpPr>
          <p:cNvPr id="149" name="Shape 147"/>
          <p:cNvSpPr/>
          <p:nvPr/>
        </p:nvSpPr>
        <p:spPr>
          <a:xfrm>
            <a:off x="3200400" y="2450592"/>
            <a:ext cx="660478" cy="224028"/>
          </a:xfrm>
          <a:prstGeom prst="rect">
            <a:avLst/>
          </a:prstGeom>
          <a:solidFill>
            <a:srgbClr val="D6EBE7"/>
          </a:solidFill>
          <a:ln w="5080">
            <a:solidFill>
              <a:srgbClr val="D3DCE5"/>
            </a:solidFill>
            <a:prstDash val="solid"/>
          </a:ln>
        </p:spPr>
      </p:sp>
      <p:sp>
        <p:nvSpPr>
          <p:cNvPr id="150" name="Text 148"/>
          <p:cNvSpPr txBox="1"/>
          <p:nvPr/>
        </p:nvSpPr>
        <p:spPr>
          <a:xfrm>
            <a:off x="3200400"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538</a:t>
            </a:r>
            <a:endParaRPr lang="en-US" sz="760" dirty="0"/>
          </a:p>
        </p:txBody>
      </p:sp>
      <p:sp>
        <p:nvSpPr>
          <p:cNvPr id="151" name="Shape 149"/>
          <p:cNvSpPr/>
          <p:nvPr/>
        </p:nvSpPr>
        <p:spPr>
          <a:xfrm>
            <a:off x="3860878" y="2450592"/>
            <a:ext cx="660478" cy="224028"/>
          </a:xfrm>
          <a:prstGeom prst="rect">
            <a:avLst/>
          </a:prstGeom>
          <a:solidFill>
            <a:srgbClr val="D6EBE7"/>
          </a:solidFill>
          <a:ln w="5080">
            <a:solidFill>
              <a:srgbClr val="D3DCE5"/>
            </a:solidFill>
            <a:prstDash val="solid"/>
          </a:ln>
        </p:spPr>
      </p:sp>
      <p:sp>
        <p:nvSpPr>
          <p:cNvPr id="152" name="Text 150"/>
          <p:cNvSpPr txBox="1"/>
          <p:nvPr/>
        </p:nvSpPr>
        <p:spPr>
          <a:xfrm>
            <a:off x="3860878"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97</a:t>
            </a:r>
            <a:endParaRPr lang="en-US" sz="760" dirty="0"/>
          </a:p>
        </p:txBody>
      </p:sp>
      <p:sp>
        <p:nvSpPr>
          <p:cNvPr id="153" name="Shape 151"/>
          <p:cNvSpPr/>
          <p:nvPr/>
        </p:nvSpPr>
        <p:spPr>
          <a:xfrm>
            <a:off x="4521356" y="2450592"/>
            <a:ext cx="660478" cy="224028"/>
          </a:xfrm>
          <a:prstGeom prst="rect">
            <a:avLst/>
          </a:prstGeom>
          <a:solidFill>
            <a:srgbClr val="D6EBE7"/>
          </a:solidFill>
          <a:ln w="5080">
            <a:solidFill>
              <a:srgbClr val="D3DCE5"/>
            </a:solidFill>
            <a:prstDash val="solid"/>
          </a:ln>
        </p:spPr>
      </p:sp>
      <p:sp>
        <p:nvSpPr>
          <p:cNvPr id="154" name="Text 152"/>
          <p:cNvSpPr txBox="1"/>
          <p:nvPr/>
        </p:nvSpPr>
        <p:spPr>
          <a:xfrm>
            <a:off x="4521356"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1,137</a:t>
            </a:r>
            <a:endParaRPr lang="en-US" sz="760" dirty="0"/>
          </a:p>
        </p:txBody>
      </p:sp>
      <p:sp>
        <p:nvSpPr>
          <p:cNvPr id="155" name="Shape 153"/>
          <p:cNvSpPr/>
          <p:nvPr/>
        </p:nvSpPr>
        <p:spPr>
          <a:xfrm>
            <a:off x="5181834" y="2450592"/>
            <a:ext cx="660478" cy="224028"/>
          </a:xfrm>
          <a:prstGeom prst="rect">
            <a:avLst/>
          </a:prstGeom>
          <a:solidFill>
            <a:srgbClr val="D6EBE7"/>
          </a:solidFill>
          <a:ln w="5080">
            <a:solidFill>
              <a:srgbClr val="D3DCE5"/>
            </a:solidFill>
            <a:prstDash val="solid"/>
          </a:ln>
        </p:spPr>
      </p:sp>
      <p:sp>
        <p:nvSpPr>
          <p:cNvPr id="156" name="Text 154"/>
          <p:cNvSpPr txBox="1"/>
          <p:nvPr/>
        </p:nvSpPr>
        <p:spPr>
          <a:xfrm>
            <a:off x="5181834"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1,731</a:t>
            </a:r>
            <a:endParaRPr lang="en-US" sz="760" dirty="0"/>
          </a:p>
        </p:txBody>
      </p:sp>
      <p:sp>
        <p:nvSpPr>
          <p:cNvPr id="157" name="Shape 155"/>
          <p:cNvSpPr/>
          <p:nvPr/>
        </p:nvSpPr>
        <p:spPr>
          <a:xfrm>
            <a:off x="5842313" y="2450592"/>
            <a:ext cx="660478" cy="224028"/>
          </a:xfrm>
          <a:prstGeom prst="rect">
            <a:avLst/>
          </a:prstGeom>
          <a:solidFill>
            <a:srgbClr val="D6EBE7"/>
          </a:solidFill>
          <a:ln w="5080">
            <a:solidFill>
              <a:srgbClr val="D3DCE5"/>
            </a:solidFill>
            <a:prstDash val="solid"/>
          </a:ln>
        </p:spPr>
      </p:sp>
      <p:sp>
        <p:nvSpPr>
          <p:cNvPr id="158" name="Text 156"/>
          <p:cNvSpPr txBox="1"/>
          <p:nvPr/>
        </p:nvSpPr>
        <p:spPr>
          <a:xfrm>
            <a:off x="5842313"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1,907</a:t>
            </a:r>
            <a:endParaRPr lang="en-US" sz="760" dirty="0"/>
          </a:p>
        </p:txBody>
      </p:sp>
      <p:sp>
        <p:nvSpPr>
          <p:cNvPr id="159" name="Shape 157"/>
          <p:cNvSpPr/>
          <p:nvPr/>
        </p:nvSpPr>
        <p:spPr>
          <a:xfrm>
            <a:off x="6502791" y="2450592"/>
            <a:ext cx="660478" cy="224028"/>
          </a:xfrm>
          <a:prstGeom prst="rect">
            <a:avLst/>
          </a:prstGeom>
          <a:solidFill>
            <a:srgbClr val="D6EBE7"/>
          </a:solidFill>
          <a:ln w="5080">
            <a:solidFill>
              <a:srgbClr val="D3DCE5"/>
            </a:solidFill>
            <a:prstDash val="solid"/>
          </a:ln>
        </p:spPr>
      </p:sp>
      <p:sp>
        <p:nvSpPr>
          <p:cNvPr id="160" name="Text 158"/>
          <p:cNvSpPr txBox="1"/>
          <p:nvPr/>
        </p:nvSpPr>
        <p:spPr>
          <a:xfrm>
            <a:off x="6502791"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1,974</a:t>
            </a:r>
            <a:endParaRPr lang="en-US" sz="760" dirty="0"/>
          </a:p>
        </p:txBody>
      </p:sp>
      <p:sp>
        <p:nvSpPr>
          <p:cNvPr id="161" name="Shape 159"/>
          <p:cNvSpPr/>
          <p:nvPr/>
        </p:nvSpPr>
        <p:spPr>
          <a:xfrm>
            <a:off x="7163269" y="2450592"/>
            <a:ext cx="660478" cy="224028"/>
          </a:xfrm>
          <a:prstGeom prst="rect">
            <a:avLst/>
          </a:prstGeom>
          <a:solidFill>
            <a:srgbClr val="D6EBE7"/>
          </a:solidFill>
          <a:ln w="5080">
            <a:solidFill>
              <a:srgbClr val="D3DCE5"/>
            </a:solidFill>
            <a:prstDash val="solid"/>
          </a:ln>
        </p:spPr>
      </p:sp>
      <p:sp>
        <p:nvSpPr>
          <p:cNvPr id="162" name="Text 160"/>
          <p:cNvSpPr txBox="1"/>
          <p:nvPr/>
        </p:nvSpPr>
        <p:spPr>
          <a:xfrm>
            <a:off x="7163269"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2,306</a:t>
            </a:r>
            <a:endParaRPr lang="en-US" sz="760" dirty="0"/>
          </a:p>
        </p:txBody>
      </p:sp>
      <p:sp>
        <p:nvSpPr>
          <p:cNvPr id="163" name="Shape 161"/>
          <p:cNvSpPr/>
          <p:nvPr/>
        </p:nvSpPr>
        <p:spPr>
          <a:xfrm>
            <a:off x="7823747" y="2450592"/>
            <a:ext cx="660478" cy="224028"/>
          </a:xfrm>
          <a:prstGeom prst="rect">
            <a:avLst/>
          </a:prstGeom>
          <a:solidFill>
            <a:srgbClr val="D6EBE7"/>
          </a:solidFill>
          <a:ln w="5080">
            <a:solidFill>
              <a:srgbClr val="D3DCE5"/>
            </a:solidFill>
            <a:prstDash val="solid"/>
          </a:ln>
        </p:spPr>
      </p:sp>
      <p:sp>
        <p:nvSpPr>
          <p:cNvPr id="164" name="Text 162"/>
          <p:cNvSpPr txBox="1"/>
          <p:nvPr/>
        </p:nvSpPr>
        <p:spPr>
          <a:xfrm>
            <a:off x="7823747"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2,687</a:t>
            </a:r>
            <a:endParaRPr lang="en-US" sz="760" dirty="0"/>
          </a:p>
        </p:txBody>
      </p:sp>
      <p:sp>
        <p:nvSpPr>
          <p:cNvPr id="165" name="Shape 163"/>
          <p:cNvSpPr/>
          <p:nvPr/>
        </p:nvSpPr>
        <p:spPr>
          <a:xfrm>
            <a:off x="8484225" y="2450592"/>
            <a:ext cx="660478" cy="224028"/>
          </a:xfrm>
          <a:prstGeom prst="rect">
            <a:avLst/>
          </a:prstGeom>
          <a:solidFill>
            <a:srgbClr val="D6EBE7"/>
          </a:solidFill>
          <a:ln w="5080">
            <a:solidFill>
              <a:srgbClr val="D3DCE5"/>
            </a:solidFill>
            <a:prstDash val="solid"/>
          </a:ln>
        </p:spPr>
      </p:sp>
      <p:sp>
        <p:nvSpPr>
          <p:cNvPr id="166" name="Text 164"/>
          <p:cNvSpPr txBox="1"/>
          <p:nvPr/>
        </p:nvSpPr>
        <p:spPr>
          <a:xfrm>
            <a:off x="8484225"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3,365</a:t>
            </a:r>
            <a:endParaRPr lang="en-US" sz="760" dirty="0"/>
          </a:p>
        </p:txBody>
      </p:sp>
      <p:sp>
        <p:nvSpPr>
          <p:cNvPr id="167" name="Shape 165"/>
          <p:cNvSpPr/>
          <p:nvPr/>
        </p:nvSpPr>
        <p:spPr>
          <a:xfrm>
            <a:off x="9144703" y="2450592"/>
            <a:ext cx="660478" cy="224028"/>
          </a:xfrm>
          <a:prstGeom prst="rect">
            <a:avLst/>
          </a:prstGeom>
          <a:solidFill>
            <a:srgbClr val="D6EBE7"/>
          </a:solidFill>
          <a:ln w="5080">
            <a:solidFill>
              <a:srgbClr val="D3DCE5"/>
            </a:solidFill>
            <a:prstDash val="solid"/>
          </a:ln>
        </p:spPr>
      </p:sp>
      <p:sp>
        <p:nvSpPr>
          <p:cNvPr id="168" name="Text 166"/>
          <p:cNvSpPr txBox="1"/>
          <p:nvPr/>
        </p:nvSpPr>
        <p:spPr>
          <a:xfrm>
            <a:off x="9144703"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3,842</a:t>
            </a:r>
            <a:endParaRPr lang="en-US" sz="760" dirty="0"/>
          </a:p>
        </p:txBody>
      </p:sp>
      <p:sp>
        <p:nvSpPr>
          <p:cNvPr id="169" name="Shape 167"/>
          <p:cNvSpPr/>
          <p:nvPr/>
        </p:nvSpPr>
        <p:spPr>
          <a:xfrm>
            <a:off x="9805182" y="2450592"/>
            <a:ext cx="660478" cy="224028"/>
          </a:xfrm>
          <a:prstGeom prst="rect">
            <a:avLst/>
          </a:prstGeom>
          <a:solidFill>
            <a:srgbClr val="D6EBE7"/>
          </a:solidFill>
          <a:ln w="5080">
            <a:solidFill>
              <a:srgbClr val="D3DCE5"/>
            </a:solidFill>
            <a:prstDash val="solid"/>
          </a:ln>
        </p:spPr>
      </p:sp>
      <p:sp>
        <p:nvSpPr>
          <p:cNvPr id="170" name="Text 168"/>
          <p:cNvSpPr txBox="1"/>
          <p:nvPr/>
        </p:nvSpPr>
        <p:spPr>
          <a:xfrm>
            <a:off x="9805182"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4,024</a:t>
            </a:r>
            <a:endParaRPr lang="en-US" sz="760" dirty="0"/>
          </a:p>
        </p:txBody>
      </p:sp>
      <p:sp>
        <p:nvSpPr>
          <p:cNvPr id="171" name="Shape 169"/>
          <p:cNvSpPr/>
          <p:nvPr/>
        </p:nvSpPr>
        <p:spPr>
          <a:xfrm>
            <a:off x="10465660" y="2450592"/>
            <a:ext cx="660478" cy="224028"/>
          </a:xfrm>
          <a:prstGeom prst="rect">
            <a:avLst/>
          </a:prstGeom>
          <a:solidFill>
            <a:srgbClr val="D6EBE7"/>
          </a:solidFill>
          <a:ln w="5080">
            <a:solidFill>
              <a:srgbClr val="D3DCE5"/>
            </a:solidFill>
            <a:prstDash val="solid"/>
          </a:ln>
        </p:spPr>
      </p:sp>
      <p:sp>
        <p:nvSpPr>
          <p:cNvPr id="172" name="Text 170"/>
          <p:cNvSpPr txBox="1"/>
          <p:nvPr/>
        </p:nvSpPr>
        <p:spPr>
          <a:xfrm>
            <a:off x="10465660"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4,089</a:t>
            </a:r>
            <a:endParaRPr lang="en-US" sz="760" dirty="0"/>
          </a:p>
        </p:txBody>
      </p:sp>
      <p:sp>
        <p:nvSpPr>
          <p:cNvPr id="173" name="Shape 171"/>
          <p:cNvSpPr/>
          <p:nvPr/>
        </p:nvSpPr>
        <p:spPr>
          <a:xfrm>
            <a:off x="11126138" y="2450592"/>
            <a:ext cx="660478" cy="224028"/>
          </a:xfrm>
          <a:prstGeom prst="rect">
            <a:avLst/>
          </a:prstGeom>
          <a:solidFill>
            <a:srgbClr val="D6EBE7"/>
          </a:solidFill>
          <a:ln w="5080">
            <a:solidFill>
              <a:srgbClr val="D3DCE5"/>
            </a:solidFill>
            <a:prstDash val="solid"/>
          </a:ln>
        </p:spPr>
      </p:sp>
      <p:sp>
        <p:nvSpPr>
          <p:cNvPr id="174" name="Text 172"/>
          <p:cNvSpPr txBox="1"/>
          <p:nvPr/>
        </p:nvSpPr>
        <p:spPr>
          <a:xfrm>
            <a:off x="11126138" y="2450592"/>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4,086</a:t>
            </a:r>
            <a:endParaRPr lang="en-US" sz="760" dirty="0"/>
          </a:p>
        </p:txBody>
      </p:sp>
      <p:sp>
        <p:nvSpPr>
          <p:cNvPr id="175" name="Shape 173"/>
          <p:cNvSpPr/>
          <p:nvPr/>
        </p:nvSpPr>
        <p:spPr>
          <a:xfrm>
            <a:off x="411480" y="2674620"/>
            <a:ext cx="2788920" cy="224028"/>
          </a:xfrm>
          <a:prstGeom prst="rect">
            <a:avLst/>
          </a:prstGeom>
          <a:solidFill>
            <a:srgbClr val="F7F9FB"/>
          </a:solidFill>
          <a:ln w="5080">
            <a:solidFill>
              <a:srgbClr val="D3DCE5"/>
            </a:solidFill>
            <a:prstDash val="solid"/>
          </a:ln>
        </p:spPr>
      </p:sp>
      <p:sp>
        <p:nvSpPr>
          <p:cNvPr id="176" name="Text 174"/>
          <p:cNvSpPr txBox="1"/>
          <p:nvPr/>
        </p:nvSpPr>
        <p:spPr>
          <a:xfrm>
            <a:off x="475488" y="2674620"/>
            <a:ext cx="2660904" cy="22402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EBITDA margin</a:t>
            </a:r>
            <a:endParaRPr lang="en-US" sz="780" dirty="0"/>
          </a:p>
        </p:txBody>
      </p:sp>
      <p:sp>
        <p:nvSpPr>
          <p:cNvPr id="177" name="Shape 175"/>
          <p:cNvSpPr/>
          <p:nvPr/>
        </p:nvSpPr>
        <p:spPr>
          <a:xfrm>
            <a:off x="3200400" y="2674620"/>
            <a:ext cx="660478" cy="224028"/>
          </a:xfrm>
          <a:prstGeom prst="rect">
            <a:avLst/>
          </a:prstGeom>
          <a:solidFill>
            <a:srgbClr val="F7F9FB"/>
          </a:solidFill>
          <a:ln w="5080">
            <a:solidFill>
              <a:srgbClr val="D3DCE5"/>
            </a:solidFill>
            <a:prstDash val="solid"/>
          </a:ln>
        </p:spPr>
      </p:sp>
      <p:sp>
        <p:nvSpPr>
          <p:cNvPr id="178" name="Text 176"/>
          <p:cNvSpPr txBox="1"/>
          <p:nvPr/>
        </p:nvSpPr>
        <p:spPr>
          <a:xfrm>
            <a:off x="3200400"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44.8%</a:t>
            </a:r>
            <a:endParaRPr lang="en-US" sz="760" dirty="0"/>
          </a:p>
        </p:txBody>
      </p:sp>
      <p:sp>
        <p:nvSpPr>
          <p:cNvPr id="179" name="Shape 177"/>
          <p:cNvSpPr/>
          <p:nvPr/>
        </p:nvSpPr>
        <p:spPr>
          <a:xfrm>
            <a:off x="3860878" y="2674620"/>
            <a:ext cx="660478" cy="224028"/>
          </a:xfrm>
          <a:prstGeom prst="rect">
            <a:avLst/>
          </a:prstGeom>
          <a:solidFill>
            <a:srgbClr val="F7F9FB"/>
          </a:solidFill>
          <a:ln w="5080">
            <a:solidFill>
              <a:srgbClr val="D3DCE5"/>
            </a:solidFill>
            <a:prstDash val="solid"/>
          </a:ln>
        </p:spPr>
      </p:sp>
      <p:sp>
        <p:nvSpPr>
          <p:cNvPr id="180" name="Text 178"/>
          <p:cNvSpPr txBox="1"/>
          <p:nvPr/>
        </p:nvSpPr>
        <p:spPr>
          <a:xfrm>
            <a:off x="3860878"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12.6%</a:t>
            </a:r>
            <a:endParaRPr lang="en-US" sz="760" dirty="0"/>
          </a:p>
        </p:txBody>
      </p:sp>
      <p:sp>
        <p:nvSpPr>
          <p:cNvPr id="181" name="Shape 179"/>
          <p:cNvSpPr/>
          <p:nvPr/>
        </p:nvSpPr>
        <p:spPr>
          <a:xfrm>
            <a:off x="4521356" y="2674620"/>
            <a:ext cx="660478" cy="224028"/>
          </a:xfrm>
          <a:prstGeom prst="rect">
            <a:avLst/>
          </a:prstGeom>
          <a:solidFill>
            <a:srgbClr val="F7F9FB"/>
          </a:solidFill>
          <a:ln w="5080">
            <a:solidFill>
              <a:srgbClr val="D3DCE5"/>
            </a:solidFill>
            <a:prstDash val="solid"/>
          </a:ln>
        </p:spPr>
      </p:sp>
      <p:sp>
        <p:nvSpPr>
          <p:cNvPr id="182" name="Text 180"/>
          <p:cNvSpPr txBox="1"/>
          <p:nvPr/>
        </p:nvSpPr>
        <p:spPr>
          <a:xfrm>
            <a:off x="4521356"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58.8%</a:t>
            </a:r>
            <a:endParaRPr lang="en-US" sz="760" dirty="0"/>
          </a:p>
        </p:txBody>
      </p:sp>
      <p:sp>
        <p:nvSpPr>
          <p:cNvPr id="183" name="Shape 181"/>
          <p:cNvSpPr/>
          <p:nvPr/>
        </p:nvSpPr>
        <p:spPr>
          <a:xfrm>
            <a:off x="5181834" y="2674620"/>
            <a:ext cx="660478" cy="224028"/>
          </a:xfrm>
          <a:prstGeom prst="rect">
            <a:avLst/>
          </a:prstGeom>
          <a:solidFill>
            <a:srgbClr val="F7F9FB"/>
          </a:solidFill>
          <a:ln w="5080">
            <a:solidFill>
              <a:srgbClr val="D3DCE5"/>
            </a:solidFill>
            <a:prstDash val="solid"/>
          </a:ln>
        </p:spPr>
      </p:sp>
      <p:sp>
        <p:nvSpPr>
          <p:cNvPr id="184" name="Text 182"/>
          <p:cNvSpPr txBox="1"/>
          <p:nvPr/>
        </p:nvSpPr>
        <p:spPr>
          <a:xfrm>
            <a:off x="5181834"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66.7%</a:t>
            </a:r>
            <a:endParaRPr lang="en-US" sz="760" dirty="0"/>
          </a:p>
        </p:txBody>
      </p:sp>
      <p:sp>
        <p:nvSpPr>
          <p:cNvPr id="185" name="Shape 183"/>
          <p:cNvSpPr/>
          <p:nvPr/>
        </p:nvSpPr>
        <p:spPr>
          <a:xfrm>
            <a:off x="5842313" y="2674620"/>
            <a:ext cx="660478" cy="224028"/>
          </a:xfrm>
          <a:prstGeom prst="rect">
            <a:avLst/>
          </a:prstGeom>
          <a:solidFill>
            <a:srgbClr val="F7F9FB"/>
          </a:solidFill>
          <a:ln w="5080">
            <a:solidFill>
              <a:srgbClr val="D3DCE5"/>
            </a:solidFill>
            <a:prstDash val="solid"/>
          </a:ln>
        </p:spPr>
      </p:sp>
      <p:sp>
        <p:nvSpPr>
          <p:cNvPr id="186" name="Text 184"/>
          <p:cNvSpPr txBox="1"/>
          <p:nvPr/>
        </p:nvSpPr>
        <p:spPr>
          <a:xfrm>
            <a:off x="5842313"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68.0%</a:t>
            </a:r>
            <a:endParaRPr lang="en-US" sz="760" dirty="0"/>
          </a:p>
        </p:txBody>
      </p:sp>
      <p:sp>
        <p:nvSpPr>
          <p:cNvPr id="187" name="Shape 185"/>
          <p:cNvSpPr/>
          <p:nvPr/>
        </p:nvSpPr>
        <p:spPr>
          <a:xfrm>
            <a:off x="6502791" y="2674620"/>
            <a:ext cx="660478" cy="224028"/>
          </a:xfrm>
          <a:prstGeom prst="rect">
            <a:avLst/>
          </a:prstGeom>
          <a:solidFill>
            <a:srgbClr val="F7F9FB"/>
          </a:solidFill>
          <a:ln w="5080">
            <a:solidFill>
              <a:srgbClr val="D3DCE5"/>
            </a:solidFill>
            <a:prstDash val="solid"/>
          </a:ln>
        </p:spPr>
      </p:sp>
      <p:sp>
        <p:nvSpPr>
          <p:cNvPr id="188" name="Text 186"/>
          <p:cNvSpPr txBox="1"/>
          <p:nvPr/>
        </p:nvSpPr>
        <p:spPr>
          <a:xfrm>
            <a:off x="6502791"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68.8%</a:t>
            </a:r>
            <a:endParaRPr lang="en-US" sz="760" dirty="0"/>
          </a:p>
        </p:txBody>
      </p:sp>
      <p:sp>
        <p:nvSpPr>
          <p:cNvPr id="189" name="Shape 187"/>
          <p:cNvSpPr/>
          <p:nvPr/>
        </p:nvSpPr>
        <p:spPr>
          <a:xfrm>
            <a:off x="7163269" y="2674620"/>
            <a:ext cx="660478" cy="224028"/>
          </a:xfrm>
          <a:prstGeom prst="rect">
            <a:avLst/>
          </a:prstGeom>
          <a:solidFill>
            <a:srgbClr val="F7F9FB"/>
          </a:solidFill>
          <a:ln w="5080">
            <a:solidFill>
              <a:srgbClr val="D3DCE5"/>
            </a:solidFill>
            <a:prstDash val="solid"/>
          </a:ln>
        </p:spPr>
      </p:sp>
      <p:sp>
        <p:nvSpPr>
          <p:cNvPr id="190" name="Text 188"/>
          <p:cNvSpPr txBox="1"/>
          <p:nvPr/>
        </p:nvSpPr>
        <p:spPr>
          <a:xfrm>
            <a:off x="7163269"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68.5%</a:t>
            </a:r>
            <a:endParaRPr lang="en-US" sz="760" dirty="0"/>
          </a:p>
        </p:txBody>
      </p:sp>
      <p:sp>
        <p:nvSpPr>
          <p:cNvPr id="191" name="Shape 189"/>
          <p:cNvSpPr/>
          <p:nvPr/>
        </p:nvSpPr>
        <p:spPr>
          <a:xfrm>
            <a:off x="7823747" y="2674620"/>
            <a:ext cx="660478" cy="224028"/>
          </a:xfrm>
          <a:prstGeom prst="rect">
            <a:avLst/>
          </a:prstGeom>
          <a:solidFill>
            <a:srgbClr val="F7F9FB"/>
          </a:solidFill>
          <a:ln w="5080">
            <a:solidFill>
              <a:srgbClr val="D3DCE5"/>
            </a:solidFill>
            <a:prstDash val="solid"/>
          </a:ln>
        </p:spPr>
      </p:sp>
      <p:sp>
        <p:nvSpPr>
          <p:cNvPr id="192" name="Text 190"/>
          <p:cNvSpPr txBox="1"/>
          <p:nvPr/>
        </p:nvSpPr>
        <p:spPr>
          <a:xfrm>
            <a:off x="7823747"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68.2%</a:t>
            </a:r>
            <a:endParaRPr lang="en-US" sz="760" dirty="0"/>
          </a:p>
        </p:txBody>
      </p:sp>
      <p:sp>
        <p:nvSpPr>
          <p:cNvPr id="193" name="Shape 191"/>
          <p:cNvSpPr/>
          <p:nvPr/>
        </p:nvSpPr>
        <p:spPr>
          <a:xfrm>
            <a:off x="8484225" y="2674620"/>
            <a:ext cx="660478" cy="224028"/>
          </a:xfrm>
          <a:prstGeom prst="rect">
            <a:avLst/>
          </a:prstGeom>
          <a:solidFill>
            <a:srgbClr val="F7F9FB"/>
          </a:solidFill>
          <a:ln w="5080">
            <a:solidFill>
              <a:srgbClr val="D3DCE5"/>
            </a:solidFill>
            <a:prstDash val="solid"/>
          </a:ln>
        </p:spPr>
      </p:sp>
      <p:sp>
        <p:nvSpPr>
          <p:cNvPr id="194" name="Text 192"/>
          <p:cNvSpPr txBox="1"/>
          <p:nvPr/>
        </p:nvSpPr>
        <p:spPr>
          <a:xfrm>
            <a:off x="8484225"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68.9%</a:t>
            </a:r>
            <a:endParaRPr lang="en-US" sz="760" dirty="0"/>
          </a:p>
        </p:txBody>
      </p:sp>
      <p:sp>
        <p:nvSpPr>
          <p:cNvPr id="195" name="Shape 193"/>
          <p:cNvSpPr/>
          <p:nvPr/>
        </p:nvSpPr>
        <p:spPr>
          <a:xfrm>
            <a:off x="9144703" y="2674620"/>
            <a:ext cx="660478" cy="224028"/>
          </a:xfrm>
          <a:prstGeom prst="rect">
            <a:avLst/>
          </a:prstGeom>
          <a:solidFill>
            <a:srgbClr val="F7F9FB"/>
          </a:solidFill>
          <a:ln w="5080">
            <a:solidFill>
              <a:srgbClr val="D3DCE5"/>
            </a:solidFill>
            <a:prstDash val="solid"/>
          </a:ln>
        </p:spPr>
      </p:sp>
      <p:sp>
        <p:nvSpPr>
          <p:cNvPr id="196" name="Text 194"/>
          <p:cNvSpPr txBox="1"/>
          <p:nvPr/>
        </p:nvSpPr>
        <p:spPr>
          <a:xfrm>
            <a:off x="9144703"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69.1%</a:t>
            </a:r>
            <a:endParaRPr lang="en-US" sz="760" dirty="0"/>
          </a:p>
        </p:txBody>
      </p:sp>
      <p:sp>
        <p:nvSpPr>
          <p:cNvPr id="197" name="Shape 195"/>
          <p:cNvSpPr/>
          <p:nvPr/>
        </p:nvSpPr>
        <p:spPr>
          <a:xfrm>
            <a:off x="9805182" y="2674620"/>
            <a:ext cx="660478" cy="224028"/>
          </a:xfrm>
          <a:prstGeom prst="rect">
            <a:avLst/>
          </a:prstGeom>
          <a:solidFill>
            <a:srgbClr val="F7F9FB"/>
          </a:solidFill>
          <a:ln w="5080">
            <a:solidFill>
              <a:srgbClr val="D3DCE5"/>
            </a:solidFill>
            <a:prstDash val="solid"/>
          </a:ln>
        </p:spPr>
      </p:sp>
      <p:sp>
        <p:nvSpPr>
          <p:cNvPr id="198" name="Text 196"/>
          <p:cNvSpPr txBox="1"/>
          <p:nvPr/>
        </p:nvSpPr>
        <p:spPr>
          <a:xfrm>
            <a:off x="9805182"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69.2%</a:t>
            </a:r>
            <a:endParaRPr lang="en-US" sz="760" dirty="0"/>
          </a:p>
        </p:txBody>
      </p:sp>
      <p:sp>
        <p:nvSpPr>
          <p:cNvPr id="199" name="Shape 197"/>
          <p:cNvSpPr/>
          <p:nvPr/>
        </p:nvSpPr>
        <p:spPr>
          <a:xfrm>
            <a:off x="10465660" y="2674620"/>
            <a:ext cx="660478" cy="224028"/>
          </a:xfrm>
          <a:prstGeom prst="rect">
            <a:avLst/>
          </a:prstGeom>
          <a:solidFill>
            <a:srgbClr val="F7F9FB"/>
          </a:solidFill>
          <a:ln w="5080">
            <a:solidFill>
              <a:srgbClr val="D3DCE5"/>
            </a:solidFill>
            <a:prstDash val="solid"/>
          </a:ln>
        </p:spPr>
      </p:sp>
      <p:sp>
        <p:nvSpPr>
          <p:cNvPr id="200" name="Text 198"/>
          <p:cNvSpPr txBox="1"/>
          <p:nvPr/>
        </p:nvSpPr>
        <p:spPr>
          <a:xfrm>
            <a:off x="10465660"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69.2%</a:t>
            </a:r>
            <a:endParaRPr lang="en-US" sz="760" dirty="0"/>
          </a:p>
        </p:txBody>
      </p:sp>
      <p:sp>
        <p:nvSpPr>
          <p:cNvPr id="201" name="Shape 199"/>
          <p:cNvSpPr/>
          <p:nvPr/>
        </p:nvSpPr>
        <p:spPr>
          <a:xfrm>
            <a:off x="11126138" y="2674620"/>
            <a:ext cx="660478" cy="224028"/>
          </a:xfrm>
          <a:prstGeom prst="rect">
            <a:avLst/>
          </a:prstGeom>
          <a:solidFill>
            <a:srgbClr val="F7F9FB"/>
          </a:solidFill>
          <a:ln w="5080">
            <a:solidFill>
              <a:srgbClr val="D3DCE5"/>
            </a:solidFill>
            <a:prstDash val="solid"/>
          </a:ln>
        </p:spPr>
      </p:sp>
      <p:sp>
        <p:nvSpPr>
          <p:cNvPr id="202" name="Text 200"/>
          <p:cNvSpPr txBox="1"/>
          <p:nvPr/>
        </p:nvSpPr>
        <p:spPr>
          <a:xfrm>
            <a:off x="11126138" y="267462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69.1%</a:t>
            </a:r>
            <a:endParaRPr lang="en-US" sz="760" dirty="0"/>
          </a:p>
        </p:txBody>
      </p:sp>
      <p:sp>
        <p:nvSpPr>
          <p:cNvPr id="203" name="Shape 201"/>
          <p:cNvSpPr/>
          <p:nvPr/>
        </p:nvSpPr>
        <p:spPr>
          <a:xfrm>
            <a:off x="411480" y="2898648"/>
            <a:ext cx="2788920" cy="224028"/>
          </a:xfrm>
          <a:prstGeom prst="rect">
            <a:avLst/>
          </a:prstGeom>
          <a:solidFill>
            <a:srgbClr val="FFFFFF"/>
          </a:solidFill>
          <a:ln w="5080">
            <a:solidFill>
              <a:srgbClr val="D3DCE5"/>
            </a:solidFill>
            <a:prstDash val="solid"/>
          </a:ln>
        </p:spPr>
      </p:sp>
      <p:sp>
        <p:nvSpPr>
          <p:cNvPr id="204" name="Text 202"/>
          <p:cNvSpPr txBox="1"/>
          <p:nvPr/>
        </p:nvSpPr>
        <p:spPr>
          <a:xfrm>
            <a:off x="475488" y="2898648"/>
            <a:ext cx="2660904" cy="22402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Depreciation and amortisation</a:t>
            </a:r>
            <a:endParaRPr lang="en-US" sz="780" dirty="0"/>
          </a:p>
        </p:txBody>
      </p:sp>
      <p:sp>
        <p:nvSpPr>
          <p:cNvPr id="205" name="Shape 203"/>
          <p:cNvSpPr/>
          <p:nvPr/>
        </p:nvSpPr>
        <p:spPr>
          <a:xfrm>
            <a:off x="3200400" y="2898648"/>
            <a:ext cx="660478" cy="224028"/>
          </a:xfrm>
          <a:prstGeom prst="rect">
            <a:avLst/>
          </a:prstGeom>
          <a:solidFill>
            <a:srgbClr val="FFFFFF"/>
          </a:solidFill>
          <a:ln w="5080">
            <a:solidFill>
              <a:srgbClr val="D3DCE5"/>
            </a:solidFill>
            <a:prstDash val="solid"/>
          </a:ln>
        </p:spPr>
      </p:sp>
      <p:sp>
        <p:nvSpPr>
          <p:cNvPr id="206" name="Text 204"/>
          <p:cNvSpPr txBox="1"/>
          <p:nvPr/>
        </p:nvSpPr>
        <p:spPr>
          <a:xfrm>
            <a:off x="3200400"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(300)</a:t>
            </a:r>
            <a:endParaRPr lang="en-US" sz="760" dirty="0"/>
          </a:p>
        </p:txBody>
      </p:sp>
      <p:sp>
        <p:nvSpPr>
          <p:cNvPr id="207" name="Shape 205"/>
          <p:cNvSpPr/>
          <p:nvPr/>
        </p:nvSpPr>
        <p:spPr>
          <a:xfrm>
            <a:off x="3860878" y="2898648"/>
            <a:ext cx="660478" cy="224028"/>
          </a:xfrm>
          <a:prstGeom prst="rect">
            <a:avLst/>
          </a:prstGeom>
          <a:solidFill>
            <a:srgbClr val="FFFFFF"/>
          </a:solidFill>
          <a:ln w="5080">
            <a:solidFill>
              <a:srgbClr val="D3DCE5"/>
            </a:solidFill>
            <a:prstDash val="solid"/>
          </a:ln>
        </p:spPr>
      </p:sp>
      <p:sp>
        <p:nvSpPr>
          <p:cNvPr id="208" name="Text 206"/>
          <p:cNvSpPr txBox="1"/>
          <p:nvPr/>
        </p:nvSpPr>
        <p:spPr>
          <a:xfrm>
            <a:off x="3860878"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(330)</a:t>
            </a:r>
            <a:endParaRPr lang="en-US" sz="760" dirty="0"/>
          </a:p>
        </p:txBody>
      </p:sp>
      <p:sp>
        <p:nvSpPr>
          <p:cNvPr id="209" name="Shape 207"/>
          <p:cNvSpPr/>
          <p:nvPr/>
        </p:nvSpPr>
        <p:spPr>
          <a:xfrm>
            <a:off x="4521356" y="2898648"/>
            <a:ext cx="660478" cy="224028"/>
          </a:xfrm>
          <a:prstGeom prst="rect">
            <a:avLst/>
          </a:prstGeom>
          <a:solidFill>
            <a:srgbClr val="FFFFFF"/>
          </a:solidFill>
          <a:ln w="5080">
            <a:solidFill>
              <a:srgbClr val="D3DCE5"/>
            </a:solidFill>
            <a:prstDash val="solid"/>
          </a:ln>
        </p:spPr>
      </p:sp>
      <p:sp>
        <p:nvSpPr>
          <p:cNvPr id="210" name="Text 208"/>
          <p:cNvSpPr txBox="1"/>
          <p:nvPr/>
        </p:nvSpPr>
        <p:spPr>
          <a:xfrm>
            <a:off x="4521356"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(360)</a:t>
            </a:r>
            <a:endParaRPr lang="en-US" sz="760" dirty="0"/>
          </a:p>
        </p:txBody>
      </p:sp>
      <p:sp>
        <p:nvSpPr>
          <p:cNvPr id="211" name="Shape 209"/>
          <p:cNvSpPr/>
          <p:nvPr/>
        </p:nvSpPr>
        <p:spPr>
          <a:xfrm>
            <a:off x="5181834" y="2898648"/>
            <a:ext cx="660478" cy="224028"/>
          </a:xfrm>
          <a:prstGeom prst="rect">
            <a:avLst/>
          </a:prstGeom>
          <a:solidFill>
            <a:srgbClr val="FFFFFF"/>
          </a:solidFill>
          <a:ln w="5080">
            <a:solidFill>
              <a:srgbClr val="D3DCE5"/>
            </a:solidFill>
            <a:prstDash val="solid"/>
          </a:ln>
        </p:spPr>
      </p:sp>
      <p:sp>
        <p:nvSpPr>
          <p:cNvPr id="212" name="Text 210"/>
          <p:cNvSpPr txBox="1"/>
          <p:nvPr/>
        </p:nvSpPr>
        <p:spPr>
          <a:xfrm>
            <a:off x="5181834"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(368)</a:t>
            </a:r>
            <a:endParaRPr lang="en-US" sz="760" dirty="0"/>
          </a:p>
        </p:txBody>
      </p:sp>
      <p:sp>
        <p:nvSpPr>
          <p:cNvPr id="213" name="Shape 211"/>
          <p:cNvSpPr/>
          <p:nvPr/>
        </p:nvSpPr>
        <p:spPr>
          <a:xfrm>
            <a:off x="5842313" y="2898648"/>
            <a:ext cx="660478" cy="224028"/>
          </a:xfrm>
          <a:prstGeom prst="rect">
            <a:avLst/>
          </a:prstGeom>
          <a:solidFill>
            <a:srgbClr val="FFFFFF"/>
          </a:solidFill>
          <a:ln w="5080">
            <a:solidFill>
              <a:srgbClr val="D3DCE5"/>
            </a:solidFill>
            <a:prstDash val="solid"/>
          </a:ln>
        </p:spPr>
      </p:sp>
      <p:sp>
        <p:nvSpPr>
          <p:cNvPr id="214" name="Text 212"/>
          <p:cNvSpPr txBox="1"/>
          <p:nvPr/>
        </p:nvSpPr>
        <p:spPr>
          <a:xfrm>
            <a:off x="5842313"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(401)</a:t>
            </a:r>
            <a:endParaRPr lang="en-US" sz="760" dirty="0"/>
          </a:p>
        </p:txBody>
      </p:sp>
      <p:sp>
        <p:nvSpPr>
          <p:cNvPr id="215" name="Shape 213"/>
          <p:cNvSpPr/>
          <p:nvPr/>
        </p:nvSpPr>
        <p:spPr>
          <a:xfrm>
            <a:off x="6502791" y="2898648"/>
            <a:ext cx="660478" cy="224028"/>
          </a:xfrm>
          <a:prstGeom prst="rect">
            <a:avLst/>
          </a:prstGeom>
          <a:solidFill>
            <a:srgbClr val="FFFFFF"/>
          </a:solidFill>
          <a:ln w="5080">
            <a:solidFill>
              <a:srgbClr val="D3DCE5"/>
            </a:solidFill>
            <a:prstDash val="solid"/>
          </a:ln>
        </p:spPr>
      </p:sp>
      <p:sp>
        <p:nvSpPr>
          <p:cNvPr id="216" name="Text 214"/>
          <p:cNvSpPr txBox="1"/>
          <p:nvPr/>
        </p:nvSpPr>
        <p:spPr>
          <a:xfrm>
            <a:off x="6502791"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(456)</a:t>
            </a:r>
            <a:endParaRPr lang="en-US" sz="760" dirty="0"/>
          </a:p>
        </p:txBody>
      </p:sp>
      <p:sp>
        <p:nvSpPr>
          <p:cNvPr id="217" name="Shape 215"/>
          <p:cNvSpPr/>
          <p:nvPr/>
        </p:nvSpPr>
        <p:spPr>
          <a:xfrm>
            <a:off x="7163269" y="2898648"/>
            <a:ext cx="660478" cy="224028"/>
          </a:xfrm>
          <a:prstGeom prst="rect">
            <a:avLst/>
          </a:prstGeom>
          <a:solidFill>
            <a:srgbClr val="FFFFFF"/>
          </a:solidFill>
          <a:ln w="5080">
            <a:solidFill>
              <a:srgbClr val="D3DCE5"/>
            </a:solidFill>
            <a:prstDash val="solid"/>
          </a:ln>
        </p:spPr>
      </p:sp>
      <p:sp>
        <p:nvSpPr>
          <p:cNvPr id="218" name="Text 216"/>
          <p:cNvSpPr txBox="1"/>
          <p:nvPr/>
        </p:nvSpPr>
        <p:spPr>
          <a:xfrm>
            <a:off x="7163269"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(521)</a:t>
            </a:r>
            <a:endParaRPr lang="en-US" sz="760" dirty="0"/>
          </a:p>
        </p:txBody>
      </p:sp>
      <p:sp>
        <p:nvSpPr>
          <p:cNvPr id="219" name="Shape 217"/>
          <p:cNvSpPr/>
          <p:nvPr/>
        </p:nvSpPr>
        <p:spPr>
          <a:xfrm>
            <a:off x="7823747" y="2898648"/>
            <a:ext cx="660478" cy="224028"/>
          </a:xfrm>
          <a:prstGeom prst="rect">
            <a:avLst/>
          </a:prstGeom>
          <a:solidFill>
            <a:srgbClr val="FFFFFF"/>
          </a:solidFill>
          <a:ln w="5080">
            <a:solidFill>
              <a:srgbClr val="D3DCE5"/>
            </a:solidFill>
            <a:prstDash val="solid"/>
          </a:ln>
        </p:spPr>
      </p:sp>
      <p:sp>
        <p:nvSpPr>
          <p:cNvPr id="220" name="Text 218"/>
          <p:cNvSpPr txBox="1"/>
          <p:nvPr/>
        </p:nvSpPr>
        <p:spPr>
          <a:xfrm>
            <a:off x="7823747"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(548)</a:t>
            </a:r>
            <a:endParaRPr lang="en-US" sz="760" dirty="0"/>
          </a:p>
        </p:txBody>
      </p:sp>
      <p:sp>
        <p:nvSpPr>
          <p:cNvPr id="221" name="Shape 219"/>
          <p:cNvSpPr/>
          <p:nvPr/>
        </p:nvSpPr>
        <p:spPr>
          <a:xfrm>
            <a:off x="8484225" y="2898648"/>
            <a:ext cx="660478" cy="224028"/>
          </a:xfrm>
          <a:prstGeom prst="rect">
            <a:avLst/>
          </a:prstGeom>
          <a:solidFill>
            <a:srgbClr val="FFFFFF"/>
          </a:solidFill>
          <a:ln w="5080">
            <a:solidFill>
              <a:srgbClr val="D3DCE5"/>
            </a:solidFill>
            <a:prstDash val="solid"/>
          </a:ln>
        </p:spPr>
      </p:sp>
      <p:sp>
        <p:nvSpPr>
          <p:cNvPr id="222" name="Text 220"/>
          <p:cNvSpPr txBox="1"/>
          <p:nvPr/>
        </p:nvSpPr>
        <p:spPr>
          <a:xfrm>
            <a:off x="8484225"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(550)</a:t>
            </a:r>
            <a:endParaRPr lang="en-US" sz="760" dirty="0"/>
          </a:p>
        </p:txBody>
      </p:sp>
      <p:sp>
        <p:nvSpPr>
          <p:cNvPr id="223" name="Shape 221"/>
          <p:cNvSpPr/>
          <p:nvPr/>
        </p:nvSpPr>
        <p:spPr>
          <a:xfrm>
            <a:off x="9144703" y="2898648"/>
            <a:ext cx="660478" cy="224028"/>
          </a:xfrm>
          <a:prstGeom prst="rect">
            <a:avLst/>
          </a:prstGeom>
          <a:solidFill>
            <a:srgbClr val="FFFFFF"/>
          </a:solidFill>
          <a:ln w="5080">
            <a:solidFill>
              <a:srgbClr val="D3DCE5"/>
            </a:solidFill>
            <a:prstDash val="solid"/>
          </a:ln>
        </p:spPr>
      </p:sp>
      <p:sp>
        <p:nvSpPr>
          <p:cNvPr id="224" name="Text 222"/>
          <p:cNvSpPr txBox="1"/>
          <p:nvPr/>
        </p:nvSpPr>
        <p:spPr>
          <a:xfrm>
            <a:off x="9144703"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(546)</a:t>
            </a:r>
            <a:endParaRPr lang="en-US" sz="760" dirty="0"/>
          </a:p>
        </p:txBody>
      </p:sp>
      <p:sp>
        <p:nvSpPr>
          <p:cNvPr id="225" name="Shape 223"/>
          <p:cNvSpPr/>
          <p:nvPr/>
        </p:nvSpPr>
        <p:spPr>
          <a:xfrm>
            <a:off x="9805182" y="2898648"/>
            <a:ext cx="660478" cy="224028"/>
          </a:xfrm>
          <a:prstGeom prst="rect">
            <a:avLst/>
          </a:prstGeom>
          <a:solidFill>
            <a:srgbClr val="FFFFFF"/>
          </a:solidFill>
          <a:ln w="5080">
            <a:solidFill>
              <a:srgbClr val="D3DCE5"/>
            </a:solidFill>
            <a:prstDash val="solid"/>
          </a:ln>
        </p:spPr>
      </p:sp>
      <p:sp>
        <p:nvSpPr>
          <p:cNvPr id="226" name="Text 224"/>
          <p:cNvSpPr txBox="1"/>
          <p:nvPr/>
        </p:nvSpPr>
        <p:spPr>
          <a:xfrm>
            <a:off x="9805182"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(533)</a:t>
            </a:r>
            <a:endParaRPr lang="en-US" sz="760" dirty="0"/>
          </a:p>
        </p:txBody>
      </p:sp>
      <p:sp>
        <p:nvSpPr>
          <p:cNvPr id="227" name="Shape 225"/>
          <p:cNvSpPr/>
          <p:nvPr/>
        </p:nvSpPr>
        <p:spPr>
          <a:xfrm>
            <a:off x="10465660" y="2898648"/>
            <a:ext cx="660478" cy="224028"/>
          </a:xfrm>
          <a:prstGeom prst="rect">
            <a:avLst/>
          </a:prstGeom>
          <a:solidFill>
            <a:srgbClr val="FFFFFF"/>
          </a:solidFill>
          <a:ln w="5080">
            <a:solidFill>
              <a:srgbClr val="D3DCE5"/>
            </a:solidFill>
            <a:prstDash val="solid"/>
          </a:ln>
        </p:spPr>
      </p:sp>
      <p:sp>
        <p:nvSpPr>
          <p:cNvPr id="228" name="Text 226"/>
          <p:cNvSpPr txBox="1"/>
          <p:nvPr/>
        </p:nvSpPr>
        <p:spPr>
          <a:xfrm>
            <a:off x="10465660"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(516)</a:t>
            </a:r>
            <a:endParaRPr lang="en-US" sz="760" dirty="0"/>
          </a:p>
        </p:txBody>
      </p:sp>
      <p:sp>
        <p:nvSpPr>
          <p:cNvPr id="229" name="Shape 227"/>
          <p:cNvSpPr/>
          <p:nvPr/>
        </p:nvSpPr>
        <p:spPr>
          <a:xfrm>
            <a:off x="11126138" y="2898648"/>
            <a:ext cx="660478" cy="224028"/>
          </a:xfrm>
          <a:prstGeom prst="rect">
            <a:avLst/>
          </a:prstGeom>
          <a:solidFill>
            <a:srgbClr val="FFFFFF"/>
          </a:solidFill>
          <a:ln w="5080">
            <a:solidFill>
              <a:srgbClr val="D3DCE5"/>
            </a:solidFill>
            <a:prstDash val="solid"/>
          </a:ln>
        </p:spPr>
      </p:sp>
      <p:sp>
        <p:nvSpPr>
          <p:cNvPr id="230" name="Text 228"/>
          <p:cNvSpPr txBox="1"/>
          <p:nvPr/>
        </p:nvSpPr>
        <p:spPr>
          <a:xfrm>
            <a:off x="11126138" y="2898648"/>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(500)</a:t>
            </a:r>
            <a:endParaRPr lang="en-US" sz="760" dirty="0"/>
          </a:p>
        </p:txBody>
      </p:sp>
      <p:sp>
        <p:nvSpPr>
          <p:cNvPr id="231" name="Shape 229"/>
          <p:cNvSpPr/>
          <p:nvPr/>
        </p:nvSpPr>
        <p:spPr>
          <a:xfrm>
            <a:off x="411480" y="3122676"/>
            <a:ext cx="2788920" cy="224028"/>
          </a:xfrm>
          <a:prstGeom prst="rect">
            <a:avLst/>
          </a:prstGeom>
          <a:solidFill>
            <a:srgbClr val="F7F9FB"/>
          </a:solidFill>
          <a:ln w="5080">
            <a:solidFill>
              <a:srgbClr val="D3DCE5"/>
            </a:solidFill>
            <a:prstDash val="solid"/>
          </a:ln>
        </p:spPr>
      </p:sp>
      <p:sp>
        <p:nvSpPr>
          <p:cNvPr id="232" name="Text 230"/>
          <p:cNvSpPr txBox="1"/>
          <p:nvPr/>
        </p:nvSpPr>
        <p:spPr>
          <a:xfrm>
            <a:off x="475488" y="3122676"/>
            <a:ext cx="2660904" cy="224028"/>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EBIT</a:t>
            </a:r>
            <a:endParaRPr lang="en-US" sz="780" dirty="0"/>
          </a:p>
        </p:txBody>
      </p:sp>
      <p:sp>
        <p:nvSpPr>
          <p:cNvPr id="233" name="Shape 231"/>
          <p:cNvSpPr/>
          <p:nvPr/>
        </p:nvSpPr>
        <p:spPr>
          <a:xfrm>
            <a:off x="3200400" y="3122676"/>
            <a:ext cx="660478" cy="224028"/>
          </a:xfrm>
          <a:prstGeom prst="rect">
            <a:avLst/>
          </a:prstGeom>
          <a:solidFill>
            <a:srgbClr val="F7F9FB"/>
          </a:solidFill>
          <a:ln w="5080">
            <a:solidFill>
              <a:srgbClr val="D3DCE5"/>
            </a:solidFill>
            <a:prstDash val="solid"/>
          </a:ln>
        </p:spPr>
      </p:sp>
      <p:sp>
        <p:nvSpPr>
          <p:cNvPr id="234" name="Text 232"/>
          <p:cNvSpPr txBox="1"/>
          <p:nvPr/>
        </p:nvSpPr>
        <p:spPr>
          <a:xfrm>
            <a:off x="3200400"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238</a:t>
            </a:r>
            <a:endParaRPr lang="en-US" sz="760" dirty="0"/>
          </a:p>
        </p:txBody>
      </p:sp>
      <p:sp>
        <p:nvSpPr>
          <p:cNvPr id="235" name="Shape 233"/>
          <p:cNvSpPr/>
          <p:nvPr/>
        </p:nvSpPr>
        <p:spPr>
          <a:xfrm>
            <a:off x="3860878" y="3122676"/>
            <a:ext cx="660478" cy="224028"/>
          </a:xfrm>
          <a:prstGeom prst="rect">
            <a:avLst/>
          </a:prstGeom>
          <a:solidFill>
            <a:srgbClr val="F7F9FB"/>
          </a:solidFill>
          <a:ln w="5080">
            <a:solidFill>
              <a:srgbClr val="D3DCE5"/>
            </a:solidFill>
            <a:prstDash val="solid"/>
          </a:ln>
        </p:spPr>
      </p:sp>
      <p:sp>
        <p:nvSpPr>
          <p:cNvPr id="236" name="Text 234"/>
          <p:cNvSpPr txBox="1"/>
          <p:nvPr/>
        </p:nvSpPr>
        <p:spPr>
          <a:xfrm>
            <a:off x="3860878" y="3122676"/>
            <a:ext cx="614758" cy="224028"/>
          </a:xfrm>
          <a:prstGeom prst="rect">
            <a:avLst/>
          </a:prstGeom>
          <a:noFill/>
          <a:ln/>
        </p:spPr>
        <p:txBody>
          <a:bodyPr wrap="square" lIns="0" tIns="0" rIns="0" bIns="0" rtlCol="0" anchor="ctr"/>
          <a:lstStyle/>
          <a:p>
            <a:pPr algn="r" indent="0" marL="0">
              <a:buNone/>
            </a:pPr>
            <a:r>
              <a:rPr lang="en-US" sz="760" b="1" dirty="0">
                <a:solidFill>
                  <a:srgbClr val="A3282C"/>
                </a:solidFill>
                <a:latin typeface="Calibri" pitchFamily="34" charset="0"/>
                <a:ea typeface="Calibri" pitchFamily="34" charset="-122"/>
                <a:cs typeface="Calibri" pitchFamily="34" charset="-120"/>
              </a:rPr>
              <a:t>(233)</a:t>
            </a:r>
            <a:endParaRPr lang="en-US" sz="760" dirty="0"/>
          </a:p>
        </p:txBody>
      </p:sp>
      <p:sp>
        <p:nvSpPr>
          <p:cNvPr id="237" name="Shape 235"/>
          <p:cNvSpPr/>
          <p:nvPr/>
        </p:nvSpPr>
        <p:spPr>
          <a:xfrm>
            <a:off x="4521356" y="3122676"/>
            <a:ext cx="660478" cy="224028"/>
          </a:xfrm>
          <a:prstGeom prst="rect">
            <a:avLst/>
          </a:prstGeom>
          <a:solidFill>
            <a:srgbClr val="F7F9FB"/>
          </a:solidFill>
          <a:ln w="5080">
            <a:solidFill>
              <a:srgbClr val="D3DCE5"/>
            </a:solidFill>
            <a:prstDash val="solid"/>
          </a:ln>
        </p:spPr>
      </p:sp>
      <p:sp>
        <p:nvSpPr>
          <p:cNvPr id="238" name="Text 236"/>
          <p:cNvSpPr txBox="1"/>
          <p:nvPr/>
        </p:nvSpPr>
        <p:spPr>
          <a:xfrm>
            <a:off x="4521356"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777</a:t>
            </a:r>
            <a:endParaRPr lang="en-US" sz="760" dirty="0"/>
          </a:p>
        </p:txBody>
      </p:sp>
      <p:sp>
        <p:nvSpPr>
          <p:cNvPr id="239" name="Shape 237"/>
          <p:cNvSpPr/>
          <p:nvPr/>
        </p:nvSpPr>
        <p:spPr>
          <a:xfrm>
            <a:off x="5181834" y="3122676"/>
            <a:ext cx="660478" cy="224028"/>
          </a:xfrm>
          <a:prstGeom prst="rect">
            <a:avLst/>
          </a:prstGeom>
          <a:solidFill>
            <a:srgbClr val="F7F9FB"/>
          </a:solidFill>
          <a:ln w="5080">
            <a:solidFill>
              <a:srgbClr val="D3DCE5"/>
            </a:solidFill>
            <a:prstDash val="solid"/>
          </a:ln>
        </p:spPr>
      </p:sp>
      <p:sp>
        <p:nvSpPr>
          <p:cNvPr id="240" name="Text 238"/>
          <p:cNvSpPr txBox="1"/>
          <p:nvPr/>
        </p:nvSpPr>
        <p:spPr>
          <a:xfrm>
            <a:off x="5181834"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1,363</a:t>
            </a:r>
            <a:endParaRPr lang="en-US" sz="760" dirty="0"/>
          </a:p>
        </p:txBody>
      </p:sp>
      <p:sp>
        <p:nvSpPr>
          <p:cNvPr id="241" name="Shape 239"/>
          <p:cNvSpPr/>
          <p:nvPr/>
        </p:nvSpPr>
        <p:spPr>
          <a:xfrm>
            <a:off x="5842313" y="3122676"/>
            <a:ext cx="660478" cy="224028"/>
          </a:xfrm>
          <a:prstGeom prst="rect">
            <a:avLst/>
          </a:prstGeom>
          <a:solidFill>
            <a:srgbClr val="F7F9FB"/>
          </a:solidFill>
          <a:ln w="5080">
            <a:solidFill>
              <a:srgbClr val="D3DCE5"/>
            </a:solidFill>
            <a:prstDash val="solid"/>
          </a:ln>
        </p:spPr>
      </p:sp>
      <p:sp>
        <p:nvSpPr>
          <p:cNvPr id="242" name="Text 240"/>
          <p:cNvSpPr txBox="1"/>
          <p:nvPr/>
        </p:nvSpPr>
        <p:spPr>
          <a:xfrm>
            <a:off x="5842313"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1,506</a:t>
            </a:r>
            <a:endParaRPr lang="en-US" sz="760" dirty="0"/>
          </a:p>
        </p:txBody>
      </p:sp>
      <p:sp>
        <p:nvSpPr>
          <p:cNvPr id="243" name="Shape 241"/>
          <p:cNvSpPr/>
          <p:nvPr/>
        </p:nvSpPr>
        <p:spPr>
          <a:xfrm>
            <a:off x="6502791" y="3122676"/>
            <a:ext cx="660478" cy="224028"/>
          </a:xfrm>
          <a:prstGeom prst="rect">
            <a:avLst/>
          </a:prstGeom>
          <a:solidFill>
            <a:srgbClr val="F7F9FB"/>
          </a:solidFill>
          <a:ln w="5080">
            <a:solidFill>
              <a:srgbClr val="D3DCE5"/>
            </a:solidFill>
            <a:prstDash val="solid"/>
          </a:ln>
        </p:spPr>
      </p:sp>
      <p:sp>
        <p:nvSpPr>
          <p:cNvPr id="244" name="Text 242"/>
          <p:cNvSpPr txBox="1"/>
          <p:nvPr/>
        </p:nvSpPr>
        <p:spPr>
          <a:xfrm>
            <a:off x="6502791"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1,518</a:t>
            </a:r>
            <a:endParaRPr lang="en-US" sz="760" dirty="0"/>
          </a:p>
        </p:txBody>
      </p:sp>
      <p:sp>
        <p:nvSpPr>
          <p:cNvPr id="245" name="Shape 243"/>
          <p:cNvSpPr/>
          <p:nvPr/>
        </p:nvSpPr>
        <p:spPr>
          <a:xfrm>
            <a:off x="7163269" y="3122676"/>
            <a:ext cx="660478" cy="224028"/>
          </a:xfrm>
          <a:prstGeom prst="rect">
            <a:avLst/>
          </a:prstGeom>
          <a:solidFill>
            <a:srgbClr val="F7F9FB"/>
          </a:solidFill>
          <a:ln w="5080">
            <a:solidFill>
              <a:srgbClr val="D3DCE5"/>
            </a:solidFill>
            <a:prstDash val="solid"/>
          </a:ln>
        </p:spPr>
      </p:sp>
      <p:sp>
        <p:nvSpPr>
          <p:cNvPr id="246" name="Text 244"/>
          <p:cNvSpPr txBox="1"/>
          <p:nvPr/>
        </p:nvSpPr>
        <p:spPr>
          <a:xfrm>
            <a:off x="7163269"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1,785</a:t>
            </a:r>
            <a:endParaRPr lang="en-US" sz="760" dirty="0"/>
          </a:p>
        </p:txBody>
      </p:sp>
      <p:sp>
        <p:nvSpPr>
          <p:cNvPr id="247" name="Shape 245"/>
          <p:cNvSpPr/>
          <p:nvPr/>
        </p:nvSpPr>
        <p:spPr>
          <a:xfrm>
            <a:off x="7823747" y="3122676"/>
            <a:ext cx="660478" cy="224028"/>
          </a:xfrm>
          <a:prstGeom prst="rect">
            <a:avLst/>
          </a:prstGeom>
          <a:solidFill>
            <a:srgbClr val="F7F9FB"/>
          </a:solidFill>
          <a:ln w="5080">
            <a:solidFill>
              <a:srgbClr val="D3DCE5"/>
            </a:solidFill>
            <a:prstDash val="solid"/>
          </a:ln>
        </p:spPr>
      </p:sp>
      <p:sp>
        <p:nvSpPr>
          <p:cNvPr id="248" name="Text 246"/>
          <p:cNvSpPr txBox="1"/>
          <p:nvPr/>
        </p:nvSpPr>
        <p:spPr>
          <a:xfrm>
            <a:off x="7823747"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2,139</a:t>
            </a:r>
            <a:endParaRPr lang="en-US" sz="760" dirty="0"/>
          </a:p>
        </p:txBody>
      </p:sp>
      <p:sp>
        <p:nvSpPr>
          <p:cNvPr id="249" name="Shape 247"/>
          <p:cNvSpPr/>
          <p:nvPr/>
        </p:nvSpPr>
        <p:spPr>
          <a:xfrm>
            <a:off x="8484225" y="3122676"/>
            <a:ext cx="660478" cy="224028"/>
          </a:xfrm>
          <a:prstGeom prst="rect">
            <a:avLst/>
          </a:prstGeom>
          <a:solidFill>
            <a:srgbClr val="F7F9FB"/>
          </a:solidFill>
          <a:ln w="5080">
            <a:solidFill>
              <a:srgbClr val="D3DCE5"/>
            </a:solidFill>
            <a:prstDash val="solid"/>
          </a:ln>
        </p:spPr>
      </p:sp>
      <p:sp>
        <p:nvSpPr>
          <p:cNvPr id="250" name="Text 248"/>
          <p:cNvSpPr txBox="1"/>
          <p:nvPr/>
        </p:nvSpPr>
        <p:spPr>
          <a:xfrm>
            <a:off x="8484225"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2,816</a:t>
            </a:r>
            <a:endParaRPr lang="en-US" sz="760" dirty="0"/>
          </a:p>
        </p:txBody>
      </p:sp>
      <p:sp>
        <p:nvSpPr>
          <p:cNvPr id="251" name="Shape 249"/>
          <p:cNvSpPr/>
          <p:nvPr/>
        </p:nvSpPr>
        <p:spPr>
          <a:xfrm>
            <a:off x="9144703" y="3122676"/>
            <a:ext cx="660478" cy="224028"/>
          </a:xfrm>
          <a:prstGeom prst="rect">
            <a:avLst/>
          </a:prstGeom>
          <a:solidFill>
            <a:srgbClr val="F7F9FB"/>
          </a:solidFill>
          <a:ln w="5080">
            <a:solidFill>
              <a:srgbClr val="D3DCE5"/>
            </a:solidFill>
            <a:prstDash val="solid"/>
          </a:ln>
        </p:spPr>
      </p:sp>
      <p:sp>
        <p:nvSpPr>
          <p:cNvPr id="252" name="Text 250"/>
          <p:cNvSpPr txBox="1"/>
          <p:nvPr/>
        </p:nvSpPr>
        <p:spPr>
          <a:xfrm>
            <a:off x="9144703"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3,296</a:t>
            </a:r>
            <a:endParaRPr lang="en-US" sz="760" dirty="0"/>
          </a:p>
        </p:txBody>
      </p:sp>
      <p:sp>
        <p:nvSpPr>
          <p:cNvPr id="253" name="Shape 251"/>
          <p:cNvSpPr/>
          <p:nvPr/>
        </p:nvSpPr>
        <p:spPr>
          <a:xfrm>
            <a:off x="9805182" y="3122676"/>
            <a:ext cx="660478" cy="224028"/>
          </a:xfrm>
          <a:prstGeom prst="rect">
            <a:avLst/>
          </a:prstGeom>
          <a:solidFill>
            <a:srgbClr val="F7F9FB"/>
          </a:solidFill>
          <a:ln w="5080">
            <a:solidFill>
              <a:srgbClr val="D3DCE5"/>
            </a:solidFill>
            <a:prstDash val="solid"/>
          </a:ln>
        </p:spPr>
      </p:sp>
      <p:sp>
        <p:nvSpPr>
          <p:cNvPr id="254" name="Text 252"/>
          <p:cNvSpPr txBox="1"/>
          <p:nvPr/>
        </p:nvSpPr>
        <p:spPr>
          <a:xfrm>
            <a:off x="9805182"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3,491</a:t>
            </a:r>
            <a:endParaRPr lang="en-US" sz="760" dirty="0"/>
          </a:p>
        </p:txBody>
      </p:sp>
      <p:sp>
        <p:nvSpPr>
          <p:cNvPr id="255" name="Shape 253"/>
          <p:cNvSpPr/>
          <p:nvPr/>
        </p:nvSpPr>
        <p:spPr>
          <a:xfrm>
            <a:off x="10465660" y="3122676"/>
            <a:ext cx="660478" cy="224028"/>
          </a:xfrm>
          <a:prstGeom prst="rect">
            <a:avLst/>
          </a:prstGeom>
          <a:solidFill>
            <a:srgbClr val="F7F9FB"/>
          </a:solidFill>
          <a:ln w="5080">
            <a:solidFill>
              <a:srgbClr val="D3DCE5"/>
            </a:solidFill>
            <a:prstDash val="solid"/>
          </a:ln>
        </p:spPr>
      </p:sp>
      <p:sp>
        <p:nvSpPr>
          <p:cNvPr id="256" name="Text 254"/>
          <p:cNvSpPr txBox="1"/>
          <p:nvPr/>
        </p:nvSpPr>
        <p:spPr>
          <a:xfrm>
            <a:off x="10465660"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3,572</a:t>
            </a:r>
            <a:endParaRPr lang="en-US" sz="760" dirty="0"/>
          </a:p>
        </p:txBody>
      </p:sp>
      <p:sp>
        <p:nvSpPr>
          <p:cNvPr id="257" name="Shape 255"/>
          <p:cNvSpPr/>
          <p:nvPr/>
        </p:nvSpPr>
        <p:spPr>
          <a:xfrm>
            <a:off x="11126138" y="3122676"/>
            <a:ext cx="660478" cy="224028"/>
          </a:xfrm>
          <a:prstGeom prst="rect">
            <a:avLst/>
          </a:prstGeom>
          <a:solidFill>
            <a:srgbClr val="F7F9FB"/>
          </a:solidFill>
          <a:ln w="5080">
            <a:solidFill>
              <a:srgbClr val="D3DCE5"/>
            </a:solidFill>
            <a:prstDash val="solid"/>
          </a:ln>
        </p:spPr>
      </p:sp>
      <p:sp>
        <p:nvSpPr>
          <p:cNvPr id="258" name="Text 256"/>
          <p:cNvSpPr txBox="1"/>
          <p:nvPr/>
        </p:nvSpPr>
        <p:spPr>
          <a:xfrm>
            <a:off x="11126138" y="3122676"/>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3,586</a:t>
            </a:r>
            <a:endParaRPr lang="en-US" sz="760" dirty="0"/>
          </a:p>
        </p:txBody>
      </p:sp>
      <p:sp>
        <p:nvSpPr>
          <p:cNvPr id="259" name="Shape 257"/>
          <p:cNvSpPr/>
          <p:nvPr/>
        </p:nvSpPr>
        <p:spPr>
          <a:xfrm>
            <a:off x="411480" y="3346704"/>
            <a:ext cx="2788920" cy="224028"/>
          </a:xfrm>
          <a:prstGeom prst="rect">
            <a:avLst/>
          </a:prstGeom>
          <a:solidFill>
            <a:srgbClr val="FFFFFF"/>
          </a:solidFill>
          <a:ln w="5080">
            <a:solidFill>
              <a:srgbClr val="D3DCE5"/>
            </a:solidFill>
            <a:prstDash val="solid"/>
          </a:ln>
        </p:spPr>
      </p:sp>
      <p:sp>
        <p:nvSpPr>
          <p:cNvPr id="260" name="Text 258"/>
          <p:cNvSpPr txBox="1"/>
          <p:nvPr/>
        </p:nvSpPr>
        <p:spPr>
          <a:xfrm>
            <a:off x="475488" y="3346704"/>
            <a:ext cx="2660904" cy="22402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Net interest</a:t>
            </a:r>
            <a:endParaRPr lang="en-US" sz="780" dirty="0"/>
          </a:p>
        </p:txBody>
      </p:sp>
      <p:sp>
        <p:nvSpPr>
          <p:cNvPr id="261" name="Shape 259"/>
          <p:cNvSpPr/>
          <p:nvPr/>
        </p:nvSpPr>
        <p:spPr>
          <a:xfrm>
            <a:off x="3200400" y="3346704"/>
            <a:ext cx="660478" cy="224028"/>
          </a:xfrm>
          <a:prstGeom prst="rect">
            <a:avLst/>
          </a:prstGeom>
          <a:solidFill>
            <a:srgbClr val="FFFFFF"/>
          </a:solidFill>
          <a:ln w="5080">
            <a:solidFill>
              <a:srgbClr val="D3DCE5"/>
            </a:solidFill>
            <a:prstDash val="solid"/>
          </a:ln>
        </p:spPr>
      </p:sp>
      <p:sp>
        <p:nvSpPr>
          <p:cNvPr id="262" name="Text 260"/>
          <p:cNvSpPr txBox="1"/>
          <p:nvPr/>
        </p:nvSpPr>
        <p:spPr>
          <a:xfrm>
            <a:off x="3200400" y="3346704"/>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(10)</a:t>
            </a:r>
            <a:endParaRPr lang="en-US" sz="760" dirty="0"/>
          </a:p>
        </p:txBody>
      </p:sp>
      <p:sp>
        <p:nvSpPr>
          <p:cNvPr id="263" name="Shape 261"/>
          <p:cNvSpPr/>
          <p:nvPr/>
        </p:nvSpPr>
        <p:spPr>
          <a:xfrm>
            <a:off x="3860878" y="3346704"/>
            <a:ext cx="660478" cy="224028"/>
          </a:xfrm>
          <a:prstGeom prst="rect">
            <a:avLst/>
          </a:prstGeom>
          <a:solidFill>
            <a:srgbClr val="FFFFFF"/>
          </a:solidFill>
          <a:ln w="5080">
            <a:solidFill>
              <a:srgbClr val="D3DCE5"/>
            </a:solidFill>
            <a:prstDash val="solid"/>
          </a:ln>
        </p:spPr>
      </p:sp>
      <p:sp>
        <p:nvSpPr>
          <p:cNvPr id="264" name="Text 262"/>
          <p:cNvSpPr txBox="1"/>
          <p:nvPr/>
        </p:nvSpPr>
        <p:spPr>
          <a:xfrm>
            <a:off x="3860878"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25</a:t>
            </a:r>
            <a:endParaRPr lang="en-US" sz="760" dirty="0"/>
          </a:p>
        </p:txBody>
      </p:sp>
      <p:sp>
        <p:nvSpPr>
          <p:cNvPr id="265" name="Shape 263"/>
          <p:cNvSpPr/>
          <p:nvPr/>
        </p:nvSpPr>
        <p:spPr>
          <a:xfrm>
            <a:off x="4521356" y="3346704"/>
            <a:ext cx="660478" cy="224028"/>
          </a:xfrm>
          <a:prstGeom prst="rect">
            <a:avLst/>
          </a:prstGeom>
          <a:solidFill>
            <a:srgbClr val="FFFFFF"/>
          </a:solidFill>
          <a:ln w="5080">
            <a:solidFill>
              <a:srgbClr val="D3DCE5"/>
            </a:solidFill>
            <a:prstDash val="solid"/>
          </a:ln>
        </p:spPr>
      </p:sp>
      <p:sp>
        <p:nvSpPr>
          <p:cNvPr id="266" name="Text 264"/>
          <p:cNvSpPr txBox="1"/>
          <p:nvPr/>
        </p:nvSpPr>
        <p:spPr>
          <a:xfrm>
            <a:off x="4521356"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40</a:t>
            </a:r>
            <a:endParaRPr lang="en-US" sz="760" dirty="0"/>
          </a:p>
        </p:txBody>
      </p:sp>
      <p:sp>
        <p:nvSpPr>
          <p:cNvPr id="267" name="Shape 265"/>
          <p:cNvSpPr/>
          <p:nvPr/>
        </p:nvSpPr>
        <p:spPr>
          <a:xfrm>
            <a:off x="5181834" y="3346704"/>
            <a:ext cx="660478" cy="224028"/>
          </a:xfrm>
          <a:prstGeom prst="rect">
            <a:avLst/>
          </a:prstGeom>
          <a:solidFill>
            <a:srgbClr val="FFFFFF"/>
          </a:solidFill>
          <a:ln w="5080">
            <a:solidFill>
              <a:srgbClr val="D3DCE5"/>
            </a:solidFill>
            <a:prstDash val="solid"/>
          </a:ln>
        </p:spPr>
      </p:sp>
      <p:sp>
        <p:nvSpPr>
          <p:cNvPr id="268" name="Text 266"/>
          <p:cNvSpPr txBox="1"/>
          <p:nvPr/>
        </p:nvSpPr>
        <p:spPr>
          <a:xfrm>
            <a:off x="5181834"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40</a:t>
            </a:r>
            <a:endParaRPr lang="en-US" sz="760" dirty="0"/>
          </a:p>
        </p:txBody>
      </p:sp>
      <p:sp>
        <p:nvSpPr>
          <p:cNvPr id="269" name="Shape 267"/>
          <p:cNvSpPr/>
          <p:nvPr/>
        </p:nvSpPr>
        <p:spPr>
          <a:xfrm>
            <a:off x="5842313" y="3346704"/>
            <a:ext cx="660478" cy="224028"/>
          </a:xfrm>
          <a:prstGeom prst="rect">
            <a:avLst/>
          </a:prstGeom>
          <a:solidFill>
            <a:srgbClr val="FFFFFF"/>
          </a:solidFill>
          <a:ln w="5080">
            <a:solidFill>
              <a:srgbClr val="D3DCE5"/>
            </a:solidFill>
            <a:prstDash val="solid"/>
          </a:ln>
        </p:spPr>
      </p:sp>
      <p:sp>
        <p:nvSpPr>
          <p:cNvPr id="270" name="Text 268"/>
          <p:cNvSpPr txBox="1"/>
          <p:nvPr/>
        </p:nvSpPr>
        <p:spPr>
          <a:xfrm>
            <a:off x="5842313"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54</a:t>
            </a:r>
            <a:endParaRPr lang="en-US" sz="760" dirty="0"/>
          </a:p>
        </p:txBody>
      </p:sp>
      <p:sp>
        <p:nvSpPr>
          <p:cNvPr id="271" name="Shape 269"/>
          <p:cNvSpPr/>
          <p:nvPr/>
        </p:nvSpPr>
        <p:spPr>
          <a:xfrm>
            <a:off x="6502791" y="3346704"/>
            <a:ext cx="660478" cy="224028"/>
          </a:xfrm>
          <a:prstGeom prst="rect">
            <a:avLst/>
          </a:prstGeom>
          <a:solidFill>
            <a:srgbClr val="FFFFFF"/>
          </a:solidFill>
          <a:ln w="5080">
            <a:solidFill>
              <a:srgbClr val="D3DCE5"/>
            </a:solidFill>
            <a:prstDash val="solid"/>
          </a:ln>
        </p:spPr>
      </p:sp>
      <p:sp>
        <p:nvSpPr>
          <p:cNvPr id="272" name="Text 270"/>
          <p:cNvSpPr txBox="1"/>
          <p:nvPr/>
        </p:nvSpPr>
        <p:spPr>
          <a:xfrm>
            <a:off x="6502791"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65</a:t>
            </a:r>
            <a:endParaRPr lang="en-US" sz="760" dirty="0"/>
          </a:p>
        </p:txBody>
      </p:sp>
      <p:sp>
        <p:nvSpPr>
          <p:cNvPr id="273" name="Shape 271"/>
          <p:cNvSpPr/>
          <p:nvPr/>
        </p:nvSpPr>
        <p:spPr>
          <a:xfrm>
            <a:off x="7163269" y="3346704"/>
            <a:ext cx="660478" cy="224028"/>
          </a:xfrm>
          <a:prstGeom prst="rect">
            <a:avLst/>
          </a:prstGeom>
          <a:solidFill>
            <a:srgbClr val="FFFFFF"/>
          </a:solidFill>
          <a:ln w="5080">
            <a:solidFill>
              <a:srgbClr val="D3DCE5"/>
            </a:solidFill>
            <a:prstDash val="solid"/>
          </a:ln>
        </p:spPr>
      </p:sp>
      <p:sp>
        <p:nvSpPr>
          <p:cNvPr id="274" name="Text 272"/>
          <p:cNvSpPr txBox="1"/>
          <p:nvPr/>
        </p:nvSpPr>
        <p:spPr>
          <a:xfrm>
            <a:off x="7163269"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73</a:t>
            </a:r>
            <a:endParaRPr lang="en-US" sz="760" dirty="0"/>
          </a:p>
        </p:txBody>
      </p:sp>
      <p:sp>
        <p:nvSpPr>
          <p:cNvPr id="275" name="Shape 273"/>
          <p:cNvSpPr/>
          <p:nvPr/>
        </p:nvSpPr>
        <p:spPr>
          <a:xfrm>
            <a:off x="7823747" y="3346704"/>
            <a:ext cx="660478" cy="224028"/>
          </a:xfrm>
          <a:prstGeom prst="rect">
            <a:avLst/>
          </a:prstGeom>
          <a:solidFill>
            <a:srgbClr val="FFFFFF"/>
          </a:solidFill>
          <a:ln w="5080">
            <a:solidFill>
              <a:srgbClr val="D3DCE5"/>
            </a:solidFill>
            <a:prstDash val="solid"/>
          </a:ln>
        </p:spPr>
      </p:sp>
      <p:sp>
        <p:nvSpPr>
          <p:cNvPr id="276" name="Text 274"/>
          <p:cNvSpPr txBox="1"/>
          <p:nvPr/>
        </p:nvSpPr>
        <p:spPr>
          <a:xfrm>
            <a:off x="7823747"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88</a:t>
            </a:r>
            <a:endParaRPr lang="en-US" sz="760" dirty="0"/>
          </a:p>
        </p:txBody>
      </p:sp>
      <p:sp>
        <p:nvSpPr>
          <p:cNvPr id="277" name="Shape 275"/>
          <p:cNvSpPr/>
          <p:nvPr/>
        </p:nvSpPr>
        <p:spPr>
          <a:xfrm>
            <a:off x="8484225" y="3346704"/>
            <a:ext cx="660478" cy="224028"/>
          </a:xfrm>
          <a:prstGeom prst="rect">
            <a:avLst/>
          </a:prstGeom>
          <a:solidFill>
            <a:srgbClr val="FFFFFF"/>
          </a:solidFill>
          <a:ln w="5080">
            <a:solidFill>
              <a:srgbClr val="D3DCE5"/>
            </a:solidFill>
            <a:prstDash val="solid"/>
          </a:ln>
        </p:spPr>
      </p:sp>
      <p:sp>
        <p:nvSpPr>
          <p:cNvPr id="278" name="Text 276"/>
          <p:cNvSpPr txBox="1"/>
          <p:nvPr/>
        </p:nvSpPr>
        <p:spPr>
          <a:xfrm>
            <a:off x="8484225"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117</a:t>
            </a:r>
            <a:endParaRPr lang="en-US" sz="760" dirty="0"/>
          </a:p>
        </p:txBody>
      </p:sp>
      <p:sp>
        <p:nvSpPr>
          <p:cNvPr id="279" name="Shape 277"/>
          <p:cNvSpPr/>
          <p:nvPr/>
        </p:nvSpPr>
        <p:spPr>
          <a:xfrm>
            <a:off x="9144703" y="3346704"/>
            <a:ext cx="660478" cy="224028"/>
          </a:xfrm>
          <a:prstGeom prst="rect">
            <a:avLst/>
          </a:prstGeom>
          <a:solidFill>
            <a:srgbClr val="FFFFFF"/>
          </a:solidFill>
          <a:ln w="5080">
            <a:solidFill>
              <a:srgbClr val="D3DCE5"/>
            </a:solidFill>
            <a:prstDash val="solid"/>
          </a:ln>
        </p:spPr>
      </p:sp>
      <p:sp>
        <p:nvSpPr>
          <p:cNvPr id="280" name="Text 278"/>
          <p:cNvSpPr txBox="1"/>
          <p:nvPr/>
        </p:nvSpPr>
        <p:spPr>
          <a:xfrm>
            <a:off x="9144703"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156</a:t>
            </a:r>
            <a:endParaRPr lang="en-US" sz="760" dirty="0"/>
          </a:p>
        </p:txBody>
      </p:sp>
      <p:sp>
        <p:nvSpPr>
          <p:cNvPr id="281" name="Shape 279"/>
          <p:cNvSpPr/>
          <p:nvPr/>
        </p:nvSpPr>
        <p:spPr>
          <a:xfrm>
            <a:off x="9805182" y="3346704"/>
            <a:ext cx="660478" cy="224028"/>
          </a:xfrm>
          <a:prstGeom prst="rect">
            <a:avLst/>
          </a:prstGeom>
          <a:solidFill>
            <a:srgbClr val="FFFFFF"/>
          </a:solidFill>
          <a:ln w="5080">
            <a:solidFill>
              <a:srgbClr val="D3DCE5"/>
            </a:solidFill>
            <a:prstDash val="solid"/>
          </a:ln>
        </p:spPr>
      </p:sp>
      <p:sp>
        <p:nvSpPr>
          <p:cNvPr id="282" name="Text 280"/>
          <p:cNvSpPr txBox="1"/>
          <p:nvPr/>
        </p:nvSpPr>
        <p:spPr>
          <a:xfrm>
            <a:off x="9805182"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207</a:t>
            </a:r>
            <a:endParaRPr lang="en-US" sz="760" dirty="0"/>
          </a:p>
        </p:txBody>
      </p:sp>
      <p:sp>
        <p:nvSpPr>
          <p:cNvPr id="283" name="Shape 281"/>
          <p:cNvSpPr/>
          <p:nvPr/>
        </p:nvSpPr>
        <p:spPr>
          <a:xfrm>
            <a:off x="10465660" y="3346704"/>
            <a:ext cx="660478" cy="224028"/>
          </a:xfrm>
          <a:prstGeom prst="rect">
            <a:avLst/>
          </a:prstGeom>
          <a:solidFill>
            <a:srgbClr val="FFFFFF"/>
          </a:solidFill>
          <a:ln w="5080">
            <a:solidFill>
              <a:srgbClr val="D3DCE5"/>
            </a:solidFill>
            <a:prstDash val="solid"/>
          </a:ln>
        </p:spPr>
      </p:sp>
      <p:sp>
        <p:nvSpPr>
          <p:cNvPr id="284" name="Text 282"/>
          <p:cNvSpPr txBox="1"/>
          <p:nvPr/>
        </p:nvSpPr>
        <p:spPr>
          <a:xfrm>
            <a:off x="10465660"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263</a:t>
            </a:r>
            <a:endParaRPr lang="en-US" sz="760" dirty="0"/>
          </a:p>
        </p:txBody>
      </p:sp>
      <p:sp>
        <p:nvSpPr>
          <p:cNvPr id="285" name="Shape 283"/>
          <p:cNvSpPr/>
          <p:nvPr/>
        </p:nvSpPr>
        <p:spPr>
          <a:xfrm>
            <a:off x="11126138" y="3346704"/>
            <a:ext cx="660478" cy="224028"/>
          </a:xfrm>
          <a:prstGeom prst="rect">
            <a:avLst/>
          </a:prstGeom>
          <a:solidFill>
            <a:srgbClr val="FFFFFF"/>
          </a:solidFill>
          <a:ln w="5080">
            <a:solidFill>
              <a:srgbClr val="D3DCE5"/>
            </a:solidFill>
            <a:prstDash val="solid"/>
          </a:ln>
        </p:spPr>
      </p:sp>
      <p:sp>
        <p:nvSpPr>
          <p:cNvPr id="286" name="Text 284"/>
          <p:cNvSpPr txBox="1"/>
          <p:nvPr/>
        </p:nvSpPr>
        <p:spPr>
          <a:xfrm>
            <a:off x="11126138" y="334670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323</a:t>
            </a:r>
            <a:endParaRPr lang="en-US" sz="760" dirty="0"/>
          </a:p>
        </p:txBody>
      </p:sp>
      <p:sp>
        <p:nvSpPr>
          <p:cNvPr id="287" name="Shape 285"/>
          <p:cNvSpPr/>
          <p:nvPr/>
        </p:nvSpPr>
        <p:spPr>
          <a:xfrm>
            <a:off x="411480" y="3570732"/>
            <a:ext cx="2788920" cy="224028"/>
          </a:xfrm>
          <a:prstGeom prst="rect">
            <a:avLst/>
          </a:prstGeom>
          <a:solidFill>
            <a:srgbClr val="F7F9FB"/>
          </a:solidFill>
          <a:ln w="5080">
            <a:solidFill>
              <a:srgbClr val="D3DCE5"/>
            </a:solidFill>
            <a:prstDash val="solid"/>
          </a:ln>
        </p:spPr>
      </p:sp>
      <p:sp>
        <p:nvSpPr>
          <p:cNvPr id="288" name="Text 286"/>
          <p:cNvSpPr txBox="1"/>
          <p:nvPr/>
        </p:nvSpPr>
        <p:spPr>
          <a:xfrm>
            <a:off x="475488" y="3570732"/>
            <a:ext cx="2660904" cy="22402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Profit before tax</a:t>
            </a:r>
            <a:endParaRPr lang="en-US" sz="780" dirty="0"/>
          </a:p>
        </p:txBody>
      </p:sp>
      <p:sp>
        <p:nvSpPr>
          <p:cNvPr id="289" name="Shape 287"/>
          <p:cNvSpPr/>
          <p:nvPr/>
        </p:nvSpPr>
        <p:spPr>
          <a:xfrm>
            <a:off x="3200400" y="3570732"/>
            <a:ext cx="660478" cy="224028"/>
          </a:xfrm>
          <a:prstGeom prst="rect">
            <a:avLst/>
          </a:prstGeom>
          <a:solidFill>
            <a:srgbClr val="F7F9FB"/>
          </a:solidFill>
          <a:ln w="5080">
            <a:solidFill>
              <a:srgbClr val="D3DCE5"/>
            </a:solidFill>
            <a:prstDash val="solid"/>
          </a:ln>
        </p:spPr>
      </p:sp>
      <p:sp>
        <p:nvSpPr>
          <p:cNvPr id="290" name="Text 288"/>
          <p:cNvSpPr txBox="1"/>
          <p:nvPr/>
        </p:nvSpPr>
        <p:spPr>
          <a:xfrm>
            <a:off x="3200400"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228</a:t>
            </a:r>
            <a:endParaRPr lang="en-US" sz="760" dirty="0"/>
          </a:p>
        </p:txBody>
      </p:sp>
      <p:sp>
        <p:nvSpPr>
          <p:cNvPr id="291" name="Shape 289"/>
          <p:cNvSpPr/>
          <p:nvPr/>
        </p:nvSpPr>
        <p:spPr>
          <a:xfrm>
            <a:off x="3860878" y="3570732"/>
            <a:ext cx="660478" cy="224028"/>
          </a:xfrm>
          <a:prstGeom prst="rect">
            <a:avLst/>
          </a:prstGeom>
          <a:solidFill>
            <a:srgbClr val="F7F9FB"/>
          </a:solidFill>
          <a:ln w="5080">
            <a:solidFill>
              <a:srgbClr val="D3DCE5"/>
            </a:solidFill>
            <a:prstDash val="solid"/>
          </a:ln>
        </p:spPr>
      </p:sp>
      <p:sp>
        <p:nvSpPr>
          <p:cNvPr id="292" name="Text 290"/>
          <p:cNvSpPr txBox="1"/>
          <p:nvPr/>
        </p:nvSpPr>
        <p:spPr>
          <a:xfrm>
            <a:off x="3860878" y="3570732"/>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(208)</a:t>
            </a:r>
            <a:endParaRPr lang="en-US" sz="760" dirty="0"/>
          </a:p>
        </p:txBody>
      </p:sp>
      <p:sp>
        <p:nvSpPr>
          <p:cNvPr id="293" name="Shape 291"/>
          <p:cNvSpPr/>
          <p:nvPr/>
        </p:nvSpPr>
        <p:spPr>
          <a:xfrm>
            <a:off x="4521356" y="3570732"/>
            <a:ext cx="660478" cy="224028"/>
          </a:xfrm>
          <a:prstGeom prst="rect">
            <a:avLst/>
          </a:prstGeom>
          <a:solidFill>
            <a:srgbClr val="F7F9FB"/>
          </a:solidFill>
          <a:ln w="5080">
            <a:solidFill>
              <a:srgbClr val="D3DCE5"/>
            </a:solidFill>
            <a:prstDash val="solid"/>
          </a:ln>
        </p:spPr>
      </p:sp>
      <p:sp>
        <p:nvSpPr>
          <p:cNvPr id="294" name="Text 292"/>
          <p:cNvSpPr txBox="1"/>
          <p:nvPr/>
        </p:nvSpPr>
        <p:spPr>
          <a:xfrm>
            <a:off x="4521356"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817</a:t>
            </a:r>
            <a:endParaRPr lang="en-US" sz="760" dirty="0"/>
          </a:p>
        </p:txBody>
      </p:sp>
      <p:sp>
        <p:nvSpPr>
          <p:cNvPr id="295" name="Shape 293"/>
          <p:cNvSpPr/>
          <p:nvPr/>
        </p:nvSpPr>
        <p:spPr>
          <a:xfrm>
            <a:off x="5181834" y="3570732"/>
            <a:ext cx="660478" cy="224028"/>
          </a:xfrm>
          <a:prstGeom prst="rect">
            <a:avLst/>
          </a:prstGeom>
          <a:solidFill>
            <a:srgbClr val="F7F9FB"/>
          </a:solidFill>
          <a:ln w="5080">
            <a:solidFill>
              <a:srgbClr val="D3DCE5"/>
            </a:solidFill>
            <a:prstDash val="solid"/>
          </a:ln>
        </p:spPr>
      </p:sp>
      <p:sp>
        <p:nvSpPr>
          <p:cNvPr id="296" name="Text 294"/>
          <p:cNvSpPr txBox="1"/>
          <p:nvPr/>
        </p:nvSpPr>
        <p:spPr>
          <a:xfrm>
            <a:off x="5181834"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1,403</a:t>
            </a:r>
            <a:endParaRPr lang="en-US" sz="760" dirty="0"/>
          </a:p>
        </p:txBody>
      </p:sp>
      <p:sp>
        <p:nvSpPr>
          <p:cNvPr id="297" name="Shape 295"/>
          <p:cNvSpPr/>
          <p:nvPr/>
        </p:nvSpPr>
        <p:spPr>
          <a:xfrm>
            <a:off x="5842313" y="3570732"/>
            <a:ext cx="660478" cy="224028"/>
          </a:xfrm>
          <a:prstGeom prst="rect">
            <a:avLst/>
          </a:prstGeom>
          <a:solidFill>
            <a:srgbClr val="F7F9FB"/>
          </a:solidFill>
          <a:ln w="5080">
            <a:solidFill>
              <a:srgbClr val="D3DCE5"/>
            </a:solidFill>
            <a:prstDash val="solid"/>
          </a:ln>
        </p:spPr>
      </p:sp>
      <p:sp>
        <p:nvSpPr>
          <p:cNvPr id="298" name="Text 296"/>
          <p:cNvSpPr txBox="1"/>
          <p:nvPr/>
        </p:nvSpPr>
        <p:spPr>
          <a:xfrm>
            <a:off x="5842313"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1,560</a:t>
            </a:r>
            <a:endParaRPr lang="en-US" sz="760" dirty="0"/>
          </a:p>
        </p:txBody>
      </p:sp>
      <p:sp>
        <p:nvSpPr>
          <p:cNvPr id="299" name="Shape 297"/>
          <p:cNvSpPr/>
          <p:nvPr/>
        </p:nvSpPr>
        <p:spPr>
          <a:xfrm>
            <a:off x="6502791" y="3570732"/>
            <a:ext cx="660478" cy="224028"/>
          </a:xfrm>
          <a:prstGeom prst="rect">
            <a:avLst/>
          </a:prstGeom>
          <a:solidFill>
            <a:srgbClr val="F7F9FB"/>
          </a:solidFill>
          <a:ln w="5080">
            <a:solidFill>
              <a:srgbClr val="D3DCE5"/>
            </a:solidFill>
            <a:prstDash val="solid"/>
          </a:ln>
        </p:spPr>
      </p:sp>
      <p:sp>
        <p:nvSpPr>
          <p:cNvPr id="300" name="Text 298"/>
          <p:cNvSpPr txBox="1"/>
          <p:nvPr/>
        </p:nvSpPr>
        <p:spPr>
          <a:xfrm>
            <a:off x="6502791"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1,583</a:t>
            </a:r>
            <a:endParaRPr lang="en-US" sz="760" dirty="0"/>
          </a:p>
        </p:txBody>
      </p:sp>
      <p:sp>
        <p:nvSpPr>
          <p:cNvPr id="301" name="Shape 299"/>
          <p:cNvSpPr/>
          <p:nvPr/>
        </p:nvSpPr>
        <p:spPr>
          <a:xfrm>
            <a:off x="7163269" y="3570732"/>
            <a:ext cx="660478" cy="224028"/>
          </a:xfrm>
          <a:prstGeom prst="rect">
            <a:avLst/>
          </a:prstGeom>
          <a:solidFill>
            <a:srgbClr val="F7F9FB"/>
          </a:solidFill>
          <a:ln w="5080">
            <a:solidFill>
              <a:srgbClr val="D3DCE5"/>
            </a:solidFill>
            <a:prstDash val="solid"/>
          </a:ln>
        </p:spPr>
      </p:sp>
      <p:sp>
        <p:nvSpPr>
          <p:cNvPr id="302" name="Text 300"/>
          <p:cNvSpPr txBox="1"/>
          <p:nvPr/>
        </p:nvSpPr>
        <p:spPr>
          <a:xfrm>
            <a:off x="7163269"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1,858</a:t>
            </a:r>
            <a:endParaRPr lang="en-US" sz="760" dirty="0"/>
          </a:p>
        </p:txBody>
      </p:sp>
      <p:sp>
        <p:nvSpPr>
          <p:cNvPr id="303" name="Shape 301"/>
          <p:cNvSpPr/>
          <p:nvPr/>
        </p:nvSpPr>
        <p:spPr>
          <a:xfrm>
            <a:off x="7823747" y="3570732"/>
            <a:ext cx="660478" cy="224028"/>
          </a:xfrm>
          <a:prstGeom prst="rect">
            <a:avLst/>
          </a:prstGeom>
          <a:solidFill>
            <a:srgbClr val="F7F9FB"/>
          </a:solidFill>
          <a:ln w="5080">
            <a:solidFill>
              <a:srgbClr val="D3DCE5"/>
            </a:solidFill>
            <a:prstDash val="solid"/>
          </a:ln>
        </p:spPr>
      </p:sp>
      <p:sp>
        <p:nvSpPr>
          <p:cNvPr id="304" name="Text 302"/>
          <p:cNvSpPr txBox="1"/>
          <p:nvPr/>
        </p:nvSpPr>
        <p:spPr>
          <a:xfrm>
            <a:off x="7823747"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2,226</a:t>
            </a:r>
            <a:endParaRPr lang="en-US" sz="760" dirty="0"/>
          </a:p>
        </p:txBody>
      </p:sp>
      <p:sp>
        <p:nvSpPr>
          <p:cNvPr id="305" name="Shape 303"/>
          <p:cNvSpPr/>
          <p:nvPr/>
        </p:nvSpPr>
        <p:spPr>
          <a:xfrm>
            <a:off x="8484225" y="3570732"/>
            <a:ext cx="660478" cy="224028"/>
          </a:xfrm>
          <a:prstGeom prst="rect">
            <a:avLst/>
          </a:prstGeom>
          <a:solidFill>
            <a:srgbClr val="F7F9FB"/>
          </a:solidFill>
          <a:ln w="5080">
            <a:solidFill>
              <a:srgbClr val="D3DCE5"/>
            </a:solidFill>
            <a:prstDash val="solid"/>
          </a:ln>
        </p:spPr>
      </p:sp>
      <p:sp>
        <p:nvSpPr>
          <p:cNvPr id="306" name="Text 304"/>
          <p:cNvSpPr txBox="1"/>
          <p:nvPr/>
        </p:nvSpPr>
        <p:spPr>
          <a:xfrm>
            <a:off x="8484225"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2,932</a:t>
            </a:r>
            <a:endParaRPr lang="en-US" sz="760" dirty="0"/>
          </a:p>
        </p:txBody>
      </p:sp>
      <p:sp>
        <p:nvSpPr>
          <p:cNvPr id="307" name="Shape 305"/>
          <p:cNvSpPr/>
          <p:nvPr/>
        </p:nvSpPr>
        <p:spPr>
          <a:xfrm>
            <a:off x="9144703" y="3570732"/>
            <a:ext cx="660478" cy="224028"/>
          </a:xfrm>
          <a:prstGeom prst="rect">
            <a:avLst/>
          </a:prstGeom>
          <a:solidFill>
            <a:srgbClr val="F7F9FB"/>
          </a:solidFill>
          <a:ln w="5080">
            <a:solidFill>
              <a:srgbClr val="D3DCE5"/>
            </a:solidFill>
            <a:prstDash val="solid"/>
          </a:ln>
        </p:spPr>
      </p:sp>
      <p:sp>
        <p:nvSpPr>
          <p:cNvPr id="308" name="Text 306"/>
          <p:cNvSpPr txBox="1"/>
          <p:nvPr/>
        </p:nvSpPr>
        <p:spPr>
          <a:xfrm>
            <a:off x="9144703"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3,452</a:t>
            </a:r>
            <a:endParaRPr lang="en-US" sz="760" dirty="0"/>
          </a:p>
        </p:txBody>
      </p:sp>
      <p:sp>
        <p:nvSpPr>
          <p:cNvPr id="309" name="Shape 307"/>
          <p:cNvSpPr/>
          <p:nvPr/>
        </p:nvSpPr>
        <p:spPr>
          <a:xfrm>
            <a:off x="9805182" y="3570732"/>
            <a:ext cx="660478" cy="224028"/>
          </a:xfrm>
          <a:prstGeom prst="rect">
            <a:avLst/>
          </a:prstGeom>
          <a:solidFill>
            <a:srgbClr val="F7F9FB"/>
          </a:solidFill>
          <a:ln w="5080">
            <a:solidFill>
              <a:srgbClr val="D3DCE5"/>
            </a:solidFill>
            <a:prstDash val="solid"/>
          </a:ln>
        </p:spPr>
      </p:sp>
      <p:sp>
        <p:nvSpPr>
          <p:cNvPr id="310" name="Text 308"/>
          <p:cNvSpPr txBox="1"/>
          <p:nvPr/>
        </p:nvSpPr>
        <p:spPr>
          <a:xfrm>
            <a:off x="9805182"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3,698</a:t>
            </a:r>
            <a:endParaRPr lang="en-US" sz="760" dirty="0"/>
          </a:p>
        </p:txBody>
      </p:sp>
      <p:sp>
        <p:nvSpPr>
          <p:cNvPr id="311" name="Shape 309"/>
          <p:cNvSpPr/>
          <p:nvPr/>
        </p:nvSpPr>
        <p:spPr>
          <a:xfrm>
            <a:off x="10465660" y="3570732"/>
            <a:ext cx="660478" cy="224028"/>
          </a:xfrm>
          <a:prstGeom prst="rect">
            <a:avLst/>
          </a:prstGeom>
          <a:solidFill>
            <a:srgbClr val="F7F9FB"/>
          </a:solidFill>
          <a:ln w="5080">
            <a:solidFill>
              <a:srgbClr val="D3DCE5"/>
            </a:solidFill>
            <a:prstDash val="solid"/>
          </a:ln>
        </p:spPr>
      </p:sp>
      <p:sp>
        <p:nvSpPr>
          <p:cNvPr id="312" name="Text 310"/>
          <p:cNvSpPr txBox="1"/>
          <p:nvPr/>
        </p:nvSpPr>
        <p:spPr>
          <a:xfrm>
            <a:off x="10465660"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3,836</a:t>
            </a:r>
            <a:endParaRPr lang="en-US" sz="760" dirty="0"/>
          </a:p>
        </p:txBody>
      </p:sp>
      <p:sp>
        <p:nvSpPr>
          <p:cNvPr id="313" name="Shape 311"/>
          <p:cNvSpPr/>
          <p:nvPr/>
        </p:nvSpPr>
        <p:spPr>
          <a:xfrm>
            <a:off x="11126138" y="3570732"/>
            <a:ext cx="660478" cy="224028"/>
          </a:xfrm>
          <a:prstGeom prst="rect">
            <a:avLst/>
          </a:prstGeom>
          <a:solidFill>
            <a:srgbClr val="F7F9FB"/>
          </a:solidFill>
          <a:ln w="5080">
            <a:solidFill>
              <a:srgbClr val="D3DCE5"/>
            </a:solidFill>
            <a:prstDash val="solid"/>
          </a:ln>
        </p:spPr>
      </p:sp>
      <p:sp>
        <p:nvSpPr>
          <p:cNvPr id="314" name="Text 312"/>
          <p:cNvSpPr txBox="1"/>
          <p:nvPr/>
        </p:nvSpPr>
        <p:spPr>
          <a:xfrm>
            <a:off x="11126138" y="3570732"/>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3,909</a:t>
            </a:r>
            <a:endParaRPr lang="en-US" sz="760" dirty="0"/>
          </a:p>
        </p:txBody>
      </p:sp>
      <p:sp>
        <p:nvSpPr>
          <p:cNvPr id="315" name="Shape 313"/>
          <p:cNvSpPr/>
          <p:nvPr/>
        </p:nvSpPr>
        <p:spPr>
          <a:xfrm>
            <a:off x="411480" y="3794760"/>
            <a:ext cx="2788920" cy="224028"/>
          </a:xfrm>
          <a:prstGeom prst="rect">
            <a:avLst/>
          </a:prstGeom>
          <a:solidFill>
            <a:srgbClr val="FFFFFF"/>
          </a:solidFill>
          <a:ln w="5080">
            <a:solidFill>
              <a:srgbClr val="D3DCE5"/>
            </a:solidFill>
            <a:prstDash val="solid"/>
          </a:ln>
        </p:spPr>
      </p:sp>
      <p:sp>
        <p:nvSpPr>
          <p:cNvPr id="316" name="Text 314"/>
          <p:cNvSpPr txBox="1"/>
          <p:nvPr/>
        </p:nvSpPr>
        <p:spPr>
          <a:xfrm>
            <a:off x="475488" y="3794760"/>
            <a:ext cx="2660904" cy="22402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Income tax expense</a:t>
            </a:r>
            <a:endParaRPr lang="en-US" sz="780" dirty="0"/>
          </a:p>
        </p:txBody>
      </p:sp>
      <p:sp>
        <p:nvSpPr>
          <p:cNvPr id="317" name="Shape 315"/>
          <p:cNvSpPr/>
          <p:nvPr/>
        </p:nvSpPr>
        <p:spPr>
          <a:xfrm>
            <a:off x="3200400" y="3794760"/>
            <a:ext cx="660478" cy="224028"/>
          </a:xfrm>
          <a:prstGeom prst="rect">
            <a:avLst/>
          </a:prstGeom>
          <a:solidFill>
            <a:srgbClr val="FFFFFF"/>
          </a:solidFill>
          <a:ln w="5080">
            <a:solidFill>
              <a:srgbClr val="D3DCE5"/>
            </a:solidFill>
            <a:prstDash val="solid"/>
          </a:ln>
        </p:spPr>
      </p:sp>
      <p:sp>
        <p:nvSpPr>
          <p:cNvPr id="318" name="Text 316"/>
          <p:cNvSpPr txBox="1"/>
          <p:nvPr/>
        </p:nvSpPr>
        <p:spPr>
          <a:xfrm>
            <a:off x="3200400"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(68)</a:t>
            </a:r>
            <a:endParaRPr lang="en-US" sz="760" dirty="0"/>
          </a:p>
        </p:txBody>
      </p:sp>
      <p:sp>
        <p:nvSpPr>
          <p:cNvPr id="319" name="Shape 317"/>
          <p:cNvSpPr/>
          <p:nvPr/>
        </p:nvSpPr>
        <p:spPr>
          <a:xfrm>
            <a:off x="3860878" y="3794760"/>
            <a:ext cx="660478" cy="224028"/>
          </a:xfrm>
          <a:prstGeom prst="rect">
            <a:avLst/>
          </a:prstGeom>
          <a:solidFill>
            <a:srgbClr val="FFFFFF"/>
          </a:solidFill>
          <a:ln w="5080">
            <a:solidFill>
              <a:srgbClr val="D3DCE5"/>
            </a:solidFill>
            <a:prstDash val="solid"/>
          </a:ln>
        </p:spPr>
      </p:sp>
      <p:sp>
        <p:nvSpPr>
          <p:cNvPr id="320" name="Text 318"/>
          <p:cNvSpPr txBox="1"/>
          <p:nvPr/>
        </p:nvSpPr>
        <p:spPr>
          <a:xfrm>
            <a:off x="3860878" y="3794760"/>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a:t>
            </a:r>
            <a:endParaRPr lang="en-US" sz="760" dirty="0"/>
          </a:p>
        </p:txBody>
      </p:sp>
      <p:sp>
        <p:nvSpPr>
          <p:cNvPr id="321" name="Shape 319"/>
          <p:cNvSpPr/>
          <p:nvPr/>
        </p:nvSpPr>
        <p:spPr>
          <a:xfrm>
            <a:off x="4521356" y="3794760"/>
            <a:ext cx="660478" cy="224028"/>
          </a:xfrm>
          <a:prstGeom prst="rect">
            <a:avLst/>
          </a:prstGeom>
          <a:solidFill>
            <a:srgbClr val="FFFFFF"/>
          </a:solidFill>
          <a:ln w="5080">
            <a:solidFill>
              <a:srgbClr val="D3DCE5"/>
            </a:solidFill>
            <a:prstDash val="solid"/>
          </a:ln>
        </p:spPr>
      </p:sp>
      <p:sp>
        <p:nvSpPr>
          <p:cNvPr id="322" name="Text 320"/>
          <p:cNvSpPr txBox="1"/>
          <p:nvPr/>
        </p:nvSpPr>
        <p:spPr>
          <a:xfrm>
            <a:off x="4521356"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(245)</a:t>
            </a:r>
            <a:endParaRPr lang="en-US" sz="760" dirty="0"/>
          </a:p>
        </p:txBody>
      </p:sp>
      <p:sp>
        <p:nvSpPr>
          <p:cNvPr id="323" name="Shape 321"/>
          <p:cNvSpPr/>
          <p:nvPr/>
        </p:nvSpPr>
        <p:spPr>
          <a:xfrm>
            <a:off x="5181834" y="3794760"/>
            <a:ext cx="660478" cy="224028"/>
          </a:xfrm>
          <a:prstGeom prst="rect">
            <a:avLst/>
          </a:prstGeom>
          <a:solidFill>
            <a:srgbClr val="FFFFFF"/>
          </a:solidFill>
          <a:ln w="5080">
            <a:solidFill>
              <a:srgbClr val="D3DCE5"/>
            </a:solidFill>
            <a:prstDash val="solid"/>
          </a:ln>
        </p:spPr>
      </p:sp>
      <p:sp>
        <p:nvSpPr>
          <p:cNvPr id="324" name="Text 322"/>
          <p:cNvSpPr txBox="1"/>
          <p:nvPr/>
        </p:nvSpPr>
        <p:spPr>
          <a:xfrm>
            <a:off x="5181834"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(421)</a:t>
            </a:r>
            <a:endParaRPr lang="en-US" sz="760" dirty="0"/>
          </a:p>
        </p:txBody>
      </p:sp>
      <p:sp>
        <p:nvSpPr>
          <p:cNvPr id="325" name="Shape 323"/>
          <p:cNvSpPr/>
          <p:nvPr/>
        </p:nvSpPr>
        <p:spPr>
          <a:xfrm>
            <a:off x="5842313" y="3794760"/>
            <a:ext cx="660478" cy="224028"/>
          </a:xfrm>
          <a:prstGeom prst="rect">
            <a:avLst/>
          </a:prstGeom>
          <a:solidFill>
            <a:srgbClr val="FFFFFF"/>
          </a:solidFill>
          <a:ln w="5080">
            <a:solidFill>
              <a:srgbClr val="D3DCE5"/>
            </a:solidFill>
            <a:prstDash val="solid"/>
          </a:ln>
        </p:spPr>
      </p:sp>
      <p:sp>
        <p:nvSpPr>
          <p:cNvPr id="326" name="Text 324"/>
          <p:cNvSpPr txBox="1"/>
          <p:nvPr/>
        </p:nvSpPr>
        <p:spPr>
          <a:xfrm>
            <a:off x="5842313"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(468)</a:t>
            </a:r>
            <a:endParaRPr lang="en-US" sz="760" dirty="0"/>
          </a:p>
        </p:txBody>
      </p:sp>
      <p:sp>
        <p:nvSpPr>
          <p:cNvPr id="327" name="Shape 325"/>
          <p:cNvSpPr/>
          <p:nvPr/>
        </p:nvSpPr>
        <p:spPr>
          <a:xfrm>
            <a:off x="6502791" y="3794760"/>
            <a:ext cx="660478" cy="224028"/>
          </a:xfrm>
          <a:prstGeom prst="rect">
            <a:avLst/>
          </a:prstGeom>
          <a:solidFill>
            <a:srgbClr val="FFFFFF"/>
          </a:solidFill>
          <a:ln w="5080">
            <a:solidFill>
              <a:srgbClr val="D3DCE5"/>
            </a:solidFill>
            <a:prstDash val="solid"/>
          </a:ln>
        </p:spPr>
      </p:sp>
      <p:sp>
        <p:nvSpPr>
          <p:cNvPr id="328" name="Text 326"/>
          <p:cNvSpPr txBox="1"/>
          <p:nvPr/>
        </p:nvSpPr>
        <p:spPr>
          <a:xfrm>
            <a:off x="6502791"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(475)</a:t>
            </a:r>
            <a:endParaRPr lang="en-US" sz="760" dirty="0"/>
          </a:p>
        </p:txBody>
      </p:sp>
      <p:sp>
        <p:nvSpPr>
          <p:cNvPr id="329" name="Shape 327"/>
          <p:cNvSpPr/>
          <p:nvPr/>
        </p:nvSpPr>
        <p:spPr>
          <a:xfrm>
            <a:off x="7163269" y="3794760"/>
            <a:ext cx="660478" cy="224028"/>
          </a:xfrm>
          <a:prstGeom prst="rect">
            <a:avLst/>
          </a:prstGeom>
          <a:solidFill>
            <a:srgbClr val="FFFFFF"/>
          </a:solidFill>
          <a:ln w="5080">
            <a:solidFill>
              <a:srgbClr val="D3DCE5"/>
            </a:solidFill>
            <a:prstDash val="solid"/>
          </a:ln>
        </p:spPr>
      </p:sp>
      <p:sp>
        <p:nvSpPr>
          <p:cNvPr id="330" name="Text 328"/>
          <p:cNvSpPr txBox="1"/>
          <p:nvPr/>
        </p:nvSpPr>
        <p:spPr>
          <a:xfrm>
            <a:off x="7163269"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(558)</a:t>
            </a:r>
            <a:endParaRPr lang="en-US" sz="760" dirty="0"/>
          </a:p>
        </p:txBody>
      </p:sp>
      <p:sp>
        <p:nvSpPr>
          <p:cNvPr id="331" name="Shape 329"/>
          <p:cNvSpPr/>
          <p:nvPr/>
        </p:nvSpPr>
        <p:spPr>
          <a:xfrm>
            <a:off x="7823747" y="3794760"/>
            <a:ext cx="660478" cy="224028"/>
          </a:xfrm>
          <a:prstGeom prst="rect">
            <a:avLst/>
          </a:prstGeom>
          <a:solidFill>
            <a:srgbClr val="FFFFFF"/>
          </a:solidFill>
          <a:ln w="5080">
            <a:solidFill>
              <a:srgbClr val="D3DCE5"/>
            </a:solidFill>
            <a:prstDash val="solid"/>
          </a:ln>
        </p:spPr>
      </p:sp>
      <p:sp>
        <p:nvSpPr>
          <p:cNvPr id="332" name="Text 330"/>
          <p:cNvSpPr txBox="1"/>
          <p:nvPr/>
        </p:nvSpPr>
        <p:spPr>
          <a:xfrm>
            <a:off x="7823747"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(668)</a:t>
            </a:r>
            <a:endParaRPr lang="en-US" sz="760" dirty="0"/>
          </a:p>
        </p:txBody>
      </p:sp>
      <p:sp>
        <p:nvSpPr>
          <p:cNvPr id="333" name="Shape 331"/>
          <p:cNvSpPr/>
          <p:nvPr/>
        </p:nvSpPr>
        <p:spPr>
          <a:xfrm>
            <a:off x="8484225" y="3794760"/>
            <a:ext cx="660478" cy="224028"/>
          </a:xfrm>
          <a:prstGeom prst="rect">
            <a:avLst/>
          </a:prstGeom>
          <a:solidFill>
            <a:srgbClr val="FFFFFF"/>
          </a:solidFill>
          <a:ln w="5080">
            <a:solidFill>
              <a:srgbClr val="D3DCE5"/>
            </a:solidFill>
            <a:prstDash val="solid"/>
          </a:ln>
        </p:spPr>
      </p:sp>
      <p:sp>
        <p:nvSpPr>
          <p:cNvPr id="334" name="Text 332"/>
          <p:cNvSpPr txBox="1"/>
          <p:nvPr/>
        </p:nvSpPr>
        <p:spPr>
          <a:xfrm>
            <a:off x="8484225"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(880)</a:t>
            </a:r>
            <a:endParaRPr lang="en-US" sz="760" dirty="0"/>
          </a:p>
        </p:txBody>
      </p:sp>
      <p:sp>
        <p:nvSpPr>
          <p:cNvPr id="335" name="Shape 333"/>
          <p:cNvSpPr/>
          <p:nvPr/>
        </p:nvSpPr>
        <p:spPr>
          <a:xfrm>
            <a:off x="9144703" y="3794760"/>
            <a:ext cx="660478" cy="224028"/>
          </a:xfrm>
          <a:prstGeom prst="rect">
            <a:avLst/>
          </a:prstGeom>
          <a:solidFill>
            <a:srgbClr val="FFFFFF"/>
          </a:solidFill>
          <a:ln w="5080">
            <a:solidFill>
              <a:srgbClr val="D3DCE5"/>
            </a:solidFill>
            <a:prstDash val="solid"/>
          </a:ln>
        </p:spPr>
      </p:sp>
      <p:sp>
        <p:nvSpPr>
          <p:cNvPr id="336" name="Text 334"/>
          <p:cNvSpPr txBox="1"/>
          <p:nvPr/>
        </p:nvSpPr>
        <p:spPr>
          <a:xfrm>
            <a:off x="9144703"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(1,035)</a:t>
            </a:r>
            <a:endParaRPr lang="en-US" sz="760" dirty="0"/>
          </a:p>
        </p:txBody>
      </p:sp>
      <p:sp>
        <p:nvSpPr>
          <p:cNvPr id="337" name="Shape 335"/>
          <p:cNvSpPr/>
          <p:nvPr/>
        </p:nvSpPr>
        <p:spPr>
          <a:xfrm>
            <a:off x="9805182" y="3794760"/>
            <a:ext cx="660478" cy="224028"/>
          </a:xfrm>
          <a:prstGeom prst="rect">
            <a:avLst/>
          </a:prstGeom>
          <a:solidFill>
            <a:srgbClr val="FFFFFF"/>
          </a:solidFill>
          <a:ln w="5080">
            <a:solidFill>
              <a:srgbClr val="D3DCE5"/>
            </a:solidFill>
            <a:prstDash val="solid"/>
          </a:ln>
        </p:spPr>
      </p:sp>
      <p:sp>
        <p:nvSpPr>
          <p:cNvPr id="338" name="Text 336"/>
          <p:cNvSpPr txBox="1"/>
          <p:nvPr/>
        </p:nvSpPr>
        <p:spPr>
          <a:xfrm>
            <a:off x="9805182"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(1,109)</a:t>
            </a:r>
            <a:endParaRPr lang="en-US" sz="760" dirty="0"/>
          </a:p>
        </p:txBody>
      </p:sp>
      <p:sp>
        <p:nvSpPr>
          <p:cNvPr id="339" name="Shape 337"/>
          <p:cNvSpPr/>
          <p:nvPr/>
        </p:nvSpPr>
        <p:spPr>
          <a:xfrm>
            <a:off x="10465660" y="3794760"/>
            <a:ext cx="660478" cy="224028"/>
          </a:xfrm>
          <a:prstGeom prst="rect">
            <a:avLst/>
          </a:prstGeom>
          <a:solidFill>
            <a:srgbClr val="FFFFFF"/>
          </a:solidFill>
          <a:ln w="5080">
            <a:solidFill>
              <a:srgbClr val="D3DCE5"/>
            </a:solidFill>
            <a:prstDash val="solid"/>
          </a:ln>
        </p:spPr>
      </p:sp>
      <p:sp>
        <p:nvSpPr>
          <p:cNvPr id="340" name="Text 338"/>
          <p:cNvSpPr txBox="1"/>
          <p:nvPr/>
        </p:nvSpPr>
        <p:spPr>
          <a:xfrm>
            <a:off x="10465660"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(1,151)</a:t>
            </a:r>
            <a:endParaRPr lang="en-US" sz="760" dirty="0"/>
          </a:p>
        </p:txBody>
      </p:sp>
      <p:sp>
        <p:nvSpPr>
          <p:cNvPr id="341" name="Shape 339"/>
          <p:cNvSpPr/>
          <p:nvPr/>
        </p:nvSpPr>
        <p:spPr>
          <a:xfrm>
            <a:off x="11126138" y="3794760"/>
            <a:ext cx="660478" cy="224028"/>
          </a:xfrm>
          <a:prstGeom prst="rect">
            <a:avLst/>
          </a:prstGeom>
          <a:solidFill>
            <a:srgbClr val="FFFFFF"/>
          </a:solidFill>
          <a:ln w="5080">
            <a:solidFill>
              <a:srgbClr val="D3DCE5"/>
            </a:solidFill>
            <a:prstDash val="solid"/>
          </a:ln>
        </p:spPr>
      </p:sp>
      <p:sp>
        <p:nvSpPr>
          <p:cNvPr id="342" name="Text 340"/>
          <p:cNvSpPr txBox="1"/>
          <p:nvPr/>
        </p:nvSpPr>
        <p:spPr>
          <a:xfrm>
            <a:off x="11126138" y="3794760"/>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(1,173)</a:t>
            </a:r>
            <a:endParaRPr lang="en-US" sz="760" dirty="0"/>
          </a:p>
        </p:txBody>
      </p:sp>
      <p:sp>
        <p:nvSpPr>
          <p:cNvPr id="343" name="Shape 341"/>
          <p:cNvSpPr/>
          <p:nvPr/>
        </p:nvSpPr>
        <p:spPr>
          <a:xfrm>
            <a:off x="411480" y="4018788"/>
            <a:ext cx="2788920" cy="224028"/>
          </a:xfrm>
          <a:prstGeom prst="rect">
            <a:avLst/>
          </a:prstGeom>
          <a:solidFill>
            <a:srgbClr val="D6EBE7"/>
          </a:solidFill>
          <a:ln w="5080">
            <a:solidFill>
              <a:srgbClr val="D3DCE5"/>
            </a:solidFill>
            <a:prstDash val="solid"/>
          </a:ln>
        </p:spPr>
      </p:sp>
      <p:sp>
        <p:nvSpPr>
          <p:cNvPr id="344" name="Text 342"/>
          <p:cNvSpPr txBox="1"/>
          <p:nvPr/>
        </p:nvSpPr>
        <p:spPr>
          <a:xfrm>
            <a:off x="475488" y="4018788"/>
            <a:ext cx="2660904" cy="224028"/>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NPAT</a:t>
            </a:r>
            <a:endParaRPr lang="en-US" sz="780" dirty="0"/>
          </a:p>
        </p:txBody>
      </p:sp>
      <p:sp>
        <p:nvSpPr>
          <p:cNvPr id="345" name="Shape 343"/>
          <p:cNvSpPr/>
          <p:nvPr/>
        </p:nvSpPr>
        <p:spPr>
          <a:xfrm>
            <a:off x="3200400" y="4018788"/>
            <a:ext cx="660478" cy="224028"/>
          </a:xfrm>
          <a:prstGeom prst="rect">
            <a:avLst/>
          </a:prstGeom>
          <a:solidFill>
            <a:srgbClr val="D6EBE7"/>
          </a:solidFill>
          <a:ln w="5080">
            <a:solidFill>
              <a:srgbClr val="D3DCE5"/>
            </a:solidFill>
            <a:prstDash val="solid"/>
          </a:ln>
        </p:spPr>
      </p:sp>
      <p:sp>
        <p:nvSpPr>
          <p:cNvPr id="346" name="Text 344"/>
          <p:cNvSpPr txBox="1"/>
          <p:nvPr/>
        </p:nvSpPr>
        <p:spPr>
          <a:xfrm>
            <a:off x="3200400"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160</a:t>
            </a:r>
            <a:endParaRPr lang="en-US" sz="760" dirty="0"/>
          </a:p>
        </p:txBody>
      </p:sp>
      <p:sp>
        <p:nvSpPr>
          <p:cNvPr id="347" name="Shape 345"/>
          <p:cNvSpPr/>
          <p:nvPr/>
        </p:nvSpPr>
        <p:spPr>
          <a:xfrm>
            <a:off x="3860878" y="4018788"/>
            <a:ext cx="660478" cy="224028"/>
          </a:xfrm>
          <a:prstGeom prst="rect">
            <a:avLst/>
          </a:prstGeom>
          <a:solidFill>
            <a:srgbClr val="D6EBE7"/>
          </a:solidFill>
          <a:ln w="5080">
            <a:solidFill>
              <a:srgbClr val="D3DCE5"/>
            </a:solidFill>
            <a:prstDash val="solid"/>
          </a:ln>
        </p:spPr>
      </p:sp>
      <p:sp>
        <p:nvSpPr>
          <p:cNvPr id="348" name="Text 346"/>
          <p:cNvSpPr txBox="1"/>
          <p:nvPr/>
        </p:nvSpPr>
        <p:spPr>
          <a:xfrm>
            <a:off x="3860878" y="4018788"/>
            <a:ext cx="614758" cy="224028"/>
          </a:xfrm>
          <a:prstGeom prst="rect">
            <a:avLst/>
          </a:prstGeom>
          <a:noFill/>
          <a:ln/>
        </p:spPr>
        <p:txBody>
          <a:bodyPr wrap="square" lIns="0" tIns="0" rIns="0" bIns="0" rtlCol="0" anchor="ctr"/>
          <a:lstStyle/>
          <a:p>
            <a:pPr algn="r" indent="0" marL="0">
              <a:buNone/>
            </a:pPr>
            <a:r>
              <a:rPr lang="en-US" sz="760" b="1" dirty="0">
                <a:solidFill>
                  <a:srgbClr val="A3282C"/>
                </a:solidFill>
                <a:latin typeface="Calibri" pitchFamily="34" charset="0"/>
                <a:ea typeface="Calibri" pitchFamily="34" charset="-122"/>
                <a:cs typeface="Calibri" pitchFamily="34" charset="-120"/>
              </a:rPr>
              <a:t>(208)</a:t>
            </a:r>
            <a:endParaRPr lang="en-US" sz="760" dirty="0"/>
          </a:p>
        </p:txBody>
      </p:sp>
      <p:sp>
        <p:nvSpPr>
          <p:cNvPr id="349" name="Shape 347"/>
          <p:cNvSpPr/>
          <p:nvPr/>
        </p:nvSpPr>
        <p:spPr>
          <a:xfrm>
            <a:off x="4521356" y="4018788"/>
            <a:ext cx="660478" cy="224028"/>
          </a:xfrm>
          <a:prstGeom prst="rect">
            <a:avLst/>
          </a:prstGeom>
          <a:solidFill>
            <a:srgbClr val="D6EBE7"/>
          </a:solidFill>
          <a:ln w="5080">
            <a:solidFill>
              <a:srgbClr val="D3DCE5"/>
            </a:solidFill>
            <a:prstDash val="solid"/>
          </a:ln>
        </p:spPr>
      </p:sp>
      <p:sp>
        <p:nvSpPr>
          <p:cNvPr id="350" name="Text 348"/>
          <p:cNvSpPr txBox="1"/>
          <p:nvPr/>
        </p:nvSpPr>
        <p:spPr>
          <a:xfrm>
            <a:off x="4521356"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572</a:t>
            </a:r>
            <a:endParaRPr lang="en-US" sz="760" dirty="0"/>
          </a:p>
        </p:txBody>
      </p:sp>
      <p:sp>
        <p:nvSpPr>
          <p:cNvPr id="351" name="Shape 349"/>
          <p:cNvSpPr/>
          <p:nvPr/>
        </p:nvSpPr>
        <p:spPr>
          <a:xfrm>
            <a:off x="5181834" y="4018788"/>
            <a:ext cx="660478" cy="224028"/>
          </a:xfrm>
          <a:prstGeom prst="rect">
            <a:avLst/>
          </a:prstGeom>
          <a:solidFill>
            <a:srgbClr val="D6EBE7"/>
          </a:solidFill>
          <a:ln w="5080">
            <a:solidFill>
              <a:srgbClr val="D3DCE5"/>
            </a:solidFill>
            <a:prstDash val="solid"/>
          </a:ln>
        </p:spPr>
      </p:sp>
      <p:sp>
        <p:nvSpPr>
          <p:cNvPr id="352" name="Text 350"/>
          <p:cNvSpPr txBox="1"/>
          <p:nvPr/>
        </p:nvSpPr>
        <p:spPr>
          <a:xfrm>
            <a:off x="5181834"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982</a:t>
            </a:r>
            <a:endParaRPr lang="en-US" sz="760" dirty="0"/>
          </a:p>
        </p:txBody>
      </p:sp>
      <p:sp>
        <p:nvSpPr>
          <p:cNvPr id="353" name="Shape 351"/>
          <p:cNvSpPr/>
          <p:nvPr/>
        </p:nvSpPr>
        <p:spPr>
          <a:xfrm>
            <a:off x="5842313" y="4018788"/>
            <a:ext cx="660478" cy="224028"/>
          </a:xfrm>
          <a:prstGeom prst="rect">
            <a:avLst/>
          </a:prstGeom>
          <a:solidFill>
            <a:srgbClr val="D6EBE7"/>
          </a:solidFill>
          <a:ln w="5080">
            <a:solidFill>
              <a:srgbClr val="D3DCE5"/>
            </a:solidFill>
            <a:prstDash val="solid"/>
          </a:ln>
        </p:spPr>
      </p:sp>
      <p:sp>
        <p:nvSpPr>
          <p:cNvPr id="354" name="Text 352"/>
          <p:cNvSpPr txBox="1"/>
          <p:nvPr/>
        </p:nvSpPr>
        <p:spPr>
          <a:xfrm>
            <a:off x="5842313"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1,092</a:t>
            </a:r>
            <a:endParaRPr lang="en-US" sz="760" dirty="0"/>
          </a:p>
        </p:txBody>
      </p:sp>
      <p:sp>
        <p:nvSpPr>
          <p:cNvPr id="355" name="Shape 353"/>
          <p:cNvSpPr/>
          <p:nvPr/>
        </p:nvSpPr>
        <p:spPr>
          <a:xfrm>
            <a:off x="6502791" y="4018788"/>
            <a:ext cx="660478" cy="224028"/>
          </a:xfrm>
          <a:prstGeom prst="rect">
            <a:avLst/>
          </a:prstGeom>
          <a:solidFill>
            <a:srgbClr val="D6EBE7"/>
          </a:solidFill>
          <a:ln w="5080">
            <a:solidFill>
              <a:srgbClr val="D3DCE5"/>
            </a:solidFill>
            <a:prstDash val="solid"/>
          </a:ln>
        </p:spPr>
      </p:sp>
      <p:sp>
        <p:nvSpPr>
          <p:cNvPr id="356" name="Text 354"/>
          <p:cNvSpPr txBox="1"/>
          <p:nvPr/>
        </p:nvSpPr>
        <p:spPr>
          <a:xfrm>
            <a:off x="6502791"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1,108</a:t>
            </a:r>
            <a:endParaRPr lang="en-US" sz="760" dirty="0"/>
          </a:p>
        </p:txBody>
      </p:sp>
      <p:sp>
        <p:nvSpPr>
          <p:cNvPr id="357" name="Shape 355"/>
          <p:cNvSpPr/>
          <p:nvPr/>
        </p:nvSpPr>
        <p:spPr>
          <a:xfrm>
            <a:off x="7163269" y="4018788"/>
            <a:ext cx="660478" cy="224028"/>
          </a:xfrm>
          <a:prstGeom prst="rect">
            <a:avLst/>
          </a:prstGeom>
          <a:solidFill>
            <a:srgbClr val="D6EBE7"/>
          </a:solidFill>
          <a:ln w="5080">
            <a:solidFill>
              <a:srgbClr val="D3DCE5"/>
            </a:solidFill>
            <a:prstDash val="solid"/>
          </a:ln>
        </p:spPr>
      </p:sp>
      <p:sp>
        <p:nvSpPr>
          <p:cNvPr id="358" name="Text 356"/>
          <p:cNvSpPr txBox="1"/>
          <p:nvPr/>
        </p:nvSpPr>
        <p:spPr>
          <a:xfrm>
            <a:off x="7163269"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1,301</a:t>
            </a:r>
            <a:endParaRPr lang="en-US" sz="760" dirty="0"/>
          </a:p>
        </p:txBody>
      </p:sp>
      <p:sp>
        <p:nvSpPr>
          <p:cNvPr id="359" name="Shape 357"/>
          <p:cNvSpPr/>
          <p:nvPr/>
        </p:nvSpPr>
        <p:spPr>
          <a:xfrm>
            <a:off x="7823747" y="4018788"/>
            <a:ext cx="660478" cy="224028"/>
          </a:xfrm>
          <a:prstGeom prst="rect">
            <a:avLst/>
          </a:prstGeom>
          <a:solidFill>
            <a:srgbClr val="D6EBE7"/>
          </a:solidFill>
          <a:ln w="5080">
            <a:solidFill>
              <a:srgbClr val="D3DCE5"/>
            </a:solidFill>
            <a:prstDash val="solid"/>
          </a:ln>
        </p:spPr>
      </p:sp>
      <p:sp>
        <p:nvSpPr>
          <p:cNvPr id="360" name="Text 358"/>
          <p:cNvSpPr txBox="1"/>
          <p:nvPr/>
        </p:nvSpPr>
        <p:spPr>
          <a:xfrm>
            <a:off x="7823747"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1,559</a:t>
            </a:r>
            <a:endParaRPr lang="en-US" sz="760" dirty="0"/>
          </a:p>
        </p:txBody>
      </p:sp>
      <p:sp>
        <p:nvSpPr>
          <p:cNvPr id="361" name="Shape 359"/>
          <p:cNvSpPr/>
          <p:nvPr/>
        </p:nvSpPr>
        <p:spPr>
          <a:xfrm>
            <a:off x="8484225" y="4018788"/>
            <a:ext cx="660478" cy="224028"/>
          </a:xfrm>
          <a:prstGeom prst="rect">
            <a:avLst/>
          </a:prstGeom>
          <a:solidFill>
            <a:srgbClr val="D6EBE7"/>
          </a:solidFill>
          <a:ln w="5080">
            <a:solidFill>
              <a:srgbClr val="D3DCE5"/>
            </a:solidFill>
            <a:prstDash val="solid"/>
          </a:ln>
        </p:spPr>
      </p:sp>
      <p:sp>
        <p:nvSpPr>
          <p:cNvPr id="362" name="Text 360"/>
          <p:cNvSpPr txBox="1"/>
          <p:nvPr/>
        </p:nvSpPr>
        <p:spPr>
          <a:xfrm>
            <a:off x="8484225"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2,053</a:t>
            </a:r>
            <a:endParaRPr lang="en-US" sz="760" dirty="0"/>
          </a:p>
        </p:txBody>
      </p:sp>
      <p:sp>
        <p:nvSpPr>
          <p:cNvPr id="363" name="Shape 361"/>
          <p:cNvSpPr/>
          <p:nvPr/>
        </p:nvSpPr>
        <p:spPr>
          <a:xfrm>
            <a:off x="9144703" y="4018788"/>
            <a:ext cx="660478" cy="224028"/>
          </a:xfrm>
          <a:prstGeom prst="rect">
            <a:avLst/>
          </a:prstGeom>
          <a:solidFill>
            <a:srgbClr val="D6EBE7"/>
          </a:solidFill>
          <a:ln w="5080">
            <a:solidFill>
              <a:srgbClr val="D3DCE5"/>
            </a:solidFill>
            <a:prstDash val="solid"/>
          </a:ln>
        </p:spPr>
      </p:sp>
      <p:sp>
        <p:nvSpPr>
          <p:cNvPr id="364" name="Text 362"/>
          <p:cNvSpPr txBox="1"/>
          <p:nvPr/>
        </p:nvSpPr>
        <p:spPr>
          <a:xfrm>
            <a:off x="9144703"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2,416</a:t>
            </a:r>
            <a:endParaRPr lang="en-US" sz="760" dirty="0"/>
          </a:p>
        </p:txBody>
      </p:sp>
      <p:sp>
        <p:nvSpPr>
          <p:cNvPr id="365" name="Shape 363"/>
          <p:cNvSpPr/>
          <p:nvPr/>
        </p:nvSpPr>
        <p:spPr>
          <a:xfrm>
            <a:off x="9805182" y="4018788"/>
            <a:ext cx="660478" cy="224028"/>
          </a:xfrm>
          <a:prstGeom prst="rect">
            <a:avLst/>
          </a:prstGeom>
          <a:solidFill>
            <a:srgbClr val="D6EBE7"/>
          </a:solidFill>
          <a:ln w="5080">
            <a:solidFill>
              <a:srgbClr val="D3DCE5"/>
            </a:solidFill>
            <a:prstDash val="solid"/>
          </a:ln>
        </p:spPr>
      </p:sp>
      <p:sp>
        <p:nvSpPr>
          <p:cNvPr id="366" name="Text 364"/>
          <p:cNvSpPr txBox="1"/>
          <p:nvPr/>
        </p:nvSpPr>
        <p:spPr>
          <a:xfrm>
            <a:off x="9805182"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2,589</a:t>
            </a:r>
            <a:endParaRPr lang="en-US" sz="760" dirty="0"/>
          </a:p>
        </p:txBody>
      </p:sp>
      <p:sp>
        <p:nvSpPr>
          <p:cNvPr id="367" name="Shape 365"/>
          <p:cNvSpPr/>
          <p:nvPr/>
        </p:nvSpPr>
        <p:spPr>
          <a:xfrm>
            <a:off x="10465660" y="4018788"/>
            <a:ext cx="660478" cy="224028"/>
          </a:xfrm>
          <a:prstGeom prst="rect">
            <a:avLst/>
          </a:prstGeom>
          <a:solidFill>
            <a:srgbClr val="D6EBE7"/>
          </a:solidFill>
          <a:ln w="5080">
            <a:solidFill>
              <a:srgbClr val="D3DCE5"/>
            </a:solidFill>
            <a:prstDash val="solid"/>
          </a:ln>
        </p:spPr>
      </p:sp>
      <p:sp>
        <p:nvSpPr>
          <p:cNvPr id="368" name="Text 366"/>
          <p:cNvSpPr txBox="1"/>
          <p:nvPr/>
        </p:nvSpPr>
        <p:spPr>
          <a:xfrm>
            <a:off x="10465660"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2,685</a:t>
            </a:r>
            <a:endParaRPr lang="en-US" sz="760" dirty="0"/>
          </a:p>
        </p:txBody>
      </p:sp>
      <p:sp>
        <p:nvSpPr>
          <p:cNvPr id="369" name="Shape 367"/>
          <p:cNvSpPr/>
          <p:nvPr/>
        </p:nvSpPr>
        <p:spPr>
          <a:xfrm>
            <a:off x="11126138" y="4018788"/>
            <a:ext cx="660478" cy="224028"/>
          </a:xfrm>
          <a:prstGeom prst="rect">
            <a:avLst/>
          </a:prstGeom>
          <a:solidFill>
            <a:srgbClr val="D6EBE7"/>
          </a:solidFill>
          <a:ln w="5080">
            <a:solidFill>
              <a:srgbClr val="D3DCE5"/>
            </a:solidFill>
            <a:prstDash val="solid"/>
          </a:ln>
        </p:spPr>
      </p:sp>
      <p:sp>
        <p:nvSpPr>
          <p:cNvPr id="370" name="Text 368"/>
          <p:cNvSpPr txBox="1"/>
          <p:nvPr/>
        </p:nvSpPr>
        <p:spPr>
          <a:xfrm>
            <a:off x="11126138" y="4018788"/>
            <a:ext cx="614758" cy="22402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2,736</a:t>
            </a:r>
            <a:endParaRPr lang="en-US" sz="760" dirty="0"/>
          </a:p>
        </p:txBody>
      </p:sp>
      <p:sp>
        <p:nvSpPr>
          <p:cNvPr id="371" name="Shape 369"/>
          <p:cNvSpPr/>
          <p:nvPr/>
        </p:nvSpPr>
        <p:spPr>
          <a:xfrm>
            <a:off x="411480" y="4242816"/>
            <a:ext cx="2788920" cy="224028"/>
          </a:xfrm>
          <a:prstGeom prst="rect">
            <a:avLst/>
          </a:prstGeom>
          <a:solidFill>
            <a:srgbClr val="FFFFFF"/>
          </a:solidFill>
          <a:ln w="5080">
            <a:solidFill>
              <a:srgbClr val="D3DCE5"/>
            </a:solidFill>
            <a:prstDash val="solid"/>
          </a:ln>
        </p:spPr>
      </p:sp>
      <p:sp>
        <p:nvSpPr>
          <p:cNvPr id="372" name="Text 370"/>
          <p:cNvSpPr txBox="1"/>
          <p:nvPr/>
        </p:nvSpPr>
        <p:spPr>
          <a:xfrm>
            <a:off x="475488" y="4242816"/>
            <a:ext cx="2660904" cy="22402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EPS (A$)</a:t>
            </a:r>
            <a:endParaRPr lang="en-US" sz="780" dirty="0"/>
          </a:p>
        </p:txBody>
      </p:sp>
      <p:sp>
        <p:nvSpPr>
          <p:cNvPr id="373" name="Shape 371"/>
          <p:cNvSpPr/>
          <p:nvPr/>
        </p:nvSpPr>
        <p:spPr>
          <a:xfrm>
            <a:off x="3200400" y="4242816"/>
            <a:ext cx="660478" cy="224028"/>
          </a:xfrm>
          <a:prstGeom prst="rect">
            <a:avLst/>
          </a:prstGeom>
          <a:solidFill>
            <a:srgbClr val="FFFFFF"/>
          </a:solidFill>
          <a:ln w="5080">
            <a:solidFill>
              <a:srgbClr val="D3DCE5"/>
            </a:solidFill>
            <a:prstDash val="solid"/>
          </a:ln>
        </p:spPr>
      </p:sp>
      <p:sp>
        <p:nvSpPr>
          <p:cNvPr id="374" name="Text 372"/>
          <p:cNvSpPr txBox="1"/>
          <p:nvPr/>
        </p:nvSpPr>
        <p:spPr>
          <a:xfrm>
            <a:off x="3200400"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0.05</a:t>
            </a:r>
            <a:endParaRPr lang="en-US" sz="760" dirty="0"/>
          </a:p>
        </p:txBody>
      </p:sp>
      <p:sp>
        <p:nvSpPr>
          <p:cNvPr id="375" name="Shape 373"/>
          <p:cNvSpPr/>
          <p:nvPr/>
        </p:nvSpPr>
        <p:spPr>
          <a:xfrm>
            <a:off x="3860878" y="4242816"/>
            <a:ext cx="660478" cy="224028"/>
          </a:xfrm>
          <a:prstGeom prst="rect">
            <a:avLst/>
          </a:prstGeom>
          <a:solidFill>
            <a:srgbClr val="FFFFFF"/>
          </a:solidFill>
          <a:ln w="5080">
            <a:solidFill>
              <a:srgbClr val="D3DCE5"/>
            </a:solidFill>
            <a:prstDash val="solid"/>
          </a:ln>
        </p:spPr>
      </p:sp>
      <p:sp>
        <p:nvSpPr>
          <p:cNvPr id="376" name="Text 374"/>
          <p:cNvSpPr txBox="1"/>
          <p:nvPr/>
        </p:nvSpPr>
        <p:spPr>
          <a:xfrm>
            <a:off x="3860878" y="4242816"/>
            <a:ext cx="614758" cy="22402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(0.06)</a:t>
            </a:r>
            <a:endParaRPr lang="en-US" sz="760" dirty="0"/>
          </a:p>
        </p:txBody>
      </p:sp>
      <p:sp>
        <p:nvSpPr>
          <p:cNvPr id="377" name="Shape 375"/>
          <p:cNvSpPr/>
          <p:nvPr/>
        </p:nvSpPr>
        <p:spPr>
          <a:xfrm>
            <a:off x="4521356" y="4242816"/>
            <a:ext cx="660478" cy="224028"/>
          </a:xfrm>
          <a:prstGeom prst="rect">
            <a:avLst/>
          </a:prstGeom>
          <a:solidFill>
            <a:srgbClr val="FFFFFF"/>
          </a:solidFill>
          <a:ln w="5080">
            <a:solidFill>
              <a:srgbClr val="D3DCE5"/>
            </a:solidFill>
            <a:prstDash val="solid"/>
          </a:ln>
        </p:spPr>
      </p:sp>
      <p:sp>
        <p:nvSpPr>
          <p:cNvPr id="378" name="Text 376"/>
          <p:cNvSpPr txBox="1"/>
          <p:nvPr/>
        </p:nvSpPr>
        <p:spPr>
          <a:xfrm>
            <a:off x="4521356"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0.18</a:t>
            </a:r>
            <a:endParaRPr lang="en-US" sz="760" dirty="0"/>
          </a:p>
        </p:txBody>
      </p:sp>
      <p:sp>
        <p:nvSpPr>
          <p:cNvPr id="379" name="Shape 377"/>
          <p:cNvSpPr/>
          <p:nvPr/>
        </p:nvSpPr>
        <p:spPr>
          <a:xfrm>
            <a:off x="5181834" y="4242816"/>
            <a:ext cx="660478" cy="224028"/>
          </a:xfrm>
          <a:prstGeom prst="rect">
            <a:avLst/>
          </a:prstGeom>
          <a:solidFill>
            <a:srgbClr val="FFFFFF"/>
          </a:solidFill>
          <a:ln w="5080">
            <a:solidFill>
              <a:srgbClr val="D3DCE5"/>
            </a:solidFill>
            <a:prstDash val="solid"/>
          </a:ln>
        </p:spPr>
      </p:sp>
      <p:sp>
        <p:nvSpPr>
          <p:cNvPr id="380" name="Text 378"/>
          <p:cNvSpPr txBox="1"/>
          <p:nvPr/>
        </p:nvSpPr>
        <p:spPr>
          <a:xfrm>
            <a:off x="5181834"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0.30</a:t>
            </a:r>
            <a:endParaRPr lang="en-US" sz="760" dirty="0"/>
          </a:p>
        </p:txBody>
      </p:sp>
      <p:sp>
        <p:nvSpPr>
          <p:cNvPr id="381" name="Shape 379"/>
          <p:cNvSpPr/>
          <p:nvPr/>
        </p:nvSpPr>
        <p:spPr>
          <a:xfrm>
            <a:off x="5842313" y="4242816"/>
            <a:ext cx="660478" cy="224028"/>
          </a:xfrm>
          <a:prstGeom prst="rect">
            <a:avLst/>
          </a:prstGeom>
          <a:solidFill>
            <a:srgbClr val="FFFFFF"/>
          </a:solidFill>
          <a:ln w="5080">
            <a:solidFill>
              <a:srgbClr val="D3DCE5"/>
            </a:solidFill>
            <a:prstDash val="solid"/>
          </a:ln>
        </p:spPr>
      </p:sp>
      <p:sp>
        <p:nvSpPr>
          <p:cNvPr id="382" name="Text 380"/>
          <p:cNvSpPr txBox="1"/>
          <p:nvPr/>
        </p:nvSpPr>
        <p:spPr>
          <a:xfrm>
            <a:off x="5842313"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0.34</a:t>
            </a:r>
            <a:endParaRPr lang="en-US" sz="760" dirty="0"/>
          </a:p>
        </p:txBody>
      </p:sp>
      <p:sp>
        <p:nvSpPr>
          <p:cNvPr id="383" name="Shape 381"/>
          <p:cNvSpPr/>
          <p:nvPr/>
        </p:nvSpPr>
        <p:spPr>
          <a:xfrm>
            <a:off x="6502791" y="4242816"/>
            <a:ext cx="660478" cy="224028"/>
          </a:xfrm>
          <a:prstGeom prst="rect">
            <a:avLst/>
          </a:prstGeom>
          <a:solidFill>
            <a:srgbClr val="FFFFFF"/>
          </a:solidFill>
          <a:ln w="5080">
            <a:solidFill>
              <a:srgbClr val="D3DCE5"/>
            </a:solidFill>
            <a:prstDash val="solid"/>
          </a:ln>
        </p:spPr>
      </p:sp>
      <p:sp>
        <p:nvSpPr>
          <p:cNvPr id="384" name="Text 382"/>
          <p:cNvSpPr txBox="1"/>
          <p:nvPr/>
        </p:nvSpPr>
        <p:spPr>
          <a:xfrm>
            <a:off x="6502791"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0.34</a:t>
            </a:r>
            <a:endParaRPr lang="en-US" sz="760" dirty="0"/>
          </a:p>
        </p:txBody>
      </p:sp>
      <p:sp>
        <p:nvSpPr>
          <p:cNvPr id="385" name="Shape 383"/>
          <p:cNvSpPr/>
          <p:nvPr/>
        </p:nvSpPr>
        <p:spPr>
          <a:xfrm>
            <a:off x="7163269" y="4242816"/>
            <a:ext cx="660478" cy="224028"/>
          </a:xfrm>
          <a:prstGeom prst="rect">
            <a:avLst/>
          </a:prstGeom>
          <a:solidFill>
            <a:srgbClr val="FFFFFF"/>
          </a:solidFill>
          <a:ln w="5080">
            <a:solidFill>
              <a:srgbClr val="D3DCE5"/>
            </a:solidFill>
            <a:prstDash val="solid"/>
          </a:ln>
        </p:spPr>
      </p:sp>
      <p:sp>
        <p:nvSpPr>
          <p:cNvPr id="386" name="Text 384"/>
          <p:cNvSpPr txBox="1"/>
          <p:nvPr/>
        </p:nvSpPr>
        <p:spPr>
          <a:xfrm>
            <a:off x="7163269"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0.40</a:t>
            </a:r>
            <a:endParaRPr lang="en-US" sz="760" dirty="0"/>
          </a:p>
        </p:txBody>
      </p:sp>
      <p:sp>
        <p:nvSpPr>
          <p:cNvPr id="387" name="Shape 385"/>
          <p:cNvSpPr/>
          <p:nvPr/>
        </p:nvSpPr>
        <p:spPr>
          <a:xfrm>
            <a:off x="7823747" y="4242816"/>
            <a:ext cx="660478" cy="224028"/>
          </a:xfrm>
          <a:prstGeom prst="rect">
            <a:avLst/>
          </a:prstGeom>
          <a:solidFill>
            <a:srgbClr val="FFFFFF"/>
          </a:solidFill>
          <a:ln w="5080">
            <a:solidFill>
              <a:srgbClr val="D3DCE5"/>
            </a:solidFill>
            <a:prstDash val="solid"/>
          </a:ln>
        </p:spPr>
      </p:sp>
      <p:sp>
        <p:nvSpPr>
          <p:cNvPr id="388" name="Text 386"/>
          <p:cNvSpPr txBox="1"/>
          <p:nvPr/>
        </p:nvSpPr>
        <p:spPr>
          <a:xfrm>
            <a:off x="7823747"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0.48</a:t>
            </a:r>
            <a:endParaRPr lang="en-US" sz="760" dirty="0"/>
          </a:p>
        </p:txBody>
      </p:sp>
      <p:sp>
        <p:nvSpPr>
          <p:cNvPr id="389" name="Shape 387"/>
          <p:cNvSpPr/>
          <p:nvPr/>
        </p:nvSpPr>
        <p:spPr>
          <a:xfrm>
            <a:off x="8484225" y="4242816"/>
            <a:ext cx="660478" cy="224028"/>
          </a:xfrm>
          <a:prstGeom prst="rect">
            <a:avLst/>
          </a:prstGeom>
          <a:solidFill>
            <a:srgbClr val="FFFFFF"/>
          </a:solidFill>
          <a:ln w="5080">
            <a:solidFill>
              <a:srgbClr val="D3DCE5"/>
            </a:solidFill>
            <a:prstDash val="solid"/>
          </a:ln>
        </p:spPr>
      </p:sp>
      <p:sp>
        <p:nvSpPr>
          <p:cNvPr id="390" name="Text 388"/>
          <p:cNvSpPr txBox="1"/>
          <p:nvPr/>
        </p:nvSpPr>
        <p:spPr>
          <a:xfrm>
            <a:off x="8484225"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0.64</a:t>
            </a:r>
            <a:endParaRPr lang="en-US" sz="760" dirty="0"/>
          </a:p>
        </p:txBody>
      </p:sp>
      <p:sp>
        <p:nvSpPr>
          <p:cNvPr id="391" name="Shape 389"/>
          <p:cNvSpPr/>
          <p:nvPr/>
        </p:nvSpPr>
        <p:spPr>
          <a:xfrm>
            <a:off x="9144703" y="4242816"/>
            <a:ext cx="660478" cy="224028"/>
          </a:xfrm>
          <a:prstGeom prst="rect">
            <a:avLst/>
          </a:prstGeom>
          <a:solidFill>
            <a:srgbClr val="FFFFFF"/>
          </a:solidFill>
          <a:ln w="5080">
            <a:solidFill>
              <a:srgbClr val="D3DCE5"/>
            </a:solidFill>
            <a:prstDash val="solid"/>
          </a:ln>
        </p:spPr>
      </p:sp>
      <p:sp>
        <p:nvSpPr>
          <p:cNvPr id="392" name="Text 390"/>
          <p:cNvSpPr txBox="1"/>
          <p:nvPr/>
        </p:nvSpPr>
        <p:spPr>
          <a:xfrm>
            <a:off x="9144703"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0.75</a:t>
            </a:r>
            <a:endParaRPr lang="en-US" sz="760" dirty="0"/>
          </a:p>
        </p:txBody>
      </p:sp>
      <p:sp>
        <p:nvSpPr>
          <p:cNvPr id="393" name="Shape 391"/>
          <p:cNvSpPr/>
          <p:nvPr/>
        </p:nvSpPr>
        <p:spPr>
          <a:xfrm>
            <a:off x="9805182" y="4242816"/>
            <a:ext cx="660478" cy="224028"/>
          </a:xfrm>
          <a:prstGeom prst="rect">
            <a:avLst/>
          </a:prstGeom>
          <a:solidFill>
            <a:srgbClr val="FFFFFF"/>
          </a:solidFill>
          <a:ln w="5080">
            <a:solidFill>
              <a:srgbClr val="D3DCE5"/>
            </a:solidFill>
            <a:prstDash val="solid"/>
          </a:ln>
        </p:spPr>
      </p:sp>
      <p:sp>
        <p:nvSpPr>
          <p:cNvPr id="394" name="Text 392"/>
          <p:cNvSpPr txBox="1"/>
          <p:nvPr/>
        </p:nvSpPr>
        <p:spPr>
          <a:xfrm>
            <a:off x="9805182"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0.80</a:t>
            </a:r>
            <a:endParaRPr lang="en-US" sz="760" dirty="0"/>
          </a:p>
        </p:txBody>
      </p:sp>
      <p:sp>
        <p:nvSpPr>
          <p:cNvPr id="395" name="Shape 393"/>
          <p:cNvSpPr/>
          <p:nvPr/>
        </p:nvSpPr>
        <p:spPr>
          <a:xfrm>
            <a:off x="10465660" y="4242816"/>
            <a:ext cx="660478" cy="224028"/>
          </a:xfrm>
          <a:prstGeom prst="rect">
            <a:avLst/>
          </a:prstGeom>
          <a:solidFill>
            <a:srgbClr val="FFFFFF"/>
          </a:solidFill>
          <a:ln w="5080">
            <a:solidFill>
              <a:srgbClr val="D3DCE5"/>
            </a:solidFill>
            <a:prstDash val="solid"/>
          </a:ln>
        </p:spPr>
      </p:sp>
      <p:sp>
        <p:nvSpPr>
          <p:cNvPr id="396" name="Text 394"/>
          <p:cNvSpPr txBox="1"/>
          <p:nvPr/>
        </p:nvSpPr>
        <p:spPr>
          <a:xfrm>
            <a:off x="10465660"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0.83</a:t>
            </a:r>
            <a:endParaRPr lang="en-US" sz="760" dirty="0"/>
          </a:p>
        </p:txBody>
      </p:sp>
      <p:sp>
        <p:nvSpPr>
          <p:cNvPr id="397" name="Shape 395"/>
          <p:cNvSpPr/>
          <p:nvPr/>
        </p:nvSpPr>
        <p:spPr>
          <a:xfrm>
            <a:off x="11126138" y="4242816"/>
            <a:ext cx="660478" cy="224028"/>
          </a:xfrm>
          <a:prstGeom prst="rect">
            <a:avLst/>
          </a:prstGeom>
          <a:solidFill>
            <a:srgbClr val="FFFFFF"/>
          </a:solidFill>
          <a:ln w="5080">
            <a:solidFill>
              <a:srgbClr val="D3DCE5"/>
            </a:solidFill>
            <a:prstDash val="solid"/>
          </a:ln>
        </p:spPr>
      </p:sp>
      <p:sp>
        <p:nvSpPr>
          <p:cNvPr id="398" name="Text 396"/>
          <p:cNvSpPr txBox="1"/>
          <p:nvPr/>
        </p:nvSpPr>
        <p:spPr>
          <a:xfrm>
            <a:off x="11126138" y="4242816"/>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0.85</a:t>
            </a:r>
            <a:endParaRPr lang="en-US" sz="760" dirty="0"/>
          </a:p>
        </p:txBody>
      </p:sp>
      <p:sp>
        <p:nvSpPr>
          <p:cNvPr id="399" name="Shape 397"/>
          <p:cNvSpPr/>
          <p:nvPr/>
        </p:nvSpPr>
        <p:spPr>
          <a:xfrm>
            <a:off x="411480" y="4466844"/>
            <a:ext cx="2788920" cy="224028"/>
          </a:xfrm>
          <a:prstGeom prst="rect">
            <a:avLst/>
          </a:prstGeom>
          <a:solidFill>
            <a:srgbClr val="F7F9FB"/>
          </a:solidFill>
          <a:ln w="5080">
            <a:solidFill>
              <a:srgbClr val="D3DCE5"/>
            </a:solidFill>
            <a:prstDash val="solid"/>
          </a:ln>
        </p:spPr>
      </p:sp>
      <p:sp>
        <p:nvSpPr>
          <p:cNvPr id="400" name="Text 398"/>
          <p:cNvSpPr txBox="1"/>
          <p:nvPr/>
        </p:nvSpPr>
        <p:spPr>
          <a:xfrm>
            <a:off x="475488" y="4466844"/>
            <a:ext cx="2660904" cy="22402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DPS (A$)</a:t>
            </a:r>
            <a:endParaRPr lang="en-US" sz="780" dirty="0"/>
          </a:p>
        </p:txBody>
      </p:sp>
      <p:sp>
        <p:nvSpPr>
          <p:cNvPr id="401" name="Shape 399"/>
          <p:cNvSpPr/>
          <p:nvPr/>
        </p:nvSpPr>
        <p:spPr>
          <a:xfrm>
            <a:off x="3200400" y="4466844"/>
            <a:ext cx="660478" cy="224028"/>
          </a:xfrm>
          <a:prstGeom prst="rect">
            <a:avLst/>
          </a:prstGeom>
          <a:solidFill>
            <a:srgbClr val="F7F9FB"/>
          </a:solidFill>
          <a:ln w="5080">
            <a:solidFill>
              <a:srgbClr val="D3DCE5"/>
            </a:solidFill>
            <a:prstDash val="solid"/>
          </a:ln>
        </p:spPr>
      </p:sp>
      <p:sp>
        <p:nvSpPr>
          <p:cNvPr id="402" name="Text 400"/>
          <p:cNvSpPr txBox="1"/>
          <p:nvPr/>
        </p:nvSpPr>
        <p:spPr>
          <a:xfrm>
            <a:off x="3200400" y="4466844"/>
            <a:ext cx="614758" cy="224028"/>
          </a:xfrm>
          <a:prstGeom prst="rect">
            <a:avLst/>
          </a:prstGeom>
          <a:noFill/>
          <a:ln/>
        </p:spPr>
        <p:txBody>
          <a:bodyPr wrap="square" lIns="0" tIns="0" rIns="0" bIns="0" rtlCol="0" anchor="ctr"/>
          <a:lstStyle/>
          <a:p>
            <a:pPr algn="r" indent="0" marL="0">
              <a:buNone/>
            </a:pPr>
            <a:endParaRPr lang="en-US" sz="760" dirty="0"/>
          </a:p>
        </p:txBody>
      </p:sp>
      <p:sp>
        <p:nvSpPr>
          <p:cNvPr id="403" name="Shape 401"/>
          <p:cNvSpPr/>
          <p:nvPr/>
        </p:nvSpPr>
        <p:spPr>
          <a:xfrm>
            <a:off x="3860878" y="4466844"/>
            <a:ext cx="660478" cy="224028"/>
          </a:xfrm>
          <a:prstGeom prst="rect">
            <a:avLst/>
          </a:prstGeom>
          <a:solidFill>
            <a:srgbClr val="F7F9FB"/>
          </a:solidFill>
          <a:ln w="5080">
            <a:solidFill>
              <a:srgbClr val="D3DCE5"/>
            </a:solidFill>
            <a:prstDash val="solid"/>
          </a:ln>
        </p:spPr>
      </p:sp>
      <p:sp>
        <p:nvSpPr>
          <p:cNvPr id="404" name="Text 402"/>
          <p:cNvSpPr txBox="1"/>
          <p:nvPr/>
        </p:nvSpPr>
        <p:spPr>
          <a:xfrm>
            <a:off x="3860878" y="4466844"/>
            <a:ext cx="614758" cy="224028"/>
          </a:xfrm>
          <a:prstGeom prst="rect">
            <a:avLst/>
          </a:prstGeom>
          <a:noFill/>
          <a:ln/>
        </p:spPr>
        <p:txBody>
          <a:bodyPr wrap="square" lIns="0" tIns="0" rIns="0" bIns="0" rtlCol="0" anchor="ctr"/>
          <a:lstStyle/>
          <a:p>
            <a:pPr algn="r" indent="0" marL="0">
              <a:buNone/>
            </a:pPr>
            <a:endParaRPr lang="en-US" sz="760" dirty="0"/>
          </a:p>
        </p:txBody>
      </p:sp>
      <p:sp>
        <p:nvSpPr>
          <p:cNvPr id="405" name="Shape 403"/>
          <p:cNvSpPr/>
          <p:nvPr/>
        </p:nvSpPr>
        <p:spPr>
          <a:xfrm>
            <a:off x="4521356" y="4466844"/>
            <a:ext cx="660478" cy="224028"/>
          </a:xfrm>
          <a:prstGeom prst="rect">
            <a:avLst/>
          </a:prstGeom>
          <a:solidFill>
            <a:srgbClr val="F7F9FB"/>
          </a:solidFill>
          <a:ln w="5080">
            <a:solidFill>
              <a:srgbClr val="D3DCE5"/>
            </a:solidFill>
            <a:prstDash val="solid"/>
          </a:ln>
        </p:spPr>
      </p:sp>
      <p:sp>
        <p:nvSpPr>
          <p:cNvPr id="406" name="Text 404"/>
          <p:cNvSpPr txBox="1"/>
          <p:nvPr/>
        </p:nvSpPr>
        <p:spPr>
          <a:xfrm>
            <a:off x="4521356" y="4466844"/>
            <a:ext cx="614758" cy="224028"/>
          </a:xfrm>
          <a:prstGeom prst="rect">
            <a:avLst/>
          </a:prstGeom>
          <a:noFill/>
          <a:ln/>
        </p:spPr>
        <p:txBody>
          <a:bodyPr wrap="square" lIns="0" tIns="0" rIns="0" bIns="0" rtlCol="0" anchor="ctr"/>
          <a:lstStyle/>
          <a:p>
            <a:pPr algn="r" indent="0" marL="0">
              <a:buNone/>
            </a:pPr>
            <a:endParaRPr lang="en-US" sz="760" dirty="0"/>
          </a:p>
        </p:txBody>
      </p:sp>
      <p:sp>
        <p:nvSpPr>
          <p:cNvPr id="407" name="Shape 405"/>
          <p:cNvSpPr/>
          <p:nvPr/>
        </p:nvSpPr>
        <p:spPr>
          <a:xfrm>
            <a:off x="5181834" y="4466844"/>
            <a:ext cx="660478" cy="224028"/>
          </a:xfrm>
          <a:prstGeom prst="rect">
            <a:avLst/>
          </a:prstGeom>
          <a:solidFill>
            <a:srgbClr val="F7F9FB"/>
          </a:solidFill>
          <a:ln w="5080">
            <a:solidFill>
              <a:srgbClr val="D3DCE5"/>
            </a:solidFill>
            <a:prstDash val="solid"/>
          </a:ln>
        </p:spPr>
      </p:sp>
      <p:sp>
        <p:nvSpPr>
          <p:cNvPr id="408" name="Text 406"/>
          <p:cNvSpPr txBox="1"/>
          <p:nvPr/>
        </p:nvSpPr>
        <p:spPr>
          <a:xfrm>
            <a:off x="5181834" y="446684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0.09</a:t>
            </a:r>
            <a:endParaRPr lang="en-US" sz="760" dirty="0"/>
          </a:p>
        </p:txBody>
      </p:sp>
      <p:sp>
        <p:nvSpPr>
          <p:cNvPr id="409" name="Shape 407"/>
          <p:cNvSpPr/>
          <p:nvPr/>
        </p:nvSpPr>
        <p:spPr>
          <a:xfrm>
            <a:off x="5842313" y="4466844"/>
            <a:ext cx="660478" cy="224028"/>
          </a:xfrm>
          <a:prstGeom prst="rect">
            <a:avLst/>
          </a:prstGeom>
          <a:solidFill>
            <a:srgbClr val="F7F9FB"/>
          </a:solidFill>
          <a:ln w="5080">
            <a:solidFill>
              <a:srgbClr val="D3DCE5"/>
            </a:solidFill>
            <a:prstDash val="solid"/>
          </a:ln>
        </p:spPr>
      </p:sp>
      <p:sp>
        <p:nvSpPr>
          <p:cNvPr id="410" name="Text 408"/>
          <p:cNvSpPr txBox="1"/>
          <p:nvPr/>
        </p:nvSpPr>
        <p:spPr>
          <a:xfrm>
            <a:off x="5842313" y="446684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0.10</a:t>
            </a:r>
            <a:endParaRPr lang="en-US" sz="760" dirty="0"/>
          </a:p>
        </p:txBody>
      </p:sp>
      <p:sp>
        <p:nvSpPr>
          <p:cNvPr id="411" name="Shape 409"/>
          <p:cNvSpPr/>
          <p:nvPr/>
        </p:nvSpPr>
        <p:spPr>
          <a:xfrm>
            <a:off x="6502791" y="4466844"/>
            <a:ext cx="660478" cy="224028"/>
          </a:xfrm>
          <a:prstGeom prst="rect">
            <a:avLst/>
          </a:prstGeom>
          <a:solidFill>
            <a:srgbClr val="F7F9FB"/>
          </a:solidFill>
          <a:ln w="5080">
            <a:solidFill>
              <a:srgbClr val="D3DCE5"/>
            </a:solidFill>
            <a:prstDash val="solid"/>
          </a:ln>
        </p:spPr>
      </p:sp>
      <p:sp>
        <p:nvSpPr>
          <p:cNvPr id="412" name="Text 410"/>
          <p:cNvSpPr txBox="1"/>
          <p:nvPr/>
        </p:nvSpPr>
        <p:spPr>
          <a:xfrm>
            <a:off x="6502791" y="446684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0.10</a:t>
            </a:r>
            <a:endParaRPr lang="en-US" sz="760" dirty="0"/>
          </a:p>
        </p:txBody>
      </p:sp>
      <p:sp>
        <p:nvSpPr>
          <p:cNvPr id="413" name="Shape 411"/>
          <p:cNvSpPr/>
          <p:nvPr/>
        </p:nvSpPr>
        <p:spPr>
          <a:xfrm>
            <a:off x="7163269" y="4466844"/>
            <a:ext cx="660478" cy="224028"/>
          </a:xfrm>
          <a:prstGeom prst="rect">
            <a:avLst/>
          </a:prstGeom>
          <a:solidFill>
            <a:srgbClr val="F7F9FB"/>
          </a:solidFill>
          <a:ln w="5080">
            <a:solidFill>
              <a:srgbClr val="D3DCE5"/>
            </a:solidFill>
            <a:prstDash val="solid"/>
          </a:ln>
        </p:spPr>
      </p:sp>
      <p:sp>
        <p:nvSpPr>
          <p:cNvPr id="414" name="Text 412"/>
          <p:cNvSpPr txBox="1"/>
          <p:nvPr/>
        </p:nvSpPr>
        <p:spPr>
          <a:xfrm>
            <a:off x="7163269" y="446684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0.20</a:t>
            </a:r>
            <a:endParaRPr lang="en-US" sz="760" dirty="0"/>
          </a:p>
        </p:txBody>
      </p:sp>
      <p:sp>
        <p:nvSpPr>
          <p:cNvPr id="415" name="Shape 413"/>
          <p:cNvSpPr/>
          <p:nvPr/>
        </p:nvSpPr>
        <p:spPr>
          <a:xfrm>
            <a:off x="7823747" y="4466844"/>
            <a:ext cx="660478" cy="224028"/>
          </a:xfrm>
          <a:prstGeom prst="rect">
            <a:avLst/>
          </a:prstGeom>
          <a:solidFill>
            <a:srgbClr val="F7F9FB"/>
          </a:solidFill>
          <a:ln w="5080">
            <a:solidFill>
              <a:srgbClr val="D3DCE5"/>
            </a:solidFill>
            <a:prstDash val="solid"/>
          </a:ln>
        </p:spPr>
      </p:sp>
      <p:sp>
        <p:nvSpPr>
          <p:cNvPr id="416" name="Text 414"/>
          <p:cNvSpPr txBox="1"/>
          <p:nvPr/>
        </p:nvSpPr>
        <p:spPr>
          <a:xfrm>
            <a:off x="7823747" y="446684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0.24</a:t>
            </a:r>
            <a:endParaRPr lang="en-US" sz="760" dirty="0"/>
          </a:p>
        </p:txBody>
      </p:sp>
      <p:sp>
        <p:nvSpPr>
          <p:cNvPr id="417" name="Shape 415"/>
          <p:cNvSpPr/>
          <p:nvPr/>
        </p:nvSpPr>
        <p:spPr>
          <a:xfrm>
            <a:off x="8484225" y="4466844"/>
            <a:ext cx="660478" cy="224028"/>
          </a:xfrm>
          <a:prstGeom prst="rect">
            <a:avLst/>
          </a:prstGeom>
          <a:solidFill>
            <a:srgbClr val="F7F9FB"/>
          </a:solidFill>
          <a:ln w="5080">
            <a:solidFill>
              <a:srgbClr val="D3DCE5"/>
            </a:solidFill>
            <a:prstDash val="solid"/>
          </a:ln>
        </p:spPr>
      </p:sp>
      <p:sp>
        <p:nvSpPr>
          <p:cNvPr id="418" name="Text 416"/>
          <p:cNvSpPr txBox="1"/>
          <p:nvPr/>
        </p:nvSpPr>
        <p:spPr>
          <a:xfrm>
            <a:off x="8484225" y="446684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0.32</a:t>
            </a:r>
            <a:endParaRPr lang="en-US" sz="760" dirty="0"/>
          </a:p>
        </p:txBody>
      </p:sp>
      <p:sp>
        <p:nvSpPr>
          <p:cNvPr id="419" name="Shape 417"/>
          <p:cNvSpPr/>
          <p:nvPr/>
        </p:nvSpPr>
        <p:spPr>
          <a:xfrm>
            <a:off x="9144703" y="4466844"/>
            <a:ext cx="660478" cy="224028"/>
          </a:xfrm>
          <a:prstGeom prst="rect">
            <a:avLst/>
          </a:prstGeom>
          <a:solidFill>
            <a:srgbClr val="F7F9FB"/>
          </a:solidFill>
          <a:ln w="5080">
            <a:solidFill>
              <a:srgbClr val="D3DCE5"/>
            </a:solidFill>
            <a:prstDash val="solid"/>
          </a:ln>
        </p:spPr>
      </p:sp>
      <p:sp>
        <p:nvSpPr>
          <p:cNvPr id="420" name="Text 418"/>
          <p:cNvSpPr txBox="1"/>
          <p:nvPr/>
        </p:nvSpPr>
        <p:spPr>
          <a:xfrm>
            <a:off x="9144703" y="446684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0.38</a:t>
            </a:r>
            <a:endParaRPr lang="en-US" sz="760" dirty="0"/>
          </a:p>
        </p:txBody>
      </p:sp>
      <p:sp>
        <p:nvSpPr>
          <p:cNvPr id="421" name="Shape 419"/>
          <p:cNvSpPr/>
          <p:nvPr/>
        </p:nvSpPr>
        <p:spPr>
          <a:xfrm>
            <a:off x="9805182" y="4466844"/>
            <a:ext cx="660478" cy="224028"/>
          </a:xfrm>
          <a:prstGeom prst="rect">
            <a:avLst/>
          </a:prstGeom>
          <a:solidFill>
            <a:srgbClr val="F7F9FB"/>
          </a:solidFill>
          <a:ln w="5080">
            <a:solidFill>
              <a:srgbClr val="D3DCE5"/>
            </a:solidFill>
            <a:prstDash val="solid"/>
          </a:ln>
        </p:spPr>
      </p:sp>
      <p:sp>
        <p:nvSpPr>
          <p:cNvPr id="422" name="Text 420"/>
          <p:cNvSpPr txBox="1"/>
          <p:nvPr/>
        </p:nvSpPr>
        <p:spPr>
          <a:xfrm>
            <a:off x="9805182" y="446684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0.40</a:t>
            </a:r>
            <a:endParaRPr lang="en-US" sz="760" dirty="0"/>
          </a:p>
        </p:txBody>
      </p:sp>
      <p:sp>
        <p:nvSpPr>
          <p:cNvPr id="423" name="Shape 421"/>
          <p:cNvSpPr/>
          <p:nvPr/>
        </p:nvSpPr>
        <p:spPr>
          <a:xfrm>
            <a:off x="10465660" y="4466844"/>
            <a:ext cx="660478" cy="224028"/>
          </a:xfrm>
          <a:prstGeom prst="rect">
            <a:avLst/>
          </a:prstGeom>
          <a:solidFill>
            <a:srgbClr val="F7F9FB"/>
          </a:solidFill>
          <a:ln w="5080">
            <a:solidFill>
              <a:srgbClr val="D3DCE5"/>
            </a:solidFill>
            <a:prstDash val="solid"/>
          </a:ln>
        </p:spPr>
      </p:sp>
      <p:sp>
        <p:nvSpPr>
          <p:cNvPr id="424" name="Text 422"/>
          <p:cNvSpPr txBox="1"/>
          <p:nvPr/>
        </p:nvSpPr>
        <p:spPr>
          <a:xfrm>
            <a:off x="10465660" y="446684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0.42</a:t>
            </a:r>
            <a:endParaRPr lang="en-US" sz="760" dirty="0"/>
          </a:p>
        </p:txBody>
      </p:sp>
      <p:sp>
        <p:nvSpPr>
          <p:cNvPr id="425" name="Shape 423"/>
          <p:cNvSpPr/>
          <p:nvPr/>
        </p:nvSpPr>
        <p:spPr>
          <a:xfrm>
            <a:off x="11126138" y="4466844"/>
            <a:ext cx="660478" cy="224028"/>
          </a:xfrm>
          <a:prstGeom prst="rect">
            <a:avLst/>
          </a:prstGeom>
          <a:solidFill>
            <a:srgbClr val="F7F9FB"/>
          </a:solidFill>
          <a:ln w="5080">
            <a:solidFill>
              <a:srgbClr val="D3DCE5"/>
            </a:solidFill>
            <a:prstDash val="solid"/>
          </a:ln>
        </p:spPr>
      </p:sp>
      <p:sp>
        <p:nvSpPr>
          <p:cNvPr id="426" name="Text 424"/>
          <p:cNvSpPr txBox="1"/>
          <p:nvPr/>
        </p:nvSpPr>
        <p:spPr>
          <a:xfrm>
            <a:off x="11126138" y="4466844"/>
            <a:ext cx="614758" cy="22402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0.42</a:t>
            </a:r>
            <a:endParaRPr lang="en-US" sz="760" dirty="0"/>
          </a:p>
        </p:txBody>
      </p:sp>
      <p:sp>
        <p:nvSpPr>
          <p:cNvPr id="427" name="Shape 425"/>
          <p:cNvSpPr/>
          <p:nvPr/>
        </p:nvSpPr>
        <p:spPr>
          <a:xfrm>
            <a:off x="411480" y="4864608"/>
            <a:ext cx="11375136" cy="1024128"/>
          </a:xfrm>
          <a:prstGeom prst="rect">
            <a:avLst/>
          </a:prstGeom>
          <a:solidFill>
            <a:srgbClr val="EEF2F6"/>
          </a:solidFill>
          <a:ln w="9525">
            <a:solidFill>
              <a:srgbClr val="D3DCE5"/>
            </a:solidFill>
            <a:prstDash val="solid"/>
          </a:ln>
        </p:spPr>
      </p:sp>
      <p:sp>
        <p:nvSpPr>
          <p:cNvPr id="428" name="Text 426"/>
          <p:cNvSpPr txBox="1"/>
          <p:nvPr/>
        </p:nvSpPr>
        <p:spPr>
          <a:xfrm>
            <a:off x="576072" y="4992624"/>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historical reconciliation line, explained</a:t>
            </a:r>
            <a:endParaRPr lang="en-US" sz="1150" dirty="0"/>
          </a:p>
        </p:txBody>
      </p:sp>
      <p:sp>
        <p:nvSpPr>
          <p:cNvPr id="429" name="Text 427"/>
          <p:cNvSpPr txBox="1"/>
          <p:nvPr/>
        </p:nvSpPr>
        <p:spPr>
          <a:xfrm>
            <a:off x="576072" y="5321808"/>
            <a:ext cx="11045952" cy="475488"/>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Our cost build is deliberately simple: volume times unit cost, plus a royalty, plus corporate overhead. Reported underlying EBITDA reflects a more granular cost definition than that. Rather than tune our inputs until the two happened to agree, we let the corporate line absorb the difference in FY24A to FY26A, and labelled it as a reconciliation. The result is that the historical columns tie exactly to reported figures and the forecast columns are driven purely by the deck, with no hidden plug.</a:t>
            </a:r>
            <a:endParaRPr lang="en-US" sz="920" dirty="0"/>
          </a:p>
        </p:txBody>
      </p:sp>
      <p:sp>
        <p:nvSpPr>
          <p:cNvPr id="430" name="Text 428"/>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Income Statement sheet, base case. FY24A figures are estimates and are flagged as such in the workbook's source register.</a:t>
            </a:r>
            <a:endParaRPr lang="en-US" sz="720" dirty="0"/>
          </a:p>
        </p:txBody>
      </p:sp>
      <p:sp>
        <p:nvSpPr>
          <p:cNvPr id="431" name="Text 429"/>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E5</a:t>
            </a:r>
            <a:endParaRPr lang="en-US" sz="8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mbria" pitchFamily="34" charset="0"/>
                <a:ea typeface="Cambria" pitchFamily="34" charset="-122"/>
                <a:cs typeface="Cambria" pitchFamily="34" charset="-120"/>
              </a:rPr>
              <a:t>Opens on the reported FY26 cash position and rolls forward. The balance check is nil in every year.</a:t>
            </a:r>
            <a:endParaRPr lang="en-US" sz="170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E6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788920" cy="256032"/>
          </a:xfrm>
          <a:prstGeom prst="rect">
            <a:avLst/>
          </a:prstGeom>
          <a:solidFill>
            <a:srgbClr val="10233A"/>
          </a:solidFill>
          <a:ln/>
        </p:spPr>
      </p:sp>
      <p:sp>
        <p:nvSpPr>
          <p:cNvPr id="8" name="Text 6"/>
          <p:cNvSpPr txBox="1"/>
          <p:nvPr/>
        </p:nvSpPr>
        <p:spPr>
          <a:xfrm>
            <a:off x="475488" y="1298448"/>
            <a:ext cx="2660904" cy="256032"/>
          </a:xfrm>
          <a:prstGeom prst="rect">
            <a:avLst/>
          </a:prstGeom>
          <a:noFill/>
          <a:ln/>
        </p:spPr>
        <p:txBody>
          <a:bodyPr wrap="square" lIns="0" tIns="0" rIns="0" bIns="0" rtlCol="0" anchor="ctr"/>
          <a:lstStyle/>
          <a:p>
            <a:pPr indent="0" marL="0">
              <a:buNone/>
            </a:pPr>
            <a:r>
              <a:rPr lang="en-US" sz="820" b="1" dirty="0">
                <a:solidFill>
                  <a:srgbClr val="FFFFFF"/>
                </a:solidFill>
                <a:latin typeface="Calibri" pitchFamily="34" charset="0"/>
                <a:ea typeface="Calibri" pitchFamily="34" charset="-122"/>
                <a:cs typeface="Calibri" pitchFamily="34" charset="-120"/>
              </a:rPr>
              <a:t>A$m</a:t>
            </a:r>
            <a:endParaRPr lang="en-US" sz="820" dirty="0"/>
          </a:p>
        </p:txBody>
      </p:sp>
      <p:sp>
        <p:nvSpPr>
          <p:cNvPr id="9" name="Shape 7"/>
          <p:cNvSpPr/>
          <p:nvPr/>
        </p:nvSpPr>
        <p:spPr>
          <a:xfrm>
            <a:off x="3200400" y="1298448"/>
            <a:ext cx="660478" cy="256032"/>
          </a:xfrm>
          <a:prstGeom prst="rect">
            <a:avLst/>
          </a:prstGeom>
          <a:solidFill>
            <a:srgbClr val="10233A"/>
          </a:solidFill>
          <a:ln/>
        </p:spPr>
      </p:sp>
      <p:sp>
        <p:nvSpPr>
          <p:cNvPr id="10" name="Text 8"/>
          <p:cNvSpPr txBox="1"/>
          <p:nvPr/>
        </p:nvSpPr>
        <p:spPr>
          <a:xfrm>
            <a:off x="3200400"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FY24A</a:t>
            </a:r>
            <a:endParaRPr lang="en-US" sz="760" dirty="0"/>
          </a:p>
        </p:txBody>
      </p:sp>
      <p:sp>
        <p:nvSpPr>
          <p:cNvPr id="11" name="Shape 9"/>
          <p:cNvSpPr/>
          <p:nvPr/>
        </p:nvSpPr>
        <p:spPr>
          <a:xfrm>
            <a:off x="3860878" y="1298448"/>
            <a:ext cx="660478" cy="256032"/>
          </a:xfrm>
          <a:prstGeom prst="rect">
            <a:avLst/>
          </a:prstGeom>
          <a:solidFill>
            <a:srgbClr val="10233A"/>
          </a:solidFill>
          <a:ln/>
        </p:spPr>
      </p:sp>
      <p:sp>
        <p:nvSpPr>
          <p:cNvPr id="12" name="Text 10"/>
          <p:cNvSpPr txBox="1"/>
          <p:nvPr/>
        </p:nvSpPr>
        <p:spPr>
          <a:xfrm>
            <a:off x="3860878"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FY25A</a:t>
            </a:r>
            <a:endParaRPr lang="en-US" sz="760" dirty="0"/>
          </a:p>
        </p:txBody>
      </p:sp>
      <p:sp>
        <p:nvSpPr>
          <p:cNvPr id="13" name="Shape 11"/>
          <p:cNvSpPr/>
          <p:nvPr/>
        </p:nvSpPr>
        <p:spPr>
          <a:xfrm>
            <a:off x="4521356" y="1298448"/>
            <a:ext cx="660478" cy="256032"/>
          </a:xfrm>
          <a:prstGeom prst="rect">
            <a:avLst/>
          </a:prstGeom>
          <a:solidFill>
            <a:srgbClr val="10233A"/>
          </a:solidFill>
          <a:ln/>
        </p:spPr>
      </p:sp>
      <p:sp>
        <p:nvSpPr>
          <p:cNvPr id="14" name="Text 12"/>
          <p:cNvSpPr txBox="1"/>
          <p:nvPr/>
        </p:nvSpPr>
        <p:spPr>
          <a:xfrm>
            <a:off x="4521356"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FY26A</a:t>
            </a:r>
            <a:endParaRPr lang="en-US" sz="760" dirty="0"/>
          </a:p>
        </p:txBody>
      </p:sp>
      <p:sp>
        <p:nvSpPr>
          <p:cNvPr id="15" name="Shape 13"/>
          <p:cNvSpPr/>
          <p:nvPr/>
        </p:nvSpPr>
        <p:spPr>
          <a:xfrm>
            <a:off x="5181834" y="1298448"/>
            <a:ext cx="660478" cy="256032"/>
          </a:xfrm>
          <a:prstGeom prst="rect">
            <a:avLst/>
          </a:prstGeom>
          <a:solidFill>
            <a:srgbClr val="10233A"/>
          </a:solidFill>
          <a:ln/>
        </p:spPr>
      </p:sp>
      <p:sp>
        <p:nvSpPr>
          <p:cNvPr id="16" name="Text 14"/>
          <p:cNvSpPr txBox="1"/>
          <p:nvPr/>
        </p:nvSpPr>
        <p:spPr>
          <a:xfrm>
            <a:off x="5181834"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FY27F</a:t>
            </a:r>
            <a:endParaRPr lang="en-US" sz="760" dirty="0"/>
          </a:p>
        </p:txBody>
      </p:sp>
      <p:sp>
        <p:nvSpPr>
          <p:cNvPr id="17" name="Shape 15"/>
          <p:cNvSpPr/>
          <p:nvPr/>
        </p:nvSpPr>
        <p:spPr>
          <a:xfrm>
            <a:off x="5842313" y="1298448"/>
            <a:ext cx="660478" cy="256032"/>
          </a:xfrm>
          <a:prstGeom prst="rect">
            <a:avLst/>
          </a:prstGeom>
          <a:solidFill>
            <a:srgbClr val="10233A"/>
          </a:solidFill>
          <a:ln/>
        </p:spPr>
      </p:sp>
      <p:sp>
        <p:nvSpPr>
          <p:cNvPr id="18" name="Text 16"/>
          <p:cNvSpPr txBox="1"/>
          <p:nvPr/>
        </p:nvSpPr>
        <p:spPr>
          <a:xfrm>
            <a:off x="5842313"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FY28F</a:t>
            </a:r>
            <a:endParaRPr lang="en-US" sz="760" dirty="0"/>
          </a:p>
        </p:txBody>
      </p:sp>
      <p:sp>
        <p:nvSpPr>
          <p:cNvPr id="19" name="Shape 17"/>
          <p:cNvSpPr/>
          <p:nvPr/>
        </p:nvSpPr>
        <p:spPr>
          <a:xfrm>
            <a:off x="6502791" y="1298448"/>
            <a:ext cx="660478" cy="256032"/>
          </a:xfrm>
          <a:prstGeom prst="rect">
            <a:avLst/>
          </a:prstGeom>
          <a:solidFill>
            <a:srgbClr val="10233A"/>
          </a:solidFill>
          <a:ln/>
        </p:spPr>
      </p:sp>
      <p:sp>
        <p:nvSpPr>
          <p:cNvPr id="20" name="Text 18"/>
          <p:cNvSpPr txBox="1"/>
          <p:nvPr/>
        </p:nvSpPr>
        <p:spPr>
          <a:xfrm>
            <a:off x="6502791"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FY29F</a:t>
            </a:r>
            <a:endParaRPr lang="en-US" sz="760" dirty="0"/>
          </a:p>
        </p:txBody>
      </p:sp>
      <p:sp>
        <p:nvSpPr>
          <p:cNvPr id="21" name="Shape 19"/>
          <p:cNvSpPr/>
          <p:nvPr/>
        </p:nvSpPr>
        <p:spPr>
          <a:xfrm>
            <a:off x="7163269" y="1298448"/>
            <a:ext cx="660478" cy="256032"/>
          </a:xfrm>
          <a:prstGeom prst="rect">
            <a:avLst/>
          </a:prstGeom>
          <a:solidFill>
            <a:srgbClr val="10233A"/>
          </a:solidFill>
          <a:ln/>
        </p:spPr>
      </p:sp>
      <p:sp>
        <p:nvSpPr>
          <p:cNvPr id="22" name="Text 20"/>
          <p:cNvSpPr txBox="1"/>
          <p:nvPr/>
        </p:nvSpPr>
        <p:spPr>
          <a:xfrm>
            <a:off x="7163269"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FY30F</a:t>
            </a:r>
            <a:endParaRPr lang="en-US" sz="760" dirty="0"/>
          </a:p>
        </p:txBody>
      </p:sp>
      <p:sp>
        <p:nvSpPr>
          <p:cNvPr id="23" name="Shape 21"/>
          <p:cNvSpPr/>
          <p:nvPr/>
        </p:nvSpPr>
        <p:spPr>
          <a:xfrm>
            <a:off x="7823747" y="1298448"/>
            <a:ext cx="660478" cy="256032"/>
          </a:xfrm>
          <a:prstGeom prst="rect">
            <a:avLst/>
          </a:prstGeom>
          <a:solidFill>
            <a:srgbClr val="10233A"/>
          </a:solidFill>
          <a:ln/>
        </p:spPr>
      </p:sp>
      <p:sp>
        <p:nvSpPr>
          <p:cNvPr id="24" name="Text 22"/>
          <p:cNvSpPr txBox="1"/>
          <p:nvPr/>
        </p:nvSpPr>
        <p:spPr>
          <a:xfrm>
            <a:off x="7823747"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FY31F</a:t>
            </a:r>
            <a:endParaRPr lang="en-US" sz="760" dirty="0"/>
          </a:p>
        </p:txBody>
      </p:sp>
      <p:sp>
        <p:nvSpPr>
          <p:cNvPr id="25" name="Shape 23"/>
          <p:cNvSpPr/>
          <p:nvPr/>
        </p:nvSpPr>
        <p:spPr>
          <a:xfrm>
            <a:off x="8484225" y="1298448"/>
            <a:ext cx="660478" cy="256032"/>
          </a:xfrm>
          <a:prstGeom prst="rect">
            <a:avLst/>
          </a:prstGeom>
          <a:solidFill>
            <a:srgbClr val="10233A"/>
          </a:solidFill>
          <a:ln/>
        </p:spPr>
      </p:sp>
      <p:sp>
        <p:nvSpPr>
          <p:cNvPr id="26" name="Text 24"/>
          <p:cNvSpPr txBox="1"/>
          <p:nvPr/>
        </p:nvSpPr>
        <p:spPr>
          <a:xfrm>
            <a:off x="8484225"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FY32F</a:t>
            </a:r>
            <a:endParaRPr lang="en-US" sz="760" dirty="0"/>
          </a:p>
        </p:txBody>
      </p:sp>
      <p:sp>
        <p:nvSpPr>
          <p:cNvPr id="27" name="Shape 25"/>
          <p:cNvSpPr/>
          <p:nvPr/>
        </p:nvSpPr>
        <p:spPr>
          <a:xfrm>
            <a:off x="9144703" y="1298448"/>
            <a:ext cx="660478" cy="256032"/>
          </a:xfrm>
          <a:prstGeom prst="rect">
            <a:avLst/>
          </a:prstGeom>
          <a:solidFill>
            <a:srgbClr val="10233A"/>
          </a:solidFill>
          <a:ln/>
        </p:spPr>
      </p:sp>
      <p:sp>
        <p:nvSpPr>
          <p:cNvPr id="28" name="Text 26"/>
          <p:cNvSpPr txBox="1"/>
          <p:nvPr/>
        </p:nvSpPr>
        <p:spPr>
          <a:xfrm>
            <a:off x="9144703"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FY33F</a:t>
            </a:r>
            <a:endParaRPr lang="en-US" sz="760" dirty="0"/>
          </a:p>
        </p:txBody>
      </p:sp>
      <p:sp>
        <p:nvSpPr>
          <p:cNvPr id="29" name="Shape 27"/>
          <p:cNvSpPr/>
          <p:nvPr/>
        </p:nvSpPr>
        <p:spPr>
          <a:xfrm>
            <a:off x="9805182" y="1298448"/>
            <a:ext cx="660478" cy="256032"/>
          </a:xfrm>
          <a:prstGeom prst="rect">
            <a:avLst/>
          </a:prstGeom>
          <a:solidFill>
            <a:srgbClr val="10233A"/>
          </a:solidFill>
          <a:ln/>
        </p:spPr>
      </p:sp>
      <p:sp>
        <p:nvSpPr>
          <p:cNvPr id="30" name="Text 28"/>
          <p:cNvSpPr txBox="1"/>
          <p:nvPr/>
        </p:nvSpPr>
        <p:spPr>
          <a:xfrm>
            <a:off x="9805182"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FY34F</a:t>
            </a:r>
            <a:endParaRPr lang="en-US" sz="760" dirty="0"/>
          </a:p>
        </p:txBody>
      </p:sp>
      <p:sp>
        <p:nvSpPr>
          <p:cNvPr id="31" name="Shape 29"/>
          <p:cNvSpPr/>
          <p:nvPr/>
        </p:nvSpPr>
        <p:spPr>
          <a:xfrm>
            <a:off x="10465660" y="1298448"/>
            <a:ext cx="660478" cy="256032"/>
          </a:xfrm>
          <a:prstGeom prst="rect">
            <a:avLst/>
          </a:prstGeom>
          <a:solidFill>
            <a:srgbClr val="10233A"/>
          </a:solidFill>
          <a:ln/>
        </p:spPr>
      </p:sp>
      <p:sp>
        <p:nvSpPr>
          <p:cNvPr id="32" name="Text 30"/>
          <p:cNvSpPr txBox="1"/>
          <p:nvPr/>
        </p:nvSpPr>
        <p:spPr>
          <a:xfrm>
            <a:off x="10465660"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FY35F</a:t>
            </a:r>
            <a:endParaRPr lang="en-US" sz="760" dirty="0"/>
          </a:p>
        </p:txBody>
      </p:sp>
      <p:sp>
        <p:nvSpPr>
          <p:cNvPr id="33" name="Shape 31"/>
          <p:cNvSpPr/>
          <p:nvPr/>
        </p:nvSpPr>
        <p:spPr>
          <a:xfrm>
            <a:off x="11126138" y="1298448"/>
            <a:ext cx="660478" cy="256032"/>
          </a:xfrm>
          <a:prstGeom prst="rect">
            <a:avLst/>
          </a:prstGeom>
          <a:solidFill>
            <a:srgbClr val="10233A"/>
          </a:solidFill>
          <a:ln/>
        </p:spPr>
      </p:sp>
      <p:sp>
        <p:nvSpPr>
          <p:cNvPr id="34" name="Text 32"/>
          <p:cNvSpPr txBox="1"/>
          <p:nvPr/>
        </p:nvSpPr>
        <p:spPr>
          <a:xfrm>
            <a:off x="11126138"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FY36F</a:t>
            </a:r>
            <a:endParaRPr lang="en-US" sz="760" dirty="0"/>
          </a:p>
        </p:txBody>
      </p:sp>
      <p:sp>
        <p:nvSpPr>
          <p:cNvPr id="35" name="Shape 33"/>
          <p:cNvSpPr/>
          <p:nvPr/>
        </p:nvSpPr>
        <p:spPr>
          <a:xfrm>
            <a:off x="411480" y="1554480"/>
            <a:ext cx="2788920" cy="237744"/>
          </a:xfrm>
          <a:prstGeom prst="rect">
            <a:avLst/>
          </a:prstGeom>
          <a:solidFill>
            <a:srgbClr val="FFFFFF"/>
          </a:solidFill>
          <a:ln w="5080">
            <a:solidFill>
              <a:srgbClr val="D3DCE5"/>
            </a:solidFill>
            <a:prstDash val="solid"/>
          </a:ln>
        </p:spPr>
      </p:sp>
      <p:sp>
        <p:nvSpPr>
          <p:cNvPr id="36" name="Text 34"/>
          <p:cNvSpPr txBox="1"/>
          <p:nvPr/>
        </p:nvSpPr>
        <p:spPr>
          <a:xfrm>
            <a:off x="475488" y="1554480"/>
            <a:ext cx="2660904" cy="237744"/>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Cash and equivalents</a:t>
            </a:r>
            <a:endParaRPr lang="en-US" sz="780" dirty="0"/>
          </a:p>
        </p:txBody>
      </p:sp>
      <p:sp>
        <p:nvSpPr>
          <p:cNvPr id="37" name="Shape 35"/>
          <p:cNvSpPr/>
          <p:nvPr/>
        </p:nvSpPr>
        <p:spPr>
          <a:xfrm>
            <a:off x="3200400" y="1554480"/>
            <a:ext cx="660478" cy="237744"/>
          </a:xfrm>
          <a:prstGeom prst="rect">
            <a:avLst/>
          </a:prstGeom>
          <a:solidFill>
            <a:srgbClr val="FFFFFF"/>
          </a:solidFill>
          <a:ln w="5080">
            <a:solidFill>
              <a:srgbClr val="D3DCE5"/>
            </a:solidFill>
            <a:prstDash val="solid"/>
          </a:ln>
        </p:spPr>
      </p:sp>
      <p:sp>
        <p:nvSpPr>
          <p:cNvPr id="38" name="Text 36"/>
          <p:cNvSpPr txBox="1"/>
          <p:nvPr/>
        </p:nvSpPr>
        <p:spPr>
          <a:xfrm>
            <a:off x="3200400" y="1554480"/>
            <a:ext cx="614758" cy="237744"/>
          </a:xfrm>
          <a:prstGeom prst="rect">
            <a:avLst/>
          </a:prstGeom>
          <a:noFill/>
          <a:ln/>
        </p:spPr>
        <p:txBody>
          <a:bodyPr wrap="square" lIns="0" tIns="0" rIns="0" bIns="0" rtlCol="0" anchor="ctr"/>
          <a:lstStyle/>
          <a:p>
            <a:pPr algn="r" indent="0" marL="0">
              <a:buNone/>
            </a:pPr>
            <a:endParaRPr lang="en-US" sz="760" dirty="0"/>
          </a:p>
        </p:txBody>
      </p:sp>
      <p:sp>
        <p:nvSpPr>
          <p:cNvPr id="39" name="Shape 37"/>
          <p:cNvSpPr/>
          <p:nvPr/>
        </p:nvSpPr>
        <p:spPr>
          <a:xfrm>
            <a:off x="3860878" y="1554480"/>
            <a:ext cx="660478" cy="237744"/>
          </a:xfrm>
          <a:prstGeom prst="rect">
            <a:avLst/>
          </a:prstGeom>
          <a:solidFill>
            <a:srgbClr val="FFFFFF"/>
          </a:solidFill>
          <a:ln w="5080">
            <a:solidFill>
              <a:srgbClr val="D3DCE5"/>
            </a:solidFill>
            <a:prstDash val="solid"/>
          </a:ln>
        </p:spPr>
      </p:sp>
      <p:sp>
        <p:nvSpPr>
          <p:cNvPr id="40" name="Text 38"/>
          <p:cNvSpPr txBox="1"/>
          <p:nvPr/>
        </p:nvSpPr>
        <p:spPr>
          <a:xfrm>
            <a:off x="3860878" y="1554480"/>
            <a:ext cx="614758" cy="237744"/>
          </a:xfrm>
          <a:prstGeom prst="rect">
            <a:avLst/>
          </a:prstGeom>
          <a:noFill/>
          <a:ln/>
        </p:spPr>
        <p:txBody>
          <a:bodyPr wrap="square" lIns="0" tIns="0" rIns="0" bIns="0" rtlCol="0" anchor="ctr"/>
          <a:lstStyle/>
          <a:p>
            <a:pPr algn="r" indent="0" marL="0">
              <a:buNone/>
            </a:pPr>
            <a:endParaRPr lang="en-US" sz="760" dirty="0"/>
          </a:p>
        </p:txBody>
      </p:sp>
      <p:sp>
        <p:nvSpPr>
          <p:cNvPr id="41" name="Shape 39"/>
          <p:cNvSpPr/>
          <p:nvPr/>
        </p:nvSpPr>
        <p:spPr>
          <a:xfrm>
            <a:off x="4521356" y="1554480"/>
            <a:ext cx="660478" cy="237744"/>
          </a:xfrm>
          <a:prstGeom prst="rect">
            <a:avLst/>
          </a:prstGeom>
          <a:solidFill>
            <a:srgbClr val="FFFFFF"/>
          </a:solidFill>
          <a:ln w="5080">
            <a:solidFill>
              <a:srgbClr val="D3DCE5"/>
            </a:solidFill>
            <a:prstDash val="solid"/>
          </a:ln>
        </p:spPr>
      </p:sp>
      <p:sp>
        <p:nvSpPr>
          <p:cNvPr id="42" name="Text 40"/>
          <p:cNvSpPr txBox="1"/>
          <p:nvPr/>
        </p:nvSpPr>
        <p:spPr>
          <a:xfrm>
            <a:off x="4521356"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2,290</a:t>
            </a:r>
            <a:endParaRPr lang="en-US" sz="760" dirty="0"/>
          </a:p>
        </p:txBody>
      </p:sp>
      <p:sp>
        <p:nvSpPr>
          <p:cNvPr id="43" name="Shape 41"/>
          <p:cNvSpPr/>
          <p:nvPr/>
        </p:nvSpPr>
        <p:spPr>
          <a:xfrm>
            <a:off x="5181834" y="1554480"/>
            <a:ext cx="660478" cy="237744"/>
          </a:xfrm>
          <a:prstGeom prst="rect">
            <a:avLst/>
          </a:prstGeom>
          <a:solidFill>
            <a:srgbClr val="FFFFFF"/>
          </a:solidFill>
          <a:ln w="5080">
            <a:solidFill>
              <a:srgbClr val="D3DCE5"/>
            </a:solidFill>
            <a:prstDash val="solid"/>
          </a:ln>
        </p:spPr>
      </p:sp>
      <p:sp>
        <p:nvSpPr>
          <p:cNvPr id="44" name="Text 42"/>
          <p:cNvSpPr txBox="1"/>
          <p:nvPr/>
        </p:nvSpPr>
        <p:spPr>
          <a:xfrm>
            <a:off x="5181834"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2,641</a:t>
            </a:r>
            <a:endParaRPr lang="en-US" sz="760" dirty="0"/>
          </a:p>
        </p:txBody>
      </p:sp>
      <p:sp>
        <p:nvSpPr>
          <p:cNvPr id="45" name="Shape 43"/>
          <p:cNvSpPr/>
          <p:nvPr/>
        </p:nvSpPr>
        <p:spPr>
          <a:xfrm>
            <a:off x="5842313" y="1554480"/>
            <a:ext cx="660478" cy="237744"/>
          </a:xfrm>
          <a:prstGeom prst="rect">
            <a:avLst/>
          </a:prstGeom>
          <a:solidFill>
            <a:srgbClr val="FFFFFF"/>
          </a:solidFill>
          <a:ln w="5080">
            <a:solidFill>
              <a:srgbClr val="D3DCE5"/>
            </a:solidFill>
            <a:prstDash val="solid"/>
          </a:ln>
        </p:spPr>
      </p:sp>
      <p:sp>
        <p:nvSpPr>
          <p:cNvPr id="46" name="Text 44"/>
          <p:cNvSpPr txBox="1"/>
          <p:nvPr/>
        </p:nvSpPr>
        <p:spPr>
          <a:xfrm>
            <a:off x="5842313"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2,909</a:t>
            </a:r>
            <a:endParaRPr lang="en-US" sz="760" dirty="0"/>
          </a:p>
        </p:txBody>
      </p:sp>
      <p:sp>
        <p:nvSpPr>
          <p:cNvPr id="47" name="Shape 45"/>
          <p:cNvSpPr/>
          <p:nvPr/>
        </p:nvSpPr>
        <p:spPr>
          <a:xfrm>
            <a:off x="6502791" y="1554480"/>
            <a:ext cx="660478" cy="237744"/>
          </a:xfrm>
          <a:prstGeom prst="rect">
            <a:avLst/>
          </a:prstGeom>
          <a:solidFill>
            <a:srgbClr val="FFFFFF"/>
          </a:solidFill>
          <a:ln w="5080">
            <a:solidFill>
              <a:srgbClr val="D3DCE5"/>
            </a:solidFill>
            <a:prstDash val="solid"/>
          </a:ln>
        </p:spPr>
      </p:sp>
      <p:sp>
        <p:nvSpPr>
          <p:cNvPr id="48" name="Text 46"/>
          <p:cNvSpPr txBox="1"/>
          <p:nvPr/>
        </p:nvSpPr>
        <p:spPr>
          <a:xfrm>
            <a:off x="6502791"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3,115</a:t>
            </a:r>
            <a:endParaRPr lang="en-US" sz="760" dirty="0"/>
          </a:p>
        </p:txBody>
      </p:sp>
      <p:sp>
        <p:nvSpPr>
          <p:cNvPr id="49" name="Shape 47"/>
          <p:cNvSpPr/>
          <p:nvPr/>
        </p:nvSpPr>
        <p:spPr>
          <a:xfrm>
            <a:off x="7163269" y="1554480"/>
            <a:ext cx="660478" cy="237744"/>
          </a:xfrm>
          <a:prstGeom prst="rect">
            <a:avLst/>
          </a:prstGeom>
          <a:solidFill>
            <a:srgbClr val="FFFFFF"/>
          </a:solidFill>
          <a:ln w="5080">
            <a:solidFill>
              <a:srgbClr val="D3DCE5"/>
            </a:solidFill>
            <a:prstDash val="solid"/>
          </a:ln>
        </p:spPr>
      </p:sp>
      <p:sp>
        <p:nvSpPr>
          <p:cNvPr id="50" name="Text 48"/>
          <p:cNvSpPr txBox="1"/>
          <p:nvPr/>
        </p:nvSpPr>
        <p:spPr>
          <a:xfrm>
            <a:off x="7163269"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3,486</a:t>
            </a:r>
            <a:endParaRPr lang="en-US" sz="760" dirty="0"/>
          </a:p>
        </p:txBody>
      </p:sp>
      <p:sp>
        <p:nvSpPr>
          <p:cNvPr id="51" name="Shape 49"/>
          <p:cNvSpPr/>
          <p:nvPr/>
        </p:nvSpPr>
        <p:spPr>
          <a:xfrm>
            <a:off x="7823747" y="1554480"/>
            <a:ext cx="660478" cy="237744"/>
          </a:xfrm>
          <a:prstGeom prst="rect">
            <a:avLst/>
          </a:prstGeom>
          <a:solidFill>
            <a:srgbClr val="FFFFFF"/>
          </a:solidFill>
          <a:ln w="5080">
            <a:solidFill>
              <a:srgbClr val="D3DCE5"/>
            </a:solidFill>
            <a:prstDash val="solid"/>
          </a:ln>
        </p:spPr>
      </p:sp>
      <p:sp>
        <p:nvSpPr>
          <p:cNvPr id="52" name="Text 50"/>
          <p:cNvSpPr txBox="1"/>
          <p:nvPr/>
        </p:nvSpPr>
        <p:spPr>
          <a:xfrm>
            <a:off x="7823747"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4,208</a:t>
            </a:r>
            <a:endParaRPr lang="en-US" sz="760" dirty="0"/>
          </a:p>
        </p:txBody>
      </p:sp>
      <p:sp>
        <p:nvSpPr>
          <p:cNvPr id="53" name="Shape 51"/>
          <p:cNvSpPr/>
          <p:nvPr/>
        </p:nvSpPr>
        <p:spPr>
          <a:xfrm>
            <a:off x="8484225" y="1554480"/>
            <a:ext cx="660478" cy="237744"/>
          </a:xfrm>
          <a:prstGeom prst="rect">
            <a:avLst/>
          </a:prstGeom>
          <a:solidFill>
            <a:srgbClr val="FFFFFF"/>
          </a:solidFill>
          <a:ln w="5080">
            <a:solidFill>
              <a:srgbClr val="D3DCE5"/>
            </a:solidFill>
            <a:prstDash val="solid"/>
          </a:ln>
        </p:spPr>
      </p:sp>
      <p:sp>
        <p:nvSpPr>
          <p:cNvPr id="54" name="Text 52"/>
          <p:cNvSpPr txBox="1"/>
          <p:nvPr/>
        </p:nvSpPr>
        <p:spPr>
          <a:xfrm>
            <a:off x="8484225"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5,189</a:t>
            </a:r>
            <a:endParaRPr lang="en-US" sz="760" dirty="0"/>
          </a:p>
        </p:txBody>
      </p:sp>
      <p:sp>
        <p:nvSpPr>
          <p:cNvPr id="55" name="Shape 53"/>
          <p:cNvSpPr/>
          <p:nvPr/>
        </p:nvSpPr>
        <p:spPr>
          <a:xfrm>
            <a:off x="9144703" y="1554480"/>
            <a:ext cx="660478" cy="237744"/>
          </a:xfrm>
          <a:prstGeom prst="rect">
            <a:avLst/>
          </a:prstGeom>
          <a:solidFill>
            <a:srgbClr val="FFFFFF"/>
          </a:solidFill>
          <a:ln w="5080">
            <a:solidFill>
              <a:srgbClr val="D3DCE5"/>
            </a:solidFill>
            <a:prstDash val="solid"/>
          </a:ln>
        </p:spPr>
      </p:sp>
      <p:sp>
        <p:nvSpPr>
          <p:cNvPr id="56" name="Text 54"/>
          <p:cNvSpPr txBox="1"/>
          <p:nvPr/>
        </p:nvSpPr>
        <p:spPr>
          <a:xfrm>
            <a:off x="9144703"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6,459</a:t>
            </a:r>
            <a:endParaRPr lang="en-US" sz="760" dirty="0"/>
          </a:p>
        </p:txBody>
      </p:sp>
      <p:sp>
        <p:nvSpPr>
          <p:cNvPr id="57" name="Shape 55"/>
          <p:cNvSpPr/>
          <p:nvPr/>
        </p:nvSpPr>
        <p:spPr>
          <a:xfrm>
            <a:off x="9805182" y="1554480"/>
            <a:ext cx="660478" cy="237744"/>
          </a:xfrm>
          <a:prstGeom prst="rect">
            <a:avLst/>
          </a:prstGeom>
          <a:solidFill>
            <a:srgbClr val="FFFFFF"/>
          </a:solidFill>
          <a:ln w="5080">
            <a:solidFill>
              <a:srgbClr val="D3DCE5"/>
            </a:solidFill>
            <a:prstDash val="solid"/>
          </a:ln>
        </p:spPr>
      </p:sp>
      <p:sp>
        <p:nvSpPr>
          <p:cNvPr id="58" name="Text 56"/>
          <p:cNvSpPr txBox="1"/>
          <p:nvPr/>
        </p:nvSpPr>
        <p:spPr>
          <a:xfrm>
            <a:off x="9805182"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7,875</a:t>
            </a:r>
            <a:endParaRPr lang="en-US" sz="760" dirty="0"/>
          </a:p>
        </p:txBody>
      </p:sp>
      <p:sp>
        <p:nvSpPr>
          <p:cNvPr id="59" name="Shape 57"/>
          <p:cNvSpPr/>
          <p:nvPr/>
        </p:nvSpPr>
        <p:spPr>
          <a:xfrm>
            <a:off x="10465660" y="1554480"/>
            <a:ext cx="660478" cy="237744"/>
          </a:xfrm>
          <a:prstGeom prst="rect">
            <a:avLst/>
          </a:prstGeom>
          <a:solidFill>
            <a:srgbClr val="FFFFFF"/>
          </a:solidFill>
          <a:ln w="5080">
            <a:solidFill>
              <a:srgbClr val="D3DCE5"/>
            </a:solidFill>
            <a:prstDash val="solid"/>
          </a:ln>
        </p:spPr>
      </p:sp>
      <p:sp>
        <p:nvSpPr>
          <p:cNvPr id="60" name="Text 58"/>
          <p:cNvSpPr txBox="1"/>
          <p:nvPr/>
        </p:nvSpPr>
        <p:spPr>
          <a:xfrm>
            <a:off x="10465660"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9,356</a:t>
            </a:r>
            <a:endParaRPr lang="en-US" sz="760" dirty="0"/>
          </a:p>
        </p:txBody>
      </p:sp>
      <p:sp>
        <p:nvSpPr>
          <p:cNvPr id="61" name="Shape 59"/>
          <p:cNvSpPr/>
          <p:nvPr/>
        </p:nvSpPr>
        <p:spPr>
          <a:xfrm>
            <a:off x="11126138" y="1554480"/>
            <a:ext cx="660478" cy="237744"/>
          </a:xfrm>
          <a:prstGeom prst="rect">
            <a:avLst/>
          </a:prstGeom>
          <a:solidFill>
            <a:srgbClr val="FFFFFF"/>
          </a:solidFill>
          <a:ln w="5080">
            <a:solidFill>
              <a:srgbClr val="D3DCE5"/>
            </a:solidFill>
            <a:prstDash val="solid"/>
          </a:ln>
        </p:spPr>
      </p:sp>
      <p:sp>
        <p:nvSpPr>
          <p:cNvPr id="62" name="Text 60"/>
          <p:cNvSpPr txBox="1"/>
          <p:nvPr/>
        </p:nvSpPr>
        <p:spPr>
          <a:xfrm>
            <a:off x="11126138" y="155448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10,854</a:t>
            </a:r>
            <a:endParaRPr lang="en-US" sz="760" dirty="0"/>
          </a:p>
        </p:txBody>
      </p:sp>
      <p:sp>
        <p:nvSpPr>
          <p:cNvPr id="63" name="Shape 61"/>
          <p:cNvSpPr/>
          <p:nvPr/>
        </p:nvSpPr>
        <p:spPr>
          <a:xfrm>
            <a:off x="411480" y="1792224"/>
            <a:ext cx="2788920" cy="237744"/>
          </a:xfrm>
          <a:prstGeom prst="rect">
            <a:avLst/>
          </a:prstGeom>
          <a:solidFill>
            <a:srgbClr val="F7F9FB"/>
          </a:solidFill>
          <a:ln w="5080">
            <a:solidFill>
              <a:srgbClr val="D3DCE5"/>
            </a:solidFill>
            <a:prstDash val="solid"/>
          </a:ln>
        </p:spPr>
      </p:sp>
      <p:sp>
        <p:nvSpPr>
          <p:cNvPr id="64" name="Text 62"/>
          <p:cNvSpPr txBox="1"/>
          <p:nvPr/>
        </p:nvSpPr>
        <p:spPr>
          <a:xfrm>
            <a:off x="475488" y="1792224"/>
            <a:ext cx="2660904" cy="237744"/>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Net working capital</a:t>
            </a:r>
            <a:endParaRPr lang="en-US" sz="780" dirty="0"/>
          </a:p>
        </p:txBody>
      </p:sp>
      <p:sp>
        <p:nvSpPr>
          <p:cNvPr id="65" name="Shape 63"/>
          <p:cNvSpPr/>
          <p:nvPr/>
        </p:nvSpPr>
        <p:spPr>
          <a:xfrm>
            <a:off x="3200400" y="1792224"/>
            <a:ext cx="660478" cy="237744"/>
          </a:xfrm>
          <a:prstGeom prst="rect">
            <a:avLst/>
          </a:prstGeom>
          <a:solidFill>
            <a:srgbClr val="F7F9FB"/>
          </a:solidFill>
          <a:ln w="5080">
            <a:solidFill>
              <a:srgbClr val="D3DCE5"/>
            </a:solidFill>
            <a:prstDash val="solid"/>
          </a:ln>
        </p:spPr>
      </p:sp>
      <p:sp>
        <p:nvSpPr>
          <p:cNvPr id="66" name="Text 64"/>
          <p:cNvSpPr txBox="1"/>
          <p:nvPr/>
        </p:nvSpPr>
        <p:spPr>
          <a:xfrm>
            <a:off x="3200400" y="1792224"/>
            <a:ext cx="614758" cy="237744"/>
          </a:xfrm>
          <a:prstGeom prst="rect">
            <a:avLst/>
          </a:prstGeom>
          <a:noFill/>
          <a:ln/>
        </p:spPr>
        <p:txBody>
          <a:bodyPr wrap="square" lIns="0" tIns="0" rIns="0" bIns="0" rtlCol="0" anchor="ctr"/>
          <a:lstStyle/>
          <a:p>
            <a:pPr algn="r" indent="0" marL="0">
              <a:buNone/>
            </a:pPr>
            <a:endParaRPr lang="en-US" sz="760" dirty="0"/>
          </a:p>
        </p:txBody>
      </p:sp>
      <p:sp>
        <p:nvSpPr>
          <p:cNvPr id="67" name="Shape 65"/>
          <p:cNvSpPr/>
          <p:nvPr/>
        </p:nvSpPr>
        <p:spPr>
          <a:xfrm>
            <a:off x="3860878" y="1792224"/>
            <a:ext cx="660478" cy="237744"/>
          </a:xfrm>
          <a:prstGeom prst="rect">
            <a:avLst/>
          </a:prstGeom>
          <a:solidFill>
            <a:srgbClr val="F7F9FB"/>
          </a:solidFill>
          <a:ln w="5080">
            <a:solidFill>
              <a:srgbClr val="D3DCE5"/>
            </a:solidFill>
            <a:prstDash val="solid"/>
          </a:ln>
        </p:spPr>
      </p:sp>
      <p:sp>
        <p:nvSpPr>
          <p:cNvPr id="68" name="Text 66"/>
          <p:cNvSpPr txBox="1"/>
          <p:nvPr/>
        </p:nvSpPr>
        <p:spPr>
          <a:xfrm>
            <a:off x="3860878" y="1792224"/>
            <a:ext cx="614758" cy="237744"/>
          </a:xfrm>
          <a:prstGeom prst="rect">
            <a:avLst/>
          </a:prstGeom>
          <a:noFill/>
          <a:ln/>
        </p:spPr>
        <p:txBody>
          <a:bodyPr wrap="square" lIns="0" tIns="0" rIns="0" bIns="0" rtlCol="0" anchor="ctr"/>
          <a:lstStyle/>
          <a:p>
            <a:pPr algn="r" indent="0" marL="0">
              <a:buNone/>
            </a:pPr>
            <a:endParaRPr lang="en-US" sz="760" dirty="0"/>
          </a:p>
        </p:txBody>
      </p:sp>
      <p:sp>
        <p:nvSpPr>
          <p:cNvPr id="69" name="Shape 67"/>
          <p:cNvSpPr/>
          <p:nvPr/>
        </p:nvSpPr>
        <p:spPr>
          <a:xfrm>
            <a:off x="4521356" y="1792224"/>
            <a:ext cx="660478" cy="237744"/>
          </a:xfrm>
          <a:prstGeom prst="rect">
            <a:avLst/>
          </a:prstGeom>
          <a:solidFill>
            <a:srgbClr val="F7F9FB"/>
          </a:solidFill>
          <a:ln w="5080">
            <a:solidFill>
              <a:srgbClr val="D3DCE5"/>
            </a:solidFill>
            <a:prstDash val="solid"/>
          </a:ln>
        </p:spPr>
      </p:sp>
      <p:sp>
        <p:nvSpPr>
          <p:cNvPr id="70" name="Text 68"/>
          <p:cNvSpPr txBox="1"/>
          <p:nvPr/>
        </p:nvSpPr>
        <p:spPr>
          <a:xfrm>
            <a:off x="4521356"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155</a:t>
            </a:r>
            <a:endParaRPr lang="en-US" sz="760" dirty="0"/>
          </a:p>
        </p:txBody>
      </p:sp>
      <p:sp>
        <p:nvSpPr>
          <p:cNvPr id="71" name="Shape 69"/>
          <p:cNvSpPr/>
          <p:nvPr/>
        </p:nvSpPr>
        <p:spPr>
          <a:xfrm>
            <a:off x="5181834" y="1792224"/>
            <a:ext cx="660478" cy="237744"/>
          </a:xfrm>
          <a:prstGeom prst="rect">
            <a:avLst/>
          </a:prstGeom>
          <a:solidFill>
            <a:srgbClr val="F7F9FB"/>
          </a:solidFill>
          <a:ln w="5080">
            <a:solidFill>
              <a:srgbClr val="D3DCE5"/>
            </a:solidFill>
            <a:prstDash val="solid"/>
          </a:ln>
        </p:spPr>
      </p:sp>
      <p:sp>
        <p:nvSpPr>
          <p:cNvPr id="72" name="Text 70"/>
          <p:cNvSpPr txBox="1"/>
          <p:nvPr/>
        </p:nvSpPr>
        <p:spPr>
          <a:xfrm>
            <a:off x="5181834"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208</a:t>
            </a:r>
            <a:endParaRPr lang="en-US" sz="760" dirty="0"/>
          </a:p>
        </p:txBody>
      </p:sp>
      <p:sp>
        <p:nvSpPr>
          <p:cNvPr id="73" name="Shape 71"/>
          <p:cNvSpPr/>
          <p:nvPr/>
        </p:nvSpPr>
        <p:spPr>
          <a:xfrm>
            <a:off x="5842313" y="1792224"/>
            <a:ext cx="660478" cy="237744"/>
          </a:xfrm>
          <a:prstGeom prst="rect">
            <a:avLst/>
          </a:prstGeom>
          <a:solidFill>
            <a:srgbClr val="F7F9FB"/>
          </a:solidFill>
          <a:ln w="5080">
            <a:solidFill>
              <a:srgbClr val="D3DCE5"/>
            </a:solidFill>
            <a:prstDash val="solid"/>
          </a:ln>
        </p:spPr>
      </p:sp>
      <p:sp>
        <p:nvSpPr>
          <p:cNvPr id="74" name="Text 72"/>
          <p:cNvSpPr txBox="1"/>
          <p:nvPr/>
        </p:nvSpPr>
        <p:spPr>
          <a:xfrm>
            <a:off x="5842313"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224</a:t>
            </a:r>
            <a:endParaRPr lang="en-US" sz="760" dirty="0"/>
          </a:p>
        </p:txBody>
      </p:sp>
      <p:sp>
        <p:nvSpPr>
          <p:cNvPr id="75" name="Shape 73"/>
          <p:cNvSpPr/>
          <p:nvPr/>
        </p:nvSpPr>
        <p:spPr>
          <a:xfrm>
            <a:off x="6502791" y="1792224"/>
            <a:ext cx="660478" cy="237744"/>
          </a:xfrm>
          <a:prstGeom prst="rect">
            <a:avLst/>
          </a:prstGeom>
          <a:solidFill>
            <a:srgbClr val="F7F9FB"/>
          </a:solidFill>
          <a:ln w="5080">
            <a:solidFill>
              <a:srgbClr val="D3DCE5"/>
            </a:solidFill>
            <a:prstDash val="solid"/>
          </a:ln>
        </p:spPr>
      </p:sp>
      <p:sp>
        <p:nvSpPr>
          <p:cNvPr id="76" name="Text 74"/>
          <p:cNvSpPr txBox="1"/>
          <p:nvPr/>
        </p:nvSpPr>
        <p:spPr>
          <a:xfrm>
            <a:off x="6502791"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230</a:t>
            </a:r>
            <a:endParaRPr lang="en-US" sz="760" dirty="0"/>
          </a:p>
        </p:txBody>
      </p:sp>
      <p:sp>
        <p:nvSpPr>
          <p:cNvPr id="77" name="Shape 75"/>
          <p:cNvSpPr/>
          <p:nvPr/>
        </p:nvSpPr>
        <p:spPr>
          <a:xfrm>
            <a:off x="7163269" y="1792224"/>
            <a:ext cx="660478" cy="237744"/>
          </a:xfrm>
          <a:prstGeom prst="rect">
            <a:avLst/>
          </a:prstGeom>
          <a:solidFill>
            <a:srgbClr val="F7F9FB"/>
          </a:solidFill>
          <a:ln w="5080">
            <a:solidFill>
              <a:srgbClr val="D3DCE5"/>
            </a:solidFill>
            <a:prstDash val="solid"/>
          </a:ln>
        </p:spPr>
      </p:sp>
      <p:sp>
        <p:nvSpPr>
          <p:cNvPr id="78" name="Text 76"/>
          <p:cNvSpPr txBox="1"/>
          <p:nvPr/>
        </p:nvSpPr>
        <p:spPr>
          <a:xfrm>
            <a:off x="7163269"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269</a:t>
            </a:r>
            <a:endParaRPr lang="en-US" sz="760" dirty="0"/>
          </a:p>
        </p:txBody>
      </p:sp>
      <p:sp>
        <p:nvSpPr>
          <p:cNvPr id="79" name="Shape 77"/>
          <p:cNvSpPr/>
          <p:nvPr/>
        </p:nvSpPr>
        <p:spPr>
          <a:xfrm>
            <a:off x="7823747" y="1792224"/>
            <a:ext cx="660478" cy="237744"/>
          </a:xfrm>
          <a:prstGeom prst="rect">
            <a:avLst/>
          </a:prstGeom>
          <a:solidFill>
            <a:srgbClr val="F7F9FB"/>
          </a:solidFill>
          <a:ln w="5080">
            <a:solidFill>
              <a:srgbClr val="D3DCE5"/>
            </a:solidFill>
            <a:prstDash val="solid"/>
          </a:ln>
        </p:spPr>
      </p:sp>
      <p:sp>
        <p:nvSpPr>
          <p:cNvPr id="80" name="Text 78"/>
          <p:cNvSpPr txBox="1"/>
          <p:nvPr/>
        </p:nvSpPr>
        <p:spPr>
          <a:xfrm>
            <a:off x="7823747"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315</a:t>
            </a:r>
            <a:endParaRPr lang="en-US" sz="760" dirty="0"/>
          </a:p>
        </p:txBody>
      </p:sp>
      <p:sp>
        <p:nvSpPr>
          <p:cNvPr id="81" name="Shape 79"/>
          <p:cNvSpPr/>
          <p:nvPr/>
        </p:nvSpPr>
        <p:spPr>
          <a:xfrm>
            <a:off x="8484225" y="1792224"/>
            <a:ext cx="660478" cy="237744"/>
          </a:xfrm>
          <a:prstGeom prst="rect">
            <a:avLst/>
          </a:prstGeom>
          <a:solidFill>
            <a:srgbClr val="F7F9FB"/>
          </a:solidFill>
          <a:ln w="5080">
            <a:solidFill>
              <a:srgbClr val="D3DCE5"/>
            </a:solidFill>
            <a:prstDash val="solid"/>
          </a:ln>
        </p:spPr>
      </p:sp>
      <p:sp>
        <p:nvSpPr>
          <p:cNvPr id="82" name="Text 80"/>
          <p:cNvSpPr txBox="1"/>
          <p:nvPr/>
        </p:nvSpPr>
        <p:spPr>
          <a:xfrm>
            <a:off x="8484225"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391</a:t>
            </a:r>
            <a:endParaRPr lang="en-US" sz="760" dirty="0"/>
          </a:p>
        </p:txBody>
      </p:sp>
      <p:sp>
        <p:nvSpPr>
          <p:cNvPr id="83" name="Shape 81"/>
          <p:cNvSpPr/>
          <p:nvPr/>
        </p:nvSpPr>
        <p:spPr>
          <a:xfrm>
            <a:off x="9144703" y="1792224"/>
            <a:ext cx="660478" cy="237744"/>
          </a:xfrm>
          <a:prstGeom prst="rect">
            <a:avLst/>
          </a:prstGeom>
          <a:solidFill>
            <a:srgbClr val="F7F9FB"/>
          </a:solidFill>
          <a:ln w="5080">
            <a:solidFill>
              <a:srgbClr val="D3DCE5"/>
            </a:solidFill>
            <a:prstDash val="solid"/>
          </a:ln>
        </p:spPr>
      </p:sp>
      <p:sp>
        <p:nvSpPr>
          <p:cNvPr id="84" name="Text 82"/>
          <p:cNvSpPr txBox="1"/>
          <p:nvPr/>
        </p:nvSpPr>
        <p:spPr>
          <a:xfrm>
            <a:off x="9144703"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445</a:t>
            </a:r>
            <a:endParaRPr lang="en-US" sz="760" dirty="0"/>
          </a:p>
        </p:txBody>
      </p:sp>
      <p:sp>
        <p:nvSpPr>
          <p:cNvPr id="85" name="Shape 83"/>
          <p:cNvSpPr/>
          <p:nvPr/>
        </p:nvSpPr>
        <p:spPr>
          <a:xfrm>
            <a:off x="9805182" y="1792224"/>
            <a:ext cx="660478" cy="237744"/>
          </a:xfrm>
          <a:prstGeom prst="rect">
            <a:avLst/>
          </a:prstGeom>
          <a:solidFill>
            <a:srgbClr val="F7F9FB"/>
          </a:solidFill>
          <a:ln w="5080">
            <a:solidFill>
              <a:srgbClr val="D3DCE5"/>
            </a:solidFill>
            <a:prstDash val="solid"/>
          </a:ln>
        </p:spPr>
      </p:sp>
      <p:sp>
        <p:nvSpPr>
          <p:cNvPr id="86" name="Text 84"/>
          <p:cNvSpPr txBox="1"/>
          <p:nvPr/>
        </p:nvSpPr>
        <p:spPr>
          <a:xfrm>
            <a:off x="9805182"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465</a:t>
            </a:r>
            <a:endParaRPr lang="en-US" sz="760" dirty="0"/>
          </a:p>
        </p:txBody>
      </p:sp>
      <p:sp>
        <p:nvSpPr>
          <p:cNvPr id="87" name="Shape 85"/>
          <p:cNvSpPr/>
          <p:nvPr/>
        </p:nvSpPr>
        <p:spPr>
          <a:xfrm>
            <a:off x="10465660" y="1792224"/>
            <a:ext cx="660478" cy="237744"/>
          </a:xfrm>
          <a:prstGeom prst="rect">
            <a:avLst/>
          </a:prstGeom>
          <a:solidFill>
            <a:srgbClr val="F7F9FB"/>
          </a:solidFill>
          <a:ln w="5080">
            <a:solidFill>
              <a:srgbClr val="D3DCE5"/>
            </a:solidFill>
            <a:prstDash val="solid"/>
          </a:ln>
        </p:spPr>
      </p:sp>
      <p:sp>
        <p:nvSpPr>
          <p:cNvPr id="88" name="Text 86"/>
          <p:cNvSpPr txBox="1"/>
          <p:nvPr/>
        </p:nvSpPr>
        <p:spPr>
          <a:xfrm>
            <a:off x="10465660"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473</a:t>
            </a:r>
            <a:endParaRPr lang="en-US" sz="760" dirty="0"/>
          </a:p>
        </p:txBody>
      </p:sp>
      <p:sp>
        <p:nvSpPr>
          <p:cNvPr id="89" name="Shape 87"/>
          <p:cNvSpPr/>
          <p:nvPr/>
        </p:nvSpPr>
        <p:spPr>
          <a:xfrm>
            <a:off x="11126138" y="1792224"/>
            <a:ext cx="660478" cy="237744"/>
          </a:xfrm>
          <a:prstGeom prst="rect">
            <a:avLst/>
          </a:prstGeom>
          <a:solidFill>
            <a:srgbClr val="F7F9FB"/>
          </a:solidFill>
          <a:ln w="5080">
            <a:solidFill>
              <a:srgbClr val="D3DCE5"/>
            </a:solidFill>
            <a:prstDash val="solid"/>
          </a:ln>
        </p:spPr>
      </p:sp>
      <p:sp>
        <p:nvSpPr>
          <p:cNvPr id="90" name="Text 88"/>
          <p:cNvSpPr txBox="1"/>
          <p:nvPr/>
        </p:nvSpPr>
        <p:spPr>
          <a:xfrm>
            <a:off x="11126138" y="1792224"/>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473</a:t>
            </a:r>
            <a:endParaRPr lang="en-US" sz="760" dirty="0"/>
          </a:p>
        </p:txBody>
      </p:sp>
      <p:sp>
        <p:nvSpPr>
          <p:cNvPr id="91" name="Shape 89"/>
          <p:cNvSpPr/>
          <p:nvPr/>
        </p:nvSpPr>
        <p:spPr>
          <a:xfrm>
            <a:off x="411480" y="2029968"/>
            <a:ext cx="2788920" cy="237744"/>
          </a:xfrm>
          <a:prstGeom prst="rect">
            <a:avLst/>
          </a:prstGeom>
          <a:solidFill>
            <a:srgbClr val="FFFFFF"/>
          </a:solidFill>
          <a:ln w="5080">
            <a:solidFill>
              <a:srgbClr val="D3DCE5"/>
            </a:solidFill>
            <a:prstDash val="solid"/>
          </a:ln>
        </p:spPr>
      </p:sp>
      <p:sp>
        <p:nvSpPr>
          <p:cNvPr id="92" name="Text 90"/>
          <p:cNvSpPr txBox="1"/>
          <p:nvPr/>
        </p:nvSpPr>
        <p:spPr>
          <a:xfrm>
            <a:off x="475488" y="2029968"/>
            <a:ext cx="2660904" cy="237744"/>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Property, plant and equipment</a:t>
            </a:r>
            <a:endParaRPr lang="en-US" sz="780" dirty="0"/>
          </a:p>
        </p:txBody>
      </p:sp>
      <p:sp>
        <p:nvSpPr>
          <p:cNvPr id="93" name="Shape 91"/>
          <p:cNvSpPr/>
          <p:nvPr/>
        </p:nvSpPr>
        <p:spPr>
          <a:xfrm>
            <a:off x="3200400" y="2029968"/>
            <a:ext cx="660478" cy="237744"/>
          </a:xfrm>
          <a:prstGeom prst="rect">
            <a:avLst/>
          </a:prstGeom>
          <a:solidFill>
            <a:srgbClr val="FFFFFF"/>
          </a:solidFill>
          <a:ln w="5080">
            <a:solidFill>
              <a:srgbClr val="D3DCE5"/>
            </a:solidFill>
            <a:prstDash val="solid"/>
          </a:ln>
        </p:spPr>
      </p:sp>
      <p:sp>
        <p:nvSpPr>
          <p:cNvPr id="94" name="Text 92"/>
          <p:cNvSpPr txBox="1"/>
          <p:nvPr/>
        </p:nvSpPr>
        <p:spPr>
          <a:xfrm>
            <a:off x="3200400" y="2029968"/>
            <a:ext cx="614758" cy="237744"/>
          </a:xfrm>
          <a:prstGeom prst="rect">
            <a:avLst/>
          </a:prstGeom>
          <a:noFill/>
          <a:ln/>
        </p:spPr>
        <p:txBody>
          <a:bodyPr wrap="square" lIns="0" tIns="0" rIns="0" bIns="0" rtlCol="0" anchor="ctr"/>
          <a:lstStyle/>
          <a:p>
            <a:pPr algn="r" indent="0" marL="0">
              <a:buNone/>
            </a:pPr>
            <a:endParaRPr lang="en-US" sz="760" dirty="0"/>
          </a:p>
        </p:txBody>
      </p:sp>
      <p:sp>
        <p:nvSpPr>
          <p:cNvPr id="95" name="Shape 93"/>
          <p:cNvSpPr/>
          <p:nvPr/>
        </p:nvSpPr>
        <p:spPr>
          <a:xfrm>
            <a:off x="3860878" y="2029968"/>
            <a:ext cx="660478" cy="237744"/>
          </a:xfrm>
          <a:prstGeom prst="rect">
            <a:avLst/>
          </a:prstGeom>
          <a:solidFill>
            <a:srgbClr val="FFFFFF"/>
          </a:solidFill>
          <a:ln w="5080">
            <a:solidFill>
              <a:srgbClr val="D3DCE5"/>
            </a:solidFill>
            <a:prstDash val="solid"/>
          </a:ln>
        </p:spPr>
      </p:sp>
      <p:sp>
        <p:nvSpPr>
          <p:cNvPr id="96" name="Text 94"/>
          <p:cNvSpPr txBox="1"/>
          <p:nvPr/>
        </p:nvSpPr>
        <p:spPr>
          <a:xfrm>
            <a:off x="3860878" y="2029968"/>
            <a:ext cx="614758" cy="237744"/>
          </a:xfrm>
          <a:prstGeom prst="rect">
            <a:avLst/>
          </a:prstGeom>
          <a:noFill/>
          <a:ln/>
        </p:spPr>
        <p:txBody>
          <a:bodyPr wrap="square" lIns="0" tIns="0" rIns="0" bIns="0" rtlCol="0" anchor="ctr"/>
          <a:lstStyle/>
          <a:p>
            <a:pPr algn="r" indent="0" marL="0">
              <a:buNone/>
            </a:pPr>
            <a:endParaRPr lang="en-US" sz="760" dirty="0"/>
          </a:p>
        </p:txBody>
      </p:sp>
      <p:sp>
        <p:nvSpPr>
          <p:cNvPr id="97" name="Shape 95"/>
          <p:cNvSpPr/>
          <p:nvPr/>
        </p:nvSpPr>
        <p:spPr>
          <a:xfrm>
            <a:off x="4521356" y="2029968"/>
            <a:ext cx="660478" cy="237744"/>
          </a:xfrm>
          <a:prstGeom prst="rect">
            <a:avLst/>
          </a:prstGeom>
          <a:solidFill>
            <a:srgbClr val="FFFFFF"/>
          </a:solidFill>
          <a:ln w="5080">
            <a:solidFill>
              <a:srgbClr val="D3DCE5"/>
            </a:solidFill>
            <a:prstDash val="solid"/>
          </a:ln>
        </p:spPr>
      </p:sp>
      <p:sp>
        <p:nvSpPr>
          <p:cNvPr id="98" name="Text 96"/>
          <p:cNvSpPr txBox="1"/>
          <p:nvPr/>
        </p:nvSpPr>
        <p:spPr>
          <a:xfrm>
            <a:off x="4521356"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3,200</a:t>
            </a:r>
            <a:endParaRPr lang="en-US" sz="760" dirty="0"/>
          </a:p>
        </p:txBody>
      </p:sp>
      <p:sp>
        <p:nvSpPr>
          <p:cNvPr id="99" name="Shape 97"/>
          <p:cNvSpPr/>
          <p:nvPr/>
        </p:nvSpPr>
        <p:spPr>
          <a:xfrm>
            <a:off x="5181834" y="2029968"/>
            <a:ext cx="660478" cy="237744"/>
          </a:xfrm>
          <a:prstGeom prst="rect">
            <a:avLst/>
          </a:prstGeom>
          <a:solidFill>
            <a:srgbClr val="FFFFFF"/>
          </a:solidFill>
          <a:ln w="5080">
            <a:solidFill>
              <a:srgbClr val="D3DCE5"/>
            </a:solidFill>
            <a:prstDash val="solid"/>
          </a:ln>
        </p:spPr>
      </p:sp>
      <p:sp>
        <p:nvSpPr>
          <p:cNvPr id="100" name="Text 98"/>
          <p:cNvSpPr txBox="1"/>
          <p:nvPr/>
        </p:nvSpPr>
        <p:spPr>
          <a:xfrm>
            <a:off x="5181834"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3,484</a:t>
            </a:r>
            <a:endParaRPr lang="en-US" sz="760" dirty="0"/>
          </a:p>
        </p:txBody>
      </p:sp>
      <p:sp>
        <p:nvSpPr>
          <p:cNvPr id="101" name="Shape 99"/>
          <p:cNvSpPr/>
          <p:nvPr/>
        </p:nvSpPr>
        <p:spPr>
          <a:xfrm>
            <a:off x="5842313" y="2029968"/>
            <a:ext cx="660478" cy="237744"/>
          </a:xfrm>
          <a:prstGeom prst="rect">
            <a:avLst/>
          </a:prstGeom>
          <a:solidFill>
            <a:srgbClr val="FFFFFF"/>
          </a:solidFill>
          <a:ln w="5080">
            <a:solidFill>
              <a:srgbClr val="D3DCE5"/>
            </a:solidFill>
            <a:prstDash val="solid"/>
          </a:ln>
        </p:spPr>
      </p:sp>
      <p:sp>
        <p:nvSpPr>
          <p:cNvPr id="102" name="Text 100"/>
          <p:cNvSpPr txBox="1"/>
          <p:nvPr/>
        </p:nvSpPr>
        <p:spPr>
          <a:xfrm>
            <a:off x="5842313"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3,963</a:t>
            </a:r>
            <a:endParaRPr lang="en-US" sz="760" dirty="0"/>
          </a:p>
        </p:txBody>
      </p:sp>
      <p:sp>
        <p:nvSpPr>
          <p:cNvPr id="103" name="Shape 101"/>
          <p:cNvSpPr/>
          <p:nvPr/>
        </p:nvSpPr>
        <p:spPr>
          <a:xfrm>
            <a:off x="6502791" y="2029968"/>
            <a:ext cx="660478" cy="237744"/>
          </a:xfrm>
          <a:prstGeom prst="rect">
            <a:avLst/>
          </a:prstGeom>
          <a:solidFill>
            <a:srgbClr val="FFFFFF"/>
          </a:solidFill>
          <a:ln w="5080">
            <a:solidFill>
              <a:srgbClr val="D3DCE5"/>
            </a:solidFill>
            <a:prstDash val="solid"/>
          </a:ln>
        </p:spPr>
      </p:sp>
      <p:sp>
        <p:nvSpPr>
          <p:cNvPr id="104" name="Text 102"/>
          <p:cNvSpPr txBox="1"/>
          <p:nvPr/>
        </p:nvSpPr>
        <p:spPr>
          <a:xfrm>
            <a:off x="6502791"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4,528</a:t>
            </a:r>
            <a:endParaRPr lang="en-US" sz="760" dirty="0"/>
          </a:p>
        </p:txBody>
      </p:sp>
      <p:sp>
        <p:nvSpPr>
          <p:cNvPr id="105" name="Shape 103"/>
          <p:cNvSpPr/>
          <p:nvPr/>
        </p:nvSpPr>
        <p:spPr>
          <a:xfrm>
            <a:off x="7163269" y="2029968"/>
            <a:ext cx="660478" cy="237744"/>
          </a:xfrm>
          <a:prstGeom prst="rect">
            <a:avLst/>
          </a:prstGeom>
          <a:solidFill>
            <a:srgbClr val="FFFFFF"/>
          </a:solidFill>
          <a:ln w="5080">
            <a:solidFill>
              <a:srgbClr val="D3DCE5"/>
            </a:solidFill>
            <a:prstDash val="solid"/>
          </a:ln>
        </p:spPr>
      </p:sp>
      <p:sp>
        <p:nvSpPr>
          <p:cNvPr id="106" name="Text 104"/>
          <p:cNvSpPr txBox="1"/>
          <p:nvPr/>
        </p:nvSpPr>
        <p:spPr>
          <a:xfrm>
            <a:off x="7163269"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4,767</a:t>
            </a:r>
            <a:endParaRPr lang="en-US" sz="760" dirty="0"/>
          </a:p>
        </p:txBody>
      </p:sp>
      <p:sp>
        <p:nvSpPr>
          <p:cNvPr id="107" name="Shape 105"/>
          <p:cNvSpPr/>
          <p:nvPr/>
        </p:nvSpPr>
        <p:spPr>
          <a:xfrm>
            <a:off x="7823747" y="2029968"/>
            <a:ext cx="660478" cy="237744"/>
          </a:xfrm>
          <a:prstGeom prst="rect">
            <a:avLst/>
          </a:prstGeom>
          <a:solidFill>
            <a:srgbClr val="FFFFFF"/>
          </a:solidFill>
          <a:ln w="5080">
            <a:solidFill>
              <a:srgbClr val="D3DCE5"/>
            </a:solidFill>
            <a:prstDash val="solid"/>
          </a:ln>
        </p:spPr>
      </p:sp>
      <p:sp>
        <p:nvSpPr>
          <p:cNvPr id="108" name="Text 106"/>
          <p:cNvSpPr txBox="1"/>
          <p:nvPr/>
        </p:nvSpPr>
        <p:spPr>
          <a:xfrm>
            <a:off x="7823747"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4,779</a:t>
            </a:r>
            <a:endParaRPr lang="en-US" sz="760" dirty="0"/>
          </a:p>
        </p:txBody>
      </p:sp>
      <p:sp>
        <p:nvSpPr>
          <p:cNvPr id="109" name="Shape 107"/>
          <p:cNvSpPr/>
          <p:nvPr/>
        </p:nvSpPr>
        <p:spPr>
          <a:xfrm>
            <a:off x="8484225" y="2029968"/>
            <a:ext cx="660478" cy="237744"/>
          </a:xfrm>
          <a:prstGeom prst="rect">
            <a:avLst/>
          </a:prstGeom>
          <a:solidFill>
            <a:srgbClr val="FFFFFF"/>
          </a:solidFill>
          <a:ln w="5080">
            <a:solidFill>
              <a:srgbClr val="D3DCE5"/>
            </a:solidFill>
            <a:prstDash val="solid"/>
          </a:ln>
        </p:spPr>
      </p:sp>
      <p:sp>
        <p:nvSpPr>
          <p:cNvPr id="110" name="Text 108"/>
          <p:cNvSpPr txBox="1"/>
          <p:nvPr/>
        </p:nvSpPr>
        <p:spPr>
          <a:xfrm>
            <a:off x="8484225"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4,749</a:t>
            </a:r>
            <a:endParaRPr lang="en-US" sz="760" dirty="0"/>
          </a:p>
        </p:txBody>
      </p:sp>
      <p:sp>
        <p:nvSpPr>
          <p:cNvPr id="111" name="Shape 109"/>
          <p:cNvSpPr/>
          <p:nvPr/>
        </p:nvSpPr>
        <p:spPr>
          <a:xfrm>
            <a:off x="9144703" y="2029968"/>
            <a:ext cx="660478" cy="237744"/>
          </a:xfrm>
          <a:prstGeom prst="rect">
            <a:avLst/>
          </a:prstGeom>
          <a:solidFill>
            <a:srgbClr val="FFFFFF"/>
          </a:solidFill>
          <a:ln w="5080">
            <a:solidFill>
              <a:srgbClr val="D3DCE5"/>
            </a:solidFill>
            <a:prstDash val="solid"/>
          </a:ln>
        </p:spPr>
      </p:sp>
      <p:sp>
        <p:nvSpPr>
          <p:cNvPr id="112" name="Text 110"/>
          <p:cNvSpPr txBox="1"/>
          <p:nvPr/>
        </p:nvSpPr>
        <p:spPr>
          <a:xfrm>
            <a:off x="9144703"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4,633</a:t>
            </a:r>
            <a:endParaRPr lang="en-US" sz="760" dirty="0"/>
          </a:p>
        </p:txBody>
      </p:sp>
      <p:sp>
        <p:nvSpPr>
          <p:cNvPr id="113" name="Shape 111"/>
          <p:cNvSpPr/>
          <p:nvPr/>
        </p:nvSpPr>
        <p:spPr>
          <a:xfrm>
            <a:off x="9805182" y="2029968"/>
            <a:ext cx="660478" cy="237744"/>
          </a:xfrm>
          <a:prstGeom prst="rect">
            <a:avLst/>
          </a:prstGeom>
          <a:solidFill>
            <a:srgbClr val="FFFFFF"/>
          </a:solidFill>
          <a:ln w="5080">
            <a:solidFill>
              <a:srgbClr val="D3DCE5"/>
            </a:solidFill>
            <a:prstDash val="solid"/>
          </a:ln>
        </p:spPr>
      </p:sp>
      <p:sp>
        <p:nvSpPr>
          <p:cNvPr id="114" name="Text 112"/>
          <p:cNvSpPr txBox="1"/>
          <p:nvPr/>
        </p:nvSpPr>
        <p:spPr>
          <a:xfrm>
            <a:off x="9805182"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4,490</a:t>
            </a:r>
            <a:endParaRPr lang="en-US" sz="760" dirty="0"/>
          </a:p>
        </p:txBody>
      </p:sp>
      <p:sp>
        <p:nvSpPr>
          <p:cNvPr id="115" name="Shape 113"/>
          <p:cNvSpPr/>
          <p:nvPr/>
        </p:nvSpPr>
        <p:spPr>
          <a:xfrm>
            <a:off x="10465660" y="2029968"/>
            <a:ext cx="660478" cy="237744"/>
          </a:xfrm>
          <a:prstGeom prst="rect">
            <a:avLst/>
          </a:prstGeom>
          <a:solidFill>
            <a:srgbClr val="FFFFFF"/>
          </a:solidFill>
          <a:ln w="5080">
            <a:solidFill>
              <a:srgbClr val="D3DCE5"/>
            </a:solidFill>
            <a:prstDash val="solid"/>
          </a:ln>
        </p:spPr>
      </p:sp>
      <p:sp>
        <p:nvSpPr>
          <p:cNvPr id="116" name="Text 114"/>
          <p:cNvSpPr txBox="1"/>
          <p:nvPr/>
        </p:nvSpPr>
        <p:spPr>
          <a:xfrm>
            <a:off x="10465660"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4,344</a:t>
            </a:r>
            <a:endParaRPr lang="en-US" sz="760" dirty="0"/>
          </a:p>
        </p:txBody>
      </p:sp>
      <p:sp>
        <p:nvSpPr>
          <p:cNvPr id="117" name="Shape 115"/>
          <p:cNvSpPr/>
          <p:nvPr/>
        </p:nvSpPr>
        <p:spPr>
          <a:xfrm>
            <a:off x="11126138" y="2029968"/>
            <a:ext cx="660478" cy="237744"/>
          </a:xfrm>
          <a:prstGeom prst="rect">
            <a:avLst/>
          </a:prstGeom>
          <a:solidFill>
            <a:srgbClr val="FFFFFF"/>
          </a:solidFill>
          <a:ln w="5080">
            <a:solidFill>
              <a:srgbClr val="D3DCE5"/>
            </a:solidFill>
            <a:prstDash val="solid"/>
          </a:ln>
        </p:spPr>
      </p:sp>
      <p:sp>
        <p:nvSpPr>
          <p:cNvPr id="118" name="Text 116"/>
          <p:cNvSpPr txBox="1"/>
          <p:nvPr/>
        </p:nvSpPr>
        <p:spPr>
          <a:xfrm>
            <a:off x="11126138" y="2029968"/>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4,214</a:t>
            </a:r>
            <a:endParaRPr lang="en-US" sz="760" dirty="0"/>
          </a:p>
        </p:txBody>
      </p:sp>
      <p:sp>
        <p:nvSpPr>
          <p:cNvPr id="119" name="Shape 117"/>
          <p:cNvSpPr/>
          <p:nvPr/>
        </p:nvSpPr>
        <p:spPr>
          <a:xfrm>
            <a:off x="411480" y="2267712"/>
            <a:ext cx="2788920" cy="237744"/>
          </a:xfrm>
          <a:prstGeom prst="rect">
            <a:avLst/>
          </a:prstGeom>
          <a:solidFill>
            <a:srgbClr val="F7F9FB"/>
          </a:solidFill>
          <a:ln w="5080">
            <a:solidFill>
              <a:srgbClr val="D3DCE5"/>
            </a:solidFill>
            <a:prstDash val="solid"/>
          </a:ln>
        </p:spPr>
      </p:sp>
      <p:sp>
        <p:nvSpPr>
          <p:cNvPr id="120" name="Text 118"/>
          <p:cNvSpPr txBox="1"/>
          <p:nvPr/>
        </p:nvSpPr>
        <p:spPr>
          <a:xfrm>
            <a:off x="475488" y="2267712"/>
            <a:ext cx="2660904" cy="237744"/>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Total assets</a:t>
            </a:r>
            <a:endParaRPr lang="en-US" sz="780" dirty="0"/>
          </a:p>
        </p:txBody>
      </p:sp>
      <p:sp>
        <p:nvSpPr>
          <p:cNvPr id="121" name="Shape 119"/>
          <p:cNvSpPr/>
          <p:nvPr/>
        </p:nvSpPr>
        <p:spPr>
          <a:xfrm>
            <a:off x="3200400" y="2267712"/>
            <a:ext cx="660478" cy="237744"/>
          </a:xfrm>
          <a:prstGeom prst="rect">
            <a:avLst/>
          </a:prstGeom>
          <a:solidFill>
            <a:srgbClr val="F7F9FB"/>
          </a:solidFill>
          <a:ln w="5080">
            <a:solidFill>
              <a:srgbClr val="D3DCE5"/>
            </a:solidFill>
            <a:prstDash val="solid"/>
          </a:ln>
        </p:spPr>
      </p:sp>
      <p:sp>
        <p:nvSpPr>
          <p:cNvPr id="122" name="Text 120"/>
          <p:cNvSpPr txBox="1"/>
          <p:nvPr/>
        </p:nvSpPr>
        <p:spPr>
          <a:xfrm>
            <a:off x="3200400" y="2267712"/>
            <a:ext cx="614758" cy="237744"/>
          </a:xfrm>
          <a:prstGeom prst="rect">
            <a:avLst/>
          </a:prstGeom>
          <a:noFill/>
          <a:ln/>
        </p:spPr>
        <p:txBody>
          <a:bodyPr wrap="square" lIns="0" tIns="0" rIns="0" bIns="0" rtlCol="0" anchor="ctr"/>
          <a:lstStyle/>
          <a:p>
            <a:pPr algn="r" indent="0" marL="0">
              <a:buNone/>
            </a:pPr>
            <a:endParaRPr lang="en-US" sz="760" dirty="0"/>
          </a:p>
        </p:txBody>
      </p:sp>
      <p:sp>
        <p:nvSpPr>
          <p:cNvPr id="123" name="Shape 121"/>
          <p:cNvSpPr/>
          <p:nvPr/>
        </p:nvSpPr>
        <p:spPr>
          <a:xfrm>
            <a:off x="3860878" y="2267712"/>
            <a:ext cx="660478" cy="237744"/>
          </a:xfrm>
          <a:prstGeom prst="rect">
            <a:avLst/>
          </a:prstGeom>
          <a:solidFill>
            <a:srgbClr val="F7F9FB"/>
          </a:solidFill>
          <a:ln w="5080">
            <a:solidFill>
              <a:srgbClr val="D3DCE5"/>
            </a:solidFill>
            <a:prstDash val="solid"/>
          </a:ln>
        </p:spPr>
      </p:sp>
      <p:sp>
        <p:nvSpPr>
          <p:cNvPr id="124" name="Text 122"/>
          <p:cNvSpPr txBox="1"/>
          <p:nvPr/>
        </p:nvSpPr>
        <p:spPr>
          <a:xfrm>
            <a:off x="3860878" y="2267712"/>
            <a:ext cx="614758" cy="237744"/>
          </a:xfrm>
          <a:prstGeom prst="rect">
            <a:avLst/>
          </a:prstGeom>
          <a:noFill/>
          <a:ln/>
        </p:spPr>
        <p:txBody>
          <a:bodyPr wrap="square" lIns="0" tIns="0" rIns="0" bIns="0" rtlCol="0" anchor="ctr"/>
          <a:lstStyle/>
          <a:p>
            <a:pPr algn="r" indent="0" marL="0">
              <a:buNone/>
            </a:pPr>
            <a:endParaRPr lang="en-US" sz="760" dirty="0"/>
          </a:p>
        </p:txBody>
      </p:sp>
      <p:sp>
        <p:nvSpPr>
          <p:cNvPr id="125" name="Shape 123"/>
          <p:cNvSpPr/>
          <p:nvPr/>
        </p:nvSpPr>
        <p:spPr>
          <a:xfrm>
            <a:off x="4521356" y="2267712"/>
            <a:ext cx="660478" cy="237744"/>
          </a:xfrm>
          <a:prstGeom prst="rect">
            <a:avLst/>
          </a:prstGeom>
          <a:solidFill>
            <a:srgbClr val="F7F9FB"/>
          </a:solidFill>
          <a:ln w="5080">
            <a:solidFill>
              <a:srgbClr val="D3DCE5"/>
            </a:solidFill>
            <a:prstDash val="solid"/>
          </a:ln>
        </p:spPr>
      </p:sp>
      <p:sp>
        <p:nvSpPr>
          <p:cNvPr id="126" name="Text 124"/>
          <p:cNvSpPr txBox="1"/>
          <p:nvPr/>
        </p:nvSpPr>
        <p:spPr>
          <a:xfrm>
            <a:off x="4521356"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5,645</a:t>
            </a:r>
            <a:endParaRPr lang="en-US" sz="760" dirty="0"/>
          </a:p>
        </p:txBody>
      </p:sp>
      <p:sp>
        <p:nvSpPr>
          <p:cNvPr id="127" name="Shape 125"/>
          <p:cNvSpPr/>
          <p:nvPr/>
        </p:nvSpPr>
        <p:spPr>
          <a:xfrm>
            <a:off x="5181834" y="2267712"/>
            <a:ext cx="660478" cy="237744"/>
          </a:xfrm>
          <a:prstGeom prst="rect">
            <a:avLst/>
          </a:prstGeom>
          <a:solidFill>
            <a:srgbClr val="F7F9FB"/>
          </a:solidFill>
          <a:ln w="5080">
            <a:solidFill>
              <a:srgbClr val="D3DCE5"/>
            </a:solidFill>
            <a:prstDash val="solid"/>
          </a:ln>
        </p:spPr>
      </p:sp>
      <p:sp>
        <p:nvSpPr>
          <p:cNvPr id="128" name="Text 126"/>
          <p:cNvSpPr txBox="1"/>
          <p:nvPr/>
        </p:nvSpPr>
        <p:spPr>
          <a:xfrm>
            <a:off x="5181834"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6,332</a:t>
            </a:r>
            <a:endParaRPr lang="en-US" sz="760" dirty="0"/>
          </a:p>
        </p:txBody>
      </p:sp>
      <p:sp>
        <p:nvSpPr>
          <p:cNvPr id="129" name="Shape 127"/>
          <p:cNvSpPr/>
          <p:nvPr/>
        </p:nvSpPr>
        <p:spPr>
          <a:xfrm>
            <a:off x="5842313" y="2267712"/>
            <a:ext cx="660478" cy="237744"/>
          </a:xfrm>
          <a:prstGeom prst="rect">
            <a:avLst/>
          </a:prstGeom>
          <a:solidFill>
            <a:srgbClr val="F7F9FB"/>
          </a:solidFill>
          <a:ln w="5080">
            <a:solidFill>
              <a:srgbClr val="D3DCE5"/>
            </a:solidFill>
            <a:prstDash val="solid"/>
          </a:ln>
        </p:spPr>
      </p:sp>
      <p:sp>
        <p:nvSpPr>
          <p:cNvPr id="130" name="Text 128"/>
          <p:cNvSpPr txBox="1"/>
          <p:nvPr/>
        </p:nvSpPr>
        <p:spPr>
          <a:xfrm>
            <a:off x="5842313"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7,097</a:t>
            </a:r>
            <a:endParaRPr lang="en-US" sz="760" dirty="0"/>
          </a:p>
        </p:txBody>
      </p:sp>
      <p:sp>
        <p:nvSpPr>
          <p:cNvPr id="131" name="Shape 129"/>
          <p:cNvSpPr/>
          <p:nvPr/>
        </p:nvSpPr>
        <p:spPr>
          <a:xfrm>
            <a:off x="6502791" y="2267712"/>
            <a:ext cx="660478" cy="237744"/>
          </a:xfrm>
          <a:prstGeom prst="rect">
            <a:avLst/>
          </a:prstGeom>
          <a:solidFill>
            <a:srgbClr val="F7F9FB"/>
          </a:solidFill>
          <a:ln w="5080">
            <a:solidFill>
              <a:srgbClr val="D3DCE5"/>
            </a:solidFill>
            <a:prstDash val="solid"/>
          </a:ln>
        </p:spPr>
      </p:sp>
      <p:sp>
        <p:nvSpPr>
          <p:cNvPr id="132" name="Text 130"/>
          <p:cNvSpPr txBox="1"/>
          <p:nvPr/>
        </p:nvSpPr>
        <p:spPr>
          <a:xfrm>
            <a:off x="6502791"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7,872</a:t>
            </a:r>
            <a:endParaRPr lang="en-US" sz="760" dirty="0"/>
          </a:p>
        </p:txBody>
      </p:sp>
      <p:sp>
        <p:nvSpPr>
          <p:cNvPr id="133" name="Shape 131"/>
          <p:cNvSpPr/>
          <p:nvPr/>
        </p:nvSpPr>
        <p:spPr>
          <a:xfrm>
            <a:off x="7163269" y="2267712"/>
            <a:ext cx="660478" cy="237744"/>
          </a:xfrm>
          <a:prstGeom prst="rect">
            <a:avLst/>
          </a:prstGeom>
          <a:solidFill>
            <a:srgbClr val="F7F9FB"/>
          </a:solidFill>
          <a:ln w="5080">
            <a:solidFill>
              <a:srgbClr val="D3DCE5"/>
            </a:solidFill>
            <a:prstDash val="solid"/>
          </a:ln>
        </p:spPr>
      </p:sp>
      <p:sp>
        <p:nvSpPr>
          <p:cNvPr id="134" name="Text 132"/>
          <p:cNvSpPr txBox="1"/>
          <p:nvPr/>
        </p:nvSpPr>
        <p:spPr>
          <a:xfrm>
            <a:off x="7163269"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8,523</a:t>
            </a:r>
            <a:endParaRPr lang="en-US" sz="760" dirty="0"/>
          </a:p>
        </p:txBody>
      </p:sp>
      <p:sp>
        <p:nvSpPr>
          <p:cNvPr id="135" name="Shape 133"/>
          <p:cNvSpPr/>
          <p:nvPr/>
        </p:nvSpPr>
        <p:spPr>
          <a:xfrm>
            <a:off x="7823747" y="2267712"/>
            <a:ext cx="660478" cy="237744"/>
          </a:xfrm>
          <a:prstGeom prst="rect">
            <a:avLst/>
          </a:prstGeom>
          <a:solidFill>
            <a:srgbClr val="F7F9FB"/>
          </a:solidFill>
          <a:ln w="5080">
            <a:solidFill>
              <a:srgbClr val="D3DCE5"/>
            </a:solidFill>
            <a:prstDash val="solid"/>
          </a:ln>
        </p:spPr>
      </p:sp>
      <p:sp>
        <p:nvSpPr>
          <p:cNvPr id="136" name="Text 134"/>
          <p:cNvSpPr txBox="1"/>
          <p:nvPr/>
        </p:nvSpPr>
        <p:spPr>
          <a:xfrm>
            <a:off x="7823747"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9,302</a:t>
            </a:r>
            <a:endParaRPr lang="en-US" sz="760" dirty="0"/>
          </a:p>
        </p:txBody>
      </p:sp>
      <p:sp>
        <p:nvSpPr>
          <p:cNvPr id="137" name="Shape 135"/>
          <p:cNvSpPr/>
          <p:nvPr/>
        </p:nvSpPr>
        <p:spPr>
          <a:xfrm>
            <a:off x="8484225" y="2267712"/>
            <a:ext cx="660478" cy="237744"/>
          </a:xfrm>
          <a:prstGeom prst="rect">
            <a:avLst/>
          </a:prstGeom>
          <a:solidFill>
            <a:srgbClr val="F7F9FB"/>
          </a:solidFill>
          <a:ln w="5080">
            <a:solidFill>
              <a:srgbClr val="D3DCE5"/>
            </a:solidFill>
            <a:prstDash val="solid"/>
          </a:ln>
        </p:spPr>
      </p:sp>
      <p:sp>
        <p:nvSpPr>
          <p:cNvPr id="138" name="Text 136"/>
          <p:cNvSpPr txBox="1"/>
          <p:nvPr/>
        </p:nvSpPr>
        <p:spPr>
          <a:xfrm>
            <a:off x="8484225"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10,328</a:t>
            </a:r>
            <a:endParaRPr lang="en-US" sz="760" dirty="0"/>
          </a:p>
        </p:txBody>
      </p:sp>
      <p:sp>
        <p:nvSpPr>
          <p:cNvPr id="139" name="Shape 137"/>
          <p:cNvSpPr/>
          <p:nvPr/>
        </p:nvSpPr>
        <p:spPr>
          <a:xfrm>
            <a:off x="9144703" y="2267712"/>
            <a:ext cx="660478" cy="237744"/>
          </a:xfrm>
          <a:prstGeom prst="rect">
            <a:avLst/>
          </a:prstGeom>
          <a:solidFill>
            <a:srgbClr val="F7F9FB"/>
          </a:solidFill>
          <a:ln w="5080">
            <a:solidFill>
              <a:srgbClr val="D3DCE5"/>
            </a:solidFill>
            <a:prstDash val="solid"/>
          </a:ln>
        </p:spPr>
      </p:sp>
      <p:sp>
        <p:nvSpPr>
          <p:cNvPr id="140" name="Text 138"/>
          <p:cNvSpPr txBox="1"/>
          <p:nvPr/>
        </p:nvSpPr>
        <p:spPr>
          <a:xfrm>
            <a:off x="9144703"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11,536</a:t>
            </a:r>
            <a:endParaRPr lang="en-US" sz="760" dirty="0"/>
          </a:p>
        </p:txBody>
      </p:sp>
      <p:sp>
        <p:nvSpPr>
          <p:cNvPr id="141" name="Shape 139"/>
          <p:cNvSpPr/>
          <p:nvPr/>
        </p:nvSpPr>
        <p:spPr>
          <a:xfrm>
            <a:off x="9805182" y="2267712"/>
            <a:ext cx="660478" cy="237744"/>
          </a:xfrm>
          <a:prstGeom prst="rect">
            <a:avLst/>
          </a:prstGeom>
          <a:solidFill>
            <a:srgbClr val="F7F9FB"/>
          </a:solidFill>
          <a:ln w="5080">
            <a:solidFill>
              <a:srgbClr val="D3DCE5"/>
            </a:solidFill>
            <a:prstDash val="solid"/>
          </a:ln>
        </p:spPr>
      </p:sp>
      <p:sp>
        <p:nvSpPr>
          <p:cNvPr id="142" name="Text 140"/>
          <p:cNvSpPr txBox="1"/>
          <p:nvPr/>
        </p:nvSpPr>
        <p:spPr>
          <a:xfrm>
            <a:off x="9805182"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12,831</a:t>
            </a:r>
            <a:endParaRPr lang="en-US" sz="760" dirty="0"/>
          </a:p>
        </p:txBody>
      </p:sp>
      <p:sp>
        <p:nvSpPr>
          <p:cNvPr id="143" name="Shape 141"/>
          <p:cNvSpPr/>
          <p:nvPr/>
        </p:nvSpPr>
        <p:spPr>
          <a:xfrm>
            <a:off x="10465660" y="2267712"/>
            <a:ext cx="660478" cy="237744"/>
          </a:xfrm>
          <a:prstGeom prst="rect">
            <a:avLst/>
          </a:prstGeom>
          <a:solidFill>
            <a:srgbClr val="F7F9FB"/>
          </a:solidFill>
          <a:ln w="5080">
            <a:solidFill>
              <a:srgbClr val="D3DCE5"/>
            </a:solidFill>
            <a:prstDash val="solid"/>
          </a:ln>
        </p:spPr>
      </p:sp>
      <p:sp>
        <p:nvSpPr>
          <p:cNvPr id="144" name="Text 142"/>
          <p:cNvSpPr txBox="1"/>
          <p:nvPr/>
        </p:nvSpPr>
        <p:spPr>
          <a:xfrm>
            <a:off x="10465660"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14,173</a:t>
            </a:r>
            <a:endParaRPr lang="en-US" sz="760" dirty="0"/>
          </a:p>
        </p:txBody>
      </p:sp>
      <p:sp>
        <p:nvSpPr>
          <p:cNvPr id="145" name="Shape 143"/>
          <p:cNvSpPr/>
          <p:nvPr/>
        </p:nvSpPr>
        <p:spPr>
          <a:xfrm>
            <a:off x="11126138" y="2267712"/>
            <a:ext cx="660478" cy="237744"/>
          </a:xfrm>
          <a:prstGeom prst="rect">
            <a:avLst/>
          </a:prstGeom>
          <a:solidFill>
            <a:srgbClr val="F7F9FB"/>
          </a:solidFill>
          <a:ln w="5080">
            <a:solidFill>
              <a:srgbClr val="D3DCE5"/>
            </a:solidFill>
            <a:prstDash val="solid"/>
          </a:ln>
        </p:spPr>
      </p:sp>
      <p:sp>
        <p:nvSpPr>
          <p:cNvPr id="146" name="Text 144"/>
          <p:cNvSpPr txBox="1"/>
          <p:nvPr/>
        </p:nvSpPr>
        <p:spPr>
          <a:xfrm>
            <a:off x="11126138" y="2267712"/>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15,541</a:t>
            </a:r>
            <a:endParaRPr lang="en-US" sz="760" dirty="0"/>
          </a:p>
        </p:txBody>
      </p:sp>
      <p:sp>
        <p:nvSpPr>
          <p:cNvPr id="147" name="Shape 145"/>
          <p:cNvSpPr/>
          <p:nvPr/>
        </p:nvSpPr>
        <p:spPr>
          <a:xfrm>
            <a:off x="411480" y="2505456"/>
            <a:ext cx="2788920" cy="237744"/>
          </a:xfrm>
          <a:prstGeom prst="rect">
            <a:avLst/>
          </a:prstGeom>
          <a:solidFill>
            <a:srgbClr val="FFFFFF"/>
          </a:solidFill>
          <a:ln w="5080">
            <a:solidFill>
              <a:srgbClr val="D3DCE5"/>
            </a:solidFill>
            <a:prstDash val="solid"/>
          </a:ln>
        </p:spPr>
      </p:sp>
      <p:sp>
        <p:nvSpPr>
          <p:cNvPr id="148" name="Text 146"/>
          <p:cNvSpPr txBox="1"/>
          <p:nvPr/>
        </p:nvSpPr>
        <p:spPr>
          <a:xfrm>
            <a:off x="475488" y="2505456"/>
            <a:ext cx="2660904" cy="237744"/>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Borrowings</a:t>
            </a:r>
            <a:endParaRPr lang="en-US" sz="780" dirty="0"/>
          </a:p>
        </p:txBody>
      </p:sp>
      <p:sp>
        <p:nvSpPr>
          <p:cNvPr id="149" name="Shape 147"/>
          <p:cNvSpPr/>
          <p:nvPr/>
        </p:nvSpPr>
        <p:spPr>
          <a:xfrm>
            <a:off x="3200400" y="2505456"/>
            <a:ext cx="660478" cy="237744"/>
          </a:xfrm>
          <a:prstGeom prst="rect">
            <a:avLst/>
          </a:prstGeom>
          <a:solidFill>
            <a:srgbClr val="FFFFFF"/>
          </a:solidFill>
          <a:ln w="5080">
            <a:solidFill>
              <a:srgbClr val="D3DCE5"/>
            </a:solidFill>
            <a:prstDash val="solid"/>
          </a:ln>
        </p:spPr>
      </p:sp>
      <p:sp>
        <p:nvSpPr>
          <p:cNvPr id="150" name="Text 148"/>
          <p:cNvSpPr txBox="1"/>
          <p:nvPr/>
        </p:nvSpPr>
        <p:spPr>
          <a:xfrm>
            <a:off x="3200400" y="2505456"/>
            <a:ext cx="614758" cy="237744"/>
          </a:xfrm>
          <a:prstGeom prst="rect">
            <a:avLst/>
          </a:prstGeom>
          <a:noFill/>
          <a:ln/>
        </p:spPr>
        <p:txBody>
          <a:bodyPr wrap="square" lIns="0" tIns="0" rIns="0" bIns="0" rtlCol="0" anchor="ctr"/>
          <a:lstStyle/>
          <a:p>
            <a:pPr algn="r" indent="0" marL="0">
              <a:buNone/>
            </a:pPr>
            <a:endParaRPr lang="en-US" sz="760" dirty="0"/>
          </a:p>
        </p:txBody>
      </p:sp>
      <p:sp>
        <p:nvSpPr>
          <p:cNvPr id="151" name="Shape 149"/>
          <p:cNvSpPr/>
          <p:nvPr/>
        </p:nvSpPr>
        <p:spPr>
          <a:xfrm>
            <a:off x="3860878" y="2505456"/>
            <a:ext cx="660478" cy="237744"/>
          </a:xfrm>
          <a:prstGeom prst="rect">
            <a:avLst/>
          </a:prstGeom>
          <a:solidFill>
            <a:srgbClr val="FFFFFF"/>
          </a:solidFill>
          <a:ln w="5080">
            <a:solidFill>
              <a:srgbClr val="D3DCE5"/>
            </a:solidFill>
            <a:prstDash val="solid"/>
          </a:ln>
        </p:spPr>
      </p:sp>
      <p:sp>
        <p:nvSpPr>
          <p:cNvPr id="152" name="Text 150"/>
          <p:cNvSpPr txBox="1"/>
          <p:nvPr/>
        </p:nvSpPr>
        <p:spPr>
          <a:xfrm>
            <a:off x="3860878" y="2505456"/>
            <a:ext cx="614758" cy="237744"/>
          </a:xfrm>
          <a:prstGeom prst="rect">
            <a:avLst/>
          </a:prstGeom>
          <a:noFill/>
          <a:ln/>
        </p:spPr>
        <p:txBody>
          <a:bodyPr wrap="square" lIns="0" tIns="0" rIns="0" bIns="0" rtlCol="0" anchor="ctr"/>
          <a:lstStyle/>
          <a:p>
            <a:pPr algn="r" indent="0" marL="0">
              <a:buNone/>
            </a:pPr>
            <a:endParaRPr lang="en-US" sz="760" dirty="0"/>
          </a:p>
        </p:txBody>
      </p:sp>
      <p:sp>
        <p:nvSpPr>
          <p:cNvPr id="153" name="Shape 151"/>
          <p:cNvSpPr/>
          <p:nvPr/>
        </p:nvSpPr>
        <p:spPr>
          <a:xfrm>
            <a:off x="4521356" y="2505456"/>
            <a:ext cx="660478" cy="237744"/>
          </a:xfrm>
          <a:prstGeom prst="rect">
            <a:avLst/>
          </a:prstGeom>
          <a:solidFill>
            <a:srgbClr val="FFFFFF"/>
          </a:solidFill>
          <a:ln w="5080">
            <a:solidFill>
              <a:srgbClr val="D3DCE5"/>
            </a:solidFill>
            <a:prstDash val="solid"/>
          </a:ln>
        </p:spPr>
      </p:sp>
      <p:sp>
        <p:nvSpPr>
          <p:cNvPr id="154" name="Text 152"/>
          <p:cNvSpPr txBox="1"/>
          <p:nvPr/>
        </p:nvSpPr>
        <p:spPr>
          <a:xfrm>
            <a:off x="4521356"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55" name="Shape 153"/>
          <p:cNvSpPr/>
          <p:nvPr/>
        </p:nvSpPr>
        <p:spPr>
          <a:xfrm>
            <a:off x="5181834" y="2505456"/>
            <a:ext cx="660478" cy="237744"/>
          </a:xfrm>
          <a:prstGeom prst="rect">
            <a:avLst/>
          </a:prstGeom>
          <a:solidFill>
            <a:srgbClr val="FFFFFF"/>
          </a:solidFill>
          <a:ln w="5080">
            <a:solidFill>
              <a:srgbClr val="D3DCE5"/>
            </a:solidFill>
            <a:prstDash val="solid"/>
          </a:ln>
        </p:spPr>
      </p:sp>
      <p:sp>
        <p:nvSpPr>
          <p:cNvPr id="156" name="Text 154"/>
          <p:cNvSpPr txBox="1"/>
          <p:nvPr/>
        </p:nvSpPr>
        <p:spPr>
          <a:xfrm>
            <a:off x="5181834"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57" name="Shape 155"/>
          <p:cNvSpPr/>
          <p:nvPr/>
        </p:nvSpPr>
        <p:spPr>
          <a:xfrm>
            <a:off x="5842313" y="2505456"/>
            <a:ext cx="660478" cy="237744"/>
          </a:xfrm>
          <a:prstGeom prst="rect">
            <a:avLst/>
          </a:prstGeom>
          <a:solidFill>
            <a:srgbClr val="FFFFFF"/>
          </a:solidFill>
          <a:ln w="5080">
            <a:solidFill>
              <a:srgbClr val="D3DCE5"/>
            </a:solidFill>
            <a:prstDash val="solid"/>
          </a:ln>
        </p:spPr>
      </p:sp>
      <p:sp>
        <p:nvSpPr>
          <p:cNvPr id="158" name="Text 156"/>
          <p:cNvSpPr txBox="1"/>
          <p:nvPr/>
        </p:nvSpPr>
        <p:spPr>
          <a:xfrm>
            <a:off x="5842313"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59" name="Shape 157"/>
          <p:cNvSpPr/>
          <p:nvPr/>
        </p:nvSpPr>
        <p:spPr>
          <a:xfrm>
            <a:off x="6502791" y="2505456"/>
            <a:ext cx="660478" cy="237744"/>
          </a:xfrm>
          <a:prstGeom prst="rect">
            <a:avLst/>
          </a:prstGeom>
          <a:solidFill>
            <a:srgbClr val="FFFFFF"/>
          </a:solidFill>
          <a:ln w="5080">
            <a:solidFill>
              <a:srgbClr val="D3DCE5"/>
            </a:solidFill>
            <a:prstDash val="solid"/>
          </a:ln>
        </p:spPr>
      </p:sp>
      <p:sp>
        <p:nvSpPr>
          <p:cNvPr id="160" name="Text 158"/>
          <p:cNvSpPr txBox="1"/>
          <p:nvPr/>
        </p:nvSpPr>
        <p:spPr>
          <a:xfrm>
            <a:off x="6502791"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61" name="Shape 159"/>
          <p:cNvSpPr/>
          <p:nvPr/>
        </p:nvSpPr>
        <p:spPr>
          <a:xfrm>
            <a:off x="7163269" y="2505456"/>
            <a:ext cx="660478" cy="237744"/>
          </a:xfrm>
          <a:prstGeom prst="rect">
            <a:avLst/>
          </a:prstGeom>
          <a:solidFill>
            <a:srgbClr val="FFFFFF"/>
          </a:solidFill>
          <a:ln w="5080">
            <a:solidFill>
              <a:srgbClr val="D3DCE5"/>
            </a:solidFill>
            <a:prstDash val="solid"/>
          </a:ln>
        </p:spPr>
      </p:sp>
      <p:sp>
        <p:nvSpPr>
          <p:cNvPr id="162" name="Text 160"/>
          <p:cNvSpPr txBox="1"/>
          <p:nvPr/>
        </p:nvSpPr>
        <p:spPr>
          <a:xfrm>
            <a:off x="7163269"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63" name="Shape 161"/>
          <p:cNvSpPr/>
          <p:nvPr/>
        </p:nvSpPr>
        <p:spPr>
          <a:xfrm>
            <a:off x="7823747" y="2505456"/>
            <a:ext cx="660478" cy="237744"/>
          </a:xfrm>
          <a:prstGeom prst="rect">
            <a:avLst/>
          </a:prstGeom>
          <a:solidFill>
            <a:srgbClr val="FFFFFF"/>
          </a:solidFill>
          <a:ln w="5080">
            <a:solidFill>
              <a:srgbClr val="D3DCE5"/>
            </a:solidFill>
            <a:prstDash val="solid"/>
          </a:ln>
        </p:spPr>
      </p:sp>
      <p:sp>
        <p:nvSpPr>
          <p:cNvPr id="164" name="Text 162"/>
          <p:cNvSpPr txBox="1"/>
          <p:nvPr/>
        </p:nvSpPr>
        <p:spPr>
          <a:xfrm>
            <a:off x="7823747"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65" name="Shape 163"/>
          <p:cNvSpPr/>
          <p:nvPr/>
        </p:nvSpPr>
        <p:spPr>
          <a:xfrm>
            <a:off x="8484225" y="2505456"/>
            <a:ext cx="660478" cy="237744"/>
          </a:xfrm>
          <a:prstGeom prst="rect">
            <a:avLst/>
          </a:prstGeom>
          <a:solidFill>
            <a:srgbClr val="FFFFFF"/>
          </a:solidFill>
          <a:ln w="5080">
            <a:solidFill>
              <a:srgbClr val="D3DCE5"/>
            </a:solidFill>
            <a:prstDash val="solid"/>
          </a:ln>
        </p:spPr>
      </p:sp>
      <p:sp>
        <p:nvSpPr>
          <p:cNvPr id="166" name="Text 164"/>
          <p:cNvSpPr txBox="1"/>
          <p:nvPr/>
        </p:nvSpPr>
        <p:spPr>
          <a:xfrm>
            <a:off x="8484225"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67" name="Shape 165"/>
          <p:cNvSpPr/>
          <p:nvPr/>
        </p:nvSpPr>
        <p:spPr>
          <a:xfrm>
            <a:off x="9144703" y="2505456"/>
            <a:ext cx="660478" cy="237744"/>
          </a:xfrm>
          <a:prstGeom prst="rect">
            <a:avLst/>
          </a:prstGeom>
          <a:solidFill>
            <a:srgbClr val="FFFFFF"/>
          </a:solidFill>
          <a:ln w="5080">
            <a:solidFill>
              <a:srgbClr val="D3DCE5"/>
            </a:solidFill>
            <a:prstDash val="solid"/>
          </a:ln>
        </p:spPr>
      </p:sp>
      <p:sp>
        <p:nvSpPr>
          <p:cNvPr id="168" name="Text 166"/>
          <p:cNvSpPr txBox="1"/>
          <p:nvPr/>
        </p:nvSpPr>
        <p:spPr>
          <a:xfrm>
            <a:off x="9144703"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69" name="Shape 167"/>
          <p:cNvSpPr/>
          <p:nvPr/>
        </p:nvSpPr>
        <p:spPr>
          <a:xfrm>
            <a:off x="9805182" y="2505456"/>
            <a:ext cx="660478" cy="237744"/>
          </a:xfrm>
          <a:prstGeom prst="rect">
            <a:avLst/>
          </a:prstGeom>
          <a:solidFill>
            <a:srgbClr val="FFFFFF"/>
          </a:solidFill>
          <a:ln w="5080">
            <a:solidFill>
              <a:srgbClr val="D3DCE5"/>
            </a:solidFill>
            <a:prstDash val="solid"/>
          </a:ln>
        </p:spPr>
      </p:sp>
      <p:sp>
        <p:nvSpPr>
          <p:cNvPr id="170" name="Text 168"/>
          <p:cNvSpPr txBox="1"/>
          <p:nvPr/>
        </p:nvSpPr>
        <p:spPr>
          <a:xfrm>
            <a:off x="9805182"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71" name="Shape 169"/>
          <p:cNvSpPr/>
          <p:nvPr/>
        </p:nvSpPr>
        <p:spPr>
          <a:xfrm>
            <a:off x="10465660" y="2505456"/>
            <a:ext cx="660478" cy="237744"/>
          </a:xfrm>
          <a:prstGeom prst="rect">
            <a:avLst/>
          </a:prstGeom>
          <a:solidFill>
            <a:srgbClr val="FFFFFF"/>
          </a:solidFill>
          <a:ln w="5080">
            <a:solidFill>
              <a:srgbClr val="D3DCE5"/>
            </a:solidFill>
            <a:prstDash val="solid"/>
          </a:ln>
        </p:spPr>
      </p:sp>
      <p:sp>
        <p:nvSpPr>
          <p:cNvPr id="172" name="Text 170"/>
          <p:cNvSpPr txBox="1"/>
          <p:nvPr/>
        </p:nvSpPr>
        <p:spPr>
          <a:xfrm>
            <a:off x="10465660"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73" name="Shape 171"/>
          <p:cNvSpPr/>
          <p:nvPr/>
        </p:nvSpPr>
        <p:spPr>
          <a:xfrm>
            <a:off x="11126138" y="2505456"/>
            <a:ext cx="660478" cy="237744"/>
          </a:xfrm>
          <a:prstGeom prst="rect">
            <a:avLst/>
          </a:prstGeom>
          <a:solidFill>
            <a:srgbClr val="FFFFFF"/>
          </a:solidFill>
          <a:ln w="5080">
            <a:solidFill>
              <a:srgbClr val="D3DCE5"/>
            </a:solidFill>
            <a:prstDash val="solid"/>
          </a:ln>
        </p:spPr>
      </p:sp>
      <p:sp>
        <p:nvSpPr>
          <p:cNvPr id="174" name="Text 172"/>
          <p:cNvSpPr txBox="1"/>
          <p:nvPr/>
        </p:nvSpPr>
        <p:spPr>
          <a:xfrm>
            <a:off x="11126138" y="250545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828</a:t>
            </a:r>
            <a:endParaRPr lang="en-US" sz="760" dirty="0"/>
          </a:p>
        </p:txBody>
      </p:sp>
      <p:sp>
        <p:nvSpPr>
          <p:cNvPr id="175" name="Shape 173"/>
          <p:cNvSpPr/>
          <p:nvPr/>
        </p:nvSpPr>
        <p:spPr>
          <a:xfrm>
            <a:off x="411480" y="2743200"/>
            <a:ext cx="2788920" cy="237744"/>
          </a:xfrm>
          <a:prstGeom prst="rect">
            <a:avLst/>
          </a:prstGeom>
          <a:solidFill>
            <a:srgbClr val="F7F9FB"/>
          </a:solidFill>
          <a:ln w="5080">
            <a:solidFill>
              <a:srgbClr val="D3DCE5"/>
            </a:solidFill>
            <a:prstDash val="solid"/>
          </a:ln>
        </p:spPr>
      </p:sp>
      <p:sp>
        <p:nvSpPr>
          <p:cNvPr id="176" name="Text 174"/>
          <p:cNvSpPr txBox="1"/>
          <p:nvPr/>
        </p:nvSpPr>
        <p:spPr>
          <a:xfrm>
            <a:off x="475488" y="2743200"/>
            <a:ext cx="2660904" cy="237744"/>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Shareholders' equity</a:t>
            </a:r>
            <a:endParaRPr lang="en-US" sz="780" dirty="0"/>
          </a:p>
        </p:txBody>
      </p:sp>
      <p:sp>
        <p:nvSpPr>
          <p:cNvPr id="177" name="Shape 175"/>
          <p:cNvSpPr/>
          <p:nvPr/>
        </p:nvSpPr>
        <p:spPr>
          <a:xfrm>
            <a:off x="3200400" y="2743200"/>
            <a:ext cx="660478" cy="237744"/>
          </a:xfrm>
          <a:prstGeom prst="rect">
            <a:avLst/>
          </a:prstGeom>
          <a:solidFill>
            <a:srgbClr val="F7F9FB"/>
          </a:solidFill>
          <a:ln w="5080">
            <a:solidFill>
              <a:srgbClr val="D3DCE5"/>
            </a:solidFill>
            <a:prstDash val="solid"/>
          </a:ln>
        </p:spPr>
      </p:sp>
      <p:sp>
        <p:nvSpPr>
          <p:cNvPr id="178" name="Text 176"/>
          <p:cNvSpPr txBox="1"/>
          <p:nvPr/>
        </p:nvSpPr>
        <p:spPr>
          <a:xfrm>
            <a:off x="3200400" y="2743200"/>
            <a:ext cx="614758" cy="237744"/>
          </a:xfrm>
          <a:prstGeom prst="rect">
            <a:avLst/>
          </a:prstGeom>
          <a:noFill/>
          <a:ln/>
        </p:spPr>
        <p:txBody>
          <a:bodyPr wrap="square" lIns="0" tIns="0" rIns="0" bIns="0" rtlCol="0" anchor="ctr"/>
          <a:lstStyle/>
          <a:p>
            <a:pPr algn="r" indent="0" marL="0">
              <a:buNone/>
            </a:pPr>
            <a:endParaRPr lang="en-US" sz="760" dirty="0"/>
          </a:p>
        </p:txBody>
      </p:sp>
      <p:sp>
        <p:nvSpPr>
          <p:cNvPr id="179" name="Shape 177"/>
          <p:cNvSpPr/>
          <p:nvPr/>
        </p:nvSpPr>
        <p:spPr>
          <a:xfrm>
            <a:off x="3860878" y="2743200"/>
            <a:ext cx="660478" cy="237744"/>
          </a:xfrm>
          <a:prstGeom prst="rect">
            <a:avLst/>
          </a:prstGeom>
          <a:solidFill>
            <a:srgbClr val="F7F9FB"/>
          </a:solidFill>
          <a:ln w="5080">
            <a:solidFill>
              <a:srgbClr val="D3DCE5"/>
            </a:solidFill>
            <a:prstDash val="solid"/>
          </a:ln>
        </p:spPr>
      </p:sp>
      <p:sp>
        <p:nvSpPr>
          <p:cNvPr id="180" name="Text 178"/>
          <p:cNvSpPr txBox="1"/>
          <p:nvPr/>
        </p:nvSpPr>
        <p:spPr>
          <a:xfrm>
            <a:off x="3860878" y="2743200"/>
            <a:ext cx="614758" cy="237744"/>
          </a:xfrm>
          <a:prstGeom prst="rect">
            <a:avLst/>
          </a:prstGeom>
          <a:noFill/>
          <a:ln/>
        </p:spPr>
        <p:txBody>
          <a:bodyPr wrap="square" lIns="0" tIns="0" rIns="0" bIns="0" rtlCol="0" anchor="ctr"/>
          <a:lstStyle/>
          <a:p>
            <a:pPr algn="r" indent="0" marL="0">
              <a:buNone/>
            </a:pPr>
            <a:endParaRPr lang="en-US" sz="760" dirty="0"/>
          </a:p>
        </p:txBody>
      </p:sp>
      <p:sp>
        <p:nvSpPr>
          <p:cNvPr id="181" name="Shape 179"/>
          <p:cNvSpPr/>
          <p:nvPr/>
        </p:nvSpPr>
        <p:spPr>
          <a:xfrm>
            <a:off x="4521356" y="2743200"/>
            <a:ext cx="660478" cy="237744"/>
          </a:xfrm>
          <a:prstGeom prst="rect">
            <a:avLst/>
          </a:prstGeom>
          <a:solidFill>
            <a:srgbClr val="F7F9FB"/>
          </a:solidFill>
          <a:ln w="5080">
            <a:solidFill>
              <a:srgbClr val="D3DCE5"/>
            </a:solidFill>
            <a:prstDash val="solid"/>
          </a:ln>
        </p:spPr>
      </p:sp>
      <p:sp>
        <p:nvSpPr>
          <p:cNvPr id="182" name="Text 180"/>
          <p:cNvSpPr txBox="1"/>
          <p:nvPr/>
        </p:nvSpPr>
        <p:spPr>
          <a:xfrm>
            <a:off x="4521356"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4,817</a:t>
            </a:r>
            <a:endParaRPr lang="en-US" sz="760" dirty="0"/>
          </a:p>
        </p:txBody>
      </p:sp>
      <p:sp>
        <p:nvSpPr>
          <p:cNvPr id="183" name="Shape 181"/>
          <p:cNvSpPr/>
          <p:nvPr/>
        </p:nvSpPr>
        <p:spPr>
          <a:xfrm>
            <a:off x="5181834" y="2743200"/>
            <a:ext cx="660478" cy="237744"/>
          </a:xfrm>
          <a:prstGeom prst="rect">
            <a:avLst/>
          </a:prstGeom>
          <a:solidFill>
            <a:srgbClr val="F7F9FB"/>
          </a:solidFill>
          <a:ln w="5080">
            <a:solidFill>
              <a:srgbClr val="D3DCE5"/>
            </a:solidFill>
            <a:prstDash val="solid"/>
          </a:ln>
        </p:spPr>
      </p:sp>
      <p:sp>
        <p:nvSpPr>
          <p:cNvPr id="184" name="Text 182"/>
          <p:cNvSpPr txBox="1"/>
          <p:nvPr/>
        </p:nvSpPr>
        <p:spPr>
          <a:xfrm>
            <a:off x="5181834"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5,504</a:t>
            </a:r>
            <a:endParaRPr lang="en-US" sz="760" dirty="0"/>
          </a:p>
        </p:txBody>
      </p:sp>
      <p:sp>
        <p:nvSpPr>
          <p:cNvPr id="185" name="Shape 183"/>
          <p:cNvSpPr/>
          <p:nvPr/>
        </p:nvSpPr>
        <p:spPr>
          <a:xfrm>
            <a:off x="5842313" y="2743200"/>
            <a:ext cx="660478" cy="237744"/>
          </a:xfrm>
          <a:prstGeom prst="rect">
            <a:avLst/>
          </a:prstGeom>
          <a:solidFill>
            <a:srgbClr val="F7F9FB"/>
          </a:solidFill>
          <a:ln w="5080">
            <a:solidFill>
              <a:srgbClr val="D3DCE5"/>
            </a:solidFill>
            <a:prstDash val="solid"/>
          </a:ln>
        </p:spPr>
      </p:sp>
      <p:sp>
        <p:nvSpPr>
          <p:cNvPr id="186" name="Text 184"/>
          <p:cNvSpPr txBox="1"/>
          <p:nvPr/>
        </p:nvSpPr>
        <p:spPr>
          <a:xfrm>
            <a:off x="5842313"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6,269</a:t>
            </a:r>
            <a:endParaRPr lang="en-US" sz="760" dirty="0"/>
          </a:p>
        </p:txBody>
      </p:sp>
      <p:sp>
        <p:nvSpPr>
          <p:cNvPr id="187" name="Shape 185"/>
          <p:cNvSpPr/>
          <p:nvPr/>
        </p:nvSpPr>
        <p:spPr>
          <a:xfrm>
            <a:off x="6502791" y="2743200"/>
            <a:ext cx="660478" cy="237744"/>
          </a:xfrm>
          <a:prstGeom prst="rect">
            <a:avLst/>
          </a:prstGeom>
          <a:solidFill>
            <a:srgbClr val="F7F9FB"/>
          </a:solidFill>
          <a:ln w="5080">
            <a:solidFill>
              <a:srgbClr val="D3DCE5"/>
            </a:solidFill>
            <a:prstDash val="solid"/>
          </a:ln>
        </p:spPr>
      </p:sp>
      <p:sp>
        <p:nvSpPr>
          <p:cNvPr id="188" name="Text 186"/>
          <p:cNvSpPr txBox="1"/>
          <p:nvPr/>
        </p:nvSpPr>
        <p:spPr>
          <a:xfrm>
            <a:off x="6502791"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7,044</a:t>
            </a:r>
            <a:endParaRPr lang="en-US" sz="760" dirty="0"/>
          </a:p>
        </p:txBody>
      </p:sp>
      <p:sp>
        <p:nvSpPr>
          <p:cNvPr id="189" name="Shape 187"/>
          <p:cNvSpPr/>
          <p:nvPr/>
        </p:nvSpPr>
        <p:spPr>
          <a:xfrm>
            <a:off x="7163269" y="2743200"/>
            <a:ext cx="660478" cy="237744"/>
          </a:xfrm>
          <a:prstGeom prst="rect">
            <a:avLst/>
          </a:prstGeom>
          <a:solidFill>
            <a:srgbClr val="F7F9FB"/>
          </a:solidFill>
          <a:ln w="5080">
            <a:solidFill>
              <a:srgbClr val="D3DCE5"/>
            </a:solidFill>
            <a:prstDash val="solid"/>
          </a:ln>
        </p:spPr>
      </p:sp>
      <p:sp>
        <p:nvSpPr>
          <p:cNvPr id="190" name="Text 188"/>
          <p:cNvSpPr txBox="1"/>
          <p:nvPr/>
        </p:nvSpPr>
        <p:spPr>
          <a:xfrm>
            <a:off x="7163269"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7,695</a:t>
            </a:r>
            <a:endParaRPr lang="en-US" sz="760" dirty="0"/>
          </a:p>
        </p:txBody>
      </p:sp>
      <p:sp>
        <p:nvSpPr>
          <p:cNvPr id="191" name="Shape 189"/>
          <p:cNvSpPr/>
          <p:nvPr/>
        </p:nvSpPr>
        <p:spPr>
          <a:xfrm>
            <a:off x="7823747" y="2743200"/>
            <a:ext cx="660478" cy="237744"/>
          </a:xfrm>
          <a:prstGeom prst="rect">
            <a:avLst/>
          </a:prstGeom>
          <a:solidFill>
            <a:srgbClr val="F7F9FB"/>
          </a:solidFill>
          <a:ln w="5080">
            <a:solidFill>
              <a:srgbClr val="D3DCE5"/>
            </a:solidFill>
            <a:prstDash val="solid"/>
          </a:ln>
        </p:spPr>
      </p:sp>
      <p:sp>
        <p:nvSpPr>
          <p:cNvPr id="192" name="Text 190"/>
          <p:cNvSpPr txBox="1"/>
          <p:nvPr/>
        </p:nvSpPr>
        <p:spPr>
          <a:xfrm>
            <a:off x="7823747"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8,474</a:t>
            </a:r>
            <a:endParaRPr lang="en-US" sz="760" dirty="0"/>
          </a:p>
        </p:txBody>
      </p:sp>
      <p:sp>
        <p:nvSpPr>
          <p:cNvPr id="193" name="Shape 191"/>
          <p:cNvSpPr/>
          <p:nvPr/>
        </p:nvSpPr>
        <p:spPr>
          <a:xfrm>
            <a:off x="8484225" y="2743200"/>
            <a:ext cx="660478" cy="237744"/>
          </a:xfrm>
          <a:prstGeom prst="rect">
            <a:avLst/>
          </a:prstGeom>
          <a:solidFill>
            <a:srgbClr val="F7F9FB"/>
          </a:solidFill>
          <a:ln w="5080">
            <a:solidFill>
              <a:srgbClr val="D3DCE5"/>
            </a:solidFill>
            <a:prstDash val="solid"/>
          </a:ln>
        </p:spPr>
      </p:sp>
      <p:sp>
        <p:nvSpPr>
          <p:cNvPr id="194" name="Text 192"/>
          <p:cNvSpPr txBox="1"/>
          <p:nvPr/>
        </p:nvSpPr>
        <p:spPr>
          <a:xfrm>
            <a:off x="8484225"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9,500</a:t>
            </a:r>
            <a:endParaRPr lang="en-US" sz="760" dirty="0"/>
          </a:p>
        </p:txBody>
      </p:sp>
      <p:sp>
        <p:nvSpPr>
          <p:cNvPr id="195" name="Shape 193"/>
          <p:cNvSpPr/>
          <p:nvPr/>
        </p:nvSpPr>
        <p:spPr>
          <a:xfrm>
            <a:off x="9144703" y="2743200"/>
            <a:ext cx="660478" cy="237744"/>
          </a:xfrm>
          <a:prstGeom prst="rect">
            <a:avLst/>
          </a:prstGeom>
          <a:solidFill>
            <a:srgbClr val="F7F9FB"/>
          </a:solidFill>
          <a:ln w="5080">
            <a:solidFill>
              <a:srgbClr val="D3DCE5"/>
            </a:solidFill>
            <a:prstDash val="solid"/>
          </a:ln>
        </p:spPr>
      </p:sp>
      <p:sp>
        <p:nvSpPr>
          <p:cNvPr id="196" name="Text 194"/>
          <p:cNvSpPr txBox="1"/>
          <p:nvPr/>
        </p:nvSpPr>
        <p:spPr>
          <a:xfrm>
            <a:off x="9144703"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10,708</a:t>
            </a:r>
            <a:endParaRPr lang="en-US" sz="760" dirty="0"/>
          </a:p>
        </p:txBody>
      </p:sp>
      <p:sp>
        <p:nvSpPr>
          <p:cNvPr id="197" name="Shape 195"/>
          <p:cNvSpPr/>
          <p:nvPr/>
        </p:nvSpPr>
        <p:spPr>
          <a:xfrm>
            <a:off x="9805182" y="2743200"/>
            <a:ext cx="660478" cy="237744"/>
          </a:xfrm>
          <a:prstGeom prst="rect">
            <a:avLst/>
          </a:prstGeom>
          <a:solidFill>
            <a:srgbClr val="F7F9FB"/>
          </a:solidFill>
          <a:ln w="5080">
            <a:solidFill>
              <a:srgbClr val="D3DCE5"/>
            </a:solidFill>
            <a:prstDash val="solid"/>
          </a:ln>
        </p:spPr>
      </p:sp>
      <p:sp>
        <p:nvSpPr>
          <p:cNvPr id="198" name="Text 196"/>
          <p:cNvSpPr txBox="1"/>
          <p:nvPr/>
        </p:nvSpPr>
        <p:spPr>
          <a:xfrm>
            <a:off x="9805182"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12,003</a:t>
            </a:r>
            <a:endParaRPr lang="en-US" sz="760" dirty="0"/>
          </a:p>
        </p:txBody>
      </p:sp>
      <p:sp>
        <p:nvSpPr>
          <p:cNvPr id="199" name="Shape 197"/>
          <p:cNvSpPr/>
          <p:nvPr/>
        </p:nvSpPr>
        <p:spPr>
          <a:xfrm>
            <a:off x="10465660" y="2743200"/>
            <a:ext cx="660478" cy="237744"/>
          </a:xfrm>
          <a:prstGeom prst="rect">
            <a:avLst/>
          </a:prstGeom>
          <a:solidFill>
            <a:srgbClr val="F7F9FB"/>
          </a:solidFill>
          <a:ln w="5080">
            <a:solidFill>
              <a:srgbClr val="D3DCE5"/>
            </a:solidFill>
            <a:prstDash val="solid"/>
          </a:ln>
        </p:spPr>
      </p:sp>
      <p:sp>
        <p:nvSpPr>
          <p:cNvPr id="200" name="Text 198"/>
          <p:cNvSpPr txBox="1"/>
          <p:nvPr/>
        </p:nvSpPr>
        <p:spPr>
          <a:xfrm>
            <a:off x="10465660"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13,345</a:t>
            </a:r>
            <a:endParaRPr lang="en-US" sz="760" dirty="0"/>
          </a:p>
        </p:txBody>
      </p:sp>
      <p:sp>
        <p:nvSpPr>
          <p:cNvPr id="201" name="Shape 199"/>
          <p:cNvSpPr/>
          <p:nvPr/>
        </p:nvSpPr>
        <p:spPr>
          <a:xfrm>
            <a:off x="11126138" y="2743200"/>
            <a:ext cx="660478" cy="237744"/>
          </a:xfrm>
          <a:prstGeom prst="rect">
            <a:avLst/>
          </a:prstGeom>
          <a:solidFill>
            <a:srgbClr val="F7F9FB"/>
          </a:solidFill>
          <a:ln w="5080">
            <a:solidFill>
              <a:srgbClr val="D3DCE5"/>
            </a:solidFill>
            <a:prstDash val="solid"/>
          </a:ln>
        </p:spPr>
      </p:sp>
      <p:sp>
        <p:nvSpPr>
          <p:cNvPr id="202" name="Text 200"/>
          <p:cNvSpPr txBox="1"/>
          <p:nvPr/>
        </p:nvSpPr>
        <p:spPr>
          <a:xfrm>
            <a:off x="11126138" y="274320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14,713</a:t>
            </a:r>
            <a:endParaRPr lang="en-US" sz="760" dirty="0"/>
          </a:p>
        </p:txBody>
      </p:sp>
      <p:sp>
        <p:nvSpPr>
          <p:cNvPr id="203" name="Shape 201"/>
          <p:cNvSpPr/>
          <p:nvPr/>
        </p:nvSpPr>
        <p:spPr>
          <a:xfrm>
            <a:off x="411480" y="2980944"/>
            <a:ext cx="2788920" cy="237744"/>
          </a:xfrm>
          <a:prstGeom prst="rect">
            <a:avLst/>
          </a:prstGeom>
          <a:solidFill>
            <a:srgbClr val="FFFFFF"/>
          </a:solidFill>
          <a:ln w="5080">
            <a:solidFill>
              <a:srgbClr val="D3DCE5"/>
            </a:solidFill>
            <a:prstDash val="solid"/>
          </a:ln>
        </p:spPr>
      </p:sp>
      <p:sp>
        <p:nvSpPr>
          <p:cNvPr id="204" name="Text 202"/>
          <p:cNvSpPr txBox="1"/>
          <p:nvPr/>
        </p:nvSpPr>
        <p:spPr>
          <a:xfrm>
            <a:off x="475488" y="2980944"/>
            <a:ext cx="2660904" cy="237744"/>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Total liabilities and equity</a:t>
            </a:r>
            <a:endParaRPr lang="en-US" sz="780" dirty="0"/>
          </a:p>
        </p:txBody>
      </p:sp>
      <p:sp>
        <p:nvSpPr>
          <p:cNvPr id="205" name="Shape 203"/>
          <p:cNvSpPr/>
          <p:nvPr/>
        </p:nvSpPr>
        <p:spPr>
          <a:xfrm>
            <a:off x="3200400" y="2980944"/>
            <a:ext cx="660478" cy="237744"/>
          </a:xfrm>
          <a:prstGeom prst="rect">
            <a:avLst/>
          </a:prstGeom>
          <a:solidFill>
            <a:srgbClr val="FFFFFF"/>
          </a:solidFill>
          <a:ln w="5080">
            <a:solidFill>
              <a:srgbClr val="D3DCE5"/>
            </a:solidFill>
            <a:prstDash val="solid"/>
          </a:ln>
        </p:spPr>
      </p:sp>
      <p:sp>
        <p:nvSpPr>
          <p:cNvPr id="206" name="Text 204"/>
          <p:cNvSpPr txBox="1"/>
          <p:nvPr/>
        </p:nvSpPr>
        <p:spPr>
          <a:xfrm>
            <a:off x="3200400" y="2980944"/>
            <a:ext cx="614758" cy="237744"/>
          </a:xfrm>
          <a:prstGeom prst="rect">
            <a:avLst/>
          </a:prstGeom>
          <a:noFill/>
          <a:ln/>
        </p:spPr>
        <p:txBody>
          <a:bodyPr wrap="square" lIns="0" tIns="0" rIns="0" bIns="0" rtlCol="0" anchor="ctr"/>
          <a:lstStyle/>
          <a:p>
            <a:pPr algn="r" indent="0" marL="0">
              <a:buNone/>
            </a:pPr>
            <a:endParaRPr lang="en-US" sz="760" dirty="0"/>
          </a:p>
        </p:txBody>
      </p:sp>
      <p:sp>
        <p:nvSpPr>
          <p:cNvPr id="207" name="Shape 205"/>
          <p:cNvSpPr/>
          <p:nvPr/>
        </p:nvSpPr>
        <p:spPr>
          <a:xfrm>
            <a:off x="3860878" y="2980944"/>
            <a:ext cx="660478" cy="237744"/>
          </a:xfrm>
          <a:prstGeom prst="rect">
            <a:avLst/>
          </a:prstGeom>
          <a:solidFill>
            <a:srgbClr val="FFFFFF"/>
          </a:solidFill>
          <a:ln w="5080">
            <a:solidFill>
              <a:srgbClr val="D3DCE5"/>
            </a:solidFill>
            <a:prstDash val="solid"/>
          </a:ln>
        </p:spPr>
      </p:sp>
      <p:sp>
        <p:nvSpPr>
          <p:cNvPr id="208" name="Text 206"/>
          <p:cNvSpPr txBox="1"/>
          <p:nvPr/>
        </p:nvSpPr>
        <p:spPr>
          <a:xfrm>
            <a:off x="3860878" y="2980944"/>
            <a:ext cx="614758" cy="237744"/>
          </a:xfrm>
          <a:prstGeom prst="rect">
            <a:avLst/>
          </a:prstGeom>
          <a:noFill/>
          <a:ln/>
        </p:spPr>
        <p:txBody>
          <a:bodyPr wrap="square" lIns="0" tIns="0" rIns="0" bIns="0" rtlCol="0" anchor="ctr"/>
          <a:lstStyle/>
          <a:p>
            <a:pPr algn="r" indent="0" marL="0">
              <a:buNone/>
            </a:pPr>
            <a:endParaRPr lang="en-US" sz="760" dirty="0"/>
          </a:p>
        </p:txBody>
      </p:sp>
      <p:sp>
        <p:nvSpPr>
          <p:cNvPr id="209" name="Shape 207"/>
          <p:cNvSpPr/>
          <p:nvPr/>
        </p:nvSpPr>
        <p:spPr>
          <a:xfrm>
            <a:off x="4521356" y="2980944"/>
            <a:ext cx="660478" cy="237744"/>
          </a:xfrm>
          <a:prstGeom prst="rect">
            <a:avLst/>
          </a:prstGeom>
          <a:solidFill>
            <a:srgbClr val="FFFFFF"/>
          </a:solidFill>
          <a:ln w="5080">
            <a:solidFill>
              <a:srgbClr val="D3DCE5"/>
            </a:solidFill>
            <a:prstDash val="solid"/>
          </a:ln>
        </p:spPr>
      </p:sp>
      <p:sp>
        <p:nvSpPr>
          <p:cNvPr id="210" name="Text 208"/>
          <p:cNvSpPr txBox="1"/>
          <p:nvPr/>
        </p:nvSpPr>
        <p:spPr>
          <a:xfrm>
            <a:off x="4521356"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5,645</a:t>
            </a:r>
            <a:endParaRPr lang="en-US" sz="760" dirty="0"/>
          </a:p>
        </p:txBody>
      </p:sp>
      <p:sp>
        <p:nvSpPr>
          <p:cNvPr id="211" name="Shape 209"/>
          <p:cNvSpPr/>
          <p:nvPr/>
        </p:nvSpPr>
        <p:spPr>
          <a:xfrm>
            <a:off x="5181834" y="2980944"/>
            <a:ext cx="660478" cy="237744"/>
          </a:xfrm>
          <a:prstGeom prst="rect">
            <a:avLst/>
          </a:prstGeom>
          <a:solidFill>
            <a:srgbClr val="FFFFFF"/>
          </a:solidFill>
          <a:ln w="5080">
            <a:solidFill>
              <a:srgbClr val="D3DCE5"/>
            </a:solidFill>
            <a:prstDash val="solid"/>
          </a:ln>
        </p:spPr>
      </p:sp>
      <p:sp>
        <p:nvSpPr>
          <p:cNvPr id="212" name="Text 210"/>
          <p:cNvSpPr txBox="1"/>
          <p:nvPr/>
        </p:nvSpPr>
        <p:spPr>
          <a:xfrm>
            <a:off x="5181834"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6,332</a:t>
            </a:r>
            <a:endParaRPr lang="en-US" sz="760" dirty="0"/>
          </a:p>
        </p:txBody>
      </p:sp>
      <p:sp>
        <p:nvSpPr>
          <p:cNvPr id="213" name="Shape 211"/>
          <p:cNvSpPr/>
          <p:nvPr/>
        </p:nvSpPr>
        <p:spPr>
          <a:xfrm>
            <a:off x="5842313" y="2980944"/>
            <a:ext cx="660478" cy="237744"/>
          </a:xfrm>
          <a:prstGeom prst="rect">
            <a:avLst/>
          </a:prstGeom>
          <a:solidFill>
            <a:srgbClr val="FFFFFF"/>
          </a:solidFill>
          <a:ln w="5080">
            <a:solidFill>
              <a:srgbClr val="D3DCE5"/>
            </a:solidFill>
            <a:prstDash val="solid"/>
          </a:ln>
        </p:spPr>
      </p:sp>
      <p:sp>
        <p:nvSpPr>
          <p:cNvPr id="214" name="Text 212"/>
          <p:cNvSpPr txBox="1"/>
          <p:nvPr/>
        </p:nvSpPr>
        <p:spPr>
          <a:xfrm>
            <a:off x="5842313"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7,097</a:t>
            </a:r>
            <a:endParaRPr lang="en-US" sz="760" dirty="0"/>
          </a:p>
        </p:txBody>
      </p:sp>
      <p:sp>
        <p:nvSpPr>
          <p:cNvPr id="215" name="Shape 213"/>
          <p:cNvSpPr/>
          <p:nvPr/>
        </p:nvSpPr>
        <p:spPr>
          <a:xfrm>
            <a:off x="6502791" y="2980944"/>
            <a:ext cx="660478" cy="237744"/>
          </a:xfrm>
          <a:prstGeom prst="rect">
            <a:avLst/>
          </a:prstGeom>
          <a:solidFill>
            <a:srgbClr val="FFFFFF"/>
          </a:solidFill>
          <a:ln w="5080">
            <a:solidFill>
              <a:srgbClr val="D3DCE5"/>
            </a:solidFill>
            <a:prstDash val="solid"/>
          </a:ln>
        </p:spPr>
      </p:sp>
      <p:sp>
        <p:nvSpPr>
          <p:cNvPr id="216" name="Text 214"/>
          <p:cNvSpPr txBox="1"/>
          <p:nvPr/>
        </p:nvSpPr>
        <p:spPr>
          <a:xfrm>
            <a:off x="6502791"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7,872</a:t>
            </a:r>
            <a:endParaRPr lang="en-US" sz="760" dirty="0"/>
          </a:p>
        </p:txBody>
      </p:sp>
      <p:sp>
        <p:nvSpPr>
          <p:cNvPr id="217" name="Shape 215"/>
          <p:cNvSpPr/>
          <p:nvPr/>
        </p:nvSpPr>
        <p:spPr>
          <a:xfrm>
            <a:off x="7163269" y="2980944"/>
            <a:ext cx="660478" cy="237744"/>
          </a:xfrm>
          <a:prstGeom prst="rect">
            <a:avLst/>
          </a:prstGeom>
          <a:solidFill>
            <a:srgbClr val="FFFFFF"/>
          </a:solidFill>
          <a:ln w="5080">
            <a:solidFill>
              <a:srgbClr val="D3DCE5"/>
            </a:solidFill>
            <a:prstDash val="solid"/>
          </a:ln>
        </p:spPr>
      </p:sp>
      <p:sp>
        <p:nvSpPr>
          <p:cNvPr id="218" name="Text 216"/>
          <p:cNvSpPr txBox="1"/>
          <p:nvPr/>
        </p:nvSpPr>
        <p:spPr>
          <a:xfrm>
            <a:off x="7163269"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8,523</a:t>
            </a:r>
            <a:endParaRPr lang="en-US" sz="760" dirty="0"/>
          </a:p>
        </p:txBody>
      </p:sp>
      <p:sp>
        <p:nvSpPr>
          <p:cNvPr id="219" name="Shape 217"/>
          <p:cNvSpPr/>
          <p:nvPr/>
        </p:nvSpPr>
        <p:spPr>
          <a:xfrm>
            <a:off x="7823747" y="2980944"/>
            <a:ext cx="660478" cy="237744"/>
          </a:xfrm>
          <a:prstGeom prst="rect">
            <a:avLst/>
          </a:prstGeom>
          <a:solidFill>
            <a:srgbClr val="FFFFFF"/>
          </a:solidFill>
          <a:ln w="5080">
            <a:solidFill>
              <a:srgbClr val="D3DCE5"/>
            </a:solidFill>
            <a:prstDash val="solid"/>
          </a:ln>
        </p:spPr>
      </p:sp>
      <p:sp>
        <p:nvSpPr>
          <p:cNvPr id="220" name="Text 218"/>
          <p:cNvSpPr txBox="1"/>
          <p:nvPr/>
        </p:nvSpPr>
        <p:spPr>
          <a:xfrm>
            <a:off x="7823747"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9,302</a:t>
            </a:r>
            <a:endParaRPr lang="en-US" sz="760" dirty="0"/>
          </a:p>
        </p:txBody>
      </p:sp>
      <p:sp>
        <p:nvSpPr>
          <p:cNvPr id="221" name="Shape 219"/>
          <p:cNvSpPr/>
          <p:nvPr/>
        </p:nvSpPr>
        <p:spPr>
          <a:xfrm>
            <a:off x="8484225" y="2980944"/>
            <a:ext cx="660478" cy="237744"/>
          </a:xfrm>
          <a:prstGeom prst="rect">
            <a:avLst/>
          </a:prstGeom>
          <a:solidFill>
            <a:srgbClr val="FFFFFF"/>
          </a:solidFill>
          <a:ln w="5080">
            <a:solidFill>
              <a:srgbClr val="D3DCE5"/>
            </a:solidFill>
            <a:prstDash val="solid"/>
          </a:ln>
        </p:spPr>
      </p:sp>
      <p:sp>
        <p:nvSpPr>
          <p:cNvPr id="222" name="Text 220"/>
          <p:cNvSpPr txBox="1"/>
          <p:nvPr/>
        </p:nvSpPr>
        <p:spPr>
          <a:xfrm>
            <a:off x="8484225"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10,328</a:t>
            </a:r>
            <a:endParaRPr lang="en-US" sz="760" dirty="0"/>
          </a:p>
        </p:txBody>
      </p:sp>
      <p:sp>
        <p:nvSpPr>
          <p:cNvPr id="223" name="Shape 221"/>
          <p:cNvSpPr/>
          <p:nvPr/>
        </p:nvSpPr>
        <p:spPr>
          <a:xfrm>
            <a:off x="9144703" y="2980944"/>
            <a:ext cx="660478" cy="237744"/>
          </a:xfrm>
          <a:prstGeom prst="rect">
            <a:avLst/>
          </a:prstGeom>
          <a:solidFill>
            <a:srgbClr val="FFFFFF"/>
          </a:solidFill>
          <a:ln w="5080">
            <a:solidFill>
              <a:srgbClr val="D3DCE5"/>
            </a:solidFill>
            <a:prstDash val="solid"/>
          </a:ln>
        </p:spPr>
      </p:sp>
      <p:sp>
        <p:nvSpPr>
          <p:cNvPr id="224" name="Text 222"/>
          <p:cNvSpPr txBox="1"/>
          <p:nvPr/>
        </p:nvSpPr>
        <p:spPr>
          <a:xfrm>
            <a:off x="9144703"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11,536</a:t>
            </a:r>
            <a:endParaRPr lang="en-US" sz="760" dirty="0"/>
          </a:p>
        </p:txBody>
      </p:sp>
      <p:sp>
        <p:nvSpPr>
          <p:cNvPr id="225" name="Shape 223"/>
          <p:cNvSpPr/>
          <p:nvPr/>
        </p:nvSpPr>
        <p:spPr>
          <a:xfrm>
            <a:off x="9805182" y="2980944"/>
            <a:ext cx="660478" cy="237744"/>
          </a:xfrm>
          <a:prstGeom prst="rect">
            <a:avLst/>
          </a:prstGeom>
          <a:solidFill>
            <a:srgbClr val="FFFFFF"/>
          </a:solidFill>
          <a:ln w="5080">
            <a:solidFill>
              <a:srgbClr val="D3DCE5"/>
            </a:solidFill>
            <a:prstDash val="solid"/>
          </a:ln>
        </p:spPr>
      </p:sp>
      <p:sp>
        <p:nvSpPr>
          <p:cNvPr id="226" name="Text 224"/>
          <p:cNvSpPr txBox="1"/>
          <p:nvPr/>
        </p:nvSpPr>
        <p:spPr>
          <a:xfrm>
            <a:off x="9805182"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12,831</a:t>
            </a:r>
            <a:endParaRPr lang="en-US" sz="760" dirty="0"/>
          </a:p>
        </p:txBody>
      </p:sp>
      <p:sp>
        <p:nvSpPr>
          <p:cNvPr id="227" name="Shape 225"/>
          <p:cNvSpPr/>
          <p:nvPr/>
        </p:nvSpPr>
        <p:spPr>
          <a:xfrm>
            <a:off x="10465660" y="2980944"/>
            <a:ext cx="660478" cy="237744"/>
          </a:xfrm>
          <a:prstGeom prst="rect">
            <a:avLst/>
          </a:prstGeom>
          <a:solidFill>
            <a:srgbClr val="FFFFFF"/>
          </a:solidFill>
          <a:ln w="5080">
            <a:solidFill>
              <a:srgbClr val="D3DCE5"/>
            </a:solidFill>
            <a:prstDash val="solid"/>
          </a:ln>
        </p:spPr>
      </p:sp>
      <p:sp>
        <p:nvSpPr>
          <p:cNvPr id="228" name="Text 226"/>
          <p:cNvSpPr txBox="1"/>
          <p:nvPr/>
        </p:nvSpPr>
        <p:spPr>
          <a:xfrm>
            <a:off x="10465660"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14,173</a:t>
            </a:r>
            <a:endParaRPr lang="en-US" sz="760" dirty="0"/>
          </a:p>
        </p:txBody>
      </p:sp>
      <p:sp>
        <p:nvSpPr>
          <p:cNvPr id="229" name="Shape 227"/>
          <p:cNvSpPr/>
          <p:nvPr/>
        </p:nvSpPr>
        <p:spPr>
          <a:xfrm>
            <a:off x="11126138" y="2980944"/>
            <a:ext cx="660478" cy="237744"/>
          </a:xfrm>
          <a:prstGeom prst="rect">
            <a:avLst/>
          </a:prstGeom>
          <a:solidFill>
            <a:srgbClr val="FFFFFF"/>
          </a:solidFill>
          <a:ln w="5080">
            <a:solidFill>
              <a:srgbClr val="D3DCE5"/>
            </a:solidFill>
            <a:prstDash val="solid"/>
          </a:ln>
        </p:spPr>
      </p:sp>
      <p:sp>
        <p:nvSpPr>
          <p:cNvPr id="230" name="Text 228"/>
          <p:cNvSpPr txBox="1"/>
          <p:nvPr/>
        </p:nvSpPr>
        <p:spPr>
          <a:xfrm>
            <a:off x="11126138" y="2980944"/>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15,541</a:t>
            </a:r>
            <a:endParaRPr lang="en-US" sz="760" dirty="0"/>
          </a:p>
        </p:txBody>
      </p:sp>
      <p:sp>
        <p:nvSpPr>
          <p:cNvPr id="231" name="Shape 229"/>
          <p:cNvSpPr/>
          <p:nvPr/>
        </p:nvSpPr>
        <p:spPr>
          <a:xfrm>
            <a:off x="411480" y="3218688"/>
            <a:ext cx="2788920" cy="237744"/>
          </a:xfrm>
          <a:prstGeom prst="rect">
            <a:avLst/>
          </a:prstGeom>
          <a:solidFill>
            <a:srgbClr val="D6EBE7"/>
          </a:solidFill>
          <a:ln w="5080">
            <a:solidFill>
              <a:srgbClr val="D3DCE5"/>
            </a:solidFill>
            <a:prstDash val="solid"/>
          </a:ln>
        </p:spPr>
      </p:sp>
      <p:sp>
        <p:nvSpPr>
          <p:cNvPr id="232" name="Text 230"/>
          <p:cNvSpPr txBox="1"/>
          <p:nvPr/>
        </p:nvSpPr>
        <p:spPr>
          <a:xfrm>
            <a:off x="475488" y="3218688"/>
            <a:ext cx="2660904" cy="237744"/>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Balance check</a:t>
            </a:r>
            <a:endParaRPr lang="en-US" sz="780" dirty="0"/>
          </a:p>
        </p:txBody>
      </p:sp>
      <p:sp>
        <p:nvSpPr>
          <p:cNvPr id="233" name="Shape 231"/>
          <p:cNvSpPr/>
          <p:nvPr/>
        </p:nvSpPr>
        <p:spPr>
          <a:xfrm>
            <a:off x="3200400" y="3218688"/>
            <a:ext cx="660478" cy="237744"/>
          </a:xfrm>
          <a:prstGeom prst="rect">
            <a:avLst/>
          </a:prstGeom>
          <a:solidFill>
            <a:srgbClr val="D6EBE7"/>
          </a:solidFill>
          <a:ln w="5080">
            <a:solidFill>
              <a:srgbClr val="D3DCE5"/>
            </a:solidFill>
            <a:prstDash val="solid"/>
          </a:ln>
        </p:spPr>
      </p:sp>
      <p:sp>
        <p:nvSpPr>
          <p:cNvPr id="234" name="Text 232"/>
          <p:cNvSpPr txBox="1"/>
          <p:nvPr/>
        </p:nvSpPr>
        <p:spPr>
          <a:xfrm>
            <a:off x="3200400" y="3218688"/>
            <a:ext cx="614758" cy="237744"/>
          </a:xfrm>
          <a:prstGeom prst="rect">
            <a:avLst/>
          </a:prstGeom>
          <a:noFill/>
          <a:ln/>
        </p:spPr>
        <p:txBody>
          <a:bodyPr wrap="square" lIns="0" tIns="0" rIns="0" bIns="0" rtlCol="0" anchor="ctr"/>
          <a:lstStyle/>
          <a:p>
            <a:pPr algn="r" indent="0" marL="0">
              <a:buNone/>
            </a:pPr>
            <a:endParaRPr lang="en-US" sz="760" dirty="0"/>
          </a:p>
        </p:txBody>
      </p:sp>
      <p:sp>
        <p:nvSpPr>
          <p:cNvPr id="235" name="Shape 233"/>
          <p:cNvSpPr/>
          <p:nvPr/>
        </p:nvSpPr>
        <p:spPr>
          <a:xfrm>
            <a:off x="3860878" y="3218688"/>
            <a:ext cx="660478" cy="237744"/>
          </a:xfrm>
          <a:prstGeom prst="rect">
            <a:avLst/>
          </a:prstGeom>
          <a:solidFill>
            <a:srgbClr val="D6EBE7"/>
          </a:solidFill>
          <a:ln w="5080">
            <a:solidFill>
              <a:srgbClr val="D3DCE5"/>
            </a:solidFill>
            <a:prstDash val="solid"/>
          </a:ln>
        </p:spPr>
      </p:sp>
      <p:sp>
        <p:nvSpPr>
          <p:cNvPr id="236" name="Text 234"/>
          <p:cNvSpPr txBox="1"/>
          <p:nvPr/>
        </p:nvSpPr>
        <p:spPr>
          <a:xfrm>
            <a:off x="3860878" y="3218688"/>
            <a:ext cx="614758" cy="237744"/>
          </a:xfrm>
          <a:prstGeom prst="rect">
            <a:avLst/>
          </a:prstGeom>
          <a:noFill/>
          <a:ln/>
        </p:spPr>
        <p:txBody>
          <a:bodyPr wrap="square" lIns="0" tIns="0" rIns="0" bIns="0" rtlCol="0" anchor="ctr"/>
          <a:lstStyle/>
          <a:p>
            <a:pPr algn="r" indent="0" marL="0">
              <a:buNone/>
            </a:pPr>
            <a:endParaRPr lang="en-US" sz="760" dirty="0"/>
          </a:p>
        </p:txBody>
      </p:sp>
      <p:sp>
        <p:nvSpPr>
          <p:cNvPr id="237" name="Shape 235"/>
          <p:cNvSpPr/>
          <p:nvPr/>
        </p:nvSpPr>
        <p:spPr>
          <a:xfrm>
            <a:off x="4521356" y="3218688"/>
            <a:ext cx="660478" cy="237744"/>
          </a:xfrm>
          <a:prstGeom prst="rect">
            <a:avLst/>
          </a:prstGeom>
          <a:solidFill>
            <a:srgbClr val="D6EBE7"/>
          </a:solidFill>
          <a:ln w="5080">
            <a:solidFill>
              <a:srgbClr val="D3DCE5"/>
            </a:solidFill>
            <a:prstDash val="solid"/>
          </a:ln>
        </p:spPr>
      </p:sp>
      <p:sp>
        <p:nvSpPr>
          <p:cNvPr id="238" name="Text 236"/>
          <p:cNvSpPr txBox="1"/>
          <p:nvPr/>
        </p:nvSpPr>
        <p:spPr>
          <a:xfrm>
            <a:off x="4521356"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39" name="Shape 237"/>
          <p:cNvSpPr/>
          <p:nvPr/>
        </p:nvSpPr>
        <p:spPr>
          <a:xfrm>
            <a:off x="5181834" y="3218688"/>
            <a:ext cx="660478" cy="237744"/>
          </a:xfrm>
          <a:prstGeom prst="rect">
            <a:avLst/>
          </a:prstGeom>
          <a:solidFill>
            <a:srgbClr val="D6EBE7"/>
          </a:solidFill>
          <a:ln w="5080">
            <a:solidFill>
              <a:srgbClr val="D3DCE5"/>
            </a:solidFill>
            <a:prstDash val="solid"/>
          </a:ln>
        </p:spPr>
      </p:sp>
      <p:sp>
        <p:nvSpPr>
          <p:cNvPr id="240" name="Text 238"/>
          <p:cNvSpPr txBox="1"/>
          <p:nvPr/>
        </p:nvSpPr>
        <p:spPr>
          <a:xfrm>
            <a:off x="5181834"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41" name="Shape 239"/>
          <p:cNvSpPr/>
          <p:nvPr/>
        </p:nvSpPr>
        <p:spPr>
          <a:xfrm>
            <a:off x="5842313" y="3218688"/>
            <a:ext cx="660478" cy="237744"/>
          </a:xfrm>
          <a:prstGeom prst="rect">
            <a:avLst/>
          </a:prstGeom>
          <a:solidFill>
            <a:srgbClr val="D6EBE7"/>
          </a:solidFill>
          <a:ln w="5080">
            <a:solidFill>
              <a:srgbClr val="D3DCE5"/>
            </a:solidFill>
            <a:prstDash val="solid"/>
          </a:ln>
        </p:spPr>
      </p:sp>
      <p:sp>
        <p:nvSpPr>
          <p:cNvPr id="242" name="Text 240"/>
          <p:cNvSpPr txBox="1"/>
          <p:nvPr/>
        </p:nvSpPr>
        <p:spPr>
          <a:xfrm>
            <a:off x="5842313"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43" name="Shape 241"/>
          <p:cNvSpPr/>
          <p:nvPr/>
        </p:nvSpPr>
        <p:spPr>
          <a:xfrm>
            <a:off x="6502791" y="3218688"/>
            <a:ext cx="660478" cy="237744"/>
          </a:xfrm>
          <a:prstGeom prst="rect">
            <a:avLst/>
          </a:prstGeom>
          <a:solidFill>
            <a:srgbClr val="D6EBE7"/>
          </a:solidFill>
          <a:ln w="5080">
            <a:solidFill>
              <a:srgbClr val="D3DCE5"/>
            </a:solidFill>
            <a:prstDash val="solid"/>
          </a:ln>
        </p:spPr>
      </p:sp>
      <p:sp>
        <p:nvSpPr>
          <p:cNvPr id="244" name="Text 242"/>
          <p:cNvSpPr txBox="1"/>
          <p:nvPr/>
        </p:nvSpPr>
        <p:spPr>
          <a:xfrm>
            <a:off x="6502791"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45" name="Shape 243"/>
          <p:cNvSpPr/>
          <p:nvPr/>
        </p:nvSpPr>
        <p:spPr>
          <a:xfrm>
            <a:off x="7163269" y="3218688"/>
            <a:ext cx="660478" cy="237744"/>
          </a:xfrm>
          <a:prstGeom prst="rect">
            <a:avLst/>
          </a:prstGeom>
          <a:solidFill>
            <a:srgbClr val="D6EBE7"/>
          </a:solidFill>
          <a:ln w="5080">
            <a:solidFill>
              <a:srgbClr val="D3DCE5"/>
            </a:solidFill>
            <a:prstDash val="solid"/>
          </a:ln>
        </p:spPr>
      </p:sp>
      <p:sp>
        <p:nvSpPr>
          <p:cNvPr id="246" name="Text 244"/>
          <p:cNvSpPr txBox="1"/>
          <p:nvPr/>
        </p:nvSpPr>
        <p:spPr>
          <a:xfrm>
            <a:off x="7163269"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47" name="Shape 245"/>
          <p:cNvSpPr/>
          <p:nvPr/>
        </p:nvSpPr>
        <p:spPr>
          <a:xfrm>
            <a:off x="7823747" y="3218688"/>
            <a:ext cx="660478" cy="237744"/>
          </a:xfrm>
          <a:prstGeom prst="rect">
            <a:avLst/>
          </a:prstGeom>
          <a:solidFill>
            <a:srgbClr val="D6EBE7"/>
          </a:solidFill>
          <a:ln w="5080">
            <a:solidFill>
              <a:srgbClr val="D3DCE5"/>
            </a:solidFill>
            <a:prstDash val="solid"/>
          </a:ln>
        </p:spPr>
      </p:sp>
      <p:sp>
        <p:nvSpPr>
          <p:cNvPr id="248" name="Text 246"/>
          <p:cNvSpPr txBox="1"/>
          <p:nvPr/>
        </p:nvSpPr>
        <p:spPr>
          <a:xfrm>
            <a:off x="7823747"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49" name="Shape 247"/>
          <p:cNvSpPr/>
          <p:nvPr/>
        </p:nvSpPr>
        <p:spPr>
          <a:xfrm>
            <a:off x="8484225" y="3218688"/>
            <a:ext cx="660478" cy="237744"/>
          </a:xfrm>
          <a:prstGeom prst="rect">
            <a:avLst/>
          </a:prstGeom>
          <a:solidFill>
            <a:srgbClr val="D6EBE7"/>
          </a:solidFill>
          <a:ln w="5080">
            <a:solidFill>
              <a:srgbClr val="D3DCE5"/>
            </a:solidFill>
            <a:prstDash val="solid"/>
          </a:ln>
        </p:spPr>
      </p:sp>
      <p:sp>
        <p:nvSpPr>
          <p:cNvPr id="250" name="Text 248"/>
          <p:cNvSpPr txBox="1"/>
          <p:nvPr/>
        </p:nvSpPr>
        <p:spPr>
          <a:xfrm>
            <a:off x="8484225"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51" name="Shape 249"/>
          <p:cNvSpPr/>
          <p:nvPr/>
        </p:nvSpPr>
        <p:spPr>
          <a:xfrm>
            <a:off x="9144703" y="3218688"/>
            <a:ext cx="660478" cy="237744"/>
          </a:xfrm>
          <a:prstGeom prst="rect">
            <a:avLst/>
          </a:prstGeom>
          <a:solidFill>
            <a:srgbClr val="D6EBE7"/>
          </a:solidFill>
          <a:ln w="5080">
            <a:solidFill>
              <a:srgbClr val="D3DCE5"/>
            </a:solidFill>
            <a:prstDash val="solid"/>
          </a:ln>
        </p:spPr>
      </p:sp>
      <p:sp>
        <p:nvSpPr>
          <p:cNvPr id="252" name="Text 250"/>
          <p:cNvSpPr txBox="1"/>
          <p:nvPr/>
        </p:nvSpPr>
        <p:spPr>
          <a:xfrm>
            <a:off x="9144703"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53" name="Shape 251"/>
          <p:cNvSpPr/>
          <p:nvPr/>
        </p:nvSpPr>
        <p:spPr>
          <a:xfrm>
            <a:off x="9805182" y="3218688"/>
            <a:ext cx="660478" cy="237744"/>
          </a:xfrm>
          <a:prstGeom prst="rect">
            <a:avLst/>
          </a:prstGeom>
          <a:solidFill>
            <a:srgbClr val="D6EBE7"/>
          </a:solidFill>
          <a:ln w="5080">
            <a:solidFill>
              <a:srgbClr val="D3DCE5"/>
            </a:solidFill>
            <a:prstDash val="solid"/>
          </a:ln>
        </p:spPr>
      </p:sp>
      <p:sp>
        <p:nvSpPr>
          <p:cNvPr id="254" name="Text 252"/>
          <p:cNvSpPr txBox="1"/>
          <p:nvPr/>
        </p:nvSpPr>
        <p:spPr>
          <a:xfrm>
            <a:off x="9805182"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55" name="Shape 253"/>
          <p:cNvSpPr/>
          <p:nvPr/>
        </p:nvSpPr>
        <p:spPr>
          <a:xfrm>
            <a:off x="10465660" y="3218688"/>
            <a:ext cx="660478" cy="237744"/>
          </a:xfrm>
          <a:prstGeom prst="rect">
            <a:avLst/>
          </a:prstGeom>
          <a:solidFill>
            <a:srgbClr val="D6EBE7"/>
          </a:solidFill>
          <a:ln w="5080">
            <a:solidFill>
              <a:srgbClr val="D3DCE5"/>
            </a:solidFill>
            <a:prstDash val="solid"/>
          </a:ln>
        </p:spPr>
      </p:sp>
      <p:sp>
        <p:nvSpPr>
          <p:cNvPr id="256" name="Text 254"/>
          <p:cNvSpPr txBox="1"/>
          <p:nvPr/>
        </p:nvSpPr>
        <p:spPr>
          <a:xfrm>
            <a:off x="10465660"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57" name="Shape 255"/>
          <p:cNvSpPr/>
          <p:nvPr/>
        </p:nvSpPr>
        <p:spPr>
          <a:xfrm>
            <a:off x="11126138" y="3218688"/>
            <a:ext cx="660478" cy="237744"/>
          </a:xfrm>
          <a:prstGeom prst="rect">
            <a:avLst/>
          </a:prstGeom>
          <a:solidFill>
            <a:srgbClr val="D6EBE7"/>
          </a:solidFill>
          <a:ln w="5080">
            <a:solidFill>
              <a:srgbClr val="D3DCE5"/>
            </a:solidFill>
            <a:prstDash val="solid"/>
          </a:ln>
        </p:spPr>
      </p:sp>
      <p:sp>
        <p:nvSpPr>
          <p:cNvPr id="258" name="Text 256"/>
          <p:cNvSpPr txBox="1"/>
          <p:nvPr/>
        </p:nvSpPr>
        <p:spPr>
          <a:xfrm>
            <a:off x="11126138" y="3218688"/>
            <a:ext cx="614758" cy="237744"/>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0</a:t>
            </a:r>
            <a:endParaRPr lang="en-US" sz="760" dirty="0"/>
          </a:p>
        </p:txBody>
      </p:sp>
      <p:sp>
        <p:nvSpPr>
          <p:cNvPr id="259" name="Shape 257"/>
          <p:cNvSpPr/>
          <p:nvPr/>
        </p:nvSpPr>
        <p:spPr>
          <a:xfrm>
            <a:off x="411480" y="3456432"/>
            <a:ext cx="2788920" cy="237744"/>
          </a:xfrm>
          <a:prstGeom prst="rect">
            <a:avLst/>
          </a:prstGeom>
          <a:solidFill>
            <a:srgbClr val="FFFFFF"/>
          </a:solidFill>
          <a:ln w="5080">
            <a:solidFill>
              <a:srgbClr val="D3DCE5"/>
            </a:solidFill>
            <a:prstDash val="solid"/>
          </a:ln>
        </p:spPr>
      </p:sp>
      <p:sp>
        <p:nvSpPr>
          <p:cNvPr id="260" name="Text 258"/>
          <p:cNvSpPr txBox="1"/>
          <p:nvPr/>
        </p:nvSpPr>
        <p:spPr>
          <a:xfrm>
            <a:off x="475488" y="3456432"/>
            <a:ext cx="2660904" cy="237744"/>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Net cash / (net debt)</a:t>
            </a:r>
            <a:endParaRPr lang="en-US" sz="780" dirty="0"/>
          </a:p>
        </p:txBody>
      </p:sp>
      <p:sp>
        <p:nvSpPr>
          <p:cNvPr id="261" name="Shape 259"/>
          <p:cNvSpPr/>
          <p:nvPr/>
        </p:nvSpPr>
        <p:spPr>
          <a:xfrm>
            <a:off x="3200400" y="3456432"/>
            <a:ext cx="660478" cy="237744"/>
          </a:xfrm>
          <a:prstGeom prst="rect">
            <a:avLst/>
          </a:prstGeom>
          <a:solidFill>
            <a:srgbClr val="FFFFFF"/>
          </a:solidFill>
          <a:ln w="5080">
            <a:solidFill>
              <a:srgbClr val="D3DCE5"/>
            </a:solidFill>
            <a:prstDash val="solid"/>
          </a:ln>
        </p:spPr>
      </p:sp>
      <p:sp>
        <p:nvSpPr>
          <p:cNvPr id="262" name="Text 260"/>
          <p:cNvSpPr txBox="1"/>
          <p:nvPr/>
        </p:nvSpPr>
        <p:spPr>
          <a:xfrm>
            <a:off x="3200400" y="3456432"/>
            <a:ext cx="614758" cy="237744"/>
          </a:xfrm>
          <a:prstGeom prst="rect">
            <a:avLst/>
          </a:prstGeom>
          <a:noFill/>
          <a:ln/>
        </p:spPr>
        <p:txBody>
          <a:bodyPr wrap="square" lIns="0" tIns="0" rIns="0" bIns="0" rtlCol="0" anchor="ctr"/>
          <a:lstStyle/>
          <a:p>
            <a:pPr algn="r" indent="0" marL="0">
              <a:buNone/>
            </a:pPr>
            <a:endParaRPr lang="en-US" sz="760" dirty="0"/>
          </a:p>
        </p:txBody>
      </p:sp>
      <p:sp>
        <p:nvSpPr>
          <p:cNvPr id="263" name="Shape 261"/>
          <p:cNvSpPr/>
          <p:nvPr/>
        </p:nvSpPr>
        <p:spPr>
          <a:xfrm>
            <a:off x="3860878" y="3456432"/>
            <a:ext cx="660478" cy="237744"/>
          </a:xfrm>
          <a:prstGeom prst="rect">
            <a:avLst/>
          </a:prstGeom>
          <a:solidFill>
            <a:srgbClr val="FFFFFF"/>
          </a:solidFill>
          <a:ln w="5080">
            <a:solidFill>
              <a:srgbClr val="D3DCE5"/>
            </a:solidFill>
            <a:prstDash val="solid"/>
          </a:ln>
        </p:spPr>
      </p:sp>
      <p:sp>
        <p:nvSpPr>
          <p:cNvPr id="264" name="Text 262"/>
          <p:cNvSpPr txBox="1"/>
          <p:nvPr/>
        </p:nvSpPr>
        <p:spPr>
          <a:xfrm>
            <a:off x="3860878" y="3456432"/>
            <a:ext cx="614758" cy="237744"/>
          </a:xfrm>
          <a:prstGeom prst="rect">
            <a:avLst/>
          </a:prstGeom>
          <a:noFill/>
          <a:ln/>
        </p:spPr>
        <p:txBody>
          <a:bodyPr wrap="square" lIns="0" tIns="0" rIns="0" bIns="0" rtlCol="0" anchor="ctr"/>
          <a:lstStyle/>
          <a:p>
            <a:pPr algn="r" indent="0" marL="0">
              <a:buNone/>
            </a:pPr>
            <a:endParaRPr lang="en-US" sz="760" dirty="0"/>
          </a:p>
        </p:txBody>
      </p:sp>
      <p:sp>
        <p:nvSpPr>
          <p:cNvPr id="265" name="Shape 263"/>
          <p:cNvSpPr/>
          <p:nvPr/>
        </p:nvSpPr>
        <p:spPr>
          <a:xfrm>
            <a:off x="4521356" y="3456432"/>
            <a:ext cx="660478" cy="237744"/>
          </a:xfrm>
          <a:prstGeom prst="rect">
            <a:avLst/>
          </a:prstGeom>
          <a:solidFill>
            <a:srgbClr val="FFFFFF"/>
          </a:solidFill>
          <a:ln w="5080">
            <a:solidFill>
              <a:srgbClr val="D3DCE5"/>
            </a:solidFill>
            <a:prstDash val="solid"/>
          </a:ln>
        </p:spPr>
      </p:sp>
      <p:sp>
        <p:nvSpPr>
          <p:cNvPr id="266" name="Text 264"/>
          <p:cNvSpPr txBox="1"/>
          <p:nvPr/>
        </p:nvSpPr>
        <p:spPr>
          <a:xfrm>
            <a:off x="4521356"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1,462</a:t>
            </a:r>
            <a:endParaRPr lang="en-US" sz="760" dirty="0"/>
          </a:p>
        </p:txBody>
      </p:sp>
      <p:sp>
        <p:nvSpPr>
          <p:cNvPr id="267" name="Shape 265"/>
          <p:cNvSpPr/>
          <p:nvPr/>
        </p:nvSpPr>
        <p:spPr>
          <a:xfrm>
            <a:off x="5181834" y="3456432"/>
            <a:ext cx="660478" cy="237744"/>
          </a:xfrm>
          <a:prstGeom prst="rect">
            <a:avLst/>
          </a:prstGeom>
          <a:solidFill>
            <a:srgbClr val="FFFFFF"/>
          </a:solidFill>
          <a:ln w="5080">
            <a:solidFill>
              <a:srgbClr val="D3DCE5"/>
            </a:solidFill>
            <a:prstDash val="solid"/>
          </a:ln>
        </p:spPr>
      </p:sp>
      <p:sp>
        <p:nvSpPr>
          <p:cNvPr id="268" name="Text 266"/>
          <p:cNvSpPr txBox="1"/>
          <p:nvPr/>
        </p:nvSpPr>
        <p:spPr>
          <a:xfrm>
            <a:off x="5181834"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1,813</a:t>
            </a:r>
            <a:endParaRPr lang="en-US" sz="760" dirty="0"/>
          </a:p>
        </p:txBody>
      </p:sp>
      <p:sp>
        <p:nvSpPr>
          <p:cNvPr id="269" name="Shape 267"/>
          <p:cNvSpPr/>
          <p:nvPr/>
        </p:nvSpPr>
        <p:spPr>
          <a:xfrm>
            <a:off x="5842313" y="3456432"/>
            <a:ext cx="660478" cy="237744"/>
          </a:xfrm>
          <a:prstGeom prst="rect">
            <a:avLst/>
          </a:prstGeom>
          <a:solidFill>
            <a:srgbClr val="FFFFFF"/>
          </a:solidFill>
          <a:ln w="5080">
            <a:solidFill>
              <a:srgbClr val="D3DCE5"/>
            </a:solidFill>
            <a:prstDash val="solid"/>
          </a:ln>
        </p:spPr>
      </p:sp>
      <p:sp>
        <p:nvSpPr>
          <p:cNvPr id="270" name="Text 268"/>
          <p:cNvSpPr txBox="1"/>
          <p:nvPr/>
        </p:nvSpPr>
        <p:spPr>
          <a:xfrm>
            <a:off x="5842313"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2,081</a:t>
            </a:r>
            <a:endParaRPr lang="en-US" sz="760" dirty="0"/>
          </a:p>
        </p:txBody>
      </p:sp>
      <p:sp>
        <p:nvSpPr>
          <p:cNvPr id="271" name="Shape 269"/>
          <p:cNvSpPr/>
          <p:nvPr/>
        </p:nvSpPr>
        <p:spPr>
          <a:xfrm>
            <a:off x="6502791" y="3456432"/>
            <a:ext cx="660478" cy="237744"/>
          </a:xfrm>
          <a:prstGeom prst="rect">
            <a:avLst/>
          </a:prstGeom>
          <a:solidFill>
            <a:srgbClr val="FFFFFF"/>
          </a:solidFill>
          <a:ln w="5080">
            <a:solidFill>
              <a:srgbClr val="D3DCE5"/>
            </a:solidFill>
            <a:prstDash val="solid"/>
          </a:ln>
        </p:spPr>
      </p:sp>
      <p:sp>
        <p:nvSpPr>
          <p:cNvPr id="272" name="Text 270"/>
          <p:cNvSpPr txBox="1"/>
          <p:nvPr/>
        </p:nvSpPr>
        <p:spPr>
          <a:xfrm>
            <a:off x="6502791"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2,287</a:t>
            </a:r>
            <a:endParaRPr lang="en-US" sz="760" dirty="0"/>
          </a:p>
        </p:txBody>
      </p:sp>
      <p:sp>
        <p:nvSpPr>
          <p:cNvPr id="273" name="Shape 271"/>
          <p:cNvSpPr/>
          <p:nvPr/>
        </p:nvSpPr>
        <p:spPr>
          <a:xfrm>
            <a:off x="7163269" y="3456432"/>
            <a:ext cx="660478" cy="237744"/>
          </a:xfrm>
          <a:prstGeom prst="rect">
            <a:avLst/>
          </a:prstGeom>
          <a:solidFill>
            <a:srgbClr val="FFFFFF"/>
          </a:solidFill>
          <a:ln w="5080">
            <a:solidFill>
              <a:srgbClr val="D3DCE5"/>
            </a:solidFill>
            <a:prstDash val="solid"/>
          </a:ln>
        </p:spPr>
      </p:sp>
      <p:sp>
        <p:nvSpPr>
          <p:cNvPr id="274" name="Text 272"/>
          <p:cNvSpPr txBox="1"/>
          <p:nvPr/>
        </p:nvSpPr>
        <p:spPr>
          <a:xfrm>
            <a:off x="7163269"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2,658</a:t>
            </a:r>
            <a:endParaRPr lang="en-US" sz="760" dirty="0"/>
          </a:p>
        </p:txBody>
      </p:sp>
      <p:sp>
        <p:nvSpPr>
          <p:cNvPr id="275" name="Shape 273"/>
          <p:cNvSpPr/>
          <p:nvPr/>
        </p:nvSpPr>
        <p:spPr>
          <a:xfrm>
            <a:off x="7823747" y="3456432"/>
            <a:ext cx="660478" cy="237744"/>
          </a:xfrm>
          <a:prstGeom prst="rect">
            <a:avLst/>
          </a:prstGeom>
          <a:solidFill>
            <a:srgbClr val="FFFFFF"/>
          </a:solidFill>
          <a:ln w="5080">
            <a:solidFill>
              <a:srgbClr val="D3DCE5"/>
            </a:solidFill>
            <a:prstDash val="solid"/>
          </a:ln>
        </p:spPr>
      </p:sp>
      <p:sp>
        <p:nvSpPr>
          <p:cNvPr id="276" name="Text 274"/>
          <p:cNvSpPr txBox="1"/>
          <p:nvPr/>
        </p:nvSpPr>
        <p:spPr>
          <a:xfrm>
            <a:off x="7823747"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3,380</a:t>
            </a:r>
            <a:endParaRPr lang="en-US" sz="760" dirty="0"/>
          </a:p>
        </p:txBody>
      </p:sp>
      <p:sp>
        <p:nvSpPr>
          <p:cNvPr id="277" name="Shape 275"/>
          <p:cNvSpPr/>
          <p:nvPr/>
        </p:nvSpPr>
        <p:spPr>
          <a:xfrm>
            <a:off x="8484225" y="3456432"/>
            <a:ext cx="660478" cy="237744"/>
          </a:xfrm>
          <a:prstGeom prst="rect">
            <a:avLst/>
          </a:prstGeom>
          <a:solidFill>
            <a:srgbClr val="FFFFFF"/>
          </a:solidFill>
          <a:ln w="5080">
            <a:solidFill>
              <a:srgbClr val="D3DCE5"/>
            </a:solidFill>
            <a:prstDash val="solid"/>
          </a:ln>
        </p:spPr>
      </p:sp>
      <p:sp>
        <p:nvSpPr>
          <p:cNvPr id="278" name="Text 276"/>
          <p:cNvSpPr txBox="1"/>
          <p:nvPr/>
        </p:nvSpPr>
        <p:spPr>
          <a:xfrm>
            <a:off x="8484225"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4,361</a:t>
            </a:r>
            <a:endParaRPr lang="en-US" sz="760" dirty="0"/>
          </a:p>
        </p:txBody>
      </p:sp>
      <p:sp>
        <p:nvSpPr>
          <p:cNvPr id="279" name="Shape 277"/>
          <p:cNvSpPr/>
          <p:nvPr/>
        </p:nvSpPr>
        <p:spPr>
          <a:xfrm>
            <a:off x="9144703" y="3456432"/>
            <a:ext cx="660478" cy="237744"/>
          </a:xfrm>
          <a:prstGeom prst="rect">
            <a:avLst/>
          </a:prstGeom>
          <a:solidFill>
            <a:srgbClr val="FFFFFF"/>
          </a:solidFill>
          <a:ln w="5080">
            <a:solidFill>
              <a:srgbClr val="D3DCE5"/>
            </a:solidFill>
            <a:prstDash val="solid"/>
          </a:ln>
        </p:spPr>
      </p:sp>
      <p:sp>
        <p:nvSpPr>
          <p:cNvPr id="280" name="Text 278"/>
          <p:cNvSpPr txBox="1"/>
          <p:nvPr/>
        </p:nvSpPr>
        <p:spPr>
          <a:xfrm>
            <a:off x="9144703"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5,631</a:t>
            </a:r>
            <a:endParaRPr lang="en-US" sz="760" dirty="0"/>
          </a:p>
        </p:txBody>
      </p:sp>
      <p:sp>
        <p:nvSpPr>
          <p:cNvPr id="281" name="Shape 279"/>
          <p:cNvSpPr/>
          <p:nvPr/>
        </p:nvSpPr>
        <p:spPr>
          <a:xfrm>
            <a:off x="9805182" y="3456432"/>
            <a:ext cx="660478" cy="237744"/>
          </a:xfrm>
          <a:prstGeom prst="rect">
            <a:avLst/>
          </a:prstGeom>
          <a:solidFill>
            <a:srgbClr val="FFFFFF"/>
          </a:solidFill>
          <a:ln w="5080">
            <a:solidFill>
              <a:srgbClr val="D3DCE5"/>
            </a:solidFill>
            <a:prstDash val="solid"/>
          </a:ln>
        </p:spPr>
      </p:sp>
      <p:sp>
        <p:nvSpPr>
          <p:cNvPr id="282" name="Text 280"/>
          <p:cNvSpPr txBox="1"/>
          <p:nvPr/>
        </p:nvSpPr>
        <p:spPr>
          <a:xfrm>
            <a:off x="9805182"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7,047</a:t>
            </a:r>
            <a:endParaRPr lang="en-US" sz="760" dirty="0"/>
          </a:p>
        </p:txBody>
      </p:sp>
      <p:sp>
        <p:nvSpPr>
          <p:cNvPr id="283" name="Shape 281"/>
          <p:cNvSpPr/>
          <p:nvPr/>
        </p:nvSpPr>
        <p:spPr>
          <a:xfrm>
            <a:off x="10465660" y="3456432"/>
            <a:ext cx="660478" cy="237744"/>
          </a:xfrm>
          <a:prstGeom prst="rect">
            <a:avLst/>
          </a:prstGeom>
          <a:solidFill>
            <a:srgbClr val="FFFFFF"/>
          </a:solidFill>
          <a:ln w="5080">
            <a:solidFill>
              <a:srgbClr val="D3DCE5"/>
            </a:solidFill>
            <a:prstDash val="solid"/>
          </a:ln>
        </p:spPr>
      </p:sp>
      <p:sp>
        <p:nvSpPr>
          <p:cNvPr id="284" name="Text 282"/>
          <p:cNvSpPr txBox="1"/>
          <p:nvPr/>
        </p:nvSpPr>
        <p:spPr>
          <a:xfrm>
            <a:off x="10465660"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8,528</a:t>
            </a:r>
            <a:endParaRPr lang="en-US" sz="760" dirty="0"/>
          </a:p>
        </p:txBody>
      </p:sp>
      <p:sp>
        <p:nvSpPr>
          <p:cNvPr id="285" name="Shape 283"/>
          <p:cNvSpPr/>
          <p:nvPr/>
        </p:nvSpPr>
        <p:spPr>
          <a:xfrm>
            <a:off x="11126138" y="3456432"/>
            <a:ext cx="660478" cy="237744"/>
          </a:xfrm>
          <a:prstGeom prst="rect">
            <a:avLst/>
          </a:prstGeom>
          <a:solidFill>
            <a:srgbClr val="FFFFFF"/>
          </a:solidFill>
          <a:ln w="5080">
            <a:solidFill>
              <a:srgbClr val="D3DCE5"/>
            </a:solidFill>
            <a:prstDash val="solid"/>
          </a:ln>
        </p:spPr>
      </p:sp>
      <p:sp>
        <p:nvSpPr>
          <p:cNvPr id="286" name="Text 284"/>
          <p:cNvSpPr txBox="1"/>
          <p:nvPr/>
        </p:nvSpPr>
        <p:spPr>
          <a:xfrm>
            <a:off x="11126138" y="3456432"/>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10,026</a:t>
            </a:r>
            <a:endParaRPr lang="en-US" sz="760" dirty="0"/>
          </a:p>
        </p:txBody>
      </p:sp>
      <p:sp>
        <p:nvSpPr>
          <p:cNvPr id="287" name="Shape 285"/>
          <p:cNvSpPr/>
          <p:nvPr/>
        </p:nvSpPr>
        <p:spPr>
          <a:xfrm>
            <a:off x="411480" y="3694176"/>
            <a:ext cx="2788920" cy="237744"/>
          </a:xfrm>
          <a:prstGeom prst="rect">
            <a:avLst/>
          </a:prstGeom>
          <a:solidFill>
            <a:srgbClr val="F7F9FB"/>
          </a:solidFill>
          <a:ln w="5080">
            <a:solidFill>
              <a:srgbClr val="D3DCE5"/>
            </a:solidFill>
            <a:prstDash val="solid"/>
          </a:ln>
        </p:spPr>
      </p:sp>
      <p:sp>
        <p:nvSpPr>
          <p:cNvPr id="288" name="Text 286"/>
          <p:cNvSpPr txBox="1"/>
          <p:nvPr/>
        </p:nvSpPr>
        <p:spPr>
          <a:xfrm>
            <a:off x="475488" y="3694176"/>
            <a:ext cx="2660904" cy="237744"/>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Return on equity</a:t>
            </a:r>
            <a:endParaRPr lang="en-US" sz="780" dirty="0"/>
          </a:p>
        </p:txBody>
      </p:sp>
      <p:sp>
        <p:nvSpPr>
          <p:cNvPr id="289" name="Shape 287"/>
          <p:cNvSpPr/>
          <p:nvPr/>
        </p:nvSpPr>
        <p:spPr>
          <a:xfrm>
            <a:off x="3200400" y="3694176"/>
            <a:ext cx="660478" cy="237744"/>
          </a:xfrm>
          <a:prstGeom prst="rect">
            <a:avLst/>
          </a:prstGeom>
          <a:solidFill>
            <a:srgbClr val="F7F9FB"/>
          </a:solidFill>
          <a:ln w="5080">
            <a:solidFill>
              <a:srgbClr val="D3DCE5"/>
            </a:solidFill>
            <a:prstDash val="solid"/>
          </a:ln>
        </p:spPr>
      </p:sp>
      <p:sp>
        <p:nvSpPr>
          <p:cNvPr id="290" name="Text 288"/>
          <p:cNvSpPr txBox="1"/>
          <p:nvPr/>
        </p:nvSpPr>
        <p:spPr>
          <a:xfrm>
            <a:off x="3200400" y="3694176"/>
            <a:ext cx="614758" cy="237744"/>
          </a:xfrm>
          <a:prstGeom prst="rect">
            <a:avLst/>
          </a:prstGeom>
          <a:noFill/>
          <a:ln/>
        </p:spPr>
        <p:txBody>
          <a:bodyPr wrap="square" lIns="0" tIns="0" rIns="0" bIns="0" rtlCol="0" anchor="ctr"/>
          <a:lstStyle/>
          <a:p>
            <a:pPr algn="r" indent="0" marL="0">
              <a:buNone/>
            </a:pPr>
            <a:endParaRPr lang="en-US" sz="760" dirty="0"/>
          </a:p>
        </p:txBody>
      </p:sp>
      <p:sp>
        <p:nvSpPr>
          <p:cNvPr id="291" name="Shape 289"/>
          <p:cNvSpPr/>
          <p:nvPr/>
        </p:nvSpPr>
        <p:spPr>
          <a:xfrm>
            <a:off x="3860878" y="3694176"/>
            <a:ext cx="660478" cy="237744"/>
          </a:xfrm>
          <a:prstGeom prst="rect">
            <a:avLst/>
          </a:prstGeom>
          <a:solidFill>
            <a:srgbClr val="F7F9FB"/>
          </a:solidFill>
          <a:ln w="5080">
            <a:solidFill>
              <a:srgbClr val="D3DCE5"/>
            </a:solidFill>
            <a:prstDash val="solid"/>
          </a:ln>
        </p:spPr>
      </p:sp>
      <p:sp>
        <p:nvSpPr>
          <p:cNvPr id="292" name="Text 290"/>
          <p:cNvSpPr txBox="1"/>
          <p:nvPr/>
        </p:nvSpPr>
        <p:spPr>
          <a:xfrm>
            <a:off x="3860878" y="3694176"/>
            <a:ext cx="614758" cy="237744"/>
          </a:xfrm>
          <a:prstGeom prst="rect">
            <a:avLst/>
          </a:prstGeom>
          <a:noFill/>
          <a:ln/>
        </p:spPr>
        <p:txBody>
          <a:bodyPr wrap="square" lIns="0" tIns="0" rIns="0" bIns="0" rtlCol="0" anchor="ctr"/>
          <a:lstStyle/>
          <a:p>
            <a:pPr algn="r" indent="0" marL="0">
              <a:buNone/>
            </a:pPr>
            <a:endParaRPr lang="en-US" sz="760" dirty="0"/>
          </a:p>
        </p:txBody>
      </p:sp>
      <p:sp>
        <p:nvSpPr>
          <p:cNvPr id="293" name="Shape 291"/>
          <p:cNvSpPr/>
          <p:nvPr/>
        </p:nvSpPr>
        <p:spPr>
          <a:xfrm>
            <a:off x="4521356" y="3694176"/>
            <a:ext cx="660478" cy="237744"/>
          </a:xfrm>
          <a:prstGeom prst="rect">
            <a:avLst/>
          </a:prstGeom>
          <a:solidFill>
            <a:srgbClr val="F7F9FB"/>
          </a:solidFill>
          <a:ln w="5080">
            <a:solidFill>
              <a:srgbClr val="D3DCE5"/>
            </a:solidFill>
            <a:prstDash val="solid"/>
          </a:ln>
        </p:spPr>
      </p:sp>
      <p:sp>
        <p:nvSpPr>
          <p:cNvPr id="294" name="Text 292"/>
          <p:cNvSpPr txBox="1"/>
          <p:nvPr/>
        </p:nvSpPr>
        <p:spPr>
          <a:xfrm>
            <a:off x="4521356" y="3694176"/>
            <a:ext cx="614758" cy="237744"/>
          </a:xfrm>
          <a:prstGeom prst="rect">
            <a:avLst/>
          </a:prstGeom>
          <a:noFill/>
          <a:ln/>
        </p:spPr>
        <p:txBody>
          <a:bodyPr wrap="square" lIns="0" tIns="0" rIns="0" bIns="0" rtlCol="0" anchor="ctr"/>
          <a:lstStyle/>
          <a:p>
            <a:pPr algn="r" indent="0" marL="0">
              <a:buNone/>
            </a:pPr>
            <a:endParaRPr lang="en-US" sz="760" dirty="0"/>
          </a:p>
        </p:txBody>
      </p:sp>
      <p:sp>
        <p:nvSpPr>
          <p:cNvPr id="295" name="Shape 293"/>
          <p:cNvSpPr/>
          <p:nvPr/>
        </p:nvSpPr>
        <p:spPr>
          <a:xfrm>
            <a:off x="5181834" y="3694176"/>
            <a:ext cx="660478" cy="237744"/>
          </a:xfrm>
          <a:prstGeom prst="rect">
            <a:avLst/>
          </a:prstGeom>
          <a:solidFill>
            <a:srgbClr val="F7F9FB"/>
          </a:solidFill>
          <a:ln w="5080">
            <a:solidFill>
              <a:srgbClr val="D3DCE5"/>
            </a:solidFill>
            <a:prstDash val="solid"/>
          </a:ln>
        </p:spPr>
      </p:sp>
      <p:sp>
        <p:nvSpPr>
          <p:cNvPr id="296" name="Text 294"/>
          <p:cNvSpPr txBox="1"/>
          <p:nvPr/>
        </p:nvSpPr>
        <p:spPr>
          <a:xfrm>
            <a:off x="5181834" y="369417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20.4%</a:t>
            </a:r>
            <a:endParaRPr lang="en-US" sz="760" dirty="0"/>
          </a:p>
        </p:txBody>
      </p:sp>
      <p:sp>
        <p:nvSpPr>
          <p:cNvPr id="297" name="Shape 295"/>
          <p:cNvSpPr/>
          <p:nvPr/>
        </p:nvSpPr>
        <p:spPr>
          <a:xfrm>
            <a:off x="5842313" y="3694176"/>
            <a:ext cx="660478" cy="237744"/>
          </a:xfrm>
          <a:prstGeom prst="rect">
            <a:avLst/>
          </a:prstGeom>
          <a:solidFill>
            <a:srgbClr val="F7F9FB"/>
          </a:solidFill>
          <a:ln w="5080">
            <a:solidFill>
              <a:srgbClr val="D3DCE5"/>
            </a:solidFill>
            <a:prstDash val="solid"/>
          </a:ln>
        </p:spPr>
      </p:sp>
      <p:sp>
        <p:nvSpPr>
          <p:cNvPr id="298" name="Text 296"/>
          <p:cNvSpPr txBox="1"/>
          <p:nvPr/>
        </p:nvSpPr>
        <p:spPr>
          <a:xfrm>
            <a:off x="5842313" y="369417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19.8%</a:t>
            </a:r>
            <a:endParaRPr lang="en-US" sz="760" dirty="0"/>
          </a:p>
        </p:txBody>
      </p:sp>
      <p:sp>
        <p:nvSpPr>
          <p:cNvPr id="299" name="Shape 297"/>
          <p:cNvSpPr/>
          <p:nvPr/>
        </p:nvSpPr>
        <p:spPr>
          <a:xfrm>
            <a:off x="6502791" y="3694176"/>
            <a:ext cx="660478" cy="237744"/>
          </a:xfrm>
          <a:prstGeom prst="rect">
            <a:avLst/>
          </a:prstGeom>
          <a:solidFill>
            <a:srgbClr val="F7F9FB"/>
          </a:solidFill>
          <a:ln w="5080">
            <a:solidFill>
              <a:srgbClr val="D3DCE5"/>
            </a:solidFill>
            <a:prstDash val="solid"/>
          </a:ln>
        </p:spPr>
      </p:sp>
      <p:sp>
        <p:nvSpPr>
          <p:cNvPr id="300" name="Text 298"/>
          <p:cNvSpPr txBox="1"/>
          <p:nvPr/>
        </p:nvSpPr>
        <p:spPr>
          <a:xfrm>
            <a:off x="6502791" y="369417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17.7%</a:t>
            </a:r>
            <a:endParaRPr lang="en-US" sz="760" dirty="0"/>
          </a:p>
        </p:txBody>
      </p:sp>
      <p:sp>
        <p:nvSpPr>
          <p:cNvPr id="301" name="Shape 299"/>
          <p:cNvSpPr/>
          <p:nvPr/>
        </p:nvSpPr>
        <p:spPr>
          <a:xfrm>
            <a:off x="7163269" y="3694176"/>
            <a:ext cx="660478" cy="237744"/>
          </a:xfrm>
          <a:prstGeom prst="rect">
            <a:avLst/>
          </a:prstGeom>
          <a:solidFill>
            <a:srgbClr val="F7F9FB"/>
          </a:solidFill>
          <a:ln w="5080">
            <a:solidFill>
              <a:srgbClr val="D3DCE5"/>
            </a:solidFill>
            <a:prstDash val="solid"/>
          </a:ln>
        </p:spPr>
      </p:sp>
      <p:sp>
        <p:nvSpPr>
          <p:cNvPr id="302" name="Text 300"/>
          <p:cNvSpPr txBox="1"/>
          <p:nvPr/>
        </p:nvSpPr>
        <p:spPr>
          <a:xfrm>
            <a:off x="7163269" y="369417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18.5%</a:t>
            </a:r>
            <a:endParaRPr lang="en-US" sz="760" dirty="0"/>
          </a:p>
        </p:txBody>
      </p:sp>
      <p:sp>
        <p:nvSpPr>
          <p:cNvPr id="303" name="Shape 301"/>
          <p:cNvSpPr/>
          <p:nvPr/>
        </p:nvSpPr>
        <p:spPr>
          <a:xfrm>
            <a:off x="7823747" y="3694176"/>
            <a:ext cx="660478" cy="237744"/>
          </a:xfrm>
          <a:prstGeom prst="rect">
            <a:avLst/>
          </a:prstGeom>
          <a:solidFill>
            <a:srgbClr val="F7F9FB"/>
          </a:solidFill>
          <a:ln w="5080">
            <a:solidFill>
              <a:srgbClr val="D3DCE5"/>
            </a:solidFill>
            <a:prstDash val="solid"/>
          </a:ln>
        </p:spPr>
      </p:sp>
      <p:sp>
        <p:nvSpPr>
          <p:cNvPr id="304" name="Text 302"/>
          <p:cNvSpPr txBox="1"/>
          <p:nvPr/>
        </p:nvSpPr>
        <p:spPr>
          <a:xfrm>
            <a:off x="7823747" y="369417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20.3%</a:t>
            </a:r>
            <a:endParaRPr lang="en-US" sz="760" dirty="0"/>
          </a:p>
        </p:txBody>
      </p:sp>
      <p:sp>
        <p:nvSpPr>
          <p:cNvPr id="305" name="Shape 303"/>
          <p:cNvSpPr/>
          <p:nvPr/>
        </p:nvSpPr>
        <p:spPr>
          <a:xfrm>
            <a:off x="8484225" y="3694176"/>
            <a:ext cx="660478" cy="237744"/>
          </a:xfrm>
          <a:prstGeom prst="rect">
            <a:avLst/>
          </a:prstGeom>
          <a:solidFill>
            <a:srgbClr val="F7F9FB"/>
          </a:solidFill>
          <a:ln w="5080">
            <a:solidFill>
              <a:srgbClr val="D3DCE5"/>
            </a:solidFill>
            <a:prstDash val="solid"/>
          </a:ln>
        </p:spPr>
      </p:sp>
      <p:sp>
        <p:nvSpPr>
          <p:cNvPr id="306" name="Text 304"/>
          <p:cNvSpPr txBox="1"/>
          <p:nvPr/>
        </p:nvSpPr>
        <p:spPr>
          <a:xfrm>
            <a:off x="8484225" y="369417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24.2%</a:t>
            </a:r>
            <a:endParaRPr lang="en-US" sz="760" dirty="0"/>
          </a:p>
        </p:txBody>
      </p:sp>
      <p:sp>
        <p:nvSpPr>
          <p:cNvPr id="307" name="Shape 305"/>
          <p:cNvSpPr/>
          <p:nvPr/>
        </p:nvSpPr>
        <p:spPr>
          <a:xfrm>
            <a:off x="9144703" y="3694176"/>
            <a:ext cx="660478" cy="237744"/>
          </a:xfrm>
          <a:prstGeom prst="rect">
            <a:avLst/>
          </a:prstGeom>
          <a:solidFill>
            <a:srgbClr val="F7F9FB"/>
          </a:solidFill>
          <a:ln w="5080">
            <a:solidFill>
              <a:srgbClr val="D3DCE5"/>
            </a:solidFill>
            <a:prstDash val="solid"/>
          </a:ln>
        </p:spPr>
      </p:sp>
      <p:sp>
        <p:nvSpPr>
          <p:cNvPr id="308" name="Text 306"/>
          <p:cNvSpPr txBox="1"/>
          <p:nvPr/>
        </p:nvSpPr>
        <p:spPr>
          <a:xfrm>
            <a:off x="9144703" y="369417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25.4%</a:t>
            </a:r>
            <a:endParaRPr lang="en-US" sz="760" dirty="0"/>
          </a:p>
        </p:txBody>
      </p:sp>
      <p:sp>
        <p:nvSpPr>
          <p:cNvPr id="309" name="Shape 307"/>
          <p:cNvSpPr/>
          <p:nvPr/>
        </p:nvSpPr>
        <p:spPr>
          <a:xfrm>
            <a:off x="9805182" y="3694176"/>
            <a:ext cx="660478" cy="237744"/>
          </a:xfrm>
          <a:prstGeom prst="rect">
            <a:avLst/>
          </a:prstGeom>
          <a:solidFill>
            <a:srgbClr val="F7F9FB"/>
          </a:solidFill>
          <a:ln w="5080">
            <a:solidFill>
              <a:srgbClr val="D3DCE5"/>
            </a:solidFill>
            <a:prstDash val="solid"/>
          </a:ln>
        </p:spPr>
      </p:sp>
      <p:sp>
        <p:nvSpPr>
          <p:cNvPr id="310" name="Text 308"/>
          <p:cNvSpPr txBox="1"/>
          <p:nvPr/>
        </p:nvSpPr>
        <p:spPr>
          <a:xfrm>
            <a:off x="9805182" y="369417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24.2%</a:t>
            </a:r>
            <a:endParaRPr lang="en-US" sz="760" dirty="0"/>
          </a:p>
        </p:txBody>
      </p:sp>
      <p:sp>
        <p:nvSpPr>
          <p:cNvPr id="311" name="Shape 309"/>
          <p:cNvSpPr/>
          <p:nvPr/>
        </p:nvSpPr>
        <p:spPr>
          <a:xfrm>
            <a:off x="10465660" y="3694176"/>
            <a:ext cx="660478" cy="237744"/>
          </a:xfrm>
          <a:prstGeom prst="rect">
            <a:avLst/>
          </a:prstGeom>
          <a:solidFill>
            <a:srgbClr val="F7F9FB"/>
          </a:solidFill>
          <a:ln w="5080">
            <a:solidFill>
              <a:srgbClr val="D3DCE5"/>
            </a:solidFill>
            <a:prstDash val="solid"/>
          </a:ln>
        </p:spPr>
      </p:sp>
      <p:sp>
        <p:nvSpPr>
          <p:cNvPr id="312" name="Text 310"/>
          <p:cNvSpPr txBox="1"/>
          <p:nvPr/>
        </p:nvSpPr>
        <p:spPr>
          <a:xfrm>
            <a:off x="10465660" y="369417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22.4%</a:t>
            </a:r>
            <a:endParaRPr lang="en-US" sz="760" dirty="0"/>
          </a:p>
        </p:txBody>
      </p:sp>
      <p:sp>
        <p:nvSpPr>
          <p:cNvPr id="313" name="Shape 311"/>
          <p:cNvSpPr/>
          <p:nvPr/>
        </p:nvSpPr>
        <p:spPr>
          <a:xfrm>
            <a:off x="11126138" y="3694176"/>
            <a:ext cx="660478" cy="237744"/>
          </a:xfrm>
          <a:prstGeom prst="rect">
            <a:avLst/>
          </a:prstGeom>
          <a:solidFill>
            <a:srgbClr val="F7F9FB"/>
          </a:solidFill>
          <a:ln w="5080">
            <a:solidFill>
              <a:srgbClr val="D3DCE5"/>
            </a:solidFill>
            <a:prstDash val="solid"/>
          </a:ln>
        </p:spPr>
      </p:sp>
      <p:sp>
        <p:nvSpPr>
          <p:cNvPr id="314" name="Text 312"/>
          <p:cNvSpPr txBox="1"/>
          <p:nvPr/>
        </p:nvSpPr>
        <p:spPr>
          <a:xfrm>
            <a:off x="11126138" y="3694176"/>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20.5%</a:t>
            </a:r>
            <a:endParaRPr lang="en-US" sz="760" dirty="0"/>
          </a:p>
        </p:txBody>
      </p:sp>
      <p:sp>
        <p:nvSpPr>
          <p:cNvPr id="315" name="Shape 313"/>
          <p:cNvSpPr/>
          <p:nvPr/>
        </p:nvSpPr>
        <p:spPr>
          <a:xfrm>
            <a:off x="411480" y="3931920"/>
            <a:ext cx="2788920" cy="237744"/>
          </a:xfrm>
          <a:prstGeom prst="rect">
            <a:avLst/>
          </a:prstGeom>
          <a:solidFill>
            <a:srgbClr val="FFFFFF"/>
          </a:solidFill>
          <a:ln w="5080">
            <a:solidFill>
              <a:srgbClr val="D3DCE5"/>
            </a:solidFill>
            <a:prstDash val="solid"/>
          </a:ln>
        </p:spPr>
      </p:sp>
      <p:sp>
        <p:nvSpPr>
          <p:cNvPr id="316" name="Text 314"/>
          <p:cNvSpPr txBox="1"/>
          <p:nvPr/>
        </p:nvSpPr>
        <p:spPr>
          <a:xfrm>
            <a:off x="475488" y="3931920"/>
            <a:ext cx="2660904" cy="237744"/>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Return on invested capital</a:t>
            </a:r>
            <a:endParaRPr lang="en-US" sz="780" dirty="0"/>
          </a:p>
        </p:txBody>
      </p:sp>
      <p:sp>
        <p:nvSpPr>
          <p:cNvPr id="317" name="Shape 315"/>
          <p:cNvSpPr/>
          <p:nvPr/>
        </p:nvSpPr>
        <p:spPr>
          <a:xfrm>
            <a:off x="3200400" y="3931920"/>
            <a:ext cx="660478" cy="237744"/>
          </a:xfrm>
          <a:prstGeom prst="rect">
            <a:avLst/>
          </a:prstGeom>
          <a:solidFill>
            <a:srgbClr val="FFFFFF"/>
          </a:solidFill>
          <a:ln w="5080">
            <a:solidFill>
              <a:srgbClr val="D3DCE5"/>
            </a:solidFill>
            <a:prstDash val="solid"/>
          </a:ln>
        </p:spPr>
      </p:sp>
      <p:sp>
        <p:nvSpPr>
          <p:cNvPr id="318" name="Text 316"/>
          <p:cNvSpPr txBox="1"/>
          <p:nvPr/>
        </p:nvSpPr>
        <p:spPr>
          <a:xfrm>
            <a:off x="3200400" y="3931920"/>
            <a:ext cx="614758" cy="237744"/>
          </a:xfrm>
          <a:prstGeom prst="rect">
            <a:avLst/>
          </a:prstGeom>
          <a:noFill/>
          <a:ln/>
        </p:spPr>
        <p:txBody>
          <a:bodyPr wrap="square" lIns="0" tIns="0" rIns="0" bIns="0" rtlCol="0" anchor="ctr"/>
          <a:lstStyle/>
          <a:p>
            <a:pPr algn="r" indent="0" marL="0">
              <a:buNone/>
            </a:pPr>
            <a:endParaRPr lang="en-US" sz="760" dirty="0"/>
          </a:p>
        </p:txBody>
      </p:sp>
      <p:sp>
        <p:nvSpPr>
          <p:cNvPr id="319" name="Shape 317"/>
          <p:cNvSpPr/>
          <p:nvPr/>
        </p:nvSpPr>
        <p:spPr>
          <a:xfrm>
            <a:off x="3860878" y="3931920"/>
            <a:ext cx="660478" cy="237744"/>
          </a:xfrm>
          <a:prstGeom prst="rect">
            <a:avLst/>
          </a:prstGeom>
          <a:solidFill>
            <a:srgbClr val="FFFFFF"/>
          </a:solidFill>
          <a:ln w="5080">
            <a:solidFill>
              <a:srgbClr val="D3DCE5"/>
            </a:solidFill>
            <a:prstDash val="solid"/>
          </a:ln>
        </p:spPr>
      </p:sp>
      <p:sp>
        <p:nvSpPr>
          <p:cNvPr id="320" name="Text 318"/>
          <p:cNvSpPr txBox="1"/>
          <p:nvPr/>
        </p:nvSpPr>
        <p:spPr>
          <a:xfrm>
            <a:off x="3860878" y="3931920"/>
            <a:ext cx="614758" cy="237744"/>
          </a:xfrm>
          <a:prstGeom prst="rect">
            <a:avLst/>
          </a:prstGeom>
          <a:noFill/>
          <a:ln/>
        </p:spPr>
        <p:txBody>
          <a:bodyPr wrap="square" lIns="0" tIns="0" rIns="0" bIns="0" rtlCol="0" anchor="ctr"/>
          <a:lstStyle/>
          <a:p>
            <a:pPr algn="r" indent="0" marL="0">
              <a:buNone/>
            </a:pPr>
            <a:endParaRPr lang="en-US" sz="760" dirty="0"/>
          </a:p>
        </p:txBody>
      </p:sp>
      <p:sp>
        <p:nvSpPr>
          <p:cNvPr id="321" name="Shape 319"/>
          <p:cNvSpPr/>
          <p:nvPr/>
        </p:nvSpPr>
        <p:spPr>
          <a:xfrm>
            <a:off x="4521356" y="3931920"/>
            <a:ext cx="660478" cy="237744"/>
          </a:xfrm>
          <a:prstGeom prst="rect">
            <a:avLst/>
          </a:prstGeom>
          <a:solidFill>
            <a:srgbClr val="FFFFFF"/>
          </a:solidFill>
          <a:ln w="5080">
            <a:solidFill>
              <a:srgbClr val="D3DCE5"/>
            </a:solidFill>
            <a:prstDash val="solid"/>
          </a:ln>
        </p:spPr>
      </p:sp>
      <p:sp>
        <p:nvSpPr>
          <p:cNvPr id="322" name="Text 320"/>
          <p:cNvSpPr txBox="1"/>
          <p:nvPr/>
        </p:nvSpPr>
        <p:spPr>
          <a:xfrm>
            <a:off x="4521356" y="3931920"/>
            <a:ext cx="614758" cy="237744"/>
          </a:xfrm>
          <a:prstGeom prst="rect">
            <a:avLst/>
          </a:prstGeom>
          <a:noFill/>
          <a:ln/>
        </p:spPr>
        <p:txBody>
          <a:bodyPr wrap="square" lIns="0" tIns="0" rIns="0" bIns="0" rtlCol="0" anchor="ctr"/>
          <a:lstStyle/>
          <a:p>
            <a:pPr algn="r" indent="0" marL="0">
              <a:buNone/>
            </a:pPr>
            <a:endParaRPr lang="en-US" sz="760" dirty="0"/>
          </a:p>
        </p:txBody>
      </p:sp>
      <p:sp>
        <p:nvSpPr>
          <p:cNvPr id="323" name="Shape 321"/>
          <p:cNvSpPr/>
          <p:nvPr/>
        </p:nvSpPr>
        <p:spPr>
          <a:xfrm>
            <a:off x="5181834" y="3931920"/>
            <a:ext cx="660478" cy="237744"/>
          </a:xfrm>
          <a:prstGeom prst="rect">
            <a:avLst/>
          </a:prstGeom>
          <a:solidFill>
            <a:srgbClr val="FFFFFF"/>
          </a:solidFill>
          <a:ln w="5080">
            <a:solidFill>
              <a:srgbClr val="D3DCE5"/>
            </a:solidFill>
            <a:prstDash val="solid"/>
          </a:ln>
        </p:spPr>
      </p:sp>
      <p:sp>
        <p:nvSpPr>
          <p:cNvPr id="324" name="Text 322"/>
          <p:cNvSpPr txBox="1"/>
          <p:nvPr/>
        </p:nvSpPr>
        <p:spPr>
          <a:xfrm>
            <a:off x="5181834" y="393192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28.4%</a:t>
            </a:r>
            <a:endParaRPr lang="en-US" sz="760" dirty="0"/>
          </a:p>
        </p:txBody>
      </p:sp>
      <p:sp>
        <p:nvSpPr>
          <p:cNvPr id="325" name="Shape 323"/>
          <p:cNvSpPr/>
          <p:nvPr/>
        </p:nvSpPr>
        <p:spPr>
          <a:xfrm>
            <a:off x="5842313" y="3931920"/>
            <a:ext cx="660478" cy="237744"/>
          </a:xfrm>
          <a:prstGeom prst="rect">
            <a:avLst/>
          </a:prstGeom>
          <a:solidFill>
            <a:srgbClr val="FFFFFF"/>
          </a:solidFill>
          <a:ln w="5080">
            <a:solidFill>
              <a:srgbClr val="D3DCE5"/>
            </a:solidFill>
            <a:prstDash val="solid"/>
          </a:ln>
        </p:spPr>
      </p:sp>
      <p:sp>
        <p:nvSpPr>
          <p:cNvPr id="326" name="Text 324"/>
          <p:cNvSpPr txBox="1"/>
          <p:nvPr/>
        </p:nvSpPr>
        <p:spPr>
          <a:xfrm>
            <a:off x="5842313" y="393192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28.6%</a:t>
            </a:r>
            <a:endParaRPr lang="en-US" sz="760" dirty="0"/>
          </a:p>
        </p:txBody>
      </p:sp>
      <p:sp>
        <p:nvSpPr>
          <p:cNvPr id="327" name="Shape 325"/>
          <p:cNvSpPr/>
          <p:nvPr/>
        </p:nvSpPr>
        <p:spPr>
          <a:xfrm>
            <a:off x="6502791" y="3931920"/>
            <a:ext cx="660478" cy="237744"/>
          </a:xfrm>
          <a:prstGeom prst="rect">
            <a:avLst/>
          </a:prstGeom>
          <a:solidFill>
            <a:srgbClr val="FFFFFF"/>
          </a:solidFill>
          <a:ln w="5080">
            <a:solidFill>
              <a:srgbClr val="D3DCE5"/>
            </a:solidFill>
            <a:prstDash val="solid"/>
          </a:ln>
        </p:spPr>
      </p:sp>
      <p:sp>
        <p:nvSpPr>
          <p:cNvPr id="328" name="Text 326"/>
          <p:cNvSpPr txBox="1"/>
          <p:nvPr/>
        </p:nvSpPr>
        <p:spPr>
          <a:xfrm>
            <a:off x="6502791" y="393192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25.4%</a:t>
            </a:r>
            <a:endParaRPr lang="en-US" sz="760" dirty="0"/>
          </a:p>
        </p:txBody>
      </p:sp>
      <p:sp>
        <p:nvSpPr>
          <p:cNvPr id="329" name="Shape 327"/>
          <p:cNvSpPr/>
          <p:nvPr/>
        </p:nvSpPr>
        <p:spPr>
          <a:xfrm>
            <a:off x="7163269" y="3931920"/>
            <a:ext cx="660478" cy="237744"/>
          </a:xfrm>
          <a:prstGeom prst="rect">
            <a:avLst/>
          </a:prstGeom>
          <a:solidFill>
            <a:srgbClr val="FFFFFF"/>
          </a:solidFill>
          <a:ln w="5080">
            <a:solidFill>
              <a:srgbClr val="D3DCE5"/>
            </a:solidFill>
            <a:prstDash val="solid"/>
          </a:ln>
        </p:spPr>
      </p:sp>
      <p:sp>
        <p:nvSpPr>
          <p:cNvPr id="330" name="Text 328"/>
          <p:cNvSpPr txBox="1"/>
          <p:nvPr/>
        </p:nvSpPr>
        <p:spPr>
          <a:xfrm>
            <a:off x="7163269" y="393192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26.3%</a:t>
            </a:r>
            <a:endParaRPr lang="en-US" sz="760" dirty="0"/>
          </a:p>
        </p:txBody>
      </p:sp>
      <p:sp>
        <p:nvSpPr>
          <p:cNvPr id="331" name="Shape 329"/>
          <p:cNvSpPr/>
          <p:nvPr/>
        </p:nvSpPr>
        <p:spPr>
          <a:xfrm>
            <a:off x="7823747" y="3931920"/>
            <a:ext cx="660478" cy="237744"/>
          </a:xfrm>
          <a:prstGeom prst="rect">
            <a:avLst/>
          </a:prstGeom>
          <a:solidFill>
            <a:srgbClr val="FFFFFF"/>
          </a:solidFill>
          <a:ln w="5080">
            <a:solidFill>
              <a:srgbClr val="D3DCE5"/>
            </a:solidFill>
            <a:prstDash val="solid"/>
          </a:ln>
        </p:spPr>
      </p:sp>
      <p:sp>
        <p:nvSpPr>
          <p:cNvPr id="332" name="Text 330"/>
          <p:cNvSpPr txBox="1"/>
          <p:nvPr/>
        </p:nvSpPr>
        <p:spPr>
          <a:xfrm>
            <a:off x="7823747" y="393192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29.7%</a:t>
            </a:r>
            <a:endParaRPr lang="en-US" sz="760" dirty="0"/>
          </a:p>
        </p:txBody>
      </p:sp>
      <p:sp>
        <p:nvSpPr>
          <p:cNvPr id="333" name="Shape 331"/>
          <p:cNvSpPr/>
          <p:nvPr/>
        </p:nvSpPr>
        <p:spPr>
          <a:xfrm>
            <a:off x="8484225" y="3931920"/>
            <a:ext cx="660478" cy="237744"/>
          </a:xfrm>
          <a:prstGeom prst="rect">
            <a:avLst/>
          </a:prstGeom>
          <a:solidFill>
            <a:srgbClr val="FFFFFF"/>
          </a:solidFill>
          <a:ln w="5080">
            <a:solidFill>
              <a:srgbClr val="D3DCE5"/>
            </a:solidFill>
            <a:prstDash val="solid"/>
          </a:ln>
        </p:spPr>
      </p:sp>
      <p:sp>
        <p:nvSpPr>
          <p:cNvPr id="334" name="Text 332"/>
          <p:cNvSpPr txBox="1"/>
          <p:nvPr/>
        </p:nvSpPr>
        <p:spPr>
          <a:xfrm>
            <a:off x="8484225" y="393192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38.7%</a:t>
            </a:r>
            <a:endParaRPr lang="en-US" sz="760" dirty="0"/>
          </a:p>
        </p:txBody>
      </p:sp>
      <p:sp>
        <p:nvSpPr>
          <p:cNvPr id="335" name="Shape 333"/>
          <p:cNvSpPr/>
          <p:nvPr/>
        </p:nvSpPr>
        <p:spPr>
          <a:xfrm>
            <a:off x="9144703" y="3931920"/>
            <a:ext cx="660478" cy="237744"/>
          </a:xfrm>
          <a:prstGeom prst="rect">
            <a:avLst/>
          </a:prstGeom>
          <a:solidFill>
            <a:srgbClr val="FFFFFF"/>
          </a:solidFill>
          <a:ln w="5080">
            <a:solidFill>
              <a:srgbClr val="D3DCE5"/>
            </a:solidFill>
            <a:prstDash val="solid"/>
          </a:ln>
        </p:spPr>
      </p:sp>
      <p:sp>
        <p:nvSpPr>
          <p:cNvPr id="336" name="Text 334"/>
          <p:cNvSpPr txBox="1"/>
          <p:nvPr/>
        </p:nvSpPr>
        <p:spPr>
          <a:xfrm>
            <a:off x="9144703" y="393192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44.9%</a:t>
            </a:r>
            <a:endParaRPr lang="en-US" sz="760" dirty="0"/>
          </a:p>
        </p:txBody>
      </p:sp>
      <p:sp>
        <p:nvSpPr>
          <p:cNvPr id="337" name="Shape 335"/>
          <p:cNvSpPr/>
          <p:nvPr/>
        </p:nvSpPr>
        <p:spPr>
          <a:xfrm>
            <a:off x="9805182" y="3931920"/>
            <a:ext cx="660478" cy="237744"/>
          </a:xfrm>
          <a:prstGeom prst="rect">
            <a:avLst/>
          </a:prstGeom>
          <a:solidFill>
            <a:srgbClr val="FFFFFF"/>
          </a:solidFill>
          <a:ln w="5080">
            <a:solidFill>
              <a:srgbClr val="D3DCE5"/>
            </a:solidFill>
            <a:prstDash val="solid"/>
          </a:ln>
        </p:spPr>
      </p:sp>
      <p:sp>
        <p:nvSpPr>
          <p:cNvPr id="338" name="Text 336"/>
          <p:cNvSpPr txBox="1"/>
          <p:nvPr/>
        </p:nvSpPr>
        <p:spPr>
          <a:xfrm>
            <a:off x="9805182" y="393192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48.1%</a:t>
            </a:r>
            <a:endParaRPr lang="en-US" sz="760" dirty="0"/>
          </a:p>
        </p:txBody>
      </p:sp>
      <p:sp>
        <p:nvSpPr>
          <p:cNvPr id="339" name="Shape 337"/>
          <p:cNvSpPr/>
          <p:nvPr/>
        </p:nvSpPr>
        <p:spPr>
          <a:xfrm>
            <a:off x="10465660" y="3931920"/>
            <a:ext cx="660478" cy="237744"/>
          </a:xfrm>
          <a:prstGeom prst="rect">
            <a:avLst/>
          </a:prstGeom>
          <a:solidFill>
            <a:srgbClr val="FFFFFF"/>
          </a:solidFill>
          <a:ln w="5080">
            <a:solidFill>
              <a:srgbClr val="D3DCE5"/>
            </a:solidFill>
            <a:prstDash val="solid"/>
          </a:ln>
        </p:spPr>
      </p:sp>
      <p:sp>
        <p:nvSpPr>
          <p:cNvPr id="340" name="Text 338"/>
          <p:cNvSpPr txBox="1"/>
          <p:nvPr/>
        </p:nvSpPr>
        <p:spPr>
          <a:xfrm>
            <a:off x="10465660" y="393192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50.5%</a:t>
            </a:r>
            <a:endParaRPr lang="en-US" sz="760" dirty="0"/>
          </a:p>
        </p:txBody>
      </p:sp>
      <p:sp>
        <p:nvSpPr>
          <p:cNvPr id="341" name="Shape 339"/>
          <p:cNvSpPr/>
          <p:nvPr/>
        </p:nvSpPr>
        <p:spPr>
          <a:xfrm>
            <a:off x="11126138" y="3931920"/>
            <a:ext cx="660478" cy="237744"/>
          </a:xfrm>
          <a:prstGeom prst="rect">
            <a:avLst/>
          </a:prstGeom>
          <a:solidFill>
            <a:srgbClr val="FFFFFF"/>
          </a:solidFill>
          <a:ln w="5080">
            <a:solidFill>
              <a:srgbClr val="D3DCE5"/>
            </a:solidFill>
            <a:prstDash val="solid"/>
          </a:ln>
        </p:spPr>
      </p:sp>
      <p:sp>
        <p:nvSpPr>
          <p:cNvPr id="342" name="Text 340"/>
          <p:cNvSpPr txBox="1"/>
          <p:nvPr/>
        </p:nvSpPr>
        <p:spPr>
          <a:xfrm>
            <a:off x="11126138" y="3931920"/>
            <a:ext cx="614758" cy="237744"/>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52.1%</a:t>
            </a:r>
            <a:endParaRPr lang="en-US" sz="760" dirty="0"/>
          </a:p>
        </p:txBody>
      </p:sp>
      <p:sp>
        <p:nvSpPr>
          <p:cNvPr id="343" name="Shape 341"/>
          <p:cNvSpPr/>
          <p:nvPr/>
        </p:nvSpPr>
        <p:spPr>
          <a:xfrm>
            <a:off x="411480" y="4315968"/>
            <a:ext cx="5577840" cy="1481328"/>
          </a:xfrm>
          <a:prstGeom prst="rect">
            <a:avLst/>
          </a:prstGeom>
          <a:solidFill>
            <a:srgbClr val="FBEBD9"/>
          </a:solidFill>
          <a:ln w="9525">
            <a:solidFill>
              <a:srgbClr val="E8C9A3"/>
            </a:solidFill>
            <a:prstDash val="solid"/>
          </a:ln>
        </p:spPr>
      </p:sp>
      <p:sp>
        <p:nvSpPr>
          <p:cNvPr id="344" name="Text 342"/>
          <p:cNvSpPr txBox="1"/>
          <p:nvPr/>
        </p:nvSpPr>
        <p:spPr>
          <a:xfrm>
            <a:off x="576072" y="4443984"/>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What we could not verify</a:t>
            </a:r>
            <a:endParaRPr lang="en-US" sz="1150" dirty="0"/>
          </a:p>
        </p:txBody>
      </p:sp>
      <p:sp>
        <p:nvSpPr>
          <p:cNvPr id="345" name="Text 343"/>
          <p:cNvSpPr txBox="1"/>
          <p:nvPr/>
        </p:nvSpPr>
        <p:spPr>
          <a:xfrm>
            <a:off x="576072" y="4773168"/>
            <a:ext cx="5248656" cy="932688"/>
          </a:xfrm>
          <a:prstGeom prst="rect">
            <a:avLst/>
          </a:prstGeom>
          <a:noFill/>
          <a:ln/>
        </p:spPr>
        <p:txBody>
          <a:bodyPr wrap="square" lIns="0" tIns="0" rIns="0" bIns="0" rtlCol="0" anchor="t"/>
          <a:lstStyle/>
          <a:p>
            <a:pPr indent="0" marL="0">
              <a:lnSpc>
                <a:spcPct val="105000"/>
              </a:lnSpc>
              <a:buNone/>
            </a:pPr>
            <a:r>
              <a:rPr lang="en-US" sz="770" dirty="0">
                <a:solidFill>
                  <a:srgbClr val="1B2733"/>
                </a:solidFill>
                <a:latin typeface="Calibri" pitchFamily="34" charset="0"/>
                <a:ea typeface="Calibri" pitchFamily="34" charset="-122"/>
                <a:cs typeface="Calibri" pitchFamily="34" charset="-120"/>
              </a:rPr>
              <a:t>The FY26 opening property, plant and equipment balance of A$3,200m is our estimate. We could not retrieve the reported net book value, and the ASX announcements platform was unreachable from our environment.</a:t>
            </a:r>
            <a:endParaRPr lang="en-US" sz="770" dirty="0"/>
          </a:p>
          <a:p>
            <a:pPr indent="0" marL="0">
              <a:lnSpc>
                <a:spcPct val="105000"/>
              </a:lnSpc>
              <a:buNone/>
            </a:pPr>
            <a:endParaRPr lang="en-US" sz="770" dirty="0"/>
          </a:p>
          <a:p>
            <a:pPr indent="0" marL="0">
              <a:lnSpc>
                <a:spcPct val="105000"/>
              </a:lnSpc>
              <a:buNone/>
            </a:pPr>
            <a:r>
              <a:rPr lang="en-US" sz="770" dirty="0">
                <a:solidFill>
                  <a:srgbClr val="1B2733"/>
                </a:solidFill>
                <a:latin typeface="Calibri" pitchFamily="34" charset="0"/>
                <a:ea typeface="Calibri" pitchFamily="34" charset="-122"/>
                <a:cs typeface="Calibri" pitchFamily="34" charset="-120"/>
              </a:rPr>
              <a:t>It matters because depreciation is struck as 11.5% of opening PP&amp;E, so the estimate flows into EBIT and into tax. It does not affect the DCF, which is built on unlevered free cash flow where depreciation is added back.</a:t>
            </a:r>
            <a:endParaRPr lang="en-US" sz="770" dirty="0"/>
          </a:p>
        </p:txBody>
      </p:sp>
      <p:sp>
        <p:nvSpPr>
          <p:cNvPr id="346" name="Shape 344"/>
          <p:cNvSpPr/>
          <p:nvPr/>
        </p:nvSpPr>
        <p:spPr>
          <a:xfrm>
            <a:off x="6208776" y="4315968"/>
            <a:ext cx="5577840" cy="1481328"/>
          </a:xfrm>
          <a:prstGeom prst="rect">
            <a:avLst/>
          </a:prstGeom>
          <a:solidFill>
            <a:srgbClr val="EEF2F6"/>
          </a:solidFill>
          <a:ln w="9525">
            <a:solidFill>
              <a:srgbClr val="D3DCE5"/>
            </a:solidFill>
            <a:prstDash val="solid"/>
          </a:ln>
        </p:spPr>
      </p:sp>
      <p:sp>
        <p:nvSpPr>
          <p:cNvPr id="347" name="Text 345"/>
          <p:cNvSpPr txBox="1"/>
          <p:nvPr/>
        </p:nvSpPr>
        <p:spPr>
          <a:xfrm>
            <a:off x="6373368" y="4443984"/>
            <a:ext cx="524865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The cash build, and why we raised the payout</a:t>
            </a:r>
            <a:endParaRPr lang="en-US" sz="1150" dirty="0"/>
          </a:p>
        </p:txBody>
      </p:sp>
      <p:sp>
        <p:nvSpPr>
          <p:cNvPr id="348" name="Text 346"/>
          <p:cNvSpPr txBox="1"/>
          <p:nvPr/>
        </p:nvSpPr>
        <p:spPr>
          <a:xfrm>
            <a:off x="6373368" y="4773168"/>
            <a:ext cx="5248656" cy="932688"/>
          </a:xfrm>
          <a:prstGeom prst="rect">
            <a:avLst/>
          </a:prstGeom>
          <a:noFill/>
          <a:ln/>
        </p:spPr>
        <p:txBody>
          <a:bodyPr wrap="square" lIns="0" tIns="0" rIns="0" bIns="0" rtlCol="0" anchor="t"/>
          <a:lstStyle/>
          <a:p>
            <a:pPr indent="0" marL="0">
              <a:lnSpc>
                <a:spcPct val="105000"/>
              </a:lnSpc>
              <a:buNone/>
            </a:pPr>
            <a:r>
              <a:rPr lang="en-US" sz="770" dirty="0">
                <a:solidFill>
                  <a:srgbClr val="1B2733"/>
                </a:solidFill>
                <a:latin typeface="Calibri" pitchFamily="34" charset="0"/>
                <a:ea typeface="Calibri" pitchFamily="34" charset="-122"/>
                <a:cs typeface="Calibri" pitchFamily="34" charset="-120"/>
              </a:rPr>
              <a:t>On the base case PLS accumulates cash rapidly once the P2000 build is funded. Left at a 30% payout the balance sheet would carry an implausible cash pile by the mid-2030s.</a:t>
            </a:r>
            <a:endParaRPr lang="en-US" sz="770" dirty="0"/>
          </a:p>
          <a:p>
            <a:pPr indent="0" marL="0">
              <a:lnSpc>
                <a:spcPct val="105000"/>
              </a:lnSpc>
              <a:buNone/>
            </a:pPr>
            <a:endParaRPr lang="en-US" sz="770" dirty="0"/>
          </a:p>
          <a:p>
            <a:pPr indent="0" marL="0">
              <a:lnSpc>
                <a:spcPct val="105000"/>
              </a:lnSpc>
              <a:buNone/>
            </a:pPr>
            <a:r>
              <a:rPr lang="en-US" sz="770" dirty="0">
                <a:solidFill>
                  <a:srgbClr val="1B2733"/>
                </a:solidFill>
                <a:latin typeface="Calibri" pitchFamily="34" charset="0"/>
                <a:ea typeface="Calibri" pitchFamily="34" charset="-122"/>
                <a:cs typeface="Calibri" pitchFamily="34" charset="-120"/>
              </a:rPr>
              <a:t>We therefore step the payout ratio to 50% from FY30. This has no effect on the DCF, which values the firm before financing decisions, but it keeps the balance sheet and the earnings-per-share path realistic. The company's stated policy is 20-30% of free cash flow with excess available for buybacks or growth.</a:t>
            </a:r>
            <a:endParaRPr lang="en-US" sz="770" dirty="0"/>
          </a:p>
        </p:txBody>
      </p:sp>
      <p:sp>
        <p:nvSpPr>
          <p:cNvPr id="349" name="Text 347"/>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Balance Sheet sheet. FY24A and FY25A balance sheets are not modelled; the DCF runs off the FY26A closing position.</a:t>
            </a:r>
            <a:endParaRPr lang="en-US" sz="720" dirty="0"/>
          </a:p>
        </p:txBody>
      </p:sp>
      <p:sp>
        <p:nvSpPr>
          <p:cNvPr id="350" name="Text 348"/>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E6</a:t>
            </a:r>
            <a:endParaRPr lang="en-US" sz="8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Free cash flow to the firm is the line the valuation actually uses. Everything below it is a financing choice.</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E7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788920" cy="256032"/>
          </a:xfrm>
          <a:prstGeom prst="rect">
            <a:avLst/>
          </a:prstGeom>
          <a:solidFill>
            <a:srgbClr val="10233A"/>
          </a:solidFill>
          <a:ln/>
        </p:spPr>
      </p:sp>
      <p:sp>
        <p:nvSpPr>
          <p:cNvPr id="8" name="Text 6"/>
          <p:cNvSpPr txBox="1"/>
          <p:nvPr/>
        </p:nvSpPr>
        <p:spPr>
          <a:xfrm>
            <a:off x="475488" y="1298448"/>
            <a:ext cx="2660904" cy="256032"/>
          </a:xfrm>
          <a:prstGeom prst="rect">
            <a:avLst/>
          </a:prstGeom>
          <a:noFill/>
          <a:ln/>
        </p:spPr>
        <p:txBody>
          <a:bodyPr wrap="square" lIns="0" tIns="0" rIns="0" bIns="0" rtlCol="0" anchor="ctr"/>
          <a:lstStyle/>
          <a:p>
            <a:pPr indent="0" marL="0">
              <a:buNone/>
            </a:pPr>
            <a:r>
              <a:rPr lang="en-US" sz="820" b="1" dirty="0">
                <a:solidFill>
                  <a:srgbClr val="FFFFFF"/>
                </a:solidFill>
                <a:latin typeface="Calibri" pitchFamily="34" charset="0"/>
                <a:ea typeface="Calibri" pitchFamily="34" charset="-122"/>
                <a:cs typeface="Calibri" pitchFamily="34" charset="-120"/>
              </a:rPr>
              <a:t>A$m</a:t>
            </a:r>
            <a:endParaRPr lang="en-US" sz="820" dirty="0"/>
          </a:p>
        </p:txBody>
      </p:sp>
      <p:sp>
        <p:nvSpPr>
          <p:cNvPr id="9" name="Shape 7"/>
          <p:cNvSpPr/>
          <p:nvPr/>
        </p:nvSpPr>
        <p:spPr>
          <a:xfrm>
            <a:off x="3200400" y="1298448"/>
            <a:ext cx="660478" cy="256032"/>
          </a:xfrm>
          <a:prstGeom prst="rect">
            <a:avLst/>
          </a:prstGeom>
          <a:solidFill>
            <a:srgbClr val="10233A"/>
          </a:solidFill>
          <a:ln/>
        </p:spPr>
      </p:sp>
      <p:sp>
        <p:nvSpPr>
          <p:cNvPr id="10" name="Text 8"/>
          <p:cNvSpPr txBox="1"/>
          <p:nvPr/>
        </p:nvSpPr>
        <p:spPr>
          <a:xfrm>
            <a:off x="3200400"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FY24A</a:t>
            </a:r>
            <a:endParaRPr lang="en-US" sz="760" dirty="0"/>
          </a:p>
        </p:txBody>
      </p:sp>
      <p:sp>
        <p:nvSpPr>
          <p:cNvPr id="11" name="Shape 9"/>
          <p:cNvSpPr/>
          <p:nvPr/>
        </p:nvSpPr>
        <p:spPr>
          <a:xfrm>
            <a:off x="3860878" y="1298448"/>
            <a:ext cx="660478" cy="256032"/>
          </a:xfrm>
          <a:prstGeom prst="rect">
            <a:avLst/>
          </a:prstGeom>
          <a:solidFill>
            <a:srgbClr val="10233A"/>
          </a:solidFill>
          <a:ln/>
        </p:spPr>
      </p:sp>
      <p:sp>
        <p:nvSpPr>
          <p:cNvPr id="12" name="Text 10"/>
          <p:cNvSpPr txBox="1"/>
          <p:nvPr/>
        </p:nvSpPr>
        <p:spPr>
          <a:xfrm>
            <a:off x="3860878"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FY25A</a:t>
            </a:r>
            <a:endParaRPr lang="en-US" sz="760" dirty="0"/>
          </a:p>
        </p:txBody>
      </p:sp>
      <p:sp>
        <p:nvSpPr>
          <p:cNvPr id="13" name="Shape 11"/>
          <p:cNvSpPr/>
          <p:nvPr/>
        </p:nvSpPr>
        <p:spPr>
          <a:xfrm>
            <a:off x="4521356" y="1298448"/>
            <a:ext cx="660478" cy="256032"/>
          </a:xfrm>
          <a:prstGeom prst="rect">
            <a:avLst/>
          </a:prstGeom>
          <a:solidFill>
            <a:srgbClr val="10233A"/>
          </a:solidFill>
          <a:ln/>
        </p:spPr>
      </p:sp>
      <p:sp>
        <p:nvSpPr>
          <p:cNvPr id="14" name="Text 12"/>
          <p:cNvSpPr txBox="1"/>
          <p:nvPr/>
        </p:nvSpPr>
        <p:spPr>
          <a:xfrm>
            <a:off x="4521356"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FY26A</a:t>
            </a:r>
            <a:endParaRPr lang="en-US" sz="760" dirty="0"/>
          </a:p>
        </p:txBody>
      </p:sp>
      <p:sp>
        <p:nvSpPr>
          <p:cNvPr id="15" name="Shape 13"/>
          <p:cNvSpPr/>
          <p:nvPr/>
        </p:nvSpPr>
        <p:spPr>
          <a:xfrm>
            <a:off x="5181834" y="1298448"/>
            <a:ext cx="660478" cy="256032"/>
          </a:xfrm>
          <a:prstGeom prst="rect">
            <a:avLst/>
          </a:prstGeom>
          <a:solidFill>
            <a:srgbClr val="10233A"/>
          </a:solidFill>
          <a:ln/>
        </p:spPr>
      </p:sp>
      <p:sp>
        <p:nvSpPr>
          <p:cNvPr id="16" name="Text 14"/>
          <p:cNvSpPr txBox="1"/>
          <p:nvPr/>
        </p:nvSpPr>
        <p:spPr>
          <a:xfrm>
            <a:off x="5181834"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FY27F</a:t>
            </a:r>
            <a:endParaRPr lang="en-US" sz="760" dirty="0"/>
          </a:p>
        </p:txBody>
      </p:sp>
      <p:sp>
        <p:nvSpPr>
          <p:cNvPr id="17" name="Shape 15"/>
          <p:cNvSpPr/>
          <p:nvPr/>
        </p:nvSpPr>
        <p:spPr>
          <a:xfrm>
            <a:off x="5842313" y="1298448"/>
            <a:ext cx="660478" cy="256032"/>
          </a:xfrm>
          <a:prstGeom prst="rect">
            <a:avLst/>
          </a:prstGeom>
          <a:solidFill>
            <a:srgbClr val="10233A"/>
          </a:solidFill>
          <a:ln/>
        </p:spPr>
      </p:sp>
      <p:sp>
        <p:nvSpPr>
          <p:cNvPr id="18" name="Text 16"/>
          <p:cNvSpPr txBox="1"/>
          <p:nvPr/>
        </p:nvSpPr>
        <p:spPr>
          <a:xfrm>
            <a:off x="5842313"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FY28F</a:t>
            </a:r>
            <a:endParaRPr lang="en-US" sz="760" dirty="0"/>
          </a:p>
        </p:txBody>
      </p:sp>
      <p:sp>
        <p:nvSpPr>
          <p:cNvPr id="19" name="Shape 17"/>
          <p:cNvSpPr/>
          <p:nvPr/>
        </p:nvSpPr>
        <p:spPr>
          <a:xfrm>
            <a:off x="6502791" y="1298448"/>
            <a:ext cx="660478" cy="256032"/>
          </a:xfrm>
          <a:prstGeom prst="rect">
            <a:avLst/>
          </a:prstGeom>
          <a:solidFill>
            <a:srgbClr val="10233A"/>
          </a:solidFill>
          <a:ln/>
        </p:spPr>
      </p:sp>
      <p:sp>
        <p:nvSpPr>
          <p:cNvPr id="20" name="Text 18"/>
          <p:cNvSpPr txBox="1"/>
          <p:nvPr/>
        </p:nvSpPr>
        <p:spPr>
          <a:xfrm>
            <a:off x="6502791"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FY29F</a:t>
            </a:r>
            <a:endParaRPr lang="en-US" sz="760" dirty="0"/>
          </a:p>
        </p:txBody>
      </p:sp>
      <p:sp>
        <p:nvSpPr>
          <p:cNvPr id="21" name="Shape 19"/>
          <p:cNvSpPr/>
          <p:nvPr/>
        </p:nvSpPr>
        <p:spPr>
          <a:xfrm>
            <a:off x="7163269" y="1298448"/>
            <a:ext cx="660478" cy="256032"/>
          </a:xfrm>
          <a:prstGeom prst="rect">
            <a:avLst/>
          </a:prstGeom>
          <a:solidFill>
            <a:srgbClr val="10233A"/>
          </a:solidFill>
          <a:ln/>
        </p:spPr>
      </p:sp>
      <p:sp>
        <p:nvSpPr>
          <p:cNvPr id="22" name="Text 20"/>
          <p:cNvSpPr txBox="1"/>
          <p:nvPr/>
        </p:nvSpPr>
        <p:spPr>
          <a:xfrm>
            <a:off x="7163269"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FY30F</a:t>
            </a:r>
            <a:endParaRPr lang="en-US" sz="760" dirty="0"/>
          </a:p>
        </p:txBody>
      </p:sp>
      <p:sp>
        <p:nvSpPr>
          <p:cNvPr id="23" name="Shape 21"/>
          <p:cNvSpPr/>
          <p:nvPr/>
        </p:nvSpPr>
        <p:spPr>
          <a:xfrm>
            <a:off x="7823747" y="1298448"/>
            <a:ext cx="660478" cy="256032"/>
          </a:xfrm>
          <a:prstGeom prst="rect">
            <a:avLst/>
          </a:prstGeom>
          <a:solidFill>
            <a:srgbClr val="10233A"/>
          </a:solidFill>
          <a:ln/>
        </p:spPr>
      </p:sp>
      <p:sp>
        <p:nvSpPr>
          <p:cNvPr id="24" name="Text 22"/>
          <p:cNvSpPr txBox="1"/>
          <p:nvPr/>
        </p:nvSpPr>
        <p:spPr>
          <a:xfrm>
            <a:off x="7823747"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FY31F</a:t>
            </a:r>
            <a:endParaRPr lang="en-US" sz="760" dirty="0"/>
          </a:p>
        </p:txBody>
      </p:sp>
      <p:sp>
        <p:nvSpPr>
          <p:cNvPr id="25" name="Shape 23"/>
          <p:cNvSpPr/>
          <p:nvPr/>
        </p:nvSpPr>
        <p:spPr>
          <a:xfrm>
            <a:off x="8484225" y="1298448"/>
            <a:ext cx="660478" cy="256032"/>
          </a:xfrm>
          <a:prstGeom prst="rect">
            <a:avLst/>
          </a:prstGeom>
          <a:solidFill>
            <a:srgbClr val="10233A"/>
          </a:solidFill>
          <a:ln/>
        </p:spPr>
      </p:sp>
      <p:sp>
        <p:nvSpPr>
          <p:cNvPr id="26" name="Text 24"/>
          <p:cNvSpPr txBox="1"/>
          <p:nvPr/>
        </p:nvSpPr>
        <p:spPr>
          <a:xfrm>
            <a:off x="8484225"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FY32F</a:t>
            </a:r>
            <a:endParaRPr lang="en-US" sz="760" dirty="0"/>
          </a:p>
        </p:txBody>
      </p:sp>
      <p:sp>
        <p:nvSpPr>
          <p:cNvPr id="27" name="Shape 25"/>
          <p:cNvSpPr/>
          <p:nvPr/>
        </p:nvSpPr>
        <p:spPr>
          <a:xfrm>
            <a:off x="9144703" y="1298448"/>
            <a:ext cx="660478" cy="256032"/>
          </a:xfrm>
          <a:prstGeom prst="rect">
            <a:avLst/>
          </a:prstGeom>
          <a:solidFill>
            <a:srgbClr val="10233A"/>
          </a:solidFill>
          <a:ln/>
        </p:spPr>
      </p:sp>
      <p:sp>
        <p:nvSpPr>
          <p:cNvPr id="28" name="Text 26"/>
          <p:cNvSpPr txBox="1"/>
          <p:nvPr/>
        </p:nvSpPr>
        <p:spPr>
          <a:xfrm>
            <a:off x="9144703"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FY33F</a:t>
            </a:r>
            <a:endParaRPr lang="en-US" sz="760" dirty="0"/>
          </a:p>
        </p:txBody>
      </p:sp>
      <p:sp>
        <p:nvSpPr>
          <p:cNvPr id="29" name="Shape 27"/>
          <p:cNvSpPr/>
          <p:nvPr/>
        </p:nvSpPr>
        <p:spPr>
          <a:xfrm>
            <a:off x="9805182" y="1298448"/>
            <a:ext cx="660478" cy="256032"/>
          </a:xfrm>
          <a:prstGeom prst="rect">
            <a:avLst/>
          </a:prstGeom>
          <a:solidFill>
            <a:srgbClr val="10233A"/>
          </a:solidFill>
          <a:ln/>
        </p:spPr>
      </p:sp>
      <p:sp>
        <p:nvSpPr>
          <p:cNvPr id="30" name="Text 28"/>
          <p:cNvSpPr txBox="1"/>
          <p:nvPr/>
        </p:nvSpPr>
        <p:spPr>
          <a:xfrm>
            <a:off x="9805182"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FY34F</a:t>
            </a:r>
            <a:endParaRPr lang="en-US" sz="760" dirty="0"/>
          </a:p>
        </p:txBody>
      </p:sp>
      <p:sp>
        <p:nvSpPr>
          <p:cNvPr id="31" name="Shape 29"/>
          <p:cNvSpPr/>
          <p:nvPr/>
        </p:nvSpPr>
        <p:spPr>
          <a:xfrm>
            <a:off x="10465660" y="1298448"/>
            <a:ext cx="660478" cy="256032"/>
          </a:xfrm>
          <a:prstGeom prst="rect">
            <a:avLst/>
          </a:prstGeom>
          <a:solidFill>
            <a:srgbClr val="10233A"/>
          </a:solidFill>
          <a:ln/>
        </p:spPr>
      </p:sp>
      <p:sp>
        <p:nvSpPr>
          <p:cNvPr id="32" name="Text 30"/>
          <p:cNvSpPr txBox="1"/>
          <p:nvPr/>
        </p:nvSpPr>
        <p:spPr>
          <a:xfrm>
            <a:off x="10465660"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FY35F</a:t>
            </a:r>
            <a:endParaRPr lang="en-US" sz="760" dirty="0"/>
          </a:p>
        </p:txBody>
      </p:sp>
      <p:sp>
        <p:nvSpPr>
          <p:cNvPr id="33" name="Shape 31"/>
          <p:cNvSpPr/>
          <p:nvPr/>
        </p:nvSpPr>
        <p:spPr>
          <a:xfrm>
            <a:off x="11126138" y="1298448"/>
            <a:ext cx="660478" cy="256032"/>
          </a:xfrm>
          <a:prstGeom prst="rect">
            <a:avLst/>
          </a:prstGeom>
          <a:solidFill>
            <a:srgbClr val="10233A"/>
          </a:solidFill>
          <a:ln/>
        </p:spPr>
      </p:sp>
      <p:sp>
        <p:nvSpPr>
          <p:cNvPr id="34" name="Text 32"/>
          <p:cNvSpPr txBox="1"/>
          <p:nvPr/>
        </p:nvSpPr>
        <p:spPr>
          <a:xfrm>
            <a:off x="11126138"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FY36F</a:t>
            </a:r>
            <a:endParaRPr lang="en-US" sz="760" dirty="0"/>
          </a:p>
        </p:txBody>
      </p:sp>
      <p:sp>
        <p:nvSpPr>
          <p:cNvPr id="35" name="Shape 33"/>
          <p:cNvSpPr/>
          <p:nvPr/>
        </p:nvSpPr>
        <p:spPr>
          <a:xfrm>
            <a:off x="411480" y="1554480"/>
            <a:ext cx="2788920" cy="246888"/>
          </a:xfrm>
          <a:prstGeom prst="rect">
            <a:avLst/>
          </a:prstGeom>
          <a:solidFill>
            <a:srgbClr val="FFFFFF"/>
          </a:solidFill>
          <a:ln w="5080">
            <a:solidFill>
              <a:srgbClr val="D3DCE5"/>
            </a:solidFill>
            <a:prstDash val="solid"/>
          </a:ln>
        </p:spPr>
      </p:sp>
      <p:sp>
        <p:nvSpPr>
          <p:cNvPr id="36" name="Text 34"/>
          <p:cNvSpPr txBox="1"/>
          <p:nvPr/>
        </p:nvSpPr>
        <p:spPr>
          <a:xfrm>
            <a:off x="475488" y="1554480"/>
            <a:ext cx="2660904" cy="246888"/>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EBITDA</a:t>
            </a:r>
            <a:endParaRPr lang="en-US" sz="780" dirty="0"/>
          </a:p>
        </p:txBody>
      </p:sp>
      <p:sp>
        <p:nvSpPr>
          <p:cNvPr id="37" name="Shape 35"/>
          <p:cNvSpPr/>
          <p:nvPr/>
        </p:nvSpPr>
        <p:spPr>
          <a:xfrm>
            <a:off x="3200400" y="1554480"/>
            <a:ext cx="660478" cy="246888"/>
          </a:xfrm>
          <a:prstGeom prst="rect">
            <a:avLst/>
          </a:prstGeom>
          <a:solidFill>
            <a:srgbClr val="FFFFFF"/>
          </a:solidFill>
          <a:ln w="5080">
            <a:solidFill>
              <a:srgbClr val="D3DCE5"/>
            </a:solidFill>
            <a:prstDash val="solid"/>
          </a:ln>
        </p:spPr>
      </p:sp>
      <p:sp>
        <p:nvSpPr>
          <p:cNvPr id="38" name="Text 36"/>
          <p:cNvSpPr txBox="1"/>
          <p:nvPr/>
        </p:nvSpPr>
        <p:spPr>
          <a:xfrm>
            <a:off x="3200400" y="1554480"/>
            <a:ext cx="614758" cy="246888"/>
          </a:xfrm>
          <a:prstGeom prst="rect">
            <a:avLst/>
          </a:prstGeom>
          <a:noFill/>
          <a:ln/>
        </p:spPr>
        <p:txBody>
          <a:bodyPr wrap="square" lIns="0" tIns="0" rIns="0" bIns="0" rtlCol="0" anchor="ctr"/>
          <a:lstStyle/>
          <a:p>
            <a:pPr algn="r" indent="0" marL="0">
              <a:buNone/>
            </a:pPr>
            <a:endParaRPr lang="en-US" sz="760" dirty="0"/>
          </a:p>
        </p:txBody>
      </p:sp>
      <p:sp>
        <p:nvSpPr>
          <p:cNvPr id="39" name="Shape 37"/>
          <p:cNvSpPr/>
          <p:nvPr/>
        </p:nvSpPr>
        <p:spPr>
          <a:xfrm>
            <a:off x="3860878" y="1554480"/>
            <a:ext cx="660478" cy="246888"/>
          </a:xfrm>
          <a:prstGeom prst="rect">
            <a:avLst/>
          </a:prstGeom>
          <a:solidFill>
            <a:srgbClr val="FFFFFF"/>
          </a:solidFill>
          <a:ln w="5080">
            <a:solidFill>
              <a:srgbClr val="D3DCE5"/>
            </a:solidFill>
            <a:prstDash val="solid"/>
          </a:ln>
        </p:spPr>
      </p:sp>
      <p:sp>
        <p:nvSpPr>
          <p:cNvPr id="40" name="Text 38"/>
          <p:cNvSpPr txBox="1"/>
          <p:nvPr/>
        </p:nvSpPr>
        <p:spPr>
          <a:xfrm>
            <a:off x="3860878" y="1554480"/>
            <a:ext cx="614758" cy="246888"/>
          </a:xfrm>
          <a:prstGeom prst="rect">
            <a:avLst/>
          </a:prstGeom>
          <a:noFill/>
          <a:ln/>
        </p:spPr>
        <p:txBody>
          <a:bodyPr wrap="square" lIns="0" tIns="0" rIns="0" bIns="0" rtlCol="0" anchor="ctr"/>
          <a:lstStyle/>
          <a:p>
            <a:pPr algn="r" indent="0" marL="0">
              <a:buNone/>
            </a:pPr>
            <a:endParaRPr lang="en-US" sz="760" dirty="0"/>
          </a:p>
        </p:txBody>
      </p:sp>
      <p:sp>
        <p:nvSpPr>
          <p:cNvPr id="41" name="Shape 39"/>
          <p:cNvSpPr/>
          <p:nvPr/>
        </p:nvSpPr>
        <p:spPr>
          <a:xfrm>
            <a:off x="4521356" y="1554480"/>
            <a:ext cx="660478" cy="246888"/>
          </a:xfrm>
          <a:prstGeom prst="rect">
            <a:avLst/>
          </a:prstGeom>
          <a:solidFill>
            <a:srgbClr val="FFFFFF"/>
          </a:solidFill>
          <a:ln w="5080">
            <a:solidFill>
              <a:srgbClr val="D3DCE5"/>
            </a:solidFill>
            <a:prstDash val="solid"/>
          </a:ln>
        </p:spPr>
      </p:sp>
      <p:sp>
        <p:nvSpPr>
          <p:cNvPr id="42" name="Text 40"/>
          <p:cNvSpPr txBox="1"/>
          <p:nvPr/>
        </p:nvSpPr>
        <p:spPr>
          <a:xfrm>
            <a:off x="4521356"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1,137</a:t>
            </a:r>
            <a:endParaRPr lang="en-US" sz="760" dirty="0"/>
          </a:p>
        </p:txBody>
      </p:sp>
      <p:sp>
        <p:nvSpPr>
          <p:cNvPr id="43" name="Shape 41"/>
          <p:cNvSpPr/>
          <p:nvPr/>
        </p:nvSpPr>
        <p:spPr>
          <a:xfrm>
            <a:off x="5181834" y="1554480"/>
            <a:ext cx="660478" cy="246888"/>
          </a:xfrm>
          <a:prstGeom prst="rect">
            <a:avLst/>
          </a:prstGeom>
          <a:solidFill>
            <a:srgbClr val="FFFFFF"/>
          </a:solidFill>
          <a:ln w="5080">
            <a:solidFill>
              <a:srgbClr val="D3DCE5"/>
            </a:solidFill>
            <a:prstDash val="solid"/>
          </a:ln>
        </p:spPr>
      </p:sp>
      <p:sp>
        <p:nvSpPr>
          <p:cNvPr id="44" name="Text 42"/>
          <p:cNvSpPr txBox="1"/>
          <p:nvPr/>
        </p:nvSpPr>
        <p:spPr>
          <a:xfrm>
            <a:off x="5181834"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1,731</a:t>
            </a:r>
            <a:endParaRPr lang="en-US" sz="760" dirty="0"/>
          </a:p>
        </p:txBody>
      </p:sp>
      <p:sp>
        <p:nvSpPr>
          <p:cNvPr id="45" name="Shape 43"/>
          <p:cNvSpPr/>
          <p:nvPr/>
        </p:nvSpPr>
        <p:spPr>
          <a:xfrm>
            <a:off x="5842313" y="1554480"/>
            <a:ext cx="660478" cy="246888"/>
          </a:xfrm>
          <a:prstGeom prst="rect">
            <a:avLst/>
          </a:prstGeom>
          <a:solidFill>
            <a:srgbClr val="FFFFFF"/>
          </a:solidFill>
          <a:ln w="5080">
            <a:solidFill>
              <a:srgbClr val="D3DCE5"/>
            </a:solidFill>
            <a:prstDash val="solid"/>
          </a:ln>
        </p:spPr>
      </p:sp>
      <p:sp>
        <p:nvSpPr>
          <p:cNvPr id="46" name="Text 44"/>
          <p:cNvSpPr txBox="1"/>
          <p:nvPr/>
        </p:nvSpPr>
        <p:spPr>
          <a:xfrm>
            <a:off x="5842313"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1,907</a:t>
            </a:r>
            <a:endParaRPr lang="en-US" sz="760" dirty="0"/>
          </a:p>
        </p:txBody>
      </p:sp>
      <p:sp>
        <p:nvSpPr>
          <p:cNvPr id="47" name="Shape 45"/>
          <p:cNvSpPr/>
          <p:nvPr/>
        </p:nvSpPr>
        <p:spPr>
          <a:xfrm>
            <a:off x="6502791" y="1554480"/>
            <a:ext cx="660478" cy="246888"/>
          </a:xfrm>
          <a:prstGeom prst="rect">
            <a:avLst/>
          </a:prstGeom>
          <a:solidFill>
            <a:srgbClr val="FFFFFF"/>
          </a:solidFill>
          <a:ln w="5080">
            <a:solidFill>
              <a:srgbClr val="D3DCE5"/>
            </a:solidFill>
            <a:prstDash val="solid"/>
          </a:ln>
        </p:spPr>
      </p:sp>
      <p:sp>
        <p:nvSpPr>
          <p:cNvPr id="48" name="Text 46"/>
          <p:cNvSpPr txBox="1"/>
          <p:nvPr/>
        </p:nvSpPr>
        <p:spPr>
          <a:xfrm>
            <a:off x="6502791"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1,974</a:t>
            </a:r>
            <a:endParaRPr lang="en-US" sz="760" dirty="0"/>
          </a:p>
        </p:txBody>
      </p:sp>
      <p:sp>
        <p:nvSpPr>
          <p:cNvPr id="49" name="Shape 47"/>
          <p:cNvSpPr/>
          <p:nvPr/>
        </p:nvSpPr>
        <p:spPr>
          <a:xfrm>
            <a:off x="7163269" y="1554480"/>
            <a:ext cx="660478" cy="246888"/>
          </a:xfrm>
          <a:prstGeom prst="rect">
            <a:avLst/>
          </a:prstGeom>
          <a:solidFill>
            <a:srgbClr val="FFFFFF"/>
          </a:solidFill>
          <a:ln w="5080">
            <a:solidFill>
              <a:srgbClr val="D3DCE5"/>
            </a:solidFill>
            <a:prstDash val="solid"/>
          </a:ln>
        </p:spPr>
      </p:sp>
      <p:sp>
        <p:nvSpPr>
          <p:cNvPr id="50" name="Text 48"/>
          <p:cNvSpPr txBox="1"/>
          <p:nvPr/>
        </p:nvSpPr>
        <p:spPr>
          <a:xfrm>
            <a:off x="7163269"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2,306</a:t>
            </a:r>
            <a:endParaRPr lang="en-US" sz="760" dirty="0"/>
          </a:p>
        </p:txBody>
      </p:sp>
      <p:sp>
        <p:nvSpPr>
          <p:cNvPr id="51" name="Shape 49"/>
          <p:cNvSpPr/>
          <p:nvPr/>
        </p:nvSpPr>
        <p:spPr>
          <a:xfrm>
            <a:off x="7823747" y="1554480"/>
            <a:ext cx="660478" cy="246888"/>
          </a:xfrm>
          <a:prstGeom prst="rect">
            <a:avLst/>
          </a:prstGeom>
          <a:solidFill>
            <a:srgbClr val="FFFFFF"/>
          </a:solidFill>
          <a:ln w="5080">
            <a:solidFill>
              <a:srgbClr val="D3DCE5"/>
            </a:solidFill>
            <a:prstDash val="solid"/>
          </a:ln>
        </p:spPr>
      </p:sp>
      <p:sp>
        <p:nvSpPr>
          <p:cNvPr id="52" name="Text 50"/>
          <p:cNvSpPr txBox="1"/>
          <p:nvPr/>
        </p:nvSpPr>
        <p:spPr>
          <a:xfrm>
            <a:off x="7823747"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2,687</a:t>
            </a:r>
            <a:endParaRPr lang="en-US" sz="760" dirty="0"/>
          </a:p>
        </p:txBody>
      </p:sp>
      <p:sp>
        <p:nvSpPr>
          <p:cNvPr id="53" name="Shape 51"/>
          <p:cNvSpPr/>
          <p:nvPr/>
        </p:nvSpPr>
        <p:spPr>
          <a:xfrm>
            <a:off x="8484225" y="1554480"/>
            <a:ext cx="660478" cy="246888"/>
          </a:xfrm>
          <a:prstGeom prst="rect">
            <a:avLst/>
          </a:prstGeom>
          <a:solidFill>
            <a:srgbClr val="FFFFFF"/>
          </a:solidFill>
          <a:ln w="5080">
            <a:solidFill>
              <a:srgbClr val="D3DCE5"/>
            </a:solidFill>
            <a:prstDash val="solid"/>
          </a:ln>
        </p:spPr>
      </p:sp>
      <p:sp>
        <p:nvSpPr>
          <p:cNvPr id="54" name="Text 52"/>
          <p:cNvSpPr txBox="1"/>
          <p:nvPr/>
        </p:nvSpPr>
        <p:spPr>
          <a:xfrm>
            <a:off x="8484225"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3,365</a:t>
            </a:r>
            <a:endParaRPr lang="en-US" sz="760" dirty="0"/>
          </a:p>
        </p:txBody>
      </p:sp>
      <p:sp>
        <p:nvSpPr>
          <p:cNvPr id="55" name="Shape 53"/>
          <p:cNvSpPr/>
          <p:nvPr/>
        </p:nvSpPr>
        <p:spPr>
          <a:xfrm>
            <a:off x="9144703" y="1554480"/>
            <a:ext cx="660478" cy="246888"/>
          </a:xfrm>
          <a:prstGeom prst="rect">
            <a:avLst/>
          </a:prstGeom>
          <a:solidFill>
            <a:srgbClr val="FFFFFF"/>
          </a:solidFill>
          <a:ln w="5080">
            <a:solidFill>
              <a:srgbClr val="D3DCE5"/>
            </a:solidFill>
            <a:prstDash val="solid"/>
          </a:ln>
        </p:spPr>
      </p:sp>
      <p:sp>
        <p:nvSpPr>
          <p:cNvPr id="56" name="Text 54"/>
          <p:cNvSpPr txBox="1"/>
          <p:nvPr/>
        </p:nvSpPr>
        <p:spPr>
          <a:xfrm>
            <a:off x="9144703"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3,842</a:t>
            </a:r>
            <a:endParaRPr lang="en-US" sz="760" dirty="0"/>
          </a:p>
        </p:txBody>
      </p:sp>
      <p:sp>
        <p:nvSpPr>
          <p:cNvPr id="57" name="Shape 55"/>
          <p:cNvSpPr/>
          <p:nvPr/>
        </p:nvSpPr>
        <p:spPr>
          <a:xfrm>
            <a:off x="9805182" y="1554480"/>
            <a:ext cx="660478" cy="246888"/>
          </a:xfrm>
          <a:prstGeom prst="rect">
            <a:avLst/>
          </a:prstGeom>
          <a:solidFill>
            <a:srgbClr val="FFFFFF"/>
          </a:solidFill>
          <a:ln w="5080">
            <a:solidFill>
              <a:srgbClr val="D3DCE5"/>
            </a:solidFill>
            <a:prstDash val="solid"/>
          </a:ln>
        </p:spPr>
      </p:sp>
      <p:sp>
        <p:nvSpPr>
          <p:cNvPr id="58" name="Text 56"/>
          <p:cNvSpPr txBox="1"/>
          <p:nvPr/>
        </p:nvSpPr>
        <p:spPr>
          <a:xfrm>
            <a:off x="9805182"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4,024</a:t>
            </a:r>
            <a:endParaRPr lang="en-US" sz="760" dirty="0"/>
          </a:p>
        </p:txBody>
      </p:sp>
      <p:sp>
        <p:nvSpPr>
          <p:cNvPr id="59" name="Shape 57"/>
          <p:cNvSpPr/>
          <p:nvPr/>
        </p:nvSpPr>
        <p:spPr>
          <a:xfrm>
            <a:off x="10465660" y="1554480"/>
            <a:ext cx="660478" cy="246888"/>
          </a:xfrm>
          <a:prstGeom prst="rect">
            <a:avLst/>
          </a:prstGeom>
          <a:solidFill>
            <a:srgbClr val="FFFFFF"/>
          </a:solidFill>
          <a:ln w="5080">
            <a:solidFill>
              <a:srgbClr val="D3DCE5"/>
            </a:solidFill>
            <a:prstDash val="solid"/>
          </a:ln>
        </p:spPr>
      </p:sp>
      <p:sp>
        <p:nvSpPr>
          <p:cNvPr id="60" name="Text 58"/>
          <p:cNvSpPr txBox="1"/>
          <p:nvPr/>
        </p:nvSpPr>
        <p:spPr>
          <a:xfrm>
            <a:off x="10465660"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4,089</a:t>
            </a:r>
            <a:endParaRPr lang="en-US" sz="760" dirty="0"/>
          </a:p>
        </p:txBody>
      </p:sp>
      <p:sp>
        <p:nvSpPr>
          <p:cNvPr id="61" name="Shape 59"/>
          <p:cNvSpPr/>
          <p:nvPr/>
        </p:nvSpPr>
        <p:spPr>
          <a:xfrm>
            <a:off x="11126138" y="1554480"/>
            <a:ext cx="660478" cy="246888"/>
          </a:xfrm>
          <a:prstGeom prst="rect">
            <a:avLst/>
          </a:prstGeom>
          <a:solidFill>
            <a:srgbClr val="FFFFFF"/>
          </a:solidFill>
          <a:ln w="5080">
            <a:solidFill>
              <a:srgbClr val="D3DCE5"/>
            </a:solidFill>
            <a:prstDash val="solid"/>
          </a:ln>
        </p:spPr>
      </p:sp>
      <p:sp>
        <p:nvSpPr>
          <p:cNvPr id="62" name="Text 60"/>
          <p:cNvSpPr txBox="1"/>
          <p:nvPr/>
        </p:nvSpPr>
        <p:spPr>
          <a:xfrm>
            <a:off x="11126138" y="1554480"/>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4,086</a:t>
            </a:r>
            <a:endParaRPr lang="en-US" sz="760" dirty="0"/>
          </a:p>
        </p:txBody>
      </p:sp>
      <p:sp>
        <p:nvSpPr>
          <p:cNvPr id="63" name="Shape 61"/>
          <p:cNvSpPr/>
          <p:nvPr/>
        </p:nvSpPr>
        <p:spPr>
          <a:xfrm>
            <a:off x="411480" y="1801368"/>
            <a:ext cx="2788920" cy="246888"/>
          </a:xfrm>
          <a:prstGeom prst="rect">
            <a:avLst/>
          </a:prstGeom>
          <a:solidFill>
            <a:srgbClr val="F7F9FB"/>
          </a:solidFill>
          <a:ln w="5080">
            <a:solidFill>
              <a:srgbClr val="D3DCE5"/>
            </a:solidFill>
            <a:prstDash val="solid"/>
          </a:ln>
        </p:spPr>
      </p:sp>
      <p:sp>
        <p:nvSpPr>
          <p:cNvPr id="64" name="Text 62"/>
          <p:cNvSpPr txBox="1"/>
          <p:nvPr/>
        </p:nvSpPr>
        <p:spPr>
          <a:xfrm>
            <a:off x="475488" y="1801368"/>
            <a:ext cx="2660904" cy="24688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Net interest received / (paid)</a:t>
            </a:r>
            <a:endParaRPr lang="en-US" sz="780" dirty="0"/>
          </a:p>
        </p:txBody>
      </p:sp>
      <p:sp>
        <p:nvSpPr>
          <p:cNvPr id="65" name="Shape 63"/>
          <p:cNvSpPr/>
          <p:nvPr/>
        </p:nvSpPr>
        <p:spPr>
          <a:xfrm>
            <a:off x="3200400" y="1801368"/>
            <a:ext cx="660478" cy="246888"/>
          </a:xfrm>
          <a:prstGeom prst="rect">
            <a:avLst/>
          </a:prstGeom>
          <a:solidFill>
            <a:srgbClr val="F7F9FB"/>
          </a:solidFill>
          <a:ln w="5080">
            <a:solidFill>
              <a:srgbClr val="D3DCE5"/>
            </a:solidFill>
            <a:prstDash val="solid"/>
          </a:ln>
        </p:spPr>
      </p:sp>
      <p:sp>
        <p:nvSpPr>
          <p:cNvPr id="66" name="Text 64"/>
          <p:cNvSpPr txBox="1"/>
          <p:nvPr/>
        </p:nvSpPr>
        <p:spPr>
          <a:xfrm>
            <a:off x="3200400" y="1801368"/>
            <a:ext cx="614758" cy="246888"/>
          </a:xfrm>
          <a:prstGeom prst="rect">
            <a:avLst/>
          </a:prstGeom>
          <a:noFill/>
          <a:ln/>
        </p:spPr>
        <p:txBody>
          <a:bodyPr wrap="square" lIns="0" tIns="0" rIns="0" bIns="0" rtlCol="0" anchor="ctr"/>
          <a:lstStyle/>
          <a:p>
            <a:pPr algn="r" indent="0" marL="0">
              <a:buNone/>
            </a:pPr>
            <a:endParaRPr lang="en-US" sz="760" dirty="0"/>
          </a:p>
        </p:txBody>
      </p:sp>
      <p:sp>
        <p:nvSpPr>
          <p:cNvPr id="67" name="Shape 65"/>
          <p:cNvSpPr/>
          <p:nvPr/>
        </p:nvSpPr>
        <p:spPr>
          <a:xfrm>
            <a:off x="3860878" y="1801368"/>
            <a:ext cx="660478" cy="246888"/>
          </a:xfrm>
          <a:prstGeom prst="rect">
            <a:avLst/>
          </a:prstGeom>
          <a:solidFill>
            <a:srgbClr val="F7F9FB"/>
          </a:solidFill>
          <a:ln w="5080">
            <a:solidFill>
              <a:srgbClr val="D3DCE5"/>
            </a:solidFill>
            <a:prstDash val="solid"/>
          </a:ln>
        </p:spPr>
      </p:sp>
      <p:sp>
        <p:nvSpPr>
          <p:cNvPr id="68" name="Text 66"/>
          <p:cNvSpPr txBox="1"/>
          <p:nvPr/>
        </p:nvSpPr>
        <p:spPr>
          <a:xfrm>
            <a:off x="3860878" y="1801368"/>
            <a:ext cx="614758" cy="246888"/>
          </a:xfrm>
          <a:prstGeom prst="rect">
            <a:avLst/>
          </a:prstGeom>
          <a:noFill/>
          <a:ln/>
        </p:spPr>
        <p:txBody>
          <a:bodyPr wrap="square" lIns="0" tIns="0" rIns="0" bIns="0" rtlCol="0" anchor="ctr"/>
          <a:lstStyle/>
          <a:p>
            <a:pPr algn="r" indent="0" marL="0">
              <a:buNone/>
            </a:pPr>
            <a:endParaRPr lang="en-US" sz="760" dirty="0"/>
          </a:p>
        </p:txBody>
      </p:sp>
      <p:sp>
        <p:nvSpPr>
          <p:cNvPr id="69" name="Shape 67"/>
          <p:cNvSpPr/>
          <p:nvPr/>
        </p:nvSpPr>
        <p:spPr>
          <a:xfrm>
            <a:off x="4521356" y="1801368"/>
            <a:ext cx="660478" cy="246888"/>
          </a:xfrm>
          <a:prstGeom prst="rect">
            <a:avLst/>
          </a:prstGeom>
          <a:solidFill>
            <a:srgbClr val="F7F9FB"/>
          </a:solidFill>
          <a:ln w="5080">
            <a:solidFill>
              <a:srgbClr val="D3DCE5"/>
            </a:solidFill>
            <a:prstDash val="solid"/>
          </a:ln>
        </p:spPr>
      </p:sp>
      <p:sp>
        <p:nvSpPr>
          <p:cNvPr id="70" name="Text 68"/>
          <p:cNvSpPr txBox="1"/>
          <p:nvPr/>
        </p:nvSpPr>
        <p:spPr>
          <a:xfrm>
            <a:off x="4521356" y="1801368"/>
            <a:ext cx="614758" cy="246888"/>
          </a:xfrm>
          <a:prstGeom prst="rect">
            <a:avLst/>
          </a:prstGeom>
          <a:noFill/>
          <a:ln/>
        </p:spPr>
        <p:txBody>
          <a:bodyPr wrap="square" lIns="0" tIns="0" rIns="0" bIns="0" rtlCol="0" anchor="ctr"/>
          <a:lstStyle/>
          <a:p>
            <a:pPr algn="r" indent="0" marL="0">
              <a:buNone/>
            </a:pPr>
            <a:endParaRPr lang="en-US" sz="760" dirty="0"/>
          </a:p>
        </p:txBody>
      </p:sp>
      <p:sp>
        <p:nvSpPr>
          <p:cNvPr id="71" name="Shape 69"/>
          <p:cNvSpPr/>
          <p:nvPr/>
        </p:nvSpPr>
        <p:spPr>
          <a:xfrm>
            <a:off x="5181834" y="1801368"/>
            <a:ext cx="660478" cy="246888"/>
          </a:xfrm>
          <a:prstGeom prst="rect">
            <a:avLst/>
          </a:prstGeom>
          <a:solidFill>
            <a:srgbClr val="F7F9FB"/>
          </a:solidFill>
          <a:ln w="5080">
            <a:solidFill>
              <a:srgbClr val="D3DCE5"/>
            </a:solidFill>
            <a:prstDash val="solid"/>
          </a:ln>
        </p:spPr>
      </p:sp>
      <p:sp>
        <p:nvSpPr>
          <p:cNvPr id="72" name="Text 70"/>
          <p:cNvSpPr txBox="1"/>
          <p:nvPr/>
        </p:nvSpPr>
        <p:spPr>
          <a:xfrm>
            <a:off x="5181834" y="1801368"/>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40</a:t>
            </a:r>
            <a:endParaRPr lang="en-US" sz="760" dirty="0"/>
          </a:p>
        </p:txBody>
      </p:sp>
      <p:sp>
        <p:nvSpPr>
          <p:cNvPr id="73" name="Shape 71"/>
          <p:cNvSpPr/>
          <p:nvPr/>
        </p:nvSpPr>
        <p:spPr>
          <a:xfrm>
            <a:off x="5842313" y="1801368"/>
            <a:ext cx="660478" cy="246888"/>
          </a:xfrm>
          <a:prstGeom prst="rect">
            <a:avLst/>
          </a:prstGeom>
          <a:solidFill>
            <a:srgbClr val="F7F9FB"/>
          </a:solidFill>
          <a:ln w="5080">
            <a:solidFill>
              <a:srgbClr val="D3DCE5"/>
            </a:solidFill>
            <a:prstDash val="solid"/>
          </a:ln>
        </p:spPr>
      </p:sp>
      <p:sp>
        <p:nvSpPr>
          <p:cNvPr id="74" name="Text 72"/>
          <p:cNvSpPr txBox="1"/>
          <p:nvPr/>
        </p:nvSpPr>
        <p:spPr>
          <a:xfrm>
            <a:off x="5842313" y="1801368"/>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54</a:t>
            </a:r>
            <a:endParaRPr lang="en-US" sz="760" dirty="0"/>
          </a:p>
        </p:txBody>
      </p:sp>
      <p:sp>
        <p:nvSpPr>
          <p:cNvPr id="75" name="Shape 73"/>
          <p:cNvSpPr/>
          <p:nvPr/>
        </p:nvSpPr>
        <p:spPr>
          <a:xfrm>
            <a:off x="6502791" y="1801368"/>
            <a:ext cx="660478" cy="246888"/>
          </a:xfrm>
          <a:prstGeom prst="rect">
            <a:avLst/>
          </a:prstGeom>
          <a:solidFill>
            <a:srgbClr val="F7F9FB"/>
          </a:solidFill>
          <a:ln w="5080">
            <a:solidFill>
              <a:srgbClr val="D3DCE5"/>
            </a:solidFill>
            <a:prstDash val="solid"/>
          </a:ln>
        </p:spPr>
      </p:sp>
      <p:sp>
        <p:nvSpPr>
          <p:cNvPr id="76" name="Text 74"/>
          <p:cNvSpPr txBox="1"/>
          <p:nvPr/>
        </p:nvSpPr>
        <p:spPr>
          <a:xfrm>
            <a:off x="6502791" y="1801368"/>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65</a:t>
            </a:r>
            <a:endParaRPr lang="en-US" sz="760" dirty="0"/>
          </a:p>
        </p:txBody>
      </p:sp>
      <p:sp>
        <p:nvSpPr>
          <p:cNvPr id="77" name="Shape 75"/>
          <p:cNvSpPr/>
          <p:nvPr/>
        </p:nvSpPr>
        <p:spPr>
          <a:xfrm>
            <a:off x="7163269" y="1801368"/>
            <a:ext cx="660478" cy="246888"/>
          </a:xfrm>
          <a:prstGeom prst="rect">
            <a:avLst/>
          </a:prstGeom>
          <a:solidFill>
            <a:srgbClr val="F7F9FB"/>
          </a:solidFill>
          <a:ln w="5080">
            <a:solidFill>
              <a:srgbClr val="D3DCE5"/>
            </a:solidFill>
            <a:prstDash val="solid"/>
          </a:ln>
        </p:spPr>
      </p:sp>
      <p:sp>
        <p:nvSpPr>
          <p:cNvPr id="78" name="Text 76"/>
          <p:cNvSpPr txBox="1"/>
          <p:nvPr/>
        </p:nvSpPr>
        <p:spPr>
          <a:xfrm>
            <a:off x="7163269" y="1801368"/>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73</a:t>
            </a:r>
            <a:endParaRPr lang="en-US" sz="760" dirty="0"/>
          </a:p>
        </p:txBody>
      </p:sp>
      <p:sp>
        <p:nvSpPr>
          <p:cNvPr id="79" name="Shape 77"/>
          <p:cNvSpPr/>
          <p:nvPr/>
        </p:nvSpPr>
        <p:spPr>
          <a:xfrm>
            <a:off x="7823747" y="1801368"/>
            <a:ext cx="660478" cy="246888"/>
          </a:xfrm>
          <a:prstGeom prst="rect">
            <a:avLst/>
          </a:prstGeom>
          <a:solidFill>
            <a:srgbClr val="F7F9FB"/>
          </a:solidFill>
          <a:ln w="5080">
            <a:solidFill>
              <a:srgbClr val="D3DCE5"/>
            </a:solidFill>
            <a:prstDash val="solid"/>
          </a:ln>
        </p:spPr>
      </p:sp>
      <p:sp>
        <p:nvSpPr>
          <p:cNvPr id="80" name="Text 78"/>
          <p:cNvSpPr txBox="1"/>
          <p:nvPr/>
        </p:nvSpPr>
        <p:spPr>
          <a:xfrm>
            <a:off x="7823747" y="1801368"/>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88</a:t>
            </a:r>
            <a:endParaRPr lang="en-US" sz="760" dirty="0"/>
          </a:p>
        </p:txBody>
      </p:sp>
      <p:sp>
        <p:nvSpPr>
          <p:cNvPr id="81" name="Shape 79"/>
          <p:cNvSpPr/>
          <p:nvPr/>
        </p:nvSpPr>
        <p:spPr>
          <a:xfrm>
            <a:off x="8484225" y="1801368"/>
            <a:ext cx="660478" cy="246888"/>
          </a:xfrm>
          <a:prstGeom prst="rect">
            <a:avLst/>
          </a:prstGeom>
          <a:solidFill>
            <a:srgbClr val="F7F9FB"/>
          </a:solidFill>
          <a:ln w="5080">
            <a:solidFill>
              <a:srgbClr val="D3DCE5"/>
            </a:solidFill>
            <a:prstDash val="solid"/>
          </a:ln>
        </p:spPr>
      </p:sp>
      <p:sp>
        <p:nvSpPr>
          <p:cNvPr id="82" name="Text 80"/>
          <p:cNvSpPr txBox="1"/>
          <p:nvPr/>
        </p:nvSpPr>
        <p:spPr>
          <a:xfrm>
            <a:off x="8484225" y="1801368"/>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117</a:t>
            </a:r>
            <a:endParaRPr lang="en-US" sz="760" dirty="0"/>
          </a:p>
        </p:txBody>
      </p:sp>
      <p:sp>
        <p:nvSpPr>
          <p:cNvPr id="83" name="Shape 81"/>
          <p:cNvSpPr/>
          <p:nvPr/>
        </p:nvSpPr>
        <p:spPr>
          <a:xfrm>
            <a:off x="9144703" y="1801368"/>
            <a:ext cx="660478" cy="246888"/>
          </a:xfrm>
          <a:prstGeom prst="rect">
            <a:avLst/>
          </a:prstGeom>
          <a:solidFill>
            <a:srgbClr val="F7F9FB"/>
          </a:solidFill>
          <a:ln w="5080">
            <a:solidFill>
              <a:srgbClr val="D3DCE5"/>
            </a:solidFill>
            <a:prstDash val="solid"/>
          </a:ln>
        </p:spPr>
      </p:sp>
      <p:sp>
        <p:nvSpPr>
          <p:cNvPr id="84" name="Text 82"/>
          <p:cNvSpPr txBox="1"/>
          <p:nvPr/>
        </p:nvSpPr>
        <p:spPr>
          <a:xfrm>
            <a:off x="9144703" y="1801368"/>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156</a:t>
            </a:r>
            <a:endParaRPr lang="en-US" sz="760" dirty="0"/>
          </a:p>
        </p:txBody>
      </p:sp>
      <p:sp>
        <p:nvSpPr>
          <p:cNvPr id="85" name="Shape 83"/>
          <p:cNvSpPr/>
          <p:nvPr/>
        </p:nvSpPr>
        <p:spPr>
          <a:xfrm>
            <a:off x="9805182" y="1801368"/>
            <a:ext cx="660478" cy="246888"/>
          </a:xfrm>
          <a:prstGeom prst="rect">
            <a:avLst/>
          </a:prstGeom>
          <a:solidFill>
            <a:srgbClr val="F7F9FB"/>
          </a:solidFill>
          <a:ln w="5080">
            <a:solidFill>
              <a:srgbClr val="D3DCE5"/>
            </a:solidFill>
            <a:prstDash val="solid"/>
          </a:ln>
        </p:spPr>
      </p:sp>
      <p:sp>
        <p:nvSpPr>
          <p:cNvPr id="86" name="Text 84"/>
          <p:cNvSpPr txBox="1"/>
          <p:nvPr/>
        </p:nvSpPr>
        <p:spPr>
          <a:xfrm>
            <a:off x="9805182" y="1801368"/>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207</a:t>
            </a:r>
            <a:endParaRPr lang="en-US" sz="760" dirty="0"/>
          </a:p>
        </p:txBody>
      </p:sp>
      <p:sp>
        <p:nvSpPr>
          <p:cNvPr id="87" name="Shape 85"/>
          <p:cNvSpPr/>
          <p:nvPr/>
        </p:nvSpPr>
        <p:spPr>
          <a:xfrm>
            <a:off x="10465660" y="1801368"/>
            <a:ext cx="660478" cy="246888"/>
          </a:xfrm>
          <a:prstGeom prst="rect">
            <a:avLst/>
          </a:prstGeom>
          <a:solidFill>
            <a:srgbClr val="F7F9FB"/>
          </a:solidFill>
          <a:ln w="5080">
            <a:solidFill>
              <a:srgbClr val="D3DCE5"/>
            </a:solidFill>
            <a:prstDash val="solid"/>
          </a:ln>
        </p:spPr>
      </p:sp>
      <p:sp>
        <p:nvSpPr>
          <p:cNvPr id="88" name="Text 86"/>
          <p:cNvSpPr txBox="1"/>
          <p:nvPr/>
        </p:nvSpPr>
        <p:spPr>
          <a:xfrm>
            <a:off x="10465660" y="1801368"/>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263</a:t>
            </a:r>
            <a:endParaRPr lang="en-US" sz="760" dirty="0"/>
          </a:p>
        </p:txBody>
      </p:sp>
      <p:sp>
        <p:nvSpPr>
          <p:cNvPr id="89" name="Shape 87"/>
          <p:cNvSpPr/>
          <p:nvPr/>
        </p:nvSpPr>
        <p:spPr>
          <a:xfrm>
            <a:off x="11126138" y="1801368"/>
            <a:ext cx="660478" cy="246888"/>
          </a:xfrm>
          <a:prstGeom prst="rect">
            <a:avLst/>
          </a:prstGeom>
          <a:solidFill>
            <a:srgbClr val="F7F9FB"/>
          </a:solidFill>
          <a:ln w="5080">
            <a:solidFill>
              <a:srgbClr val="D3DCE5"/>
            </a:solidFill>
            <a:prstDash val="solid"/>
          </a:ln>
        </p:spPr>
      </p:sp>
      <p:sp>
        <p:nvSpPr>
          <p:cNvPr id="90" name="Text 88"/>
          <p:cNvSpPr txBox="1"/>
          <p:nvPr/>
        </p:nvSpPr>
        <p:spPr>
          <a:xfrm>
            <a:off x="11126138" y="1801368"/>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323</a:t>
            </a:r>
            <a:endParaRPr lang="en-US" sz="760" dirty="0"/>
          </a:p>
        </p:txBody>
      </p:sp>
      <p:sp>
        <p:nvSpPr>
          <p:cNvPr id="91" name="Shape 89"/>
          <p:cNvSpPr/>
          <p:nvPr/>
        </p:nvSpPr>
        <p:spPr>
          <a:xfrm>
            <a:off x="411480" y="2048256"/>
            <a:ext cx="2788920" cy="246888"/>
          </a:xfrm>
          <a:prstGeom prst="rect">
            <a:avLst/>
          </a:prstGeom>
          <a:solidFill>
            <a:srgbClr val="FFFFFF"/>
          </a:solidFill>
          <a:ln w="5080">
            <a:solidFill>
              <a:srgbClr val="D3DCE5"/>
            </a:solidFill>
            <a:prstDash val="solid"/>
          </a:ln>
        </p:spPr>
      </p:sp>
      <p:sp>
        <p:nvSpPr>
          <p:cNvPr id="92" name="Text 90"/>
          <p:cNvSpPr txBox="1"/>
          <p:nvPr/>
        </p:nvSpPr>
        <p:spPr>
          <a:xfrm>
            <a:off x="475488" y="2048256"/>
            <a:ext cx="2660904" cy="24688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Tax paid</a:t>
            </a:r>
            <a:endParaRPr lang="en-US" sz="780" dirty="0"/>
          </a:p>
        </p:txBody>
      </p:sp>
      <p:sp>
        <p:nvSpPr>
          <p:cNvPr id="93" name="Shape 91"/>
          <p:cNvSpPr/>
          <p:nvPr/>
        </p:nvSpPr>
        <p:spPr>
          <a:xfrm>
            <a:off x="3200400" y="2048256"/>
            <a:ext cx="660478" cy="246888"/>
          </a:xfrm>
          <a:prstGeom prst="rect">
            <a:avLst/>
          </a:prstGeom>
          <a:solidFill>
            <a:srgbClr val="FFFFFF"/>
          </a:solidFill>
          <a:ln w="5080">
            <a:solidFill>
              <a:srgbClr val="D3DCE5"/>
            </a:solidFill>
            <a:prstDash val="solid"/>
          </a:ln>
        </p:spPr>
      </p:sp>
      <p:sp>
        <p:nvSpPr>
          <p:cNvPr id="94" name="Text 92"/>
          <p:cNvSpPr txBox="1"/>
          <p:nvPr/>
        </p:nvSpPr>
        <p:spPr>
          <a:xfrm>
            <a:off x="3200400" y="2048256"/>
            <a:ext cx="614758" cy="246888"/>
          </a:xfrm>
          <a:prstGeom prst="rect">
            <a:avLst/>
          </a:prstGeom>
          <a:noFill/>
          <a:ln/>
        </p:spPr>
        <p:txBody>
          <a:bodyPr wrap="square" lIns="0" tIns="0" rIns="0" bIns="0" rtlCol="0" anchor="ctr"/>
          <a:lstStyle/>
          <a:p>
            <a:pPr algn="r" indent="0" marL="0">
              <a:buNone/>
            </a:pPr>
            <a:endParaRPr lang="en-US" sz="760" dirty="0"/>
          </a:p>
        </p:txBody>
      </p:sp>
      <p:sp>
        <p:nvSpPr>
          <p:cNvPr id="95" name="Shape 93"/>
          <p:cNvSpPr/>
          <p:nvPr/>
        </p:nvSpPr>
        <p:spPr>
          <a:xfrm>
            <a:off x="3860878" y="2048256"/>
            <a:ext cx="660478" cy="246888"/>
          </a:xfrm>
          <a:prstGeom prst="rect">
            <a:avLst/>
          </a:prstGeom>
          <a:solidFill>
            <a:srgbClr val="FFFFFF"/>
          </a:solidFill>
          <a:ln w="5080">
            <a:solidFill>
              <a:srgbClr val="D3DCE5"/>
            </a:solidFill>
            <a:prstDash val="solid"/>
          </a:ln>
        </p:spPr>
      </p:sp>
      <p:sp>
        <p:nvSpPr>
          <p:cNvPr id="96" name="Text 94"/>
          <p:cNvSpPr txBox="1"/>
          <p:nvPr/>
        </p:nvSpPr>
        <p:spPr>
          <a:xfrm>
            <a:off x="3860878" y="2048256"/>
            <a:ext cx="614758" cy="246888"/>
          </a:xfrm>
          <a:prstGeom prst="rect">
            <a:avLst/>
          </a:prstGeom>
          <a:noFill/>
          <a:ln/>
        </p:spPr>
        <p:txBody>
          <a:bodyPr wrap="square" lIns="0" tIns="0" rIns="0" bIns="0" rtlCol="0" anchor="ctr"/>
          <a:lstStyle/>
          <a:p>
            <a:pPr algn="r" indent="0" marL="0">
              <a:buNone/>
            </a:pPr>
            <a:endParaRPr lang="en-US" sz="760" dirty="0"/>
          </a:p>
        </p:txBody>
      </p:sp>
      <p:sp>
        <p:nvSpPr>
          <p:cNvPr id="97" name="Shape 95"/>
          <p:cNvSpPr/>
          <p:nvPr/>
        </p:nvSpPr>
        <p:spPr>
          <a:xfrm>
            <a:off x="4521356" y="2048256"/>
            <a:ext cx="660478" cy="246888"/>
          </a:xfrm>
          <a:prstGeom prst="rect">
            <a:avLst/>
          </a:prstGeom>
          <a:solidFill>
            <a:srgbClr val="FFFFFF"/>
          </a:solidFill>
          <a:ln w="5080">
            <a:solidFill>
              <a:srgbClr val="D3DCE5"/>
            </a:solidFill>
            <a:prstDash val="solid"/>
          </a:ln>
        </p:spPr>
      </p:sp>
      <p:sp>
        <p:nvSpPr>
          <p:cNvPr id="98" name="Text 96"/>
          <p:cNvSpPr txBox="1"/>
          <p:nvPr/>
        </p:nvSpPr>
        <p:spPr>
          <a:xfrm>
            <a:off x="4521356" y="2048256"/>
            <a:ext cx="614758" cy="246888"/>
          </a:xfrm>
          <a:prstGeom prst="rect">
            <a:avLst/>
          </a:prstGeom>
          <a:noFill/>
          <a:ln/>
        </p:spPr>
        <p:txBody>
          <a:bodyPr wrap="square" lIns="0" tIns="0" rIns="0" bIns="0" rtlCol="0" anchor="ctr"/>
          <a:lstStyle/>
          <a:p>
            <a:pPr algn="r" indent="0" marL="0">
              <a:buNone/>
            </a:pPr>
            <a:endParaRPr lang="en-US" sz="760" dirty="0"/>
          </a:p>
        </p:txBody>
      </p:sp>
      <p:sp>
        <p:nvSpPr>
          <p:cNvPr id="99" name="Shape 97"/>
          <p:cNvSpPr/>
          <p:nvPr/>
        </p:nvSpPr>
        <p:spPr>
          <a:xfrm>
            <a:off x="5181834" y="2048256"/>
            <a:ext cx="660478" cy="246888"/>
          </a:xfrm>
          <a:prstGeom prst="rect">
            <a:avLst/>
          </a:prstGeom>
          <a:solidFill>
            <a:srgbClr val="FFFFFF"/>
          </a:solidFill>
          <a:ln w="5080">
            <a:solidFill>
              <a:srgbClr val="D3DCE5"/>
            </a:solidFill>
            <a:prstDash val="solid"/>
          </a:ln>
        </p:spPr>
      </p:sp>
      <p:sp>
        <p:nvSpPr>
          <p:cNvPr id="100" name="Text 98"/>
          <p:cNvSpPr txBox="1"/>
          <p:nvPr/>
        </p:nvSpPr>
        <p:spPr>
          <a:xfrm>
            <a:off x="5181834" y="204825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(421)</a:t>
            </a:r>
            <a:endParaRPr lang="en-US" sz="760" dirty="0"/>
          </a:p>
        </p:txBody>
      </p:sp>
      <p:sp>
        <p:nvSpPr>
          <p:cNvPr id="101" name="Shape 99"/>
          <p:cNvSpPr/>
          <p:nvPr/>
        </p:nvSpPr>
        <p:spPr>
          <a:xfrm>
            <a:off x="5842313" y="2048256"/>
            <a:ext cx="660478" cy="246888"/>
          </a:xfrm>
          <a:prstGeom prst="rect">
            <a:avLst/>
          </a:prstGeom>
          <a:solidFill>
            <a:srgbClr val="FFFFFF"/>
          </a:solidFill>
          <a:ln w="5080">
            <a:solidFill>
              <a:srgbClr val="D3DCE5"/>
            </a:solidFill>
            <a:prstDash val="solid"/>
          </a:ln>
        </p:spPr>
      </p:sp>
      <p:sp>
        <p:nvSpPr>
          <p:cNvPr id="102" name="Text 100"/>
          <p:cNvSpPr txBox="1"/>
          <p:nvPr/>
        </p:nvSpPr>
        <p:spPr>
          <a:xfrm>
            <a:off x="5842313" y="204825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(468)</a:t>
            </a:r>
            <a:endParaRPr lang="en-US" sz="760" dirty="0"/>
          </a:p>
        </p:txBody>
      </p:sp>
      <p:sp>
        <p:nvSpPr>
          <p:cNvPr id="103" name="Shape 101"/>
          <p:cNvSpPr/>
          <p:nvPr/>
        </p:nvSpPr>
        <p:spPr>
          <a:xfrm>
            <a:off x="6502791" y="2048256"/>
            <a:ext cx="660478" cy="246888"/>
          </a:xfrm>
          <a:prstGeom prst="rect">
            <a:avLst/>
          </a:prstGeom>
          <a:solidFill>
            <a:srgbClr val="FFFFFF"/>
          </a:solidFill>
          <a:ln w="5080">
            <a:solidFill>
              <a:srgbClr val="D3DCE5"/>
            </a:solidFill>
            <a:prstDash val="solid"/>
          </a:ln>
        </p:spPr>
      </p:sp>
      <p:sp>
        <p:nvSpPr>
          <p:cNvPr id="104" name="Text 102"/>
          <p:cNvSpPr txBox="1"/>
          <p:nvPr/>
        </p:nvSpPr>
        <p:spPr>
          <a:xfrm>
            <a:off x="6502791" y="204825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(475)</a:t>
            </a:r>
            <a:endParaRPr lang="en-US" sz="760" dirty="0"/>
          </a:p>
        </p:txBody>
      </p:sp>
      <p:sp>
        <p:nvSpPr>
          <p:cNvPr id="105" name="Shape 103"/>
          <p:cNvSpPr/>
          <p:nvPr/>
        </p:nvSpPr>
        <p:spPr>
          <a:xfrm>
            <a:off x="7163269" y="2048256"/>
            <a:ext cx="660478" cy="246888"/>
          </a:xfrm>
          <a:prstGeom prst="rect">
            <a:avLst/>
          </a:prstGeom>
          <a:solidFill>
            <a:srgbClr val="FFFFFF"/>
          </a:solidFill>
          <a:ln w="5080">
            <a:solidFill>
              <a:srgbClr val="D3DCE5"/>
            </a:solidFill>
            <a:prstDash val="solid"/>
          </a:ln>
        </p:spPr>
      </p:sp>
      <p:sp>
        <p:nvSpPr>
          <p:cNvPr id="106" name="Text 104"/>
          <p:cNvSpPr txBox="1"/>
          <p:nvPr/>
        </p:nvSpPr>
        <p:spPr>
          <a:xfrm>
            <a:off x="7163269" y="204825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(558)</a:t>
            </a:r>
            <a:endParaRPr lang="en-US" sz="760" dirty="0"/>
          </a:p>
        </p:txBody>
      </p:sp>
      <p:sp>
        <p:nvSpPr>
          <p:cNvPr id="107" name="Shape 105"/>
          <p:cNvSpPr/>
          <p:nvPr/>
        </p:nvSpPr>
        <p:spPr>
          <a:xfrm>
            <a:off x="7823747" y="2048256"/>
            <a:ext cx="660478" cy="246888"/>
          </a:xfrm>
          <a:prstGeom prst="rect">
            <a:avLst/>
          </a:prstGeom>
          <a:solidFill>
            <a:srgbClr val="FFFFFF"/>
          </a:solidFill>
          <a:ln w="5080">
            <a:solidFill>
              <a:srgbClr val="D3DCE5"/>
            </a:solidFill>
            <a:prstDash val="solid"/>
          </a:ln>
        </p:spPr>
      </p:sp>
      <p:sp>
        <p:nvSpPr>
          <p:cNvPr id="108" name="Text 106"/>
          <p:cNvSpPr txBox="1"/>
          <p:nvPr/>
        </p:nvSpPr>
        <p:spPr>
          <a:xfrm>
            <a:off x="7823747" y="204825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(668)</a:t>
            </a:r>
            <a:endParaRPr lang="en-US" sz="760" dirty="0"/>
          </a:p>
        </p:txBody>
      </p:sp>
      <p:sp>
        <p:nvSpPr>
          <p:cNvPr id="109" name="Shape 107"/>
          <p:cNvSpPr/>
          <p:nvPr/>
        </p:nvSpPr>
        <p:spPr>
          <a:xfrm>
            <a:off x="8484225" y="2048256"/>
            <a:ext cx="660478" cy="246888"/>
          </a:xfrm>
          <a:prstGeom prst="rect">
            <a:avLst/>
          </a:prstGeom>
          <a:solidFill>
            <a:srgbClr val="FFFFFF"/>
          </a:solidFill>
          <a:ln w="5080">
            <a:solidFill>
              <a:srgbClr val="D3DCE5"/>
            </a:solidFill>
            <a:prstDash val="solid"/>
          </a:ln>
        </p:spPr>
      </p:sp>
      <p:sp>
        <p:nvSpPr>
          <p:cNvPr id="110" name="Text 108"/>
          <p:cNvSpPr txBox="1"/>
          <p:nvPr/>
        </p:nvSpPr>
        <p:spPr>
          <a:xfrm>
            <a:off x="8484225" y="204825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(880)</a:t>
            </a:r>
            <a:endParaRPr lang="en-US" sz="760" dirty="0"/>
          </a:p>
        </p:txBody>
      </p:sp>
      <p:sp>
        <p:nvSpPr>
          <p:cNvPr id="111" name="Shape 109"/>
          <p:cNvSpPr/>
          <p:nvPr/>
        </p:nvSpPr>
        <p:spPr>
          <a:xfrm>
            <a:off x="9144703" y="2048256"/>
            <a:ext cx="660478" cy="246888"/>
          </a:xfrm>
          <a:prstGeom prst="rect">
            <a:avLst/>
          </a:prstGeom>
          <a:solidFill>
            <a:srgbClr val="FFFFFF"/>
          </a:solidFill>
          <a:ln w="5080">
            <a:solidFill>
              <a:srgbClr val="D3DCE5"/>
            </a:solidFill>
            <a:prstDash val="solid"/>
          </a:ln>
        </p:spPr>
      </p:sp>
      <p:sp>
        <p:nvSpPr>
          <p:cNvPr id="112" name="Text 110"/>
          <p:cNvSpPr txBox="1"/>
          <p:nvPr/>
        </p:nvSpPr>
        <p:spPr>
          <a:xfrm>
            <a:off x="9144703" y="204825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(1,035)</a:t>
            </a:r>
            <a:endParaRPr lang="en-US" sz="760" dirty="0"/>
          </a:p>
        </p:txBody>
      </p:sp>
      <p:sp>
        <p:nvSpPr>
          <p:cNvPr id="113" name="Shape 111"/>
          <p:cNvSpPr/>
          <p:nvPr/>
        </p:nvSpPr>
        <p:spPr>
          <a:xfrm>
            <a:off x="9805182" y="2048256"/>
            <a:ext cx="660478" cy="246888"/>
          </a:xfrm>
          <a:prstGeom prst="rect">
            <a:avLst/>
          </a:prstGeom>
          <a:solidFill>
            <a:srgbClr val="FFFFFF"/>
          </a:solidFill>
          <a:ln w="5080">
            <a:solidFill>
              <a:srgbClr val="D3DCE5"/>
            </a:solidFill>
            <a:prstDash val="solid"/>
          </a:ln>
        </p:spPr>
      </p:sp>
      <p:sp>
        <p:nvSpPr>
          <p:cNvPr id="114" name="Text 112"/>
          <p:cNvSpPr txBox="1"/>
          <p:nvPr/>
        </p:nvSpPr>
        <p:spPr>
          <a:xfrm>
            <a:off x="9805182" y="204825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(1,109)</a:t>
            </a:r>
            <a:endParaRPr lang="en-US" sz="760" dirty="0"/>
          </a:p>
        </p:txBody>
      </p:sp>
      <p:sp>
        <p:nvSpPr>
          <p:cNvPr id="115" name="Shape 113"/>
          <p:cNvSpPr/>
          <p:nvPr/>
        </p:nvSpPr>
        <p:spPr>
          <a:xfrm>
            <a:off x="10465660" y="2048256"/>
            <a:ext cx="660478" cy="246888"/>
          </a:xfrm>
          <a:prstGeom prst="rect">
            <a:avLst/>
          </a:prstGeom>
          <a:solidFill>
            <a:srgbClr val="FFFFFF"/>
          </a:solidFill>
          <a:ln w="5080">
            <a:solidFill>
              <a:srgbClr val="D3DCE5"/>
            </a:solidFill>
            <a:prstDash val="solid"/>
          </a:ln>
        </p:spPr>
      </p:sp>
      <p:sp>
        <p:nvSpPr>
          <p:cNvPr id="116" name="Text 114"/>
          <p:cNvSpPr txBox="1"/>
          <p:nvPr/>
        </p:nvSpPr>
        <p:spPr>
          <a:xfrm>
            <a:off x="10465660" y="204825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(1,151)</a:t>
            </a:r>
            <a:endParaRPr lang="en-US" sz="760" dirty="0"/>
          </a:p>
        </p:txBody>
      </p:sp>
      <p:sp>
        <p:nvSpPr>
          <p:cNvPr id="117" name="Shape 115"/>
          <p:cNvSpPr/>
          <p:nvPr/>
        </p:nvSpPr>
        <p:spPr>
          <a:xfrm>
            <a:off x="11126138" y="2048256"/>
            <a:ext cx="660478" cy="246888"/>
          </a:xfrm>
          <a:prstGeom prst="rect">
            <a:avLst/>
          </a:prstGeom>
          <a:solidFill>
            <a:srgbClr val="FFFFFF"/>
          </a:solidFill>
          <a:ln w="5080">
            <a:solidFill>
              <a:srgbClr val="D3DCE5"/>
            </a:solidFill>
            <a:prstDash val="solid"/>
          </a:ln>
        </p:spPr>
      </p:sp>
      <p:sp>
        <p:nvSpPr>
          <p:cNvPr id="118" name="Text 116"/>
          <p:cNvSpPr txBox="1"/>
          <p:nvPr/>
        </p:nvSpPr>
        <p:spPr>
          <a:xfrm>
            <a:off x="11126138" y="204825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(1,173)</a:t>
            </a:r>
            <a:endParaRPr lang="en-US" sz="760" dirty="0"/>
          </a:p>
        </p:txBody>
      </p:sp>
      <p:sp>
        <p:nvSpPr>
          <p:cNvPr id="119" name="Shape 117"/>
          <p:cNvSpPr/>
          <p:nvPr/>
        </p:nvSpPr>
        <p:spPr>
          <a:xfrm>
            <a:off x="411480" y="2295144"/>
            <a:ext cx="2788920" cy="246888"/>
          </a:xfrm>
          <a:prstGeom prst="rect">
            <a:avLst/>
          </a:prstGeom>
          <a:solidFill>
            <a:srgbClr val="F7F9FB"/>
          </a:solidFill>
          <a:ln w="5080">
            <a:solidFill>
              <a:srgbClr val="D3DCE5"/>
            </a:solidFill>
            <a:prstDash val="solid"/>
          </a:ln>
        </p:spPr>
      </p:sp>
      <p:sp>
        <p:nvSpPr>
          <p:cNvPr id="120" name="Text 118"/>
          <p:cNvSpPr txBox="1"/>
          <p:nvPr/>
        </p:nvSpPr>
        <p:spPr>
          <a:xfrm>
            <a:off x="475488" y="2295144"/>
            <a:ext cx="2660904" cy="24688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Movement in working capital</a:t>
            </a:r>
            <a:endParaRPr lang="en-US" sz="780" dirty="0"/>
          </a:p>
        </p:txBody>
      </p:sp>
      <p:sp>
        <p:nvSpPr>
          <p:cNvPr id="121" name="Shape 119"/>
          <p:cNvSpPr/>
          <p:nvPr/>
        </p:nvSpPr>
        <p:spPr>
          <a:xfrm>
            <a:off x="3200400" y="2295144"/>
            <a:ext cx="660478" cy="246888"/>
          </a:xfrm>
          <a:prstGeom prst="rect">
            <a:avLst/>
          </a:prstGeom>
          <a:solidFill>
            <a:srgbClr val="F7F9FB"/>
          </a:solidFill>
          <a:ln w="5080">
            <a:solidFill>
              <a:srgbClr val="D3DCE5"/>
            </a:solidFill>
            <a:prstDash val="solid"/>
          </a:ln>
        </p:spPr>
      </p:sp>
      <p:sp>
        <p:nvSpPr>
          <p:cNvPr id="122" name="Text 120"/>
          <p:cNvSpPr txBox="1"/>
          <p:nvPr/>
        </p:nvSpPr>
        <p:spPr>
          <a:xfrm>
            <a:off x="3200400" y="2295144"/>
            <a:ext cx="614758" cy="246888"/>
          </a:xfrm>
          <a:prstGeom prst="rect">
            <a:avLst/>
          </a:prstGeom>
          <a:noFill/>
          <a:ln/>
        </p:spPr>
        <p:txBody>
          <a:bodyPr wrap="square" lIns="0" tIns="0" rIns="0" bIns="0" rtlCol="0" anchor="ctr"/>
          <a:lstStyle/>
          <a:p>
            <a:pPr algn="r" indent="0" marL="0">
              <a:buNone/>
            </a:pPr>
            <a:endParaRPr lang="en-US" sz="760" dirty="0"/>
          </a:p>
        </p:txBody>
      </p:sp>
      <p:sp>
        <p:nvSpPr>
          <p:cNvPr id="123" name="Shape 121"/>
          <p:cNvSpPr/>
          <p:nvPr/>
        </p:nvSpPr>
        <p:spPr>
          <a:xfrm>
            <a:off x="3860878" y="2295144"/>
            <a:ext cx="660478" cy="246888"/>
          </a:xfrm>
          <a:prstGeom prst="rect">
            <a:avLst/>
          </a:prstGeom>
          <a:solidFill>
            <a:srgbClr val="F7F9FB"/>
          </a:solidFill>
          <a:ln w="5080">
            <a:solidFill>
              <a:srgbClr val="D3DCE5"/>
            </a:solidFill>
            <a:prstDash val="solid"/>
          </a:ln>
        </p:spPr>
      </p:sp>
      <p:sp>
        <p:nvSpPr>
          <p:cNvPr id="124" name="Text 122"/>
          <p:cNvSpPr txBox="1"/>
          <p:nvPr/>
        </p:nvSpPr>
        <p:spPr>
          <a:xfrm>
            <a:off x="3860878" y="2295144"/>
            <a:ext cx="614758" cy="246888"/>
          </a:xfrm>
          <a:prstGeom prst="rect">
            <a:avLst/>
          </a:prstGeom>
          <a:noFill/>
          <a:ln/>
        </p:spPr>
        <p:txBody>
          <a:bodyPr wrap="square" lIns="0" tIns="0" rIns="0" bIns="0" rtlCol="0" anchor="ctr"/>
          <a:lstStyle/>
          <a:p>
            <a:pPr algn="r" indent="0" marL="0">
              <a:buNone/>
            </a:pPr>
            <a:endParaRPr lang="en-US" sz="760" dirty="0"/>
          </a:p>
        </p:txBody>
      </p:sp>
      <p:sp>
        <p:nvSpPr>
          <p:cNvPr id="125" name="Shape 123"/>
          <p:cNvSpPr/>
          <p:nvPr/>
        </p:nvSpPr>
        <p:spPr>
          <a:xfrm>
            <a:off x="4521356" y="2295144"/>
            <a:ext cx="660478" cy="246888"/>
          </a:xfrm>
          <a:prstGeom prst="rect">
            <a:avLst/>
          </a:prstGeom>
          <a:solidFill>
            <a:srgbClr val="F7F9FB"/>
          </a:solidFill>
          <a:ln w="5080">
            <a:solidFill>
              <a:srgbClr val="D3DCE5"/>
            </a:solidFill>
            <a:prstDash val="solid"/>
          </a:ln>
        </p:spPr>
      </p:sp>
      <p:sp>
        <p:nvSpPr>
          <p:cNvPr id="126" name="Text 124"/>
          <p:cNvSpPr txBox="1"/>
          <p:nvPr/>
        </p:nvSpPr>
        <p:spPr>
          <a:xfrm>
            <a:off x="4521356" y="2295144"/>
            <a:ext cx="614758" cy="246888"/>
          </a:xfrm>
          <a:prstGeom prst="rect">
            <a:avLst/>
          </a:prstGeom>
          <a:noFill/>
          <a:ln/>
        </p:spPr>
        <p:txBody>
          <a:bodyPr wrap="square" lIns="0" tIns="0" rIns="0" bIns="0" rtlCol="0" anchor="ctr"/>
          <a:lstStyle/>
          <a:p>
            <a:pPr algn="r" indent="0" marL="0">
              <a:buNone/>
            </a:pPr>
            <a:endParaRPr lang="en-US" sz="760" dirty="0"/>
          </a:p>
        </p:txBody>
      </p:sp>
      <p:sp>
        <p:nvSpPr>
          <p:cNvPr id="127" name="Shape 125"/>
          <p:cNvSpPr/>
          <p:nvPr/>
        </p:nvSpPr>
        <p:spPr>
          <a:xfrm>
            <a:off x="5181834" y="2295144"/>
            <a:ext cx="660478" cy="246888"/>
          </a:xfrm>
          <a:prstGeom prst="rect">
            <a:avLst/>
          </a:prstGeom>
          <a:solidFill>
            <a:srgbClr val="F7F9FB"/>
          </a:solidFill>
          <a:ln w="5080">
            <a:solidFill>
              <a:srgbClr val="D3DCE5"/>
            </a:solidFill>
            <a:prstDash val="solid"/>
          </a:ln>
        </p:spPr>
      </p:sp>
      <p:sp>
        <p:nvSpPr>
          <p:cNvPr id="128" name="Text 126"/>
          <p:cNvSpPr txBox="1"/>
          <p:nvPr/>
        </p:nvSpPr>
        <p:spPr>
          <a:xfrm>
            <a:off x="5181834" y="2295144"/>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(53)</a:t>
            </a:r>
            <a:endParaRPr lang="en-US" sz="760" dirty="0"/>
          </a:p>
        </p:txBody>
      </p:sp>
      <p:sp>
        <p:nvSpPr>
          <p:cNvPr id="129" name="Shape 127"/>
          <p:cNvSpPr/>
          <p:nvPr/>
        </p:nvSpPr>
        <p:spPr>
          <a:xfrm>
            <a:off x="5842313" y="2295144"/>
            <a:ext cx="660478" cy="246888"/>
          </a:xfrm>
          <a:prstGeom prst="rect">
            <a:avLst/>
          </a:prstGeom>
          <a:solidFill>
            <a:srgbClr val="F7F9FB"/>
          </a:solidFill>
          <a:ln w="5080">
            <a:solidFill>
              <a:srgbClr val="D3DCE5"/>
            </a:solidFill>
            <a:prstDash val="solid"/>
          </a:ln>
        </p:spPr>
      </p:sp>
      <p:sp>
        <p:nvSpPr>
          <p:cNvPr id="130" name="Text 128"/>
          <p:cNvSpPr txBox="1"/>
          <p:nvPr/>
        </p:nvSpPr>
        <p:spPr>
          <a:xfrm>
            <a:off x="5842313" y="2295144"/>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(17)</a:t>
            </a:r>
            <a:endParaRPr lang="en-US" sz="760" dirty="0"/>
          </a:p>
        </p:txBody>
      </p:sp>
      <p:sp>
        <p:nvSpPr>
          <p:cNvPr id="131" name="Shape 129"/>
          <p:cNvSpPr/>
          <p:nvPr/>
        </p:nvSpPr>
        <p:spPr>
          <a:xfrm>
            <a:off x="6502791" y="2295144"/>
            <a:ext cx="660478" cy="246888"/>
          </a:xfrm>
          <a:prstGeom prst="rect">
            <a:avLst/>
          </a:prstGeom>
          <a:solidFill>
            <a:srgbClr val="F7F9FB"/>
          </a:solidFill>
          <a:ln w="5080">
            <a:solidFill>
              <a:srgbClr val="D3DCE5"/>
            </a:solidFill>
            <a:prstDash val="solid"/>
          </a:ln>
        </p:spPr>
      </p:sp>
      <p:sp>
        <p:nvSpPr>
          <p:cNvPr id="132" name="Text 130"/>
          <p:cNvSpPr txBox="1"/>
          <p:nvPr/>
        </p:nvSpPr>
        <p:spPr>
          <a:xfrm>
            <a:off x="6502791" y="2295144"/>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a:t>
            </a:r>
            <a:endParaRPr lang="en-US" sz="760" dirty="0"/>
          </a:p>
        </p:txBody>
      </p:sp>
      <p:sp>
        <p:nvSpPr>
          <p:cNvPr id="133" name="Shape 131"/>
          <p:cNvSpPr/>
          <p:nvPr/>
        </p:nvSpPr>
        <p:spPr>
          <a:xfrm>
            <a:off x="7163269" y="2295144"/>
            <a:ext cx="660478" cy="246888"/>
          </a:xfrm>
          <a:prstGeom prst="rect">
            <a:avLst/>
          </a:prstGeom>
          <a:solidFill>
            <a:srgbClr val="F7F9FB"/>
          </a:solidFill>
          <a:ln w="5080">
            <a:solidFill>
              <a:srgbClr val="D3DCE5"/>
            </a:solidFill>
            <a:prstDash val="solid"/>
          </a:ln>
        </p:spPr>
      </p:sp>
      <p:sp>
        <p:nvSpPr>
          <p:cNvPr id="134" name="Text 132"/>
          <p:cNvSpPr txBox="1"/>
          <p:nvPr/>
        </p:nvSpPr>
        <p:spPr>
          <a:xfrm>
            <a:off x="7163269" y="2295144"/>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(40)</a:t>
            </a:r>
            <a:endParaRPr lang="en-US" sz="760" dirty="0"/>
          </a:p>
        </p:txBody>
      </p:sp>
      <p:sp>
        <p:nvSpPr>
          <p:cNvPr id="135" name="Shape 133"/>
          <p:cNvSpPr/>
          <p:nvPr/>
        </p:nvSpPr>
        <p:spPr>
          <a:xfrm>
            <a:off x="7823747" y="2295144"/>
            <a:ext cx="660478" cy="246888"/>
          </a:xfrm>
          <a:prstGeom prst="rect">
            <a:avLst/>
          </a:prstGeom>
          <a:solidFill>
            <a:srgbClr val="F7F9FB"/>
          </a:solidFill>
          <a:ln w="5080">
            <a:solidFill>
              <a:srgbClr val="D3DCE5"/>
            </a:solidFill>
            <a:prstDash val="solid"/>
          </a:ln>
        </p:spPr>
      </p:sp>
      <p:sp>
        <p:nvSpPr>
          <p:cNvPr id="136" name="Text 134"/>
          <p:cNvSpPr txBox="1"/>
          <p:nvPr/>
        </p:nvSpPr>
        <p:spPr>
          <a:xfrm>
            <a:off x="7823747" y="2295144"/>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(46)</a:t>
            </a:r>
            <a:endParaRPr lang="en-US" sz="760" dirty="0"/>
          </a:p>
        </p:txBody>
      </p:sp>
      <p:sp>
        <p:nvSpPr>
          <p:cNvPr id="137" name="Shape 135"/>
          <p:cNvSpPr/>
          <p:nvPr/>
        </p:nvSpPr>
        <p:spPr>
          <a:xfrm>
            <a:off x="8484225" y="2295144"/>
            <a:ext cx="660478" cy="246888"/>
          </a:xfrm>
          <a:prstGeom prst="rect">
            <a:avLst/>
          </a:prstGeom>
          <a:solidFill>
            <a:srgbClr val="F7F9FB"/>
          </a:solidFill>
          <a:ln w="5080">
            <a:solidFill>
              <a:srgbClr val="D3DCE5"/>
            </a:solidFill>
            <a:prstDash val="solid"/>
          </a:ln>
        </p:spPr>
      </p:sp>
      <p:sp>
        <p:nvSpPr>
          <p:cNvPr id="138" name="Text 136"/>
          <p:cNvSpPr txBox="1"/>
          <p:nvPr/>
        </p:nvSpPr>
        <p:spPr>
          <a:xfrm>
            <a:off x="8484225" y="2295144"/>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(76)</a:t>
            </a:r>
            <a:endParaRPr lang="en-US" sz="760" dirty="0"/>
          </a:p>
        </p:txBody>
      </p:sp>
      <p:sp>
        <p:nvSpPr>
          <p:cNvPr id="139" name="Shape 137"/>
          <p:cNvSpPr/>
          <p:nvPr/>
        </p:nvSpPr>
        <p:spPr>
          <a:xfrm>
            <a:off x="9144703" y="2295144"/>
            <a:ext cx="660478" cy="246888"/>
          </a:xfrm>
          <a:prstGeom prst="rect">
            <a:avLst/>
          </a:prstGeom>
          <a:solidFill>
            <a:srgbClr val="F7F9FB"/>
          </a:solidFill>
          <a:ln w="5080">
            <a:solidFill>
              <a:srgbClr val="D3DCE5"/>
            </a:solidFill>
            <a:prstDash val="solid"/>
          </a:ln>
        </p:spPr>
      </p:sp>
      <p:sp>
        <p:nvSpPr>
          <p:cNvPr id="140" name="Text 138"/>
          <p:cNvSpPr txBox="1"/>
          <p:nvPr/>
        </p:nvSpPr>
        <p:spPr>
          <a:xfrm>
            <a:off x="9144703" y="2295144"/>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(54)</a:t>
            </a:r>
            <a:endParaRPr lang="en-US" sz="760" dirty="0"/>
          </a:p>
        </p:txBody>
      </p:sp>
      <p:sp>
        <p:nvSpPr>
          <p:cNvPr id="141" name="Shape 139"/>
          <p:cNvSpPr/>
          <p:nvPr/>
        </p:nvSpPr>
        <p:spPr>
          <a:xfrm>
            <a:off x="9805182" y="2295144"/>
            <a:ext cx="660478" cy="246888"/>
          </a:xfrm>
          <a:prstGeom prst="rect">
            <a:avLst/>
          </a:prstGeom>
          <a:solidFill>
            <a:srgbClr val="F7F9FB"/>
          </a:solidFill>
          <a:ln w="5080">
            <a:solidFill>
              <a:srgbClr val="D3DCE5"/>
            </a:solidFill>
            <a:prstDash val="solid"/>
          </a:ln>
        </p:spPr>
      </p:sp>
      <p:sp>
        <p:nvSpPr>
          <p:cNvPr id="142" name="Text 140"/>
          <p:cNvSpPr txBox="1"/>
          <p:nvPr/>
        </p:nvSpPr>
        <p:spPr>
          <a:xfrm>
            <a:off x="9805182" y="2295144"/>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(21)</a:t>
            </a:r>
            <a:endParaRPr lang="en-US" sz="760" dirty="0"/>
          </a:p>
        </p:txBody>
      </p:sp>
      <p:sp>
        <p:nvSpPr>
          <p:cNvPr id="143" name="Shape 141"/>
          <p:cNvSpPr/>
          <p:nvPr/>
        </p:nvSpPr>
        <p:spPr>
          <a:xfrm>
            <a:off x="10465660" y="2295144"/>
            <a:ext cx="660478" cy="246888"/>
          </a:xfrm>
          <a:prstGeom prst="rect">
            <a:avLst/>
          </a:prstGeom>
          <a:solidFill>
            <a:srgbClr val="F7F9FB"/>
          </a:solidFill>
          <a:ln w="5080">
            <a:solidFill>
              <a:srgbClr val="D3DCE5"/>
            </a:solidFill>
            <a:prstDash val="solid"/>
          </a:ln>
        </p:spPr>
      </p:sp>
      <p:sp>
        <p:nvSpPr>
          <p:cNvPr id="144" name="Text 142"/>
          <p:cNvSpPr txBox="1"/>
          <p:nvPr/>
        </p:nvSpPr>
        <p:spPr>
          <a:xfrm>
            <a:off x="10465660" y="2295144"/>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(8)</a:t>
            </a:r>
            <a:endParaRPr lang="en-US" sz="760" dirty="0"/>
          </a:p>
        </p:txBody>
      </p:sp>
      <p:sp>
        <p:nvSpPr>
          <p:cNvPr id="145" name="Shape 143"/>
          <p:cNvSpPr/>
          <p:nvPr/>
        </p:nvSpPr>
        <p:spPr>
          <a:xfrm>
            <a:off x="11126138" y="2295144"/>
            <a:ext cx="660478" cy="246888"/>
          </a:xfrm>
          <a:prstGeom prst="rect">
            <a:avLst/>
          </a:prstGeom>
          <a:solidFill>
            <a:srgbClr val="F7F9FB"/>
          </a:solidFill>
          <a:ln w="5080">
            <a:solidFill>
              <a:srgbClr val="D3DCE5"/>
            </a:solidFill>
            <a:prstDash val="solid"/>
          </a:ln>
        </p:spPr>
      </p:sp>
      <p:sp>
        <p:nvSpPr>
          <p:cNvPr id="146" name="Text 144"/>
          <p:cNvSpPr txBox="1"/>
          <p:nvPr/>
        </p:nvSpPr>
        <p:spPr>
          <a:xfrm>
            <a:off x="11126138" y="2295144"/>
            <a:ext cx="614758" cy="246888"/>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a:t>
            </a:r>
            <a:endParaRPr lang="en-US" sz="760" dirty="0"/>
          </a:p>
        </p:txBody>
      </p:sp>
      <p:sp>
        <p:nvSpPr>
          <p:cNvPr id="147" name="Shape 145"/>
          <p:cNvSpPr/>
          <p:nvPr/>
        </p:nvSpPr>
        <p:spPr>
          <a:xfrm>
            <a:off x="411480" y="2542032"/>
            <a:ext cx="2788920" cy="246888"/>
          </a:xfrm>
          <a:prstGeom prst="rect">
            <a:avLst/>
          </a:prstGeom>
          <a:solidFill>
            <a:srgbClr val="FFFFFF"/>
          </a:solidFill>
          <a:ln w="5080">
            <a:solidFill>
              <a:srgbClr val="D3DCE5"/>
            </a:solidFill>
            <a:prstDash val="solid"/>
          </a:ln>
        </p:spPr>
      </p:sp>
      <p:sp>
        <p:nvSpPr>
          <p:cNvPr id="148" name="Text 146"/>
          <p:cNvSpPr txBox="1"/>
          <p:nvPr/>
        </p:nvSpPr>
        <p:spPr>
          <a:xfrm>
            <a:off x="475488" y="2542032"/>
            <a:ext cx="2660904" cy="246888"/>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Operating cash flow</a:t>
            </a:r>
            <a:endParaRPr lang="en-US" sz="780" dirty="0"/>
          </a:p>
        </p:txBody>
      </p:sp>
      <p:sp>
        <p:nvSpPr>
          <p:cNvPr id="149" name="Shape 147"/>
          <p:cNvSpPr/>
          <p:nvPr/>
        </p:nvSpPr>
        <p:spPr>
          <a:xfrm>
            <a:off x="3200400" y="2542032"/>
            <a:ext cx="660478" cy="246888"/>
          </a:xfrm>
          <a:prstGeom prst="rect">
            <a:avLst/>
          </a:prstGeom>
          <a:solidFill>
            <a:srgbClr val="FFFFFF"/>
          </a:solidFill>
          <a:ln w="5080">
            <a:solidFill>
              <a:srgbClr val="D3DCE5"/>
            </a:solidFill>
            <a:prstDash val="solid"/>
          </a:ln>
        </p:spPr>
      </p:sp>
      <p:sp>
        <p:nvSpPr>
          <p:cNvPr id="150" name="Text 148"/>
          <p:cNvSpPr txBox="1"/>
          <p:nvPr/>
        </p:nvSpPr>
        <p:spPr>
          <a:xfrm>
            <a:off x="3200400" y="2542032"/>
            <a:ext cx="614758" cy="246888"/>
          </a:xfrm>
          <a:prstGeom prst="rect">
            <a:avLst/>
          </a:prstGeom>
          <a:noFill/>
          <a:ln/>
        </p:spPr>
        <p:txBody>
          <a:bodyPr wrap="square" lIns="0" tIns="0" rIns="0" bIns="0" rtlCol="0" anchor="ctr"/>
          <a:lstStyle/>
          <a:p>
            <a:pPr algn="r" indent="0" marL="0">
              <a:buNone/>
            </a:pPr>
            <a:endParaRPr lang="en-US" sz="760" dirty="0"/>
          </a:p>
        </p:txBody>
      </p:sp>
      <p:sp>
        <p:nvSpPr>
          <p:cNvPr id="151" name="Shape 149"/>
          <p:cNvSpPr/>
          <p:nvPr/>
        </p:nvSpPr>
        <p:spPr>
          <a:xfrm>
            <a:off x="3860878" y="2542032"/>
            <a:ext cx="660478" cy="246888"/>
          </a:xfrm>
          <a:prstGeom prst="rect">
            <a:avLst/>
          </a:prstGeom>
          <a:solidFill>
            <a:srgbClr val="FFFFFF"/>
          </a:solidFill>
          <a:ln w="5080">
            <a:solidFill>
              <a:srgbClr val="D3DCE5"/>
            </a:solidFill>
            <a:prstDash val="solid"/>
          </a:ln>
        </p:spPr>
      </p:sp>
      <p:sp>
        <p:nvSpPr>
          <p:cNvPr id="152" name="Text 150"/>
          <p:cNvSpPr txBox="1"/>
          <p:nvPr/>
        </p:nvSpPr>
        <p:spPr>
          <a:xfrm>
            <a:off x="3860878" y="2542032"/>
            <a:ext cx="614758" cy="246888"/>
          </a:xfrm>
          <a:prstGeom prst="rect">
            <a:avLst/>
          </a:prstGeom>
          <a:noFill/>
          <a:ln/>
        </p:spPr>
        <p:txBody>
          <a:bodyPr wrap="square" lIns="0" tIns="0" rIns="0" bIns="0" rtlCol="0" anchor="ctr"/>
          <a:lstStyle/>
          <a:p>
            <a:pPr algn="r" indent="0" marL="0">
              <a:buNone/>
            </a:pPr>
            <a:endParaRPr lang="en-US" sz="760" dirty="0"/>
          </a:p>
        </p:txBody>
      </p:sp>
      <p:sp>
        <p:nvSpPr>
          <p:cNvPr id="153" name="Shape 151"/>
          <p:cNvSpPr/>
          <p:nvPr/>
        </p:nvSpPr>
        <p:spPr>
          <a:xfrm>
            <a:off x="4521356" y="2542032"/>
            <a:ext cx="660478" cy="246888"/>
          </a:xfrm>
          <a:prstGeom prst="rect">
            <a:avLst/>
          </a:prstGeom>
          <a:solidFill>
            <a:srgbClr val="FFFFFF"/>
          </a:solidFill>
          <a:ln w="5080">
            <a:solidFill>
              <a:srgbClr val="D3DCE5"/>
            </a:solidFill>
            <a:prstDash val="solid"/>
          </a:ln>
        </p:spPr>
      </p:sp>
      <p:sp>
        <p:nvSpPr>
          <p:cNvPr id="154" name="Text 152"/>
          <p:cNvSpPr txBox="1"/>
          <p:nvPr/>
        </p:nvSpPr>
        <p:spPr>
          <a:xfrm>
            <a:off x="4521356" y="2542032"/>
            <a:ext cx="614758" cy="246888"/>
          </a:xfrm>
          <a:prstGeom prst="rect">
            <a:avLst/>
          </a:prstGeom>
          <a:noFill/>
          <a:ln/>
        </p:spPr>
        <p:txBody>
          <a:bodyPr wrap="square" lIns="0" tIns="0" rIns="0" bIns="0" rtlCol="0" anchor="ctr"/>
          <a:lstStyle/>
          <a:p>
            <a:pPr algn="r" indent="0" marL="0">
              <a:buNone/>
            </a:pPr>
            <a:endParaRPr lang="en-US" sz="760" dirty="0"/>
          </a:p>
        </p:txBody>
      </p:sp>
      <p:sp>
        <p:nvSpPr>
          <p:cNvPr id="155" name="Shape 153"/>
          <p:cNvSpPr/>
          <p:nvPr/>
        </p:nvSpPr>
        <p:spPr>
          <a:xfrm>
            <a:off x="5181834" y="2542032"/>
            <a:ext cx="660478" cy="246888"/>
          </a:xfrm>
          <a:prstGeom prst="rect">
            <a:avLst/>
          </a:prstGeom>
          <a:solidFill>
            <a:srgbClr val="FFFFFF"/>
          </a:solidFill>
          <a:ln w="5080">
            <a:solidFill>
              <a:srgbClr val="D3DCE5"/>
            </a:solidFill>
            <a:prstDash val="solid"/>
          </a:ln>
        </p:spPr>
      </p:sp>
      <p:sp>
        <p:nvSpPr>
          <p:cNvPr id="156" name="Text 154"/>
          <p:cNvSpPr txBox="1"/>
          <p:nvPr/>
        </p:nvSpPr>
        <p:spPr>
          <a:xfrm>
            <a:off x="5181834" y="254203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1,297</a:t>
            </a:r>
            <a:endParaRPr lang="en-US" sz="760" dirty="0"/>
          </a:p>
        </p:txBody>
      </p:sp>
      <p:sp>
        <p:nvSpPr>
          <p:cNvPr id="157" name="Shape 155"/>
          <p:cNvSpPr/>
          <p:nvPr/>
        </p:nvSpPr>
        <p:spPr>
          <a:xfrm>
            <a:off x="5842313" y="2542032"/>
            <a:ext cx="660478" cy="246888"/>
          </a:xfrm>
          <a:prstGeom prst="rect">
            <a:avLst/>
          </a:prstGeom>
          <a:solidFill>
            <a:srgbClr val="FFFFFF"/>
          </a:solidFill>
          <a:ln w="5080">
            <a:solidFill>
              <a:srgbClr val="D3DCE5"/>
            </a:solidFill>
            <a:prstDash val="solid"/>
          </a:ln>
        </p:spPr>
      </p:sp>
      <p:sp>
        <p:nvSpPr>
          <p:cNvPr id="158" name="Text 156"/>
          <p:cNvSpPr txBox="1"/>
          <p:nvPr/>
        </p:nvSpPr>
        <p:spPr>
          <a:xfrm>
            <a:off x="5842313" y="254203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1,476</a:t>
            </a:r>
            <a:endParaRPr lang="en-US" sz="760" dirty="0"/>
          </a:p>
        </p:txBody>
      </p:sp>
      <p:sp>
        <p:nvSpPr>
          <p:cNvPr id="159" name="Shape 157"/>
          <p:cNvSpPr/>
          <p:nvPr/>
        </p:nvSpPr>
        <p:spPr>
          <a:xfrm>
            <a:off x="6502791" y="2542032"/>
            <a:ext cx="660478" cy="246888"/>
          </a:xfrm>
          <a:prstGeom prst="rect">
            <a:avLst/>
          </a:prstGeom>
          <a:solidFill>
            <a:srgbClr val="FFFFFF"/>
          </a:solidFill>
          <a:ln w="5080">
            <a:solidFill>
              <a:srgbClr val="D3DCE5"/>
            </a:solidFill>
            <a:prstDash val="solid"/>
          </a:ln>
        </p:spPr>
      </p:sp>
      <p:sp>
        <p:nvSpPr>
          <p:cNvPr id="160" name="Text 158"/>
          <p:cNvSpPr txBox="1"/>
          <p:nvPr/>
        </p:nvSpPr>
        <p:spPr>
          <a:xfrm>
            <a:off x="6502791" y="254203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1,558</a:t>
            </a:r>
            <a:endParaRPr lang="en-US" sz="760" dirty="0"/>
          </a:p>
        </p:txBody>
      </p:sp>
      <p:sp>
        <p:nvSpPr>
          <p:cNvPr id="161" name="Shape 159"/>
          <p:cNvSpPr/>
          <p:nvPr/>
        </p:nvSpPr>
        <p:spPr>
          <a:xfrm>
            <a:off x="7163269" y="2542032"/>
            <a:ext cx="660478" cy="246888"/>
          </a:xfrm>
          <a:prstGeom prst="rect">
            <a:avLst/>
          </a:prstGeom>
          <a:solidFill>
            <a:srgbClr val="FFFFFF"/>
          </a:solidFill>
          <a:ln w="5080">
            <a:solidFill>
              <a:srgbClr val="D3DCE5"/>
            </a:solidFill>
            <a:prstDash val="solid"/>
          </a:ln>
        </p:spPr>
      </p:sp>
      <p:sp>
        <p:nvSpPr>
          <p:cNvPr id="162" name="Text 160"/>
          <p:cNvSpPr txBox="1"/>
          <p:nvPr/>
        </p:nvSpPr>
        <p:spPr>
          <a:xfrm>
            <a:off x="7163269" y="254203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1,782</a:t>
            </a:r>
            <a:endParaRPr lang="en-US" sz="760" dirty="0"/>
          </a:p>
        </p:txBody>
      </p:sp>
      <p:sp>
        <p:nvSpPr>
          <p:cNvPr id="163" name="Shape 161"/>
          <p:cNvSpPr/>
          <p:nvPr/>
        </p:nvSpPr>
        <p:spPr>
          <a:xfrm>
            <a:off x="7823747" y="2542032"/>
            <a:ext cx="660478" cy="246888"/>
          </a:xfrm>
          <a:prstGeom prst="rect">
            <a:avLst/>
          </a:prstGeom>
          <a:solidFill>
            <a:srgbClr val="FFFFFF"/>
          </a:solidFill>
          <a:ln w="5080">
            <a:solidFill>
              <a:srgbClr val="D3DCE5"/>
            </a:solidFill>
            <a:prstDash val="solid"/>
          </a:ln>
        </p:spPr>
      </p:sp>
      <p:sp>
        <p:nvSpPr>
          <p:cNvPr id="164" name="Text 162"/>
          <p:cNvSpPr txBox="1"/>
          <p:nvPr/>
        </p:nvSpPr>
        <p:spPr>
          <a:xfrm>
            <a:off x="7823747" y="254203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2,061</a:t>
            </a:r>
            <a:endParaRPr lang="en-US" sz="760" dirty="0"/>
          </a:p>
        </p:txBody>
      </p:sp>
      <p:sp>
        <p:nvSpPr>
          <p:cNvPr id="165" name="Shape 163"/>
          <p:cNvSpPr/>
          <p:nvPr/>
        </p:nvSpPr>
        <p:spPr>
          <a:xfrm>
            <a:off x="8484225" y="2542032"/>
            <a:ext cx="660478" cy="246888"/>
          </a:xfrm>
          <a:prstGeom prst="rect">
            <a:avLst/>
          </a:prstGeom>
          <a:solidFill>
            <a:srgbClr val="FFFFFF"/>
          </a:solidFill>
          <a:ln w="5080">
            <a:solidFill>
              <a:srgbClr val="D3DCE5"/>
            </a:solidFill>
            <a:prstDash val="solid"/>
          </a:ln>
        </p:spPr>
      </p:sp>
      <p:sp>
        <p:nvSpPr>
          <p:cNvPr id="166" name="Text 164"/>
          <p:cNvSpPr txBox="1"/>
          <p:nvPr/>
        </p:nvSpPr>
        <p:spPr>
          <a:xfrm>
            <a:off x="8484225" y="254203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2,527</a:t>
            </a:r>
            <a:endParaRPr lang="en-US" sz="760" dirty="0"/>
          </a:p>
        </p:txBody>
      </p:sp>
      <p:sp>
        <p:nvSpPr>
          <p:cNvPr id="167" name="Shape 165"/>
          <p:cNvSpPr/>
          <p:nvPr/>
        </p:nvSpPr>
        <p:spPr>
          <a:xfrm>
            <a:off x="9144703" y="2542032"/>
            <a:ext cx="660478" cy="246888"/>
          </a:xfrm>
          <a:prstGeom prst="rect">
            <a:avLst/>
          </a:prstGeom>
          <a:solidFill>
            <a:srgbClr val="FFFFFF"/>
          </a:solidFill>
          <a:ln w="5080">
            <a:solidFill>
              <a:srgbClr val="D3DCE5"/>
            </a:solidFill>
            <a:prstDash val="solid"/>
          </a:ln>
        </p:spPr>
      </p:sp>
      <p:sp>
        <p:nvSpPr>
          <p:cNvPr id="168" name="Text 166"/>
          <p:cNvSpPr txBox="1"/>
          <p:nvPr/>
        </p:nvSpPr>
        <p:spPr>
          <a:xfrm>
            <a:off x="9144703" y="254203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2,908</a:t>
            </a:r>
            <a:endParaRPr lang="en-US" sz="760" dirty="0"/>
          </a:p>
        </p:txBody>
      </p:sp>
      <p:sp>
        <p:nvSpPr>
          <p:cNvPr id="169" name="Shape 167"/>
          <p:cNvSpPr/>
          <p:nvPr/>
        </p:nvSpPr>
        <p:spPr>
          <a:xfrm>
            <a:off x="9805182" y="2542032"/>
            <a:ext cx="660478" cy="246888"/>
          </a:xfrm>
          <a:prstGeom prst="rect">
            <a:avLst/>
          </a:prstGeom>
          <a:solidFill>
            <a:srgbClr val="FFFFFF"/>
          </a:solidFill>
          <a:ln w="5080">
            <a:solidFill>
              <a:srgbClr val="D3DCE5"/>
            </a:solidFill>
            <a:prstDash val="solid"/>
          </a:ln>
        </p:spPr>
      </p:sp>
      <p:sp>
        <p:nvSpPr>
          <p:cNvPr id="170" name="Text 168"/>
          <p:cNvSpPr txBox="1"/>
          <p:nvPr/>
        </p:nvSpPr>
        <p:spPr>
          <a:xfrm>
            <a:off x="9805182" y="254203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3,101</a:t>
            </a:r>
            <a:endParaRPr lang="en-US" sz="760" dirty="0"/>
          </a:p>
        </p:txBody>
      </p:sp>
      <p:sp>
        <p:nvSpPr>
          <p:cNvPr id="171" name="Shape 169"/>
          <p:cNvSpPr/>
          <p:nvPr/>
        </p:nvSpPr>
        <p:spPr>
          <a:xfrm>
            <a:off x="10465660" y="2542032"/>
            <a:ext cx="660478" cy="246888"/>
          </a:xfrm>
          <a:prstGeom prst="rect">
            <a:avLst/>
          </a:prstGeom>
          <a:solidFill>
            <a:srgbClr val="FFFFFF"/>
          </a:solidFill>
          <a:ln w="5080">
            <a:solidFill>
              <a:srgbClr val="D3DCE5"/>
            </a:solidFill>
            <a:prstDash val="solid"/>
          </a:ln>
        </p:spPr>
      </p:sp>
      <p:sp>
        <p:nvSpPr>
          <p:cNvPr id="172" name="Text 170"/>
          <p:cNvSpPr txBox="1"/>
          <p:nvPr/>
        </p:nvSpPr>
        <p:spPr>
          <a:xfrm>
            <a:off x="10465660" y="254203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3,194</a:t>
            </a:r>
            <a:endParaRPr lang="en-US" sz="760" dirty="0"/>
          </a:p>
        </p:txBody>
      </p:sp>
      <p:sp>
        <p:nvSpPr>
          <p:cNvPr id="173" name="Shape 171"/>
          <p:cNvSpPr/>
          <p:nvPr/>
        </p:nvSpPr>
        <p:spPr>
          <a:xfrm>
            <a:off x="11126138" y="2542032"/>
            <a:ext cx="660478" cy="246888"/>
          </a:xfrm>
          <a:prstGeom prst="rect">
            <a:avLst/>
          </a:prstGeom>
          <a:solidFill>
            <a:srgbClr val="FFFFFF"/>
          </a:solidFill>
          <a:ln w="5080">
            <a:solidFill>
              <a:srgbClr val="D3DCE5"/>
            </a:solidFill>
            <a:prstDash val="solid"/>
          </a:ln>
        </p:spPr>
      </p:sp>
      <p:sp>
        <p:nvSpPr>
          <p:cNvPr id="174" name="Text 172"/>
          <p:cNvSpPr txBox="1"/>
          <p:nvPr/>
        </p:nvSpPr>
        <p:spPr>
          <a:xfrm>
            <a:off x="11126138" y="254203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3,236</a:t>
            </a:r>
            <a:endParaRPr lang="en-US" sz="760" dirty="0"/>
          </a:p>
        </p:txBody>
      </p:sp>
      <p:sp>
        <p:nvSpPr>
          <p:cNvPr id="175" name="Shape 173"/>
          <p:cNvSpPr/>
          <p:nvPr/>
        </p:nvSpPr>
        <p:spPr>
          <a:xfrm>
            <a:off x="411480" y="2788920"/>
            <a:ext cx="2788920" cy="246888"/>
          </a:xfrm>
          <a:prstGeom prst="rect">
            <a:avLst/>
          </a:prstGeom>
          <a:solidFill>
            <a:srgbClr val="F7F9FB"/>
          </a:solidFill>
          <a:ln w="5080">
            <a:solidFill>
              <a:srgbClr val="D3DCE5"/>
            </a:solidFill>
            <a:prstDash val="solid"/>
          </a:ln>
        </p:spPr>
      </p:sp>
      <p:sp>
        <p:nvSpPr>
          <p:cNvPr id="176" name="Text 174"/>
          <p:cNvSpPr txBox="1"/>
          <p:nvPr/>
        </p:nvSpPr>
        <p:spPr>
          <a:xfrm>
            <a:off x="475488" y="2788920"/>
            <a:ext cx="2660904" cy="24688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Capital expenditure</a:t>
            </a:r>
            <a:endParaRPr lang="en-US" sz="780" dirty="0"/>
          </a:p>
        </p:txBody>
      </p:sp>
      <p:sp>
        <p:nvSpPr>
          <p:cNvPr id="177" name="Shape 175"/>
          <p:cNvSpPr/>
          <p:nvPr/>
        </p:nvSpPr>
        <p:spPr>
          <a:xfrm>
            <a:off x="3200400" y="2788920"/>
            <a:ext cx="660478" cy="246888"/>
          </a:xfrm>
          <a:prstGeom prst="rect">
            <a:avLst/>
          </a:prstGeom>
          <a:solidFill>
            <a:srgbClr val="F7F9FB"/>
          </a:solidFill>
          <a:ln w="5080">
            <a:solidFill>
              <a:srgbClr val="D3DCE5"/>
            </a:solidFill>
            <a:prstDash val="solid"/>
          </a:ln>
        </p:spPr>
      </p:sp>
      <p:sp>
        <p:nvSpPr>
          <p:cNvPr id="178" name="Text 176"/>
          <p:cNvSpPr txBox="1"/>
          <p:nvPr/>
        </p:nvSpPr>
        <p:spPr>
          <a:xfrm>
            <a:off x="3200400" y="2788920"/>
            <a:ext cx="614758" cy="246888"/>
          </a:xfrm>
          <a:prstGeom prst="rect">
            <a:avLst/>
          </a:prstGeom>
          <a:noFill/>
          <a:ln/>
        </p:spPr>
        <p:txBody>
          <a:bodyPr wrap="square" lIns="0" tIns="0" rIns="0" bIns="0" rtlCol="0" anchor="ctr"/>
          <a:lstStyle/>
          <a:p>
            <a:pPr algn="r" indent="0" marL="0">
              <a:buNone/>
            </a:pPr>
            <a:endParaRPr lang="en-US" sz="760" dirty="0"/>
          </a:p>
        </p:txBody>
      </p:sp>
      <p:sp>
        <p:nvSpPr>
          <p:cNvPr id="179" name="Shape 177"/>
          <p:cNvSpPr/>
          <p:nvPr/>
        </p:nvSpPr>
        <p:spPr>
          <a:xfrm>
            <a:off x="3860878" y="2788920"/>
            <a:ext cx="660478" cy="246888"/>
          </a:xfrm>
          <a:prstGeom prst="rect">
            <a:avLst/>
          </a:prstGeom>
          <a:solidFill>
            <a:srgbClr val="F7F9FB"/>
          </a:solidFill>
          <a:ln w="5080">
            <a:solidFill>
              <a:srgbClr val="D3DCE5"/>
            </a:solidFill>
            <a:prstDash val="solid"/>
          </a:ln>
        </p:spPr>
      </p:sp>
      <p:sp>
        <p:nvSpPr>
          <p:cNvPr id="180" name="Text 178"/>
          <p:cNvSpPr txBox="1"/>
          <p:nvPr/>
        </p:nvSpPr>
        <p:spPr>
          <a:xfrm>
            <a:off x="3860878" y="2788920"/>
            <a:ext cx="614758" cy="246888"/>
          </a:xfrm>
          <a:prstGeom prst="rect">
            <a:avLst/>
          </a:prstGeom>
          <a:noFill/>
          <a:ln/>
        </p:spPr>
        <p:txBody>
          <a:bodyPr wrap="square" lIns="0" tIns="0" rIns="0" bIns="0" rtlCol="0" anchor="ctr"/>
          <a:lstStyle/>
          <a:p>
            <a:pPr algn="r" indent="0" marL="0">
              <a:buNone/>
            </a:pPr>
            <a:endParaRPr lang="en-US" sz="760" dirty="0"/>
          </a:p>
        </p:txBody>
      </p:sp>
      <p:sp>
        <p:nvSpPr>
          <p:cNvPr id="181" name="Shape 179"/>
          <p:cNvSpPr/>
          <p:nvPr/>
        </p:nvSpPr>
        <p:spPr>
          <a:xfrm>
            <a:off x="4521356" y="2788920"/>
            <a:ext cx="660478" cy="246888"/>
          </a:xfrm>
          <a:prstGeom prst="rect">
            <a:avLst/>
          </a:prstGeom>
          <a:solidFill>
            <a:srgbClr val="F7F9FB"/>
          </a:solidFill>
          <a:ln w="5080">
            <a:solidFill>
              <a:srgbClr val="D3DCE5"/>
            </a:solidFill>
            <a:prstDash val="solid"/>
          </a:ln>
        </p:spPr>
      </p:sp>
      <p:sp>
        <p:nvSpPr>
          <p:cNvPr id="182" name="Text 180"/>
          <p:cNvSpPr txBox="1"/>
          <p:nvPr/>
        </p:nvSpPr>
        <p:spPr>
          <a:xfrm>
            <a:off x="4521356"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(328)</a:t>
            </a:r>
            <a:endParaRPr lang="en-US" sz="760" dirty="0"/>
          </a:p>
        </p:txBody>
      </p:sp>
      <p:sp>
        <p:nvSpPr>
          <p:cNvPr id="183" name="Shape 181"/>
          <p:cNvSpPr/>
          <p:nvPr/>
        </p:nvSpPr>
        <p:spPr>
          <a:xfrm>
            <a:off x="5181834" y="2788920"/>
            <a:ext cx="660478" cy="246888"/>
          </a:xfrm>
          <a:prstGeom prst="rect">
            <a:avLst/>
          </a:prstGeom>
          <a:solidFill>
            <a:srgbClr val="F7F9FB"/>
          </a:solidFill>
          <a:ln w="5080">
            <a:solidFill>
              <a:srgbClr val="D3DCE5"/>
            </a:solidFill>
            <a:prstDash val="solid"/>
          </a:ln>
        </p:spPr>
      </p:sp>
      <p:sp>
        <p:nvSpPr>
          <p:cNvPr id="184" name="Text 182"/>
          <p:cNvSpPr txBox="1"/>
          <p:nvPr/>
        </p:nvSpPr>
        <p:spPr>
          <a:xfrm>
            <a:off x="5181834"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(652)</a:t>
            </a:r>
            <a:endParaRPr lang="en-US" sz="760" dirty="0"/>
          </a:p>
        </p:txBody>
      </p:sp>
      <p:sp>
        <p:nvSpPr>
          <p:cNvPr id="185" name="Shape 183"/>
          <p:cNvSpPr/>
          <p:nvPr/>
        </p:nvSpPr>
        <p:spPr>
          <a:xfrm>
            <a:off x="5842313" y="2788920"/>
            <a:ext cx="660478" cy="246888"/>
          </a:xfrm>
          <a:prstGeom prst="rect">
            <a:avLst/>
          </a:prstGeom>
          <a:solidFill>
            <a:srgbClr val="F7F9FB"/>
          </a:solidFill>
          <a:ln w="5080">
            <a:solidFill>
              <a:srgbClr val="D3DCE5"/>
            </a:solidFill>
            <a:prstDash val="solid"/>
          </a:ln>
        </p:spPr>
      </p:sp>
      <p:sp>
        <p:nvSpPr>
          <p:cNvPr id="186" name="Text 184"/>
          <p:cNvSpPr txBox="1"/>
          <p:nvPr/>
        </p:nvSpPr>
        <p:spPr>
          <a:xfrm>
            <a:off x="5842313"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(880)</a:t>
            </a:r>
            <a:endParaRPr lang="en-US" sz="760" dirty="0"/>
          </a:p>
        </p:txBody>
      </p:sp>
      <p:sp>
        <p:nvSpPr>
          <p:cNvPr id="187" name="Shape 185"/>
          <p:cNvSpPr/>
          <p:nvPr/>
        </p:nvSpPr>
        <p:spPr>
          <a:xfrm>
            <a:off x="6502791" y="2788920"/>
            <a:ext cx="660478" cy="246888"/>
          </a:xfrm>
          <a:prstGeom prst="rect">
            <a:avLst/>
          </a:prstGeom>
          <a:solidFill>
            <a:srgbClr val="F7F9FB"/>
          </a:solidFill>
          <a:ln w="5080">
            <a:solidFill>
              <a:srgbClr val="D3DCE5"/>
            </a:solidFill>
            <a:prstDash val="solid"/>
          </a:ln>
        </p:spPr>
      </p:sp>
      <p:sp>
        <p:nvSpPr>
          <p:cNvPr id="188" name="Text 186"/>
          <p:cNvSpPr txBox="1"/>
          <p:nvPr/>
        </p:nvSpPr>
        <p:spPr>
          <a:xfrm>
            <a:off x="6502791"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(1,020)</a:t>
            </a:r>
            <a:endParaRPr lang="en-US" sz="760" dirty="0"/>
          </a:p>
        </p:txBody>
      </p:sp>
      <p:sp>
        <p:nvSpPr>
          <p:cNvPr id="189" name="Shape 187"/>
          <p:cNvSpPr/>
          <p:nvPr/>
        </p:nvSpPr>
        <p:spPr>
          <a:xfrm>
            <a:off x="7163269" y="2788920"/>
            <a:ext cx="660478" cy="246888"/>
          </a:xfrm>
          <a:prstGeom prst="rect">
            <a:avLst/>
          </a:prstGeom>
          <a:solidFill>
            <a:srgbClr val="F7F9FB"/>
          </a:solidFill>
          <a:ln w="5080">
            <a:solidFill>
              <a:srgbClr val="D3DCE5"/>
            </a:solidFill>
            <a:prstDash val="solid"/>
          </a:ln>
        </p:spPr>
      </p:sp>
      <p:sp>
        <p:nvSpPr>
          <p:cNvPr id="190" name="Text 188"/>
          <p:cNvSpPr txBox="1"/>
          <p:nvPr/>
        </p:nvSpPr>
        <p:spPr>
          <a:xfrm>
            <a:off x="7163269"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(760)</a:t>
            </a:r>
            <a:endParaRPr lang="en-US" sz="760" dirty="0"/>
          </a:p>
        </p:txBody>
      </p:sp>
      <p:sp>
        <p:nvSpPr>
          <p:cNvPr id="191" name="Shape 189"/>
          <p:cNvSpPr/>
          <p:nvPr/>
        </p:nvSpPr>
        <p:spPr>
          <a:xfrm>
            <a:off x="7823747" y="2788920"/>
            <a:ext cx="660478" cy="246888"/>
          </a:xfrm>
          <a:prstGeom prst="rect">
            <a:avLst/>
          </a:prstGeom>
          <a:solidFill>
            <a:srgbClr val="F7F9FB"/>
          </a:solidFill>
          <a:ln w="5080">
            <a:solidFill>
              <a:srgbClr val="D3DCE5"/>
            </a:solidFill>
            <a:prstDash val="solid"/>
          </a:ln>
        </p:spPr>
      </p:sp>
      <p:sp>
        <p:nvSpPr>
          <p:cNvPr id="192" name="Text 190"/>
          <p:cNvSpPr txBox="1"/>
          <p:nvPr/>
        </p:nvSpPr>
        <p:spPr>
          <a:xfrm>
            <a:off x="7823747"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(560)</a:t>
            </a:r>
            <a:endParaRPr lang="en-US" sz="760" dirty="0"/>
          </a:p>
        </p:txBody>
      </p:sp>
      <p:sp>
        <p:nvSpPr>
          <p:cNvPr id="193" name="Shape 191"/>
          <p:cNvSpPr/>
          <p:nvPr/>
        </p:nvSpPr>
        <p:spPr>
          <a:xfrm>
            <a:off x="8484225" y="2788920"/>
            <a:ext cx="660478" cy="246888"/>
          </a:xfrm>
          <a:prstGeom prst="rect">
            <a:avLst/>
          </a:prstGeom>
          <a:solidFill>
            <a:srgbClr val="F7F9FB"/>
          </a:solidFill>
          <a:ln w="5080">
            <a:solidFill>
              <a:srgbClr val="D3DCE5"/>
            </a:solidFill>
            <a:prstDash val="solid"/>
          </a:ln>
        </p:spPr>
      </p:sp>
      <p:sp>
        <p:nvSpPr>
          <p:cNvPr id="194" name="Text 192"/>
          <p:cNvSpPr txBox="1"/>
          <p:nvPr/>
        </p:nvSpPr>
        <p:spPr>
          <a:xfrm>
            <a:off x="8484225"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(520)</a:t>
            </a:r>
            <a:endParaRPr lang="en-US" sz="760" dirty="0"/>
          </a:p>
        </p:txBody>
      </p:sp>
      <p:sp>
        <p:nvSpPr>
          <p:cNvPr id="195" name="Shape 193"/>
          <p:cNvSpPr/>
          <p:nvPr/>
        </p:nvSpPr>
        <p:spPr>
          <a:xfrm>
            <a:off x="9144703" y="2788920"/>
            <a:ext cx="660478" cy="246888"/>
          </a:xfrm>
          <a:prstGeom prst="rect">
            <a:avLst/>
          </a:prstGeom>
          <a:solidFill>
            <a:srgbClr val="F7F9FB"/>
          </a:solidFill>
          <a:ln w="5080">
            <a:solidFill>
              <a:srgbClr val="D3DCE5"/>
            </a:solidFill>
            <a:prstDash val="solid"/>
          </a:ln>
        </p:spPr>
      </p:sp>
      <p:sp>
        <p:nvSpPr>
          <p:cNvPr id="196" name="Text 194"/>
          <p:cNvSpPr txBox="1"/>
          <p:nvPr/>
        </p:nvSpPr>
        <p:spPr>
          <a:xfrm>
            <a:off x="9144703"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(430)</a:t>
            </a:r>
            <a:endParaRPr lang="en-US" sz="760" dirty="0"/>
          </a:p>
        </p:txBody>
      </p:sp>
      <p:sp>
        <p:nvSpPr>
          <p:cNvPr id="197" name="Shape 195"/>
          <p:cNvSpPr/>
          <p:nvPr/>
        </p:nvSpPr>
        <p:spPr>
          <a:xfrm>
            <a:off x="9805182" y="2788920"/>
            <a:ext cx="660478" cy="246888"/>
          </a:xfrm>
          <a:prstGeom prst="rect">
            <a:avLst/>
          </a:prstGeom>
          <a:solidFill>
            <a:srgbClr val="F7F9FB"/>
          </a:solidFill>
          <a:ln w="5080">
            <a:solidFill>
              <a:srgbClr val="D3DCE5"/>
            </a:solidFill>
            <a:prstDash val="solid"/>
          </a:ln>
        </p:spPr>
      </p:sp>
      <p:sp>
        <p:nvSpPr>
          <p:cNvPr id="198" name="Text 196"/>
          <p:cNvSpPr txBox="1"/>
          <p:nvPr/>
        </p:nvSpPr>
        <p:spPr>
          <a:xfrm>
            <a:off x="9805182"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(390)</a:t>
            </a:r>
            <a:endParaRPr lang="en-US" sz="760" dirty="0"/>
          </a:p>
        </p:txBody>
      </p:sp>
      <p:sp>
        <p:nvSpPr>
          <p:cNvPr id="199" name="Shape 197"/>
          <p:cNvSpPr/>
          <p:nvPr/>
        </p:nvSpPr>
        <p:spPr>
          <a:xfrm>
            <a:off x="10465660" y="2788920"/>
            <a:ext cx="660478" cy="246888"/>
          </a:xfrm>
          <a:prstGeom prst="rect">
            <a:avLst/>
          </a:prstGeom>
          <a:solidFill>
            <a:srgbClr val="F7F9FB"/>
          </a:solidFill>
          <a:ln w="5080">
            <a:solidFill>
              <a:srgbClr val="D3DCE5"/>
            </a:solidFill>
            <a:prstDash val="solid"/>
          </a:ln>
        </p:spPr>
      </p:sp>
      <p:sp>
        <p:nvSpPr>
          <p:cNvPr id="200" name="Text 198"/>
          <p:cNvSpPr txBox="1"/>
          <p:nvPr/>
        </p:nvSpPr>
        <p:spPr>
          <a:xfrm>
            <a:off x="10465660"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(370)</a:t>
            </a:r>
            <a:endParaRPr lang="en-US" sz="760" dirty="0"/>
          </a:p>
        </p:txBody>
      </p:sp>
      <p:sp>
        <p:nvSpPr>
          <p:cNvPr id="201" name="Shape 199"/>
          <p:cNvSpPr/>
          <p:nvPr/>
        </p:nvSpPr>
        <p:spPr>
          <a:xfrm>
            <a:off x="11126138" y="2788920"/>
            <a:ext cx="660478" cy="246888"/>
          </a:xfrm>
          <a:prstGeom prst="rect">
            <a:avLst/>
          </a:prstGeom>
          <a:solidFill>
            <a:srgbClr val="F7F9FB"/>
          </a:solidFill>
          <a:ln w="5080">
            <a:solidFill>
              <a:srgbClr val="D3DCE5"/>
            </a:solidFill>
            <a:prstDash val="solid"/>
          </a:ln>
        </p:spPr>
      </p:sp>
      <p:sp>
        <p:nvSpPr>
          <p:cNvPr id="202" name="Text 200"/>
          <p:cNvSpPr txBox="1"/>
          <p:nvPr/>
        </p:nvSpPr>
        <p:spPr>
          <a:xfrm>
            <a:off x="11126138" y="2788920"/>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(370)</a:t>
            </a:r>
            <a:endParaRPr lang="en-US" sz="760" dirty="0"/>
          </a:p>
        </p:txBody>
      </p:sp>
      <p:sp>
        <p:nvSpPr>
          <p:cNvPr id="203" name="Shape 201"/>
          <p:cNvSpPr/>
          <p:nvPr/>
        </p:nvSpPr>
        <p:spPr>
          <a:xfrm>
            <a:off x="411480" y="3035808"/>
            <a:ext cx="2788920" cy="246888"/>
          </a:xfrm>
          <a:prstGeom prst="rect">
            <a:avLst/>
          </a:prstGeom>
          <a:solidFill>
            <a:srgbClr val="D6EBE7"/>
          </a:solidFill>
          <a:ln w="5080">
            <a:solidFill>
              <a:srgbClr val="D3DCE5"/>
            </a:solidFill>
            <a:prstDash val="solid"/>
          </a:ln>
        </p:spPr>
      </p:sp>
      <p:sp>
        <p:nvSpPr>
          <p:cNvPr id="204" name="Text 202"/>
          <p:cNvSpPr txBox="1"/>
          <p:nvPr/>
        </p:nvSpPr>
        <p:spPr>
          <a:xfrm>
            <a:off x="475488" y="3035808"/>
            <a:ext cx="2660904" cy="246888"/>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Free cash flow to the firm</a:t>
            </a:r>
            <a:endParaRPr lang="en-US" sz="780" dirty="0"/>
          </a:p>
        </p:txBody>
      </p:sp>
      <p:sp>
        <p:nvSpPr>
          <p:cNvPr id="205" name="Shape 203"/>
          <p:cNvSpPr/>
          <p:nvPr/>
        </p:nvSpPr>
        <p:spPr>
          <a:xfrm>
            <a:off x="3200400" y="3035808"/>
            <a:ext cx="660478" cy="246888"/>
          </a:xfrm>
          <a:prstGeom prst="rect">
            <a:avLst/>
          </a:prstGeom>
          <a:solidFill>
            <a:srgbClr val="D6EBE7"/>
          </a:solidFill>
          <a:ln w="5080">
            <a:solidFill>
              <a:srgbClr val="D3DCE5"/>
            </a:solidFill>
            <a:prstDash val="solid"/>
          </a:ln>
        </p:spPr>
      </p:sp>
      <p:sp>
        <p:nvSpPr>
          <p:cNvPr id="206" name="Text 204"/>
          <p:cNvSpPr txBox="1"/>
          <p:nvPr/>
        </p:nvSpPr>
        <p:spPr>
          <a:xfrm>
            <a:off x="3200400" y="3035808"/>
            <a:ext cx="614758" cy="246888"/>
          </a:xfrm>
          <a:prstGeom prst="rect">
            <a:avLst/>
          </a:prstGeom>
          <a:noFill/>
          <a:ln/>
        </p:spPr>
        <p:txBody>
          <a:bodyPr wrap="square" lIns="0" tIns="0" rIns="0" bIns="0" rtlCol="0" anchor="ctr"/>
          <a:lstStyle/>
          <a:p>
            <a:pPr algn="r" indent="0" marL="0">
              <a:buNone/>
            </a:pPr>
            <a:endParaRPr lang="en-US" sz="760" dirty="0"/>
          </a:p>
        </p:txBody>
      </p:sp>
      <p:sp>
        <p:nvSpPr>
          <p:cNvPr id="207" name="Shape 205"/>
          <p:cNvSpPr/>
          <p:nvPr/>
        </p:nvSpPr>
        <p:spPr>
          <a:xfrm>
            <a:off x="3860878" y="3035808"/>
            <a:ext cx="660478" cy="246888"/>
          </a:xfrm>
          <a:prstGeom prst="rect">
            <a:avLst/>
          </a:prstGeom>
          <a:solidFill>
            <a:srgbClr val="D6EBE7"/>
          </a:solidFill>
          <a:ln w="5080">
            <a:solidFill>
              <a:srgbClr val="D3DCE5"/>
            </a:solidFill>
            <a:prstDash val="solid"/>
          </a:ln>
        </p:spPr>
      </p:sp>
      <p:sp>
        <p:nvSpPr>
          <p:cNvPr id="208" name="Text 206"/>
          <p:cNvSpPr txBox="1"/>
          <p:nvPr/>
        </p:nvSpPr>
        <p:spPr>
          <a:xfrm>
            <a:off x="3860878" y="3035808"/>
            <a:ext cx="614758" cy="246888"/>
          </a:xfrm>
          <a:prstGeom prst="rect">
            <a:avLst/>
          </a:prstGeom>
          <a:noFill/>
          <a:ln/>
        </p:spPr>
        <p:txBody>
          <a:bodyPr wrap="square" lIns="0" tIns="0" rIns="0" bIns="0" rtlCol="0" anchor="ctr"/>
          <a:lstStyle/>
          <a:p>
            <a:pPr algn="r" indent="0" marL="0">
              <a:buNone/>
            </a:pPr>
            <a:endParaRPr lang="en-US" sz="760" dirty="0"/>
          </a:p>
        </p:txBody>
      </p:sp>
      <p:sp>
        <p:nvSpPr>
          <p:cNvPr id="209" name="Shape 207"/>
          <p:cNvSpPr/>
          <p:nvPr/>
        </p:nvSpPr>
        <p:spPr>
          <a:xfrm>
            <a:off x="4521356" y="3035808"/>
            <a:ext cx="660478" cy="246888"/>
          </a:xfrm>
          <a:prstGeom prst="rect">
            <a:avLst/>
          </a:prstGeom>
          <a:solidFill>
            <a:srgbClr val="D6EBE7"/>
          </a:solidFill>
          <a:ln w="5080">
            <a:solidFill>
              <a:srgbClr val="D3DCE5"/>
            </a:solidFill>
            <a:prstDash val="solid"/>
          </a:ln>
        </p:spPr>
      </p:sp>
      <p:sp>
        <p:nvSpPr>
          <p:cNvPr id="210" name="Text 208"/>
          <p:cNvSpPr txBox="1"/>
          <p:nvPr/>
        </p:nvSpPr>
        <p:spPr>
          <a:xfrm>
            <a:off x="4521356" y="3035808"/>
            <a:ext cx="614758" cy="246888"/>
          </a:xfrm>
          <a:prstGeom prst="rect">
            <a:avLst/>
          </a:prstGeom>
          <a:noFill/>
          <a:ln/>
        </p:spPr>
        <p:txBody>
          <a:bodyPr wrap="square" lIns="0" tIns="0" rIns="0" bIns="0" rtlCol="0" anchor="ctr"/>
          <a:lstStyle/>
          <a:p>
            <a:pPr algn="r" indent="0" marL="0">
              <a:buNone/>
            </a:pPr>
            <a:endParaRPr lang="en-US" sz="760" dirty="0"/>
          </a:p>
        </p:txBody>
      </p:sp>
      <p:sp>
        <p:nvSpPr>
          <p:cNvPr id="211" name="Shape 209"/>
          <p:cNvSpPr/>
          <p:nvPr/>
        </p:nvSpPr>
        <p:spPr>
          <a:xfrm>
            <a:off x="5181834" y="3035808"/>
            <a:ext cx="660478" cy="246888"/>
          </a:xfrm>
          <a:prstGeom prst="rect">
            <a:avLst/>
          </a:prstGeom>
          <a:solidFill>
            <a:srgbClr val="D6EBE7"/>
          </a:solidFill>
          <a:ln w="5080">
            <a:solidFill>
              <a:srgbClr val="D3DCE5"/>
            </a:solidFill>
            <a:prstDash val="solid"/>
          </a:ln>
        </p:spPr>
      </p:sp>
      <p:sp>
        <p:nvSpPr>
          <p:cNvPr id="212" name="Text 210"/>
          <p:cNvSpPr txBox="1"/>
          <p:nvPr/>
        </p:nvSpPr>
        <p:spPr>
          <a:xfrm>
            <a:off x="5181834" y="3035808"/>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645</a:t>
            </a:r>
            <a:endParaRPr lang="en-US" sz="760" dirty="0"/>
          </a:p>
        </p:txBody>
      </p:sp>
      <p:sp>
        <p:nvSpPr>
          <p:cNvPr id="213" name="Shape 211"/>
          <p:cNvSpPr/>
          <p:nvPr/>
        </p:nvSpPr>
        <p:spPr>
          <a:xfrm>
            <a:off x="5842313" y="3035808"/>
            <a:ext cx="660478" cy="246888"/>
          </a:xfrm>
          <a:prstGeom prst="rect">
            <a:avLst/>
          </a:prstGeom>
          <a:solidFill>
            <a:srgbClr val="D6EBE7"/>
          </a:solidFill>
          <a:ln w="5080">
            <a:solidFill>
              <a:srgbClr val="D3DCE5"/>
            </a:solidFill>
            <a:prstDash val="solid"/>
          </a:ln>
        </p:spPr>
      </p:sp>
      <p:sp>
        <p:nvSpPr>
          <p:cNvPr id="214" name="Text 212"/>
          <p:cNvSpPr txBox="1"/>
          <p:nvPr/>
        </p:nvSpPr>
        <p:spPr>
          <a:xfrm>
            <a:off x="5842313" y="3035808"/>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596</a:t>
            </a:r>
            <a:endParaRPr lang="en-US" sz="760" dirty="0"/>
          </a:p>
        </p:txBody>
      </p:sp>
      <p:sp>
        <p:nvSpPr>
          <p:cNvPr id="215" name="Shape 213"/>
          <p:cNvSpPr/>
          <p:nvPr/>
        </p:nvSpPr>
        <p:spPr>
          <a:xfrm>
            <a:off x="6502791" y="3035808"/>
            <a:ext cx="660478" cy="246888"/>
          </a:xfrm>
          <a:prstGeom prst="rect">
            <a:avLst/>
          </a:prstGeom>
          <a:solidFill>
            <a:srgbClr val="D6EBE7"/>
          </a:solidFill>
          <a:ln w="5080">
            <a:solidFill>
              <a:srgbClr val="D3DCE5"/>
            </a:solidFill>
            <a:prstDash val="solid"/>
          </a:ln>
        </p:spPr>
      </p:sp>
      <p:sp>
        <p:nvSpPr>
          <p:cNvPr id="216" name="Text 214"/>
          <p:cNvSpPr txBox="1"/>
          <p:nvPr/>
        </p:nvSpPr>
        <p:spPr>
          <a:xfrm>
            <a:off x="6502791" y="3035808"/>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538</a:t>
            </a:r>
            <a:endParaRPr lang="en-US" sz="760" dirty="0"/>
          </a:p>
        </p:txBody>
      </p:sp>
      <p:sp>
        <p:nvSpPr>
          <p:cNvPr id="217" name="Shape 215"/>
          <p:cNvSpPr/>
          <p:nvPr/>
        </p:nvSpPr>
        <p:spPr>
          <a:xfrm>
            <a:off x="7163269" y="3035808"/>
            <a:ext cx="660478" cy="246888"/>
          </a:xfrm>
          <a:prstGeom prst="rect">
            <a:avLst/>
          </a:prstGeom>
          <a:solidFill>
            <a:srgbClr val="D6EBE7"/>
          </a:solidFill>
          <a:ln w="5080">
            <a:solidFill>
              <a:srgbClr val="D3DCE5"/>
            </a:solidFill>
            <a:prstDash val="solid"/>
          </a:ln>
        </p:spPr>
      </p:sp>
      <p:sp>
        <p:nvSpPr>
          <p:cNvPr id="218" name="Text 216"/>
          <p:cNvSpPr txBox="1"/>
          <p:nvPr/>
        </p:nvSpPr>
        <p:spPr>
          <a:xfrm>
            <a:off x="7163269" y="3035808"/>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1,022</a:t>
            </a:r>
            <a:endParaRPr lang="en-US" sz="760" dirty="0"/>
          </a:p>
        </p:txBody>
      </p:sp>
      <p:sp>
        <p:nvSpPr>
          <p:cNvPr id="219" name="Shape 217"/>
          <p:cNvSpPr/>
          <p:nvPr/>
        </p:nvSpPr>
        <p:spPr>
          <a:xfrm>
            <a:off x="7823747" y="3035808"/>
            <a:ext cx="660478" cy="246888"/>
          </a:xfrm>
          <a:prstGeom prst="rect">
            <a:avLst/>
          </a:prstGeom>
          <a:solidFill>
            <a:srgbClr val="D6EBE7"/>
          </a:solidFill>
          <a:ln w="5080">
            <a:solidFill>
              <a:srgbClr val="D3DCE5"/>
            </a:solidFill>
            <a:prstDash val="solid"/>
          </a:ln>
        </p:spPr>
      </p:sp>
      <p:sp>
        <p:nvSpPr>
          <p:cNvPr id="220" name="Text 218"/>
          <p:cNvSpPr txBox="1"/>
          <p:nvPr/>
        </p:nvSpPr>
        <p:spPr>
          <a:xfrm>
            <a:off x="7823747" y="3035808"/>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1,501</a:t>
            </a:r>
            <a:endParaRPr lang="en-US" sz="760" dirty="0"/>
          </a:p>
        </p:txBody>
      </p:sp>
      <p:sp>
        <p:nvSpPr>
          <p:cNvPr id="221" name="Shape 219"/>
          <p:cNvSpPr/>
          <p:nvPr/>
        </p:nvSpPr>
        <p:spPr>
          <a:xfrm>
            <a:off x="8484225" y="3035808"/>
            <a:ext cx="660478" cy="246888"/>
          </a:xfrm>
          <a:prstGeom prst="rect">
            <a:avLst/>
          </a:prstGeom>
          <a:solidFill>
            <a:srgbClr val="D6EBE7"/>
          </a:solidFill>
          <a:ln w="5080">
            <a:solidFill>
              <a:srgbClr val="D3DCE5"/>
            </a:solidFill>
            <a:prstDash val="solid"/>
          </a:ln>
        </p:spPr>
      </p:sp>
      <p:sp>
        <p:nvSpPr>
          <p:cNvPr id="222" name="Text 220"/>
          <p:cNvSpPr txBox="1"/>
          <p:nvPr/>
        </p:nvSpPr>
        <p:spPr>
          <a:xfrm>
            <a:off x="8484225" y="3035808"/>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2,007</a:t>
            </a:r>
            <a:endParaRPr lang="en-US" sz="760" dirty="0"/>
          </a:p>
        </p:txBody>
      </p:sp>
      <p:sp>
        <p:nvSpPr>
          <p:cNvPr id="223" name="Shape 221"/>
          <p:cNvSpPr/>
          <p:nvPr/>
        </p:nvSpPr>
        <p:spPr>
          <a:xfrm>
            <a:off x="9144703" y="3035808"/>
            <a:ext cx="660478" cy="246888"/>
          </a:xfrm>
          <a:prstGeom prst="rect">
            <a:avLst/>
          </a:prstGeom>
          <a:solidFill>
            <a:srgbClr val="D6EBE7"/>
          </a:solidFill>
          <a:ln w="5080">
            <a:solidFill>
              <a:srgbClr val="D3DCE5"/>
            </a:solidFill>
            <a:prstDash val="solid"/>
          </a:ln>
        </p:spPr>
      </p:sp>
      <p:sp>
        <p:nvSpPr>
          <p:cNvPr id="224" name="Text 222"/>
          <p:cNvSpPr txBox="1"/>
          <p:nvPr/>
        </p:nvSpPr>
        <p:spPr>
          <a:xfrm>
            <a:off x="9144703" y="3035808"/>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2,478</a:t>
            </a:r>
            <a:endParaRPr lang="en-US" sz="760" dirty="0"/>
          </a:p>
        </p:txBody>
      </p:sp>
      <p:sp>
        <p:nvSpPr>
          <p:cNvPr id="225" name="Shape 223"/>
          <p:cNvSpPr/>
          <p:nvPr/>
        </p:nvSpPr>
        <p:spPr>
          <a:xfrm>
            <a:off x="9805182" y="3035808"/>
            <a:ext cx="660478" cy="246888"/>
          </a:xfrm>
          <a:prstGeom prst="rect">
            <a:avLst/>
          </a:prstGeom>
          <a:solidFill>
            <a:srgbClr val="D6EBE7"/>
          </a:solidFill>
          <a:ln w="5080">
            <a:solidFill>
              <a:srgbClr val="D3DCE5"/>
            </a:solidFill>
            <a:prstDash val="solid"/>
          </a:ln>
        </p:spPr>
      </p:sp>
      <p:sp>
        <p:nvSpPr>
          <p:cNvPr id="226" name="Text 224"/>
          <p:cNvSpPr txBox="1"/>
          <p:nvPr/>
        </p:nvSpPr>
        <p:spPr>
          <a:xfrm>
            <a:off x="9805182" y="3035808"/>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2,711</a:t>
            </a:r>
            <a:endParaRPr lang="en-US" sz="760" dirty="0"/>
          </a:p>
        </p:txBody>
      </p:sp>
      <p:sp>
        <p:nvSpPr>
          <p:cNvPr id="227" name="Shape 225"/>
          <p:cNvSpPr/>
          <p:nvPr/>
        </p:nvSpPr>
        <p:spPr>
          <a:xfrm>
            <a:off x="10465660" y="3035808"/>
            <a:ext cx="660478" cy="246888"/>
          </a:xfrm>
          <a:prstGeom prst="rect">
            <a:avLst/>
          </a:prstGeom>
          <a:solidFill>
            <a:srgbClr val="D6EBE7"/>
          </a:solidFill>
          <a:ln w="5080">
            <a:solidFill>
              <a:srgbClr val="D3DCE5"/>
            </a:solidFill>
            <a:prstDash val="solid"/>
          </a:ln>
        </p:spPr>
      </p:sp>
      <p:sp>
        <p:nvSpPr>
          <p:cNvPr id="228" name="Text 226"/>
          <p:cNvSpPr txBox="1"/>
          <p:nvPr/>
        </p:nvSpPr>
        <p:spPr>
          <a:xfrm>
            <a:off x="10465660" y="3035808"/>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2,824</a:t>
            </a:r>
            <a:endParaRPr lang="en-US" sz="760" dirty="0"/>
          </a:p>
        </p:txBody>
      </p:sp>
      <p:sp>
        <p:nvSpPr>
          <p:cNvPr id="229" name="Shape 227"/>
          <p:cNvSpPr/>
          <p:nvPr/>
        </p:nvSpPr>
        <p:spPr>
          <a:xfrm>
            <a:off x="11126138" y="3035808"/>
            <a:ext cx="660478" cy="246888"/>
          </a:xfrm>
          <a:prstGeom prst="rect">
            <a:avLst/>
          </a:prstGeom>
          <a:solidFill>
            <a:srgbClr val="D6EBE7"/>
          </a:solidFill>
          <a:ln w="5080">
            <a:solidFill>
              <a:srgbClr val="D3DCE5"/>
            </a:solidFill>
            <a:prstDash val="solid"/>
          </a:ln>
        </p:spPr>
      </p:sp>
      <p:sp>
        <p:nvSpPr>
          <p:cNvPr id="230" name="Text 228"/>
          <p:cNvSpPr txBox="1"/>
          <p:nvPr/>
        </p:nvSpPr>
        <p:spPr>
          <a:xfrm>
            <a:off x="11126138" y="3035808"/>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2,866</a:t>
            </a:r>
            <a:endParaRPr lang="en-US" sz="760" dirty="0"/>
          </a:p>
        </p:txBody>
      </p:sp>
      <p:sp>
        <p:nvSpPr>
          <p:cNvPr id="231" name="Shape 229"/>
          <p:cNvSpPr/>
          <p:nvPr/>
        </p:nvSpPr>
        <p:spPr>
          <a:xfrm>
            <a:off x="411480" y="3282696"/>
            <a:ext cx="2788920" cy="246888"/>
          </a:xfrm>
          <a:prstGeom prst="rect">
            <a:avLst/>
          </a:prstGeom>
          <a:solidFill>
            <a:srgbClr val="F7F9FB"/>
          </a:solidFill>
          <a:ln w="5080">
            <a:solidFill>
              <a:srgbClr val="D3DCE5"/>
            </a:solidFill>
            <a:prstDash val="solid"/>
          </a:ln>
        </p:spPr>
      </p:sp>
      <p:sp>
        <p:nvSpPr>
          <p:cNvPr id="232" name="Text 230"/>
          <p:cNvSpPr txBox="1"/>
          <p:nvPr/>
        </p:nvSpPr>
        <p:spPr>
          <a:xfrm>
            <a:off x="475488" y="3282696"/>
            <a:ext cx="2660904" cy="246888"/>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Dividends paid</a:t>
            </a:r>
            <a:endParaRPr lang="en-US" sz="780" dirty="0"/>
          </a:p>
        </p:txBody>
      </p:sp>
      <p:sp>
        <p:nvSpPr>
          <p:cNvPr id="233" name="Shape 231"/>
          <p:cNvSpPr/>
          <p:nvPr/>
        </p:nvSpPr>
        <p:spPr>
          <a:xfrm>
            <a:off x="3200400" y="3282696"/>
            <a:ext cx="660478" cy="246888"/>
          </a:xfrm>
          <a:prstGeom prst="rect">
            <a:avLst/>
          </a:prstGeom>
          <a:solidFill>
            <a:srgbClr val="F7F9FB"/>
          </a:solidFill>
          <a:ln w="5080">
            <a:solidFill>
              <a:srgbClr val="D3DCE5"/>
            </a:solidFill>
            <a:prstDash val="solid"/>
          </a:ln>
        </p:spPr>
      </p:sp>
      <p:sp>
        <p:nvSpPr>
          <p:cNvPr id="234" name="Text 232"/>
          <p:cNvSpPr txBox="1"/>
          <p:nvPr/>
        </p:nvSpPr>
        <p:spPr>
          <a:xfrm>
            <a:off x="3200400" y="3282696"/>
            <a:ext cx="614758" cy="246888"/>
          </a:xfrm>
          <a:prstGeom prst="rect">
            <a:avLst/>
          </a:prstGeom>
          <a:noFill/>
          <a:ln/>
        </p:spPr>
        <p:txBody>
          <a:bodyPr wrap="square" lIns="0" tIns="0" rIns="0" bIns="0" rtlCol="0" anchor="ctr"/>
          <a:lstStyle/>
          <a:p>
            <a:pPr algn="r" indent="0" marL="0">
              <a:buNone/>
            </a:pPr>
            <a:endParaRPr lang="en-US" sz="760" dirty="0"/>
          </a:p>
        </p:txBody>
      </p:sp>
      <p:sp>
        <p:nvSpPr>
          <p:cNvPr id="235" name="Shape 233"/>
          <p:cNvSpPr/>
          <p:nvPr/>
        </p:nvSpPr>
        <p:spPr>
          <a:xfrm>
            <a:off x="3860878" y="3282696"/>
            <a:ext cx="660478" cy="246888"/>
          </a:xfrm>
          <a:prstGeom prst="rect">
            <a:avLst/>
          </a:prstGeom>
          <a:solidFill>
            <a:srgbClr val="F7F9FB"/>
          </a:solidFill>
          <a:ln w="5080">
            <a:solidFill>
              <a:srgbClr val="D3DCE5"/>
            </a:solidFill>
            <a:prstDash val="solid"/>
          </a:ln>
        </p:spPr>
      </p:sp>
      <p:sp>
        <p:nvSpPr>
          <p:cNvPr id="236" name="Text 234"/>
          <p:cNvSpPr txBox="1"/>
          <p:nvPr/>
        </p:nvSpPr>
        <p:spPr>
          <a:xfrm>
            <a:off x="3860878" y="3282696"/>
            <a:ext cx="614758" cy="246888"/>
          </a:xfrm>
          <a:prstGeom prst="rect">
            <a:avLst/>
          </a:prstGeom>
          <a:noFill/>
          <a:ln/>
        </p:spPr>
        <p:txBody>
          <a:bodyPr wrap="square" lIns="0" tIns="0" rIns="0" bIns="0" rtlCol="0" anchor="ctr"/>
          <a:lstStyle/>
          <a:p>
            <a:pPr algn="r" indent="0" marL="0">
              <a:buNone/>
            </a:pPr>
            <a:endParaRPr lang="en-US" sz="760" dirty="0"/>
          </a:p>
        </p:txBody>
      </p:sp>
      <p:sp>
        <p:nvSpPr>
          <p:cNvPr id="237" name="Shape 235"/>
          <p:cNvSpPr/>
          <p:nvPr/>
        </p:nvSpPr>
        <p:spPr>
          <a:xfrm>
            <a:off x="4521356" y="3282696"/>
            <a:ext cx="660478" cy="246888"/>
          </a:xfrm>
          <a:prstGeom prst="rect">
            <a:avLst/>
          </a:prstGeom>
          <a:solidFill>
            <a:srgbClr val="F7F9FB"/>
          </a:solidFill>
          <a:ln w="5080">
            <a:solidFill>
              <a:srgbClr val="D3DCE5"/>
            </a:solidFill>
            <a:prstDash val="solid"/>
          </a:ln>
        </p:spPr>
      </p:sp>
      <p:sp>
        <p:nvSpPr>
          <p:cNvPr id="238" name="Text 236"/>
          <p:cNvSpPr txBox="1"/>
          <p:nvPr/>
        </p:nvSpPr>
        <p:spPr>
          <a:xfrm>
            <a:off x="4521356" y="3282696"/>
            <a:ext cx="614758" cy="246888"/>
          </a:xfrm>
          <a:prstGeom prst="rect">
            <a:avLst/>
          </a:prstGeom>
          <a:noFill/>
          <a:ln/>
        </p:spPr>
        <p:txBody>
          <a:bodyPr wrap="square" lIns="0" tIns="0" rIns="0" bIns="0" rtlCol="0" anchor="ctr"/>
          <a:lstStyle/>
          <a:p>
            <a:pPr algn="r" indent="0" marL="0">
              <a:buNone/>
            </a:pPr>
            <a:endParaRPr lang="en-US" sz="760" dirty="0"/>
          </a:p>
        </p:txBody>
      </p:sp>
      <p:sp>
        <p:nvSpPr>
          <p:cNvPr id="239" name="Shape 237"/>
          <p:cNvSpPr/>
          <p:nvPr/>
        </p:nvSpPr>
        <p:spPr>
          <a:xfrm>
            <a:off x="5181834" y="3282696"/>
            <a:ext cx="660478" cy="246888"/>
          </a:xfrm>
          <a:prstGeom prst="rect">
            <a:avLst/>
          </a:prstGeom>
          <a:solidFill>
            <a:srgbClr val="F7F9FB"/>
          </a:solidFill>
          <a:ln w="5080">
            <a:solidFill>
              <a:srgbClr val="D3DCE5"/>
            </a:solidFill>
            <a:prstDash val="solid"/>
          </a:ln>
        </p:spPr>
      </p:sp>
      <p:sp>
        <p:nvSpPr>
          <p:cNvPr id="240" name="Text 238"/>
          <p:cNvSpPr txBox="1"/>
          <p:nvPr/>
        </p:nvSpPr>
        <p:spPr>
          <a:xfrm>
            <a:off x="5181834" y="328269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(295)</a:t>
            </a:r>
            <a:endParaRPr lang="en-US" sz="760" dirty="0"/>
          </a:p>
        </p:txBody>
      </p:sp>
      <p:sp>
        <p:nvSpPr>
          <p:cNvPr id="241" name="Shape 239"/>
          <p:cNvSpPr/>
          <p:nvPr/>
        </p:nvSpPr>
        <p:spPr>
          <a:xfrm>
            <a:off x="5842313" y="3282696"/>
            <a:ext cx="660478" cy="246888"/>
          </a:xfrm>
          <a:prstGeom prst="rect">
            <a:avLst/>
          </a:prstGeom>
          <a:solidFill>
            <a:srgbClr val="F7F9FB"/>
          </a:solidFill>
          <a:ln w="5080">
            <a:solidFill>
              <a:srgbClr val="D3DCE5"/>
            </a:solidFill>
            <a:prstDash val="solid"/>
          </a:ln>
        </p:spPr>
      </p:sp>
      <p:sp>
        <p:nvSpPr>
          <p:cNvPr id="242" name="Text 240"/>
          <p:cNvSpPr txBox="1"/>
          <p:nvPr/>
        </p:nvSpPr>
        <p:spPr>
          <a:xfrm>
            <a:off x="5842313" y="328269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(328)</a:t>
            </a:r>
            <a:endParaRPr lang="en-US" sz="760" dirty="0"/>
          </a:p>
        </p:txBody>
      </p:sp>
      <p:sp>
        <p:nvSpPr>
          <p:cNvPr id="243" name="Shape 241"/>
          <p:cNvSpPr/>
          <p:nvPr/>
        </p:nvSpPr>
        <p:spPr>
          <a:xfrm>
            <a:off x="6502791" y="3282696"/>
            <a:ext cx="660478" cy="246888"/>
          </a:xfrm>
          <a:prstGeom prst="rect">
            <a:avLst/>
          </a:prstGeom>
          <a:solidFill>
            <a:srgbClr val="F7F9FB"/>
          </a:solidFill>
          <a:ln w="5080">
            <a:solidFill>
              <a:srgbClr val="D3DCE5"/>
            </a:solidFill>
            <a:prstDash val="solid"/>
          </a:ln>
        </p:spPr>
      </p:sp>
      <p:sp>
        <p:nvSpPr>
          <p:cNvPr id="244" name="Text 242"/>
          <p:cNvSpPr txBox="1"/>
          <p:nvPr/>
        </p:nvSpPr>
        <p:spPr>
          <a:xfrm>
            <a:off x="6502791" y="328269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(332)</a:t>
            </a:r>
            <a:endParaRPr lang="en-US" sz="760" dirty="0"/>
          </a:p>
        </p:txBody>
      </p:sp>
      <p:sp>
        <p:nvSpPr>
          <p:cNvPr id="245" name="Shape 243"/>
          <p:cNvSpPr/>
          <p:nvPr/>
        </p:nvSpPr>
        <p:spPr>
          <a:xfrm>
            <a:off x="7163269" y="3282696"/>
            <a:ext cx="660478" cy="246888"/>
          </a:xfrm>
          <a:prstGeom prst="rect">
            <a:avLst/>
          </a:prstGeom>
          <a:solidFill>
            <a:srgbClr val="F7F9FB"/>
          </a:solidFill>
          <a:ln w="5080">
            <a:solidFill>
              <a:srgbClr val="D3DCE5"/>
            </a:solidFill>
            <a:prstDash val="solid"/>
          </a:ln>
        </p:spPr>
      </p:sp>
      <p:sp>
        <p:nvSpPr>
          <p:cNvPr id="246" name="Text 244"/>
          <p:cNvSpPr txBox="1"/>
          <p:nvPr/>
        </p:nvSpPr>
        <p:spPr>
          <a:xfrm>
            <a:off x="7163269" y="328269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(650)</a:t>
            </a:r>
            <a:endParaRPr lang="en-US" sz="760" dirty="0"/>
          </a:p>
        </p:txBody>
      </p:sp>
      <p:sp>
        <p:nvSpPr>
          <p:cNvPr id="247" name="Shape 245"/>
          <p:cNvSpPr/>
          <p:nvPr/>
        </p:nvSpPr>
        <p:spPr>
          <a:xfrm>
            <a:off x="7823747" y="3282696"/>
            <a:ext cx="660478" cy="246888"/>
          </a:xfrm>
          <a:prstGeom prst="rect">
            <a:avLst/>
          </a:prstGeom>
          <a:solidFill>
            <a:srgbClr val="F7F9FB"/>
          </a:solidFill>
          <a:ln w="5080">
            <a:solidFill>
              <a:srgbClr val="D3DCE5"/>
            </a:solidFill>
            <a:prstDash val="solid"/>
          </a:ln>
        </p:spPr>
      </p:sp>
      <p:sp>
        <p:nvSpPr>
          <p:cNvPr id="248" name="Text 246"/>
          <p:cNvSpPr txBox="1"/>
          <p:nvPr/>
        </p:nvSpPr>
        <p:spPr>
          <a:xfrm>
            <a:off x="7823747" y="328269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(779)</a:t>
            </a:r>
            <a:endParaRPr lang="en-US" sz="760" dirty="0"/>
          </a:p>
        </p:txBody>
      </p:sp>
      <p:sp>
        <p:nvSpPr>
          <p:cNvPr id="249" name="Shape 247"/>
          <p:cNvSpPr/>
          <p:nvPr/>
        </p:nvSpPr>
        <p:spPr>
          <a:xfrm>
            <a:off x="8484225" y="3282696"/>
            <a:ext cx="660478" cy="246888"/>
          </a:xfrm>
          <a:prstGeom prst="rect">
            <a:avLst/>
          </a:prstGeom>
          <a:solidFill>
            <a:srgbClr val="F7F9FB"/>
          </a:solidFill>
          <a:ln w="5080">
            <a:solidFill>
              <a:srgbClr val="D3DCE5"/>
            </a:solidFill>
            <a:prstDash val="solid"/>
          </a:ln>
        </p:spPr>
      </p:sp>
      <p:sp>
        <p:nvSpPr>
          <p:cNvPr id="250" name="Text 248"/>
          <p:cNvSpPr txBox="1"/>
          <p:nvPr/>
        </p:nvSpPr>
        <p:spPr>
          <a:xfrm>
            <a:off x="8484225" y="328269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(1,026)</a:t>
            </a:r>
            <a:endParaRPr lang="en-US" sz="760" dirty="0"/>
          </a:p>
        </p:txBody>
      </p:sp>
      <p:sp>
        <p:nvSpPr>
          <p:cNvPr id="251" name="Shape 249"/>
          <p:cNvSpPr/>
          <p:nvPr/>
        </p:nvSpPr>
        <p:spPr>
          <a:xfrm>
            <a:off x="9144703" y="3282696"/>
            <a:ext cx="660478" cy="246888"/>
          </a:xfrm>
          <a:prstGeom prst="rect">
            <a:avLst/>
          </a:prstGeom>
          <a:solidFill>
            <a:srgbClr val="F7F9FB"/>
          </a:solidFill>
          <a:ln w="5080">
            <a:solidFill>
              <a:srgbClr val="D3DCE5"/>
            </a:solidFill>
            <a:prstDash val="solid"/>
          </a:ln>
        </p:spPr>
      </p:sp>
      <p:sp>
        <p:nvSpPr>
          <p:cNvPr id="252" name="Text 250"/>
          <p:cNvSpPr txBox="1"/>
          <p:nvPr/>
        </p:nvSpPr>
        <p:spPr>
          <a:xfrm>
            <a:off x="9144703" y="328269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(1,208)</a:t>
            </a:r>
            <a:endParaRPr lang="en-US" sz="760" dirty="0"/>
          </a:p>
        </p:txBody>
      </p:sp>
      <p:sp>
        <p:nvSpPr>
          <p:cNvPr id="253" name="Shape 251"/>
          <p:cNvSpPr/>
          <p:nvPr/>
        </p:nvSpPr>
        <p:spPr>
          <a:xfrm>
            <a:off x="9805182" y="3282696"/>
            <a:ext cx="660478" cy="246888"/>
          </a:xfrm>
          <a:prstGeom prst="rect">
            <a:avLst/>
          </a:prstGeom>
          <a:solidFill>
            <a:srgbClr val="F7F9FB"/>
          </a:solidFill>
          <a:ln w="5080">
            <a:solidFill>
              <a:srgbClr val="D3DCE5"/>
            </a:solidFill>
            <a:prstDash val="solid"/>
          </a:ln>
        </p:spPr>
      </p:sp>
      <p:sp>
        <p:nvSpPr>
          <p:cNvPr id="254" name="Text 252"/>
          <p:cNvSpPr txBox="1"/>
          <p:nvPr/>
        </p:nvSpPr>
        <p:spPr>
          <a:xfrm>
            <a:off x="9805182" y="328269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(1,294)</a:t>
            </a:r>
            <a:endParaRPr lang="en-US" sz="760" dirty="0"/>
          </a:p>
        </p:txBody>
      </p:sp>
      <p:sp>
        <p:nvSpPr>
          <p:cNvPr id="255" name="Shape 253"/>
          <p:cNvSpPr/>
          <p:nvPr/>
        </p:nvSpPr>
        <p:spPr>
          <a:xfrm>
            <a:off x="10465660" y="3282696"/>
            <a:ext cx="660478" cy="246888"/>
          </a:xfrm>
          <a:prstGeom prst="rect">
            <a:avLst/>
          </a:prstGeom>
          <a:solidFill>
            <a:srgbClr val="F7F9FB"/>
          </a:solidFill>
          <a:ln w="5080">
            <a:solidFill>
              <a:srgbClr val="D3DCE5"/>
            </a:solidFill>
            <a:prstDash val="solid"/>
          </a:ln>
        </p:spPr>
      </p:sp>
      <p:sp>
        <p:nvSpPr>
          <p:cNvPr id="256" name="Text 254"/>
          <p:cNvSpPr txBox="1"/>
          <p:nvPr/>
        </p:nvSpPr>
        <p:spPr>
          <a:xfrm>
            <a:off x="10465660" y="328269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(1,342)</a:t>
            </a:r>
            <a:endParaRPr lang="en-US" sz="760" dirty="0"/>
          </a:p>
        </p:txBody>
      </p:sp>
      <p:sp>
        <p:nvSpPr>
          <p:cNvPr id="257" name="Shape 255"/>
          <p:cNvSpPr/>
          <p:nvPr/>
        </p:nvSpPr>
        <p:spPr>
          <a:xfrm>
            <a:off x="11126138" y="3282696"/>
            <a:ext cx="660478" cy="246888"/>
          </a:xfrm>
          <a:prstGeom prst="rect">
            <a:avLst/>
          </a:prstGeom>
          <a:solidFill>
            <a:srgbClr val="F7F9FB"/>
          </a:solidFill>
          <a:ln w="5080">
            <a:solidFill>
              <a:srgbClr val="D3DCE5"/>
            </a:solidFill>
            <a:prstDash val="solid"/>
          </a:ln>
        </p:spPr>
      </p:sp>
      <p:sp>
        <p:nvSpPr>
          <p:cNvPr id="258" name="Text 256"/>
          <p:cNvSpPr txBox="1"/>
          <p:nvPr/>
        </p:nvSpPr>
        <p:spPr>
          <a:xfrm>
            <a:off x="11126138" y="3282696"/>
            <a:ext cx="614758" cy="246888"/>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(1,368)</a:t>
            </a:r>
            <a:endParaRPr lang="en-US" sz="760" dirty="0"/>
          </a:p>
        </p:txBody>
      </p:sp>
      <p:sp>
        <p:nvSpPr>
          <p:cNvPr id="259" name="Shape 257"/>
          <p:cNvSpPr/>
          <p:nvPr/>
        </p:nvSpPr>
        <p:spPr>
          <a:xfrm>
            <a:off x="411480" y="3529584"/>
            <a:ext cx="2788920" cy="246888"/>
          </a:xfrm>
          <a:prstGeom prst="rect">
            <a:avLst/>
          </a:prstGeom>
          <a:solidFill>
            <a:srgbClr val="FFFFFF"/>
          </a:solidFill>
          <a:ln w="5080">
            <a:solidFill>
              <a:srgbClr val="D3DCE5"/>
            </a:solidFill>
            <a:prstDash val="solid"/>
          </a:ln>
        </p:spPr>
      </p:sp>
      <p:sp>
        <p:nvSpPr>
          <p:cNvPr id="260" name="Text 258"/>
          <p:cNvSpPr txBox="1"/>
          <p:nvPr/>
        </p:nvSpPr>
        <p:spPr>
          <a:xfrm>
            <a:off x="475488" y="3529584"/>
            <a:ext cx="2660904" cy="246888"/>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Net movement in cash</a:t>
            </a:r>
            <a:endParaRPr lang="en-US" sz="780" dirty="0"/>
          </a:p>
        </p:txBody>
      </p:sp>
      <p:sp>
        <p:nvSpPr>
          <p:cNvPr id="261" name="Shape 259"/>
          <p:cNvSpPr/>
          <p:nvPr/>
        </p:nvSpPr>
        <p:spPr>
          <a:xfrm>
            <a:off x="3200400" y="3529584"/>
            <a:ext cx="660478" cy="246888"/>
          </a:xfrm>
          <a:prstGeom prst="rect">
            <a:avLst/>
          </a:prstGeom>
          <a:solidFill>
            <a:srgbClr val="FFFFFF"/>
          </a:solidFill>
          <a:ln w="5080">
            <a:solidFill>
              <a:srgbClr val="D3DCE5"/>
            </a:solidFill>
            <a:prstDash val="solid"/>
          </a:ln>
        </p:spPr>
      </p:sp>
      <p:sp>
        <p:nvSpPr>
          <p:cNvPr id="262" name="Text 260"/>
          <p:cNvSpPr txBox="1"/>
          <p:nvPr/>
        </p:nvSpPr>
        <p:spPr>
          <a:xfrm>
            <a:off x="3200400" y="3529584"/>
            <a:ext cx="614758" cy="246888"/>
          </a:xfrm>
          <a:prstGeom prst="rect">
            <a:avLst/>
          </a:prstGeom>
          <a:noFill/>
          <a:ln/>
        </p:spPr>
        <p:txBody>
          <a:bodyPr wrap="square" lIns="0" tIns="0" rIns="0" bIns="0" rtlCol="0" anchor="ctr"/>
          <a:lstStyle/>
          <a:p>
            <a:pPr algn="r" indent="0" marL="0">
              <a:buNone/>
            </a:pPr>
            <a:endParaRPr lang="en-US" sz="760" dirty="0"/>
          </a:p>
        </p:txBody>
      </p:sp>
      <p:sp>
        <p:nvSpPr>
          <p:cNvPr id="263" name="Shape 261"/>
          <p:cNvSpPr/>
          <p:nvPr/>
        </p:nvSpPr>
        <p:spPr>
          <a:xfrm>
            <a:off x="3860878" y="3529584"/>
            <a:ext cx="660478" cy="246888"/>
          </a:xfrm>
          <a:prstGeom prst="rect">
            <a:avLst/>
          </a:prstGeom>
          <a:solidFill>
            <a:srgbClr val="FFFFFF"/>
          </a:solidFill>
          <a:ln w="5080">
            <a:solidFill>
              <a:srgbClr val="D3DCE5"/>
            </a:solidFill>
            <a:prstDash val="solid"/>
          </a:ln>
        </p:spPr>
      </p:sp>
      <p:sp>
        <p:nvSpPr>
          <p:cNvPr id="264" name="Text 262"/>
          <p:cNvSpPr txBox="1"/>
          <p:nvPr/>
        </p:nvSpPr>
        <p:spPr>
          <a:xfrm>
            <a:off x="3860878" y="3529584"/>
            <a:ext cx="614758" cy="246888"/>
          </a:xfrm>
          <a:prstGeom prst="rect">
            <a:avLst/>
          </a:prstGeom>
          <a:noFill/>
          <a:ln/>
        </p:spPr>
        <p:txBody>
          <a:bodyPr wrap="square" lIns="0" tIns="0" rIns="0" bIns="0" rtlCol="0" anchor="ctr"/>
          <a:lstStyle/>
          <a:p>
            <a:pPr algn="r" indent="0" marL="0">
              <a:buNone/>
            </a:pPr>
            <a:endParaRPr lang="en-US" sz="760" dirty="0"/>
          </a:p>
        </p:txBody>
      </p:sp>
      <p:sp>
        <p:nvSpPr>
          <p:cNvPr id="265" name="Shape 263"/>
          <p:cNvSpPr/>
          <p:nvPr/>
        </p:nvSpPr>
        <p:spPr>
          <a:xfrm>
            <a:off x="4521356" y="3529584"/>
            <a:ext cx="660478" cy="246888"/>
          </a:xfrm>
          <a:prstGeom prst="rect">
            <a:avLst/>
          </a:prstGeom>
          <a:solidFill>
            <a:srgbClr val="FFFFFF"/>
          </a:solidFill>
          <a:ln w="5080">
            <a:solidFill>
              <a:srgbClr val="D3DCE5"/>
            </a:solidFill>
            <a:prstDash val="solid"/>
          </a:ln>
        </p:spPr>
      </p:sp>
      <p:sp>
        <p:nvSpPr>
          <p:cNvPr id="266" name="Text 264"/>
          <p:cNvSpPr txBox="1"/>
          <p:nvPr/>
        </p:nvSpPr>
        <p:spPr>
          <a:xfrm>
            <a:off x="4521356" y="3529584"/>
            <a:ext cx="614758" cy="246888"/>
          </a:xfrm>
          <a:prstGeom prst="rect">
            <a:avLst/>
          </a:prstGeom>
          <a:noFill/>
          <a:ln/>
        </p:spPr>
        <p:txBody>
          <a:bodyPr wrap="square" lIns="0" tIns="0" rIns="0" bIns="0" rtlCol="0" anchor="ctr"/>
          <a:lstStyle/>
          <a:p>
            <a:pPr algn="r" indent="0" marL="0">
              <a:buNone/>
            </a:pPr>
            <a:endParaRPr lang="en-US" sz="760" dirty="0"/>
          </a:p>
        </p:txBody>
      </p:sp>
      <p:sp>
        <p:nvSpPr>
          <p:cNvPr id="267" name="Shape 265"/>
          <p:cNvSpPr/>
          <p:nvPr/>
        </p:nvSpPr>
        <p:spPr>
          <a:xfrm>
            <a:off x="5181834" y="3529584"/>
            <a:ext cx="660478" cy="246888"/>
          </a:xfrm>
          <a:prstGeom prst="rect">
            <a:avLst/>
          </a:prstGeom>
          <a:solidFill>
            <a:srgbClr val="FFFFFF"/>
          </a:solidFill>
          <a:ln w="5080">
            <a:solidFill>
              <a:srgbClr val="D3DCE5"/>
            </a:solidFill>
            <a:prstDash val="solid"/>
          </a:ln>
        </p:spPr>
      </p:sp>
      <p:sp>
        <p:nvSpPr>
          <p:cNvPr id="268" name="Text 266"/>
          <p:cNvSpPr txBox="1"/>
          <p:nvPr/>
        </p:nvSpPr>
        <p:spPr>
          <a:xfrm>
            <a:off x="5181834" y="3529584"/>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351</a:t>
            </a:r>
            <a:endParaRPr lang="en-US" sz="760" dirty="0"/>
          </a:p>
        </p:txBody>
      </p:sp>
      <p:sp>
        <p:nvSpPr>
          <p:cNvPr id="269" name="Shape 267"/>
          <p:cNvSpPr/>
          <p:nvPr/>
        </p:nvSpPr>
        <p:spPr>
          <a:xfrm>
            <a:off x="5842313" y="3529584"/>
            <a:ext cx="660478" cy="246888"/>
          </a:xfrm>
          <a:prstGeom prst="rect">
            <a:avLst/>
          </a:prstGeom>
          <a:solidFill>
            <a:srgbClr val="FFFFFF"/>
          </a:solidFill>
          <a:ln w="5080">
            <a:solidFill>
              <a:srgbClr val="D3DCE5"/>
            </a:solidFill>
            <a:prstDash val="solid"/>
          </a:ln>
        </p:spPr>
      </p:sp>
      <p:sp>
        <p:nvSpPr>
          <p:cNvPr id="270" name="Text 268"/>
          <p:cNvSpPr txBox="1"/>
          <p:nvPr/>
        </p:nvSpPr>
        <p:spPr>
          <a:xfrm>
            <a:off x="5842313" y="3529584"/>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269</a:t>
            </a:r>
            <a:endParaRPr lang="en-US" sz="760" dirty="0"/>
          </a:p>
        </p:txBody>
      </p:sp>
      <p:sp>
        <p:nvSpPr>
          <p:cNvPr id="271" name="Shape 269"/>
          <p:cNvSpPr/>
          <p:nvPr/>
        </p:nvSpPr>
        <p:spPr>
          <a:xfrm>
            <a:off x="6502791" y="3529584"/>
            <a:ext cx="660478" cy="246888"/>
          </a:xfrm>
          <a:prstGeom prst="rect">
            <a:avLst/>
          </a:prstGeom>
          <a:solidFill>
            <a:srgbClr val="FFFFFF"/>
          </a:solidFill>
          <a:ln w="5080">
            <a:solidFill>
              <a:srgbClr val="D3DCE5"/>
            </a:solidFill>
            <a:prstDash val="solid"/>
          </a:ln>
        </p:spPr>
      </p:sp>
      <p:sp>
        <p:nvSpPr>
          <p:cNvPr id="272" name="Text 270"/>
          <p:cNvSpPr txBox="1"/>
          <p:nvPr/>
        </p:nvSpPr>
        <p:spPr>
          <a:xfrm>
            <a:off x="6502791" y="3529584"/>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206</a:t>
            </a:r>
            <a:endParaRPr lang="en-US" sz="760" dirty="0"/>
          </a:p>
        </p:txBody>
      </p:sp>
      <p:sp>
        <p:nvSpPr>
          <p:cNvPr id="273" name="Shape 271"/>
          <p:cNvSpPr/>
          <p:nvPr/>
        </p:nvSpPr>
        <p:spPr>
          <a:xfrm>
            <a:off x="7163269" y="3529584"/>
            <a:ext cx="660478" cy="246888"/>
          </a:xfrm>
          <a:prstGeom prst="rect">
            <a:avLst/>
          </a:prstGeom>
          <a:solidFill>
            <a:srgbClr val="FFFFFF"/>
          </a:solidFill>
          <a:ln w="5080">
            <a:solidFill>
              <a:srgbClr val="D3DCE5"/>
            </a:solidFill>
            <a:prstDash val="solid"/>
          </a:ln>
        </p:spPr>
      </p:sp>
      <p:sp>
        <p:nvSpPr>
          <p:cNvPr id="274" name="Text 272"/>
          <p:cNvSpPr txBox="1"/>
          <p:nvPr/>
        </p:nvSpPr>
        <p:spPr>
          <a:xfrm>
            <a:off x="7163269" y="3529584"/>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371</a:t>
            </a:r>
            <a:endParaRPr lang="en-US" sz="760" dirty="0"/>
          </a:p>
        </p:txBody>
      </p:sp>
      <p:sp>
        <p:nvSpPr>
          <p:cNvPr id="275" name="Shape 273"/>
          <p:cNvSpPr/>
          <p:nvPr/>
        </p:nvSpPr>
        <p:spPr>
          <a:xfrm>
            <a:off x="7823747" y="3529584"/>
            <a:ext cx="660478" cy="246888"/>
          </a:xfrm>
          <a:prstGeom prst="rect">
            <a:avLst/>
          </a:prstGeom>
          <a:solidFill>
            <a:srgbClr val="FFFFFF"/>
          </a:solidFill>
          <a:ln w="5080">
            <a:solidFill>
              <a:srgbClr val="D3DCE5"/>
            </a:solidFill>
            <a:prstDash val="solid"/>
          </a:ln>
        </p:spPr>
      </p:sp>
      <p:sp>
        <p:nvSpPr>
          <p:cNvPr id="276" name="Text 274"/>
          <p:cNvSpPr txBox="1"/>
          <p:nvPr/>
        </p:nvSpPr>
        <p:spPr>
          <a:xfrm>
            <a:off x="7823747" y="3529584"/>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722</a:t>
            </a:r>
            <a:endParaRPr lang="en-US" sz="760" dirty="0"/>
          </a:p>
        </p:txBody>
      </p:sp>
      <p:sp>
        <p:nvSpPr>
          <p:cNvPr id="277" name="Shape 275"/>
          <p:cNvSpPr/>
          <p:nvPr/>
        </p:nvSpPr>
        <p:spPr>
          <a:xfrm>
            <a:off x="8484225" y="3529584"/>
            <a:ext cx="660478" cy="246888"/>
          </a:xfrm>
          <a:prstGeom prst="rect">
            <a:avLst/>
          </a:prstGeom>
          <a:solidFill>
            <a:srgbClr val="FFFFFF"/>
          </a:solidFill>
          <a:ln w="5080">
            <a:solidFill>
              <a:srgbClr val="D3DCE5"/>
            </a:solidFill>
            <a:prstDash val="solid"/>
          </a:ln>
        </p:spPr>
      </p:sp>
      <p:sp>
        <p:nvSpPr>
          <p:cNvPr id="278" name="Text 276"/>
          <p:cNvSpPr txBox="1"/>
          <p:nvPr/>
        </p:nvSpPr>
        <p:spPr>
          <a:xfrm>
            <a:off x="8484225" y="3529584"/>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980</a:t>
            </a:r>
            <a:endParaRPr lang="en-US" sz="760" dirty="0"/>
          </a:p>
        </p:txBody>
      </p:sp>
      <p:sp>
        <p:nvSpPr>
          <p:cNvPr id="279" name="Shape 277"/>
          <p:cNvSpPr/>
          <p:nvPr/>
        </p:nvSpPr>
        <p:spPr>
          <a:xfrm>
            <a:off x="9144703" y="3529584"/>
            <a:ext cx="660478" cy="246888"/>
          </a:xfrm>
          <a:prstGeom prst="rect">
            <a:avLst/>
          </a:prstGeom>
          <a:solidFill>
            <a:srgbClr val="FFFFFF"/>
          </a:solidFill>
          <a:ln w="5080">
            <a:solidFill>
              <a:srgbClr val="D3DCE5"/>
            </a:solidFill>
            <a:prstDash val="solid"/>
          </a:ln>
        </p:spPr>
      </p:sp>
      <p:sp>
        <p:nvSpPr>
          <p:cNvPr id="280" name="Text 278"/>
          <p:cNvSpPr txBox="1"/>
          <p:nvPr/>
        </p:nvSpPr>
        <p:spPr>
          <a:xfrm>
            <a:off x="9144703" y="3529584"/>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1,270</a:t>
            </a:r>
            <a:endParaRPr lang="en-US" sz="760" dirty="0"/>
          </a:p>
        </p:txBody>
      </p:sp>
      <p:sp>
        <p:nvSpPr>
          <p:cNvPr id="281" name="Shape 279"/>
          <p:cNvSpPr/>
          <p:nvPr/>
        </p:nvSpPr>
        <p:spPr>
          <a:xfrm>
            <a:off x="9805182" y="3529584"/>
            <a:ext cx="660478" cy="246888"/>
          </a:xfrm>
          <a:prstGeom prst="rect">
            <a:avLst/>
          </a:prstGeom>
          <a:solidFill>
            <a:srgbClr val="FFFFFF"/>
          </a:solidFill>
          <a:ln w="5080">
            <a:solidFill>
              <a:srgbClr val="D3DCE5"/>
            </a:solidFill>
            <a:prstDash val="solid"/>
          </a:ln>
        </p:spPr>
      </p:sp>
      <p:sp>
        <p:nvSpPr>
          <p:cNvPr id="282" name="Text 280"/>
          <p:cNvSpPr txBox="1"/>
          <p:nvPr/>
        </p:nvSpPr>
        <p:spPr>
          <a:xfrm>
            <a:off x="9805182" y="3529584"/>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1,416</a:t>
            </a:r>
            <a:endParaRPr lang="en-US" sz="760" dirty="0"/>
          </a:p>
        </p:txBody>
      </p:sp>
      <p:sp>
        <p:nvSpPr>
          <p:cNvPr id="283" name="Shape 281"/>
          <p:cNvSpPr/>
          <p:nvPr/>
        </p:nvSpPr>
        <p:spPr>
          <a:xfrm>
            <a:off x="10465660" y="3529584"/>
            <a:ext cx="660478" cy="246888"/>
          </a:xfrm>
          <a:prstGeom prst="rect">
            <a:avLst/>
          </a:prstGeom>
          <a:solidFill>
            <a:srgbClr val="FFFFFF"/>
          </a:solidFill>
          <a:ln w="5080">
            <a:solidFill>
              <a:srgbClr val="D3DCE5"/>
            </a:solidFill>
            <a:prstDash val="solid"/>
          </a:ln>
        </p:spPr>
      </p:sp>
      <p:sp>
        <p:nvSpPr>
          <p:cNvPr id="284" name="Text 282"/>
          <p:cNvSpPr txBox="1"/>
          <p:nvPr/>
        </p:nvSpPr>
        <p:spPr>
          <a:xfrm>
            <a:off x="10465660" y="3529584"/>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1,481</a:t>
            </a:r>
            <a:endParaRPr lang="en-US" sz="760" dirty="0"/>
          </a:p>
        </p:txBody>
      </p:sp>
      <p:sp>
        <p:nvSpPr>
          <p:cNvPr id="285" name="Shape 283"/>
          <p:cNvSpPr/>
          <p:nvPr/>
        </p:nvSpPr>
        <p:spPr>
          <a:xfrm>
            <a:off x="11126138" y="3529584"/>
            <a:ext cx="660478" cy="246888"/>
          </a:xfrm>
          <a:prstGeom prst="rect">
            <a:avLst/>
          </a:prstGeom>
          <a:solidFill>
            <a:srgbClr val="FFFFFF"/>
          </a:solidFill>
          <a:ln w="5080">
            <a:solidFill>
              <a:srgbClr val="D3DCE5"/>
            </a:solidFill>
            <a:prstDash val="solid"/>
          </a:ln>
        </p:spPr>
      </p:sp>
      <p:sp>
        <p:nvSpPr>
          <p:cNvPr id="286" name="Text 284"/>
          <p:cNvSpPr txBox="1"/>
          <p:nvPr/>
        </p:nvSpPr>
        <p:spPr>
          <a:xfrm>
            <a:off x="11126138" y="3529584"/>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1,498</a:t>
            </a:r>
            <a:endParaRPr lang="en-US" sz="760" dirty="0"/>
          </a:p>
        </p:txBody>
      </p:sp>
      <p:sp>
        <p:nvSpPr>
          <p:cNvPr id="287" name="Shape 285"/>
          <p:cNvSpPr/>
          <p:nvPr/>
        </p:nvSpPr>
        <p:spPr>
          <a:xfrm>
            <a:off x="411480" y="3776472"/>
            <a:ext cx="2788920" cy="246888"/>
          </a:xfrm>
          <a:prstGeom prst="rect">
            <a:avLst/>
          </a:prstGeom>
          <a:solidFill>
            <a:srgbClr val="F7F9FB"/>
          </a:solidFill>
          <a:ln w="5080">
            <a:solidFill>
              <a:srgbClr val="D3DCE5"/>
            </a:solidFill>
            <a:prstDash val="solid"/>
          </a:ln>
        </p:spPr>
      </p:sp>
      <p:sp>
        <p:nvSpPr>
          <p:cNvPr id="288" name="Text 286"/>
          <p:cNvSpPr txBox="1"/>
          <p:nvPr/>
        </p:nvSpPr>
        <p:spPr>
          <a:xfrm>
            <a:off x="475488" y="3776472"/>
            <a:ext cx="2660904" cy="246888"/>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Closing cash</a:t>
            </a:r>
            <a:endParaRPr lang="en-US" sz="780" dirty="0"/>
          </a:p>
        </p:txBody>
      </p:sp>
      <p:sp>
        <p:nvSpPr>
          <p:cNvPr id="289" name="Shape 287"/>
          <p:cNvSpPr/>
          <p:nvPr/>
        </p:nvSpPr>
        <p:spPr>
          <a:xfrm>
            <a:off x="3200400" y="3776472"/>
            <a:ext cx="660478" cy="246888"/>
          </a:xfrm>
          <a:prstGeom prst="rect">
            <a:avLst/>
          </a:prstGeom>
          <a:solidFill>
            <a:srgbClr val="F7F9FB"/>
          </a:solidFill>
          <a:ln w="5080">
            <a:solidFill>
              <a:srgbClr val="D3DCE5"/>
            </a:solidFill>
            <a:prstDash val="solid"/>
          </a:ln>
        </p:spPr>
      </p:sp>
      <p:sp>
        <p:nvSpPr>
          <p:cNvPr id="290" name="Text 288"/>
          <p:cNvSpPr txBox="1"/>
          <p:nvPr/>
        </p:nvSpPr>
        <p:spPr>
          <a:xfrm>
            <a:off x="3200400" y="3776472"/>
            <a:ext cx="614758" cy="246888"/>
          </a:xfrm>
          <a:prstGeom prst="rect">
            <a:avLst/>
          </a:prstGeom>
          <a:noFill/>
          <a:ln/>
        </p:spPr>
        <p:txBody>
          <a:bodyPr wrap="square" lIns="0" tIns="0" rIns="0" bIns="0" rtlCol="0" anchor="ctr"/>
          <a:lstStyle/>
          <a:p>
            <a:pPr algn="r" indent="0" marL="0">
              <a:buNone/>
            </a:pPr>
            <a:endParaRPr lang="en-US" sz="760" dirty="0"/>
          </a:p>
        </p:txBody>
      </p:sp>
      <p:sp>
        <p:nvSpPr>
          <p:cNvPr id="291" name="Shape 289"/>
          <p:cNvSpPr/>
          <p:nvPr/>
        </p:nvSpPr>
        <p:spPr>
          <a:xfrm>
            <a:off x="3860878" y="3776472"/>
            <a:ext cx="660478" cy="246888"/>
          </a:xfrm>
          <a:prstGeom prst="rect">
            <a:avLst/>
          </a:prstGeom>
          <a:solidFill>
            <a:srgbClr val="F7F9FB"/>
          </a:solidFill>
          <a:ln w="5080">
            <a:solidFill>
              <a:srgbClr val="D3DCE5"/>
            </a:solidFill>
            <a:prstDash val="solid"/>
          </a:ln>
        </p:spPr>
      </p:sp>
      <p:sp>
        <p:nvSpPr>
          <p:cNvPr id="292" name="Text 290"/>
          <p:cNvSpPr txBox="1"/>
          <p:nvPr/>
        </p:nvSpPr>
        <p:spPr>
          <a:xfrm>
            <a:off x="3860878" y="3776472"/>
            <a:ext cx="614758" cy="246888"/>
          </a:xfrm>
          <a:prstGeom prst="rect">
            <a:avLst/>
          </a:prstGeom>
          <a:noFill/>
          <a:ln/>
        </p:spPr>
        <p:txBody>
          <a:bodyPr wrap="square" lIns="0" tIns="0" rIns="0" bIns="0" rtlCol="0" anchor="ctr"/>
          <a:lstStyle/>
          <a:p>
            <a:pPr algn="r" indent="0" marL="0">
              <a:buNone/>
            </a:pPr>
            <a:endParaRPr lang="en-US" sz="760" dirty="0"/>
          </a:p>
        </p:txBody>
      </p:sp>
      <p:sp>
        <p:nvSpPr>
          <p:cNvPr id="293" name="Shape 291"/>
          <p:cNvSpPr/>
          <p:nvPr/>
        </p:nvSpPr>
        <p:spPr>
          <a:xfrm>
            <a:off x="4521356" y="3776472"/>
            <a:ext cx="660478" cy="246888"/>
          </a:xfrm>
          <a:prstGeom prst="rect">
            <a:avLst/>
          </a:prstGeom>
          <a:solidFill>
            <a:srgbClr val="F7F9FB"/>
          </a:solidFill>
          <a:ln w="5080">
            <a:solidFill>
              <a:srgbClr val="D3DCE5"/>
            </a:solidFill>
            <a:prstDash val="solid"/>
          </a:ln>
        </p:spPr>
      </p:sp>
      <p:sp>
        <p:nvSpPr>
          <p:cNvPr id="294" name="Text 292"/>
          <p:cNvSpPr txBox="1"/>
          <p:nvPr/>
        </p:nvSpPr>
        <p:spPr>
          <a:xfrm>
            <a:off x="4521356" y="3776472"/>
            <a:ext cx="614758" cy="246888"/>
          </a:xfrm>
          <a:prstGeom prst="rect">
            <a:avLst/>
          </a:prstGeom>
          <a:noFill/>
          <a:ln/>
        </p:spPr>
        <p:txBody>
          <a:bodyPr wrap="square" lIns="0" tIns="0" rIns="0" bIns="0" rtlCol="0" anchor="ctr"/>
          <a:lstStyle/>
          <a:p>
            <a:pPr algn="r" indent="0" marL="0">
              <a:buNone/>
            </a:pPr>
            <a:endParaRPr lang="en-US" sz="760" dirty="0"/>
          </a:p>
        </p:txBody>
      </p:sp>
      <p:sp>
        <p:nvSpPr>
          <p:cNvPr id="295" name="Shape 293"/>
          <p:cNvSpPr/>
          <p:nvPr/>
        </p:nvSpPr>
        <p:spPr>
          <a:xfrm>
            <a:off x="5181834" y="3776472"/>
            <a:ext cx="660478" cy="246888"/>
          </a:xfrm>
          <a:prstGeom prst="rect">
            <a:avLst/>
          </a:prstGeom>
          <a:solidFill>
            <a:srgbClr val="F7F9FB"/>
          </a:solidFill>
          <a:ln w="5080">
            <a:solidFill>
              <a:srgbClr val="D3DCE5"/>
            </a:solidFill>
            <a:prstDash val="solid"/>
          </a:ln>
        </p:spPr>
      </p:sp>
      <p:sp>
        <p:nvSpPr>
          <p:cNvPr id="296" name="Text 294"/>
          <p:cNvSpPr txBox="1"/>
          <p:nvPr/>
        </p:nvSpPr>
        <p:spPr>
          <a:xfrm>
            <a:off x="5181834" y="377647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2,641</a:t>
            </a:r>
            <a:endParaRPr lang="en-US" sz="760" dirty="0"/>
          </a:p>
        </p:txBody>
      </p:sp>
      <p:sp>
        <p:nvSpPr>
          <p:cNvPr id="297" name="Shape 295"/>
          <p:cNvSpPr/>
          <p:nvPr/>
        </p:nvSpPr>
        <p:spPr>
          <a:xfrm>
            <a:off x="5842313" y="3776472"/>
            <a:ext cx="660478" cy="246888"/>
          </a:xfrm>
          <a:prstGeom prst="rect">
            <a:avLst/>
          </a:prstGeom>
          <a:solidFill>
            <a:srgbClr val="F7F9FB"/>
          </a:solidFill>
          <a:ln w="5080">
            <a:solidFill>
              <a:srgbClr val="D3DCE5"/>
            </a:solidFill>
            <a:prstDash val="solid"/>
          </a:ln>
        </p:spPr>
      </p:sp>
      <p:sp>
        <p:nvSpPr>
          <p:cNvPr id="298" name="Text 296"/>
          <p:cNvSpPr txBox="1"/>
          <p:nvPr/>
        </p:nvSpPr>
        <p:spPr>
          <a:xfrm>
            <a:off x="5842313" y="377647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2,909</a:t>
            </a:r>
            <a:endParaRPr lang="en-US" sz="760" dirty="0"/>
          </a:p>
        </p:txBody>
      </p:sp>
      <p:sp>
        <p:nvSpPr>
          <p:cNvPr id="299" name="Shape 297"/>
          <p:cNvSpPr/>
          <p:nvPr/>
        </p:nvSpPr>
        <p:spPr>
          <a:xfrm>
            <a:off x="6502791" y="3776472"/>
            <a:ext cx="660478" cy="246888"/>
          </a:xfrm>
          <a:prstGeom prst="rect">
            <a:avLst/>
          </a:prstGeom>
          <a:solidFill>
            <a:srgbClr val="F7F9FB"/>
          </a:solidFill>
          <a:ln w="5080">
            <a:solidFill>
              <a:srgbClr val="D3DCE5"/>
            </a:solidFill>
            <a:prstDash val="solid"/>
          </a:ln>
        </p:spPr>
      </p:sp>
      <p:sp>
        <p:nvSpPr>
          <p:cNvPr id="300" name="Text 298"/>
          <p:cNvSpPr txBox="1"/>
          <p:nvPr/>
        </p:nvSpPr>
        <p:spPr>
          <a:xfrm>
            <a:off x="6502791" y="377647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3,115</a:t>
            </a:r>
            <a:endParaRPr lang="en-US" sz="760" dirty="0"/>
          </a:p>
        </p:txBody>
      </p:sp>
      <p:sp>
        <p:nvSpPr>
          <p:cNvPr id="301" name="Shape 299"/>
          <p:cNvSpPr/>
          <p:nvPr/>
        </p:nvSpPr>
        <p:spPr>
          <a:xfrm>
            <a:off x="7163269" y="3776472"/>
            <a:ext cx="660478" cy="246888"/>
          </a:xfrm>
          <a:prstGeom prst="rect">
            <a:avLst/>
          </a:prstGeom>
          <a:solidFill>
            <a:srgbClr val="F7F9FB"/>
          </a:solidFill>
          <a:ln w="5080">
            <a:solidFill>
              <a:srgbClr val="D3DCE5"/>
            </a:solidFill>
            <a:prstDash val="solid"/>
          </a:ln>
        </p:spPr>
      </p:sp>
      <p:sp>
        <p:nvSpPr>
          <p:cNvPr id="302" name="Text 300"/>
          <p:cNvSpPr txBox="1"/>
          <p:nvPr/>
        </p:nvSpPr>
        <p:spPr>
          <a:xfrm>
            <a:off x="7163269" y="377647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3,486</a:t>
            </a:r>
            <a:endParaRPr lang="en-US" sz="760" dirty="0"/>
          </a:p>
        </p:txBody>
      </p:sp>
      <p:sp>
        <p:nvSpPr>
          <p:cNvPr id="303" name="Shape 301"/>
          <p:cNvSpPr/>
          <p:nvPr/>
        </p:nvSpPr>
        <p:spPr>
          <a:xfrm>
            <a:off x="7823747" y="3776472"/>
            <a:ext cx="660478" cy="246888"/>
          </a:xfrm>
          <a:prstGeom prst="rect">
            <a:avLst/>
          </a:prstGeom>
          <a:solidFill>
            <a:srgbClr val="F7F9FB"/>
          </a:solidFill>
          <a:ln w="5080">
            <a:solidFill>
              <a:srgbClr val="D3DCE5"/>
            </a:solidFill>
            <a:prstDash val="solid"/>
          </a:ln>
        </p:spPr>
      </p:sp>
      <p:sp>
        <p:nvSpPr>
          <p:cNvPr id="304" name="Text 302"/>
          <p:cNvSpPr txBox="1"/>
          <p:nvPr/>
        </p:nvSpPr>
        <p:spPr>
          <a:xfrm>
            <a:off x="7823747" y="377647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4,208</a:t>
            </a:r>
            <a:endParaRPr lang="en-US" sz="760" dirty="0"/>
          </a:p>
        </p:txBody>
      </p:sp>
      <p:sp>
        <p:nvSpPr>
          <p:cNvPr id="305" name="Shape 303"/>
          <p:cNvSpPr/>
          <p:nvPr/>
        </p:nvSpPr>
        <p:spPr>
          <a:xfrm>
            <a:off x="8484225" y="3776472"/>
            <a:ext cx="660478" cy="246888"/>
          </a:xfrm>
          <a:prstGeom prst="rect">
            <a:avLst/>
          </a:prstGeom>
          <a:solidFill>
            <a:srgbClr val="F7F9FB"/>
          </a:solidFill>
          <a:ln w="5080">
            <a:solidFill>
              <a:srgbClr val="D3DCE5"/>
            </a:solidFill>
            <a:prstDash val="solid"/>
          </a:ln>
        </p:spPr>
      </p:sp>
      <p:sp>
        <p:nvSpPr>
          <p:cNvPr id="306" name="Text 304"/>
          <p:cNvSpPr txBox="1"/>
          <p:nvPr/>
        </p:nvSpPr>
        <p:spPr>
          <a:xfrm>
            <a:off x="8484225" y="377647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5,189</a:t>
            </a:r>
            <a:endParaRPr lang="en-US" sz="760" dirty="0"/>
          </a:p>
        </p:txBody>
      </p:sp>
      <p:sp>
        <p:nvSpPr>
          <p:cNvPr id="307" name="Shape 305"/>
          <p:cNvSpPr/>
          <p:nvPr/>
        </p:nvSpPr>
        <p:spPr>
          <a:xfrm>
            <a:off x="9144703" y="3776472"/>
            <a:ext cx="660478" cy="246888"/>
          </a:xfrm>
          <a:prstGeom prst="rect">
            <a:avLst/>
          </a:prstGeom>
          <a:solidFill>
            <a:srgbClr val="F7F9FB"/>
          </a:solidFill>
          <a:ln w="5080">
            <a:solidFill>
              <a:srgbClr val="D3DCE5"/>
            </a:solidFill>
            <a:prstDash val="solid"/>
          </a:ln>
        </p:spPr>
      </p:sp>
      <p:sp>
        <p:nvSpPr>
          <p:cNvPr id="308" name="Text 306"/>
          <p:cNvSpPr txBox="1"/>
          <p:nvPr/>
        </p:nvSpPr>
        <p:spPr>
          <a:xfrm>
            <a:off x="9144703" y="377647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6,459</a:t>
            </a:r>
            <a:endParaRPr lang="en-US" sz="760" dirty="0"/>
          </a:p>
        </p:txBody>
      </p:sp>
      <p:sp>
        <p:nvSpPr>
          <p:cNvPr id="309" name="Shape 307"/>
          <p:cNvSpPr/>
          <p:nvPr/>
        </p:nvSpPr>
        <p:spPr>
          <a:xfrm>
            <a:off x="9805182" y="3776472"/>
            <a:ext cx="660478" cy="246888"/>
          </a:xfrm>
          <a:prstGeom prst="rect">
            <a:avLst/>
          </a:prstGeom>
          <a:solidFill>
            <a:srgbClr val="F7F9FB"/>
          </a:solidFill>
          <a:ln w="5080">
            <a:solidFill>
              <a:srgbClr val="D3DCE5"/>
            </a:solidFill>
            <a:prstDash val="solid"/>
          </a:ln>
        </p:spPr>
      </p:sp>
      <p:sp>
        <p:nvSpPr>
          <p:cNvPr id="310" name="Text 308"/>
          <p:cNvSpPr txBox="1"/>
          <p:nvPr/>
        </p:nvSpPr>
        <p:spPr>
          <a:xfrm>
            <a:off x="9805182" y="377647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7,875</a:t>
            </a:r>
            <a:endParaRPr lang="en-US" sz="760" dirty="0"/>
          </a:p>
        </p:txBody>
      </p:sp>
      <p:sp>
        <p:nvSpPr>
          <p:cNvPr id="311" name="Shape 309"/>
          <p:cNvSpPr/>
          <p:nvPr/>
        </p:nvSpPr>
        <p:spPr>
          <a:xfrm>
            <a:off x="10465660" y="3776472"/>
            <a:ext cx="660478" cy="246888"/>
          </a:xfrm>
          <a:prstGeom prst="rect">
            <a:avLst/>
          </a:prstGeom>
          <a:solidFill>
            <a:srgbClr val="F7F9FB"/>
          </a:solidFill>
          <a:ln w="5080">
            <a:solidFill>
              <a:srgbClr val="D3DCE5"/>
            </a:solidFill>
            <a:prstDash val="solid"/>
          </a:ln>
        </p:spPr>
      </p:sp>
      <p:sp>
        <p:nvSpPr>
          <p:cNvPr id="312" name="Text 310"/>
          <p:cNvSpPr txBox="1"/>
          <p:nvPr/>
        </p:nvSpPr>
        <p:spPr>
          <a:xfrm>
            <a:off x="10465660" y="377647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9,356</a:t>
            </a:r>
            <a:endParaRPr lang="en-US" sz="760" dirty="0"/>
          </a:p>
        </p:txBody>
      </p:sp>
      <p:sp>
        <p:nvSpPr>
          <p:cNvPr id="313" name="Shape 311"/>
          <p:cNvSpPr/>
          <p:nvPr/>
        </p:nvSpPr>
        <p:spPr>
          <a:xfrm>
            <a:off x="11126138" y="3776472"/>
            <a:ext cx="660478" cy="246888"/>
          </a:xfrm>
          <a:prstGeom prst="rect">
            <a:avLst/>
          </a:prstGeom>
          <a:solidFill>
            <a:srgbClr val="F7F9FB"/>
          </a:solidFill>
          <a:ln w="5080">
            <a:solidFill>
              <a:srgbClr val="D3DCE5"/>
            </a:solidFill>
            <a:prstDash val="solid"/>
          </a:ln>
        </p:spPr>
      </p:sp>
      <p:sp>
        <p:nvSpPr>
          <p:cNvPr id="314" name="Text 312"/>
          <p:cNvSpPr txBox="1"/>
          <p:nvPr/>
        </p:nvSpPr>
        <p:spPr>
          <a:xfrm>
            <a:off x="11126138" y="3776472"/>
            <a:ext cx="614758" cy="246888"/>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10,854</a:t>
            </a:r>
            <a:endParaRPr lang="en-US" sz="760" dirty="0"/>
          </a:p>
        </p:txBody>
      </p:sp>
      <p:sp>
        <p:nvSpPr>
          <p:cNvPr id="315" name="Shape 313"/>
          <p:cNvSpPr/>
          <p:nvPr/>
        </p:nvSpPr>
        <p:spPr>
          <a:xfrm>
            <a:off x="411480" y="4224528"/>
            <a:ext cx="11375136" cy="1298448"/>
          </a:xfrm>
          <a:prstGeom prst="rect">
            <a:avLst/>
          </a:prstGeom>
          <a:solidFill>
            <a:srgbClr val="EEF2F6"/>
          </a:solidFill>
          <a:ln w="9525">
            <a:solidFill>
              <a:srgbClr val="D3DCE5"/>
            </a:solidFill>
            <a:prstDash val="solid"/>
          </a:ln>
        </p:spPr>
      </p:sp>
      <p:sp>
        <p:nvSpPr>
          <p:cNvPr id="316" name="Text 314"/>
          <p:cNvSpPr txBox="1"/>
          <p:nvPr/>
        </p:nvSpPr>
        <p:spPr>
          <a:xfrm>
            <a:off x="576072" y="4352544"/>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Two simplifications we are declaring rather than burying</a:t>
            </a:r>
            <a:endParaRPr lang="en-US" sz="1150" dirty="0"/>
          </a:p>
        </p:txBody>
      </p:sp>
      <p:sp>
        <p:nvSpPr>
          <p:cNvPr id="317" name="Text 315"/>
          <p:cNvSpPr txBox="1"/>
          <p:nvPr/>
        </p:nvSpPr>
        <p:spPr>
          <a:xfrm>
            <a:off x="576072" y="4681728"/>
            <a:ext cx="11045952" cy="749808"/>
          </a:xfrm>
          <a:prstGeom prst="rect">
            <a:avLst/>
          </a:prstGeom>
          <a:noFill/>
          <a:ln/>
        </p:spPr>
        <p:txBody>
          <a:bodyPr wrap="square" lIns="0" tIns="0" rIns="0" bIns="0" rtlCol="0" anchor="t"/>
          <a:lstStyle/>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First, tax paid is shown equal to the accrued charge. In practice PLS carries franking credits and prior-year tax losses that would defer cash tax, so our near-term operating cash flow is conservative.</a:t>
            </a:r>
            <a:endParaRPr lang="en-US" sz="870" dirty="0"/>
          </a:p>
          <a:p>
            <a:pPr indent="0" marL="0">
              <a:lnSpc>
                <a:spcPct val="105000"/>
              </a:lnSpc>
              <a:buNone/>
            </a:pPr>
            <a:endParaRPr lang="en-US" sz="870" dirty="0"/>
          </a:p>
          <a:p>
            <a:pPr indent="0" marL="0">
              <a:lnSpc>
                <a:spcPct val="105000"/>
              </a:lnSpc>
              <a:buNone/>
            </a:pPr>
            <a:r>
              <a:rPr lang="en-US" sz="870" dirty="0">
                <a:solidFill>
                  <a:srgbClr val="1B2733"/>
                </a:solidFill>
                <a:latin typeface="Calibri" pitchFamily="34" charset="0"/>
                <a:ea typeface="Calibri" pitchFamily="34" charset="-122"/>
                <a:cs typeface="Calibri" pitchFamily="34" charset="-120"/>
              </a:rPr>
              <a:t>Second, the base case assumes the US$600m senior notes are refinanced at maturity rather than repaid, so no debt repayment appears in the financing lines. Neither simplification affects the DCF: free cash flow to the firm is struck before financing, and the equity bridge adds the FY26 net cash position rather than a projected one.</a:t>
            </a:r>
            <a:endParaRPr lang="en-US" sz="870" dirty="0"/>
          </a:p>
        </p:txBody>
      </p:sp>
      <p:sp>
        <p:nvSpPr>
          <p:cNvPr id="318" name="Text 316"/>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Cash Flow sheet, base case.</a:t>
            </a:r>
            <a:endParaRPr lang="en-US" sz="720" dirty="0"/>
          </a:p>
        </p:txBody>
      </p:sp>
      <p:sp>
        <p:nvSpPr>
          <p:cNvPr id="319" name="Text 317"/>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E7</a:t>
            </a:r>
            <a:endParaRPr lang="en-US" sz="8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Unlevered FCFF discounted at 8.88% on a mid-year convention, with a terminal value that is an annuity over the ore that is left.</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E8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788920" cy="256032"/>
          </a:xfrm>
          <a:prstGeom prst="rect">
            <a:avLst/>
          </a:prstGeom>
          <a:solidFill>
            <a:srgbClr val="10233A"/>
          </a:solidFill>
          <a:ln/>
        </p:spPr>
      </p:sp>
      <p:sp>
        <p:nvSpPr>
          <p:cNvPr id="8" name="Text 6"/>
          <p:cNvSpPr txBox="1"/>
          <p:nvPr/>
        </p:nvSpPr>
        <p:spPr>
          <a:xfrm>
            <a:off x="475488" y="1298448"/>
            <a:ext cx="2660904" cy="256032"/>
          </a:xfrm>
          <a:prstGeom prst="rect">
            <a:avLst/>
          </a:prstGeom>
          <a:noFill/>
          <a:ln/>
        </p:spPr>
        <p:txBody>
          <a:bodyPr wrap="square" lIns="0" tIns="0" rIns="0" bIns="0" rtlCol="0" anchor="ctr"/>
          <a:lstStyle/>
          <a:p>
            <a:pPr indent="0" marL="0">
              <a:buNone/>
            </a:pPr>
            <a:r>
              <a:rPr lang="en-US" sz="820" b="1" dirty="0">
                <a:solidFill>
                  <a:srgbClr val="FFFFFF"/>
                </a:solidFill>
                <a:latin typeface="Calibri" pitchFamily="34" charset="0"/>
                <a:ea typeface="Calibri" pitchFamily="34" charset="-122"/>
                <a:cs typeface="Calibri" pitchFamily="34" charset="-120"/>
              </a:rPr>
              <a:t>A$m</a:t>
            </a:r>
            <a:endParaRPr lang="en-US" sz="820" dirty="0"/>
          </a:p>
        </p:txBody>
      </p:sp>
      <p:sp>
        <p:nvSpPr>
          <p:cNvPr id="9" name="Shape 7"/>
          <p:cNvSpPr/>
          <p:nvPr/>
        </p:nvSpPr>
        <p:spPr>
          <a:xfrm>
            <a:off x="3200400" y="1298448"/>
            <a:ext cx="660478" cy="256032"/>
          </a:xfrm>
          <a:prstGeom prst="rect">
            <a:avLst/>
          </a:prstGeom>
          <a:solidFill>
            <a:srgbClr val="10233A"/>
          </a:solidFill>
          <a:ln/>
        </p:spPr>
      </p:sp>
      <p:sp>
        <p:nvSpPr>
          <p:cNvPr id="10" name="Text 8"/>
          <p:cNvSpPr txBox="1"/>
          <p:nvPr/>
        </p:nvSpPr>
        <p:spPr>
          <a:xfrm>
            <a:off x="3200400"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FY24A</a:t>
            </a:r>
            <a:endParaRPr lang="en-US" sz="760" dirty="0"/>
          </a:p>
        </p:txBody>
      </p:sp>
      <p:sp>
        <p:nvSpPr>
          <p:cNvPr id="11" name="Shape 9"/>
          <p:cNvSpPr/>
          <p:nvPr/>
        </p:nvSpPr>
        <p:spPr>
          <a:xfrm>
            <a:off x="3860878" y="1298448"/>
            <a:ext cx="660478" cy="256032"/>
          </a:xfrm>
          <a:prstGeom prst="rect">
            <a:avLst/>
          </a:prstGeom>
          <a:solidFill>
            <a:srgbClr val="10233A"/>
          </a:solidFill>
          <a:ln/>
        </p:spPr>
      </p:sp>
      <p:sp>
        <p:nvSpPr>
          <p:cNvPr id="12" name="Text 10"/>
          <p:cNvSpPr txBox="1"/>
          <p:nvPr/>
        </p:nvSpPr>
        <p:spPr>
          <a:xfrm>
            <a:off x="3860878"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FY25A</a:t>
            </a:r>
            <a:endParaRPr lang="en-US" sz="760" dirty="0"/>
          </a:p>
        </p:txBody>
      </p:sp>
      <p:sp>
        <p:nvSpPr>
          <p:cNvPr id="13" name="Shape 11"/>
          <p:cNvSpPr/>
          <p:nvPr/>
        </p:nvSpPr>
        <p:spPr>
          <a:xfrm>
            <a:off x="4521356" y="1298448"/>
            <a:ext cx="660478" cy="256032"/>
          </a:xfrm>
          <a:prstGeom prst="rect">
            <a:avLst/>
          </a:prstGeom>
          <a:solidFill>
            <a:srgbClr val="10233A"/>
          </a:solidFill>
          <a:ln/>
        </p:spPr>
      </p:sp>
      <p:sp>
        <p:nvSpPr>
          <p:cNvPr id="14" name="Text 12"/>
          <p:cNvSpPr txBox="1"/>
          <p:nvPr/>
        </p:nvSpPr>
        <p:spPr>
          <a:xfrm>
            <a:off x="4521356" y="1298448"/>
            <a:ext cx="660478" cy="256032"/>
          </a:xfrm>
          <a:prstGeom prst="rect">
            <a:avLst/>
          </a:prstGeom>
          <a:noFill/>
          <a:ln/>
        </p:spPr>
        <p:txBody>
          <a:bodyPr wrap="square" lIns="0" tIns="0" rIns="0" bIns="0" rtlCol="0" anchor="ctr"/>
          <a:lstStyle/>
          <a:p>
            <a:pPr algn="ctr" indent="0" marL="0">
              <a:buNone/>
            </a:pPr>
            <a:r>
              <a:rPr lang="en-US" sz="760" b="1" dirty="0">
                <a:solidFill>
                  <a:srgbClr val="9FD8CE"/>
                </a:solidFill>
                <a:latin typeface="Calibri" pitchFamily="34" charset="0"/>
                <a:ea typeface="Calibri" pitchFamily="34" charset="-122"/>
                <a:cs typeface="Calibri" pitchFamily="34" charset="-120"/>
              </a:rPr>
              <a:t>FY26A</a:t>
            </a:r>
            <a:endParaRPr lang="en-US" sz="760" dirty="0"/>
          </a:p>
        </p:txBody>
      </p:sp>
      <p:sp>
        <p:nvSpPr>
          <p:cNvPr id="15" name="Shape 13"/>
          <p:cNvSpPr/>
          <p:nvPr/>
        </p:nvSpPr>
        <p:spPr>
          <a:xfrm>
            <a:off x="5181834" y="1298448"/>
            <a:ext cx="660478" cy="256032"/>
          </a:xfrm>
          <a:prstGeom prst="rect">
            <a:avLst/>
          </a:prstGeom>
          <a:solidFill>
            <a:srgbClr val="10233A"/>
          </a:solidFill>
          <a:ln/>
        </p:spPr>
      </p:sp>
      <p:sp>
        <p:nvSpPr>
          <p:cNvPr id="16" name="Text 14"/>
          <p:cNvSpPr txBox="1"/>
          <p:nvPr/>
        </p:nvSpPr>
        <p:spPr>
          <a:xfrm>
            <a:off x="5181834"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FY27F</a:t>
            </a:r>
            <a:endParaRPr lang="en-US" sz="760" dirty="0"/>
          </a:p>
        </p:txBody>
      </p:sp>
      <p:sp>
        <p:nvSpPr>
          <p:cNvPr id="17" name="Shape 15"/>
          <p:cNvSpPr/>
          <p:nvPr/>
        </p:nvSpPr>
        <p:spPr>
          <a:xfrm>
            <a:off x="5842313" y="1298448"/>
            <a:ext cx="660478" cy="256032"/>
          </a:xfrm>
          <a:prstGeom prst="rect">
            <a:avLst/>
          </a:prstGeom>
          <a:solidFill>
            <a:srgbClr val="10233A"/>
          </a:solidFill>
          <a:ln/>
        </p:spPr>
      </p:sp>
      <p:sp>
        <p:nvSpPr>
          <p:cNvPr id="18" name="Text 16"/>
          <p:cNvSpPr txBox="1"/>
          <p:nvPr/>
        </p:nvSpPr>
        <p:spPr>
          <a:xfrm>
            <a:off x="5842313"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FY28F</a:t>
            </a:r>
            <a:endParaRPr lang="en-US" sz="760" dirty="0"/>
          </a:p>
        </p:txBody>
      </p:sp>
      <p:sp>
        <p:nvSpPr>
          <p:cNvPr id="19" name="Shape 17"/>
          <p:cNvSpPr/>
          <p:nvPr/>
        </p:nvSpPr>
        <p:spPr>
          <a:xfrm>
            <a:off x="6502791" y="1298448"/>
            <a:ext cx="660478" cy="256032"/>
          </a:xfrm>
          <a:prstGeom prst="rect">
            <a:avLst/>
          </a:prstGeom>
          <a:solidFill>
            <a:srgbClr val="10233A"/>
          </a:solidFill>
          <a:ln/>
        </p:spPr>
      </p:sp>
      <p:sp>
        <p:nvSpPr>
          <p:cNvPr id="20" name="Text 18"/>
          <p:cNvSpPr txBox="1"/>
          <p:nvPr/>
        </p:nvSpPr>
        <p:spPr>
          <a:xfrm>
            <a:off x="6502791"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FY29F</a:t>
            </a:r>
            <a:endParaRPr lang="en-US" sz="760" dirty="0"/>
          </a:p>
        </p:txBody>
      </p:sp>
      <p:sp>
        <p:nvSpPr>
          <p:cNvPr id="21" name="Shape 19"/>
          <p:cNvSpPr/>
          <p:nvPr/>
        </p:nvSpPr>
        <p:spPr>
          <a:xfrm>
            <a:off x="7163269" y="1298448"/>
            <a:ext cx="660478" cy="256032"/>
          </a:xfrm>
          <a:prstGeom prst="rect">
            <a:avLst/>
          </a:prstGeom>
          <a:solidFill>
            <a:srgbClr val="10233A"/>
          </a:solidFill>
          <a:ln/>
        </p:spPr>
      </p:sp>
      <p:sp>
        <p:nvSpPr>
          <p:cNvPr id="22" name="Text 20"/>
          <p:cNvSpPr txBox="1"/>
          <p:nvPr/>
        </p:nvSpPr>
        <p:spPr>
          <a:xfrm>
            <a:off x="7163269"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FY30F</a:t>
            </a:r>
            <a:endParaRPr lang="en-US" sz="760" dirty="0"/>
          </a:p>
        </p:txBody>
      </p:sp>
      <p:sp>
        <p:nvSpPr>
          <p:cNvPr id="23" name="Shape 21"/>
          <p:cNvSpPr/>
          <p:nvPr/>
        </p:nvSpPr>
        <p:spPr>
          <a:xfrm>
            <a:off x="7823747" y="1298448"/>
            <a:ext cx="660478" cy="256032"/>
          </a:xfrm>
          <a:prstGeom prst="rect">
            <a:avLst/>
          </a:prstGeom>
          <a:solidFill>
            <a:srgbClr val="10233A"/>
          </a:solidFill>
          <a:ln/>
        </p:spPr>
      </p:sp>
      <p:sp>
        <p:nvSpPr>
          <p:cNvPr id="24" name="Text 22"/>
          <p:cNvSpPr txBox="1"/>
          <p:nvPr/>
        </p:nvSpPr>
        <p:spPr>
          <a:xfrm>
            <a:off x="7823747"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FY31F</a:t>
            </a:r>
            <a:endParaRPr lang="en-US" sz="760" dirty="0"/>
          </a:p>
        </p:txBody>
      </p:sp>
      <p:sp>
        <p:nvSpPr>
          <p:cNvPr id="25" name="Shape 23"/>
          <p:cNvSpPr/>
          <p:nvPr/>
        </p:nvSpPr>
        <p:spPr>
          <a:xfrm>
            <a:off x="8484225" y="1298448"/>
            <a:ext cx="660478" cy="256032"/>
          </a:xfrm>
          <a:prstGeom prst="rect">
            <a:avLst/>
          </a:prstGeom>
          <a:solidFill>
            <a:srgbClr val="10233A"/>
          </a:solidFill>
          <a:ln/>
        </p:spPr>
      </p:sp>
      <p:sp>
        <p:nvSpPr>
          <p:cNvPr id="26" name="Text 24"/>
          <p:cNvSpPr txBox="1"/>
          <p:nvPr/>
        </p:nvSpPr>
        <p:spPr>
          <a:xfrm>
            <a:off x="8484225"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FY32F</a:t>
            </a:r>
            <a:endParaRPr lang="en-US" sz="760" dirty="0"/>
          </a:p>
        </p:txBody>
      </p:sp>
      <p:sp>
        <p:nvSpPr>
          <p:cNvPr id="27" name="Shape 25"/>
          <p:cNvSpPr/>
          <p:nvPr/>
        </p:nvSpPr>
        <p:spPr>
          <a:xfrm>
            <a:off x="9144703" y="1298448"/>
            <a:ext cx="660478" cy="256032"/>
          </a:xfrm>
          <a:prstGeom prst="rect">
            <a:avLst/>
          </a:prstGeom>
          <a:solidFill>
            <a:srgbClr val="10233A"/>
          </a:solidFill>
          <a:ln/>
        </p:spPr>
      </p:sp>
      <p:sp>
        <p:nvSpPr>
          <p:cNvPr id="28" name="Text 26"/>
          <p:cNvSpPr txBox="1"/>
          <p:nvPr/>
        </p:nvSpPr>
        <p:spPr>
          <a:xfrm>
            <a:off x="9144703"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FY33F</a:t>
            </a:r>
            <a:endParaRPr lang="en-US" sz="760" dirty="0"/>
          </a:p>
        </p:txBody>
      </p:sp>
      <p:sp>
        <p:nvSpPr>
          <p:cNvPr id="29" name="Shape 27"/>
          <p:cNvSpPr/>
          <p:nvPr/>
        </p:nvSpPr>
        <p:spPr>
          <a:xfrm>
            <a:off x="9805182" y="1298448"/>
            <a:ext cx="660478" cy="256032"/>
          </a:xfrm>
          <a:prstGeom prst="rect">
            <a:avLst/>
          </a:prstGeom>
          <a:solidFill>
            <a:srgbClr val="10233A"/>
          </a:solidFill>
          <a:ln/>
        </p:spPr>
      </p:sp>
      <p:sp>
        <p:nvSpPr>
          <p:cNvPr id="30" name="Text 28"/>
          <p:cNvSpPr txBox="1"/>
          <p:nvPr/>
        </p:nvSpPr>
        <p:spPr>
          <a:xfrm>
            <a:off x="9805182"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FY34F</a:t>
            </a:r>
            <a:endParaRPr lang="en-US" sz="760" dirty="0"/>
          </a:p>
        </p:txBody>
      </p:sp>
      <p:sp>
        <p:nvSpPr>
          <p:cNvPr id="31" name="Shape 29"/>
          <p:cNvSpPr/>
          <p:nvPr/>
        </p:nvSpPr>
        <p:spPr>
          <a:xfrm>
            <a:off x="10465660" y="1298448"/>
            <a:ext cx="660478" cy="256032"/>
          </a:xfrm>
          <a:prstGeom prst="rect">
            <a:avLst/>
          </a:prstGeom>
          <a:solidFill>
            <a:srgbClr val="10233A"/>
          </a:solidFill>
          <a:ln/>
        </p:spPr>
      </p:sp>
      <p:sp>
        <p:nvSpPr>
          <p:cNvPr id="32" name="Text 30"/>
          <p:cNvSpPr txBox="1"/>
          <p:nvPr/>
        </p:nvSpPr>
        <p:spPr>
          <a:xfrm>
            <a:off x="10465660"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FY35F</a:t>
            </a:r>
            <a:endParaRPr lang="en-US" sz="760" dirty="0"/>
          </a:p>
        </p:txBody>
      </p:sp>
      <p:sp>
        <p:nvSpPr>
          <p:cNvPr id="33" name="Shape 31"/>
          <p:cNvSpPr/>
          <p:nvPr/>
        </p:nvSpPr>
        <p:spPr>
          <a:xfrm>
            <a:off x="11126138" y="1298448"/>
            <a:ext cx="660478" cy="256032"/>
          </a:xfrm>
          <a:prstGeom prst="rect">
            <a:avLst/>
          </a:prstGeom>
          <a:solidFill>
            <a:srgbClr val="10233A"/>
          </a:solidFill>
          <a:ln/>
        </p:spPr>
      </p:sp>
      <p:sp>
        <p:nvSpPr>
          <p:cNvPr id="34" name="Text 32"/>
          <p:cNvSpPr txBox="1"/>
          <p:nvPr/>
        </p:nvSpPr>
        <p:spPr>
          <a:xfrm>
            <a:off x="11126138" y="1298448"/>
            <a:ext cx="660478" cy="256032"/>
          </a:xfrm>
          <a:prstGeom prst="rect">
            <a:avLst/>
          </a:prstGeom>
          <a:noFill/>
          <a:ln/>
        </p:spPr>
        <p:txBody>
          <a:bodyPr wrap="square" lIns="0" tIns="0" rIns="0" bIns="0" rtlCol="0" anchor="ctr"/>
          <a:lstStyle/>
          <a:p>
            <a:pPr algn="ctr" indent="0" marL="0">
              <a:buNone/>
            </a:pPr>
            <a:r>
              <a:rPr lang="en-US" sz="760" b="1" dirty="0">
                <a:solidFill>
                  <a:srgbClr val="FFFFFF"/>
                </a:solidFill>
                <a:latin typeface="Calibri" pitchFamily="34" charset="0"/>
                <a:ea typeface="Calibri" pitchFamily="34" charset="-122"/>
                <a:cs typeface="Calibri" pitchFamily="34" charset="-120"/>
              </a:rPr>
              <a:t>FY36F</a:t>
            </a:r>
            <a:endParaRPr lang="en-US" sz="760" dirty="0"/>
          </a:p>
        </p:txBody>
      </p:sp>
      <p:sp>
        <p:nvSpPr>
          <p:cNvPr id="35" name="Shape 33"/>
          <p:cNvSpPr/>
          <p:nvPr/>
        </p:nvSpPr>
        <p:spPr>
          <a:xfrm>
            <a:off x="411480" y="1554480"/>
            <a:ext cx="2788920" cy="251460"/>
          </a:xfrm>
          <a:prstGeom prst="rect">
            <a:avLst/>
          </a:prstGeom>
          <a:solidFill>
            <a:srgbClr val="FFFFFF"/>
          </a:solidFill>
          <a:ln w="5080">
            <a:solidFill>
              <a:srgbClr val="D3DCE5"/>
            </a:solidFill>
            <a:prstDash val="solid"/>
          </a:ln>
        </p:spPr>
      </p:sp>
      <p:sp>
        <p:nvSpPr>
          <p:cNvPr id="36" name="Text 34"/>
          <p:cNvSpPr txBox="1"/>
          <p:nvPr/>
        </p:nvSpPr>
        <p:spPr>
          <a:xfrm>
            <a:off x="475488" y="1554480"/>
            <a:ext cx="2660904" cy="251460"/>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EBIT</a:t>
            </a:r>
            <a:endParaRPr lang="en-US" sz="780" dirty="0"/>
          </a:p>
        </p:txBody>
      </p:sp>
      <p:sp>
        <p:nvSpPr>
          <p:cNvPr id="37" name="Shape 35"/>
          <p:cNvSpPr/>
          <p:nvPr/>
        </p:nvSpPr>
        <p:spPr>
          <a:xfrm>
            <a:off x="3200400" y="1554480"/>
            <a:ext cx="660478" cy="251460"/>
          </a:xfrm>
          <a:prstGeom prst="rect">
            <a:avLst/>
          </a:prstGeom>
          <a:solidFill>
            <a:srgbClr val="FFFFFF"/>
          </a:solidFill>
          <a:ln w="5080">
            <a:solidFill>
              <a:srgbClr val="D3DCE5"/>
            </a:solidFill>
            <a:prstDash val="solid"/>
          </a:ln>
        </p:spPr>
      </p:sp>
      <p:sp>
        <p:nvSpPr>
          <p:cNvPr id="38" name="Text 36"/>
          <p:cNvSpPr txBox="1"/>
          <p:nvPr/>
        </p:nvSpPr>
        <p:spPr>
          <a:xfrm>
            <a:off x="3200400" y="1554480"/>
            <a:ext cx="614758" cy="251460"/>
          </a:xfrm>
          <a:prstGeom prst="rect">
            <a:avLst/>
          </a:prstGeom>
          <a:noFill/>
          <a:ln/>
        </p:spPr>
        <p:txBody>
          <a:bodyPr wrap="square" lIns="0" tIns="0" rIns="0" bIns="0" rtlCol="0" anchor="ctr"/>
          <a:lstStyle/>
          <a:p>
            <a:pPr algn="r" indent="0" marL="0">
              <a:buNone/>
            </a:pPr>
            <a:endParaRPr lang="en-US" sz="760" dirty="0"/>
          </a:p>
        </p:txBody>
      </p:sp>
      <p:sp>
        <p:nvSpPr>
          <p:cNvPr id="39" name="Shape 37"/>
          <p:cNvSpPr/>
          <p:nvPr/>
        </p:nvSpPr>
        <p:spPr>
          <a:xfrm>
            <a:off x="3860878" y="1554480"/>
            <a:ext cx="660478" cy="251460"/>
          </a:xfrm>
          <a:prstGeom prst="rect">
            <a:avLst/>
          </a:prstGeom>
          <a:solidFill>
            <a:srgbClr val="FFFFFF"/>
          </a:solidFill>
          <a:ln w="5080">
            <a:solidFill>
              <a:srgbClr val="D3DCE5"/>
            </a:solidFill>
            <a:prstDash val="solid"/>
          </a:ln>
        </p:spPr>
      </p:sp>
      <p:sp>
        <p:nvSpPr>
          <p:cNvPr id="40" name="Text 38"/>
          <p:cNvSpPr txBox="1"/>
          <p:nvPr/>
        </p:nvSpPr>
        <p:spPr>
          <a:xfrm>
            <a:off x="3860878" y="1554480"/>
            <a:ext cx="614758" cy="251460"/>
          </a:xfrm>
          <a:prstGeom prst="rect">
            <a:avLst/>
          </a:prstGeom>
          <a:noFill/>
          <a:ln/>
        </p:spPr>
        <p:txBody>
          <a:bodyPr wrap="square" lIns="0" tIns="0" rIns="0" bIns="0" rtlCol="0" anchor="ctr"/>
          <a:lstStyle/>
          <a:p>
            <a:pPr algn="r" indent="0" marL="0">
              <a:buNone/>
            </a:pPr>
            <a:endParaRPr lang="en-US" sz="760" dirty="0"/>
          </a:p>
        </p:txBody>
      </p:sp>
      <p:sp>
        <p:nvSpPr>
          <p:cNvPr id="41" name="Shape 39"/>
          <p:cNvSpPr/>
          <p:nvPr/>
        </p:nvSpPr>
        <p:spPr>
          <a:xfrm>
            <a:off x="4521356" y="1554480"/>
            <a:ext cx="660478" cy="251460"/>
          </a:xfrm>
          <a:prstGeom prst="rect">
            <a:avLst/>
          </a:prstGeom>
          <a:solidFill>
            <a:srgbClr val="FFFFFF"/>
          </a:solidFill>
          <a:ln w="5080">
            <a:solidFill>
              <a:srgbClr val="D3DCE5"/>
            </a:solidFill>
            <a:prstDash val="solid"/>
          </a:ln>
        </p:spPr>
      </p:sp>
      <p:sp>
        <p:nvSpPr>
          <p:cNvPr id="42" name="Text 40"/>
          <p:cNvSpPr txBox="1"/>
          <p:nvPr/>
        </p:nvSpPr>
        <p:spPr>
          <a:xfrm>
            <a:off x="4521356" y="1554480"/>
            <a:ext cx="614758" cy="251460"/>
          </a:xfrm>
          <a:prstGeom prst="rect">
            <a:avLst/>
          </a:prstGeom>
          <a:noFill/>
          <a:ln/>
        </p:spPr>
        <p:txBody>
          <a:bodyPr wrap="square" lIns="0" tIns="0" rIns="0" bIns="0" rtlCol="0" anchor="ctr"/>
          <a:lstStyle/>
          <a:p>
            <a:pPr algn="r" indent="0" marL="0">
              <a:buNone/>
            </a:pPr>
            <a:endParaRPr lang="en-US" sz="760" dirty="0"/>
          </a:p>
        </p:txBody>
      </p:sp>
      <p:sp>
        <p:nvSpPr>
          <p:cNvPr id="43" name="Shape 41"/>
          <p:cNvSpPr/>
          <p:nvPr/>
        </p:nvSpPr>
        <p:spPr>
          <a:xfrm>
            <a:off x="5181834" y="1554480"/>
            <a:ext cx="660478" cy="251460"/>
          </a:xfrm>
          <a:prstGeom prst="rect">
            <a:avLst/>
          </a:prstGeom>
          <a:solidFill>
            <a:srgbClr val="FFFFFF"/>
          </a:solidFill>
          <a:ln w="5080">
            <a:solidFill>
              <a:srgbClr val="D3DCE5"/>
            </a:solidFill>
            <a:prstDash val="solid"/>
          </a:ln>
        </p:spPr>
      </p:sp>
      <p:sp>
        <p:nvSpPr>
          <p:cNvPr id="44" name="Text 42"/>
          <p:cNvSpPr txBox="1"/>
          <p:nvPr/>
        </p:nvSpPr>
        <p:spPr>
          <a:xfrm>
            <a:off x="5181834" y="155448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1,363</a:t>
            </a:r>
            <a:endParaRPr lang="en-US" sz="760" dirty="0"/>
          </a:p>
        </p:txBody>
      </p:sp>
      <p:sp>
        <p:nvSpPr>
          <p:cNvPr id="45" name="Shape 43"/>
          <p:cNvSpPr/>
          <p:nvPr/>
        </p:nvSpPr>
        <p:spPr>
          <a:xfrm>
            <a:off x="5842313" y="1554480"/>
            <a:ext cx="660478" cy="251460"/>
          </a:xfrm>
          <a:prstGeom prst="rect">
            <a:avLst/>
          </a:prstGeom>
          <a:solidFill>
            <a:srgbClr val="FFFFFF"/>
          </a:solidFill>
          <a:ln w="5080">
            <a:solidFill>
              <a:srgbClr val="D3DCE5"/>
            </a:solidFill>
            <a:prstDash val="solid"/>
          </a:ln>
        </p:spPr>
      </p:sp>
      <p:sp>
        <p:nvSpPr>
          <p:cNvPr id="46" name="Text 44"/>
          <p:cNvSpPr txBox="1"/>
          <p:nvPr/>
        </p:nvSpPr>
        <p:spPr>
          <a:xfrm>
            <a:off x="5842313" y="155448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1,506</a:t>
            </a:r>
            <a:endParaRPr lang="en-US" sz="760" dirty="0"/>
          </a:p>
        </p:txBody>
      </p:sp>
      <p:sp>
        <p:nvSpPr>
          <p:cNvPr id="47" name="Shape 45"/>
          <p:cNvSpPr/>
          <p:nvPr/>
        </p:nvSpPr>
        <p:spPr>
          <a:xfrm>
            <a:off x="6502791" y="1554480"/>
            <a:ext cx="660478" cy="251460"/>
          </a:xfrm>
          <a:prstGeom prst="rect">
            <a:avLst/>
          </a:prstGeom>
          <a:solidFill>
            <a:srgbClr val="FFFFFF"/>
          </a:solidFill>
          <a:ln w="5080">
            <a:solidFill>
              <a:srgbClr val="D3DCE5"/>
            </a:solidFill>
            <a:prstDash val="solid"/>
          </a:ln>
        </p:spPr>
      </p:sp>
      <p:sp>
        <p:nvSpPr>
          <p:cNvPr id="48" name="Text 46"/>
          <p:cNvSpPr txBox="1"/>
          <p:nvPr/>
        </p:nvSpPr>
        <p:spPr>
          <a:xfrm>
            <a:off x="6502791" y="155448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1,518</a:t>
            </a:r>
            <a:endParaRPr lang="en-US" sz="760" dirty="0"/>
          </a:p>
        </p:txBody>
      </p:sp>
      <p:sp>
        <p:nvSpPr>
          <p:cNvPr id="49" name="Shape 47"/>
          <p:cNvSpPr/>
          <p:nvPr/>
        </p:nvSpPr>
        <p:spPr>
          <a:xfrm>
            <a:off x="7163269" y="1554480"/>
            <a:ext cx="660478" cy="251460"/>
          </a:xfrm>
          <a:prstGeom prst="rect">
            <a:avLst/>
          </a:prstGeom>
          <a:solidFill>
            <a:srgbClr val="FFFFFF"/>
          </a:solidFill>
          <a:ln w="5080">
            <a:solidFill>
              <a:srgbClr val="D3DCE5"/>
            </a:solidFill>
            <a:prstDash val="solid"/>
          </a:ln>
        </p:spPr>
      </p:sp>
      <p:sp>
        <p:nvSpPr>
          <p:cNvPr id="50" name="Text 48"/>
          <p:cNvSpPr txBox="1"/>
          <p:nvPr/>
        </p:nvSpPr>
        <p:spPr>
          <a:xfrm>
            <a:off x="7163269" y="155448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1,785</a:t>
            </a:r>
            <a:endParaRPr lang="en-US" sz="760" dirty="0"/>
          </a:p>
        </p:txBody>
      </p:sp>
      <p:sp>
        <p:nvSpPr>
          <p:cNvPr id="51" name="Shape 49"/>
          <p:cNvSpPr/>
          <p:nvPr/>
        </p:nvSpPr>
        <p:spPr>
          <a:xfrm>
            <a:off x="7823747" y="1554480"/>
            <a:ext cx="660478" cy="251460"/>
          </a:xfrm>
          <a:prstGeom prst="rect">
            <a:avLst/>
          </a:prstGeom>
          <a:solidFill>
            <a:srgbClr val="FFFFFF"/>
          </a:solidFill>
          <a:ln w="5080">
            <a:solidFill>
              <a:srgbClr val="D3DCE5"/>
            </a:solidFill>
            <a:prstDash val="solid"/>
          </a:ln>
        </p:spPr>
      </p:sp>
      <p:sp>
        <p:nvSpPr>
          <p:cNvPr id="52" name="Text 50"/>
          <p:cNvSpPr txBox="1"/>
          <p:nvPr/>
        </p:nvSpPr>
        <p:spPr>
          <a:xfrm>
            <a:off x="7823747" y="155448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2,139</a:t>
            </a:r>
            <a:endParaRPr lang="en-US" sz="760" dirty="0"/>
          </a:p>
        </p:txBody>
      </p:sp>
      <p:sp>
        <p:nvSpPr>
          <p:cNvPr id="53" name="Shape 51"/>
          <p:cNvSpPr/>
          <p:nvPr/>
        </p:nvSpPr>
        <p:spPr>
          <a:xfrm>
            <a:off x="8484225" y="1554480"/>
            <a:ext cx="660478" cy="251460"/>
          </a:xfrm>
          <a:prstGeom prst="rect">
            <a:avLst/>
          </a:prstGeom>
          <a:solidFill>
            <a:srgbClr val="FFFFFF"/>
          </a:solidFill>
          <a:ln w="5080">
            <a:solidFill>
              <a:srgbClr val="D3DCE5"/>
            </a:solidFill>
            <a:prstDash val="solid"/>
          </a:ln>
        </p:spPr>
      </p:sp>
      <p:sp>
        <p:nvSpPr>
          <p:cNvPr id="54" name="Text 52"/>
          <p:cNvSpPr txBox="1"/>
          <p:nvPr/>
        </p:nvSpPr>
        <p:spPr>
          <a:xfrm>
            <a:off x="8484225" y="155448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2,816</a:t>
            </a:r>
            <a:endParaRPr lang="en-US" sz="760" dirty="0"/>
          </a:p>
        </p:txBody>
      </p:sp>
      <p:sp>
        <p:nvSpPr>
          <p:cNvPr id="55" name="Shape 53"/>
          <p:cNvSpPr/>
          <p:nvPr/>
        </p:nvSpPr>
        <p:spPr>
          <a:xfrm>
            <a:off x="9144703" y="1554480"/>
            <a:ext cx="660478" cy="251460"/>
          </a:xfrm>
          <a:prstGeom prst="rect">
            <a:avLst/>
          </a:prstGeom>
          <a:solidFill>
            <a:srgbClr val="FFFFFF"/>
          </a:solidFill>
          <a:ln w="5080">
            <a:solidFill>
              <a:srgbClr val="D3DCE5"/>
            </a:solidFill>
            <a:prstDash val="solid"/>
          </a:ln>
        </p:spPr>
      </p:sp>
      <p:sp>
        <p:nvSpPr>
          <p:cNvPr id="56" name="Text 54"/>
          <p:cNvSpPr txBox="1"/>
          <p:nvPr/>
        </p:nvSpPr>
        <p:spPr>
          <a:xfrm>
            <a:off x="9144703" y="155448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3,296</a:t>
            </a:r>
            <a:endParaRPr lang="en-US" sz="760" dirty="0"/>
          </a:p>
        </p:txBody>
      </p:sp>
      <p:sp>
        <p:nvSpPr>
          <p:cNvPr id="57" name="Shape 55"/>
          <p:cNvSpPr/>
          <p:nvPr/>
        </p:nvSpPr>
        <p:spPr>
          <a:xfrm>
            <a:off x="9805182" y="1554480"/>
            <a:ext cx="660478" cy="251460"/>
          </a:xfrm>
          <a:prstGeom prst="rect">
            <a:avLst/>
          </a:prstGeom>
          <a:solidFill>
            <a:srgbClr val="FFFFFF"/>
          </a:solidFill>
          <a:ln w="5080">
            <a:solidFill>
              <a:srgbClr val="D3DCE5"/>
            </a:solidFill>
            <a:prstDash val="solid"/>
          </a:ln>
        </p:spPr>
      </p:sp>
      <p:sp>
        <p:nvSpPr>
          <p:cNvPr id="58" name="Text 56"/>
          <p:cNvSpPr txBox="1"/>
          <p:nvPr/>
        </p:nvSpPr>
        <p:spPr>
          <a:xfrm>
            <a:off x="9805182" y="155448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3,491</a:t>
            </a:r>
            <a:endParaRPr lang="en-US" sz="760" dirty="0"/>
          </a:p>
        </p:txBody>
      </p:sp>
      <p:sp>
        <p:nvSpPr>
          <p:cNvPr id="59" name="Shape 57"/>
          <p:cNvSpPr/>
          <p:nvPr/>
        </p:nvSpPr>
        <p:spPr>
          <a:xfrm>
            <a:off x="10465660" y="1554480"/>
            <a:ext cx="660478" cy="251460"/>
          </a:xfrm>
          <a:prstGeom prst="rect">
            <a:avLst/>
          </a:prstGeom>
          <a:solidFill>
            <a:srgbClr val="FFFFFF"/>
          </a:solidFill>
          <a:ln w="5080">
            <a:solidFill>
              <a:srgbClr val="D3DCE5"/>
            </a:solidFill>
            <a:prstDash val="solid"/>
          </a:ln>
        </p:spPr>
      </p:sp>
      <p:sp>
        <p:nvSpPr>
          <p:cNvPr id="60" name="Text 58"/>
          <p:cNvSpPr txBox="1"/>
          <p:nvPr/>
        </p:nvSpPr>
        <p:spPr>
          <a:xfrm>
            <a:off x="10465660" y="155448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3,572</a:t>
            </a:r>
            <a:endParaRPr lang="en-US" sz="760" dirty="0"/>
          </a:p>
        </p:txBody>
      </p:sp>
      <p:sp>
        <p:nvSpPr>
          <p:cNvPr id="61" name="Shape 59"/>
          <p:cNvSpPr/>
          <p:nvPr/>
        </p:nvSpPr>
        <p:spPr>
          <a:xfrm>
            <a:off x="11126138" y="1554480"/>
            <a:ext cx="660478" cy="251460"/>
          </a:xfrm>
          <a:prstGeom prst="rect">
            <a:avLst/>
          </a:prstGeom>
          <a:solidFill>
            <a:srgbClr val="FFFFFF"/>
          </a:solidFill>
          <a:ln w="5080">
            <a:solidFill>
              <a:srgbClr val="D3DCE5"/>
            </a:solidFill>
            <a:prstDash val="solid"/>
          </a:ln>
        </p:spPr>
      </p:sp>
      <p:sp>
        <p:nvSpPr>
          <p:cNvPr id="62" name="Text 60"/>
          <p:cNvSpPr txBox="1"/>
          <p:nvPr/>
        </p:nvSpPr>
        <p:spPr>
          <a:xfrm>
            <a:off x="11126138" y="155448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3,586</a:t>
            </a:r>
            <a:endParaRPr lang="en-US" sz="760" dirty="0"/>
          </a:p>
        </p:txBody>
      </p:sp>
      <p:sp>
        <p:nvSpPr>
          <p:cNvPr id="63" name="Shape 61"/>
          <p:cNvSpPr/>
          <p:nvPr/>
        </p:nvSpPr>
        <p:spPr>
          <a:xfrm>
            <a:off x="411480" y="1805940"/>
            <a:ext cx="2788920" cy="251460"/>
          </a:xfrm>
          <a:prstGeom prst="rect">
            <a:avLst/>
          </a:prstGeom>
          <a:solidFill>
            <a:srgbClr val="F7F9FB"/>
          </a:solidFill>
          <a:ln w="5080">
            <a:solidFill>
              <a:srgbClr val="D3DCE5"/>
            </a:solidFill>
            <a:prstDash val="solid"/>
          </a:ln>
        </p:spPr>
      </p:sp>
      <p:sp>
        <p:nvSpPr>
          <p:cNvPr id="64" name="Text 62"/>
          <p:cNvSpPr txBox="1"/>
          <p:nvPr/>
        </p:nvSpPr>
        <p:spPr>
          <a:xfrm>
            <a:off x="475488" y="1805940"/>
            <a:ext cx="2660904" cy="251460"/>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NOPAT</a:t>
            </a:r>
            <a:endParaRPr lang="en-US" sz="780" dirty="0"/>
          </a:p>
        </p:txBody>
      </p:sp>
      <p:sp>
        <p:nvSpPr>
          <p:cNvPr id="65" name="Shape 63"/>
          <p:cNvSpPr/>
          <p:nvPr/>
        </p:nvSpPr>
        <p:spPr>
          <a:xfrm>
            <a:off x="3200400" y="1805940"/>
            <a:ext cx="660478" cy="251460"/>
          </a:xfrm>
          <a:prstGeom prst="rect">
            <a:avLst/>
          </a:prstGeom>
          <a:solidFill>
            <a:srgbClr val="F7F9FB"/>
          </a:solidFill>
          <a:ln w="5080">
            <a:solidFill>
              <a:srgbClr val="D3DCE5"/>
            </a:solidFill>
            <a:prstDash val="solid"/>
          </a:ln>
        </p:spPr>
      </p:sp>
      <p:sp>
        <p:nvSpPr>
          <p:cNvPr id="66" name="Text 64"/>
          <p:cNvSpPr txBox="1"/>
          <p:nvPr/>
        </p:nvSpPr>
        <p:spPr>
          <a:xfrm>
            <a:off x="3200400" y="1805940"/>
            <a:ext cx="614758" cy="251460"/>
          </a:xfrm>
          <a:prstGeom prst="rect">
            <a:avLst/>
          </a:prstGeom>
          <a:noFill/>
          <a:ln/>
        </p:spPr>
        <p:txBody>
          <a:bodyPr wrap="square" lIns="0" tIns="0" rIns="0" bIns="0" rtlCol="0" anchor="ctr"/>
          <a:lstStyle/>
          <a:p>
            <a:pPr algn="r" indent="0" marL="0">
              <a:buNone/>
            </a:pPr>
            <a:endParaRPr lang="en-US" sz="760" dirty="0"/>
          </a:p>
        </p:txBody>
      </p:sp>
      <p:sp>
        <p:nvSpPr>
          <p:cNvPr id="67" name="Shape 65"/>
          <p:cNvSpPr/>
          <p:nvPr/>
        </p:nvSpPr>
        <p:spPr>
          <a:xfrm>
            <a:off x="3860878" y="1805940"/>
            <a:ext cx="660478" cy="251460"/>
          </a:xfrm>
          <a:prstGeom prst="rect">
            <a:avLst/>
          </a:prstGeom>
          <a:solidFill>
            <a:srgbClr val="F7F9FB"/>
          </a:solidFill>
          <a:ln w="5080">
            <a:solidFill>
              <a:srgbClr val="D3DCE5"/>
            </a:solidFill>
            <a:prstDash val="solid"/>
          </a:ln>
        </p:spPr>
      </p:sp>
      <p:sp>
        <p:nvSpPr>
          <p:cNvPr id="68" name="Text 66"/>
          <p:cNvSpPr txBox="1"/>
          <p:nvPr/>
        </p:nvSpPr>
        <p:spPr>
          <a:xfrm>
            <a:off x="3860878" y="1805940"/>
            <a:ext cx="614758" cy="251460"/>
          </a:xfrm>
          <a:prstGeom prst="rect">
            <a:avLst/>
          </a:prstGeom>
          <a:noFill/>
          <a:ln/>
        </p:spPr>
        <p:txBody>
          <a:bodyPr wrap="square" lIns="0" tIns="0" rIns="0" bIns="0" rtlCol="0" anchor="ctr"/>
          <a:lstStyle/>
          <a:p>
            <a:pPr algn="r" indent="0" marL="0">
              <a:buNone/>
            </a:pPr>
            <a:endParaRPr lang="en-US" sz="760" dirty="0"/>
          </a:p>
        </p:txBody>
      </p:sp>
      <p:sp>
        <p:nvSpPr>
          <p:cNvPr id="69" name="Shape 67"/>
          <p:cNvSpPr/>
          <p:nvPr/>
        </p:nvSpPr>
        <p:spPr>
          <a:xfrm>
            <a:off x="4521356" y="1805940"/>
            <a:ext cx="660478" cy="251460"/>
          </a:xfrm>
          <a:prstGeom prst="rect">
            <a:avLst/>
          </a:prstGeom>
          <a:solidFill>
            <a:srgbClr val="F7F9FB"/>
          </a:solidFill>
          <a:ln w="5080">
            <a:solidFill>
              <a:srgbClr val="D3DCE5"/>
            </a:solidFill>
            <a:prstDash val="solid"/>
          </a:ln>
        </p:spPr>
      </p:sp>
      <p:sp>
        <p:nvSpPr>
          <p:cNvPr id="70" name="Text 68"/>
          <p:cNvSpPr txBox="1"/>
          <p:nvPr/>
        </p:nvSpPr>
        <p:spPr>
          <a:xfrm>
            <a:off x="4521356" y="1805940"/>
            <a:ext cx="614758" cy="251460"/>
          </a:xfrm>
          <a:prstGeom prst="rect">
            <a:avLst/>
          </a:prstGeom>
          <a:noFill/>
          <a:ln/>
        </p:spPr>
        <p:txBody>
          <a:bodyPr wrap="square" lIns="0" tIns="0" rIns="0" bIns="0" rtlCol="0" anchor="ctr"/>
          <a:lstStyle/>
          <a:p>
            <a:pPr algn="r" indent="0" marL="0">
              <a:buNone/>
            </a:pPr>
            <a:endParaRPr lang="en-US" sz="760" dirty="0"/>
          </a:p>
        </p:txBody>
      </p:sp>
      <p:sp>
        <p:nvSpPr>
          <p:cNvPr id="71" name="Shape 69"/>
          <p:cNvSpPr/>
          <p:nvPr/>
        </p:nvSpPr>
        <p:spPr>
          <a:xfrm>
            <a:off x="5181834" y="1805940"/>
            <a:ext cx="660478" cy="251460"/>
          </a:xfrm>
          <a:prstGeom prst="rect">
            <a:avLst/>
          </a:prstGeom>
          <a:solidFill>
            <a:srgbClr val="F7F9FB"/>
          </a:solidFill>
          <a:ln w="5080">
            <a:solidFill>
              <a:srgbClr val="D3DCE5"/>
            </a:solidFill>
            <a:prstDash val="solid"/>
          </a:ln>
        </p:spPr>
      </p:sp>
      <p:sp>
        <p:nvSpPr>
          <p:cNvPr id="72" name="Text 70"/>
          <p:cNvSpPr txBox="1"/>
          <p:nvPr/>
        </p:nvSpPr>
        <p:spPr>
          <a:xfrm>
            <a:off x="5181834" y="180594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954</a:t>
            </a:r>
            <a:endParaRPr lang="en-US" sz="760" dirty="0"/>
          </a:p>
        </p:txBody>
      </p:sp>
      <p:sp>
        <p:nvSpPr>
          <p:cNvPr id="73" name="Shape 71"/>
          <p:cNvSpPr/>
          <p:nvPr/>
        </p:nvSpPr>
        <p:spPr>
          <a:xfrm>
            <a:off x="5842313" y="1805940"/>
            <a:ext cx="660478" cy="251460"/>
          </a:xfrm>
          <a:prstGeom prst="rect">
            <a:avLst/>
          </a:prstGeom>
          <a:solidFill>
            <a:srgbClr val="F7F9FB"/>
          </a:solidFill>
          <a:ln w="5080">
            <a:solidFill>
              <a:srgbClr val="D3DCE5"/>
            </a:solidFill>
            <a:prstDash val="solid"/>
          </a:ln>
        </p:spPr>
      </p:sp>
      <p:sp>
        <p:nvSpPr>
          <p:cNvPr id="74" name="Text 72"/>
          <p:cNvSpPr txBox="1"/>
          <p:nvPr/>
        </p:nvSpPr>
        <p:spPr>
          <a:xfrm>
            <a:off x="5842313" y="180594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1,054</a:t>
            </a:r>
            <a:endParaRPr lang="en-US" sz="760" dirty="0"/>
          </a:p>
        </p:txBody>
      </p:sp>
      <p:sp>
        <p:nvSpPr>
          <p:cNvPr id="75" name="Shape 73"/>
          <p:cNvSpPr/>
          <p:nvPr/>
        </p:nvSpPr>
        <p:spPr>
          <a:xfrm>
            <a:off x="6502791" y="1805940"/>
            <a:ext cx="660478" cy="251460"/>
          </a:xfrm>
          <a:prstGeom prst="rect">
            <a:avLst/>
          </a:prstGeom>
          <a:solidFill>
            <a:srgbClr val="F7F9FB"/>
          </a:solidFill>
          <a:ln w="5080">
            <a:solidFill>
              <a:srgbClr val="D3DCE5"/>
            </a:solidFill>
            <a:prstDash val="solid"/>
          </a:ln>
        </p:spPr>
      </p:sp>
      <p:sp>
        <p:nvSpPr>
          <p:cNvPr id="76" name="Text 74"/>
          <p:cNvSpPr txBox="1"/>
          <p:nvPr/>
        </p:nvSpPr>
        <p:spPr>
          <a:xfrm>
            <a:off x="6502791" y="180594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1,063</a:t>
            </a:r>
            <a:endParaRPr lang="en-US" sz="760" dirty="0"/>
          </a:p>
        </p:txBody>
      </p:sp>
      <p:sp>
        <p:nvSpPr>
          <p:cNvPr id="77" name="Shape 75"/>
          <p:cNvSpPr/>
          <p:nvPr/>
        </p:nvSpPr>
        <p:spPr>
          <a:xfrm>
            <a:off x="7163269" y="1805940"/>
            <a:ext cx="660478" cy="251460"/>
          </a:xfrm>
          <a:prstGeom prst="rect">
            <a:avLst/>
          </a:prstGeom>
          <a:solidFill>
            <a:srgbClr val="F7F9FB"/>
          </a:solidFill>
          <a:ln w="5080">
            <a:solidFill>
              <a:srgbClr val="D3DCE5"/>
            </a:solidFill>
            <a:prstDash val="solid"/>
          </a:ln>
        </p:spPr>
      </p:sp>
      <p:sp>
        <p:nvSpPr>
          <p:cNvPr id="78" name="Text 76"/>
          <p:cNvSpPr txBox="1"/>
          <p:nvPr/>
        </p:nvSpPr>
        <p:spPr>
          <a:xfrm>
            <a:off x="7163269" y="180594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1,250</a:t>
            </a:r>
            <a:endParaRPr lang="en-US" sz="760" dirty="0"/>
          </a:p>
        </p:txBody>
      </p:sp>
      <p:sp>
        <p:nvSpPr>
          <p:cNvPr id="79" name="Shape 77"/>
          <p:cNvSpPr/>
          <p:nvPr/>
        </p:nvSpPr>
        <p:spPr>
          <a:xfrm>
            <a:off x="7823747" y="1805940"/>
            <a:ext cx="660478" cy="251460"/>
          </a:xfrm>
          <a:prstGeom prst="rect">
            <a:avLst/>
          </a:prstGeom>
          <a:solidFill>
            <a:srgbClr val="F7F9FB"/>
          </a:solidFill>
          <a:ln w="5080">
            <a:solidFill>
              <a:srgbClr val="D3DCE5"/>
            </a:solidFill>
            <a:prstDash val="solid"/>
          </a:ln>
        </p:spPr>
      </p:sp>
      <p:sp>
        <p:nvSpPr>
          <p:cNvPr id="80" name="Text 78"/>
          <p:cNvSpPr txBox="1"/>
          <p:nvPr/>
        </p:nvSpPr>
        <p:spPr>
          <a:xfrm>
            <a:off x="7823747" y="180594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1,497</a:t>
            </a:r>
            <a:endParaRPr lang="en-US" sz="760" dirty="0"/>
          </a:p>
        </p:txBody>
      </p:sp>
      <p:sp>
        <p:nvSpPr>
          <p:cNvPr id="81" name="Shape 79"/>
          <p:cNvSpPr/>
          <p:nvPr/>
        </p:nvSpPr>
        <p:spPr>
          <a:xfrm>
            <a:off x="8484225" y="1805940"/>
            <a:ext cx="660478" cy="251460"/>
          </a:xfrm>
          <a:prstGeom prst="rect">
            <a:avLst/>
          </a:prstGeom>
          <a:solidFill>
            <a:srgbClr val="F7F9FB"/>
          </a:solidFill>
          <a:ln w="5080">
            <a:solidFill>
              <a:srgbClr val="D3DCE5"/>
            </a:solidFill>
            <a:prstDash val="solid"/>
          </a:ln>
        </p:spPr>
      </p:sp>
      <p:sp>
        <p:nvSpPr>
          <p:cNvPr id="82" name="Text 80"/>
          <p:cNvSpPr txBox="1"/>
          <p:nvPr/>
        </p:nvSpPr>
        <p:spPr>
          <a:xfrm>
            <a:off x="8484225" y="180594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1,971</a:t>
            </a:r>
            <a:endParaRPr lang="en-US" sz="760" dirty="0"/>
          </a:p>
        </p:txBody>
      </p:sp>
      <p:sp>
        <p:nvSpPr>
          <p:cNvPr id="83" name="Shape 81"/>
          <p:cNvSpPr/>
          <p:nvPr/>
        </p:nvSpPr>
        <p:spPr>
          <a:xfrm>
            <a:off x="9144703" y="1805940"/>
            <a:ext cx="660478" cy="251460"/>
          </a:xfrm>
          <a:prstGeom prst="rect">
            <a:avLst/>
          </a:prstGeom>
          <a:solidFill>
            <a:srgbClr val="F7F9FB"/>
          </a:solidFill>
          <a:ln w="5080">
            <a:solidFill>
              <a:srgbClr val="D3DCE5"/>
            </a:solidFill>
            <a:prstDash val="solid"/>
          </a:ln>
        </p:spPr>
      </p:sp>
      <p:sp>
        <p:nvSpPr>
          <p:cNvPr id="84" name="Text 82"/>
          <p:cNvSpPr txBox="1"/>
          <p:nvPr/>
        </p:nvSpPr>
        <p:spPr>
          <a:xfrm>
            <a:off x="9144703" y="180594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2,307</a:t>
            </a:r>
            <a:endParaRPr lang="en-US" sz="760" dirty="0"/>
          </a:p>
        </p:txBody>
      </p:sp>
      <p:sp>
        <p:nvSpPr>
          <p:cNvPr id="85" name="Shape 83"/>
          <p:cNvSpPr/>
          <p:nvPr/>
        </p:nvSpPr>
        <p:spPr>
          <a:xfrm>
            <a:off x="9805182" y="1805940"/>
            <a:ext cx="660478" cy="251460"/>
          </a:xfrm>
          <a:prstGeom prst="rect">
            <a:avLst/>
          </a:prstGeom>
          <a:solidFill>
            <a:srgbClr val="F7F9FB"/>
          </a:solidFill>
          <a:ln w="5080">
            <a:solidFill>
              <a:srgbClr val="D3DCE5"/>
            </a:solidFill>
            <a:prstDash val="solid"/>
          </a:ln>
        </p:spPr>
      </p:sp>
      <p:sp>
        <p:nvSpPr>
          <p:cNvPr id="86" name="Text 84"/>
          <p:cNvSpPr txBox="1"/>
          <p:nvPr/>
        </p:nvSpPr>
        <p:spPr>
          <a:xfrm>
            <a:off x="9805182" y="180594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2,444</a:t>
            </a:r>
            <a:endParaRPr lang="en-US" sz="760" dirty="0"/>
          </a:p>
        </p:txBody>
      </p:sp>
      <p:sp>
        <p:nvSpPr>
          <p:cNvPr id="87" name="Shape 85"/>
          <p:cNvSpPr/>
          <p:nvPr/>
        </p:nvSpPr>
        <p:spPr>
          <a:xfrm>
            <a:off x="10465660" y="1805940"/>
            <a:ext cx="660478" cy="251460"/>
          </a:xfrm>
          <a:prstGeom prst="rect">
            <a:avLst/>
          </a:prstGeom>
          <a:solidFill>
            <a:srgbClr val="F7F9FB"/>
          </a:solidFill>
          <a:ln w="5080">
            <a:solidFill>
              <a:srgbClr val="D3DCE5"/>
            </a:solidFill>
            <a:prstDash val="solid"/>
          </a:ln>
        </p:spPr>
      </p:sp>
      <p:sp>
        <p:nvSpPr>
          <p:cNvPr id="88" name="Text 86"/>
          <p:cNvSpPr txBox="1"/>
          <p:nvPr/>
        </p:nvSpPr>
        <p:spPr>
          <a:xfrm>
            <a:off x="10465660" y="180594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2,501</a:t>
            </a:r>
            <a:endParaRPr lang="en-US" sz="760" dirty="0"/>
          </a:p>
        </p:txBody>
      </p:sp>
      <p:sp>
        <p:nvSpPr>
          <p:cNvPr id="89" name="Shape 87"/>
          <p:cNvSpPr/>
          <p:nvPr/>
        </p:nvSpPr>
        <p:spPr>
          <a:xfrm>
            <a:off x="11126138" y="1805940"/>
            <a:ext cx="660478" cy="251460"/>
          </a:xfrm>
          <a:prstGeom prst="rect">
            <a:avLst/>
          </a:prstGeom>
          <a:solidFill>
            <a:srgbClr val="F7F9FB"/>
          </a:solidFill>
          <a:ln w="5080">
            <a:solidFill>
              <a:srgbClr val="D3DCE5"/>
            </a:solidFill>
            <a:prstDash val="solid"/>
          </a:ln>
        </p:spPr>
      </p:sp>
      <p:sp>
        <p:nvSpPr>
          <p:cNvPr id="90" name="Text 88"/>
          <p:cNvSpPr txBox="1"/>
          <p:nvPr/>
        </p:nvSpPr>
        <p:spPr>
          <a:xfrm>
            <a:off x="11126138" y="180594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2,510</a:t>
            </a:r>
            <a:endParaRPr lang="en-US" sz="760" dirty="0"/>
          </a:p>
        </p:txBody>
      </p:sp>
      <p:sp>
        <p:nvSpPr>
          <p:cNvPr id="91" name="Shape 89"/>
          <p:cNvSpPr/>
          <p:nvPr/>
        </p:nvSpPr>
        <p:spPr>
          <a:xfrm>
            <a:off x="411480" y="2057400"/>
            <a:ext cx="2788920" cy="251460"/>
          </a:xfrm>
          <a:prstGeom prst="rect">
            <a:avLst/>
          </a:prstGeom>
          <a:solidFill>
            <a:srgbClr val="FFFFFF"/>
          </a:solidFill>
          <a:ln w="5080">
            <a:solidFill>
              <a:srgbClr val="D3DCE5"/>
            </a:solidFill>
            <a:prstDash val="solid"/>
          </a:ln>
        </p:spPr>
      </p:sp>
      <p:sp>
        <p:nvSpPr>
          <p:cNvPr id="92" name="Text 90"/>
          <p:cNvSpPr txBox="1"/>
          <p:nvPr/>
        </p:nvSpPr>
        <p:spPr>
          <a:xfrm>
            <a:off x="475488" y="2057400"/>
            <a:ext cx="2660904" cy="251460"/>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Add back D&amp;A</a:t>
            </a:r>
            <a:endParaRPr lang="en-US" sz="780" dirty="0"/>
          </a:p>
        </p:txBody>
      </p:sp>
      <p:sp>
        <p:nvSpPr>
          <p:cNvPr id="93" name="Shape 91"/>
          <p:cNvSpPr/>
          <p:nvPr/>
        </p:nvSpPr>
        <p:spPr>
          <a:xfrm>
            <a:off x="3200400" y="2057400"/>
            <a:ext cx="660478" cy="251460"/>
          </a:xfrm>
          <a:prstGeom prst="rect">
            <a:avLst/>
          </a:prstGeom>
          <a:solidFill>
            <a:srgbClr val="FFFFFF"/>
          </a:solidFill>
          <a:ln w="5080">
            <a:solidFill>
              <a:srgbClr val="D3DCE5"/>
            </a:solidFill>
            <a:prstDash val="solid"/>
          </a:ln>
        </p:spPr>
      </p:sp>
      <p:sp>
        <p:nvSpPr>
          <p:cNvPr id="94" name="Text 92"/>
          <p:cNvSpPr txBox="1"/>
          <p:nvPr/>
        </p:nvSpPr>
        <p:spPr>
          <a:xfrm>
            <a:off x="3200400" y="2057400"/>
            <a:ext cx="614758" cy="251460"/>
          </a:xfrm>
          <a:prstGeom prst="rect">
            <a:avLst/>
          </a:prstGeom>
          <a:noFill/>
          <a:ln/>
        </p:spPr>
        <p:txBody>
          <a:bodyPr wrap="square" lIns="0" tIns="0" rIns="0" bIns="0" rtlCol="0" anchor="ctr"/>
          <a:lstStyle/>
          <a:p>
            <a:pPr algn="r" indent="0" marL="0">
              <a:buNone/>
            </a:pPr>
            <a:endParaRPr lang="en-US" sz="760" dirty="0"/>
          </a:p>
        </p:txBody>
      </p:sp>
      <p:sp>
        <p:nvSpPr>
          <p:cNvPr id="95" name="Shape 93"/>
          <p:cNvSpPr/>
          <p:nvPr/>
        </p:nvSpPr>
        <p:spPr>
          <a:xfrm>
            <a:off x="3860878" y="2057400"/>
            <a:ext cx="660478" cy="251460"/>
          </a:xfrm>
          <a:prstGeom prst="rect">
            <a:avLst/>
          </a:prstGeom>
          <a:solidFill>
            <a:srgbClr val="FFFFFF"/>
          </a:solidFill>
          <a:ln w="5080">
            <a:solidFill>
              <a:srgbClr val="D3DCE5"/>
            </a:solidFill>
            <a:prstDash val="solid"/>
          </a:ln>
        </p:spPr>
      </p:sp>
      <p:sp>
        <p:nvSpPr>
          <p:cNvPr id="96" name="Text 94"/>
          <p:cNvSpPr txBox="1"/>
          <p:nvPr/>
        </p:nvSpPr>
        <p:spPr>
          <a:xfrm>
            <a:off x="3860878" y="2057400"/>
            <a:ext cx="614758" cy="251460"/>
          </a:xfrm>
          <a:prstGeom prst="rect">
            <a:avLst/>
          </a:prstGeom>
          <a:noFill/>
          <a:ln/>
        </p:spPr>
        <p:txBody>
          <a:bodyPr wrap="square" lIns="0" tIns="0" rIns="0" bIns="0" rtlCol="0" anchor="ctr"/>
          <a:lstStyle/>
          <a:p>
            <a:pPr algn="r" indent="0" marL="0">
              <a:buNone/>
            </a:pPr>
            <a:endParaRPr lang="en-US" sz="760" dirty="0"/>
          </a:p>
        </p:txBody>
      </p:sp>
      <p:sp>
        <p:nvSpPr>
          <p:cNvPr id="97" name="Shape 95"/>
          <p:cNvSpPr/>
          <p:nvPr/>
        </p:nvSpPr>
        <p:spPr>
          <a:xfrm>
            <a:off x="4521356" y="2057400"/>
            <a:ext cx="660478" cy="251460"/>
          </a:xfrm>
          <a:prstGeom prst="rect">
            <a:avLst/>
          </a:prstGeom>
          <a:solidFill>
            <a:srgbClr val="FFFFFF"/>
          </a:solidFill>
          <a:ln w="5080">
            <a:solidFill>
              <a:srgbClr val="D3DCE5"/>
            </a:solidFill>
            <a:prstDash val="solid"/>
          </a:ln>
        </p:spPr>
      </p:sp>
      <p:sp>
        <p:nvSpPr>
          <p:cNvPr id="98" name="Text 96"/>
          <p:cNvSpPr txBox="1"/>
          <p:nvPr/>
        </p:nvSpPr>
        <p:spPr>
          <a:xfrm>
            <a:off x="4521356" y="2057400"/>
            <a:ext cx="614758" cy="251460"/>
          </a:xfrm>
          <a:prstGeom prst="rect">
            <a:avLst/>
          </a:prstGeom>
          <a:noFill/>
          <a:ln/>
        </p:spPr>
        <p:txBody>
          <a:bodyPr wrap="square" lIns="0" tIns="0" rIns="0" bIns="0" rtlCol="0" anchor="ctr"/>
          <a:lstStyle/>
          <a:p>
            <a:pPr algn="r" indent="0" marL="0">
              <a:buNone/>
            </a:pPr>
            <a:endParaRPr lang="en-US" sz="760" dirty="0"/>
          </a:p>
        </p:txBody>
      </p:sp>
      <p:sp>
        <p:nvSpPr>
          <p:cNvPr id="99" name="Shape 97"/>
          <p:cNvSpPr/>
          <p:nvPr/>
        </p:nvSpPr>
        <p:spPr>
          <a:xfrm>
            <a:off x="5181834" y="2057400"/>
            <a:ext cx="660478" cy="251460"/>
          </a:xfrm>
          <a:prstGeom prst="rect">
            <a:avLst/>
          </a:prstGeom>
          <a:solidFill>
            <a:srgbClr val="FFFFFF"/>
          </a:solidFill>
          <a:ln w="5080">
            <a:solidFill>
              <a:srgbClr val="D3DCE5"/>
            </a:solidFill>
            <a:prstDash val="solid"/>
          </a:ln>
        </p:spPr>
      </p:sp>
      <p:sp>
        <p:nvSpPr>
          <p:cNvPr id="100" name="Text 98"/>
          <p:cNvSpPr txBox="1"/>
          <p:nvPr/>
        </p:nvSpPr>
        <p:spPr>
          <a:xfrm>
            <a:off x="5181834" y="205740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368</a:t>
            </a:r>
            <a:endParaRPr lang="en-US" sz="760" dirty="0"/>
          </a:p>
        </p:txBody>
      </p:sp>
      <p:sp>
        <p:nvSpPr>
          <p:cNvPr id="101" name="Shape 99"/>
          <p:cNvSpPr/>
          <p:nvPr/>
        </p:nvSpPr>
        <p:spPr>
          <a:xfrm>
            <a:off x="5842313" y="2057400"/>
            <a:ext cx="660478" cy="251460"/>
          </a:xfrm>
          <a:prstGeom prst="rect">
            <a:avLst/>
          </a:prstGeom>
          <a:solidFill>
            <a:srgbClr val="FFFFFF"/>
          </a:solidFill>
          <a:ln w="5080">
            <a:solidFill>
              <a:srgbClr val="D3DCE5"/>
            </a:solidFill>
            <a:prstDash val="solid"/>
          </a:ln>
        </p:spPr>
      </p:sp>
      <p:sp>
        <p:nvSpPr>
          <p:cNvPr id="102" name="Text 100"/>
          <p:cNvSpPr txBox="1"/>
          <p:nvPr/>
        </p:nvSpPr>
        <p:spPr>
          <a:xfrm>
            <a:off x="5842313" y="205740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401</a:t>
            </a:r>
            <a:endParaRPr lang="en-US" sz="760" dirty="0"/>
          </a:p>
        </p:txBody>
      </p:sp>
      <p:sp>
        <p:nvSpPr>
          <p:cNvPr id="103" name="Shape 101"/>
          <p:cNvSpPr/>
          <p:nvPr/>
        </p:nvSpPr>
        <p:spPr>
          <a:xfrm>
            <a:off x="6502791" y="2057400"/>
            <a:ext cx="660478" cy="251460"/>
          </a:xfrm>
          <a:prstGeom prst="rect">
            <a:avLst/>
          </a:prstGeom>
          <a:solidFill>
            <a:srgbClr val="FFFFFF"/>
          </a:solidFill>
          <a:ln w="5080">
            <a:solidFill>
              <a:srgbClr val="D3DCE5"/>
            </a:solidFill>
            <a:prstDash val="solid"/>
          </a:ln>
        </p:spPr>
      </p:sp>
      <p:sp>
        <p:nvSpPr>
          <p:cNvPr id="104" name="Text 102"/>
          <p:cNvSpPr txBox="1"/>
          <p:nvPr/>
        </p:nvSpPr>
        <p:spPr>
          <a:xfrm>
            <a:off x="6502791" y="205740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456</a:t>
            </a:r>
            <a:endParaRPr lang="en-US" sz="760" dirty="0"/>
          </a:p>
        </p:txBody>
      </p:sp>
      <p:sp>
        <p:nvSpPr>
          <p:cNvPr id="105" name="Shape 103"/>
          <p:cNvSpPr/>
          <p:nvPr/>
        </p:nvSpPr>
        <p:spPr>
          <a:xfrm>
            <a:off x="7163269" y="2057400"/>
            <a:ext cx="660478" cy="251460"/>
          </a:xfrm>
          <a:prstGeom prst="rect">
            <a:avLst/>
          </a:prstGeom>
          <a:solidFill>
            <a:srgbClr val="FFFFFF"/>
          </a:solidFill>
          <a:ln w="5080">
            <a:solidFill>
              <a:srgbClr val="D3DCE5"/>
            </a:solidFill>
            <a:prstDash val="solid"/>
          </a:ln>
        </p:spPr>
      </p:sp>
      <p:sp>
        <p:nvSpPr>
          <p:cNvPr id="106" name="Text 104"/>
          <p:cNvSpPr txBox="1"/>
          <p:nvPr/>
        </p:nvSpPr>
        <p:spPr>
          <a:xfrm>
            <a:off x="7163269" y="205740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521</a:t>
            </a:r>
            <a:endParaRPr lang="en-US" sz="760" dirty="0"/>
          </a:p>
        </p:txBody>
      </p:sp>
      <p:sp>
        <p:nvSpPr>
          <p:cNvPr id="107" name="Shape 105"/>
          <p:cNvSpPr/>
          <p:nvPr/>
        </p:nvSpPr>
        <p:spPr>
          <a:xfrm>
            <a:off x="7823747" y="2057400"/>
            <a:ext cx="660478" cy="251460"/>
          </a:xfrm>
          <a:prstGeom prst="rect">
            <a:avLst/>
          </a:prstGeom>
          <a:solidFill>
            <a:srgbClr val="FFFFFF"/>
          </a:solidFill>
          <a:ln w="5080">
            <a:solidFill>
              <a:srgbClr val="D3DCE5"/>
            </a:solidFill>
            <a:prstDash val="solid"/>
          </a:ln>
        </p:spPr>
      </p:sp>
      <p:sp>
        <p:nvSpPr>
          <p:cNvPr id="108" name="Text 106"/>
          <p:cNvSpPr txBox="1"/>
          <p:nvPr/>
        </p:nvSpPr>
        <p:spPr>
          <a:xfrm>
            <a:off x="7823747" y="205740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548</a:t>
            </a:r>
            <a:endParaRPr lang="en-US" sz="760" dirty="0"/>
          </a:p>
        </p:txBody>
      </p:sp>
      <p:sp>
        <p:nvSpPr>
          <p:cNvPr id="109" name="Shape 107"/>
          <p:cNvSpPr/>
          <p:nvPr/>
        </p:nvSpPr>
        <p:spPr>
          <a:xfrm>
            <a:off x="8484225" y="2057400"/>
            <a:ext cx="660478" cy="251460"/>
          </a:xfrm>
          <a:prstGeom prst="rect">
            <a:avLst/>
          </a:prstGeom>
          <a:solidFill>
            <a:srgbClr val="FFFFFF"/>
          </a:solidFill>
          <a:ln w="5080">
            <a:solidFill>
              <a:srgbClr val="D3DCE5"/>
            </a:solidFill>
            <a:prstDash val="solid"/>
          </a:ln>
        </p:spPr>
      </p:sp>
      <p:sp>
        <p:nvSpPr>
          <p:cNvPr id="110" name="Text 108"/>
          <p:cNvSpPr txBox="1"/>
          <p:nvPr/>
        </p:nvSpPr>
        <p:spPr>
          <a:xfrm>
            <a:off x="8484225" y="205740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550</a:t>
            </a:r>
            <a:endParaRPr lang="en-US" sz="760" dirty="0"/>
          </a:p>
        </p:txBody>
      </p:sp>
      <p:sp>
        <p:nvSpPr>
          <p:cNvPr id="111" name="Shape 109"/>
          <p:cNvSpPr/>
          <p:nvPr/>
        </p:nvSpPr>
        <p:spPr>
          <a:xfrm>
            <a:off x="9144703" y="2057400"/>
            <a:ext cx="660478" cy="251460"/>
          </a:xfrm>
          <a:prstGeom prst="rect">
            <a:avLst/>
          </a:prstGeom>
          <a:solidFill>
            <a:srgbClr val="FFFFFF"/>
          </a:solidFill>
          <a:ln w="5080">
            <a:solidFill>
              <a:srgbClr val="D3DCE5"/>
            </a:solidFill>
            <a:prstDash val="solid"/>
          </a:ln>
        </p:spPr>
      </p:sp>
      <p:sp>
        <p:nvSpPr>
          <p:cNvPr id="112" name="Text 110"/>
          <p:cNvSpPr txBox="1"/>
          <p:nvPr/>
        </p:nvSpPr>
        <p:spPr>
          <a:xfrm>
            <a:off x="9144703" y="205740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546</a:t>
            </a:r>
            <a:endParaRPr lang="en-US" sz="760" dirty="0"/>
          </a:p>
        </p:txBody>
      </p:sp>
      <p:sp>
        <p:nvSpPr>
          <p:cNvPr id="113" name="Shape 111"/>
          <p:cNvSpPr/>
          <p:nvPr/>
        </p:nvSpPr>
        <p:spPr>
          <a:xfrm>
            <a:off x="9805182" y="2057400"/>
            <a:ext cx="660478" cy="251460"/>
          </a:xfrm>
          <a:prstGeom prst="rect">
            <a:avLst/>
          </a:prstGeom>
          <a:solidFill>
            <a:srgbClr val="FFFFFF"/>
          </a:solidFill>
          <a:ln w="5080">
            <a:solidFill>
              <a:srgbClr val="D3DCE5"/>
            </a:solidFill>
            <a:prstDash val="solid"/>
          </a:ln>
        </p:spPr>
      </p:sp>
      <p:sp>
        <p:nvSpPr>
          <p:cNvPr id="114" name="Text 112"/>
          <p:cNvSpPr txBox="1"/>
          <p:nvPr/>
        </p:nvSpPr>
        <p:spPr>
          <a:xfrm>
            <a:off x="9805182" y="205740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533</a:t>
            </a:r>
            <a:endParaRPr lang="en-US" sz="760" dirty="0"/>
          </a:p>
        </p:txBody>
      </p:sp>
      <p:sp>
        <p:nvSpPr>
          <p:cNvPr id="115" name="Shape 113"/>
          <p:cNvSpPr/>
          <p:nvPr/>
        </p:nvSpPr>
        <p:spPr>
          <a:xfrm>
            <a:off x="10465660" y="2057400"/>
            <a:ext cx="660478" cy="251460"/>
          </a:xfrm>
          <a:prstGeom prst="rect">
            <a:avLst/>
          </a:prstGeom>
          <a:solidFill>
            <a:srgbClr val="FFFFFF"/>
          </a:solidFill>
          <a:ln w="5080">
            <a:solidFill>
              <a:srgbClr val="D3DCE5"/>
            </a:solidFill>
            <a:prstDash val="solid"/>
          </a:ln>
        </p:spPr>
      </p:sp>
      <p:sp>
        <p:nvSpPr>
          <p:cNvPr id="116" name="Text 114"/>
          <p:cNvSpPr txBox="1"/>
          <p:nvPr/>
        </p:nvSpPr>
        <p:spPr>
          <a:xfrm>
            <a:off x="10465660" y="205740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516</a:t>
            </a:r>
            <a:endParaRPr lang="en-US" sz="760" dirty="0"/>
          </a:p>
        </p:txBody>
      </p:sp>
      <p:sp>
        <p:nvSpPr>
          <p:cNvPr id="117" name="Shape 115"/>
          <p:cNvSpPr/>
          <p:nvPr/>
        </p:nvSpPr>
        <p:spPr>
          <a:xfrm>
            <a:off x="11126138" y="2057400"/>
            <a:ext cx="660478" cy="251460"/>
          </a:xfrm>
          <a:prstGeom prst="rect">
            <a:avLst/>
          </a:prstGeom>
          <a:solidFill>
            <a:srgbClr val="FFFFFF"/>
          </a:solidFill>
          <a:ln w="5080">
            <a:solidFill>
              <a:srgbClr val="D3DCE5"/>
            </a:solidFill>
            <a:prstDash val="solid"/>
          </a:ln>
        </p:spPr>
      </p:sp>
      <p:sp>
        <p:nvSpPr>
          <p:cNvPr id="118" name="Text 116"/>
          <p:cNvSpPr txBox="1"/>
          <p:nvPr/>
        </p:nvSpPr>
        <p:spPr>
          <a:xfrm>
            <a:off x="11126138" y="205740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500</a:t>
            </a:r>
            <a:endParaRPr lang="en-US" sz="760" dirty="0"/>
          </a:p>
        </p:txBody>
      </p:sp>
      <p:sp>
        <p:nvSpPr>
          <p:cNvPr id="119" name="Shape 117"/>
          <p:cNvSpPr/>
          <p:nvPr/>
        </p:nvSpPr>
        <p:spPr>
          <a:xfrm>
            <a:off x="411480" y="2308860"/>
            <a:ext cx="2788920" cy="251460"/>
          </a:xfrm>
          <a:prstGeom prst="rect">
            <a:avLst/>
          </a:prstGeom>
          <a:solidFill>
            <a:srgbClr val="F7F9FB"/>
          </a:solidFill>
          <a:ln w="5080">
            <a:solidFill>
              <a:srgbClr val="D3DCE5"/>
            </a:solidFill>
            <a:prstDash val="solid"/>
          </a:ln>
        </p:spPr>
      </p:sp>
      <p:sp>
        <p:nvSpPr>
          <p:cNvPr id="120" name="Text 118"/>
          <p:cNvSpPr txBox="1"/>
          <p:nvPr/>
        </p:nvSpPr>
        <p:spPr>
          <a:xfrm>
            <a:off x="475488" y="2308860"/>
            <a:ext cx="2660904" cy="251460"/>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Less capital expenditure</a:t>
            </a:r>
            <a:endParaRPr lang="en-US" sz="780" dirty="0"/>
          </a:p>
        </p:txBody>
      </p:sp>
      <p:sp>
        <p:nvSpPr>
          <p:cNvPr id="121" name="Shape 119"/>
          <p:cNvSpPr/>
          <p:nvPr/>
        </p:nvSpPr>
        <p:spPr>
          <a:xfrm>
            <a:off x="3200400" y="2308860"/>
            <a:ext cx="660478" cy="251460"/>
          </a:xfrm>
          <a:prstGeom prst="rect">
            <a:avLst/>
          </a:prstGeom>
          <a:solidFill>
            <a:srgbClr val="F7F9FB"/>
          </a:solidFill>
          <a:ln w="5080">
            <a:solidFill>
              <a:srgbClr val="D3DCE5"/>
            </a:solidFill>
            <a:prstDash val="solid"/>
          </a:ln>
        </p:spPr>
      </p:sp>
      <p:sp>
        <p:nvSpPr>
          <p:cNvPr id="122" name="Text 120"/>
          <p:cNvSpPr txBox="1"/>
          <p:nvPr/>
        </p:nvSpPr>
        <p:spPr>
          <a:xfrm>
            <a:off x="3200400" y="2308860"/>
            <a:ext cx="614758" cy="251460"/>
          </a:xfrm>
          <a:prstGeom prst="rect">
            <a:avLst/>
          </a:prstGeom>
          <a:noFill/>
          <a:ln/>
        </p:spPr>
        <p:txBody>
          <a:bodyPr wrap="square" lIns="0" tIns="0" rIns="0" bIns="0" rtlCol="0" anchor="ctr"/>
          <a:lstStyle/>
          <a:p>
            <a:pPr algn="r" indent="0" marL="0">
              <a:buNone/>
            </a:pPr>
            <a:endParaRPr lang="en-US" sz="760" dirty="0"/>
          </a:p>
        </p:txBody>
      </p:sp>
      <p:sp>
        <p:nvSpPr>
          <p:cNvPr id="123" name="Shape 121"/>
          <p:cNvSpPr/>
          <p:nvPr/>
        </p:nvSpPr>
        <p:spPr>
          <a:xfrm>
            <a:off x="3860878" y="2308860"/>
            <a:ext cx="660478" cy="251460"/>
          </a:xfrm>
          <a:prstGeom prst="rect">
            <a:avLst/>
          </a:prstGeom>
          <a:solidFill>
            <a:srgbClr val="F7F9FB"/>
          </a:solidFill>
          <a:ln w="5080">
            <a:solidFill>
              <a:srgbClr val="D3DCE5"/>
            </a:solidFill>
            <a:prstDash val="solid"/>
          </a:ln>
        </p:spPr>
      </p:sp>
      <p:sp>
        <p:nvSpPr>
          <p:cNvPr id="124" name="Text 122"/>
          <p:cNvSpPr txBox="1"/>
          <p:nvPr/>
        </p:nvSpPr>
        <p:spPr>
          <a:xfrm>
            <a:off x="3860878" y="2308860"/>
            <a:ext cx="614758" cy="251460"/>
          </a:xfrm>
          <a:prstGeom prst="rect">
            <a:avLst/>
          </a:prstGeom>
          <a:noFill/>
          <a:ln/>
        </p:spPr>
        <p:txBody>
          <a:bodyPr wrap="square" lIns="0" tIns="0" rIns="0" bIns="0" rtlCol="0" anchor="ctr"/>
          <a:lstStyle/>
          <a:p>
            <a:pPr algn="r" indent="0" marL="0">
              <a:buNone/>
            </a:pPr>
            <a:endParaRPr lang="en-US" sz="760" dirty="0"/>
          </a:p>
        </p:txBody>
      </p:sp>
      <p:sp>
        <p:nvSpPr>
          <p:cNvPr id="125" name="Shape 123"/>
          <p:cNvSpPr/>
          <p:nvPr/>
        </p:nvSpPr>
        <p:spPr>
          <a:xfrm>
            <a:off x="4521356" y="2308860"/>
            <a:ext cx="660478" cy="251460"/>
          </a:xfrm>
          <a:prstGeom prst="rect">
            <a:avLst/>
          </a:prstGeom>
          <a:solidFill>
            <a:srgbClr val="F7F9FB"/>
          </a:solidFill>
          <a:ln w="5080">
            <a:solidFill>
              <a:srgbClr val="D3DCE5"/>
            </a:solidFill>
            <a:prstDash val="solid"/>
          </a:ln>
        </p:spPr>
      </p:sp>
      <p:sp>
        <p:nvSpPr>
          <p:cNvPr id="126" name="Text 124"/>
          <p:cNvSpPr txBox="1"/>
          <p:nvPr/>
        </p:nvSpPr>
        <p:spPr>
          <a:xfrm>
            <a:off x="4521356" y="2308860"/>
            <a:ext cx="614758" cy="251460"/>
          </a:xfrm>
          <a:prstGeom prst="rect">
            <a:avLst/>
          </a:prstGeom>
          <a:noFill/>
          <a:ln/>
        </p:spPr>
        <p:txBody>
          <a:bodyPr wrap="square" lIns="0" tIns="0" rIns="0" bIns="0" rtlCol="0" anchor="ctr"/>
          <a:lstStyle/>
          <a:p>
            <a:pPr algn="r" indent="0" marL="0">
              <a:buNone/>
            </a:pPr>
            <a:endParaRPr lang="en-US" sz="760" dirty="0"/>
          </a:p>
        </p:txBody>
      </p:sp>
      <p:sp>
        <p:nvSpPr>
          <p:cNvPr id="127" name="Shape 125"/>
          <p:cNvSpPr/>
          <p:nvPr/>
        </p:nvSpPr>
        <p:spPr>
          <a:xfrm>
            <a:off x="5181834" y="2308860"/>
            <a:ext cx="660478" cy="251460"/>
          </a:xfrm>
          <a:prstGeom prst="rect">
            <a:avLst/>
          </a:prstGeom>
          <a:solidFill>
            <a:srgbClr val="F7F9FB"/>
          </a:solidFill>
          <a:ln w="5080">
            <a:solidFill>
              <a:srgbClr val="D3DCE5"/>
            </a:solidFill>
            <a:prstDash val="solid"/>
          </a:ln>
        </p:spPr>
      </p:sp>
      <p:sp>
        <p:nvSpPr>
          <p:cNvPr id="128" name="Text 126"/>
          <p:cNvSpPr txBox="1"/>
          <p:nvPr/>
        </p:nvSpPr>
        <p:spPr>
          <a:xfrm>
            <a:off x="5181834" y="230886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(652)</a:t>
            </a:r>
            <a:endParaRPr lang="en-US" sz="760" dirty="0"/>
          </a:p>
        </p:txBody>
      </p:sp>
      <p:sp>
        <p:nvSpPr>
          <p:cNvPr id="129" name="Shape 127"/>
          <p:cNvSpPr/>
          <p:nvPr/>
        </p:nvSpPr>
        <p:spPr>
          <a:xfrm>
            <a:off x="5842313" y="2308860"/>
            <a:ext cx="660478" cy="251460"/>
          </a:xfrm>
          <a:prstGeom prst="rect">
            <a:avLst/>
          </a:prstGeom>
          <a:solidFill>
            <a:srgbClr val="F7F9FB"/>
          </a:solidFill>
          <a:ln w="5080">
            <a:solidFill>
              <a:srgbClr val="D3DCE5"/>
            </a:solidFill>
            <a:prstDash val="solid"/>
          </a:ln>
        </p:spPr>
      </p:sp>
      <p:sp>
        <p:nvSpPr>
          <p:cNvPr id="130" name="Text 128"/>
          <p:cNvSpPr txBox="1"/>
          <p:nvPr/>
        </p:nvSpPr>
        <p:spPr>
          <a:xfrm>
            <a:off x="5842313" y="230886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(880)</a:t>
            </a:r>
            <a:endParaRPr lang="en-US" sz="760" dirty="0"/>
          </a:p>
        </p:txBody>
      </p:sp>
      <p:sp>
        <p:nvSpPr>
          <p:cNvPr id="131" name="Shape 129"/>
          <p:cNvSpPr/>
          <p:nvPr/>
        </p:nvSpPr>
        <p:spPr>
          <a:xfrm>
            <a:off x="6502791" y="2308860"/>
            <a:ext cx="660478" cy="251460"/>
          </a:xfrm>
          <a:prstGeom prst="rect">
            <a:avLst/>
          </a:prstGeom>
          <a:solidFill>
            <a:srgbClr val="F7F9FB"/>
          </a:solidFill>
          <a:ln w="5080">
            <a:solidFill>
              <a:srgbClr val="D3DCE5"/>
            </a:solidFill>
            <a:prstDash val="solid"/>
          </a:ln>
        </p:spPr>
      </p:sp>
      <p:sp>
        <p:nvSpPr>
          <p:cNvPr id="132" name="Text 130"/>
          <p:cNvSpPr txBox="1"/>
          <p:nvPr/>
        </p:nvSpPr>
        <p:spPr>
          <a:xfrm>
            <a:off x="6502791" y="230886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(1,020)</a:t>
            </a:r>
            <a:endParaRPr lang="en-US" sz="760" dirty="0"/>
          </a:p>
        </p:txBody>
      </p:sp>
      <p:sp>
        <p:nvSpPr>
          <p:cNvPr id="133" name="Shape 131"/>
          <p:cNvSpPr/>
          <p:nvPr/>
        </p:nvSpPr>
        <p:spPr>
          <a:xfrm>
            <a:off x="7163269" y="2308860"/>
            <a:ext cx="660478" cy="251460"/>
          </a:xfrm>
          <a:prstGeom prst="rect">
            <a:avLst/>
          </a:prstGeom>
          <a:solidFill>
            <a:srgbClr val="F7F9FB"/>
          </a:solidFill>
          <a:ln w="5080">
            <a:solidFill>
              <a:srgbClr val="D3DCE5"/>
            </a:solidFill>
            <a:prstDash val="solid"/>
          </a:ln>
        </p:spPr>
      </p:sp>
      <p:sp>
        <p:nvSpPr>
          <p:cNvPr id="134" name="Text 132"/>
          <p:cNvSpPr txBox="1"/>
          <p:nvPr/>
        </p:nvSpPr>
        <p:spPr>
          <a:xfrm>
            <a:off x="7163269" y="230886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(760)</a:t>
            </a:r>
            <a:endParaRPr lang="en-US" sz="760" dirty="0"/>
          </a:p>
        </p:txBody>
      </p:sp>
      <p:sp>
        <p:nvSpPr>
          <p:cNvPr id="135" name="Shape 133"/>
          <p:cNvSpPr/>
          <p:nvPr/>
        </p:nvSpPr>
        <p:spPr>
          <a:xfrm>
            <a:off x="7823747" y="2308860"/>
            <a:ext cx="660478" cy="251460"/>
          </a:xfrm>
          <a:prstGeom prst="rect">
            <a:avLst/>
          </a:prstGeom>
          <a:solidFill>
            <a:srgbClr val="F7F9FB"/>
          </a:solidFill>
          <a:ln w="5080">
            <a:solidFill>
              <a:srgbClr val="D3DCE5"/>
            </a:solidFill>
            <a:prstDash val="solid"/>
          </a:ln>
        </p:spPr>
      </p:sp>
      <p:sp>
        <p:nvSpPr>
          <p:cNvPr id="136" name="Text 134"/>
          <p:cNvSpPr txBox="1"/>
          <p:nvPr/>
        </p:nvSpPr>
        <p:spPr>
          <a:xfrm>
            <a:off x="7823747" y="230886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(560)</a:t>
            </a:r>
            <a:endParaRPr lang="en-US" sz="760" dirty="0"/>
          </a:p>
        </p:txBody>
      </p:sp>
      <p:sp>
        <p:nvSpPr>
          <p:cNvPr id="137" name="Shape 135"/>
          <p:cNvSpPr/>
          <p:nvPr/>
        </p:nvSpPr>
        <p:spPr>
          <a:xfrm>
            <a:off x="8484225" y="2308860"/>
            <a:ext cx="660478" cy="251460"/>
          </a:xfrm>
          <a:prstGeom prst="rect">
            <a:avLst/>
          </a:prstGeom>
          <a:solidFill>
            <a:srgbClr val="F7F9FB"/>
          </a:solidFill>
          <a:ln w="5080">
            <a:solidFill>
              <a:srgbClr val="D3DCE5"/>
            </a:solidFill>
            <a:prstDash val="solid"/>
          </a:ln>
        </p:spPr>
      </p:sp>
      <p:sp>
        <p:nvSpPr>
          <p:cNvPr id="138" name="Text 136"/>
          <p:cNvSpPr txBox="1"/>
          <p:nvPr/>
        </p:nvSpPr>
        <p:spPr>
          <a:xfrm>
            <a:off x="8484225" y="230886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(520)</a:t>
            </a:r>
            <a:endParaRPr lang="en-US" sz="760" dirty="0"/>
          </a:p>
        </p:txBody>
      </p:sp>
      <p:sp>
        <p:nvSpPr>
          <p:cNvPr id="139" name="Shape 137"/>
          <p:cNvSpPr/>
          <p:nvPr/>
        </p:nvSpPr>
        <p:spPr>
          <a:xfrm>
            <a:off x="9144703" y="2308860"/>
            <a:ext cx="660478" cy="251460"/>
          </a:xfrm>
          <a:prstGeom prst="rect">
            <a:avLst/>
          </a:prstGeom>
          <a:solidFill>
            <a:srgbClr val="F7F9FB"/>
          </a:solidFill>
          <a:ln w="5080">
            <a:solidFill>
              <a:srgbClr val="D3DCE5"/>
            </a:solidFill>
            <a:prstDash val="solid"/>
          </a:ln>
        </p:spPr>
      </p:sp>
      <p:sp>
        <p:nvSpPr>
          <p:cNvPr id="140" name="Text 138"/>
          <p:cNvSpPr txBox="1"/>
          <p:nvPr/>
        </p:nvSpPr>
        <p:spPr>
          <a:xfrm>
            <a:off x="9144703" y="230886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(430)</a:t>
            </a:r>
            <a:endParaRPr lang="en-US" sz="760" dirty="0"/>
          </a:p>
        </p:txBody>
      </p:sp>
      <p:sp>
        <p:nvSpPr>
          <p:cNvPr id="141" name="Shape 139"/>
          <p:cNvSpPr/>
          <p:nvPr/>
        </p:nvSpPr>
        <p:spPr>
          <a:xfrm>
            <a:off x="9805182" y="2308860"/>
            <a:ext cx="660478" cy="251460"/>
          </a:xfrm>
          <a:prstGeom prst="rect">
            <a:avLst/>
          </a:prstGeom>
          <a:solidFill>
            <a:srgbClr val="F7F9FB"/>
          </a:solidFill>
          <a:ln w="5080">
            <a:solidFill>
              <a:srgbClr val="D3DCE5"/>
            </a:solidFill>
            <a:prstDash val="solid"/>
          </a:ln>
        </p:spPr>
      </p:sp>
      <p:sp>
        <p:nvSpPr>
          <p:cNvPr id="142" name="Text 140"/>
          <p:cNvSpPr txBox="1"/>
          <p:nvPr/>
        </p:nvSpPr>
        <p:spPr>
          <a:xfrm>
            <a:off x="9805182" y="230886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(390)</a:t>
            </a:r>
            <a:endParaRPr lang="en-US" sz="760" dirty="0"/>
          </a:p>
        </p:txBody>
      </p:sp>
      <p:sp>
        <p:nvSpPr>
          <p:cNvPr id="143" name="Shape 141"/>
          <p:cNvSpPr/>
          <p:nvPr/>
        </p:nvSpPr>
        <p:spPr>
          <a:xfrm>
            <a:off x="10465660" y="2308860"/>
            <a:ext cx="660478" cy="251460"/>
          </a:xfrm>
          <a:prstGeom prst="rect">
            <a:avLst/>
          </a:prstGeom>
          <a:solidFill>
            <a:srgbClr val="F7F9FB"/>
          </a:solidFill>
          <a:ln w="5080">
            <a:solidFill>
              <a:srgbClr val="D3DCE5"/>
            </a:solidFill>
            <a:prstDash val="solid"/>
          </a:ln>
        </p:spPr>
      </p:sp>
      <p:sp>
        <p:nvSpPr>
          <p:cNvPr id="144" name="Text 142"/>
          <p:cNvSpPr txBox="1"/>
          <p:nvPr/>
        </p:nvSpPr>
        <p:spPr>
          <a:xfrm>
            <a:off x="10465660" y="230886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(370)</a:t>
            </a:r>
            <a:endParaRPr lang="en-US" sz="760" dirty="0"/>
          </a:p>
        </p:txBody>
      </p:sp>
      <p:sp>
        <p:nvSpPr>
          <p:cNvPr id="145" name="Shape 143"/>
          <p:cNvSpPr/>
          <p:nvPr/>
        </p:nvSpPr>
        <p:spPr>
          <a:xfrm>
            <a:off x="11126138" y="2308860"/>
            <a:ext cx="660478" cy="251460"/>
          </a:xfrm>
          <a:prstGeom prst="rect">
            <a:avLst/>
          </a:prstGeom>
          <a:solidFill>
            <a:srgbClr val="F7F9FB"/>
          </a:solidFill>
          <a:ln w="5080">
            <a:solidFill>
              <a:srgbClr val="D3DCE5"/>
            </a:solidFill>
            <a:prstDash val="solid"/>
          </a:ln>
        </p:spPr>
      </p:sp>
      <p:sp>
        <p:nvSpPr>
          <p:cNvPr id="146" name="Text 144"/>
          <p:cNvSpPr txBox="1"/>
          <p:nvPr/>
        </p:nvSpPr>
        <p:spPr>
          <a:xfrm>
            <a:off x="11126138" y="230886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(370)</a:t>
            </a:r>
            <a:endParaRPr lang="en-US" sz="760" dirty="0"/>
          </a:p>
        </p:txBody>
      </p:sp>
      <p:sp>
        <p:nvSpPr>
          <p:cNvPr id="147" name="Shape 145"/>
          <p:cNvSpPr/>
          <p:nvPr/>
        </p:nvSpPr>
        <p:spPr>
          <a:xfrm>
            <a:off x="411480" y="2560320"/>
            <a:ext cx="2788920" cy="251460"/>
          </a:xfrm>
          <a:prstGeom prst="rect">
            <a:avLst/>
          </a:prstGeom>
          <a:solidFill>
            <a:srgbClr val="FFFFFF"/>
          </a:solidFill>
          <a:ln w="5080">
            <a:solidFill>
              <a:srgbClr val="D3DCE5"/>
            </a:solidFill>
            <a:prstDash val="solid"/>
          </a:ln>
        </p:spPr>
      </p:sp>
      <p:sp>
        <p:nvSpPr>
          <p:cNvPr id="148" name="Text 146"/>
          <p:cNvSpPr txBox="1"/>
          <p:nvPr/>
        </p:nvSpPr>
        <p:spPr>
          <a:xfrm>
            <a:off x="475488" y="2560320"/>
            <a:ext cx="2660904" cy="251460"/>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Less increase in working capital</a:t>
            </a:r>
            <a:endParaRPr lang="en-US" sz="780" dirty="0"/>
          </a:p>
        </p:txBody>
      </p:sp>
      <p:sp>
        <p:nvSpPr>
          <p:cNvPr id="149" name="Shape 147"/>
          <p:cNvSpPr/>
          <p:nvPr/>
        </p:nvSpPr>
        <p:spPr>
          <a:xfrm>
            <a:off x="3200400" y="2560320"/>
            <a:ext cx="660478" cy="251460"/>
          </a:xfrm>
          <a:prstGeom prst="rect">
            <a:avLst/>
          </a:prstGeom>
          <a:solidFill>
            <a:srgbClr val="FFFFFF"/>
          </a:solidFill>
          <a:ln w="5080">
            <a:solidFill>
              <a:srgbClr val="D3DCE5"/>
            </a:solidFill>
            <a:prstDash val="solid"/>
          </a:ln>
        </p:spPr>
      </p:sp>
      <p:sp>
        <p:nvSpPr>
          <p:cNvPr id="150" name="Text 148"/>
          <p:cNvSpPr txBox="1"/>
          <p:nvPr/>
        </p:nvSpPr>
        <p:spPr>
          <a:xfrm>
            <a:off x="3200400" y="2560320"/>
            <a:ext cx="614758" cy="251460"/>
          </a:xfrm>
          <a:prstGeom prst="rect">
            <a:avLst/>
          </a:prstGeom>
          <a:noFill/>
          <a:ln/>
        </p:spPr>
        <p:txBody>
          <a:bodyPr wrap="square" lIns="0" tIns="0" rIns="0" bIns="0" rtlCol="0" anchor="ctr"/>
          <a:lstStyle/>
          <a:p>
            <a:pPr algn="r" indent="0" marL="0">
              <a:buNone/>
            </a:pPr>
            <a:endParaRPr lang="en-US" sz="760" dirty="0"/>
          </a:p>
        </p:txBody>
      </p:sp>
      <p:sp>
        <p:nvSpPr>
          <p:cNvPr id="151" name="Shape 149"/>
          <p:cNvSpPr/>
          <p:nvPr/>
        </p:nvSpPr>
        <p:spPr>
          <a:xfrm>
            <a:off x="3860878" y="2560320"/>
            <a:ext cx="660478" cy="251460"/>
          </a:xfrm>
          <a:prstGeom prst="rect">
            <a:avLst/>
          </a:prstGeom>
          <a:solidFill>
            <a:srgbClr val="FFFFFF"/>
          </a:solidFill>
          <a:ln w="5080">
            <a:solidFill>
              <a:srgbClr val="D3DCE5"/>
            </a:solidFill>
            <a:prstDash val="solid"/>
          </a:ln>
        </p:spPr>
      </p:sp>
      <p:sp>
        <p:nvSpPr>
          <p:cNvPr id="152" name="Text 150"/>
          <p:cNvSpPr txBox="1"/>
          <p:nvPr/>
        </p:nvSpPr>
        <p:spPr>
          <a:xfrm>
            <a:off x="3860878" y="2560320"/>
            <a:ext cx="614758" cy="251460"/>
          </a:xfrm>
          <a:prstGeom prst="rect">
            <a:avLst/>
          </a:prstGeom>
          <a:noFill/>
          <a:ln/>
        </p:spPr>
        <p:txBody>
          <a:bodyPr wrap="square" lIns="0" tIns="0" rIns="0" bIns="0" rtlCol="0" anchor="ctr"/>
          <a:lstStyle/>
          <a:p>
            <a:pPr algn="r" indent="0" marL="0">
              <a:buNone/>
            </a:pPr>
            <a:endParaRPr lang="en-US" sz="760" dirty="0"/>
          </a:p>
        </p:txBody>
      </p:sp>
      <p:sp>
        <p:nvSpPr>
          <p:cNvPr id="153" name="Shape 151"/>
          <p:cNvSpPr/>
          <p:nvPr/>
        </p:nvSpPr>
        <p:spPr>
          <a:xfrm>
            <a:off x="4521356" y="2560320"/>
            <a:ext cx="660478" cy="251460"/>
          </a:xfrm>
          <a:prstGeom prst="rect">
            <a:avLst/>
          </a:prstGeom>
          <a:solidFill>
            <a:srgbClr val="FFFFFF"/>
          </a:solidFill>
          <a:ln w="5080">
            <a:solidFill>
              <a:srgbClr val="D3DCE5"/>
            </a:solidFill>
            <a:prstDash val="solid"/>
          </a:ln>
        </p:spPr>
      </p:sp>
      <p:sp>
        <p:nvSpPr>
          <p:cNvPr id="154" name="Text 152"/>
          <p:cNvSpPr txBox="1"/>
          <p:nvPr/>
        </p:nvSpPr>
        <p:spPr>
          <a:xfrm>
            <a:off x="4521356" y="2560320"/>
            <a:ext cx="614758" cy="251460"/>
          </a:xfrm>
          <a:prstGeom prst="rect">
            <a:avLst/>
          </a:prstGeom>
          <a:noFill/>
          <a:ln/>
        </p:spPr>
        <p:txBody>
          <a:bodyPr wrap="square" lIns="0" tIns="0" rIns="0" bIns="0" rtlCol="0" anchor="ctr"/>
          <a:lstStyle/>
          <a:p>
            <a:pPr algn="r" indent="0" marL="0">
              <a:buNone/>
            </a:pPr>
            <a:endParaRPr lang="en-US" sz="760" dirty="0"/>
          </a:p>
        </p:txBody>
      </p:sp>
      <p:sp>
        <p:nvSpPr>
          <p:cNvPr id="155" name="Shape 153"/>
          <p:cNvSpPr/>
          <p:nvPr/>
        </p:nvSpPr>
        <p:spPr>
          <a:xfrm>
            <a:off x="5181834" y="2560320"/>
            <a:ext cx="660478" cy="251460"/>
          </a:xfrm>
          <a:prstGeom prst="rect">
            <a:avLst/>
          </a:prstGeom>
          <a:solidFill>
            <a:srgbClr val="FFFFFF"/>
          </a:solidFill>
          <a:ln w="5080">
            <a:solidFill>
              <a:srgbClr val="D3DCE5"/>
            </a:solidFill>
            <a:prstDash val="solid"/>
          </a:ln>
        </p:spPr>
      </p:sp>
      <p:sp>
        <p:nvSpPr>
          <p:cNvPr id="156" name="Text 154"/>
          <p:cNvSpPr txBox="1"/>
          <p:nvPr/>
        </p:nvSpPr>
        <p:spPr>
          <a:xfrm>
            <a:off x="5181834" y="256032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(53)</a:t>
            </a:r>
            <a:endParaRPr lang="en-US" sz="760" dirty="0"/>
          </a:p>
        </p:txBody>
      </p:sp>
      <p:sp>
        <p:nvSpPr>
          <p:cNvPr id="157" name="Shape 155"/>
          <p:cNvSpPr/>
          <p:nvPr/>
        </p:nvSpPr>
        <p:spPr>
          <a:xfrm>
            <a:off x="5842313" y="2560320"/>
            <a:ext cx="660478" cy="251460"/>
          </a:xfrm>
          <a:prstGeom prst="rect">
            <a:avLst/>
          </a:prstGeom>
          <a:solidFill>
            <a:srgbClr val="FFFFFF"/>
          </a:solidFill>
          <a:ln w="5080">
            <a:solidFill>
              <a:srgbClr val="D3DCE5"/>
            </a:solidFill>
            <a:prstDash val="solid"/>
          </a:ln>
        </p:spPr>
      </p:sp>
      <p:sp>
        <p:nvSpPr>
          <p:cNvPr id="158" name="Text 156"/>
          <p:cNvSpPr txBox="1"/>
          <p:nvPr/>
        </p:nvSpPr>
        <p:spPr>
          <a:xfrm>
            <a:off x="5842313" y="256032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(17)</a:t>
            </a:r>
            <a:endParaRPr lang="en-US" sz="760" dirty="0"/>
          </a:p>
        </p:txBody>
      </p:sp>
      <p:sp>
        <p:nvSpPr>
          <p:cNvPr id="159" name="Shape 157"/>
          <p:cNvSpPr/>
          <p:nvPr/>
        </p:nvSpPr>
        <p:spPr>
          <a:xfrm>
            <a:off x="6502791" y="2560320"/>
            <a:ext cx="660478" cy="251460"/>
          </a:xfrm>
          <a:prstGeom prst="rect">
            <a:avLst/>
          </a:prstGeom>
          <a:solidFill>
            <a:srgbClr val="FFFFFF"/>
          </a:solidFill>
          <a:ln w="5080">
            <a:solidFill>
              <a:srgbClr val="D3DCE5"/>
            </a:solidFill>
            <a:prstDash val="solid"/>
          </a:ln>
        </p:spPr>
      </p:sp>
      <p:sp>
        <p:nvSpPr>
          <p:cNvPr id="160" name="Text 158"/>
          <p:cNvSpPr txBox="1"/>
          <p:nvPr/>
        </p:nvSpPr>
        <p:spPr>
          <a:xfrm>
            <a:off x="6502791" y="256032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a:t>
            </a:r>
            <a:endParaRPr lang="en-US" sz="760" dirty="0"/>
          </a:p>
        </p:txBody>
      </p:sp>
      <p:sp>
        <p:nvSpPr>
          <p:cNvPr id="161" name="Shape 159"/>
          <p:cNvSpPr/>
          <p:nvPr/>
        </p:nvSpPr>
        <p:spPr>
          <a:xfrm>
            <a:off x="7163269" y="2560320"/>
            <a:ext cx="660478" cy="251460"/>
          </a:xfrm>
          <a:prstGeom prst="rect">
            <a:avLst/>
          </a:prstGeom>
          <a:solidFill>
            <a:srgbClr val="FFFFFF"/>
          </a:solidFill>
          <a:ln w="5080">
            <a:solidFill>
              <a:srgbClr val="D3DCE5"/>
            </a:solidFill>
            <a:prstDash val="solid"/>
          </a:ln>
        </p:spPr>
      </p:sp>
      <p:sp>
        <p:nvSpPr>
          <p:cNvPr id="162" name="Text 160"/>
          <p:cNvSpPr txBox="1"/>
          <p:nvPr/>
        </p:nvSpPr>
        <p:spPr>
          <a:xfrm>
            <a:off x="7163269" y="256032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(40)</a:t>
            </a:r>
            <a:endParaRPr lang="en-US" sz="760" dirty="0"/>
          </a:p>
        </p:txBody>
      </p:sp>
      <p:sp>
        <p:nvSpPr>
          <p:cNvPr id="163" name="Shape 161"/>
          <p:cNvSpPr/>
          <p:nvPr/>
        </p:nvSpPr>
        <p:spPr>
          <a:xfrm>
            <a:off x="7823747" y="2560320"/>
            <a:ext cx="660478" cy="251460"/>
          </a:xfrm>
          <a:prstGeom prst="rect">
            <a:avLst/>
          </a:prstGeom>
          <a:solidFill>
            <a:srgbClr val="FFFFFF"/>
          </a:solidFill>
          <a:ln w="5080">
            <a:solidFill>
              <a:srgbClr val="D3DCE5"/>
            </a:solidFill>
            <a:prstDash val="solid"/>
          </a:ln>
        </p:spPr>
      </p:sp>
      <p:sp>
        <p:nvSpPr>
          <p:cNvPr id="164" name="Text 162"/>
          <p:cNvSpPr txBox="1"/>
          <p:nvPr/>
        </p:nvSpPr>
        <p:spPr>
          <a:xfrm>
            <a:off x="7823747" y="256032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(46)</a:t>
            </a:r>
            <a:endParaRPr lang="en-US" sz="760" dirty="0"/>
          </a:p>
        </p:txBody>
      </p:sp>
      <p:sp>
        <p:nvSpPr>
          <p:cNvPr id="165" name="Shape 163"/>
          <p:cNvSpPr/>
          <p:nvPr/>
        </p:nvSpPr>
        <p:spPr>
          <a:xfrm>
            <a:off x="8484225" y="2560320"/>
            <a:ext cx="660478" cy="251460"/>
          </a:xfrm>
          <a:prstGeom prst="rect">
            <a:avLst/>
          </a:prstGeom>
          <a:solidFill>
            <a:srgbClr val="FFFFFF"/>
          </a:solidFill>
          <a:ln w="5080">
            <a:solidFill>
              <a:srgbClr val="D3DCE5"/>
            </a:solidFill>
            <a:prstDash val="solid"/>
          </a:ln>
        </p:spPr>
      </p:sp>
      <p:sp>
        <p:nvSpPr>
          <p:cNvPr id="166" name="Text 164"/>
          <p:cNvSpPr txBox="1"/>
          <p:nvPr/>
        </p:nvSpPr>
        <p:spPr>
          <a:xfrm>
            <a:off x="8484225" y="256032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(76)</a:t>
            </a:r>
            <a:endParaRPr lang="en-US" sz="760" dirty="0"/>
          </a:p>
        </p:txBody>
      </p:sp>
      <p:sp>
        <p:nvSpPr>
          <p:cNvPr id="167" name="Shape 165"/>
          <p:cNvSpPr/>
          <p:nvPr/>
        </p:nvSpPr>
        <p:spPr>
          <a:xfrm>
            <a:off x="9144703" y="2560320"/>
            <a:ext cx="660478" cy="251460"/>
          </a:xfrm>
          <a:prstGeom prst="rect">
            <a:avLst/>
          </a:prstGeom>
          <a:solidFill>
            <a:srgbClr val="FFFFFF"/>
          </a:solidFill>
          <a:ln w="5080">
            <a:solidFill>
              <a:srgbClr val="D3DCE5"/>
            </a:solidFill>
            <a:prstDash val="solid"/>
          </a:ln>
        </p:spPr>
      </p:sp>
      <p:sp>
        <p:nvSpPr>
          <p:cNvPr id="168" name="Text 166"/>
          <p:cNvSpPr txBox="1"/>
          <p:nvPr/>
        </p:nvSpPr>
        <p:spPr>
          <a:xfrm>
            <a:off x="9144703" y="256032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(54)</a:t>
            </a:r>
            <a:endParaRPr lang="en-US" sz="760" dirty="0"/>
          </a:p>
        </p:txBody>
      </p:sp>
      <p:sp>
        <p:nvSpPr>
          <p:cNvPr id="169" name="Shape 167"/>
          <p:cNvSpPr/>
          <p:nvPr/>
        </p:nvSpPr>
        <p:spPr>
          <a:xfrm>
            <a:off x="9805182" y="2560320"/>
            <a:ext cx="660478" cy="251460"/>
          </a:xfrm>
          <a:prstGeom prst="rect">
            <a:avLst/>
          </a:prstGeom>
          <a:solidFill>
            <a:srgbClr val="FFFFFF"/>
          </a:solidFill>
          <a:ln w="5080">
            <a:solidFill>
              <a:srgbClr val="D3DCE5"/>
            </a:solidFill>
            <a:prstDash val="solid"/>
          </a:ln>
        </p:spPr>
      </p:sp>
      <p:sp>
        <p:nvSpPr>
          <p:cNvPr id="170" name="Text 168"/>
          <p:cNvSpPr txBox="1"/>
          <p:nvPr/>
        </p:nvSpPr>
        <p:spPr>
          <a:xfrm>
            <a:off x="9805182" y="256032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(21)</a:t>
            </a:r>
            <a:endParaRPr lang="en-US" sz="760" dirty="0"/>
          </a:p>
        </p:txBody>
      </p:sp>
      <p:sp>
        <p:nvSpPr>
          <p:cNvPr id="171" name="Shape 169"/>
          <p:cNvSpPr/>
          <p:nvPr/>
        </p:nvSpPr>
        <p:spPr>
          <a:xfrm>
            <a:off x="10465660" y="2560320"/>
            <a:ext cx="660478" cy="251460"/>
          </a:xfrm>
          <a:prstGeom prst="rect">
            <a:avLst/>
          </a:prstGeom>
          <a:solidFill>
            <a:srgbClr val="FFFFFF"/>
          </a:solidFill>
          <a:ln w="5080">
            <a:solidFill>
              <a:srgbClr val="D3DCE5"/>
            </a:solidFill>
            <a:prstDash val="solid"/>
          </a:ln>
        </p:spPr>
      </p:sp>
      <p:sp>
        <p:nvSpPr>
          <p:cNvPr id="172" name="Text 170"/>
          <p:cNvSpPr txBox="1"/>
          <p:nvPr/>
        </p:nvSpPr>
        <p:spPr>
          <a:xfrm>
            <a:off x="10465660" y="2560320"/>
            <a:ext cx="614758" cy="251460"/>
          </a:xfrm>
          <a:prstGeom prst="rect">
            <a:avLst/>
          </a:prstGeom>
          <a:noFill/>
          <a:ln/>
        </p:spPr>
        <p:txBody>
          <a:bodyPr wrap="square" lIns="0" tIns="0" rIns="0" bIns="0" rtlCol="0" anchor="ctr"/>
          <a:lstStyle/>
          <a:p>
            <a:pPr algn="r" indent="0" marL="0">
              <a:buNone/>
            </a:pPr>
            <a:r>
              <a:rPr lang="en-US" sz="760" dirty="0">
                <a:solidFill>
                  <a:srgbClr val="A3282C"/>
                </a:solidFill>
                <a:latin typeface="Calibri" pitchFamily="34" charset="0"/>
                <a:ea typeface="Calibri" pitchFamily="34" charset="-122"/>
                <a:cs typeface="Calibri" pitchFamily="34" charset="-120"/>
              </a:rPr>
              <a:t>(8)</a:t>
            </a:r>
            <a:endParaRPr lang="en-US" sz="760" dirty="0"/>
          </a:p>
        </p:txBody>
      </p:sp>
      <p:sp>
        <p:nvSpPr>
          <p:cNvPr id="173" name="Shape 171"/>
          <p:cNvSpPr/>
          <p:nvPr/>
        </p:nvSpPr>
        <p:spPr>
          <a:xfrm>
            <a:off x="11126138" y="2560320"/>
            <a:ext cx="660478" cy="251460"/>
          </a:xfrm>
          <a:prstGeom prst="rect">
            <a:avLst/>
          </a:prstGeom>
          <a:solidFill>
            <a:srgbClr val="FFFFFF"/>
          </a:solidFill>
          <a:ln w="5080">
            <a:solidFill>
              <a:srgbClr val="D3DCE5"/>
            </a:solidFill>
            <a:prstDash val="solid"/>
          </a:ln>
        </p:spPr>
      </p:sp>
      <p:sp>
        <p:nvSpPr>
          <p:cNvPr id="174" name="Text 172"/>
          <p:cNvSpPr txBox="1"/>
          <p:nvPr/>
        </p:nvSpPr>
        <p:spPr>
          <a:xfrm>
            <a:off x="11126138" y="256032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a:t>
            </a:r>
            <a:endParaRPr lang="en-US" sz="760" dirty="0"/>
          </a:p>
        </p:txBody>
      </p:sp>
      <p:sp>
        <p:nvSpPr>
          <p:cNvPr id="175" name="Shape 173"/>
          <p:cNvSpPr/>
          <p:nvPr/>
        </p:nvSpPr>
        <p:spPr>
          <a:xfrm>
            <a:off x="411480" y="2811780"/>
            <a:ext cx="2788920" cy="251460"/>
          </a:xfrm>
          <a:prstGeom prst="rect">
            <a:avLst/>
          </a:prstGeom>
          <a:solidFill>
            <a:srgbClr val="D6EBE7"/>
          </a:solidFill>
          <a:ln w="5080">
            <a:solidFill>
              <a:srgbClr val="D3DCE5"/>
            </a:solidFill>
            <a:prstDash val="solid"/>
          </a:ln>
        </p:spPr>
      </p:sp>
      <p:sp>
        <p:nvSpPr>
          <p:cNvPr id="176" name="Text 174"/>
          <p:cNvSpPr txBox="1"/>
          <p:nvPr/>
        </p:nvSpPr>
        <p:spPr>
          <a:xfrm>
            <a:off x="475488" y="2811780"/>
            <a:ext cx="2660904" cy="251460"/>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Free cash flow to the firm</a:t>
            </a:r>
            <a:endParaRPr lang="en-US" sz="780" dirty="0"/>
          </a:p>
        </p:txBody>
      </p:sp>
      <p:sp>
        <p:nvSpPr>
          <p:cNvPr id="177" name="Shape 175"/>
          <p:cNvSpPr/>
          <p:nvPr/>
        </p:nvSpPr>
        <p:spPr>
          <a:xfrm>
            <a:off x="3200400" y="2811780"/>
            <a:ext cx="660478" cy="251460"/>
          </a:xfrm>
          <a:prstGeom prst="rect">
            <a:avLst/>
          </a:prstGeom>
          <a:solidFill>
            <a:srgbClr val="D6EBE7"/>
          </a:solidFill>
          <a:ln w="5080">
            <a:solidFill>
              <a:srgbClr val="D3DCE5"/>
            </a:solidFill>
            <a:prstDash val="solid"/>
          </a:ln>
        </p:spPr>
      </p:sp>
      <p:sp>
        <p:nvSpPr>
          <p:cNvPr id="178" name="Text 176"/>
          <p:cNvSpPr txBox="1"/>
          <p:nvPr/>
        </p:nvSpPr>
        <p:spPr>
          <a:xfrm>
            <a:off x="3200400" y="2811780"/>
            <a:ext cx="614758" cy="251460"/>
          </a:xfrm>
          <a:prstGeom prst="rect">
            <a:avLst/>
          </a:prstGeom>
          <a:noFill/>
          <a:ln/>
        </p:spPr>
        <p:txBody>
          <a:bodyPr wrap="square" lIns="0" tIns="0" rIns="0" bIns="0" rtlCol="0" anchor="ctr"/>
          <a:lstStyle/>
          <a:p>
            <a:pPr algn="r" indent="0" marL="0">
              <a:buNone/>
            </a:pPr>
            <a:endParaRPr lang="en-US" sz="760" dirty="0"/>
          </a:p>
        </p:txBody>
      </p:sp>
      <p:sp>
        <p:nvSpPr>
          <p:cNvPr id="179" name="Shape 177"/>
          <p:cNvSpPr/>
          <p:nvPr/>
        </p:nvSpPr>
        <p:spPr>
          <a:xfrm>
            <a:off x="3860878" y="2811780"/>
            <a:ext cx="660478" cy="251460"/>
          </a:xfrm>
          <a:prstGeom prst="rect">
            <a:avLst/>
          </a:prstGeom>
          <a:solidFill>
            <a:srgbClr val="D6EBE7"/>
          </a:solidFill>
          <a:ln w="5080">
            <a:solidFill>
              <a:srgbClr val="D3DCE5"/>
            </a:solidFill>
            <a:prstDash val="solid"/>
          </a:ln>
        </p:spPr>
      </p:sp>
      <p:sp>
        <p:nvSpPr>
          <p:cNvPr id="180" name="Text 178"/>
          <p:cNvSpPr txBox="1"/>
          <p:nvPr/>
        </p:nvSpPr>
        <p:spPr>
          <a:xfrm>
            <a:off x="3860878" y="2811780"/>
            <a:ext cx="614758" cy="251460"/>
          </a:xfrm>
          <a:prstGeom prst="rect">
            <a:avLst/>
          </a:prstGeom>
          <a:noFill/>
          <a:ln/>
        </p:spPr>
        <p:txBody>
          <a:bodyPr wrap="square" lIns="0" tIns="0" rIns="0" bIns="0" rtlCol="0" anchor="ctr"/>
          <a:lstStyle/>
          <a:p>
            <a:pPr algn="r" indent="0" marL="0">
              <a:buNone/>
            </a:pPr>
            <a:endParaRPr lang="en-US" sz="760" dirty="0"/>
          </a:p>
        </p:txBody>
      </p:sp>
      <p:sp>
        <p:nvSpPr>
          <p:cNvPr id="181" name="Shape 179"/>
          <p:cNvSpPr/>
          <p:nvPr/>
        </p:nvSpPr>
        <p:spPr>
          <a:xfrm>
            <a:off x="4521356" y="2811780"/>
            <a:ext cx="660478" cy="251460"/>
          </a:xfrm>
          <a:prstGeom prst="rect">
            <a:avLst/>
          </a:prstGeom>
          <a:solidFill>
            <a:srgbClr val="D6EBE7"/>
          </a:solidFill>
          <a:ln w="5080">
            <a:solidFill>
              <a:srgbClr val="D3DCE5"/>
            </a:solidFill>
            <a:prstDash val="solid"/>
          </a:ln>
        </p:spPr>
      </p:sp>
      <p:sp>
        <p:nvSpPr>
          <p:cNvPr id="182" name="Text 180"/>
          <p:cNvSpPr txBox="1"/>
          <p:nvPr/>
        </p:nvSpPr>
        <p:spPr>
          <a:xfrm>
            <a:off x="4521356" y="2811780"/>
            <a:ext cx="614758" cy="251460"/>
          </a:xfrm>
          <a:prstGeom prst="rect">
            <a:avLst/>
          </a:prstGeom>
          <a:noFill/>
          <a:ln/>
        </p:spPr>
        <p:txBody>
          <a:bodyPr wrap="square" lIns="0" tIns="0" rIns="0" bIns="0" rtlCol="0" anchor="ctr"/>
          <a:lstStyle/>
          <a:p>
            <a:pPr algn="r" indent="0" marL="0">
              <a:buNone/>
            </a:pPr>
            <a:endParaRPr lang="en-US" sz="760" dirty="0"/>
          </a:p>
        </p:txBody>
      </p:sp>
      <p:sp>
        <p:nvSpPr>
          <p:cNvPr id="183" name="Shape 181"/>
          <p:cNvSpPr/>
          <p:nvPr/>
        </p:nvSpPr>
        <p:spPr>
          <a:xfrm>
            <a:off x="5181834" y="2811780"/>
            <a:ext cx="660478" cy="251460"/>
          </a:xfrm>
          <a:prstGeom prst="rect">
            <a:avLst/>
          </a:prstGeom>
          <a:solidFill>
            <a:srgbClr val="D6EBE7"/>
          </a:solidFill>
          <a:ln w="5080">
            <a:solidFill>
              <a:srgbClr val="D3DCE5"/>
            </a:solidFill>
            <a:prstDash val="solid"/>
          </a:ln>
        </p:spPr>
      </p:sp>
      <p:sp>
        <p:nvSpPr>
          <p:cNvPr id="184" name="Text 182"/>
          <p:cNvSpPr txBox="1"/>
          <p:nvPr/>
        </p:nvSpPr>
        <p:spPr>
          <a:xfrm>
            <a:off x="5181834" y="281178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617</a:t>
            </a:r>
            <a:endParaRPr lang="en-US" sz="760" dirty="0"/>
          </a:p>
        </p:txBody>
      </p:sp>
      <p:sp>
        <p:nvSpPr>
          <p:cNvPr id="185" name="Shape 183"/>
          <p:cNvSpPr/>
          <p:nvPr/>
        </p:nvSpPr>
        <p:spPr>
          <a:xfrm>
            <a:off x="5842313" y="2811780"/>
            <a:ext cx="660478" cy="251460"/>
          </a:xfrm>
          <a:prstGeom prst="rect">
            <a:avLst/>
          </a:prstGeom>
          <a:solidFill>
            <a:srgbClr val="D6EBE7"/>
          </a:solidFill>
          <a:ln w="5080">
            <a:solidFill>
              <a:srgbClr val="D3DCE5"/>
            </a:solidFill>
            <a:prstDash val="solid"/>
          </a:ln>
        </p:spPr>
      </p:sp>
      <p:sp>
        <p:nvSpPr>
          <p:cNvPr id="186" name="Text 184"/>
          <p:cNvSpPr txBox="1"/>
          <p:nvPr/>
        </p:nvSpPr>
        <p:spPr>
          <a:xfrm>
            <a:off x="5842313" y="281178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558</a:t>
            </a:r>
            <a:endParaRPr lang="en-US" sz="760" dirty="0"/>
          </a:p>
        </p:txBody>
      </p:sp>
      <p:sp>
        <p:nvSpPr>
          <p:cNvPr id="187" name="Shape 185"/>
          <p:cNvSpPr/>
          <p:nvPr/>
        </p:nvSpPr>
        <p:spPr>
          <a:xfrm>
            <a:off x="6502791" y="2811780"/>
            <a:ext cx="660478" cy="251460"/>
          </a:xfrm>
          <a:prstGeom prst="rect">
            <a:avLst/>
          </a:prstGeom>
          <a:solidFill>
            <a:srgbClr val="D6EBE7"/>
          </a:solidFill>
          <a:ln w="5080">
            <a:solidFill>
              <a:srgbClr val="D3DCE5"/>
            </a:solidFill>
            <a:prstDash val="solid"/>
          </a:ln>
        </p:spPr>
      </p:sp>
      <p:sp>
        <p:nvSpPr>
          <p:cNvPr id="188" name="Text 186"/>
          <p:cNvSpPr txBox="1"/>
          <p:nvPr/>
        </p:nvSpPr>
        <p:spPr>
          <a:xfrm>
            <a:off x="6502791" y="281178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493</a:t>
            </a:r>
            <a:endParaRPr lang="en-US" sz="760" dirty="0"/>
          </a:p>
        </p:txBody>
      </p:sp>
      <p:sp>
        <p:nvSpPr>
          <p:cNvPr id="189" name="Shape 187"/>
          <p:cNvSpPr/>
          <p:nvPr/>
        </p:nvSpPr>
        <p:spPr>
          <a:xfrm>
            <a:off x="7163269" y="2811780"/>
            <a:ext cx="660478" cy="251460"/>
          </a:xfrm>
          <a:prstGeom prst="rect">
            <a:avLst/>
          </a:prstGeom>
          <a:solidFill>
            <a:srgbClr val="D6EBE7"/>
          </a:solidFill>
          <a:ln w="5080">
            <a:solidFill>
              <a:srgbClr val="D3DCE5"/>
            </a:solidFill>
            <a:prstDash val="solid"/>
          </a:ln>
        </p:spPr>
      </p:sp>
      <p:sp>
        <p:nvSpPr>
          <p:cNvPr id="190" name="Text 188"/>
          <p:cNvSpPr txBox="1"/>
          <p:nvPr/>
        </p:nvSpPr>
        <p:spPr>
          <a:xfrm>
            <a:off x="7163269" y="281178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971</a:t>
            </a:r>
            <a:endParaRPr lang="en-US" sz="760" dirty="0"/>
          </a:p>
        </p:txBody>
      </p:sp>
      <p:sp>
        <p:nvSpPr>
          <p:cNvPr id="191" name="Shape 189"/>
          <p:cNvSpPr/>
          <p:nvPr/>
        </p:nvSpPr>
        <p:spPr>
          <a:xfrm>
            <a:off x="7823747" y="2811780"/>
            <a:ext cx="660478" cy="251460"/>
          </a:xfrm>
          <a:prstGeom prst="rect">
            <a:avLst/>
          </a:prstGeom>
          <a:solidFill>
            <a:srgbClr val="D6EBE7"/>
          </a:solidFill>
          <a:ln w="5080">
            <a:solidFill>
              <a:srgbClr val="D3DCE5"/>
            </a:solidFill>
            <a:prstDash val="solid"/>
          </a:ln>
        </p:spPr>
      </p:sp>
      <p:sp>
        <p:nvSpPr>
          <p:cNvPr id="192" name="Text 190"/>
          <p:cNvSpPr txBox="1"/>
          <p:nvPr/>
        </p:nvSpPr>
        <p:spPr>
          <a:xfrm>
            <a:off x="7823747" y="281178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1,440</a:t>
            </a:r>
            <a:endParaRPr lang="en-US" sz="760" dirty="0"/>
          </a:p>
        </p:txBody>
      </p:sp>
      <p:sp>
        <p:nvSpPr>
          <p:cNvPr id="193" name="Shape 191"/>
          <p:cNvSpPr/>
          <p:nvPr/>
        </p:nvSpPr>
        <p:spPr>
          <a:xfrm>
            <a:off x="8484225" y="2811780"/>
            <a:ext cx="660478" cy="251460"/>
          </a:xfrm>
          <a:prstGeom prst="rect">
            <a:avLst/>
          </a:prstGeom>
          <a:solidFill>
            <a:srgbClr val="D6EBE7"/>
          </a:solidFill>
          <a:ln w="5080">
            <a:solidFill>
              <a:srgbClr val="D3DCE5"/>
            </a:solidFill>
            <a:prstDash val="solid"/>
          </a:ln>
        </p:spPr>
      </p:sp>
      <p:sp>
        <p:nvSpPr>
          <p:cNvPr id="194" name="Text 192"/>
          <p:cNvSpPr txBox="1"/>
          <p:nvPr/>
        </p:nvSpPr>
        <p:spPr>
          <a:xfrm>
            <a:off x="8484225" y="281178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1,925</a:t>
            </a:r>
            <a:endParaRPr lang="en-US" sz="760" dirty="0"/>
          </a:p>
        </p:txBody>
      </p:sp>
      <p:sp>
        <p:nvSpPr>
          <p:cNvPr id="195" name="Shape 193"/>
          <p:cNvSpPr/>
          <p:nvPr/>
        </p:nvSpPr>
        <p:spPr>
          <a:xfrm>
            <a:off x="9144703" y="2811780"/>
            <a:ext cx="660478" cy="251460"/>
          </a:xfrm>
          <a:prstGeom prst="rect">
            <a:avLst/>
          </a:prstGeom>
          <a:solidFill>
            <a:srgbClr val="D6EBE7"/>
          </a:solidFill>
          <a:ln w="5080">
            <a:solidFill>
              <a:srgbClr val="D3DCE5"/>
            </a:solidFill>
            <a:prstDash val="solid"/>
          </a:ln>
        </p:spPr>
      </p:sp>
      <p:sp>
        <p:nvSpPr>
          <p:cNvPr id="196" name="Text 194"/>
          <p:cNvSpPr txBox="1"/>
          <p:nvPr/>
        </p:nvSpPr>
        <p:spPr>
          <a:xfrm>
            <a:off x="9144703" y="281178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2,369</a:t>
            </a:r>
            <a:endParaRPr lang="en-US" sz="760" dirty="0"/>
          </a:p>
        </p:txBody>
      </p:sp>
      <p:sp>
        <p:nvSpPr>
          <p:cNvPr id="197" name="Shape 195"/>
          <p:cNvSpPr/>
          <p:nvPr/>
        </p:nvSpPr>
        <p:spPr>
          <a:xfrm>
            <a:off x="9805182" y="2811780"/>
            <a:ext cx="660478" cy="251460"/>
          </a:xfrm>
          <a:prstGeom prst="rect">
            <a:avLst/>
          </a:prstGeom>
          <a:solidFill>
            <a:srgbClr val="D6EBE7"/>
          </a:solidFill>
          <a:ln w="5080">
            <a:solidFill>
              <a:srgbClr val="D3DCE5"/>
            </a:solidFill>
            <a:prstDash val="solid"/>
          </a:ln>
        </p:spPr>
      </p:sp>
      <p:sp>
        <p:nvSpPr>
          <p:cNvPr id="198" name="Text 196"/>
          <p:cNvSpPr txBox="1"/>
          <p:nvPr/>
        </p:nvSpPr>
        <p:spPr>
          <a:xfrm>
            <a:off x="9805182" y="281178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2,566</a:t>
            </a:r>
            <a:endParaRPr lang="en-US" sz="760" dirty="0"/>
          </a:p>
        </p:txBody>
      </p:sp>
      <p:sp>
        <p:nvSpPr>
          <p:cNvPr id="199" name="Shape 197"/>
          <p:cNvSpPr/>
          <p:nvPr/>
        </p:nvSpPr>
        <p:spPr>
          <a:xfrm>
            <a:off x="10465660" y="2811780"/>
            <a:ext cx="660478" cy="251460"/>
          </a:xfrm>
          <a:prstGeom prst="rect">
            <a:avLst/>
          </a:prstGeom>
          <a:solidFill>
            <a:srgbClr val="D6EBE7"/>
          </a:solidFill>
          <a:ln w="5080">
            <a:solidFill>
              <a:srgbClr val="D3DCE5"/>
            </a:solidFill>
            <a:prstDash val="solid"/>
          </a:ln>
        </p:spPr>
      </p:sp>
      <p:sp>
        <p:nvSpPr>
          <p:cNvPr id="200" name="Text 198"/>
          <p:cNvSpPr txBox="1"/>
          <p:nvPr/>
        </p:nvSpPr>
        <p:spPr>
          <a:xfrm>
            <a:off x="10465660" y="281178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2,639</a:t>
            </a:r>
            <a:endParaRPr lang="en-US" sz="760" dirty="0"/>
          </a:p>
        </p:txBody>
      </p:sp>
      <p:sp>
        <p:nvSpPr>
          <p:cNvPr id="201" name="Shape 199"/>
          <p:cNvSpPr/>
          <p:nvPr/>
        </p:nvSpPr>
        <p:spPr>
          <a:xfrm>
            <a:off x="11126138" y="2811780"/>
            <a:ext cx="660478" cy="251460"/>
          </a:xfrm>
          <a:prstGeom prst="rect">
            <a:avLst/>
          </a:prstGeom>
          <a:solidFill>
            <a:srgbClr val="D6EBE7"/>
          </a:solidFill>
          <a:ln w="5080">
            <a:solidFill>
              <a:srgbClr val="D3DCE5"/>
            </a:solidFill>
            <a:prstDash val="solid"/>
          </a:ln>
        </p:spPr>
      </p:sp>
      <p:sp>
        <p:nvSpPr>
          <p:cNvPr id="202" name="Text 200"/>
          <p:cNvSpPr txBox="1"/>
          <p:nvPr/>
        </p:nvSpPr>
        <p:spPr>
          <a:xfrm>
            <a:off x="11126138" y="281178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2,640</a:t>
            </a:r>
            <a:endParaRPr lang="en-US" sz="760" dirty="0"/>
          </a:p>
        </p:txBody>
      </p:sp>
      <p:sp>
        <p:nvSpPr>
          <p:cNvPr id="203" name="Shape 201"/>
          <p:cNvSpPr/>
          <p:nvPr/>
        </p:nvSpPr>
        <p:spPr>
          <a:xfrm>
            <a:off x="411480" y="3063240"/>
            <a:ext cx="2788920" cy="251460"/>
          </a:xfrm>
          <a:prstGeom prst="rect">
            <a:avLst/>
          </a:prstGeom>
          <a:solidFill>
            <a:srgbClr val="FFFFFF"/>
          </a:solidFill>
          <a:ln w="5080">
            <a:solidFill>
              <a:srgbClr val="D3DCE5"/>
            </a:solidFill>
            <a:prstDash val="solid"/>
          </a:ln>
        </p:spPr>
      </p:sp>
      <p:sp>
        <p:nvSpPr>
          <p:cNvPr id="204" name="Text 202"/>
          <p:cNvSpPr txBox="1"/>
          <p:nvPr/>
        </p:nvSpPr>
        <p:spPr>
          <a:xfrm>
            <a:off x="475488" y="3063240"/>
            <a:ext cx="2660904" cy="251460"/>
          </a:xfrm>
          <a:prstGeom prst="rect">
            <a:avLst/>
          </a:prstGeom>
          <a:noFill/>
          <a:ln/>
        </p:spPr>
        <p:txBody>
          <a:bodyPr wrap="square" lIns="0" tIns="0" rIns="0" bIns="0" rtlCol="0" anchor="ctr"/>
          <a:lstStyle/>
          <a:p>
            <a:pPr indent="0" marL="0">
              <a:buNone/>
            </a:pPr>
            <a:r>
              <a:rPr lang="en-US" sz="780" dirty="0">
                <a:solidFill>
                  <a:srgbClr val="1B2733"/>
                </a:solidFill>
                <a:latin typeface="Calibri" pitchFamily="34" charset="0"/>
                <a:ea typeface="Calibri" pitchFamily="34" charset="-122"/>
                <a:cs typeface="Calibri" pitchFamily="34" charset="-120"/>
              </a:rPr>
              <a:t>    Discount factor</a:t>
            </a:r>
            <a:endParaRPr lang="en-US" sz="780" dirty="0"/>
          </a:p>
        </p:txBody>
      </p:sp>
      <p:sp>
        <p:nvSpPr>
          <p:cNvPr id="205" name="Shape 203"/>
          <p:cNvSpPr/>
          <p:nvPr/>
        </p:nvSpPr>
        <p:spPr>
          <a:xfrm>
            <a:off x="3200400" y="3063240"/>
            <a:ext cx="660478" cy="251460"/>
          </a:xfrm>
          <a:prstGeom prst="rect">
            <a:avLst/>
          </a:prstGeom>
          <a:solidFill>
            <a:srgbClr val="FFFFFF"/>
          </a:solidFill>
          <a:ln w="5080">
            <a:solidFill>
              <a:srgbClr val="D3DCE5"/>
            </a:solidFill>
            <a:prstDash val="solid"/>
          </a:ln>
        </p:spPr>
      </p:sp>
      <p:sp>
        <p:nvSpPr>
          <p:cNvPr id="206" name="Text 204"/>
          <p:cNvSpPr txBox="1"/>
          <p:nvPr/>
        </p:nvSpPr>
        <p:spPr>
          <a:xfrm>
            <a:off x="3200400" y="3063240"/>
            <a:ext cx="614758" cy="251460"/>
          </a:xfrm>
          <a:prstGeom prst="rect">
            <a:avLst/>
          </a:prstGeom>
          <a:noFill/>
          <a:ln/>
        </p:spPr>
        <p:txBody>
          <a:bodyPr wrap="square" lIns="0" tIns="0" rIns="0" bIns="0" rtlCol="0" anchor="ctr"/>
          <a:lstStyle/>
          <a:p>
            <a:pPr algn="r" indent="0" marL="0">
              <a:buNone/>
            </a:pPr>
            <a:endParaRPr lang="en-US" sz="760" dirty="0"/>
          </a:p>
        </p:txBody>
      </p:sp>
      <p:sp>
        <p:nvSpPr>
          <p:cNvPr id="207" name="Shape 205"/>
          <p:cNvSpPr/>
          <p:nvPr/>
        </p:nvSpPr>
        <p:spPr>
          <a:xfrm>
            <a:off x="3860878" y="3063240"/>
            <a:ext cx="660478" cy="251460"/>
          </a:xfrm>
          <a:prstGeom prst="rect">
            <a:avLst/>
          </a:prstGeom>
          <a:solidFill>
            <a:srgbClr val="FFFFFF"/>
          </a:solidFill>
          <a:ln w="5080">
            <a:solidFill>
              <a:srgbClr val="D3DCE5"/>
            </a:solidFill>
            <a:prstDash val="solid"/>
          </a:ln>
        </p:spPr>
      </p:sp>
      <p:sp>
        <p:nvSpPr>
          <p:cNvPr id="208" name="Text 206"/>
          <p:cNvSpPr txBox="1"/>
          <p:nvPr/>
        </p:nvSpPr>
        <p:spPr>
          <a:xfrm>
            <a:off x="3860878" y="3063240"/>
            <a:ext cx="614758" cy="251460"/>
          </a:xfrm>
          <a:prstGeom prst="rect">
            <a:avLst/>
          </a:prstGeom>
          <a:noFill/>
          <a:ln/>
        </p:spPr>
        <p:txBody>
          <a:bodyPr wrap="square" lIns="0" tIns="0" rIns="0" bIns="0" rtlCol="0" anchor="ctr"/>
          <a:lstStyle/>
          <a:p>
            <a:pPr algn="r" indent="0" marL="0">
              <a:buNone/>
            </a:pPr>
            <a:endParaRPr lang="en-US" sz="760" dirty="0"/>
          </a:p>
        </p:txBody>
      </p:sp>
      <p:sp>
        <p:nvSpPr>
          <p:cNvPr id="209" name="Shape 207"/>
          <p:cNvSpPr/>
          <p:nvPr/>
        </p:nvSpPr>
        <p:spPr>
          <a:xfrm>
            <a:off x="4521356" y="3063240"/>
            <a:ext cx="660478" cy="251460"/>
          </a:xfrm>
          <a:prstGeom prst="rect">
            <a:avLst/>
          </a:prstGeom>
          <a:solidFill>
            <a:srgbClr val="FFFFFF"/>
          </a:solidFill>
          <a:ln w="5080">
            <a:solidFill>
              <a:srgbClr val="D3DCE5"/>
            </a:solidFill>
            <a:prstDash val="solid"/>
          </a:ln>
        </p:spPr>
      </p:sp>
      <p:sp>
        <p:nvSpPr>
          <p:cNvPr id="210" name="Text 208"/>
          <p:cNvSpPr txBox="1"/>
          <p:nvPr/>
        </p:nvSpPr>
        <p:spPr>
          <a:xfrm>
            <a:off x="4521356" y="3063240"/>
            <a:ext cx="614758" cy="251460"/>
          </a:xfrm>
          <a:prstGeom prst="rect">
            <a:avLst/>
          </a:prstGeom>
          <a:noFill/>
          <a:ln/>
        </p:spPr>
        <p:txBody>
          <a:bodyPr wrap="square" lIns="0" tIns="0" rIns="0" bIns="0" rtlCol="0" anchor="ctr"/>
          <a:lstStyle/>
          <a:p>
            <a:pPr algn="r" indent="0" marL="0">
              <a:buNone/>
            </a:pPr>
            <a:endParaRPr lang="en-US" sz="760" dirty="0"/>
          </a:p>
        </p:txBody>
      </p:sp>
      <p:sp>
        <p:nvSpPr>
          <p:cNvPr id="211" name="Shape 209"/>
          <p:cNvSpPr/>
          <p:nvPr/>
        </p:nvSpPr>
        <p:spPr>
          <a:xfrm>
            <a:off x="5181834" y="3063240"/>
            <a:ext cx="660478" cy="251460"/>
          </a:xfrm>
          <a:prstGeom prst="rect">
            <a:avLst/>
          </a:prstGeom>
          <a:solidFill>
            <a:srgbClr val="FFFFFF"/>
          </a:solidFill>
          <a:ln w="5080">
            <a:solidFill>
              <a:srgbClr val="D3DCE5"/>
            </a:solidFill>
            <a:prstDash val="solid"/>
          </a:ln>
        </p:spPr>
      </p:sp>
      <p:sp>
        <p:nvSpPr>
          <p:cNvPr id="212" name="Text 210"/>
          <p:cNvSpPr txBox="1"/>
          <p:nvPr/>
        </p:nvSpPr>
        <p:spPr>
          <a:xfrm>
            <a:off x="5181834" y="306324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0.958</a:t>
            </a:r>
            <a:endParaRPr lang="en-US" sz="760" dirty="0"/>
          </a:p>
        </p:txBody>
      </p:sp>
      <p:sp>
        <p:nvSpPr>
          <p:cNvPr id="213" name="Shape 211"/>
          <p:cNvSpPr/>
          <p:nvPr/>
        </p:nvSpPr>
        <p:spPr>
          <a:xfrm>
            <a:off x="5842313" y="3063240"/>
            <a:ext cx="660478" cy="251460"/>
          </a:xfrm>
          <a:prstGeom prst="rect">
            <a:avLst/>
          </a:prstGeom>
          <a:solidFill>
            <a:srgbClr val="FFFFFF"/>
          </a:solidFill>
          <a:ln w="5080">
            <a:solidFill>
              <a:srgbClr val="D3DCE5"/>
            </a:solidFill>
            <a:prstDash val="solid"/>
          </a:ln>
        </p:spPr>
      </p:sp>
      <p:sp>
        <p:nvSpPr>
          <p:cNvPr id="214" name="Text 212"/>
          <p:cNvSpPr txBox="1"/>
          <p:nvPr/>
        </p:nvSpPr>
        <p:spPr>
          <a:xfrm>
            <a:off x="5842313" y="306324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0.880</a:t>
            </a:r>
            <a:endParaRPr lang="en-US" sz="760" dirty="0"/>
          </a:p>
        </p:txBody>
      </p:sp>
      <p:sp>
        <p:nvSpPr>
          <p:cNvPr id="215" name="Shape 213"/>
          <p:cNvSpPr/>
          <p:nvPr/>
        </p:nvSpPr>
        <p:spPr>
          <a:xfrm>
            <a:off x="6502791" y="3063240"/>
            <a:ext cx="660478" cy="251460"/>
          </a:xfrm>
          <a:prstGeom prst="rect">
            <a:avLst/>
          </a:prstGeom>
          <a:solidFill>
            <a:srgbClr val="FFFFFF"/>
          </a:solidFill>
          <a:ln w="5080">
            <a:solidFill>
              <a:srgbClr val="D3DCE5"/>
            </a:solidFill>
            <a:prstDash val="solid"/>
          </a:ln>
        </p:spPr>
      </p:sp>
      <p:sp>
        <p:nvSpPr>
          <p:cNvPr id="216" name="Text 214"/>
          <p:cNvSpPr txBox="1"/>
          <p:nvPr/>
        </p:nvSpPr>
        <p:spPr>
          <a:xfrm>
            <a:off x="6502791" y="306324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0.808</a:t>
            </a:r>
            <a:endParaRPr lang="en-US" sz="760" dirty="0"/>
          </a:p>
        </p:txBody>
      </p:sp>
      <p:sp>
        <p:nvSpPr>
          <p:cNvPr id="217" name="Shape 215"/>
          <p:cNvSpPr/>
          <p:nvPr/>
        </p:nvSpPr>
        <p:spPr>
          <a:xfrm>
            <a:off x="7163269" y="3063240"/>
            <a:ext cx="660478" cy="251460"/>
          </a:xfrm>
          <a:prstGeom prst="rect">
            <a:avLst/>
          </a:prstGeom>
          <a:solidFill>
            <a:srgbClr val="FFFFFF"/>
          </a:solidFill>
          <a:ln w="5080">
            <a:solidFill>
              <a:srgbClr val="D3DCE5"/>
            </a:solidFill>
            <a:prstDash val="solid"/>
          </a:ln>
        </p:spPr>
      </p:sp>
      <p:sp>
        <p:nvSpPr>
          <p:cNvPr id="218" name="Text 216"/>
          <p:cNvSpPr txBox="1"/>
          <p:nvPr/>
        </p:nvSpPr>
        <p:spPr>
          <a:xfrm>
            <a:off x="7163269" y="306324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0.743</a:t>
            </a:r>
            <a:endParaRPr lang="en-US" sz="760" dirty="0"/>
          </a:p>
        </p:txBody>
      </p:sp>
      <p:sp>
        <p:nvSpPr>
          <p:cNvPr id="219" name="Shape 217"/>
          <p:cNvSpPr/>
          <p:nvPr/>
        </p:nvSpPr>
        <p:spPr>
          <a:xfrm>
            <a:off x="7823747" y="3063240"/>
            <a:ext cx="660478" cy="251460"/>
          </a:xfrm>
          <a:prstGeom prst="rect">
            <a:avLst/>
          </a:prstGeom>
          <a:solidFill>
            <a:srgbClr val="FFFFFF"/>
          </a:solidFill>
          <a:ln w="5080">
            <a:solidFill>
              <a:srgbClr val="D3DCE5"/>
            </a:solidFill>
            <a:prstDash val="solid"/>
          </a:ln>
        </p:spPr>
      </p:sp>
      <p:sp>
        <p:nvSpPr>
          <p:cNvPr id="220" name="Text 218"/>
          <p:cNvSpPr txBox="1"/>
          <p:nvPr/>
        </p:nvSpPr>
        <p:spPr>
          <a:xfrm>
            <a:off x="7823747" y="306324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0.682</a:t>
            </a:r>
            <a:endParaRPr lang="en-US" sz="760" dirty="0"/>
          </a:p>
        </p:txBody>
      </p:sp>
      <p:sp>
        <p:nvSpPr>
          <p:cNvPr id="221" name="Shape 219"/>
          <p:cNvSpPr/>
          <p:nvPr/>
        </p:nvSpPr>
        <p:spPr>
          <a:xfrm>
            <a:off x="8484225" y="3063240"/>
            <a:ext cx="660478" cy="251460"/>
          </a:xfrm>
          <a:prstGeom prst="rect">
            <a:avLst/>
          </a:prstGeom>
          <a:solidFill>
            <a:srgbClr val="FFFFFF"/>
          </a:solidFill>
          <a:ln w="5080">
            <a:solidFill>
              <a:srgbClr val="D3DCE5"/>
            </a:solidFill>
            <a:prstDash val="solid"/>
          </a:ln>
        </p:spPr>
      </p:sp>
      <p:sp>
        <p:nvSpPr>
          <p:cNvPr id="222" name="Text 220"/>
          <p:cNvSpPr txBox="1"/>
          <p:nvPr/>
        </p:nvSpPr>
        <p:spPr>
          <a:xfrm>
            <a:off x="8484225" y="306324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0.626</a:t>
            </a:r>
            <a:endParaRPr lang="en-US" sz="760" dirty="0"/>
          </a:p>
        </p:txBody>
      </p:sp>
      <p:sp>
        <p:nvSpPr>
          <p:cNvPr id="223" name="Shape 221"/>
          <p:cNvSpPr/>
          <p:nvPr/>
        </p:nvSpPr>
        <p:spPr>
          <a:xfrm>
            <a:off x="9144703" y="3063240"/>
            <a:ext cx="660478" cy="251460"/>
          </a:xfrm>
          <a:prstGeom prst="rect">
            <a:avLst/>
          </a:prstGeom>
          <a:solidFill>
            <a:srgbClr val="FFFFFF"/>
          </a:solidFill>
          <a:ln w="5080">
            <a:solidFill>
              <a:srgbClr val="D3DCE5"/>
            </a:solidFill>
            <a:prstDash val="solid"/>
          </a:ln>
        </p:spPr>
      </p:sp>
      <p:sp>
        <p:nvSpPr>
          <p:cNvPr id="224" name="Text 222"/>
          <p:cNvSpPr txBox="1"/>
          <p:nvPr/>
        </p:nvSpPr>
        <p:spPr>
          <a:xfrm>
            <a:off x="9144703" y="306324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0.575</a:t>
            </a:r>
            <a:endParaRPr lang="en-US" sz="760" dirty="0"/>
          </a:p>
        </p:txBody>
      </p:sp>
      <p:sp>
        <p:nvSpPr>
          <p:cNvPr id="225" name="Shape 223"/>
          <p:cNvSpPr/>
          <p:nvPr/>
        </p:nvSpPr>
        <p:spPr>
          <a:xfrm>
            <a:off x="9805182" y="3063240"/>
            <a:ext cx="660478" cy="251460"/>
          </a:xfrm>
          <a:prstGeom prst="rect">
            <a:avLst/>
          </a:prstGeom>
          <a:solidFill>
            <a:srgbClr val="FFFFFF"/>
          </a:solidFill>
          <a:ln w="5080">
            <a:solidFill>
              <a:srgbClr val="D3DCE5"/>
            </a:solidFill>
            <a:prstDash val="solid"/>
          </a:ln>
        </p:spPr>
      </p:sp>
      <p:sp>
        <p:nvSpPr>
          <p:cNvPr id="226" name="Text 224"/>
          <p:cNvSpPr txBox="1"/>
          <p:nvPr/>
        </p:nvSpPr>
        <p:spPr>
          <a:xfrm>
            <a:off x="9805182" y="306324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0.528</a:t>
            </a:r>
            <a:endParaRPr lang="en-US" sz="760" dirty="0"/>
          </a:p>
        </p:txBody>
      </p:sp>
      <p:sp>
        <p:nvSpPr>
          <p:cNvPr id="227" name="Shape 225"/>
          <p:cNvSpPr/>
          <p:nvPr/>
        </p:nvSpPr>
        <p:spPr>
          <a:xfrm>
            <a:off x="10465660" y="3063240"/>
            <a:ext cx="660478" cy="251460"/>
          </a:xfrm>
          <a:prstGeom prst="rect">
            <a:avLst/>
          </a:prstGeom>
          <a:solidFill>
            <a:srgbClr val="FFFFFF"/>
          </a:solidFill>
          <a:ln w="5080">
            <a:solidFill>
              <a:srgbClr val="D3DCE5"/>
            </a:solidFill>
            <a:prstDash val="solid"/>
          </a:ln>
        </p:spPr>
      </p:sp>
      <p:sp>
        <p:nvSpPr>
          <p:cNvPr id="228" name="Text 226"/>
          <p:cNvSpPr txBox="1"/>
          <p:nvPr/>
        </p:nvSpPr>
        <p:spPr>
          <a:xfrm>
            <a:off x="10465660" y="306324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0.485</a:t>
            </a:r>
            <a:endParaRPr lang="en-US" sz="760" dirty="0"/>
          </a:p>
        </p:txBody>
      </p:sp>
      <p:sp>
        <p:nvSpPr>
          <p:cNvPr id="229" name="Shape 227"/>
          <p:cNvSpPr/>
          <p:nvPr/>
        </p:nvSpPr>
        <p:spPr>
          <a:xfrm>
            <a:off x="11126138" y="3063240"/>
            <a:ext cx="660478" cy="251460"/>
          </a:xfrm>
          <a:prstGeom prst="rect">
            <a:avLst/>
          </a:prstGeom>
          <a:solidFill>
            <a:srgbClr val="FFFFFF"/>
          </a:solidFill>
          <a:ln w="5080">
            <a:solidFill>
              <a:srgbClr val="D3DCE5"/>
            </a:solidFill>
            <a:prstDash val="solid"/>
          </a:ln>
        </p:spPr>
      </p:sp>
      <p:sp>
        <p:nvSpPr>
          <p:cNvPr id="230" name="Text 228"/>
          <p:cNvSpPr txBox="1"/>
          <p:nvPr/>
        </p:nvSpPr>
        <p:spPr>
          <a:xfrm>
            <a:off x="11126138" y="3063240"/>
            <a:ext cx="614758" cy="251460"/>
          </a:xfrm>
          <a:prstGeom prst="rect">
            <a:avLst/>
          </a:prstGeom>
          <a:noFill/>
          <a:ln/>
        </p:spPr>
        <p:txBody>
          <a:bodyPr wrap="square" lIns="0" tIns="0" rIns="0" bIns="0" rtlCol="0" anchor="ctr"/>
          <a:lstStyle/>
          <a:p>
            <a:pPr algn="r" indent="0" marL="0">
              <a:buNone/>
            </a:pPr>
            <a:r>
              <a:rPr lang="en-US" sz="760" dirty="0">
                <a:solidFill>
                  <a:srgbClr val="1B2733"/>
                </a:solidFill>
                <a:latin typeface="Calibri" pitchFamily="34" charset="0"/>
                <a:ea typeface="Calibri" pitchFamily="34" charset="-122"/>
                <a:cs typeface="Calibri" pitchFamily="34" charset="-120"/>
              </a:rPr>
              <a:t>0.446</a:t>
            </a:r>
            <a:endParaRPr lang="en-US" sz="760" dirty="0"/>
          </a:p>
        </p:txBody>
      </p:sp>
      <p:sp>
        <p:nvSpPr>
          <p:cNvPr id="231" name="Shape 229"/>
          <p:cNvSpPr/>
          <p:nvPr/>
        </p:nvSpPr>
        <p:spPr>
          <a:xfrm>
            <a:off x="411480" y="3314700"/>
            <a:ext cx="2788920" cy="251460"/>
          </a:xfrm>
          <a:prstGeom prst="rect">
            <a:avLst/>
          </a:prstGeom>
          <a:solidFill>
            <a:srgbClr val="F7F9FB"/>
          </a:solidFill>
          <a:ln w="5080">
            <a:solidFill>
              <a:srgbClr val="D3DCE5"/>
            </a:solidFill>
            <a:prstDash val="solid"/>
          </a:ln>
        </p:spPr>
      </p:sp>
      <p:sp>
        <p:nvSpPr>
          <p:cNvPr id="232" name="Text 230"/>
          <p:cNvSpPr txBox="1"/>
          <p:nvPr/>
        </p:nvSpPr>
        <p:spPr>
          <a:xfrm>
            <a:off x="475488" y="3314700"/>
            <a:ext cx="2660904" cy="251460"/>
          </a:xfrm>
          <a:prstGeom prst="rect">
            <a:avLst/>
          </a:prstGeom>
          <a:noFill/>
          <a:ln/>
        </p:spPr>
        <p:txBody>
          <a:bodyPr wrap="square" lIns="0" tIns="0" rIns="0" bIns="0" rtlCol="0" anchor="ctr"/>
          <a:lstStyle/>
          <a:p>
            <a:pPr indent="0" marL="0">
              <a:buNone/>
            </a:pPr>
            <a:r>
              <a:rPr lang="en-US" sz="780" b="1" dirty="0">
                <a:solidFill>
                  <a:srgbClr val="10233A"/>
                </a:solidFill>
                <a:latin typeface="Calibri" pitchFamily="34" charset="0"/>
                <a:ea typeface="Calibri" pitchFamily="34" charset="-122"/>
                <a:cs typeface="Calibri" pitchFamily="34" charset="-120"/>
              </a:rPr>
              <a:t>Present value of FCFF</a:t>
            </a:r>
            <a:endParaRPr lang="en-US" sz="780" dirty="0"/>
          </a:p>
        </p:txBody>
      </p:sp>
      <p:sp>
        <p:nvSpPr>
          <p:cNvPr id="233" name="Shape 231"/>
          <p:cNvSpPr/>
          <p:nvPr/>
        </p:nvSpPr>
        <p:spPr>
          <a:xfrm>
            <a:off x="3200400" y="3314700"/>
            <a:ext cx="660478" cy="251460"/>
          </a:xfrm>
          <a:prstGeom prst="rect">
            <a:avLst/>
          </a:prstGeom>
          <a:solidFill>
            <a:srgbClr val="F7F9FB"/>
          </a:solidFill>
          <a:ln w="5080">
            <a:solidFill>
              <a:srgbClr val="D3DCE5"/>
            </a:solidFill>
            <a:prstDash val="solid"/>
          </a:ln>
        </p:spPr>
      </p:sp>
      <p:sp>
        <p:nvSpPr>
          <p:cNvPr id="234" name="Text 232"/>
          <p:cNvSpPr txBox="1"/>
          <p:nvPr/>
        </p:nvSpPr>
        <p:spPr>
          <a:xfrm>
            <a:off x="3200400" y="3314700"/>
            <a:ext cx="614758" cy="251460"/>
          </a:xfrm>
          <a:prstGeom prst="rect">
            <a:avLst/>
          </a:prstGeom>
          <a:noFill/>
          <a:ln/>
        </p:spPr>
        <p:txBody>
          <a:bodyPr wrap="square" lIns="0" tIns="0" rIns="0" bIns="0" rtlCol="0" anchor="ctr"/>
          <a:lstStyle/>
          <a:p>
            <a:pPr algn="r" indent="0" marL="0">
              <a:buNone/>
            </a:pPr>
            <a:endParaRPr lang="en-US" sz="760" dirty="0"/>
          </a:p>
        </p:txBody>
      </p:sp>
      <p:sp>
        <p:nvSpPr>
          <p:cNvPr id="235" name="Shape 233"/>
          <p:cNvSpPr/>
          <p:nvPr/>
        </p:nvSpPr>
        <p:spPr>
          <a:xfrm>
            <a:off x="3860878" y="3314700"/>
            <a:ext cx="660478" cy="251460"/>
          </a:xfrm>
          <a:prstGeom prst="rect">
            <a:avLst/>
          </a:prstGeom>
          <a:solidFill>
            <a:srgbClr val="F7F9FB"/>
          </a:solidFill>
          <a:ln w="5080">
            <a:solidFill>
              <a:srgbClr val="D3DCE5"/>
            </a:solidFill>
            <a:prstDash val="solid"/>
          </a:ln>
        </p:spPr>
      </p:sp>
      <p:sp>
        <p:nvSpPr>
          <p:cNvPr id="236" name="Text 234"/>
          <p:cNvSpPr txBox="1"/>
          <p:nvPr/>
        </p:nvSpPr>
        <p:spPr>
          <a:xfrm>
            <a:off x="3860878" y="3314700"/>
            <a:ext cx="614758" cy="251460"/>
          </a:xfrm>
          <a:prstGeom prst="rect">
            <a:avLst/>
          </a:prstGeom>
          <a:noFill/>
          <a:ln/>
        </p:spPr>
        <p:txBody>
          <a:bodyPr wrap="square" lIns="0" tIns="0" rIns="0" bIns="0" rtlCol="0" anchor="ctr"/>
          <a:lstStyle/>
          <a:p>
            <a:pPr algn="r" indent="0" marL="0">
              <a:buNone/>
            </a:pPr>
            <a:endParaRPr lang="en-US" sz="760" dirty="0"/>
          </a:p>
        </p:txBody>
      </p:sp>
      <p:sp>
        <p:nvSpPr>
          <p:cNvPr id="237" name="Shape 235"/>
          <p:cNvSpPr/>
          <p:nvPr/>
        </p:nvSpPr>
        <p:spPr>
          <a:xfrm>
            <a:off x="4521356" y="3314700"/>
            <a:ext cx="660478" cy="251460"/>
          </a:xfrm>
          <a:prstGeom prst="rect">
            <a:avLst/>
          </a:prstGeom>
          <a:solidFill>
            <a:srgbClr val="F7F9FB"/>
          </a:solidFill>
          <a:ln w="5080">
            <a:solidFill>
              <a:srgbClr val="D3DCE5"/>
            </a:solidFill>
            <a:prstDash val="solid"/>
          </a:ln>
        </p:spPr>
      </p:sp>
      <p:sp>
        <p:nvSpPr>
          <p:cNvPr id="238" name="Text 236"/>
          <p:cNvSpPr txBox="1"/>
          <p:nvPr/>
        </p:nvSpPr>
        <p:spPr>
          <a:xfrm>
            <a:off x="4521356" y="3314700"/>
            <a:ext cx="614758" cy="251460"/>
          </a:xfrm>
          <a:prstGeom prst="rect">
            <a:avLst/>
          </a:prstGeom>
          <a:noFill/>
          <a:ln/>
        </p:spPr>
        <p:txBody>
          <a:bodyPr wrap="square" lIns="0" tIns="0" rIns="0" bIns="0" rtlCol="0" anchor="ctr"/>
          <a:lstStyle/>
          <a:p>
            <a:pPr algn="r" indent="0" marL="0">
              <a:buNone/>
            </a:pPr>
            <a:endParaRPr lang="en-US" sz="760" dirty="0"/>
          </a:p>
        </p:txBody>
      </p:sp>
      <p:sp>
        <p:nvSpPr>
          <p:cNvPr id="239" name="Shape 237"/>
          <p:cNvSpPr/>
          <p:nvPr/>
        </p:nvSpPr>
        <p:spPr>
          <a:xfrm>
            <a:off x="5181834" y="3314700"/>
            <a:ext cx="660478" cy="251460"/>
          </a:xfrm>
          <a:prstGeom prst="rect">
            <a:avLst/>
          </a:prstGeom>
          <a:solidFill>
            <a:srgbClr val="F7F9FB"/>
          </a:solidFill>
          <a:ln w="5080">
            <a:solidFill>
              <a:srgbClr val="D3DCE5"/>
            </a:solidFill>
            <a:prstDash val="solid"/>
          </a:ln>
        </p:spPr>
      </p:sp>
      <p:sp>
        <p:nvSpPr>
          <p:cNvPr id="240" name="Text 238"/>
          <p:cNvSpPr txBox="1"/>
          <p:nvPr/>
        </p:nvSpPr>
        <p:spPr>
          <a:xfrm>
            <a:off x="5181834" y="331470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592</a:t>
            </a:r>
            <a:endParaRPr lang="en-US" sz="760" dirty="0"/>
          </a:p>
        </p:txBody>
      </p:sp>
      <p:sp>
        <p:nvSpPr>
          <p:cNvPr id="241" name="Shape 239"/>
          <p:cNvSpPr/>
          <p:nvPr/>
        </p:nvSpPr>
        <p:spPr>
          <a:xfrm>
            <a:off x="5842313" y="3314700"/>
            <a:ext cx="660478" cy="251460"/>
          </a:xfrm>
          <a:prstGeom prst="rect">
            <a:avLst/>
          </a:prstGeom>
          <a:solidFill>
            <a:srgbClr val="F7F9FB"/>
          </a:solidFill>
          <a:ln w="5080">
            <a:solidFill>
              <a:srgbClr val="D3DCE5"/>
            </a:solidFill>
            <a:prstDash val="solid"/>
          </a:ln>
        </p:spPr>
      </p:sp>
      <p:sp>
        <p:nvSpPr>
          <p:cNvPr id="242" name="Text 240"/>
          <p:cNvSpPr txBox="1"/>
          <p:nvPr/>
        </p:nvSpPr>
        <p:spPr>
          <a:xfrm>
            <a:off x="5842313" y="331470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492</a:t>
            </a:r>
            <a:endParaRPr lang="en-US" sz="760" dirty="0"/>
          </a:p>
        </p:txBody>
      </p:sp>
      <p:sp>
        <p:nvSpPr>
          <p:cNvPr id="243" name="Shape 241"/>
          <p:cNvSpPr/>
          <p:nvPr/>
        </p:nvSpPr>
        <p:spPr>
          <a:xfrm>
            <a:off x="6502791" y="3314700"/>
            <a:ext cx="660478" cy="251460"/>
          </a:xfrm>
          <a:prstGeom prst="rect">
            <a:avLst/>
          </a:prstGeom>
          <a:solidFill>
            <a:srgbClr val="F7F9FB"/>
          </a:solidFill>
          <a:ln w="5080">
            <a:solidFill>
              <a:srgbClr val="D3DCE5"/>
            </a:solidFill>
            <a:prstDash val="solid"/>
          </a:ln>
        </p:spPr>
      </p:sp>
      <p:sp>
        <p:nvSpPr>
          <p:cNvPr id="244" name="Text 242"/>
          <p:cNvSpPr txBox="1"/>
          <p:nvPr/>
        </p:nvSpPr>
        <p:spPr>
          <a:xfrm>
            <a:off x="6502791" y="331470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399</a:t>
            </a:r>
            <a:endParaRPr lang="en-US" sz="760" dirty="0"/>
          </a:p>
        </p:txBody>
      </p:sp>
      <p:sp>
        <p:nvSpPr>
          <p:cNvPr id="245" name="Shape 243"/>
          <p:cNvSpPr/>
          <p:nvPr/>
        </p:nvSpPr>
        <p:spPr>
          <a:xfrm>
            <a:off x="7163269" y="3314700"/>
            <a:ext cx="660478" cy="251460"/>
          </a:xfrm>
          <a:prstGeom prst="rect">
            <a:avLst/>
          </a:prstGeom>
          <a:solidFill>
            <a:srgbClr val="F7F9FB"/>
          </a:solidFill>
          <a:ln w="5080">
            <a:solidFill>
              <a:srgbClr val="D3DCE5"/>
            </a:solidFill>
            <a:prstDash val="solid"/>
          </a:ln>
        </p:spPr>
      </p:sp>
      <p:sp>
        <p:nvSpPr>
          <p:cNvPr id="246" name="Text 244"/>
          <p:cNvSpPr txBox="1"/>
          <p:nvPr/>
        </p:nvSpPr>
        <p:spPr>
          <a:xfrm>
            <a:off x="7163269" y="331470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721</a:t>
            </a:r>
            <a:endParaRPr lang="en-US" sz="760" dirty="0"/>
          </a:p>
        </p:txBody>
      </p:sp>
      <p:sp>
        <p:nvSpPr>
          <p:cNvPr id="247" name="Shape 245"/>
          <p:cNvSpPr/>
          <p:nvPr/>
        </p:nvSpPr>
        <p:spPr>
          <a:xfrm>
            <a:off x="7823747" y="3314700"/>
            <a:ext cx="660478" cy="251460"/>
          </a:xfrm>
          <a:prstGeom prst="rect">
            <a:avLst/>
          </a:prstGeom>
          <a:solidFill>
            <a:srgbClr val="F7F9FB"/>
          </a:solidFill>
          <a:ln w="5080">
            <a:solidFill>
              <a:srgbClr val="D3DCE5"/>
            </a:solidFill>
            <a:prstDash val="solid"/>
          </a:ln>
        </p:spPr>
      </p:sp>
      <p:sp>
        <p:nvSpPr>
          <p:cNvPr id="248" name="Text 246"/>
          <p:cNvSpPr txBox="1"/>
          <p:nvPr/>
        </p:nvSpPr>
        <p:spPr>
          <a:xfrm>
            <a:off x="7823747" y="331470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982</a:t>
            </a:r>
            <a:endParaRPr lang="en-US" sz="760" dirty="0"/>
          </a:p>
        </p:txBody>
      </p:sp>
      <p:sp>
        <p:nvSpPr>
          <p:cNvPr id="249" name="Shape 247"/>
          <p:cNvSpPr/>
          <p:nvPr/>
        </p:nvSpPr>
        <p:spPr>
          <a:xfrm>
            <a:off x="8484225" y="3314700"/>
            <a:ext cx="660478" cy="251460"/>
          </a:xfrm>
          <a:prstGeom prst="rect">
            <a:avLst/>
          </a:prstGeom>
          <a:solidFill>
            <a:srgbClr val="F7F9FB"/>
          </a:solidFill>
          <a:ln w="5080">
            <a:solidFill>
              <a:srgbClr val="D3DCE5"/>
            </a:solidFill>
            <a:prstDash val="solid"/>
          </a:ln>
        </p:spPr>
      </p:sp>
      <p:sp>
        <p:nvSpPr>
          <p:cNvPr id="250" name="Text 248"/>
          <p:cNvSpPr txBox="1"/>
          <p:nvPr/>
        </p:nvSpPr>
        <p:spPr>
          <a:xfrm>
            <a:off x="8484225" y="331470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1,206</a:t>
            </a:r>
            <a:endParaRPr lang="en-US" sz="760" dirty="0"/>
          </a:p>
        </p:txBody>
      </p:sp>
      <p:sp>
        <p:nvSpPr>
          <p:cNvPr id="251" name="Shape 249"/>
          <p:cNvSpPr/>
          <p:nvPr/>
        </p:nvSpPr>
        <p:spPr>
          <a:xfrm>
            <a:off x="9144703" y="3314700"/>
            <a:ext cx="660478" cy="251460"/>
          </a:xfrm>
          <a:prstGeom prst="rect">
            <a:avLst/>
          </a:prstGeom>
          <a:solidFill>
            <a:srgbClr val="F7F9FB"/>
          </a:solidFill>
          <a:ln w="5080">
            <a:solidFill>
              <a:srgbClr val="D3DCE5"/>
            </a:solidFill>
            <a:prstDash val="solid"/>
          </a:ln>
        </p:spPr>
      </p:sp>
      <p:sp>
        <p:nvSpPr>
          <p:cNvPr id="252" name="Text 250"/>
          <p:cNvSpPr txBox="1"/>
          <p:nvPr/>
        </p:nvSpPr>
        <p:spPr>
          <a:xfrm>
            <a:off x="9144703" y="331470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1,363</a:t>
            </a:r>
            <a:endParaRPr lang="en-US" sz="760" dirty="0"/>
          </a:p>
        </p:txBody>
      </p:sp>
      <p:sp>
        <p:nvSpPr>
          <p:cNvPr id="253" name="Shape 251"/>
          <p:cNvSpPr/>
          <p:nvPr/>
        </p:nvSpPr>
        <p:spPr>
          <a:xfrm>
            <a:off x="9805182" y="3314700"/>
            <a:ext cx="660478" cy="251460"/>
          </a:xfrm>
          <a:prstGeom prst="rect">
            <a:avLst/>
          </a:prstGeom>
          <a:solidFill>
            <a:srgbClr val="F7F9FB"/>
          </a:solidFill>
          <a:ln w="5080">
            <a:solidFill>
              <a:srgbClr val="D3DCE5"/>
            </a:solidFill>
            <a:prstDash val="solid"/>
          </a:ln>
        </p:spPr>
      </p:sp>
      <p:sp>
        <p:nvSpPr>
          <p:cNvPr id="254" name="Text 252"/>
          <p:cNvSpPr txBox="1"/>
          <p:nvPr/>
        </p:nvSpPr>
        <p:spPr>
          <a:xfrm>
            <a:off x="9805182" y="331470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1,356</a:t>
            </a:r>
            <a:endParaRPr lang="en-US" sz="760" dirty="0"/>
          </a:p>
        </p:txBody>
      </p:sp>
      <p:sp>
        <p:nvSpPr>
          <p:cNvPr id="255" name="Shape 253"/>
          <p:cNvSpPr/>
          <p:nvPr/>
        </p:nvSpPr>
        <p:spPr>
          <a:xfrm>
            <a:off x="10465660" y="3314700"/>
            <a:ext cx="660478" cy="251460"/>
          </a:xfrm>
          <a:prstGeom prst="rect">
            <a:avLst/>
          </a:prstGeom>
          <a:solidFill>
            <a:srgbClr val="F7F9FB"/>
          </a:solidFill>
          <a:ln w="5080">
            <a:solidFill>
              <a:srgbClr val="D3DCE5"/>
            </a:solidFill>
            <a:prstDash val="solid"/>
          </a:ln>
        </p:spPr>
      </p:sp>
      <p:sp>
        <p:nvSpPr>
          <p:cNvPr id="256" name="Text 254"/>
          <p:cNvSpPr txBox="1"/>
          <p:nvPr/>
        </p:nvSpPr>
        <p:spPr>
          <a:xfrm>
            <a:off x="10465660" y="331470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1,281</a:t>
            </a:r>
            <a:endParaRPr lang="en-US" sz="760" dirty="0"/>
          </a:p>
        </p:txBody>
      </p:sp>
      <p:sp>
        <p:nvSpPr>
          <p:cNvPr id="257" name="Shape 255"/>
          <p:cNvSpPr/>
          <p:nvPr/>
        </p:nvSpPr>
        <p:spPr>
          <a:xfrm>
            <a:off x="11126138" y="3314700"/>
            <a:ext cx="660478" cy="251460"/>
          </a:xfrm>
          <a:prstGeom prst="rect">
            <a:avLst/>
          </a:prstGeom>
          <a:solidFill>
            <a:srgbClr val="F7F9FB"/>
          </a:solidFill>
          <a:ln w="5080">
            <a:solidFill>
              <a:srgbClr val="D3DCE5"/>
            </a:solidFill>
            <a:prstDash val="solid"/>
          </a:ln>
        </p:spPr>
      </p:sp>
      <p:sp>
        <p:nvSpPr>
          <p:cNvPr id="258" name="Text 256"/>
          <p:cNvSpPr txBox="1"/>
          <p:nvPr/>
        </p:nvSpPr>
        <p:spPr>
          <a:xfrm>
            <a:off x="11126138" y="3314700"/>
            <a:ext cx="614758" cy="251460"/>
          </a:xfrm>
          <a:prstGeom prst="rect">
            <a:avLst/>
          </a:prstGeom>
          <a:noFill/>
          <a:ln/>
        </p:spPr>
        <p:txBody>
          <a:bodyPr wrap="square" lIns="0" tIns="0" rIns="0" bIns="0" rtlCol="0" anchor="ctr"/>
          <a:lstStyle/>
          <a:p>
            <a:pPr algn="r" indent="0" marL="0">
              <a:buNone/>
            </a:pPr>
            <a:r>
              <a:rPr lang="en-US" sz="760" b="1" dirty="0">
                <a:solidFill>
                  <a:srgbClr val="10233A"/>
                </a:solidFill>
                <a:latin typeface="Calibri" pitchFamily="34" charset="0"/>
                <a:ea typeface="Calibri" pitchFamily="34" charset="-122"/>
                <a:cs typeface="Calibri" pitchFamily="34" charset="-120"/>
              </a:rPr>
              <a:t>1,177</a:t>
            </a:r>
            <a:endParaRPr lang="en-US" sz="760" dirty="0"/>
          </a:p>
        </p:txBody>
      </p:sp>
      <p:sp>
        <p:nvSpPr>
          <p:cNvPr id="259" name="Shape 257"/>
          <p:cNvSpPr/>
          <p:nvPr/>
        </p:nvSpPr>
        <p:spPr>
          <a:xfrm>
            <a:off x="411480" y="3657600"/>
            <a:ext cx="4526280" cy="292608"/>
          </a:xfrm>
          <a:prstGeom prst="rect">
            <a:avLst/>
          </a:prstGeom>
          <a:solidFill>
            <a:srgbClr val="10233A"/>
          </a:solidFill>
          <a:ln/>
        </p:spPr>
      </p:sp>
      <p:sp>
        <p:nvSpPr>
          <p:cNvPr id="260" name="Text 258"/>
          <p:cNvSpPr txBox="1"/>
          <p:nvPr/>
        </p:nvSpPr>
        <p:spPr>
          <a:xfrm>
            <a:off x="475488" y="3657600"/>
            <a:ext cx="439826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Base case bridge</a:t>
            </a:r>
            <a:endParaRPr lang="en-US" sz="900" dirty="0"/>
          </a:p>
        </p:txBody>
      </p:sp>
      <p:sp>
        <p:nvSpPr>
          <p:cNvPr id="261" name="Shape 259"/>
          <p:cNvSpPr/>
          <p:nvPr/>
        </p:nvSpPr>
        <p:spPr>
          <a:xfrm>
            <a:off x="4937760" y="3657600"/>
            <a:ext cx="1874520" cy="292608"/>
          </a:xfrm>
          <a:prstGeom prst="rect">
            <a:avLst/>
          </a:prstGeom>
          <a:solidFill>
            <a:srgbClr val="10233A"/>
          </a:solidFill>
          <a:ln/>
        </p:spPr>
      </p:sp>
      <p:sp>
        <p:nvSpPr>
          <p:cNvPr id="262" name="Text 260"/>
          <p:cNvSpPr txBox="1"/>
          <p:nvPr/>
        </p:nvSpPr>
        <p:spPr>
          <a:xfrm>
            <a:off x="5001768" y="3657600"/>
            <a:ext cx="174650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A$m unless stated</a:t>
            </a:r>
            <a:endParaRPr lang="en-US" sz="900" dirty="0"/>
          </a:p>
        </p:txBody>
      </p:sp>
      <p:sp>
        <p:nvSpPr>
          <p:cNvPr id="263" name="Shape 261"/>
          <p:cNvSpPr/>
          <p:nvPr/>
        </p:nvSpPr>
        <p:spPr>
          <a:xfrm>
            <a:off x="411480" y="3950208"/>
            <a:ext cx="4526280" cy="202997"/>
          </a:xfrm>
          <a:prstGeom prst="rect">
            <a:avLst/>
          </a:prstGeom>
          <a:solidFill>
            <a:srgbClr val="FFFFFF"/>
          </a:solidFill>
          <a:ln w="6350">
            <a:solidFill>
              <a:srgbClr val="D3DCE5"/>
            </a:solidFill>
            <a:prstDash val="solid"/>
          </a:ln>
        </p:spPr>
      </p:sp>
      <p:sp>
        <p:nvSpPr>
          <p:cNvPr id="264" name="Text 262"/>
          <p:cNvSpPr txBox="1"/>
          <p:nvPr/>
        </p:nvSpPr>
        <p:spPr>
          <a:xfrm>
            <a:off x="475488" y="3950208"/>
            <a:ext cx="4398264" cy="202997"/>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Sum of PV of explicit forecast FCFF, FY27-FY36</a:t>
            </a:r>
            <a:endParaRPr lang="en-US" sz="860" dirty="0"/>
          </a:p>
        </p:txBody>
      </p:sp>
      <p:sp>
        <p:nvSpPr>
          <p:cNvPr id="265" name="Shape 263"/>
          <p:cNvSpPr/>
          <p:nvPr/>
        </p:nvSpPr>
        <p:spPr>
          <a:xfrm>
            <a:off x="4937760" y="3950208"/>
            <a:ext cx="1874520" cy="202997"/>
          </a:xfrm>
          <a:prstGeom prst="rect">
            <a:avLst/>
          </a:prstGeom>
          <a:solidFill>
            <a:srgbClr val="FFFFFF"/>
          </a:solidFill>
          <a:ln w="6350">
            <a:solidFill>
              <a:srgbClr val="D3DCE5"/>
            </a:solidFill>
            <a:prstDash val="solid"/>
          </a:ln>
        </p:spPr>
      </p:sp>
      <p:sp>
        <p:nvSpPr>
          <p:cNvPr id="266" name="Text 264"/>
          <p:cNvSpPr txBox="1"/>
          <p:nvPr/>
        </p:nvSpPr>
        <p:spPr>
          <a:xfrm>
            <a:off x="5001768" y="3950208"/>
            <a:ext cx="1746504" cy="202997"/>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9,661</a:t>
            </a:r>
            <a:endParaRPr lang="en-US" sz="860" dirty="0"/>
          </a:p>
        </p:txBody>
      </p:sp>
      <p:sp>
        <p:nvSpPr>
          <p:cNvPr id="267" name="Shape 265"/>
          <p:cNvSpPr/>
          <p:nvPr/>
        </p:nvSpPr>
        <p:spPr>
          <a:xfrm>
            <a:off x="411480" y="4153205"/>
            <a:ext cx="4526280" cy="202997"/>
          </a:xfrm>
          <a:prstGeom prst="rect">
            <a:avLst/>
          </a:prstGeom>
          <a:solidFill>
            <a:srgbClr val="F7F9FB"/>
          </a:solidFill>
          <a:ln w="6350">
            <a:solidFill>
              <a:srgbClr val="D3DCE5"/>
            </a:solidFill>
            <a:prstDash val="solid"/>
          </a:ln>
        </p:spPr>
      </p:sp>
      <p:sp>
        <p:nvSpPr>
          <p:cNvPr id="268" name="Text 266"/>
          <p:cNvSpPr txBox="1"/>
          <p:nvPr/>
        </p:nvSpPr>
        <p:spPr>
          <a:xfrm>
            <a:off x="475488" y="4153205"/>
            <a:ext cx="4398264" cy="202997"/>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PV of terminal value (16.1-year annuity)</a:t>
            </a:r>
            <a:endParaRPr lang="en-US" sz="860" dirty="0"/>
          </a:p>
        </p:txBody>
      </p:sp>
      <p:sp>
        <p:nvSpPr>
          <p:cNvPr id="269" name="Shape 267"/>
          <p:cNvSpPr/>
          <p:nvPr/>
        </p:nvSpPr>
        <p:spPr>
          <a:xfrm>
            <a:off x="4937760" y="4153205"/>
            <a:ext cx="1874520" cy="202997"/>
          </a:xfrm>
          <a:prstGeom prst="rect">
            <a:avLst/>
          </a:prstGeom>
          <a:solidFill>
            <a:srgbClr val="F7F9FB"/>
          </a:solidFill>
          <a:ln w="6350">
            <a:solidFill>
              <a:srgbClr val="D3DCE5"/>
            </a:solidFill>
            <a:prstDash val="solid"/>
          </a:ln>
        </p:spPr>
      </p:sp>
      <p:sp>
        <p:nvSpPr>
          <p:cNvPr id="270" name="Text 268"/>
          <p:cNvSpPr txBox="1"/>
          <p:nvPr/>
        </p:nvSpPr>
        <p:spPr>
          <a:xfrm>
            <a:off x="5001768" y="4153205"/>
            <a:ext cx="1746504" cy="202997"/>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9,921</a:t>
            </a:r>
            <a:endParaRPr lang="en-US" sz="860" dirty="0"/>
          </a:p>
        </p:txBody>
      </p:sp>
      <p:sp>
        <p:nvSpPr>
          <p:cNvPr id="271" name="Shape 269"/>
          <p:cNvSpPr/>
          <p:nvPr/>
        </p:nvSpPr>
        <p:spPr>
          <a:xfrm>
            <a:off x="411480" y="4356202"/>
            <a:ext cx="4526280" cy="202997"/>
          </a:xfrm>
          <a:prstGeom prst="rect">
            <a:avLst/>
          </a:prstGeom>
          <a:solidFill>
            <a:srgbClr val="FFFFFF"/>
          </a:solidFill>
          <a:ln w="6350">
            <a:solidFill>
              <a:srgbClr val="D3DCE5"/>
            </a:solidFill>
            <a:prstDash val="solid"/>
          </a:ln>
        </p:spPr>
      </p:sp>
      <p:sp>
        <p:nvSpPr>
          <p:cNvPr id="272" name="Text 270"/>
          <p:cNvSpPr txBox="1"/>
          <p:nvPr/>
        </p:nvSpPr>
        <p:spPr>
          <a:xfrm>
            <a:off x="475488" y="4356202"/>
            <a:ext cx="4398264" cy="202997"/>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Enterprise value</a:t>
            </a:r>
            <a:endParaRPr lang="en-US" sz="860" dirty="0"/>
          </a:p>
        </p:txBody>
      </p:sp>
      <p:sp>
        <p:nvSpPr>
          <p:cNvPr id="273" name="Shape 271"/>
          <p:cNvSpPr/>
          <p:nvPr/>
        </p:nvSpPr>
        <p:spPr>
          <a:xfrm>
            <a:off x="4937760" y="4356202"/>
            <a:ext cx="1874520" cy="202997"/>
          </a:xfrm>
          <a:prstGeom prst="rect">
            <a:avLst/>
          </a:prstGeom>
          <a:solidFill>
            <a:srgbClr val="FFFFFF"/>
          </a:solidFill>
          <a:ln w="6350">
            <a:solidFill>
              <a:srgbClr val="D3DCE5"/>
            </a:solidFill>
            <a:prstDash val="solid"/>
          </a:ln>
        </p:spPr>
      </p:sp>
      <p:sp>
        <p:nvSpPr>
          <p:cNvPr id="274" name="Text 272"/>
          <p:cNvSpPr txBox="1"/>
          <p:nvPr/>
        </p:nvSpPr>
        <p:spPr>
          <a:xfrm>
            <a:off x="5001768" y="4356202"/>
            <a:ext cx="1746504" cy="202997"/>
          </a:xfrm>
          <a:prstGeom prst="rect">
            <a:avLst/>
          </a:prstGeom>
          <a:noFill/>
          <a:ln/>
        </p:spPr>
        <p:txBody>
          <a:bodyPr wrap="square" lIns="0" tIns="0" rIns="0" bIns="0" rtlCol="0" anchor="ctr"/>
          <a:lstStyle/>
          <a:p>
            <a:pPr algn="r" indent="0" marL="0">
              <a:buNone/>
            </a:pPr>
            <a:r>
              <a:rPr lang="en-US" sz="860" b="1" dirty="0">
                <a:solidFill>
                  <a:srgbClr val="1B2733"/>
                </a:solidFill>
                <a:latin typeface="Calibri" pitchFamily="34" charset="0"/>
                <a:ea typeface="Calibri" pitchFamily="34" charset="-122"/>
                <a:cs typeface="Calibri" pitchFamily="34" charset="-120"/>
              </a:rPr>
              <a:t>19,581</a:t>
            </a:r>
            <a:endParaRPr lang="en-US" sz="860" dirty="0"/>
          </a:p>
        </p:txBody>
      </p:sp>
      <p:sp>
        <p:nvSpPr>
          <p:cNvPr id="275" name="Shape 273"/>
          <p:cNvSpPr/>
          <p:nvPr/>
        </p:nvSpPr>
        <p:spPr>
          <a:xfrm>
            <a:off x="411480" y="4559198"/>
            <a:ext cx="4526280" cy="202997"/>
          </a:xfrm>
          <a:prstGeom prst="rect">
            <a:avLst/>
          </a:prstGeom>
          <a:solidFill>
            <a:srgbClr val="F7F9FB"/>
          </a:solidFill>
          <a:ln w="6350">
            <a:solidFill>
              <a:srgbClr val="D3DCE5"/>
            </a:solidFill>
            <a:prstDash val="solid"/>
          </a:ln>
        </p:spPr>
      </p:sp>
      <p:sp>
        <p:nvSpPr>
          <p:cNvPr id="276" name="Text 274"/>
          <p:cNvSpPr txBox="1"/>
          <p:nvPr/>
        </p:nvSpPr>
        <p:spPr>
          <a:xfrm>
            <a:off x="475488" y="4559198"/>
            <a:ext cx="4398264" cy="202997"/>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Add net cash</a:t>
            </a:r>
            <a:endParaRPr lang="en-US" sz="860" dirty="0"/>
          </a:p>
        </p:txBody>
      </p:sp>
      <p:sp>
        <p:nvSpPr>
          <p:cNvPr id="277" name="Shape 275"/>
          <p:cNvSpPr/>
          <p:nvPr/>
        </p:nvSpPr>
        <p:spPr>
          <a:xfrm>
            <a:off x="4937760" y="4559198"/>
            <a:ext cx="1874520" cy="202997"/>
          </a:xfrm>
          <a:prstGeom prst="rect">
            <a:avLst/>
          </a:prstGeom>
          <a:solidFill>
            <a:srgbClr val="F7F9FB"/>
          </a:solidFill>
          <a:ln w="6350">
            <a:solidFill>
              <a:srgbClr val="D3DCE5"/>
            </a:solidFill>
            <a:prstDash val="solid"/>
          </a:ln>
        </p:spPr>
      </p:sp>
      <p:sp>
        <p:nvSpPr>
          <p:cNvPr id="278" name="Text 276"/>
          <p:cNvSpPr txBox="1"/>
          <p:nvPr/>
        </p:nvSpPr>
        <p:spPr>
          <a:xfrm>
            <a:off x="5001768" y="4559198"/>
            <a:ext cx="1746504" cy="202997"/>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1,437</a:t>
            </a:r>
            <a:endParaRPr lang="en-US" sz="860" dirty="0"/>
          </a:p>
        </p:txBody>
      </p:sp>
      <p:sp>
        <p:nvSpPr>
          <p:cNvPr id="279" name="Shape 277"/>
          <p:cNvSpPr/>
          <p:nvPr/>
        </p:nvSpPr>
        <p:spPr>
          <a:xfrm>
            <a:off x="411480" y="4762195"/>
            <a:ext cx="4526280" cy="202997"/>
          </a:xfrm>
          <a:prstGeom prst="rect">
            <a:avLst/>
          </a:prstGeom>
          <a:solidFill>
            <a:srgbClr val="FFFFFF"/>
          </a:solidFill>
          <a:ln w="6350">
            <a:solidFill>
              <a:srgbClr val="D3DCE5"/>
            </a:solidFill>
            <a:prstDash val="solid"/>
          </a:ln>
        </p:spPr>
      </p:sp>
      <p:sp>
        <p:nvSpPr>
          <p:cNvPr id="280" name="Text 278"/>
          <p:cNvSpPr txBox="1"/>
          <p:nvPr/>
        </p:nvSpPr>
        <p:spPr>
          <a:xfrm>
            <a:off x="475488" y="4762195"/>
            <a:ext cx="4398264" cy="202997"/>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Equity value</a:t>
            </a:r>
            <a:endParaRPr lang="en-US" sz="860" dirty="0"/>
          </a:p>
        </p:txBody>
      </p:sp>
      <p:sp>
        <p:nvSpPr>
          <p:cNvPr id="281" name="Shape 279"/>
          <p:cNvSpPr/>
          <p:nvPr/>
        </p:nvSpPr>
        <p:spPr>
          <a:xfrm>
            <a:off x="4937760" y="4762195"/>
            <a:ext cx="1874520" cy="202997"/>
          </a:xfrm>
          <a:prstGeom prst="rect">
            <a:avLst/>
          </a:prstGeom>
          <a:solidFill>
            <a:srgbClr val="FFFFFF"/>
          </a:solidFill>
          <a:ln w="6350">
            <a:solidFill>
              <a:srgbClr val="D3DCE5"/>
            </a:solidFill>
            <a:prstDash val="solid"/>
          </a:ln>
        </p:spPr>
      </p:sp>
      <p:sp>
        <p:nvSpPr>
          <p:cNvPr id="282" name="Text 280"/>
          <p:cNvSpPr txBox="1"/>
          <p:nvPr/>
        </p:nvSpPr>
        <p:spPr>
          <a:xfrm>
            <a:off x="5001768" y="4762195"/>
            <a:ext cx="1746504" cy="202997"/>
          </a:xfrm>
          <a:prstGeom prst="rect">
            <a:avLst/>
          </a:prstGeom>
          <a:noFill/>
          <a:ln/>
        </p:spPr>
        <p:txBody>
          <a:bodyPr wrap="square" lIns="0" tIns="0" rIns="0" bIns="0" rtlCol="0" anchor="ctr"/>
          <a:lstStyle/>
          <a:p>
            <a:pPr algn="r" indent="0" marL="0">
              <a:buNone/>
            </a:pPr>
            <a:r>
              <a:rPr lang="en-US" sz="860" b="1" dirty="0">
                <a:solidFill>
                  <a:srgbClr val="1B2733"/>
                </a:solidFill>
                <a:latin typeface="Calibri" pitchFamily="34" charset="0"/>
                <a:ea typeface="Calibri" pitchFamily="34" charset="-122"/>
                <a:cs typeface="Calibri" pitchFamily="34" charset="-120"/>
              </a:rPr>
              <a:t>21,018</a:t>
            </a:r>
            <a:endParaRPr lang="en-US" sz="860" dirty="0"/>
          </a:p>
        </p:txBody>
      </p:sp>
      <p:sp>
        <p:nvSpPr>
          <p:cNvPr id="283" name="Shape 281"/>
          <p:cNvSpPr/>
          <p:nvPr/>
        </p:nvSpPr>
        <p:spPr>
          <a:xfrm>
            <a:off x="411480" y="4965192"/>
            <a:ext cx="4526280" cy="202997"/>
          </a:xfrm>
          <a:prstGeom prst="rect">
            <a:avLst/>
          </a:prstGeom>
          <a:solidFill>
            <a:srgbClr val="F7F9FB"/>
          </a:solidFill>
          <a:ln w="6350">
            <a:solidFill>
              <a:srgbClr val="D3DCE5"/>
            </a:solidFill>
            <a:prstDash val="solid"/>
          </a:ln>
        </p:spPr>
      </p:sp>
      <p:sp>
        <p:nvSpPr>
          <p:cNvPr id="284" name="Text 282"/>
          <p:cNvSpPr txBox="1"/>
          <p:nvPr/>
        </p:nvSpPr>
        <p:spPr>
          <a:xfrm>
            <a:off x="475488" y="4965192"/>
            <a:ext cx="4398264" cy="202997"/>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Shares on issue (m)</a:t>
            </a:r>
            <a:endParaRPr lang="en-US" sz="860" dirty="0"/>
          </a:p>
        </p:txBody>
      </p:sp>
      <p:sp>
        <p:nvSpPr>
          <p:cNvPr id="285" name="Shape 283"/>
          <p:cNvSpPr/>
          <p:nvPr/>
        </p:nvSpPr>
        <p:spPr>
          <a:xfrm>
            <a:off x="4937760" y="4965192"/>
            <a:ext cx="1874520" cy="202997"/>
          </a:xfrm>
          <a:prstGeom prst="rect">
            <a:avLst/>
          </a:prstGeom>
          <a:solidFill>
            <a:srgbClr val="F7F9FB"/>
          </a:solidFill>
          <a:ln w="6350">
            <a:solidFill>
              <a:srgbClr val="D3DCE5"/>
            </a:solidFill>
            <a:prstDash val="solid"/>
          </a:ln>
        </p:spPr>
      </p:sp>
      <p:sp>
        <p:nvSpPr>
          <p:cNvPr id="286" name="Text 284"/>
          <p:cNvSpPr txBox="1"/>
          <p:nvPr/>
        </p:nvSpPr>
        <p:spPr>
          <a:xfrm>
            <a:off x="5001768" y="4965192"/>
            <a:ext cx="1746504" cy="202997"/>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3,220</a:t>
            </a:r>
            <a:endParaRPr lang="en-US" sz="860" dirty="0"/>
          </a:p>
        </p:txBody>
      </p:sp>
      <p:sp>
        <p:nvSpPr>
          <p:cNvPr id="287" name="Shape 285"/>
          <p:cNvSpPr/>
          <p:nvPr/>
        </p:nvSpPr>
        <p:spPr>
          <a:xfrm>
            <a:off x="411480" y="5168189"/>
            <a:ext cx="4526280" cy="202997"/>
          </a:xfrm>
          <a:prstGeom prst="rect">
            <a:avLst/>
          </a:prstGeom>
          <a:solidFill>
            <a:srgbClr val="FFFFFF"/>
          </a:solidFill>
          <a:ln w="6350">
            <a:solidFill>
              <a:srgbClr val="D3DCE5"/>
            </a:solidFill>
            <a:prstDash val="solid"/>
          </a:ln>
        </p:spPr>
      </p:sp>
      <p:sp>
        <p:nvSpPr>
          <p:cNvPr id="288" name="Text 286"/>
          <p:cNvSpPr txBox="1"/>
          <p:nvPr/>
        </p:nvSpPr>
        <p:spPr>
          <a:xfrm>
            <a:off x="475488" y="5168189"/>
            <a:ext cx="4398264" cy="202997"/>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Value per share (A$)</a:t>
            </a:r>
            <a:endParaRPr lang="en-US" sz="860" dirty="0"/>
          </a:p>
        </p:txBody>
      </p:sp>
      <p:sp>
        <p:nvSpPr>
          <p:cNvPr id="289" name="Shape 287"/>
          <p:cNvSpPr/>
          <p:nvPr/>
        </p:nvSpPr>
        <p:spPr>
          <a:xfrm>
            <a:off x="4937760" y="5168189"/>
            <a:ext cx="1874520" cy="202997"/>
          </a:xfrm>
          <a:prstGeom prst="rect">
            <a:avLst/>
          </a:prstGeom>
          <a:solidFill>
            <a:srgbClr val="FFFFFF"/>
          </a:solidFill>
          <a:ln w="6350">
            <a:solidFill>
              <a:srgbClr val="D3DCE5"/>
            </a:solidFill>
            <a:prstDash val="solid"/>
          </a:ln>
        </p:spPr>
      </p:sp>
      <p:sp>
        <p:nvSpPr>
          <p:cNvPr id="290" name="Text 288"/>
          <p:cNvSpPr txBox="1"/>
          <p:nvPr/>
        </p:nvSpPr>
        <p:spPr>
          <a:xfrm>
            <a:off x="5001768" y="5168189"/>
            <a:ext cx="1746504" cy="202997"/>
          </a:xfrm>
          <a:prstGeom prst="rect">
            <a:avLst/>
          </a:prstGeom>
          <a:noFill/>
          <a:ln/>
        </p:spPr>
        <p:txBody>
          <a:bodyPr wrap="square" lIns="0" tIns="0" rIns="0" bIns="0" rtlCol="0" anchor="ctr"/>
          <a:lstStyle/>
          <a:p>
            <a:pPr algn="r" indent="0" marL="0">
              <a:buNone/>
            </a:pPr>
            <a:r>
              <a:rPr lang="en-US" sz="860" b="1" dirty="0">
                <a:solidFill>
                  <a:srgbClr val="0E7C6B"/>
                </a:solidFill>
                <a:latin typeface="Calibri" pitchFamily="34" charset="0"/>
                <a:ea typeface="Calibri" pitchFamily="34" charset="-122"/>
                <a:cs typeface="Calibri" pitchFamily="34" charset="-120"/>
              </a:rPr>
              <a:t>6.53</a:t>
            </a:r>
            <a:endParaRPr lang="en-US" sz="860" dirty="0"/>
          </a:p>
        </p:txBody>
      </p:sp>
      <p:sp>
        <p:nvSpPr>
          <p:cNvPr id="291" name="Shape 289"/>
          <p:cNvSpPr/>
          <p:nvPr/>
        </p:nvSpPr>
        <p:spPr>
          <a:xfrm>
            <a:off x="411480" y="5371186"/>
            <a:ext cx="4526280" cy="202997"/>
          </a:xfrm>
          <a:prstGeom prst="rect">
            <a:avLst/>
          </a:prstGeom>
          <a:solidFill>
            <a:srgbClr val="F7F9FB"/>
          </a:solidFill>
          <a:ln w="6350">
            <a:solidFill>
              <a:srgbClr val="D3DCE5"/>
            </a:solidFill>
            <a:prstDash val="solid"/>
          </a:ln>
        </p:spPr>
      </p:sp>
      <p:sp>
        <p:nvSpPr>
          <p:cNvPr id="292" name="Text 290"/>
          <p:cNvSpPr txBox="1"/>
          <p:nvPr/>
        </p:nvSpPr>
        <p:spPr>
          <a:xfrm>
            <a:off x="475488" y="5371186"/>
            <a:ext cx="4398264" cy="202997"/>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Last close (A$)</a:t>
            </a:r>
            <a:endParaRPr lang="en-US" sz="860" dirty="0"/>
          </a:p>
        </p:txBody>
      </p:sp>
      <p:sp>
        <p:nvSpPr>
          <p:cNvPr id="293" name="Shape 291"/>
          <p:cNvSpPr/>
          <p:nvPr/>
        </p:nvSpPr>
        <p:spPr>
          <a:xfrm>
            <a:off x="4937760" y="5371186"/>
            <a:ext cx="1874520" cy="202997"/>
          </a:xfrm>
          <a:prstGeom prst="rect">
            <a:avLst/>
          </a:prstGeom>
          <a:solidFill>
            <a:srgbClr val="F7F9FB"/>
          </a:solidFill>
          <a:ln w="6350">
            <a:solidFill>
              <a:srgbClr val="D3DCE5"/>
            </a:solidFill>
            <a:prstDash val="solid"/>
          </a:ln>
        </p:spPr>
      </p:sp>
      <p:sp>
        <p:nvSpPr>
          <p:cNvPr id="294" name="Text 292"/>
          <p:cNvSpPr txBox="1"/>
          <p:nvPr/>
        </p:nvSpPr>
        <p:spPr>
          <a:xfrm>
            <a:off x="5001768" y="5371186"/>
            <a:ext cx="1746504" cy="202997"/>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5.48</a:t>
            </a:r>
            <a:endParaRPr lang="en-US" sz="860" dirty="0"/>
          </a:p>
        </p:txBody>
      </p:sp>
      <p:sp>
        <p:nvSpPr>
          <p:cNvPr id="295" name="Shape 293"/>
          <p:cNvSpPr/>
          <p:nvPr/>
        </p:nvSpPr>
        <p:spPr>
          <a:xfrm>
            <a:off x="411480" y="5574182"/>
            <a:ext cx="4526280" cy="202997"/>
          </a:xfrm>
          <a:prstGeom prst="rect">
            <a:avLst/>
          </a:prstGeom>
          <a:solidFill>
            <a:srgbClr val="FFFFFF"/>
          </a:solidFill>
          <a:ln w="6350">
            <a:solidFill>
              <a:srgbClr val="D3DCE5"/>
            </a:solidFill>
            <a:prstDash val="solid"/>
          </a:ln>
        </p:spPr>
      </p:sp>
      <p:sp>
        <p:nvSpPr>
          <p:cNvPr id="296" name="Text 294"/>
          <p:cNvSpPr txBox="1"/>
          <p:nvPr/>
        </p:nvSpPr>
        <p:spPr>
          <a:xfrm>
            <a:off x="475488" y="5574182"/>
            <a:ext cx="4398264" cy="202997"/>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Implied upside</a:t>
            </a:r>
            <a:endParaRPr lang="en-US" sz="860" dirty="0"/>
          </a:p>
        </p:txBody>
      </p:sp>
      <p:sp>
        <p:nvSpPr>
          <p:cNvPr id="297" name="Shape 295"/>
          <p:cNvSpPr/>
          <p:nvPr/>
        </p:nvSpPr>
        <p:spPr>
          <a:xfrm>
            <a:off x="4937760" y="5574182"/>
            <a:ext cx="1874520" cy="202997"/>
          </a:xfrm>
          <a:prstGeom prst="rect">
            <a:avLst/>
          </a:prstGeom>
          <a:solidFill>
            <a:srgbClr val="FFFFFF"/>
          </a:solidFill>
          <a:ln w="6350">
            <a:solidFill>
              <a:srgbClr val="D3DCE5"/>
            </a:solidFill>
            <a:prstDash val="solid"/>
          </a:ln>
        </p:spPr>
      </p:sp>
      <p:sp>
        <p:nvSpPr>
          <p:cNvPr id="298" name="Text 296"/>
          <p:cNvSpPr txBox="1"/>
          <p:nvPr/>
        </p:nvSpPr>
        <p:spPr>
          <a:xfrm>
            <a:off x="5001768" y="5574182"/>
            <a:ext cx="1746504" cy="202997"/>
          </a:xfrm>
          <a:prstGeom prst="rect">
            <a:avLst/>
          </a:prstGeom>
          <a:noFill/>
          <a:ln/>
        </p:spPr>
        <p:txBody>
          <a:bodyPr wrap="square" lIns="0" tIns="0" rIns="0" bIns="0" rtlCol="0" anchor="ctr"/>
          <a:lstStyle/>
          <a:p>
            <a:pPr algn="r" indent="0" marL="0">
              <a:buNone/>
            </a:pPr>
            <a:r>
              <a:rPr lang="en-US" sz="860" b="1" dirty="0">
                <a:solidFill>
                  <a:srgbClr val="0E7C6B"/>
                </a:solidFill>
                <a:latin typeface="Calibri" pitchFamily="34" charset="0"/>
                <a:ea typeface="Calibri" pitchFamily="34" charset="-122"/>
                <a:cs typeface="Calibri" pitchFamily="34" charset="-120"/>
              </a:rPr>
              <a:t>+19.1%</a:t>
            </a:r>
            <a:endParaRPr lang="en-US" sz="860" dirty="0"/>
          </a:p>
        </p:txBody>
      </p:sp>
      <p:sp>
        <p:nvSpPr>
          <p:cNvPr id="299" name="Shape 297"/>
          <p:cNvSpPr/>
          <p:nvPr/>
        </p:nvSpPr>
        <p:spPr>
          <a:xfrm>
            <a:off x="411480" y="5777179"/>
            <a:ext cx="4526280" cy="202997"/>
          </a:xfrm>
          <a:prstGeom prst="rect">
            <a:avLst/>
          </a:prstGeom>
          <a:solidFill>
            <a:srgbClr val="F7F9FB"/>
          </a:solidFill>
          <a:ln w="6350">
            <a:solidFill>
              <a:srgbClr val="D3DCE5"/>
            </a:solidFill>
            <a:prstDash val="solid"/>
          </a:ln>
        </p:spPr>
      </p:sp>
      <p:sp>
        <p:nvSpPr>
          <p:cNvPr id="300" name="Text 298"/>
          <p:cNvSpPr txBox="1"/>
          <p:nvPr/>
        </p:nvSpPr>
        <p:spPr>
          <a:xfrm>
            <a:off x="475488" y="5777179"/>
            <a:ext cx="4398264" cy="202997"/>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Terminal value as a share of EV</a:t>
            </a:r>
            <a:endParaRPr lang="en-US" sz="860" dirty="0"/>
          </a:p>
        </p:txBody>
      </p:sp>
      <p:sp>
        <p:nvSpPr>
          <p:cNvPr id="301" name="Shape 299"/>
          <p:cNvSpPr/>
          <p:nvPr/>
        </p:nvSpPr>
        <p:spPr>
          <a:xfrm>
            <a:off x="4937760" y="5777179"/>
            <a:ext cx="1874520" cy="202997"/>
          </a:xfrm>
          <a:prstGeom prst="rect">
            <a:avLst/>
          </a:prstGeom>
          <a:solidFill>
            <a:srgbClr val="F7F9FB"/>
          </a:solidFill>
          <a:ln w="6350">
            <a:solidFill>
              <a:srgbClr val="D3DCE5"/>
            </a:solidFill>
            <a:prstDash val="solid"/>
          </a:ln>
        </p:spPr>
      </p:sp>
      <p:sp>
        <p:nvSpPr>
          <p:cNvPr id="302" name="Text 300"/>
          <p:cNvSpPr txBox="1"/>
          <p:nvPr/>
        </p:nvSpPr>
        <p:spPr>
          <a:xfrm>
            <a:off x="5001768" y="5777179"/>
            <a:ext cx="1746504" cy="202997"/>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50.7%</a:t>
            </a:r>
            <a:endParaRPr lang="en-US" sz="860" dirty="0"/>
          </a:p>
        </p:txBody>
      </p:sp>
      <p:sp>
        <p:nvSpPr>
          <p:cNvPr id="303" name="Shape 301"/>
          <p:cNvSpPr/>
          <p:nvPr/>
        </p:nvSpPr>
        <p:spPr>
          <a:xfrm>
            <a:off x="7086600" y="3657600"/>
            <a:ext cx="4700016" cy="2286000"/>
          </a:xfrm>
          <a:prstGeom prst="rect">
            <a:avLst/>
          </a:prstGeom>
          <a:solidFill>
            <a:srgbClr val="D6EBE7"/>
          </a:solidFill>
          <a:ln w="9525">
            <a:solidFill>
              <a:srgbClr val="AFD3CC"/>
            </a:solidFill>
            <a:prstDash val="solid"/>
          </a:ln>
        </p:spPr>
      </p:sp>
      <p:sp>
        <p:nvSpPr>
          <p:cNvPr id="304" name="Text 302"/>
          <p:cNvSpPr txBox="1"/>
          <p:nvPr/>
        </p:nvSpPr>
        <p:spPr>
          <a:xfrm>
            <a:off x="7251192" y="3785616"/>
            <a:ext cx="4370832"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Why terminal value is only half of enterprise value</a:t>
            </a:r>
            <a:endParaRPr lang="en-US" sz="1150" dirty="0"/>
          </a:p>
        </p:txBody>
      </p:sp>
      <p:sp>
        <p:nvSpPr>
          <p:cNvPr id="305" name="Text 303"/>
          <p:cNvSpPr txBox="1"/>
          <p:nvPr/>
        </p:nvSpPr>
        <p:spPr>
          <a:xfrm>
            <a:off x="7251192" y="4114800"/>
            <a:ext cx="4370832" cy="1737360"/>
          </a:xfrm>
          <a:prstGeom prst="rect">
            <a:avLst/>
          </a:prstGeom>
          <a:noFill/>
          <a:ln/>
        </p:spPr>
        <p:txBody>
          <a:bodyPr wrap="square" lIns="0" tIns="0" rIns="0" bIns="0" rtlCol="0" anchor="t"/>
          <a:lstStyle/>
          <a:p>
            <a:pPr indent="0" marL="0">
              <a:lnSpc>
                <a:spcPct val="105000"/>
              </a:lnSpc>
              <a:buNone/>
            </a:pPr>
            <a:r>
              <a:rPr lang="en-US" sz="840" dirty="0">
                <a:solidFill>
                  <a:srgbClr val="1B2733"/>
                </a:solidFill>
                <a:latin typeface="Calibri" pitchFamily="34" charset="0"/>
                <a:ea typeface="Calibri" pitchFamily="34" charset="-122"/>
                <a:cs typeface="Calibri" pitchFamily="34" charset="-120"/>
              </a:rPr>
              <a:t>On a growing perpetuity, the terminal period would have been A$19.0bn and roughly 68% of enterprise value - meaning most of the answer would rest on an assumption about the year 2037 onward.</a:t>
            </a:r>
            <a:endParaRPr lang="en-US" sz="840" dirty="0"/>
          </a:p>
          <a:p>
            <a:pPr indent="0" marL="0">
              <a:lnSpc>
                <a:spcPct val="105000"/>
              </a:lnSpc>
              <a:buNone/>
            </a:pPr>
            <a:endParaRPr lang="en-US" sz="840" dirty="0"/>
          </a:p>
          <a:p>
            <a:pPr indent="0" marL="0">
              <a:lnSpc>
                <a:spcPct val="105000"/>
              </a:lnSpc>
              <a:buNone/>
            </a:pPr>
            <a:r>
              <a:rPr lang="en-US" sz="840" dirty="0">
                <a:solidFill>
                  <a:srgbClr val="1B2733"/>
                </a:solidFill>
                <a:latin typeface="Calibri" pitchFamily="34" charset="0"/>
                <a:ea typeface="Calibri" pitchFamily="34" charset="-122"/>
                <a:cs typeface="Calibri" pitchFamily="34" charset="-120"/>
              </a:rPr>
              <a:t>The reserve-life annuity brings it to A$9.9bn and 50.7%. That is still a lot, and it is the right treatment for a long-life mining asset: half the value is in the ten years we forecast explicitly, half in the sixteen years of ore that follow.</a:t>
            </a:r>
            <a:endParaRPr lang="en-US" sz="840" dirty="0"/>
          </a:p>
          <a:p>
            <a:pPr indent="0" marL="0">
              <a:lnSpc>
                <a:spcPct val="105000"/>
              </a:lnSpc>
              <a:buNone/>
            </a:pPr>
            <a:endParaRPr lang="en-US" sz="840" dirty="0"/>
          </a:p>
          <a:p>
            <a:pPr indent="0" marL="0">
              <a:lnSpc>
                <a:spcPct val="105000"/>
              </a:lnSpc>
              <a:buNone/>
            </a:pPr>
            <a:r>
              <a:rPr lang="en-US" sz="840" dirty="0">
                <a:solidFill>
                  <a:srgbClr val="1B2733"/>
                </a:solidFill>
                <a:latin typeface="Calibri" pitchFamily="34" charset="0"/>
                <a:ea typeface="Calibri" pitchFamily="34" charset="-122"/>
                <a:cs typeface="Calibri" pitchFamily="34" charset="-120"/>
              </a:rPr>
              <a:t>It also means the model is less sensitive to the terminal assumption than a conventional DCF, which is a feature rather than a coincidence. The sensitivity table at E11 shows the whole surface.</a:t>
            </a:r>
            <a:endParaRPr lang="en-US" sz="840" dirty="0"/>
          </a:p>
        </p:txBody>
      </p:sp>
      <p:sp>
        <p:nvSpPr>
          <p:cNvPr id="306" name="Text 304"/>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DCF sheet. Discounting uses a mid-year convention; the stub from the 5 September 2026 valuation date to 30 June 2027 is not discounted separately and the effect is immaterial at this WACC.</a:t>
            </a:r>
            <a:endParaRPr lang="en-US" sz="720" dirty="0"/>
          </a:p>
        </p:txBody>
      </p:sp>
      <p:sp>
        <p:nvSpPr>
          <p:cNvPr id="307" name="Text 305"/>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E8</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Restart supply overwhelms demand, prices revert toward the marginal cost, P2000 is never sanctioned, Colina never proceeds and Ngungaju is throttled back.</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E9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377440" cy="292608"/>
          </a:xfrm>
          <a:prstGeom prst="rect">
            <a:avLst/>
          </a:prstGeom>
          <a:solidFill>
            <a:srgbClr val="10233A"/>
          </a:solidFill>
          <a:ln/>
        </p:spPr>
      </p:sp>
      <p:sp>
        <p:nvSpPr>
          <p:cNvPr id="8" name="Text 6"/>
          <p:cNvSpPr txBox="1"/>
          <p:nvPr/>
        </p:nvSpPr>
        <p:spPr>
          <a:xfrm>
            <a:off x="475488" y="1298448"/>
            <a:ext cx="2249424" cy="292608"/>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Driver</a:t>
            </a:r>
            <a:endParaRPr lang="en-US" sz="800" dirty="0"/>
          </a:p>
        </p:txBody>
      </p:sp>
      <p:sp>
        <p:nvSpPr>
          <p:cNvPr id="9" name="Shape 7"/>
          <p:cNvSpPr/>
          <p:nvPr/>
        </p:nvSpPr>
        <p:spPr>
          <a:xfrm>
            <a:off x="2788920" y="1298448"/>
            <a:ext cx="899770" cy="292608"/>
          </a:xfrm>
          <a:prstGeom prst="rect">
            <a:avLst/>
          </a:prstGeom>
          <a:solidFill>
            <a:srgbClr val="10233A"/>
          </a:solidFill>
          <a:ln/>
        </p:spPr>
      </p:sp>
      <p:sp>
        <p:nvSpPr>
          <p:cNvPr id="10" name="Text 8"/>
          <p:cNvSpPr txBox="1"/>
          <p:nvPr/>
        </p:nvSpPr>
        <p:spPr>
          <a:xfrm>
            <a:off x="2852928"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FY27</a:t>
            </a:r>
            <a:endParaRPr lang="en-US" sz="800" dirty="0"/>
          </a:p>
        </p:txBody>
      </p:sp>
      <p:sp>
        <p:nvSpPr>
          <p:cNvPr id="11" name="Shape 9"/>
          <p:cNvSpPr/>
          <p:nvPr/>
        </p:nvSpPr>
        <p:spPr>
          <a:xfrm>
            <a:off x="3688690" y="1298448"/>
            <a:ext cx="899770" cy="292608"/>
          </a:xfrm>
          <a:prstGeom prst="rect">
            <a:avLst/>
          </a:prstGeom>
          <a:solidFill>
            <a:srgbClr val="10233A"/>
          </a:solidFill>
          <a:ln/>
        </p:spPr>
      </p:sp>
      <p:sp>
        <p:nvSpPr>
          <p:cNvPr id="12" name="Text 10"/>
          <p:cNvSpPr txBox="1"/>
          <p:nvPr/>
        </p:nvSpPr>
        <p:spPr>
          <a:xfrm>
            <a:off x="3752698"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FY28</a:t>
            </a:r>
            <a:endParaRPr lang="en-US" sz="800" dirty="0"/>
          </a:p>
        </p:txBody>
      </p:sp>
      <p:sp>
        <p:nvSpPr>
          <p:cNvPr id="13" name="Shape 11"/>
          <p:cNvSpPr/>
          <p:nvPr/>
        </p:nvSpPr>
        <p:spPr>
          <a:xfrm>
            <a:off x="4588459" y="1298448"/>
            <a:ext cx="899770" cy="292608"/>
          </a:xfrm>
          <a:prstGeom prst="rect">
            <a:avLst/>
          </a:prstGeom>
          <a:solidFill>
            <a:srgbClr val="10233A"/>
          </a:solidFill>
          <a:ln/>
        </p:spPr>
      </p:sp>
      <p:sp>
        <p:nvSpPr>
          <p:cNvPr id="14" name="Text 12"/>
          <p:cNvSpPr txBox="1"/>
          <p:nvPr/>
        </p:nvSpPr>
        <p:spPr>
          <a:xfrm>
            <a:off x="4652467"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FY29</a:t>
            </a:r>
            <a:endParaRPr lang="en-US" sz="800" dirty="0"/>
          </a:p>
        </p:txBody>
      </p:sp>
      <p:sp>
        <p:nvSpPr>
          <p:cNvPr id="15" name="Shape 13"/>
          <p:cNvSpPr/>
          <p:nvPr/>
        </p:nvSpPr>
        <p:spPr>
          <a:xfrm>
            <a:off x="5488229" y="1298448"/>
            <a:ext cx="899770" cy="292608"/>
          </a:xfrm>
          <a:prstGeom prst="rect">
            <a:avLst/>
          </a:prstGeom>
          <a:solidFill>
            <a:srgbClr val="10233A"/>
          </a:solidFill>
          <a:ln/>
        </p:spPr>
      </p:sp>
      <p:sp>
        <p:nvSpPr>
          <p:cNvPr id="16" name="Text 14"/>
          <p:cNvSpPr txBox="1"/>
          <p:nvPr/>
        </p:nvSpPr>
        <p:spPr>
          <a:xfrm>
            <a:off x="5552237"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FY30</a:t>
            </a:r>
            <a:endParaRPr lang="en-US" sz="800" dirty="0"/>
          </a:p>
        </p:txBody>
      </p:sp>
      <p:sp>
        <p:nvSpPr>
          <p:cNvPr id="17" name="Shape 15"/>
          <p:cNvSpPr/>
          <p:nvPr/>
        </p:nvSpPr>
        <p:spPr>
          <a:xfrm>
            <a:off x="6387998" y="1298448"/>
            <a:ext cx="899770" cy="292608"/>
          </a:xfrm>
          <a:prstGeom prst="rect">
            <a:avLst/>
          </a:prstGeom>
          <a:solidFill>
            <a:srgbClr val="10233A"/>
          </a:solidFill>
          <a:ln/>
        </p:spPr>
      </p:sp>
      <p:sp>
        <p:nvSpPr>
          <p:cNvPr id="18" name="Text 16"/>
          <p:cNvSpPr txBox="1"/>
          <p:nvPr/>
        </p:nvSpPr>
        <p:spPr>
          <a:xfrm>
            <a:off x="6452006"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FY31</a:t>
            </a:r>
            <a:endParaRPr lang="en-US" sz="800" dirty="0"/>
          </a:p>
        </p:txBody>
      </p:sp>
      <p:sp>
        <p:nvSpPr>
          <p:cNvPr id="19" name="Shape 17"/>
          <p:cNvSpPr/>
          <p:nvPr/>
        </p:nvSpPr>
        <p:spPr>
          <a:xfrm>
            <a:off x="7287768" y="1298448"/>
            <a:ext cx="899770" cy="292608"/>
          </a:xfrm>
          <a:prstGeom prst="rect">
            <a:avLst/>
          </a:prstGeom>
          <a:solidFill>
            <a:srgbClr val="10233A"/>
          </a:solidFill>
          <a:ln/>
        </p:spPr>
      </p:sp>
      <p:sp>
        <p:nvSpPr>
          <p:cNvPr id="20" name="Text 18"/>
          <p:cNvSpPr txBox="1"/>
          <p:nvPr/>
        </p:nvSpPr>
        <p:spPr>
          <a:xfrm>
            <a:off x="7351776"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FY32</a:t>
            </a:r>
            <a:endParaRPr lang="en-US" sz="800" dirty="0"/>
          </a:p>
        </p:txBody>
      </p:sp>
      <p:sp>
        <p:nvSpPr>
          <p:cNvPr id="21" name="Shape 19"/>
          <p:cNvSpPr/>
          <p:nvPr/>
        </p:nvSpPr>
        <p:spPr>
          <a:xfrm>
            <a:off x="8187538" y="1298448"/>
            <a:ext cx="899770" cy="292608"/>
          </a:xfrm>
          <a:prstGeom prst="rect">
            <a:avLst/>
          </a:prstGeom>
          <a:solidFill>
            <a:srgbClr val="10233A"/>
          </a:solidFill>
          <a:ln/>
        </p:spPr>
      </p:sp>
      <p:sp>
        <p:nvSpPr>
          <p:cNvPr id="22" name="Text 20"/>
          <p:cNvSpPr txBox="1"/>
          <p:nvPr/>
        </p:nvSpPr>
        <p:spPr>
          <a:xfrm>
            <a:off x="8251546"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FY33</a:t>
            </a:r>
            <a:endParaRPr lang="en-US" sz="800" dirty="0"/>
          </a:p>
        </p:txBody>
      </p:sp>
      <p:sp>
        <p:nvSpPr>
          <p:cNvPr id="23" name="Shape 21"/>
          <p:cNvSpPr/>
          <p:nvPr/>
        </p:nvSpPr>
        <p:spPr>
          <a:xfrm>
            <a:off x="9087307" y="1298448"/>
            <a:ext cx="899770" cy="292608"/>
          </a:xfrm>
          <a:prstGeom prst="rect">
            <a:avLst/>
          </a:prstGeom>
          <a:solidFill>
            <a:srgbClr val="10233A"/>
          </a:solidFill>
          <a:ln/>
        </p:spPr>
      </p:sp>
      <p:sp>
        <p:nvSpPr>
          <p:cNvPr id="24" name="Text 22"/>
          <p:cNvSpPr txBox="1"/>
          <p:nvPr/>
        </p:nvSpPr>
        <p:spPr>
          <a:xfrm>
            <a:off x="9151315"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FY34</a:t>
            </a:r>
            <a:endParaRPr lang="en-US" sz="800" dirty="0"/>
          </a:p>
        </p:txBody>
      </p:sp>
      <p:sp>
        <p:nvSpPr>
          <p:cNvPr id="25" name="Shape 23"/>
          <p:cNvSpPr/>
          <p:nvPr/>
        </p:nvSpPr>
        <p:spPr>
          <a:xfrm>
            <a:off x="9987077" y="1298448"/>
            <a:ext cx="899770" cy="292608"/>
          </a:xfrm>
          <a:prstGeom prst="rect">
            <a:avLst/>
          </a:prstGeom>
          <a:solidFill>
            <a:srgbClr val="10233A"/>
          </a:solidFill>
          <a:ln/>
        </p:spPr>
      </p:sp>
      <p:sp>
        <p:nvSpPr>
          <p:cNvPr id="26" name="Text 24"/>
          <p:cNvSpPr txBox="1"/>
          <p:nvPr/>
        </p:nvSpPr>
        <p:spPr>
          <a:xfrm>
            <a:off x="10051085"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FY35</a:t>
            </a:r>
            <a:endParaRPr lang="en-US" sz="800" dirty="0"/>
          </a:p>
        </p:txBody>
      </p:sp>
      <p:sp>
        <p:nvSpPr>
          <p:cNvPr id="27" name="Shape 25"/>
          <p:cNvSpPr/>
          <p:nvPr/>
        </p:nvSpPr>
        <p:spPr>
          <a:xfrm>
            <a:off x="10886846" y="1298448"/>
            <a:ext cx="899770" cy="292608"/>
          </a:xfrm>
          <a:prstGeom prst="rect">
            <a:avLst/>
          </a:prstGeom>
          <a:solidFill>
            <a:srgbClr val="10233A"/>
          </a:solidFill>
          <a:ln/>
        </p:spPr>
      </p:sp>
      <p:sp>
        <p:nvSpPr>
          <p:cNvPr id="28" name="Text 26"/>
          <p:cNvSpPr txBox="1"/>
          <p:nvPr/>
        </p:nvSpPr>
        <p:spPr>
          <a:xfrm>
            <a:off x="10950854"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FY36</a:t>
            </a:r>
            <a:endParaRPr lang="en-US" sz="800" dirty="0"/>
          </a:p>
        </p:txBody>
      </p:sp>
      <p:sp>
        <p:nvSpPr>
          <p:cNvPr id="29" name="Shape 27"/>
          <p:cNvSpPr/>
          <p:nvPr/>
        </p:nvSpPr>
        <p:spPr>
          <a:xfrm>
            <a:off x="411480" y="1591056"/>
            <a:ext cx="2377440" cy="246888"/>
          </a:xfrm>
          <a:prstGeom prst="rect">
            <a:avLst/>
          </a:prstGeom>
          <a:solidFill>
            <a:srgbClr val="FFFFFF"/>
          </a:solidFill>
          <a:ln w="6350">
            <a:solidFill>
              <a:srgbClr val="D3DCE5"/>
            </a:solidFill>
            <a:prstDash val="solid"/>
          </a:ln>
        </p:spPr>
      </p:sp>
      <p:sp>
        <p:nvSpPr>
          <p:cNvPr id="30" name="Text 28"/>
          <p:cNvSpPr txBox="1"/>
          <p:nvPr/>
        </p:nvSpPr>
        <p:spPr>
          <a:xfrm>
            <a:off x="475488" y="1591056"/>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Concentrate sold (kt)</a:t>
            </a:r>
            <a:endParaRPr lang="en-US" sz="820" dirty="0"/>
          </a:p>
        </p:txBody>
      </p:sp>
      <p:sp>
        <p:nvSpPr>
          <p:cNvPr id="31" name="Shape 29"/>
          <p:cNvSpPr/>
          <p:nvPr/>
        </p:nvSpPr>
        <p:spPr>
          <a:xfrm>
            <a:off x="2788920" y="1591056"/>
            <a:ext cx="899770" cy="246888"/>
          </a:xfrm>
          <a:prstGeom prst="rect">
            <a:avLst/>
          </a:prstGeom>
          <a:solidFill>
            <a:srgbClr val="FFFFFF"/>
          </a:solidFill>
          <a:ln w="6350">
            <a:solidFill>
              <a:srgbClr val="D3DCE5"/>
            </a:solidFill>
            <a:prstDash val="solid"/>
          </a:ln>
        </p:spPr>
      </p:sp>
      <p:sp>
        <p:nvSpPr>
          <p:cNvPr id="32" name="Text 30"/>
          <p:cNvSpPr txBox="1"/>
          <p:nvPr/>
        </p:nvSpPr>
        <p:spPr>
          <a:xfrm>
            <a:off x="2852928"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1,030</a:t>
            </a:r>
            <a:endParaRPr lang="en-US" sz="820" dirty="0"/>
          </a:p>
        </p:txBody>
      </p:sp>
      <p:sp>
        <p:nvSpPr>
          <p:cNvPr id="33" name="Shape 31"/>
          <p:cNvSpPr/>
          <p:nvPr/>
        </p:nvSpPr>
        <p:spPr>
          <a:xfrm>
            <a:off x="3688690" y="1591056"/>
            <a:ext cx="899770" cy="246888"/>
          </a:xfrm>
          <a:prstGeom prst="rect">
            <a:avLst/>
          </a:prstGeom>
          <a:solidFill>
            <a:srgbClr val="FFFFFF"/>
          </a:solidFill>
          <a:ln w="6350">
            <a:solidFill>
              <a:srgbClr val="D3DCE5"/>
            </a:solidFill>
            <a:prstDash val="solid"/>
          </a:ln>
        </p:spPr>
      </p:sp>
      <p:sp>
        <p:nvSpPr>
          <p:cNvPr id="34" name="Text 32"/>
          <p:cNvSpPr txBox="1"/>
          <p:nvPr/>
        </p:nvSpPr>
        <p:spPr>
          <a:xfrm>
            <a:off x="3752698"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1,050</a:t>
            </a:r>
            <a:endParaRPr lang="en-US" sz="820" dirty="0"/>
          </a:p>
        </p:txBody>
      </p:sp>
      <p:sp>
        <p:nvSpPr>
          <p:cNvPr id="35" name="Shape 33"/>
          <p:cNvSpPr/>
          <p:nvPr/>
        </p:nvSpPr>
        <p:spPr>
          <a:xfrm>
            <a:off x="4588459" y="1591056"/>
            <a:ext cx="899770" cy="246888"/>
          </a:xfrm>
          <a:prstGeom prst="rect">
            <a:avLst/>
          </a:prstGeom>
          <a:solidFill>
            <a:srgbClr val="FFFFFF"/>
          </a:solidFill>
          <a:ln w="6350">
            <a:solidFill>
              <a:srgbClr val="D3DCE5"/>
            </a:solidFill>
            <a:prstDash val="solid"/>
          </a:ln>
        </p:spPr>
      </p:sp>
      <p:sp>
        <p:nvSpPr>
          <p:cNvPr id="36" name="Text 34"/>
          <p:cNvSpPr txBox="1"/>
          <p:nvPr/>
        </p:nvSpPr>
        <p:spPr>
          <a:xfrm>
            <a:off x="4652467"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1,030</a:t>
            </a:r>
            <a:endParaRPr lang="en-US" sz="820" dirty="0"/>
          </a:p>
        </p:txBody>
      </p:sp>
      <p:sp>
        <p:nvSpPr>
          <p:cNvPr id="37" name="Shape 35"/>
          <p:cNvSpPr/>
          <p:nvPr/>
        </p:nvSpPr>
        <p:spPr>
          <a:xfrm>
            <a:off x="5488229" y="1591056"/>
            <a:ext cx="899770" cy="246888"/>
          </a:xfrm>
          <a:prstGeom prst="rect">
            <a:avLst/>
          </a:prstGeom>
          <a:solidFill>
            <a:srgbClr val="FFFFFF"/>
          </a:solidFill>
          <a:ln w="6350">
            <a:solidFill>
              <a:srgbClr val="D3DCE5"/>
            </a:solidFill>
            <a:prstDash val="solid"/>
          </a:ln>
        </p:spPr>
      </p:sp>
      <p:sp>
        <p:nvSpPr>
          <p:cNvPr id="38" name="Text 36"/>
          <p:cNvSpPr txBox="1"/>
          <p:nvPr/>
        </p:nvSpPr>
        <p:spPr>
          <a:xfrm>
            <a:off x="5552237"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990</a:t>
            </a:r>
            <a:endParaRPr lang="en-US" sz="820" dirty="0"/>
          </a:p>
        </p:txBody>
      </p:sp>
      <p:sp>
        <p:nvSpPr>
          <p:cNvPr id="39" name="Shape 37"/>
          <p:cNvSpPr/>
          <p:nvPr/>
        </p:nvSpPr>
        <p:spPr>
          <a:xfrm>
            <a:off x="6387998" y="1591056"/>
            <a:ext cx="899770" cy="246888"/>
          </a:xfrm>
          <a:prstGeom prst="rect">
            <a:avLst/>
          </a:prstGeom>
          <a:solidFill>
            <a:srgbClr val="FFFFFF"/>
          </a:solidFill>
          <a:ln w="6350">
            <a:solidFill>
              <a:srgbClr val="D3DCE5"/>
            </a:solidFill>
            <a:prstDash val="solid"/>
          </a:ln>
        </p:spPr>
      </p:sp>
      <p:sp>
        <p:nvSpPr>
          <p:cNvPr id="40" name="Text 38"/>
          <p:cNvSpPr txBox="1"/>
          <p:nvPr/>
        </p:nvSpPr>
        <p:spPr>
          <a:xfrm>
            <a:off x="6452006"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980</a:t>
            </a:r>
            <a:endParaRPr lang="en-US" sz="820" dirty="0"/>
          </a:p>
        </p:txBody>
      </p:sp>
      <p:sp>
        <p:nvSpPr>
          <p:cNvPr id="41" name="Shape 39"/>
          <p:cNvSpPr/>
          <p:nvPr/>
        </p:nvSpPr>
        <p:spPr>
          <a:xfrm>
            <a:off x="7287768" y="1591056"/>
            <a:ext cx="899770" cy="246888"/>
          </a:xfrm>
          <a:prstGeom prst="rect">
            <a:avLst/>
          </a:prstGeom>
          <a:solidFill>
            <a:srgbClr val="FFFFFF"/>
          </a:solidFill>
          <a:ln w="6350">
            <a:solidFill>
              <a:srgbClr val="D3DCE5"/>
            </a:solidFill>
            <a:prstDash val="solid"/>
          </a:ln>
        </p:spPr>
      </p:sp>
      <p:sp>
        <p:nvSpPr>
          <p:cNvPr id="42" name="Text 40"/>
          <p:cNvSpPr txBox="1"/>
          <p:nvPr/>
        </p:nvSpPr>
        <p:spPr>
          <a:xfrm>
            <a:off x="7351776"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1,000</a:t>
            </a:r>
            <a:endParaRPr lang="en-US" sz="820" dirty="0"/>
          </a:p>
        </p:txBody>
      </p:sp>
      <p:sp>
        <p:nvSpPr>
          <p:cNvPr id="43" name="Shape 41"/>
          <p:cNvSpPr/>
          <p:nvPr/>
        </p:nvSpPr>
        <p:spPr>
          <a:xfrm>
            <a:off x="8187538" y="1591056"/>
            <a:ext cx="899770" cy="246888"/>
          </a:xfrm>
          <a:prstGeom prst="rect">
            <a:avLst/>
          </a:prstGeom>
          <a:solidFill>
            <a:srgbClr val="FFFFFF"/>
          </a:solidFill>
          <a:ln w="6350">
            <a:solidFill>
              <a:srgbClr val="D3DCE5"/>
            </a:solidFill>
            <a:prstDash val="solid"/>
          </a:ln>
        </p:spPr>
      </p:sp>
      <p:sp>
        <p:nvSpPr>
          <p:cNvPr id="44" name="Text 42"/>
          <p:cNvSpPr txBox="1"/>
          <p:nvPr/>
        </p:nvSpPr>
        <p:spPr>
          <a:xfrm>
            <a:off x="8251546"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1,000</a:t>
            </a:r>
            <a:endParaRPr lang="en-US" sz="820" dirty="0"/>
          </a:p>
        </p:txBody>
      </p:sp>
      <p:sp>
        <p:nvSpPr>
          <p:cNvPr id="45" name="Shape 43"/>
          <p:cNvSpPr/>
          <p:nvPr/>
        </p:nvSpPr>
        <p:spPr>
          <a:xfrm>
            <a:off x="9087307" y="1591056"/>
            <a:ext cx="899770" cy="246888"/>
          </a:xfrm>
          <a:prstGeom prst="rect">
            <a:avLst/>
          </a:prstGeom>
          <a:solidFill>
            <a:srgbClr val="FFFFFF"/>
          </a:solidFill>
          <a:ln w="6350">
            <a:solidFill>
              <a:srgbClr val="D3DCE5"/>
            </a:solidFill>
            <a:prstDash val="solid"/>
          </a:ln>
        </p:spPr>
      </p:sp>
      <p:sp>
        <p:nvSpPr>
          <p:cNvPr id="46" name="Text 44"/>
          <p:cNvSpPr txBox="1"/>
          <p:nvPr/>
        </p:nvSpPr>
        <p:spPr>
          <a:xfrm>
            <a:off x="9151315"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1,010</a:t>
            </a:r>
            <a:endParaRPr lang="en-US" sz="820" dirty="0"/>
          </a:p>
        </p:txBody>
      </p:sp>
      <p:sp>
        <p:nvSpPr>
          <p:cNvPr id="47" name="Shape 45"/>
          <p:cNvSpPr/>
          <p:nvPr/>
        </p:nvSpPr>
        <p:spPr>
          <a:xfrm>
            <a:off x="9987077" y="1591056"/>
            <a:ext cx="899770" cy="246888"/>
          </a:xfrm>
          <a:prstGeom prst="rect">
            <a:avLst/>
          </a:prstGeom>
          <a:solidFill>
            <a:srgbClr val="FFFFFF"/>
          </a:solidFill>
          <a:ln w="6350">
            <a:solidFill>
              <a:srgbClr val="D3DCE5"/>
            </a:solidFill>
            <a:prstDash val="solid"/>
          </a:ln>
        </p:spPr>
      </p:sp>
      <p:sp>
        <p:nvSpPr>
          <p:cNvPr id="48" name="Text 46"/>
          <p:cNvSpPr txBox="1"/>
          <p:nvPr/>
        </p:nvSpPr>
        <p:spPr>
          <a:xfrm>
            <a:off x="10051085"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1,020</a:t>
            </a:r>
            <a:endParaRPr lang="en-US" sz="820" dirty="0"/>
          </a:p>
        </p:txBody>
      </p:sp>
      <p:sp>
        <p:nvSpPr>
          <p:cNvPr id="49" name="Shape 47"/>
          <p:cNvSpPr/>
          <p:nvPr/>
        </p:nvSpPr>
        <p:spPr>
          <a:xfrm>
            <a:off x="10886846" y="1591056"/>
            <a:ext cx="899770" cy="246888"/>
          </a:xfrm>
          <a:prstGeom prst="rect">
            <a:avLst/>
          </a:prstGeom>
          <a:solidFill>
            <a:srgbClr val="FFFFFF"/>
          </a:solidFill>
          <a:ln w="6350">
            <a:solidFill>
              <a:srgbClr val="D3DCE5"/>
            </a:solidFill>
            <a:prstDash val="solid"/>
          </a:ln>
        </p:spPr>
      </p:sp>
      <p:sp>
        <p:nvSpPr>
          <p:cNvPr id="50" name="Text 48"/>
          <p:cNvSpPr txBox="1"/>
          <p:nvPr/>
        </p:nvSpPr>
        <p:spPr>
          <a:xfrm>
            <a:off x="10950854"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1,020</a:t>
            </a:r>
            <a:endParaRPr lang="en-US" sz="820" dirty="0"/>
          </a:p>
        </p:txBody>
      </p:sp>
      <p:sp>
        <p:nvSpPr>
          <p:cNvPr id="51" name="Shape 49"/>
          <p:cNvSpPr/>
          <p:nvPr/>
        </p:nvSpPr>
        <p:spPr>
          <a:xfrm>
            <a:off x="411480" y="1837944"/>
            <a:ext cx="2377440" cy="246888"/>
          </a:xfrm>
          <a:prstGeom prst="rect">
            <a:avLst/>
          </a:prstGeom>
          <a:solidFill>
            <a:srgbClr val="F7F9FB"/>
          </a:solidFill>
          <a:ln w="6350">
            <a:solidFill>
              <a:srgbClr val="D3DCE5"/>
            </a:solidFill>
            <a:prstDash val="solid"/>
          </a:ln>
        </p:spPr>
      </p:sp>
      <p:sp>
        <p:nvSpPr>
          <p:cNvPr id="52" name="Text 50"/>
          <p:cNvSpPr txBox="1"/>
          <p:nvPr/>
        </p:nvSpPr>
        <p:spPr>
          <a:xfrm>
            <a:off x="475488" y="1837944"/>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Realised price (US$/t)</a:t>
            </a:r>
            <a:endParaRPr lang="en-US" sz="820" dirty="0"/>
          </a:p>
        </p:txBody>
      </p:sp>
      <p:sp>
        <p:nvSpPr>
          <p:cNvPr id="53" name="Shape 51"/>
          <p:cNvSpPr/>
          <p:nvPr/>
        </p:nvSpPr>
        <p:spPr>
          <a:xfrm>
            <a:off x="2788920" y="1837944"/>
            <a:ext cx="899770" cy="246888"/>
          </a:xfrm>
          <a:prstGeom prst="rect">
            <a:avLst/>
          </a:prstGeom>
          <a:solidFill>
            <a:srgbClr val="F7F9FB"/>
          </a:solidFill>
          <a:ln w="6350">
            <a:solidFill>
              <a:srgbClr val="D3DCE5"/>
            </a:solidFill>
            <a:prstDash val="solid"/>
          </a:ln>
        </p:spPr>
      </p:sp>
      <p:sp>
        <p:nvSpPr>
          <p:cNvPr id="54" name="Text 52"/>
          <p:cNvSpPr txBox="1"/>
          <p:nvPr/>
        </p:nvSpPr>
        <p:spPr>
          <a:xfrm>
            <a:off x="2852928"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1,350</a:t>
            </a:r>
            <a:endParaRPr lang="en-US" sz="820" dirty="0"/>
          </a:p>
        </p:txBody>
      </p:sp>
      <p:sp>
        <p:nvSpPr>
          <p:cNvPr id="55" name="Shape 53"/>
          <p:cNvSpPr/>
          <p:nvPr/>
        </p:nvSpPr>
        <p:spPr>
          <a:xfrm>
            <a:off x="3688690" y="1837944"/>
            <a:ext cx="899770" cy="246888"/>
          </a:xfrm>
          <a:prstGeom prst="rect">
            <a:avLst/>
          </a:prstGeom>
          <a:solidFill>
            <a:srgbClr val="F7F9FB"/>
          </a:solidFill>
          <a:ln w="6350">
            <a:solidFill>
              <a:srgbClr val="D3DCE5"/>
            </a:solidFill>
            <a:prstDash val="solid"/>
          </a:ln>
        </p:spPr>
      </p:sp>
      <p:sp>
        <p:nvSpPr>
          <p:cNvPr id="56" name="Text 54"/>
          <p:cNvSpPr txBox="1"/>
          <p:nvPr/>
        </p:nvSpPr>
        <p:spPr>
          <a:xfrm>
            <a:off x="3752698"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1,150</a:t>
            </a:r>
            <a:endParaRPr lang="en-US" sz="820" dirty="0"/>
          </a:p>
        </p:txBody>
      </p:sp>
      <p:sp>
        <p:nvSpPr>
          <p:cNvPr id="57" name="Shape 55"/>
          <p:cNvSpPr/>
          <p:nvPr/>
        </p:nvSpPr>
        <p:spPr>
          <a:xfrm>
            <a:off x="4588459" y="1837944"/>
            <a:ext cx="899770" cy="246888"/>
          </a:xfrm>
          <a:prstGeom prst="rect">
            <a:avLst/>
          </a:prstGeom>
          <a:solidFill>
            <a:srgbClr val="F7F9FB"/>
          </a:solidFill>
          <a:ln w="6350">
            <a:solidFill>
              <a:srgbClr val="D3DCE5"/>
            </a:solidFill>
            <a:prstDash val="solid"/>
          </a:ln>
        </p:spPr>
      </p:sp>
      <p:sp>
        <p:nvSpPr>
          <p:cNvPr id="58" name="Text 56"/>
          <p:cNvSpPr txBox="1"/>
          <p:nvPr/>
        </p:nvSpPr>
        <p:spPr>
          <a:xfrm>
            <a:off x="4652467"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1,050</a:t>
            </a:r>
            <a:endParaRPr lang="en-US" sz="820" dirty="0"/>
          </a:p>
        </p:txBody>
      </p:sp>
      <p:sp>
        <p:nvSpPr>
          <p:cNvPr id="59" name="Shape 57"/>
          <p:cNvSpPr/>
          <p:nvPr/>
        </p:nvSpPr>
        <p:spPr>
          <a:xfrm>
            <a:off x="5488229" y="1837944"/>
            <a:ext cx="899770" cy="246888"/>
          </a:xfrm>
          <a:prstGeom prst="rect">
            <a:avLst/>
          </a:prstGeom>
          <a:solidFill>
            <a:srgbClr val="F7F9FB"/>
          </a:solidFill>
          <a:ln w="6350">
            <a:solidFill>
              <a:srgbClr val="D3DCE5"/>
            </a:solidFill>
            <a:prstDash val="solid"/>
          </a:ln>
        </p:spPr>
      </p:sp>
      <p:sp>
        <p:nvSpPr>
          <p:cNvPr id="60" name="Text 58"/>
          <p:cNvSpPr txBox="1"/>
          <p:nvPr/>
        </p:nvSpPr>
        <p:spPr>
          <a:xfrm>
            <a:off x="5552237"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1,050</a:t>
            </a:r>
            <a:endParaRPr lang="en-US" sz="820" dirty="0"/>
          </a:p>
        </p:txBody>
      </p:sp>
      <p:sp>
        <p:nvSpPr>
          <p:cNvPr id="61" name="Shape 59"/>
          <p:cNvSpPr/>
          <p:nvPr/>
        </p:nvSpPr>
        <p:spPr>
          <a:xfrm>
            <a:off x="6387998" y="1837944"/>
            <a:ext cx="899770" cy="246888"/>
          </a:xfrm>
          <a:prstGeom prst="rect">
            <a:avLst/>
          </a:prstGeom>
          <a:solidFill>
            <a:srgbClr val="F7F9FB"/>
          </a:solidFill>
          <a:ln w="6350">
            <a:solidFill>
              <a:srgbClr val="D3DCE5"/>
            </a:solidFill>
            <a:prstDash val="solid"/>
          </a:ln>
        </p:spPr>
      </p:sp>
      <p:sp>
        <p:nvSpPr>
          <p:cNvPr id="62" name="Text 60"/>
          <p:cNvSpPr txBox="1"/>
          <p:nvPr/>
        </p:nvSpPr>
        <p:spPr>
          <a:xfrm>
            <a:off x="6452006"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1,150</a:t>
            </a:r>
            <a:endParaRPr lang="en-US" sz="820" dirty="0"/>
          </a:p>
        </p:txBody>
      </p:sp>
      <p:sp>
        <p:nvSpPr>
          <p:cNvPr id="63" name="Shape 61"/>
          <p:cNvSpPr/>
          <p:nvPr/>
        </p:nvSpPr>
        <p:spPr>
          <a:xfrm>
            <a:off x="7287768" y="1837944"/>
            <a:ext cx="899770" cy="246888"/>
          </a:xfrm>
          <a:prstGeom prst="rect">
            <a:avLst/>
          </a:prstGeom>
          <a:solidFill>
            <a:srgbClr val="F7F9FB"/>
          </a:solidFill>
          <a:ln w="6350">
            <a:solidFill>
              <a:srgbClr val="D3DCE5"/>
            </a:solidFill>
            <a:prstDash val="solid"/>
          </a:ln>
        </p:spPr>
      </p:sp>
      <p:sp>
        <p:nvSpPr>
          <p:cNvPr id="64" name="Text 62"/>
          <p:cNvSpPr txBox="1"/>
          <p:nvPr/>
        </p:nvSpPr>
        <p:spPr>
          <a:xfrm>
            <a:off x="7351776"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1,250</a:t>
            </a:r>
            <a:endParaRPr lang="en-US" sz="820" dirty="0"/>
          </a:p>
        </p:txBody>
      </p:sp>
      <p:sp>
        <p:nvSpPr>
          <p:cNvPr id="65" name="Shape 63"/>
          <p:cNvSpPr/>
          <p:nvPr/>
        </p:nvSpPr>
        <p:spPr>
          <a:xfrm>
            <a:off x="8187538" y="1837944"/>
            <a:ext cx="899770" cy="246888"/>
          </a:xfrm>
          <a:prstGeom prst="rect">
            <a:avLst/>
          </a:prstGeom>
          <a:solidFill>
            <a:srgbClr val="F7F9FB"/>
          </a:solidFill>
          <a:ln w="6350">
            <a:solidFill>
              <a:srgbClr val="D3DCE5"/>
            </a:solidFill>
            <a:prstDash val="solid"/>
          </a:ln>
        </p:spPr>
      </p:sp>
      <p:sp>
        <p:nvSpPr>
          <p:cNvPr id="66" name="Text 64"/>
          <p:cNvSpPr txBox="1"/>
          <p:nvPr/>
        </p:nvSpPr>
        <p:spPr>
          <a:xfrm>
            <a:off x="8251546"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1,350</a:t>
            </a:r>
            <a:endParaRPr lang="en-US" sz="820" dirty="0"/>
          </a:p>
        </p:txBody>
      </p:sp>
      <p:sp>
        <p:nvSpPr>
          <p:cNvPr id="67" name="Shape 65"/>
          <p:cNvSpPr/>
          <p:nvPr/>
        </p:nvSpPr>
        <p:spPr>
          <a:xfrm>
            <a:off x="9087307" y="1837944"/>
            <a:ext cx="899770" cy="246888"/>
          </a:xfrm>
          <a:prstGeom prst="rect">
            <a:avLst/>
          </a:prstGeom>
          <a:solidFill>
            <a:srgbClr val="F7F9FB"/>
          </a:solidFill>
          <a:ln w="6350">
            <a:solidFill>
              <a:srgbClr val="D3DCE5"/>
            </a:solidFill>
            <a:prstDash val="solid"/>
          </a:ln>
        </p:spPr>
      </p:sp>
      <p:sp>
        <p:nvSpPr>
          <p:cNvPr id="68" name="Text 66"/>
          <p:cNvSpPr txBox="1"/>
          <p:nvPr/>
        </p:nvSpPr>
        <p:spPr>
          <a:xfrm>
            <a:off x="9151315"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1,450</a:t>
            </a:r>
            <a:endParaRPr lang="en-US" sz="820" dirty="0"/>
          </a:p>
        </p:txBody>
      </p:sp>
      <p:sp>
        <p:nvSpPr>
          <p:cNvPr id="69" name="Shape 67"/>
          <p:cNvSpPr/>
          <p:nvPr/>
        </p:nvSpPr>
        <p:spPr>
          <a:xfrm>
            <a:off x="9987077" y="1837944"/>
            <a:ext cx="899770" cy="246888"/>
          </a:xfrm>
          <a:prstGeom prst="rect">
            <a:avLst/>
          </a:prstGeom>
          <a:solidFill>
            <a:srgbClr val="F7F9FB"/>
          </a:solidFill>
          <a:ln w="6350">
            <a:solidFill>
              <a:srgbClr val="D3DCE5"/>
            </a:solidFill>
            <a:prstDash val="solid"/>
          </a:ln>
        </p:spPr>
      </p:sp>
      <p:sp>
        <p:nvSpPr>
          <p:cNvPr id="70" name="Text 68"/>
          <p:cNvSpPr txBox="1"/>
          <p:nvPr/>
        </p:nvSpPr>
        <p:spPr>
          <a:xfrm>
            <a:off x="10051085"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1,500</a:t>
            </a:r>
            <a:endParaRPr lang="en-US" sz="820" dirty="0"/>
          </a:p>
        </p:txBody>
      </p:sp>
      <p:sp>
        <p:nvSpPr>
          <p:cNvPr id="71" name="Shape 69"/>
          <p:cNvSpPr/>
          <p:nvPr/>
        </p:nvSpPr>
        <p:spPr>
          <a:xfrm>
            <a:off x="10886846" y="1837944"/>
            <a:ext cx="899770" cy="246888"/>
          </a:xfrm>
          <a:prstGeom prst="rect">
            <a:avLst/>
          </a:prstGeom>
          <a:solidFill>
            <a:srgbClr val="F7F9FB"/>
          </a:solidFill>
          <a:ln w="6350">
            <a:solidFill>
              <a:srgbClr val="D3DCE5"/>
            </a:solidFill>
            <a:prstDash val="solid"/>
          </a:ln>
        </p:spPr>
      </p:sp>
      <p:sp>
        <p:nvSpPr>
          <p:cNvPr id="72" name="Text 70"/>
          <p:cNvSpPr txBox="1"/>
          <p:nvPr/>
        </p:nvSpPr>
        <p:spPr>
          <a:xfrm>
            <a:off x="10950854"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1,550</a:t>
            </a:r>
            <a:endParaRPr lang="en-US" sz="820" dirty="0"/>
          </a:p>
        </p:txBody>
      </p:sp>
      <p:sp>
        <p:nvSpPr>
          <p:cNvPr id="73" name="Shape 71"/>
          <p:cNvSpPr/>
          <p:nvPr/>
        </p:nvSpPr>
        <p:spPr>
          <a:xfrm>
            <a:off x="411480" y="2084832"/>
            <a:ext cx="2377440" cy="246888"/>
          </a:xfrm>
          <a:prstGeom prst="rect">
            <a:avLst/>
          </a:prstGeom>
          <a:solidFill>
            <a:srgbClr val="FFFFFF"/>
          </a:solidFill>
          <a:ln w="6350">
            <a:solidFill>
              <a:srgbClr val="D3DCE5"/>
            </a:solidFill>
            <a:prstDash val="solid"/>
          </a:ln>
        </p:spPr>
      </p:sp>
      <p:sp>
        <p:nvSpPr>
          <p:cNvPr id="74" name="Text 72"/>
          <p:cNvSpPr txBox="1"/>
          <p:nvPr/>
        </p:nvSpPr>
        <p:spPr>
          <a:xfrm>
            <a:off x="475488" y="2084832"/>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Unit cost (A$/t)</a:t>
            </a:r>
            <a:endParaRPr lang="en-US" sz="820" dirty="0"/>
          </a:p>
        </p:txBody>
      </p:sp>
      <p:sp>
        <p:nvSpPr>
          <p:cNvPr id="75" name="Shape 73"/>
          <p:cNvSpPr/>
          <p:nvPr/>
        </p:nvSpPr>
        <p:spPr>
          <a:xfrm>
            <a:off x="2788920" y="2084832"/>
            <a:ext cx="899770" cy="246888"/>
          </a:xfrm>
          <a:prstGeom prst="rect">
            <a:avLst/>
          </a:prstGeom>
          <a:solidFill>
            <a:srgbClr val="FFFFFF"/>
          </a:solidFill>
          <a:ln w="6350">
            <a:solidFill>
              <a:srgbClr val="D3DCE5"/>
            </a:solidFill>
            <a:prstDash val="solid"/>
          </a:ln>
        </p:spPr>
      </p:sp>
      <p:sp>
        <p:nvSpPr>
          <p:cNvPr id="76" name="Text 74"/>
          <p:cNvSpPr txBox="1"/>
          <p:nvPr/>
        </p:nvSpPr>
        <p:spPr>
          <a:xfrm>
            <a:off x="2852928"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625</a:t>
            </a:r>
            <a:endParaRPr lang="en-US" sz="820" dirty="0"/>
          </a:p>
        </p:txBody>
      </p:sp>
      <p:sp>
        <p:nvSpPr>
          <p:cNvPr id="77" name="Shape 75"/>
          <p:cNvSpPr/>
          <p:nvPr/>
        </p:nvSpPr>
        <p:spPr>
          <a:xfrm>
            <a:off x="3688690" y="2084832"/>
            <a:ext cx="899770" cy="246888"/>
          </a:xfrm>
          <a:prstGeom prst="rect">
            <a:avLst/>
          </a:prstGeom>
          <a:solidFill>
            <a:srgbClr val="FFFFFF"/>
          </a:solidFill>
          <a:ln w="6350">
            <a:solidFill>
              <a:srgbClr val="D3DCE5"/>
            </a:solidFill>
            <a:prstDash val="solid"/>
          </a:ln>
        </p:spPr>
      </p:sp>
      <p:sp>
        <p:nvSpPr>
          <p:cNvPr id="78" name="Text 76"/>
          <p:cNvSpPr txBox="1"/>
          <p:nvPr/>
        </p:nvSpPr>
        <p:spPr>
          <a:xfrm>
            <a:off x="3752698"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645</a:t>
            </a:r>
            <a:endParaRPr lang="en-US" sz="820" dirty="0"/>
          </a:p>
        </p:txBody>
      </p:sp>
      <p:sp>
        <p:nvSpPr>
          <p:cNvPr id="79" name="Shape 77"/>
          <p:cNvSpPr/>
          <p:nvPr/>
        </p:nvSpPr>
        <p:spPr>
          <a:xfrm>
            <a:off x="4588459" y="2084832"/>
            <a:ext cx="899770" cy="246888"/>
          </a:xfrm>
          <a:prstGeom prst="rect">
            <a:avLst/>
          </a:prstGeom>
          <a:solidFill>
            <a:srgbClr val="FFFFFF"/>
          </a:solidFill>
          <a:ln w="6350">
            <a:solidFill>
              <a:srgbClr val="D3DCE5"/>
            </a:solidFill>
            <a:prstDash val="solid"/>
          </a:ln>
        </p:spPr>
      </p:sp>
      <p:sp>
        <p:nvSpPr>
          <p:cNvPr id="80" name="Text 78"/>
          <p:cNvSpPr txBox="1"/>
          <p:nvPr/>
        </p:nvSpPr>
        <p:spPr>
          <a:xfrm>
            <a:off x="4652467"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655</a:t>
            </a:r>
            <a:endParaRPr lang="en-US" sz="820" dirty="0"/>
          </a:p>
        </p:txBody>
      </p:sp>
      <p:sp>
        <p:nvSpPr>
          <p:cNvPr id="81" name="Shape 79"/>
          <p:cNvSpPr/>
          <p:nvPr/>
        </p:nvSpPr>
        <p:spPr>
          <a:xfrm>
            <a:off x="5488229" y="2084832"/>
            <a:ext cx="899770" cy="246888"/>
          </a:xfrm>
          <a:prstGeom prst="rect">
            <a:avLst/>
          </a:prstGeom>
          <a:solidFill>
            <a:srgbClr val="FFFFFF"/>
          </a:solidFill>
          <a:ln w="6350">
            <a:solidFill>
              <a:srgbClr val="D3DCE5"/>
            </a:solidFill>
            <a:prstDash val="solid"/>
          </a:ln>
        </p:spPr>
      </p:sp>
      <p:sp>
        <p:nvSpPr>
          <p:cNvPr id="82" name="Text 80"/>
          <p:cNvSpPr txBox="1"/>
          <p:nvPr/>
        </p:nvSpPr>
        <p:spPr>
          <a:xfrm>
            <a:off x="5552237"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640</a:t>
            </a:r>
            <a:endParaRPr lang="en-US" sz="820" dirty="0"/>
          </a:p>
        </p:txBody>
      </p:sp>
      <p:sp>
        <p:nvSpPr>
          <p:cNvPr id="83" name="Shape 81"/>
          <p:cNvSpPr/>
          <p:nvPr/>
        </p:nvSpPr>
        <p:spPr>
          <a:xfrm>
            <a:off x="6387998" y="2084832"/>
            <a:ext cx="899770" cy="246888"/>
          </a:xfrm>
          <a:prstGeom prst="rect">
            <a:avLst/>
          </a:prstGeom>
          <a:solidFill>
            <a:srgbClr val="FFFFFF"/>
          </a:solidFill>
          <a:ln w="6350">
            <a:solidFill>
              <a:srgbClr val="D3DCE5"/>
            </a:solidFill>
            <a:prstDash val="solid"/>
          </a:ln>
        </p:spPr>
      </p:sp>
      <p:sp>
        <p:nvSpPr>
          <p:cNvPr id="84" name="Text 82"/>
          <p:cNvSpPr txBox="1"/>
          <p:nvPr/>
        </p:nvSpPr>
        <p:spPr>
          <a:xfrm>
            <a:off x="6452006"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625</a:t>
            </a:r>
            <a:endParaRPr lang="en-US" sz="820" dirty="0"/>
          </a:p>
        </p:txBody>
      </p:sp>
      <p:sp>
        <p:nvSpPr>
          <p:cNvPr id="85" name="Shape 83"/>
          <p:cNvSpPr/>
          <p:nvPr/>
        </p:nvSpPr>
        <p:spPr>
          <a:xfrm>
            <a:off x="7287768" y="2084832"/>
            <a:ext cx="899770" cy="246888"/>
          </a:xfrm>
          <a:prstGeom prst="rect">
            <a:avLst/>
          </a:prstGeom>
          <a:solidFill>
            <a:srgbClr val="FFFFFF"/>
          </a:solidFill>
          <a:ln w="6350">
            <a:solidFill>
              <a:srgbClr val="D3DCE5"/>
            </a:solidFill>
            <a:prstDash val="solid"/>
          </a:ln>
        </p:spPr>
      </p:sp>
      <p:sp>
        <p:nvSpPr>
          <p:cNvPr id="86" name="Text 84"/>
          <p:cNvSpPr txBox="1"/>
          <p:nvPr/>
        </p:nvSpPr>
        <p:spPr>
          <a:xfrm>
            <a:off x="7351776"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615</a:t>
            </a:r>
            <a:endParaRPr lang="en-US" sz="820" dirty="0"/>
          </a:p>
        </p:txBody>
      </p:sp>
      <p:sp>
        <p:nvSpPr>
          <p:cNvPr id="87" name="Shape 85"/>
          <p:cNvSpPr/>
          <p:nvPr/>
        </p:nvSpPr>
        <p:spPr>
          <a:xfrm>
            <a:off x="8187538" y="2084832"/>
            <a:ext cx="899770" cy="246888"/>
          </a:xfrm>
          <a:prstGeom prst="rect">
            <a:avLst/>
          </a:prstGeom>
          <a:solidFill>
            <a:srgbClr val="FFFFFF"/>
          </a:solidFill>
          <a:ln w="6350">
            <a:solidFill>
              <a:srgbClr val="D3DCE5"/>
            </a:solidFill>
            <a:prstDash val="solid"/>
          </a:ln>
        </p:spPr>
      </p:sp>
      <p:sp>
        <p:nvSpPr>
          <p:cNvPr id="88" name="Text 86"/>
          <p:cNvSpPr txBox="1"/>
          <p:nvPr/>
        </p:nvSpPr>
        <p:spPr>
          <a:xfrm>
            <a:off x="8251546"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610</a:t>
            </a:r>
            <a:endParaRPr lang="en-US" sz="820" dirty="0"/>
          </a:p>
        </p:txBody>
      </p:sp>
      <p:sp>
        <p:nvSpPr>
          <p:cNvPr id="89" name="Shape 87"/>
          <p:cNvSpPr/>
          <p:nvPr/>
        </p:nvSpPr>
        <p:spPr>
          <a:xfrm>
            <a:off x="9087307" y="2084832"/>
            <a:ext cx="899770" cy="246888"/>
          </a:xfrm>
          <a:prstGeom prst="rect">
            <a:avLst/>
          </a:prstGeom>
          <a:solidFill>
            <a:srgbClr val="FFFFFF"/>
          </a:solidFill>
          <a:ln w="6350">
            <a:solidFill>
              <a:srgbClr val="D3DCE5"/>
            </a:solidFill>
            <a:prstDash val="solid"/>
          </a:ln>
        </p:spPr>
      </p:sp>
      <p:sp>
        <p:nvSpPr>
          <p:cNvPr id="90" name="Text 88"/>
          <p:cNvSpPr txBox="1"/>
          <p:nvPr/>
        </p:nvSpPr>
        <p:spPr>
          <a:xfrm>
            <a:off x="9151315"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610</a:t>
            </a:r>
            <a:endParaRPr lang="en-US" sz="820" dirty="0"/>
          </a:p>
        </p:txBody>
      </p:sp>
      <p:sp>
        <p:nvSpPr>
          <p:cNvPr id="91" name="Shape 89"/>
          <p:cNvSpPr/>
          <p:nvPr/>
        </p:nvSpPr>
        <p:spPr>
          <a:xfrm>
            <a:off x="9987077" y="2084832"/>
            <a:ext cx="899770" cy="246888"/>
          </a:xfrm>
          <a:prstGeom prst="rect">
            <a:avLst/>
          </a:prstGeom>
          <a:solidFill>
            <a:srgbClr val="FFFFFF"/>
          </a:solidFill>
          <a:ln w="6350">
            <a:solidFill>
              <a:srgbClr val="D3DCE5"/>
            </a:solidFill>
            <a:prstDash val="solid"/>
          </a:ln>
        </p:spPr>
      </p:sp>
      <p:sp>
        <p:nvSpPr>
          <p:cNvPr id="92" name="Text 90"/>
          <p:cNvSpPr txBox="1"/>
          <p:nvPr/>
        </p:nvSpPr>
        <p:spPr>
          <a:xfrm>
            <a:off x="10051085"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610</a:t>
            </a:r>
            <a:endParaRPr lang="en-US" sz="820" dirty="0"/>
          </a:p>
        </p:txBody>
      </p:sp>
      <p:sp>
        <p:nvSpPr>
          <p:cNvPr id="93" name="Shape 91"/>
          <p:cNvSpPr/>
          <p:nvPr/>
        </p:nvSpPr>
        <p:spPr>
          <a:xfrm>
            <a:off x="10886846" y="2084832"/>
            <a:ext cx="899770" cy="246888"/>
          </a:xfrm>
          <a:prstGeom prst="rect">
            <a:avLst/>
          </a:prstGeom>
          <a:solidFill>
            <a:srgbClr val="FFFFFF"/>
          </a:solidFill>
          <a:ln w="6350">
            <a:solidFill>
              <a:srgbClr val="D3DCE5"/>
            </a:solidFill>
            <a:prstDash val="solid"/>
          </a:ln>
        </p:spPr>
      </p:sp>
      <p:sp>
        <p:nvSpPr>
          <p:cNvPr id="94" name="Text 92"/>
          <p:cNvSpPr txBox="1"/>
          <p:nvPr/>
        </p:nvSpPr>
        <p:spPr>
          <a:xfrm>
            <a:off x="10950854"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610</a:t>
            </a:r>
            <a:endParaRPr lang="en-US" sz="820" dirty="0"/>
          </a:p>
        </p:txBody>
      </p:sp>
      <p:sp>
        <p:nvSpPr>
          <p:cNvPr id="95" name="Shape 93"/>
          <p:cNvSpPr/>
          <p:nvPr/>
        </p:nvSpPr>
        <p:spPr>
          <a:xfrm>
            <a:off x="411480" y="2331720"/>
            <a:ext cx="2377440" cy="246888"/>
          </a:xfrm>
          <a:prstGeom prst="rect">
            <a:avLst/>
          </a:prstGeom>
          <a:solidFill>
            <a:srgbClr val="F7F9FB"/>
          </a:solidFill>
          <a:ln w="6350">
            <a:solidFill>
              <a:srgbClr val="D3DCE5"/>
            </a:solidFill>
            <a:prstDash val="solid"/>
          </a:ln>
        </p:spPr>
      </p:sp>
      <p:sp>
        <p:nvSpPr>
          <p:cNvPr id="96" name="Text 94"/>
          <p:cNvSpPr txBox="1"/>
          <p:nvPr/>
        </p:nvSpPr>
        <p:spPr>
          <a:xfrm>
            <a:off x="475488" y="2331720"/>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Capital expenditure (A$m)</a:t>
            </a:r>
            <a:endParaRPr lang="en-US" sz="820" dirty="0"/>
          </a:p>
        </p:txBody>
      </p:sp>
      <p:sp>
        <p:nvSpPr>
          <p:cNvPr id="97" name="Shape 95"/>
          <p:cNvSpPr/>
          <p:nvPr/>
        </p:nvSpPr>
        <p:spPr>
          <a:xfrm>
            <a:off x="2788920" y="2331720"/>
            <a:ext cx="899770" cy="246888"/>
          </a:xfrm>
          <a:prstGeom prst="rect">
            <a:avLst/>
          </a:prstGeom>
          <a:solidFill>
            <a:srgbClr val="F7F9FB"/>
          </a:solidFill>
          <a:ln w="6350">
            <a:solidFill>
              <a:srgbClr val="D3DCE5"/>
            </a:solidFill>
            <a:prstDash val="solid"/>
          </a:ln>
        </p:spPr>
      </p:sp>
      <p:sp>
        <p:nvSpPr>
          <p:cNvPr id="98" name="Text 96"/>
          <p:cNvSpPr txBox="1"/>
          <p:nvPr/>
        </p:nvSpPr>
        <p:spPr>
          <a:xfrm>
            <a:off x="2852928"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620</a:t>
            </a:r>
            <a:endParaRPr lang="en-US" sz="820" dirty="0"/>
          </a:p>
        </p:txBody>
      </p:sp>
      <p:sp>
        <p:nvSpPr>
          <p:cNvPr id="99" name="Shape 97"/>
          <p:cNvSpPr/>
          <p:nvPr/>
        </p:nvSpPr>
        <p:spPr>
          <a:xfrm>
            <a:off x="3688690" y="2331720"/>
            <a:ext cx="899770" cy="246888"/>
          </a:xfrm>
          <a:prstGeom prst="rect">
            <a:avLst/>
          </a:prstGeom>
          <a:solidFill>
            <a:srgbClr val="F7F9FB"/>
          </a:solidFill>
          <a:ln w="6350">
            <a:solidFill>
              <a:srgbClr val="D3DCE5"/>
            </a:solidFill>
            <a:prstDash val="solid"/>
          </a:ln>
        </p:spPr>
      </p:sp>
      <p:sp>
        <p:nvSpPr>
          <p:cNvPr id="100" name="Text 98"/>
          <p:cNvSpPr txBox="1"/>
          <p:nvPr/>
        </p:nvSpPr>
        <p:spPr>
          <a:xfrm>
            <a:off x="3752698"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400</a:t>
            </a:r>
            <a:endParaRPr lang="en-US" sz="820" dirty="0"/>
          </a:p>
        </p:txBody>
      </p:sp>
      <p:sp>
        <p:nvSpPr>
          <p:cNvPr id="101" name="Shape 99"/>
          <p:cNvSpPr/>
          <p:nvPr/>
        </p:nvSpPr>
        <p:spPr>
          <a:xfrm>
            <a:off x="4588459" y="2331720"/>
            <a:ext cx="899770" cy="246888"/>
          </a:xfrm>
          <a:prstGeom prst="rect">
            <a:avLst/>
          </a:prstGeom>
          <a:solidFill>
            <a:srgbClr val="F7F9FB"/>
          </a:solidFill>
          <a:ln w="6350">
            <a:solidFill>
              <a:srgbClr val="D3DCE5"/>
            </a:solidFill>
            <a:prstDash val="solid"/>
          </a:ln>
        </p:spPr>
      </p:sp>
      <p:sp>
        <p:nvSpPr>
          <p:cNvPr id="102" name="Text 100"/>
          <p:cNvSpPr txBox="1"/>
          <p:nvPr/>
        </p:nvSpPr>
        <p:spPr>
          <a:xfrm>
            <a:off x="4652467"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340</a:t>
            </a:r>
            <a:endParaRPr lang="en-US" sz="820" dirty="0"/>
          </a:p>
        </p:txBody>
      </p:sp>
      <p:sp>
        <p:nvSpPr>
          <p:cNvPr id="103" name="Shape 101"/>
          <p:cNvSpPr/>
          <p:nvPr/>
        </p:nvSpPr>
        <p:spPr>
          <a:xfrm>
            <a:off x="5488229" y="2331720"/>
            <a:ext cx="899770" cy="246888"/>
          </a:xfrm>
          <a:prstGeom prst="rect">
            <a:avLst/>
          </a:prstGeom>
          <a:solidFill>
            <a:srgbClr val="F7F9FB"/>
          </a:solidFill>
          <a:ln w="6350">
            <a:solidFill>
              <a:srgbClr val="D3DCE5"/>
            </a:solidFill>
            <a:prstDash val="solid"/>
          </a:ln>
        </p:spPr>
      </p:sp>
      <p:sp>
        <p:nvSpPr>
          <p:cNvPr id="104" name="Text 102"/>
          <p:cNvSpPr txBox="1"/>
          <p:nvPr/>
        </p:nvSpPr>
        <p:spPr>
          <a:xfrm>
            <a:off x="5552237"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320</a:t>
            </a:r>
            <a:endParaRPr lang="en-US" sz="820" dirty="0"/>
          </a:p>
        </p:txBody>
      </p:sp>
      <p:sp>
        <p:nvSpPr>
          <p:cNvPr id="105" name="Shape 103"/>
          <p:cNvSpPr/>
          <p:nvPr/>
        </p:nvSpPr>
        <p:spPr>
          <a:xfrm>
            <a:off x="6387998" y="2331720"/>
            <a:ext cx="899770" cy="246888"/>
          </a:xfrm>
          <a:prstGeom prst="rect">
            <a:avLst/>
          </a:prstGeom>
          <a:solidFill>
            <a:srgbClr val="F7F9FB"/>
          </a:solidFill>
          <a:ln w="6350">
            <a:solidFill>
              <a:srgbClr val="D3DCE5"/>
            </a:solidFill>
            <a:prstDash val="solid"/>
          </a:ln>
        </p:spPr>
      </p:sp>
      <p:sp>
        <p:nvSpPr>
          <p:cNvPr id="106" name="Text 104"/>
          <p:cNvSpPr txBox="1"/>
          <p:nvPr/>
        </p:nvSpPr>
        <p:spPr>
          <a:xfrm>
            <a:off x="6452006"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300</a:t>
            </a:r>
            <a:endParaRPr lang="en-US" sz="820" dirty="0"/>
          </a:p>
        </p:txBody>
      </p:sp>
      <p:sp>
        <p:nvSpPr>
          <p:cNvPr id="107" name="Shape 105"/>
          <p:cNvSpPr/>
          <p:nvPr/>
        </p:nvSpPr>
        <p:spPr>
          <a:xfrm>
            <a:off x="7287768" y="2331720"/>
            <a:ext cx="899770" cy="246888"/>
          </a:xfrm>
          <a:prstGeom prst="rect">
            <a:avLst/>
          </a:prstGeom>
          <a:solidFill>
            <a:srgbClr val="F7F9FB"/>
          </a:solidFill>
          <a:ln w="6350">
            <a:solidFill>
              <a:srgbClr val="D3DCE5"/>
            </a:solidFill>
            <a:prstDash val="solid"/>
          </a:ln>
        </p:spPr>
      </p:sp>
      <p:sp>
        <p:nvSpPr>
          <p:cNvPr id="108" name="Text 106"/>
          <p:cNvSpPr txBox="1"/>
          <p:nvPr/>
        </p:nvSpPr>
        <p:spPr>
          <a:xfrm>
            <a:off x="7351776"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295</a:t>
            </a:r>
            <a:endParaRPr lang="en-US" sz="820" dirty="0"/>
          </a:p>
        </p:txBody>
      </p:sp>
      <p:sp>
        <p:nvSpPr>
          <p:cNvPr id="109" name="Shape 107"/>
          <p:cNvSpPr/>
          <p:nvPr/>
        </p:nvSpPr>
        <p:spPr>
          <a:xfrm>
            <a:off x="8187538" y="2331720"/>
            <a:ext cx="899770" cy="246888"/>
          </a:xfrm>
          <a:prstGeom prst="rect">
            <a:avLst/>
          </a:prstGeom>
          <a:solidFill>
            <a:srgbClr val="F7F9FB"/>
          </a:solidFill>
          <a:ln w="6350">
            <a:solidFill>
              <a:srgbClr val="D3DCE5"/>
            </a:solidFill>
            <a:prstDash val="solid"/>
          </a:ln>
        </p:spPr>
      </p:sp>
      <p:sp>
        <p:nvSpPr>
          <p:cNvPr id="110" name="Text 108"/>
          <p:cNvSpPr txBox="1"/>
          <p:nvPr/>
        </p:nvSpPr>
        <p:spPr>
          <a:xfrm>
            <a:off x="8251546"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290</a:t>
            </a:r>
            <a:endParaRPr lang="en-US" sz="820" dirty="0"/>
          </a:p>
        </p:txBody>
      </p:sp>
      <p:sp>
        <p:nvSpPr>
          <p:cNvPr id="111" name="Shape 109"/>
          <p:cNvSpPr/>
          <p:nvPr/>
        </p:nvSpPr>
        <p:spPr>
          <a:xfrm>
            <a:off x="9087307" y="2331720"/>
            <a:ext cx="899770" cy="246888"/>
          </a:xfrm>
          <a:prstGeom prst="rect">
            <a:avLst/>
          </a:prstGeom>
          <a:solidFill>
            <a:srgbClr val="F7F9FB"/>
          </a:solidFill>
          <a:ln w="6350">
            <a:solidFill>
              <a:srgbClr val="D3DCE5"/>
            </a:solidFill>
            <a:prstDash val="solid"/>
          </a:ln>
        </p:spPr>
      </p:sp>
      <p:sp>
        <p:nvSpPr>
          <p:cNvPr id="112" name="Text 110"/>
          <p:cNvSpPr txBox="1"/>
          <p:nvPr/>
        </p:nvSpPr>
        <p:spPr>
          <a:xfrm>
            <a:off x="9151315"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290</a:t>
            </a:r>
            <a:endParaRPr lang="en-US" sz="820" dirty="0"/>
          </a:p>
        </p:txBody>
      </p:sp>
      <p:sp>
        <p:nvSpPr>
          <p:cNvPr id="113" name="Shape 111"/>
          <p:cNvSpPr/>
          <p:nvPr/>
        </p:nvSpPr>
        <p:spPr>
          <a:xfrm>
            <a:off x="9987077" y="2331720"/>
            <a:ext cx="899770" cy="246888"/>
          </a:xfrm>
          <a:prstGeom prst="rect">
            <a:avLst/>
          </a:prstGeom>
          <a:solidFill>
            <a:srgbClr val="F7F9FB"/>
          </a:solidFill>
          <a:ln w="6350">
            <a:solidFill>
              <a:srgbClr val="D3DCE5"/>
            </a:solidFill>
            <a:prstDash val="solid"/>
          </a:ln>
        </p:spPr>
      </p:sp>
      <p:sp>
        <p:nvSpPr>
          <p:cNvPr id="114" name="Text 112"/>
          <p:cNvSpPr txBox="1"/>
          <p:nvPr/>
        </p:nvSpPr>
        <p:spPr>
          <a:xfrm>
            <a:off x="10051085"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290</a:t>
            </a:r>
            <a:endParaRPr lang="en-US" sz="820" dirty="0"/>
          </a:p>
        </p:txBody>
      </p:sp>
      <p:sp>
        <p:nvSpPr>
          <p:cNvPr id="115" name="Shape 113"/>
          <p:cNvSpPr/>
          <p:nvPr/>
        </p:nvSpPr>
        <p:spPr>
          <a:xfrm>
            <a:off x="10886846" y="2331720"/>
            <a:ext cx="899770" cy="246888"/>
          </a:xfrm>
          <a:prstGeom prst="rect">
            <a:avLst/>
          </a:prstGeom>
          <a:solidFill>
            <a:srgbClr val="F7F9FB"/>
          </a:solidFill>
          <a:ln w="6350">
            <a:solidFill>
              <a:srgbClr val="D3DCE5"/>
            </a:solidFill>
            <a:prstDash val="solid"/>
          </a:ln>
        </p:spPr>
      </p:sp>
      <p:sp>
        <p:nvSpPr>
          <p:cNvPr id="116" name="Text 114"/>
          <p:cNvSpPr txBox="1"/>
          <p:nvPr/>
        </p:nvSpPr>
        <p:spPr>
          <a:xfrm>
            <a:off x="10950854"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290</a:t>
            </a:r>
            <a:endParaRPr lang="en-US" sz="820" dirty="0"/>
          </a:p>
        </p:txBody>
      </p:sp>
      <p:sp>
        <p:nvSpPr>
          <p:cNvPr id="117" name="Shape 115"/>
          <p:cNvSpPr/>
          <p:nvPr/>
        </p:nvSpPr>
        <p:spPr>
          <a:xfrm>
            <a:off x="411480" y="2578608"/>
            <a:ext cx="2377440" cy="246888"/>
          </a:xfrm>
          <a:prstGeom prst="rect">
            <a:avLst/>
          </a:prstGeom>
          <a:solidFill>
            <a:srgbClr val="FFFFFF"/>
          </a:solidFill>
          <a:ln w="6350">
            <a:solidFill>
              <a:srgbClr val="D3DCE5"/>
            </a:solidFill>
            <a:prstDash val="solid"/>
          </a:ln>
        </p:spPr>
      </p:sp>
      <p:sp>
        <p:nvSpPr>
          <p:cNvPr id="118" name="Text 116"/>
          <p:cNvSpPr txBox="1"/>
          <p:nvPr/>
        </p:nvSpPr>
        <p:spPr>
          <a:xfrm>
            <a:off x="475488" y="2578608"/>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EBITDA (A$m)</a:t>
            </a:r>
            <a:endParaRPr lang="en-US" sz="820" dirty="0"/>
          </a:p>
        </p:txBody>
      </p:sp>
      <p:sp>
        <p:nvSpPr>
          <p:cNvPr id="119" name="Shape 117"/>
          <p:cNvSpPr/>
          <p:nvPr/>
        </p:nvSpPr>
        <p:spPr>
          <a:xfrm>
            <a:off x="2788920" y="2578608"/>
            <a:ext cx="899770" cy="246888"/>
          </a:xfrm>
          <a:prstGeom prst="rect">
            <a:avLst/>
          </a:prstGeom>
          <a:solidFill>
            <a:srgbClr val="FFFFFF"/>
          </a:solidFill>
          <a:ln w="6350">
            <a:solidFill>
              <a:srgbClr val="D3DCE5"/>
            </a:solidFill>
            <a:prstDash val="solid"/>
          </a:ln>
        </p:spPr>
      </p:sp>
      <p:sp>
        <p:nvSpPr>
          <p:cNvPr id="120" name="Text 118"/>
          <p:cNvSpPr txBox="1"/>
          <p:nvPr/>
        </p:nvSpPr>
        <p:spPr>
          <a:xfrm>
            <a:off x="2852928"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1,155</a:t>
            </a:r>
            <a:endParaRPr lang="en-US" sz="820" dirty="0"/>
          </a:p>
        </p:txBody>
      </p:sp>
      <p:sp>
        <p:nvSpPr>
          <p:cNvPr id="121" name="Shape 119"/>
          <p:cNvSpPr/>
          <p:nvPr/>
        </p:nvSpPr>
        <p:spPr>
          <a:xfrm>
            <a:off x="3688690" y="2578608"/>
            <a:ext cx="899770" cy="246888"/>
          </a:xfrm>
          <a:prstGeom prst="rect">
            <a:avLst/>
          </a:prstGeom>
          <a:solidFill>
            <a:srgbClr val="FFFFFF"/>
          </a:solidFill>
          <a:ln w="6350">
            <a:solidFill>
              <a:srgbClr val="D3DCE5"/>
            </a:solidFill>
            <a:prstDash val="solid"/>
          </a:ln>
        </p:spPr>
      </p:sp>
      <p:sp>
        <p:nvSpPr>
          <p:cNvPr id="122" name="Text 120"/>
          <p:cNvSpPr txBox="1"/>
          <p:nvPr/>
        </p:nvSpPr>
        <p:spPr>
          <a:xfrm>
            <a:off x="3752698"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845</a:t>
            </a:r>
            <a:endParaRPr lang="en-US" sz="820" dirty="0"/>
          </a:p>
        </p:txBody>
      </p:sp>
      <p:sp>
        <p:nvSpPr>
          <p:cNvPr id="123" name="Shape 121"/>
          <p:cNvSpPr/>
          <p:nvPr/>
        </p:nvSpPr>
        <p:spPr>
          <a:xfrm>
            <a:off x="4588459" y="2578608"/>
            <a:ext cx="899770" cy="246888"/>
          </a:xfrm>
          <a:prstGeom prst="rect">
            <a:avLst/>
          </a:prstGeom>
          <a:solidFill>
            <a:srgbClr val="FFFFFF"/>
          </a:solidFill>
          <a:ln w="6350">
            <a:solidFill>
              <a:srgbClr val="D3DCE5"/>
            </a:solidFill>
            <a:prstDash val="solid"/>
          </a:ln>
        </p:spPr>
      </p:sp>
      <p:sp>
        <p:nvSpPr>
          <p:cNvPr id="124" name="Text 122"/>
          <p:cNvSpPr txBox="1"/>
          <p:nvPr/>
        </p:nvSpPr>
        <p:spPr>
          <a:xfrm>
            <a:off x="4652467"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655</a:t>
            </a:r>
            <a:endParaRPr lang="en-US" sz="820" dirty="0"/>
          </a:p>
        </p:txBody>
      </p:sp>
      <p:sp>
        <p:nvSpPr>
          <p:cNvPr id="125" name="Shape 123"/>
          <p:cNvSpPr/>
          <p:nvPr/>
        </p:nvSpPr>
        <p:spPr>
          <a:xfrm>
            <a:off x="5488229" y="2578608"/>
            <a:ext cx="899770" cy="246888"/>
          </a:xfrm>
          <a:prstGeom prst="rect">
            <a:avLst/>
          </a:prstGeom>
          <a:solidFill>
            <a:srgbClr val="FFFFFF"/>
          </a:solidFill>
          <a:ln w="6350">
            <a:solidFill>
              <a:srgbClr val="D3DCE5"/>
            </a:solidFill>
            <a:prstDash val="solid"/>
          </a:ln>
        </p:spPr>
      </p:sp>
      <p:sp>
        <p:nvSpPr>
          <p:cNvPr id="126" name="Text 124"/>
          <p:cNvSpPr txBox="1"/>
          <p:nvPr/>
        </p:nvSpPr>
        <p:spPr>
          <a:xfrm>
            <a:off x="5552237"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618</a:t>
            </a:r>
            <a:endParaRPr lang="en-US" sz="820" dirty="0"/>
          </a:p>
        </p:txBody>
      </p:sp>
      <p:sp>
        <p:nvSpPr>
          <p:cNvPr id="127" name="Shape 125"/>
          <p:cNvSpPr/>
          <p:nvPr/>
        </p:nvSpPr>
        <p:spPr>
          <a:xfrm>
            <a:off x="6387998" y="2578608"/>
            <a:ext cx="899770" cy="246888"/>
          </a:xfrm>
          <a:prstGeom prst="rect">
            <a:avLst/>
          </a:prstGeom>
          <a:solidFill>
            <a:srgbClr val="FFFFFF"/>
          </a:solidFill>
          <a:ln w="6350">
            <a:solidFill>
              <a:srgbClr val="D3DCE5"/>
            </a:solidFill>
            <a:prstDash val="solid"/>
          </a:ln>
        </p:spPr>
      </p:sp>
      <p:sp>
        <p:nvSpPr>
          <p:cNvPr id="128" name="Text 126"/>
          <p:cNvSpPr txBox="1"/>
          <p:nvPr/>
        </p:nvSpPr>
        <p:spPr>
          <a:xfrm>
            <a:off x="6452006"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730</a:t>
            </a:r>
            <a:endParaRPr lang="en-US" sz="820" dirty="0"/>
          </a:p>
        </p:txBody>
      </p:sp>
      <p:sp>
        <p:nvSpPr>
          <p:cNvPr id="129" name="Shape 127"/>
          <p:cNvSpPr/>
          <p:nvPr/>
        </p:nvSpPr>
        <p:spPr>
          <a:xfrm>
            <a:off x="7287768" y="2578608"/>
            <a:ext cx="899770" cy="246888"/>
          </a:xfrm>
          <a:prstGeom prst="rect">
            <a:avLst/>
          </a:prstGeom>
          <a:solidFill>
            <a:srgbClr val="FFFFFF"/>
          </a:solidFill>
          <a:ln w="6350">
            <a:solidFill>
              <a:srgbClr val="D3DCE5"/>
            </a:solidFill>
            <a:prstDash val="solid"/>
          </a:ln>
        </p:spPr>
      </p:sp>
      <p:sp>
        <p:nvSpPr>
          <p:cNvPr id="130" name="Text 128"/>
          <p:cNvSpPr txBox="1"/>
          <p:nvPr/>
        </p:nvSpPr>
        <p:spPr>
          <a:xfrm>
            <a:off x="7351776"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882</a:t>
            </a:r>
            <a:endParaRPr lang="en-US" sz="820" dirty="0"/>
          </a:p>
        </p:txBody>
      </p:sp>
      <p:sp>
        <p:nvSpPr>
          <p:cNvPr id="131" name="Shape 129"/>
          <p:cNvSpPr/>
          <p:nvPr/>
        </p:nvSpPr>
        <p:spPr>
          <a:xfrm>
            <a:off x="8187538" y="2578608"/>
            <a:ext cx="899770" cy="246888"/>
          </a:xfrm>
          <a:prstGeom prst="rect">
            <a:avLst/>
          </a:prstGeom>
          <a:solidFill>
            <a:srgbClr val="FFFFFF"/>
          </a:solidFill>
          <a:ln w="6350">
            <a:solidFill>
              <a:srgbClr val="D3DCE5"/>
            </a:solidFill>
            <a:prstDash val="solid"/>
          </a:ln>
        </p:spPr>
      </p:sp>
      <p:sp>
        <p:nvSpPr>
          <p:cNvPr id="132" name="Text 130"/>
          <p:cNvSpPr txBox="1"/>
          <p:nvPr/>
        </p:nvSpPr>
        <p:spPr>
          <a:xfrm>
            <a:off x="8251546"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1,013</a:t>
            </a:r>
            <a:endParaRPr lang="en-US" sz="820" dirty="0"/>
          </a:p>
        </p:txBody>
      </p:sp>
      <p:sp>
        <p:nvSpPr>
          <p:cNvPr id="133" name="Shape 131"/>
          <p:cNvSpPr/>
          <p:nvPr/>
        </p:nvSpPr>
        <p:spPr>
          <a:xfrm>
            <a:off x="9087307" y="2578608"/>
            <a:ext cx="899770" cy="246888"/>
          </a:xfrm>
          <a:prstGeom prst="rect">
            <a:avLst/>
          </a:prstGeom>
          <a:solidFill>
            <a:srgbClr val="FFFFFF"/>
          </a:solidFill>
          <a:ln w="6350">
            <a:solidFill>
              <a:srgbClr val="D3DCE5"/>
            </a:solidFill>
            <a:prstDash val="solid"/>
          </a:ln>
        </p:spPr>
      </p:sp>
      <p:sp>
        <p:nvSpPr>
          <p:cNvPr id="134" name="Text 132"/>
          <p:cNvSpPr txBox="1"/>
          <p:nvPr/>
        </p:nvSpPr>
        <p:spPr>
          <a:xfrm>
            <a:off x="9151315"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1,151</a:t>
            </a:r>
            <a:endParaRPr lang="en-US" sz="820" dirty="0"/>
          </a:p>
        </p:txBody>
      </p:sp>
      <p:sp>
        <p:nvSpPr>
          <p:cNvPr id="135" name="Shape 133"/>
          <p:cNvSpPr/>
          <p:nvPr/>
        </p:nvSpPr>
        <p:spPr>
          <a:xfrm>
            <a:off x="9987077" y="2578608"/>
            <a:ext cx="899770" cy="246888"/>
          </a:xfrm>
          <a:prstGeom prst="rect">
            <a:avLst/>
          </a:prstGeom>
          <a:solidFill>
            <a:srgbClr val="FFFFFF"/>
          </a:solidFill>
          <a:ln w="6350">
            <a:solidFill>
              <a:srgbClr val="D3DCE5"/>
            </a:solidFill>
            <a:prstDash val="solid"/>
          </a:ln>
        </p:spPr>
      </p:sp>
      <p:sp>
        <p:nvSpPr>
          <p:cNvPr id="136" name="Text 134"/>
          <p:cNvSpPr txBox="1"/>
          <p:nvPr/>
        </p:nvSpPr>
        <p:spPr>
          <a:xfrm>
            <a:off x="10051085"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1,226</a:t>
            </a:r>
            <a:endParaRPr lang="en-US" sz="820" dirty="0"/>
          </a:p>
        </p:txBody>
      </p:sp>
      <p:sp>
        <p:nvSpPr>
          <p:cNvPr id="137" name="Shape 135"/>
          <p:cNvSpPr/>
          <p:nvPr/>
        </p:nvSpPr>
        <p:spPr>
          <a:xfrm>
            <a:off x="10886846" y="2578608"/>
            <a:ext cx="899770" cy="246888"/>
          </a:xfrm>
          <a:prstGeom prst="rect">
            <a:avLst/>
          </a:prstGeom>
          <a:solidFill>
            <a:srgbClr val="FFFFFF"/>
          </a:solidFill>
          <a:ln w="6350">
            <a:solidFill>
              <a:srgbClr val="D3DCE5"/>
            </a:solidFill>
            <a:prstDash val="solid"/>
          </a:ln>
        </p:spPr>
      </p:sp>
      <p:sp>
        <p:nvSpPr>
          <p:cNvPr id="138" name="Text 136"/>
          <p:cNvSpPr txBox="1"/>
          <p:nvPr/>
        </p:nvSpPr>
        <p:spPr>
          <a:xfrm>
            <a:off x="10950854"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1,289</a:t>
            </a:r>
            <a:endParaRPr lang="en-US" sz="820" dirty="0"/>
          </a:p>
        </p:txBody>
      </p:sp>
      <p:sp>
        <p:nvSpPr>
          <p:cNvPr id="139" name="Shape 137"/>
          <p:cNvSpPr/>
          <p:nvPr/>
        </p:nvSpPr>
        <p:spPr>
          <a:xfrm>
            <a:off x="411480" y="2825496"/>
            <a:ext cx="2377440" cy="246888"/>
          </a:xfrm>
          <a:prstGeom prst="rect">
            <a:avLst/>
          </a:prstGeom>
          <a:solidFill>
            <a:srgbClr val="F7F9FB"/>
          </a:solidFill>
          <a:ln w="6350">
            <a:solidFill>
              <a:srgbClr val="D3DCE5"/>
            </a:solidFill>
            <a:prstDash val="solid"/>
          </a:ln>
        </p:spPr>
      </p:sp>
      <p:sp>
        <p:nvSpPr>
          <p:cNvPr id="140" name="Text 138"/>
          <p:cNvSpPr txBox="1"/>
          <p:nvPr/>
        </p:nvSpPr>
        <p:spPr>
          <a:xfrm>
            <a:off x="475488" y="2825496"/>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FCFF (A$m)</a:t>
            </a:r>
            <a:endParaRPr lang="en-US" sz="820" dirty="0"/>
          </a:p>
        </p:txBody>
      </p:sp>
      <p:sp>
        <p:nvSpPr>
          <p:cNvPr id="141" name="Shape 139"/>
          <p:cNvSpPr/>
          <p:nvPr/>
        </p:nvSpPr>
        <p:spPr>
          <a:xfrm>
            <a:off x="2788920" y="2825496"/>
            <a:ext cx="899770" cy="246888"/>
          </a:xfrm>
          <a:prstGeom prst="rect">
            <a:avLst/>
          </a:prstGeom>
          <a:solidFill>
            <a:srgbClr val="F7F9FB"/>
          </a:solidFill>
          <a:ln w="6350">
            <a:solidFill>
              <a:srgbClr val="D3DCE5"/>
            </a:solidFill>
            <a:prstDash val="solid"/>
          </a:ln>
        </p:spPr>
      </p:sp>
      <p:sp>
        <p:nvSpPr>
          <p:cNvPr id="142" name="Text 140"/>
          <p:cNvSpPr txBox="1"/>
          <p:nvPr/>
        </p:nvSpPr>
        <p:spPr>
          <a:xfrm>
            <a:off x="2852928"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315</a:t>
            </a:r>
            <a:endParaRPr lang="en-US" sz="820" dirty="0"/>
          </a:p>
        </p:txBody>
      </p:sp>
      <p:sp>
        <p:nvSpPr>
          <p:cNvPr id="143" name="Shape 141"/>
          <p:cNvSpPr/>
          <p:nvPr/>
        </p:nvSpPr>
        <p:spPr>
          <a:xfrm>
            <a:off x="3688690" y="2825496"/>
            <a:ext cx="899770" cy="246888"/>
          </a:xfrm>
          <a:prstGeom prst="rect">
            <a:avLst/>
          </a:prstGeom>
          <a:solidFill>
            <a:srgbClr val="F7F9FB"/>
          </a:solidFill>
          <a:ln w="6350">
            <a:solidFill>
              <a:srgbClr val="D3DCE5"/>
            </a:solidFill>
            <a:prstDash val="solid"/>
          </a:ln>
        </p:spPr>
      </p:sp>
      <p:sp>
        <p:nvSpPr>
          <p:cNvPr id="144" name="Text 142"/>
          <p:cNvSpPr txBox="1"/>
          <p:nvPr/>
        </p:nvSpPr>
        <p:spPr>
          <a:xfrm>
            <a:off x="3752698"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352</a:t>
            </a:r>
            <a:endParaRPr lang="en-US" sz="820" dirty="0"/>
          </a:p>
        </p:txBody>
      </p:sp>
      <p:sp>
        <p:nvSpPr>
          <p:cNvPr id="145" name="Shape 143"/>
          <p:cNvSpPr/>
          <p:nvPr/>
        </p:nvSpPr>
        <p:spPr>
          <a:xfrm>
            <a:off x="4588459" y="2825496"/>
            <a:ext cx="899770" cy="246888"/>
          </a:xfrm>
          <a:prstGeom prst="rect">
            <a:avLst/>
          </a:prstGeom>
          <a:solidFill>
            <a:srgbClr val="F7F9FB"/>
          </a:solidFill>
          <a:ln w="6350">
            <a:solidFill>
              <a:srgbClr val="D3DCE5"/>
            </a:solidFill>
            <a:prstDash val="solid"/>
          </a:ln>
        </p:spPr>
      </p:sp>
      <p:sp>
        <p:nvSpPr>
          <p:cNvPr id="146" name="Text 144"/>
          <p:cNvSpPr txBox="1"/>
          <p:nvPr/>
        </p:nvSpPr>
        <p:spPr>
          <a:xfrm>
            <a:off x="4652467"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270</a:t>
            </a:r>
            <a:endParaRPr lang="en-US" sz="820" dirty="0"/>
          </a:p>
        </p:txBody>
      </p:sp>
      <p:sp>
        <p:nvSpPr>
          <p:cNvPr id="147" name="Shape 145"/>
          <p:cNvSpPr/>
          <p:nvPr/>
        </p:nvSpPr>
        <p:spPr>
          <a:xfrm>
            <a:off x="5488229" y="2825496"/>
            <a:ext cx="899770" cy="246888"/>
          </a:xfrm>
          <a:prstGeom prst="rect">
            <a:avLst/>
          </a:prstGeom>
          <a:solidFill>
            <a:srgbClr val="F7F9FB"/>
          </a:solidFill>
          <a:ln w="6350">
            <a:solidFill>
              <a:srgbClr val="D3DCE5"/>
            </a:solidFill>
            <a:prstDash val="solid"/>
          </a:ln>
        </p:spPr>
      </p:sp>
      <p:sp>
        <p:nvSpPr>
          <p:cNvPr id="148" name="Text 146"/>
          <p:cNvSpPr txBox="1"/>
          <p:nvPr/>
        </p:nvSpPr>
        <p:spPr>
          <a:xfrm>
            <a:off x="5552237"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251</a:t>
            </a:r>
            <a:endParaRPr lang="en-US" sz="820" dirty="0"/>
          </a:p>
        </p:txBody>
      </p:sp>
      <p:sp>
        <p:nvSpPr>
          <p:cNvPr id="149" name="Shape 147"/>
          <p:cNvSpPr/>
          <p:nvPr/>
        </p:nvSpPr>
        <p:spPr>
          <a:xfrm>
            <a:off x="6387998" y="2825496"/>
            <a:ext cx="899770" cy="246888"/>
          </a:xfrm>
          <a:prstGeom prst="rect">
            <a:avLst/>
          </a:prstGeom>
          <a:solidFill>
            <a:srgbClr val="F7F9FB"/>
          </a:solidFill>
          <a:ln w="6350">
            <a:solidFill>
              <a:srgbClr val="D3DCE5"/>
            </a:solidFill>
            <a:prstDash val="solid"/>
          </a:ln>
        </p:spPr>
      </p:sp>
      <p:sp>
        <p:nvSpPr>
          <p:cNvPr id="150" name="Text 148"/>
          <p:cNvSpPr txBox="1"/>
          <p:nvPr/>
        </p:nvSpPr>
        <p:spPr>
          <a:xfrm>
            <a:off x="6452006"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331</a:t>
            </a:r>
            <a:endParaRPr lang="en-US" sz="820" dirty="0"/>
          </a:p>
        </p:txBody>
      </p:sp>
      <p:sp>
        <p:nvSpPr>
          <p:cNvPr id="151" name="Shape 149"/>
          <p:cNvSpPr/>
          <p:nvPr/>
        </p:nvSpPr>
        <p:spPr>
          <a:xfrm>
            <a:off x="7287768" y="2825496"/>
            <a:ext cx="899770" cy="246888"/>
          </a:xfrm>
          <a:prstGeom prst="rect">
            <a:avLst/>
          </a:prstGeom>
          <a:solidFill>
            <a:srgbClr val="F7F9FB"/>
          </a:solidFill>
          <a:ln w="6350">
            <a:solidFill>
              <a:srgbClr val="D3DCE5"/>
            </a:solidFill>
            <a:prstDash val="solid"/>
          </a:ln>
        </p:spPr>
      </p:sp>
      <p:sp>
        <p:nvSpPr>
          <p:cNvPr id="152" name="Text 150"/>
          <p:cNvSpPr txBox="1"/>
          <p:nvPr/>
        </p:nvSpPr>
        <p:spPr>
          <a:xfrm>
            <a:off x="7351776"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433</a:t>
            </a:r>
            <a:endParaRPr lang="en-US" sz="820" dirty="0"/>
          </a:p>
        </p:txBody>
      </p:sp>
      <p:sp>
        <p:nvSpPr>
          <p:cNvPr id="153" name="Shape 151"/>
          <p:cNvSpPr/>
          <p:nvPr/>
        </p:nvSpPr>
        <p:spPr>
          <a:xfrm>
            <a:off x="8187538" y="2825496"/>
            <a:ext cx="899770" cy="246888"/>
          </a:xfrm>
          <a:prstGeom prst="rect">
            <a:avLst/>
          </a:prstGeom>
          <a:solidFill>
            <a:srgbClr val="F7F9FB"/>
          </a:solidFill>
          <a:ln w="6350">
            <a:solidFill>
              <a:srgbClr val="D3DCE5"/>
            </a:solidFill>
            <a:prstDash val="solid"/>
          </a:ln>
        </p:spPr>
      </p:sp>
      <p:sp>
        <p:nvSpPr>
          <p:cNvPr id="154" name="Text 152"/>
          <p:cNvSpPr txBox="1"/>
          <p:nvPr/>
        </p:nvSpPr>
        <p:spPr>
          <a:xfrm>
            <a:off x="8251546"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528</a:t>
            </a:r>
            <a:endParaRPr lang="en-US" sz="820" dirty="0"/>
          </a:p>
        </p:txBody>
      </p:sp>
      <p:sp>
        <p:nvSpPr>
          <p:cNvPr id="155" name="Shape 153"/>
          <p:cNvSpPr/>
          <p:nvPr/>
        </p:nvSpPr>
        <p:spPr>
          <a:xfrm>
            <a:off x="9087307" y="2825496"/>
            <a:ext cx="899770" cy="246888"/>
          </a:xfrm>
          <a:prstGeom prst="rect">
            <a:avLst/>
          </a:prstGeom>
          <a:solidFill>
            <a:srgbClr val="F7F9FB"/>
          </a:solidFill>
          <a:ln w="6350">
            <a:solidFill>
              <a:srgbClr val="D3DCE5"/>
            </a:solidFill>
            <a:prstDash val="solid"/>
          </a:ln>
        </p:spPr>
      </p:sp>
      <p:sp>
        <p:nvSpPr>
          <p:cNvPr id="156" name="Text 154"/>
          <p:cNvSpPr txBox="1"/>
          <p:nvPr/>
        </p:nvSpPr>
        <p:spPr>
          <a:xfrm>
            <a:off x="9151315"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619</a:t>
            </a:r>
            <a:endParaRPr lang="en-US" sz="820" dirty="0"/>
          </a:p>
        </p:txBody>
      </p:sp>
      <p:sp>
        <p:nvSpPr>
          <p:cNvPr id="157" name="Shape 155"/>
          <p:cNvSpPr/>
          <p:nvPr/>
        </p:nvSpPr>
        <p:spPr>
          <a:xfrm>
            <a:off x="9987077" y="2825496"/>
            <a:ext cx="899770" cy="246888"/>
          </a:xfrm>
          <a:prstGeom prst="rect">
            <a:avLst/>
          </a:prstGeom>
          <a:solidFill>
            <a:srgbClr val="F7F9FB"/>
          </a:solidFill>
          <a:ln w="6350">
            <a:solidFill>
              <a:srgbClr val="D3DCE5"/>
            </a:solidFill>
            <a:prstDash val="solid"/>
          </a:ln>
        </p:spPr>
      </p:sp>
      <p:sp>
        <p:nvSpPr>
          <p:cNvPr id="158" name="Text 156"/>
          <p:cNvSpPr txBox="1"/>
          <p:nvPr/>
        </p:nvSpPr>
        <p:spPr>
          <a:xfrm>
            <a:off x="10051085"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674</a:t>
            </a:r>
            <a:endParaRPr lang="en-US" sz="820" dirty="0"/>
          </a:p>
        </p:txBody>
      </p:sp>
      <p:sp>
        <p:nvSpPr>
          <p:cNvPr id="159" name="Shape 157"/>
          <p:cNvSpPr/>
          <p:nvPr/>
        </p:nvSpPr>
        <p:spPr>
          <a:xfrm>
            <a:off x="10886846" y="2825496"/>
            <a:ext cx="899770" cy="246888"/>
          </a:xfrm>
          <a:prstGeom prst="rect">
            <a:avLst/>
          </a:prstGeom>
          <a:solidFill>
            <a:srgbClr val="F7F9FB"/>
          </a:solidFill>
          <a:ln w="6350">
            <a:solidFill>
              <a:srgbClr val="D3DCE5"/>
            </a:solidFill>
            <a:prstDash val="solid"/>
          </a:ln>
        </p:spPr>
      </p:sp>
      <p:sp>
        <p:nvSpPr>
          <p:cNvPr id="160" name="Text 158"/>
          <p:cNvSpPr txBox="1"/>
          <p:nvPr/>
        </p:nvSpPr>
        <p:spPr>
          <a:xfrm>
            <a:off x="10950854"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716</a:t>
            </a:r>
            <a:endParaRPr lang="en-US" sz="820" dirty="0"/>
          </a:p>
        </p:txBody>
      </p:sp>
      <p:sp>
        <p:nvSpPr>
          <p:cNvPr id="161" name="Shape 159"/>
          <p:cNvSpPr/>
          <p:nvPr/>
        </p:nvSpPr>
        <p:spPr>
          <a:xfrm>
            <a:off x="411480" y="3291840"/>
            <a:ext cx="4206240" cy="292608"/>
          </a:xfrm>
          <a:prstGeom prst="rect">
            <a:avLst/>
          </a:prstGeom>
          <a:solidFill>
            <a:srgbClr val="10233A"/>
          </a:solidFill>
          <a:ln/>
        </p:spPr>
      </p:sp>
      <p:sp>
        <p:nvSpPr>
          <p:cNvPr id="162" name="Text 160"/>
          <p:cNvSpPr txBox="1"/>
          <p:nvPr/>
        </p:nvSpPr>
        <p:spPr>
          <a:xfrm>
            <a:off x="475488" y="3291840"/>
            <a:ext cx="40782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Bear case bridge</a:t>
            </a:r>
            <a:endParaRPr lang="en-US" sz="900" dirty="0"/>
          </a:p>
        </p:txBody>
      </p:sp>
      <p:sp>
        <p:nvSpPr>
          <p:cNvPr id="163" name="Shape 161"/>
          <p:cNvSpPr/>
          <p:nvPr/>
        </p:nvSpPr>
        <p:spPr>
          <a:xfrm>
            <a:off x="4617720" y="3291840"/>
            <a:ext cx="1920240" cy="292608"/>
          </a:xfrm>
          <a:prstGeom prst="rect">
            <a:avLst/>
          </a:prstGeom>
          <a:solidFill>
            <a:srgbClr val="10233A"/>
          </a:solidFill>
          <a:ln/>
        </p:spPr>
      </p:sp>
      <p:sp>
        <p:nvSpPr>
          <p:cNvPr id="164" name="Text 162"/>
          <p:cNvSpPr txBox="1"/>
          <p:nvPr/>
        </p:nvSpPr>
        <p:spPr>
          <a:xfrm>
            <a:off x="4681728" y="3291840"/>
            <a:ext cx="179222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A$m unless stated</a:t>
            </a:r>
            <a:endParaRPr lang="en-US" sz="900" dirty="0"/>
          </a:p>
        </p:txBody>
      </p:sp>
      <p:sp>
        <p:nvSpPr>
          <p:cNvPr id="165" name="Shape 163"/>
          <p:cNvSpPr/>
          <p:nvPr/>
        </p:nvSpPr>
        <p:spPr>
          <a:xfrm>
            <a:off x="411480" y="3584448"/>
            <a:ext cx="4206240" cy="214884"/>
          </a:xfrm>
          <a:prstGeom prst="rect">
            <a:avLst/>
          </a:prstGeom>
          <a:solidFill>
            <a:srgbClr val="FFFFFF"/>
          </a:solidFill>
          <a:ln w="6350">
            <a:solidFill>
              <a:srgbClr val="D3DCE5"/>
            </a:solidFill>
            <a:prstDash val="solid"/>
          </a:ln>
        </p:spPr>
      </p:sp>
      <p:sp>
        <p:nvSpPr>
          <p:cNvPr id="166" name="Text 164"/>
          <p:cNvSpPr txBox="1"/>
          <p:nvPr/>
        </p:nvSpPr>
        <p:spPr>
          <a:xfrm>
            <a:off x="475488" y="3584448"/>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PV of explicit FCFF, FY27-FY36</a:t>
            </a:r>
            <a:endParaRPr lang="en-US" sz="860" dirty="0"/>
          </a:p>
        </p:txBody>
      </p:sp>
      <p:sp>
        <p:nvSpPr>
          <p:cNvPr id="167" name="Shape 165"/>
          <p:cNvSpPr/>
          <p:nvPr/>
        </p:nvSpPr>
        <p:spPr>
          <a:xfrm>
            <a:off x="4617720" y="3584448"/>
            <a:ext cx="1920240" cy="214884"/>
          </a:xfrm>
          <a:prstGeom prst="rect">
            <a:avLst/>
          </a:prstGeom>
          <a:solidFill>
            <a:srgbClr val="FFFFFF"/>
          </a:solidFill>
          <a:ln w="6350">
            <a:solidFill>
              <a:srgbClr val="D3DCE5"/>
            </a:solidFill>
            <a:prstDash val="solid"/>
          </a:ln>
        </p:spPr>
      </p:sp>
      <p:sp>
        <p:nvSpPr>
          <p:cNvPr id="168" name="Text 166"/>
          <p:cNvSpPr txBox="1"/>
          <p:nvPr/>
        </p:nvSpPr>
        <p:spPr>
          <a:xfrm>
            <a:off x="4681728" y="3584448"/>
            <a:ext cx="1792224" cy="214884"/>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2,790</a:t>
            </a:r>
            <a:endParaRPr lang="en-US" sz="860" dirty="0"/>
          </a:p>
        </p:txBody>
      </p:sp>
      <p:sp>
        <p:nvSpPr>
          <p:cNvPr id="169" name="Shape 167"/>
          <p:cNvSpPr/>
          <p:nvPr/>
        </p:nvSpPr>
        <p:spPr>
          <a:xfrm>
            <a:off x="411480" y="3799332"/>
            <a:ext cx="4206240" cy="214884"/>
          </a:xfrm>
          <a:prstGeom prst="rect">
            <a:avLst/>
          </a:prstGeom>
          <a:solidFill>
            <a:srgbClr val="F7F9FB"/>
          </a:solidFill>
          <a:ln w="6350">
            <a:solidFill>
              <a:srgbClr val="D3DCE5"/>
            </a:solidFill>
            <a:prstDash val="solid"/>
          </a:ln>
        </p:spPr>
      </p:sp>
      <p:sp>
        <p:nvSpPr>
          <p:cNvPr id="170" name="Text 168"/>
          <p:cNvSpPr txBox="1"/>
          <p:nvPr/>
        </p:nvSpPr>
        <p:spPr>
          <a:xfrm>
            <a:off x="475488" y="3799332"/>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PV of terminal value</a:t>
            </a:r>
            <a:endParaRPr lang="en-US" sz="860" dirty="0"/>
          </a:p>
        </p:txBody>
      </p:sp>
      <p:sp>
        <p:nvSpPr>
          <p:cNvPr id="171" name="Shape 169"/>
          <p:cNvSpPr/>
          <p:nvPr/>
        </p:nvSpPr>
        <p:spPr>
          <a:xfrm>
            <a:off x="4617720" y="3799332"/>
            <a:ext cx="1920240" cy="214884"/>
          </a:xfrm>
          <a:prstGeom prst="rect">
            <a:avLst/>
          </a:prstGeom>
          <a:solidFill>
            <a:srgbClr val="F7F9FB"/>
          </a:solidFill>
          <a:ln w="6350">
            <a:solidFill>
              <a:srgbClr val="D3DCE5"/>
            </a:solidFill>
            <a:prstDash val="solid"/>
          </a:ln>
        </p:spPr>
      </p:sp>
      <p:sp>
        <p:nvSpPr>
          <p:cNvPr id="172" name="Text 170"/>
          <p:cNvSpPr txBox="1"/>
          <p:nvPr/>
        </p:nvSpPr>
        <p:spPr>
          <a:xfrm>
            <a:off x="4681728" y="3799332"/>
            <a:ext cx="1792224" cy="214884"/>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3,166</a:t>
            </a:r>
            <a:endParaRPr lang="en-US" sz="860" dirty="0"/>
          </a:p>
        </p:txBody>
      </p:sp>
      <p:sp>
        <p:nvSpPr>
          <p:cNvPr id="173" name="Shape 171"/>
          <p:cNvSpPr/>
          <p:nvPr/>
        </p:nvSpPr>
        <p:spPr>
          <a:xfrm>
            <a:off x="411480" y="4014216"/>
            <a:ext cx="4206240" cy="214884"/>
          </a:xfrm>
          <a:prstGeom prst="rect">
            <a:avLst/>
          </a:prstGeom>
          <a:solidFill>
            <a:srgbClr val="FFFFFF"/>
          </a:solidFill>
          <a:ln w="6350">
            <a:solidFill>
              <a:srgbClr val="D3DCE5"/>
            </a:solidFill>
            <a:prstDash val="solid"/>
          </a:ln>
        </p:spPr>
      </p:sp>
      <p:sp>
        <p:nvSpPr>
          <p:cNvPr id="174" name="Text 172"/>
          <p:cNvSpPr txBox="1"/>
          <p:nvPr/>
        </p:nvSpPr>
        <p:spPr>
          <a:xfrm>
            <a:off x="475488" y="4014216"/>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Memo: growing perpetuity would have given</a:t>
            </a:r>
            <a:endParaRPr lang="en-US" sz="860" dirty="0"/>
          </a:p>
        </p:txBody>
      </p:sp>
      <p:sp>
        <p:nvSpPr>
          <p:cNvPr id="175" name="Shape 173"/>
          <p:cNvSpPr/>
          <p:nvPr/>
        </p:nvSpPr>
        <p:spPr>
          <a:xfrm>
            <a:off x="4617720" y="4014216"/>
            <a:ext cx="1920240" cy="214884"/>
          </a:xfrm>
          <a:prstGeom prst="rect">
            <a:avLst/>
          </a:prstGeom>
          <a:solidFill>
            <a:srgbClr val="FFFFFF"/>
          </a:solidFill>
          <a:ln w="6350">
            <a:solidFill>
              <a:srgbClr val="D3DCE5"/>
            </a:solidFill>
            <a:prstDash val="solid"/>
          </a:ln>
        </p:spPr>
      </p:sp>
      <p:sp>
        <p:nvSpPr>
          <p:cNvPr id="176" name="Text 174"/>
          <p:cNvSpPr txBox="1"/>
          <p:nvPr/>
        </p:nvSpPr>
        <p:spPr>
          <a:xfrm>
            <a:off x="4681728" y="4014216"/>
            <a:ext cx="1792224" cy="214884"/>
          </a:xfrm>
          <a:prstGeom prst="rect">
            <a:avLst/>
          </a:prstGeom>
          <a:noFill/>
          <a:ln/>
        </p:spPr>
        <p:txBody>
          <a:bodyPr wrap="square" lIns="0" tIns="0" rIns="0" bIns="0" rtlCol="0" anchor="ctr"/>
          <a:lstStyle/>
          <a:p>
            <a:pPr algn="r" indent="0" marL="0">
              <a:buNone/>
            </a:pPr>
            <a:r>
              <a:rPr lang="en-US" sz="860" dirty="0">
                <a:solidFill>
                  <a:srgbClr val="5F7183"/>
                </a:solidFill>
                <a:latin typeface="Calibri" pitchFamily="34" charset="0"/>
                <a:ea typeface="Calibri" pitchFamily="34" charset="-122"/>
                <a:cs typeface="Calibri" pitchFamily="34" charset="-120"/>
              </a:rPr>
              <a:t>4,390</a:t>
            </a:r>
            <a:endParaRPr lang="en-US" sz="860" dirty="0"/>
          </a:p>
        </p:txBody>
      </p:sp>
      <p:sp>
        <p:nvSpPr>
          <p:cNvPr id="177" name="Shape 175"/>
          <p:cNvSpPr/>
          <p:nvPr/>
        </p:nvSpPr>
        <p:spPr>
          <a:xfrm>
            <a:off x="411480" y="4229100"/>
            <a:ext cx="4206240" cy="214884"/>
          </a:xfrm>
          <a:prstGeom prst="rect">
            <a:avLst/>
          </a:prstGeom>
          <a:solidFill>
            <a:srgbClr val="F7F9FB"/>
          </a:solidFill>
          <a:ln w="6350">
            <a:solidFill>
              <a:srgbClr val="D3DCE5"/>
            </a:solidFill>
            <a:prstDash val="solid"/>
          </a:ln>
        </p:spPr>
      </p:sp>
      <p:sp>
        <p:nvSpPr>
          <p:cNvPr id="178" name="Text 176"/>
          <p:cNvSpPr txBox="1"/>
          <p:nvPr/>
        </p:nvSpPr>
        <p:spPr>
          <a:xfrm>
            <a:off x="475488" y="4229100"/>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Enterprise value</a:t>
            </a:r>
            <a:endParaRPr lang="en-US" sz="860" dirty="0"/>
          </a:p>
        </p:txBody>
      </p:sp>
      <p:sp>
        <p:nvSpPr>
          <p:cNvPr id="179" name="Shape 177"/>
          <p:cNvSpPr/>
          <p:nvPr/>
        </p:nvSpPr>
        <p:spPr>
          <a:xfrm>
            <a:off x="4617720" y="4229100"/>
            <a:ext cx="1920240" cy="214884"/>
          </a:xfrm>
          <a:prstGeom prst="rect">
            <a:avLst/>
          </a:prstGeom>
          <a:solidFill>
            <a:srgbClr val="F7F9FB"/>
          </a:solidFill>
          <a:ln w="6350">
            <a:solidFill>
              <a:srgbClr val="D3DCE5"/>
            </a:solidFill>
            <a:prstDash val="solid"/>
          </a:ln>
        </p:spPr>
      </p:sp>
      <p:sp>
        <p:nvSpPr>
          <p:cNvPr id="180" name="Text 178"/>
          <p:cNvSpPr txBox="1"/>
          <p:nvPr/>
        </p:nvSpPr>
        <p:spPr>
          <a:xfrm>
            <a:off x="4681728" y="4229100"/>
            <a:ext cx="1792224" cy="214884"/>
          </a:xfrm>
          <a:prstGeom prst="rect">
            <a:avLst/>
          </a:prstGeom>
          <a:noFill/>
          <a:ln/>
        </p:spPr>
        <p:txBody>
          <a:bodyPr wrap="square" lIns="0" tIns="0" rIns="0" bIns="0" rtlCol="0" anchor="ctr"/>
          <a:lstStyle/>
          <a:p>
            <a:pPr algn="r" indent="0" marL="0">
              <a:buNone/>
            </a:pPr>
            <a:r>
              <a:rPr lang="en-US" sz="860" b="1" dirty="0">
                <a:solidFill>
                  <a:srgbClr val="1B2733"/>
                </a:solidFill>
                <a:latin typeface="Calibri" pitchFamily="34" charset="0"/>
                <a:ea typeface="Calibri" pitchFamily="34" charset="-122"/>
                <a:cs typeface="Calibri" pitchFamily="34" charset="-120"/>
              </a:rPr>
              <a:t>5,956</a:t>
            </a:r>
            <a:endParaRPr lang="en-US" sz="860" dirty="0"/>
          </a:p>
        </p:txBody>
      </p:sp>
      <p:sp>
        <p:nvSpPr>
          <p:cNvPr id="181" name="Shape 179"/>
          <p:cNvSpPr/>
          <p:nvPr/>
        </p:nvSpPr>
        <p:spPr>
          <a:xfrm>
            <a:off x="411480" y="4443984"/>
            <a:ext cx="4206240" cy="214884"/>
          </a:xfrm>
          <a:prstGeom prst="rect">
            <a:avLst/>
          </a:prstGeom>
          <a:solidFill>
            <a:srgbClr val="FFFFFF"/>
          </a:solidFill>
          <a:ln w="6350">
            <a:solidFill>
              <a:srgbClr val="D3DCE5"/>
            </a:solidFill>
            <a:prstDash val="solid"/>
          </a:ln>
        </p:spPr>
      </p:sp>
      <p:sp>
        <p:nvSpPr>
          <p:cNvPr id="182" name="Text 180"/>
          <p:cNvSpPr txBox="1"/>
          <p:nvPr/>
        </p:nvSpPr>
        <p:spPr>
          <a:xfrm>
            <a:off x="475488" y="4443984"/>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Add net cash</a:t>
            </a:r>
            <a:endParaRPr lang="en-US" sz="860" dirty="0"/>
          </a:p>
        </p:txBody>
      </p:sp>
      <p:sp>
        <p:nvSpPr>
          <p:cNvPr id="183" name="Shape 181"/>
          <p:cNvSpPr/>
          <p:nvPr/>
        </p:nvSpPr>
        <p:spPr>
          <a:xfrm>
            <a:off x="4617720" y="4443984"/>
            <a:ext cx="1920240" cy="214884"/>
          </a:xfrm>
          <a:prstGeom prst="rect">
            <a:avLst/>
          </a:prstGeom>
          <a:solidFill>
            <a:srgbClr val="FFFFFF"/>
          </a:solidFill>
          <a:ln w="6350">
            <a:solidFill>
              <a:srgbClr val="D3DCE5"/>
            </a:solidFill>
            <a:prstDash val="solid"/>
          </a:ln>
        </p:spPr>
      </p:sp>
      <p:sp>
        <p:nvSpPr>
          <p:cNvPr id="184" name="Text 182"/>
          <p:cNvSpPr txBox="1"/>
          <p:nvPr/>
        </p:nvSpPr>
        <p:spPr>
          <a:xfrm>
            <a:off x="4681728" y="4443984"/>
            <a:ext cx="1792224" cy="214884"/>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1,437</a:t>
            </a:r>
            <a:endParaRPr lang="en-US" sz="860" dirty="0"/>
          </a:p>
        </p:txBody>
      </p:sp>
      <p:sp>
        <p:nvSpPr>
          <p:cNvPr id="185" name="Shape 183"/>
          <p:cNvSpPr/>
          <p:nvPr/>
        </p:nvSpPr>
        <p:spPr>
          <a:xfrm>
            <a:off x="411480" y="4658868"/>
            <a:ext cx="4206240" cy="214884"/>
          </a:xfrm>
          <a:prstGeom prst="rect">
            <a:avLst/>
          </a:prstGeom>
          <a:solidFill>
            <a:srgbClr val="F7F9FB"/>
          </a:solidFill>
          <a:ln w="6350">
            <a:solidFill>
              <a:srgbClr val="D3DCE5"/>
            </a:solidFill>
            <a:prstDash val="solid"/>
          </a:ln>
        </p:spPr>
      </p:sp>
      <p:sp>
        <p:nvSpPr>
          <p:cNvPr id="186" name="Text 184"/>
          <p:cNvSpPr txBox="1"/>
          <p:nvPr/>
        </p:nvSpPr>
        <p:spPr>
          <a:xfrm>
            <a:off x="475488" y="4658868"/>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Equity value</a:t>
            </a:r>
            <a:endParaRPr lang="en-US" sz="860" dirty="0"/>
          </a:p>
        </p:txBody>
      </p:sp>
      <p:sp>
        <p:nvSpPr>
          <p:cNvPr id="187" name="Shape 185"/>
          <p:cNvSpPr/>
          <p:nvPr/>
        </p:nvSpPr>
        <p:spPr>
          <a:xfrm>
            <a:off x="4617720" y="4658868"/>
            <a:ext cx="1920240" cy="214884"/>
          </a:xfrm>
          <a:prstGeom prst="rect">
            <a:avLst/>
          </a:prstGeom>
          <a:solidFill>
            <a:srgbClr val="F7F9FB"/>
          </a:solidFill>
          <a:ln w="6350">
            <a:solidFill>
              <a:srgbClr val="D3DCE5"/>
            </a:solidFill>
            <a:prstDash val="solid"/>
          </a:ln>
        </p:spPr>
      </p:sp>
      <p:sp>
        <p:nvSpPr>
          <p:cNvPr id="188" name="Text 186"/>
          <p:cNvSpPr txBox="1"/>
          <p:nvPr/>
        </p:nvSpPr>
        <p:spPr>
          <a:xfrm>
            <a:off x="4681728" y="4658868"/>
            <a:ext cx="1792224" cy="214884"/>
          </a:xfrm>
          <a:prstGeom prst="rect">
            <a:avLst/>
          </a:prstGeom>
          <a:noFill/>
          <a:ln/>
        </p:spPr>
        <p:txBody>
          <a:bodyPr wrap="square" lIns="0" tIns="0" rIns="0" bIns="0" rtlCol="0" anchor="ctr"/>
          <a:lstStyle/>
          <a:p>
            <a:pPr algn="r" indent="0" marL="0">
              <a:buNone/>
            </a:pPr>
            <a:r>
              <a:rPr lang="en-US" sz="860" b="1" dirty="0">
                <a:solidFill>
                  <a:srgbClr val="1B2733"/>
                </a:solidFill>
                <a:latin typeface="Calibri" pitchFamily="34" charset="0"/>
                <a:ea typeface="Calibri" pitchFamily="34" charset="-122"/>
                <a:cs typeface="Calibri" pitchFamily="34" charset="-120"/>
              </a:rPr>
              <a:t>7,393</a:t>
            </a:r>
            <a:endParaRPr lang="en-US" sz="860" dirty="0"/>
          </a:p>
        </p:txBody>
      </p:sp>
      <p:sp>
        <p:nvSpPr>
          <p:cNvPr id="189" name="Shape 187"/>
          <p:cNvSpPr/>
          <p:nvPr/>
        </p:nvSpPr>
        <p:spPr>
          <a:xfrm>
            <a:off x="411480" y="4873752"/>
            <a:ext cx="4206240" cy="214884"/>
          </a:xfrm>
          <a:prstGeom prst="rect">
            <a:avLst/>
          </a:prstGeom>
          <a:solidFill>
            <a:srgbClr val="FFFFFF"/>
          </a:solidFill>
          <a:ln w="6350">
            <a:solidFill>
              <a:srgbClr val="D3DCE5"/>
            </a:solidFill>
            <a:prstDash val="solid"/>
          </a:ln>
        </p:spPr>
      </p:sp>
      <p:sp>
        <p:nvSpPr>
          <p:cNvPr id="190" name="Text 188"/>
          <p:cNvSpPr txBox="1"/>
          <p:nvPr/>
        </p:nvSpPr>
        <p:spPr>
          <a:xfrm>
            <a:off x="475488" y="4873752"/>
            <a:ext cx="4078224" cy="214884"/>
          </a:xfrm>
          <a:prstGeom prst="rect">
            <a:avLst/>
          </a:prstGeom>
          <a:noFill/>
          <a:ln/>
        </p:spPr>
        <p:txBody>
          <a:bodyPr wrap="square" lIns="0" tIns="0" rIns="0" bIns="0" rtlCol="0" anchor="ctr"/>
          <a:lstStyle/>
          <a:p>
            <a:pPr algn="l" indent="0" marL="0">
              <a:buNone/>
            </a:pPr>
            <a:r>
              <a:rPr lang="en-US" sz="860" b="1" dirty="0">
                <a:solidFill>
                  <a:srgbClr val="A3282C"/>
                </a:solidFill>
                <a:latin typeface="Calibri" pitchFamily="34" charset="0"/>
                <a:ea typeface="Calibri" pitchFamily="34" charset="-122"/>
                <a:cs typeface="Calibri" pitchFamily="34" charset="-120"/>
              </a:rPr>
              <a:t>Value per share (A$)</a:t>
            </a:r>
            <a:endParaRPr lang="en-US" sz="860" dirty="0"/>
          </a:p>
        </p:txBody>
      </p:sp>
      <p:sp>
        <p:nvSpPr>
          <p:cNvPr id="191" name="Shape 189"/>
          <p:cNvSpPr/>
          <p:nvPr/>
        </p:nvSpPr>
        <p:spPr>
          <a:xfrm>
            <a:off x="4617720" y="4873752"/>
            <a:ext cx="1920240" cy="214884"/>
          </a:xfrm>
          <a:prstGeom prst="rect">
            <a:avLst/>
          </a:prstGeom>
          <a:solidFill>
            <a:srgbClr val="FFFFFF"/>
          </a:solidFill>
          <a:ln w="6350">
            <a:solidFill>
              <a:srgbClr val="D3DCE5"/>
            </a:solidFill>
            <a:prstDash val="solid"/>
          </a:ln>
        </p:spPr>
      </p:sp>
      <p:sp>
        <p:nvSpPr>
          <p:cNvPr id="192" name="Text 190"/>
          <p:cNvSpPr txBox="1"/>
          <p:nvPr/>
        </p:nvSpPr>
        <p:spPr>
          <a:xfrm>
            <a:off x="4681728" y="4873752"/>
            <a:ext cx="1792224" cy="214884"/>
          </a:xfrm>
          <a:prstGeom prst="rect">
            <a:avLst/>
          </a:prstGeom>
          <a:noFill/>
          <a:ln/>
        </p:spPr>
        <p:txBody>
          <a:bodyPr wrap="square" lIns="0" tIns="0" rIns="0" bIns="0" rtlCol="0" anchor="ctr"/>
          <a:lstStyle/>
          <a:p>
            <a:pPr algn="r" indent="0" marL="0">
              <a:buNone/>
            </a:pPr>
            <a:r>
              <a:rPr lang="en-US" sz="860" b="1" dirty="0">
                <a:solidFill>
                  <a:srgbClr val="A3282C"/>
                </a:solidFill>
                <a:latin typeface="Calibri" pitchFamily="34" charset="0"/>
                <a:ea typeface="Calibri" pitchFamily="34" charset="-122"/>
                <a:cs typeface="Calibri" pitchFamily="34" charset="-120"/>
              </a:rPr>
              <a:t>2.30</a:t>
            </a:r>
            <a:endParaRPr lang="en-US" sz="860" dirty="0"/>
          </a:p>
        </p:txBody>
      </p:sp>
      <p:sp>
        <p:nvSpPr>
          <p:cNvPr id="193" name="Shape 191"/>
          <p:cNvSpPr/>
          <p:nvPr/>
        </p:nvSpPr>
        <p:spPr>
          <a:xfrm>
            <a:off x="411480" y="5088636"/>
            <a:ext cx="4206240" cy="214884"/>
          </a:xfrm>
          <a:prstGeom prst="rect">
            <a:avLst/>
          </a:prstGeom>
          <a:solidFill>
            <a:srgbClr val="F7F9FB"/>
          </a:solidFill>
          <a:ln w="6350">
            <a:solidFill>
              <a:srgbClr val="D3DCE5"/>
            </a:solidFill>
            <a:prstDash val="solid"/>
          </a:ln>
        </p:spPr>
      </p:sp>
      <p:sp>
        <p:nvSpPr>
          <p:cNvPr id="194" name="Text 192"/>
          <p:cNvSpPr txBox="1"/>
          <p:nvPr/>
        </p:nvSpPr>
        <p:spPr>
          <a:xfrm>
            <a:off x="475488" y="5088636"/>
            <a:ext cx="4078224" cy="214884"/>
          </a:xfrm>
          <a:prstGeom prst="rect">
            <a:avLst/>
          </a:prstGeom>
          <a:noFill/>
          <a:ln/>
        </p:spPr>
        <p:txBody>
          <a:bodyPr wrap="square" lIns="0" tIns="0" rIns="0" bIns="0" rtlCol="0" anchor="ctr"/>
          <a:lstStyle/>
          <a:p>
            <a:pPr algn="l" indent="0" marL="0">
              <a:buNone/>
            </a:pPr>
            <a:r>
              <a:rPr lang="en-US" sz="860" b="1" dirty="0">
                <a:solidFill>
                  <a:srgbClr val="A3282C"/>
                </a:solidFill>
                <a:latin typeface="Calibri" pitchFamily="34" charset="0"/>
                <a:ea typeface="Calibri" pitchFamily="34" charset="-122"/>
                <a:cs typeface="Calibri" pitchFamily="34" charset="-120"/>
              </a:rPr>
              <a:t>Upside / (downside)</a:t>
            </a:r>
            <a:endParaRPr lang="en-US" sz="860" dirty="0"/>
          </a:p>
        </p:txBody>
      </p:sp>
      <p:sp>
        <p:nvSpPr>
          <p:cNvPr id="195" name="Shape 193"/>
          <p:cNvSpPr/>
          <p:nvPr/>
        </p:nvSpPr>
        <p:spPr>
          <a:xfrm>
            <a:off x="4617720" y="5088636"/>
            <a:ext cx="1920240" cy="214884"/>
          </a:xfrm>
          <a:prstGeom prst="rect">
            <a:avLst/>
          </a:prstGeom>
          <a:solidFill>
            <a:srgbClr val="F7F9FB"/>
          </a:solidFill>
          <a:ln w="6350">
            <a:solidFill>
              <a:srgbClr val="D3DCE5"/>
            </a:solidFill>
            <a:prstDash val="solid"/>
          </a:ln>
        </p:spPr>
      </p:sp>
      <p:sp>
        <p:nvSpPr>
          <p:cNvPr id="196" name="Text 194"/>
          <p:cNvSpPr txBox="1"/>
          <p:nvPr/>
        </p:nvSpPr>
        <p:spPr>
          <a:xfrm>
            <a:off x="4681728" y="5088636"/>
            <a:ext cx="1792224" cy="214884"/>
          </a:xfrm>
          <a:prstGeom prst="rect">
            <a:avLst/>
          </a:prstGeom>
          <a:noFill/>
          <a:ln/>
        </p:spPr>
        <p:txBody>
          <a:bodyPr wrap="square" lIns="0" tIns="0" rIns="0" bIns="0" rtlCol="0" anchor="ctr"/>
          <a:lstStyle/>
          <a:p>
            <a:pPr algn="r" indent="0" marL="0">
              <a:buNone/>
            </a:pPr>
            <a:r>
              <a:rPr lang="en-US" sz="860" b="1" dirty="0">
                <a:solidFill>
                  <a:srgbClr val="A3282C"/>
                </a:solidFill>
                <a:latin typeface="Calibri" pitchFamily="34" charset="0"/>
                <a:ea typeface="Calibri" pitchFamily="34" charset="-122"/>
                <a:cs typeface="Calibri" pitchFamily="34" charset="-120"/>
              </a:rPr>
              <a:t>-58.1%</a:t>
            </a:r>
            <a:endParaRPr lang="en-US" sz="860" dirty="0"/>
          </a:p>
        </p:txBody>
      </p:sp>
      <p:sp>
        <p:nvSpPr>
          <p:cNvPr id="197" name="Shape 195"/>
          <p:cNvSpPr/>
          <p:nvPr/>
        </p:nvSpPr>
        <p:spPr>
          <a:xfrm>
            <a:off x="6812280" y="3291840"/>
            <a:ext cx="3017520" cy="292608"/>
          </a:xfrm>
          <a:prstGeom prst="rect">
            <a:avLst/>
          </a:prstGeom>
          <a:solidFill>
            <a:srgbClr val="10233A"/>
          </a:solidFill>
          <a:ln/>
        </p:spPr>
      </p:sp>
      <p:sp>
        <p:nvSpPr>
          <p:cNvPr id="198" name="Text 196"/>
          <p:cNvSpPr txBox="1"/>
          <p:nvPr/>
        </p:nvSpPr>
        <p:spPr>
          <a:xfrm>
            <a:off x="6876288" y="3291840"/>
            <a:ext cx="2889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Orebody</a:t>
            </a:r>
            <a:endParaRPr lang="en-US" sz="900" dirty="0"/>
          </a:p>
        </p:txBody>
      </p:sp>
      <p:sp>
        <p:nvSpPr>
          <p:cNvPr id="199" name="Shape 197"/>
          <p:cNvSpPr/>
          <p:nvPr/>
        </p:nvSpPr>
        <p:spPr>
          <a:xfrm>
            <a:off x="9829800" y="3291840"/>
            <a:ext cx="1956816" cy="292608"/>
          </a:xfrm>
          <a:prstGeom prst="rect">
            <a:avLst/>
          </a:prstGeom>
          <a:solidFill>
            <a:srgbClr val="10233A"/>
          </a:solidFill>
          <a:ln/>
        </p:spPr>
      </p:sp>
      <p:sp>
        <p:nvSpPr>
          <p:cNvPr id="200" name="Text 198"/>
          <p:cNvSpPr txBox="1"/>
          <p:nvPr/>
        </p:nvSpPr>
        <p:spPr>
          <a:xfrm>
            <a:off x="9893808" y="3291840"/>
            <a:ext cx="1828800" cy="292608"/>
          </a:xfrm>
          <a:prstGeom prst="rect">
            <a:avLst/>
          </a:prstGeom>
          <a:noFill/>
          <a:ln/>
        </p:spPr>
        <p:txBody>
          <a:bodyPr wrap="square" lIns="0" tIns="0" rIns="0" bIns="0" rtlCol="0" anchor="ctr"/>
          <a:lstStyle/>
          <a:p>
            <a:pPr algn="r" indent="0" marL="0">
              <a:buNone/>
            </a:pPr>
            <a:endParaRPr lang="en-US" sz="900" dirty="0"/>
          </a:p>
        </p:txBody>
      </p:sp>
      <p:sp>
        <p:nvSpPr>
          <p:cNvPr id="201" name="Shape 199"/>
          <p:cNvSpPr/>
          <p:nvPr/>
        </p:nvSpPr>
        <p:spPr>
          <a:xfrm>
            <a:off x="6812280" y="3584448"/>
            <a:ext cx="3017520" cy="224028"/>
          </a:xfrm>
          <a:prstGeom prst="rect">
            <a:avLst/>
          </a:prstGeom>
          <a:solidFill>
            <a:srgbClr val="FFFFFF"/>
          </a:solidFill>
          <a:ln w="6350">
            <a:solidFill>
              <a:srgbClr val="D3DCE5"/>
            </a:solidFill>
            <a:prstDash val="solid"/>
          </a:ln>
        </p:spPr>
      </p:sp>
      <p:sp>
        <p:nvSpPr>
          <p:cNvPr id="202" name="Text 200"/>
          <p:cNvSpPr txBox="1"/>
          <p:nvPr/>
        </p:nvSpPr>
        <p:spPr>
          <a:xfrm>
            <a:off x="6876288" y="3584448"/>
            <a:ext cx="2889504" cy="22402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Ore consumed to FY36 (Mt)</a:t>
            </a:r>
            <a:endParaRPr lang="en-US" sz="860" dirty="0"/>
          </a:p>
        </p:txBody>
      </p:sp>
      <p:sp>
        <p:nvSpPr>
          <p:cNvPr id="203" name="Shape 201"/>
          <p:cNvSpPr/>
          <p:nvPr/>
        </p:nvSpPr>
        <p:spPr>
          <a:xfrm>
            <a:off x="9829800" y="3584448"/>
            <a:ext cx="1956816" cy="224028"/>
          </a:xfrm>
          <a:prstGeom prst="rect">
            <a:avLst/>
          </a:prstGeom>
          <a:solidFill>
            <a:srgbClr val="FFFFFF"/>
          </a:solidFill>
          <a:ln w="6350">
            <a:solidFill>
              <a:srgbClr val="D3DCE5"/>
            </a:solidFill>
            <a:prstDash val="solid"/>
          </a:ln>
        </p:spPr>
      </p:sp>
      <p:sp>
        <p:nvSpPr>
          <p:cNvPr id="204" name="Text 202"/>
          <p:cNvSpPr txBox="1"/>
          <p:nvPr/>
        </p:nvSpPr>
        <p:spPr>
          <a:xfrm>
            <a:off x="9893808" y="3584448"/>
            <a:ext cx="1828800" cy="224028"/>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57.9</a:t>
            </a:r>
            <a:endParaRPr lang="en-US" sz="860" dirty="0"/>
          </a:p>
        </p:txBody>
      </p:sp>
      <p:sp>
        <p:nvSpPr>
          <p:cNvPr id="205" name="Shape 203"/>
          <p:cNvSpPr/>
          <p:nvPr/>
        </p:nvSpPr>
        <p:spPr>
          <a:xfrm>
            <a:off x="6812280" y="3808476"/>
            <a:ext cx="3017520" cy="224028"/>
          </a:xfrm>
          <a:prstGeom prst="rect">
            <a:avLst/>
          </a:prstGeom>
          <a:solidFill>
            <a:srgbClr val="F7F9FB"/>
          </a:solidFill>
          <a:ln w="6350">
            <a:solidFill>
              <a:srgbClr val="D3DCE5"/>
            </a:solidFill>
            <a:prstDash val="solid"/>
          </a:ln>
        </p:spPr>
      </p:sp>
      <p:sp>
        <p:nvSpPr>
          <p:cNvPr id="206" name="Text 204"/>
          <p:cNvSpPr txBox="1"/>
          <p:nvPr/>
        </p:nvSpPr>
        <p:spPr>
          <a:xfrm>
            <a:off x="6876288" y="3808476"/>
            <a:ext cx="2889504" cy="22402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Ore remaining after FY36 (Mt)</a:t>
            </a:r>
            <a:endParaRPr lang="en-US" sz="860" dirty="0"/>
          </a:p>
        </p:txBody>
      </p:sp>
      <p:sp>
        <p:nvSpPr>
          <p:cNvPr id="207" name="Shape 205"/>
          <p:cNvSpPr/>
          <p:nvPr/>
        </p:nvSpPr>
        <p:spPr>
          <a:xfrm>
            <a:off x="9829800" y="3808476"/>
            <a:ext cx="1956816" cy="224028"/>
          </a:xfrm>
          <a:prstGeom prst="rect">
            <a:avLst/>
          </a:prstGeom>
          <a:solidFill>
            <a:srgbClr val="F7F9FB"/>
          </a:solidFill>
          <a:ln w="6350">
            <a:solidFill>
              <a:srgbClr val="D3DCE5"/>
            </a:solidFill>
            <a:prstDash val="solid"/>
          </a:ln>
        </p:spPr>
      </p:sp>
      <p:sp>
        <p:nvSpPr>
          <p:cNvPr id="208" name="Text 206"/>
          <p:cNvSpPr txBox="1"/>
          <p:nvPr/>
        </p:nvSpPr>
        <p:spPr>
          <a:xfrm>
            <a:off x="9893808" y="3808476"/>
            <a:ext cx="1828800" cy="224028"/>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276.6</a:t>
            </a:r>
            <a:endParaRPr lang="en-US" sz="860" dirty="0"/>
          </a:p>
        </p:txBody>
      </p:sp>
      <p:sp>
        <p:nvSpPr>
          <p:cNvPr id="209" name="Shape 207"/>
          <p:cNvSpPr/>
          <p:nvPr/>
        </p:nvSpPr>
        <p:spPr>
          <a:xfrm>
            <a:off x="6812280" y="4032504"/>
            <a:ext cx="3017520" cy="224028"/>
          </a:xfrm>
          <a:prstGeom prst="rect">
            <a:avLst/>
          </a:prstGeom>
          <a:solidFill>
            <a:srgbClr val="FFFFFF"/>
          </a:solidFill>
          <a:ln w="6350">
            <a:solidFill>
              <a:srgbClr val="D3DCE5"/>
            </a:solidFill>
            <a:prstDash val="solid"/>
          </a:ln>
        </p:spPr>
      </p:sp>
      <p:sp>
        <p:nvSpPr>
          <p:cNvPr id="210" name="Text 208"/>
          <p:cNvSpPr txBox="1"/>
          <p:nvPr/>
        </p:nvSpPr>
        <p:spPr>
          <a:xfrm>
            <a:off x="6876288" y="4032504"/>
            <a:ext cx="2889504" cy="22402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Remaining mine life (years)</a:t>
            </a:r>
            <a:endParaRPr lang="en-US" sz="860" dirty="0"/>
          </a:p>
        </p:txBody>
      </p:sp>
      <p:sp>
        <p:nvSpPr>
          <p:cNvPr id="211" name="Shape 209"/>
          <p:cNvSpPr/>
          <p:nvPr/>
        </p:nvSpPr>
        <p:spPr>
          <a:xfrm>
            <a:off x="9829800" y="4032504"/>
            <a:ext cx="1956816" cy="224028"/>
          </a:xfrm>
          <a:prstGeom prst="rect">
            <a:avLst/>
          </a:prstGeom>
          <a:solidFill>
            <a:srgbClr val="FFFFFF"/>
          </a:solidFill>
          <a:ln w="6350">
            <a:solidFill>
              <a:srgbClr val="D3DCE5"/>
            </a:solidFill>
            <a:prstDash val="solid"/>
          </a:ln>
        </p:spPr>
      </p:sp>
      <p:sp>
        <p:nvSpPr>
          <p:cNvPr id="212" name="Text 210"/>
          <p:cNvSpPr txBox="1"/>
          <p:nvPr/>
        </p:nvSpPr>
        <p:spPr>
          <a:xfrm>
            <a:off x="9893808" y="4032504"/>
            <a:ext cx="1828800" cy="224028"/>
          </a:xfrm>
          <a:prstGeom prst="rect">
            <a:avLst/>
          </a:prstGeom>
          <a:noFill/>
          <a:ln/>
        </p:spPr>
        <p:txBody>
          <a:bodyPr wrap="square" lIns="0" tIns="0" rIns="0" bIns="0" rtlCol="0" anchor="ctr"/>
          <a:lstStyle/>
          <a:p>
            <a:pPr algn="r" indent="0" marL="0">
              <a:buNone/>
            </a:pPr>
            <a:r>
              <a:rPr lang="en-US" sz="860" b="1" dirty="0">
                <a:solidFill>
                  <a:srgbClr val="1B2733"/>
                </a:solidFill>
                <a:latin typeface="Calibri" pitchFamily="34" charset="0"/>
                <a:ea typeface="Calibri" pitchFamily="34" charset="-122"/>
                <a:cs typeface="Calibri" pitchFamily="34" charset="-120"/>
              </a:rPr>
              <a:t>25.0</a:t>
            </a:r>
            <a:endParaRPr lang="en-US" sz="860" dirty="0"/>
          </a:p>
        </p:txBody>
      </p:sp>
      <p:sp>
        <p:nvSpPr>
          <p:cNvPr id="213" name="Shape 211"/>
          <p:cNvSpPr/>
          <p:nvPr/>
        </p:nvSpPr>
        <p:spPr>
          <a:xfrm>
            <a:off x="6812280" y="4256532"/>
            <a:ext cx="3017520" cy="224028"/>
          </a:xfrm>
          <a:prstGeom prst="rect">
            <a:avLst/>
          </a:prstGeom>
          <a:solidFill>
            <a:srgbClr val="F7F9FB"/>
          </a:solidFill>
          <a:ln w="6350">
            <a:solidFill>
              <a:srgbClr val="D3DCE5"/>
            </a:solidFill>
            <a:prstDash val="solid"/>
          </a:ln>
        </p:spPr>
      </p:sp>
      <p:sp>
        <p:nvSpPr>
          <p:cNvPr id="214" name="Text 212"/>
          <p:cNvSpPr txBox="1"/>
          <p:nvPr/>
        </p:nvSpPr>
        <p:spPr>
          <a:xfrm>
            <a:off x="6876288" y="4256532"/>
            <a:ext cx="2889504" cy="22402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Terminal annuity factor</a:t>
            </a:r>
            <a:endParaRPr lang="en-US" sz="860" dirty="0"/>
          </a:p>
        </p:txBody>
      </p:sp>
      <p:sp>
        <p:nvSpPr>
          <p:cNvPr id="215" name="Shape 213"/>
          <p:cNvSpPr/>
          <p:nvPr/>
        </p:nvSpPr>
        <p:spPr>
          <a:xfrm>
            <a:off x="9829800" y="4256532"/>
            <a:ext cx="1956816" cy="224028"/>
          </a:xfrm>
          <a:prstGeom prst="rect">
            <a:avLst/>
          </a:prstGeom>
          <a:solidFill>
            <a:srgbClr val="F7F9FB"/>
          </a:solidFill>
          <a:ln w="6350">
            <a:solidFill>
              <a:srgbClr val="D3DCE5"/>
            </a:solidFill>
            <a:prstDash val="solid"/>
          </a:ln>
        </p:spPr>
      </p:sp>
      <p:sp>
        <p:nvSpPr>
          <p:cNvPr id="216" name="Text 214"/>
          <p:cNvSpPr txBox="1"/>
          <p:nvPr/>
        </p:nvSpPr>
        <p:spPr>
          <a:xfrm>
            <a:off x="9893808" y="4256532"/>
            <a:ext cx="1828800" cy="224028"/>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9.92x</a:t>
            </a:r>
            <a:endParaRPr lang="en-US" sz="860" dirty="0"/>
          </a:p>
        </p:txBody>
      </p:sp>
      <p:sp>
        <p:nvSpPr>
          <p:cNvPr id="217" name="Shape 215"/>
          <p:cNvSpPr/>
          <p:nvPr/>
        </p:nvSpPr>
        <p:spPr>
          <a:xfrm>
            <a:off x="6812280" y="4498848"/>
            <a:ext cx="4974336" cy="1572768"/>
          </a:xfrm>
          <a:prstGeom prst="rect">
            <a:avLst/>
          </a:prstGeom>
          <a:solidFill>
            <a:srgbClr val="F7E2E2"/>
          </a:solidFill>
          <a:ln w="9525">
            <a:solidFill>
              <a:srgbClr val="D3DCE5"/>
            </a:solidFill>
            <a:prstDash val="solid"/>
          </a:ln>
        </p:spPr>
      </p:sp>
      <p:sp>
        <p:nvSpPr>
          <p:cNvPr id="218" name="Text 216"/>
          <p:cNvSpPr txBox="1"/>
          <p:nvPr/>
        </p:nvSpPr>
        <p:spPr>
          <a:xfrm>
            <a:off x="6976872" y="4626864"/>
            <a:ext cx="4645152" cy="292608"/>
          </a:xfrm>
          <a:prstGeom prst="rect">
            <a:avLst/>
          </a:prstGeom>
          <a:noFill/>
          <a:ln/>
        </p:spPr>
        <p:txBody>
          <a:bodyPr wrap="square" lIns="0" tIns="0" rIns="0" bIns="0" rtlCol="0" anchor="ctr"/>
          <a:lstStyle/>
          <a:p>
            <a:pPr indent="0" marL="0">
              <a:buNone/>
            </a:pPr>
            <a:r>
              <a:rPr lang="en-US" sz="1150" b="1" dirty="0">
                <a:solidFill>
                  <a:srgbClr val="A3282C"/>
                </a:solidFill>
                <a:latin typeface="Calibri" pitchFamily="34" charset="0"/>
                <a:ea typeface="Calibri" pitchFamily="34" charset="-122"/>
                <a:cs typeface="Calibri" pitchFamily="34" charset="-120"/>
              </a:rPr>
              <a:t>What this case is telling you</a:t>
            </a:r>
            <a:endParaRPr lang="en-US" sz="1150" dirty="0"/>
          </a:p>
        </p:txBody>
      </p:sp>
      <p:sp>
        <p:nvSpPr>
          <p:cNvPr id="219" name="Text 217"/>
          <p:cNvSpPr txBox="1"/>
          <p:nvPr/>
        </p:nvSpPr>
        <p:spPr>
          <a:xfrm>
            <a:off x="6976872" y="4956048"/>
            <a:ext cx="4645152" cy="1024128"/>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A$2.30 is still 20% above the A$1.91 the market printed in the last trough, when PLS held A$974m of cash and was loss-making rather than A$2.29bn and earning A$526m. Note the mine life caps at 25 years, because a smaller operation depletes the orebody more slowly - which is why the bear case is not as punitive on terminal value as the price path alone would suggest.</a:t>
            </a:r>
            <a:endParaRPr lang="en-US" sz="880" dirty="0"/>
          </a:p>
        </p:txBody>
      </p:sp>
      <p:sp>
        <p:nvSpPr>
          <p:cNvPr id="220" name="Text 218"/>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Scenario Engine sheet. Set Assumptions!C7 to Bear to reproduce the full statements on this case.</a:t>
            </a:r>
            <a:endParaRPr lang="en-US" sz="720" dirty="0"/>
          </a:p>
        </p:txBody>
      </p:sp>
      <p:sp>
        <p:nvSpPr>
          <p:cNvPr id="221" name="Text 219"/>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E9</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The 2027-29 deficit called by Fastmarkets, Morgan Stanley and UBS arrives, prices overshoot the incentive level before mean-reverting, and both P2000 and Colina proceed on schedule.</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E10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377440" cy="292608"/>
          </a:xfrm>
          <a:prstGeom prst="rect">
            <a:avLst/>
          </a:prstGeom>
          <a:solidFill>
            <a:srgbClr val="10233A"/>
          </a:solidFill>
          <a:ln/>
        </p:spPr>
      </p:sp>
      <p:sp>
        <p:nvSpPr>
          <p:cNvPr id="8" name="Text 6"/>
          <p:cNvSpPr txBox="1"/>
          <p:nvPr/>
        </p:nvSpPr>
        <p:spPr>
          <a:xfrm>
            <a:off x="475488" y="1298448"/>
            <a:ext cx="2249424" cy="292608"/>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Driver</a:t>
            </a:r>
            <a:endParaRPr lang="en-US" sz="800" dirty="0"/>
          </a:p>
        </p:txBody>
      </p:sp>
      <p:sp>
        <p:nvSpPr>
          <p:cNvPr id="9" name="Shape 7"/>
          <p:cNvSpPr/>
          <p:nvPr/>
        </p:nvSpPr>
        <p:spPr>
          <a:xfrm>
            <a:off x="2788920" y="1298448"/>
            <a:ext cx="899770" cy="292608"/>
          </a:xfrm>
          <a:prstGeom prst="rect">
            <a:avLst/>
          </a:prstGeom>
          <a:solidFill>
            <a:srgbClr val="10233A"/>
          </a:solidFill>
          <a:ln/>
        </p:spPr>
      </p:sp>
      <p:sp>
        <p:nvSpPr>
          <p:cNvPr id="10" name="Text 8"/>
          <p:cNvSpPr txBox="1"/>
          <p:nvPr/>
        </p:nvSpPr>
        <p:spPr>
          <a:xfrm>
            <a:off x="2852928"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FY27</a:t>
            </a:r>
            <a:endParaRPr lang="en-US" sz="800" dirty="0"/>
          </a:p>
        </p:txBody>
      </p:sp>
      <p:sp>
        <p:nvSpPr>
          <p:cNvPr id="11" name="Shape 9"/>
          <p:cNvSpPr/>
          <p:nvPr/>
        </p:nvSpPr>
        <p:spPr>
          <a:xfrm>
            <a:off x="3688690" y="1298448"/>
            <a:ext cx="899770" cy="292608"/>
          </a:xfrm>
          <a:prstGeom prst="rect">
            <a:avLst/>
          </a:prstGeom>
          <a:solidFill>
            <a:srgbClr val="10233A"/>
          </a:solidFill>
          <a:ln/>
        </p:spPr>
      </p:sp>
      <p:sp>
        <p:nvSpPr>
          <p:cNvPr id="12" name="Text 10"/>
          <p:cNvSpPr txBox="1"/>
          <p:nvPr/>
        </p:nvSpPr>
        <p:spPr>
          <a:xfrm>
            <a:off x="3752698"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FY28</a:t>
            </a:r>
            <a:endParaRPr lang="en-US" sz="800" dirty="0"/>
          </a:p>
        </p:txBody>
      </p:sp>
      <p:sp>
        <p:nvSpPr>
          <p:cNvPr id="13" name="Shape 11"/>
          <p:cNvSpPr/>
          <p:nvPr/>
        </p:nvSpPr>
        <p:spPr>
          <a:xfrm>
            <a:off x="4588459" y="1298448"/>
            <a:ext cx="899770" cy="292608"/>
          </a:xfrm>
          <a:prstGeom prst="rect">
            <a:avLst/>
          </a:prstGeom>
          <a:solidFill>
            <a:srgbClr val="10233A"/>
          </a:solidFill>
          <a:ln/>
        </p:spPr>
      </p:sp>
      <p:sp>
        <p:nvSpPr>
          <p:cNvPr id="14" name="Text 12"/>
          <p:cNvSpPr txBox="1"/>
          <p:nvPr/>
        </p:nvSpPr>
        <p:spPr>
          <a:xfrm>
            <a:off x="4652467"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FY29</a:t>
            </a:r>
            <a:endParaRPr lang="en-US" sz="800" dirty="0"/>
          </a:p>
        </p:txBody>
      </p:sp>
      <p:sp>
        <p:nvSpPr>
          <p:cNvPr id="15" name="Shape 13"/>
          <p:cNvSpPr/>
          <p:nvPr/>
        </p:nvSpPr>
        <p:spPr>
          <a:xfrm>
            <a:off x="5488229" y="1298448"/>
            <a:ext cx="899770" cy="292608"/>
          </a:xfrm>
          <a:prstGeom prst="rect">
            <a:avLst/>
          </a:prstGeom>
          <a:solidFill>
            <a:srgbClr val="10233A"/>
          </a:solidFill>
          <a:ln/>
        </p:spPr>
      </p:sp>
      <p:sp>
        <p:nvSpPr>
          <p:cNvPr id="16" name="Text 14"/>
          <p:cNvSpPr txBox="1"/>
          <p:nvPr/>
        </p:nvSpPr>
        <p:spPr>
          <a:xfrm>
            <a:off x="5552237"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FY30</a:t>
            </a:r>
            <a:endParaRPr lang="en-US" sz="800" dirty="0"/>
          </a:p>
        </p:txBody>
      </p:sp>
      <p:sp>
        <p:nvSpPr>
          <p:cNvPr id="17" name="Shape 15"/>
          <p:cNvSpPr/>
          <p:nvPr/>
        </p:nvSpPr>
        <p:spPr>
          <a:xfrm>
            <a:off x="6387998" y="1298448"/>
            <a:ext cx="899770" cy="292608"/>
          </a:xfrm>
          <a:prstGeom prst="rect">
            <a:avLst/>
          </a:prstGeom>
          <a:solidFill>
            <a:srgbClr val="10233A"/>
          </a:solidFill>
          <a:ln/>
        </p:spPr>
      </p:sp>
      <p:sp>
        <p:nvSpPr>
          <p:cNvPr id="18" name="Text 16"/>
          <p:cNvSpPr txBox="1"/>
          <p:nvPr/>
        </p:nvSpPr>
        <p:spPr>
          <a:xfrm>
            <a:off x="6452006"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FY31</a:t>
            </a:r>
            <a:endParaRPr lang="en-US" sz="800" dirty="0"/>
          </a:p>
        </p:txBody>
      </p:sp>
      <p:sp>
        <p:nvSpPr>
          <p:cNvPr id="19" name="Shape 17"/>
          <p:cNvSpPr/>
          <p:nvPr/>
        </p:nvSpPr>
        <p:spPr>
          <a:xfrm>
            <a:off x="7287768" y="1298448"/>
            <a:ext cx="899770" cy="292608"/>
          </a:xfrm>
          <a:prstGeom prst="rect">
            <a:avLst/>
          </a:prstGeom>
          <a:solidFill>
            <a:srgbClr val="10233A"/>
          </a:solidFill>
          <a:ln/>
        </p:spPr>
      </p:sp>
      <p:sp>
        <p:nvSpPr>
          <p:cNvPr id="20" name="Text 18"/>
          <p:cNvSpPr txBox="1"/>
          <p:nvPr/>
        </p:nvSpPr>
        <p:spPr>
          <a:xfrm>
            <a:off x="7351776"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FY32</a:t>
            </a:r>
            <a:endParaRPr lang="en-US" sz="800" dirty="0"/>
          </a:p>
        </p:txBody>
      </p:sp>
      <p:sp>
        <p:nvSpPr>
          <p:cNvPr id="21" name="Shape 19"/>
          <p:cNvSpPr/>
          <p:nvPr/>
        </p:nvSpPr>
        <p:spPr>
          <a:xfrm>
            <a:off x="8187538" y="1298448"/>
            <a:ext cx="899770" cy="292608"/>
          </a:xfrm>
          <a:prstGeom prst="rect">
            <a:avLst/>
          </a:prstGeom>
          <a:solidFill>
            <a:srgbClr val="10233A"/>
          </a:solidFill>
          <a:ln/>
        </p:spPr>
      </p:sp>
      <p:sp>
        <p:nvSpPr>
          <p:cNvPr id="22" name="Text 20"/>
          <p:cNvSpPr txBox="1"/>
          <p:nvPr/>
        </p:nvSpPr>
        <p:spPr>
          <a:xfrm>
            <a:off x="8251546"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FY33</a:t>
            </a:r>
            <a:endParaRPr lang="en-US" sz="800" dirty="0"/>
          </a:p>
        </p:txBody>
      </p:sp>
      <p:sp>
        <p:nvSpPr>
          <p:cNvPr id="23" name="Shape 21"/>
          <p:cNvSpPr/>
          <p:nvPr/>
        </p:nvSpPr>
        <p:spPr>
          <a:xfrm>
            <a:off x="9087307" y="1298448"/>
            <a:ext cx="899770" cy="292608"/>
          </a:xfrm>
          <a:prstGeom prst="rect">
            <a:avLst/>
          </a:prstGeom>
          <a:solidFill>
            <a:srgbClr val="10233A"/>
          </a:solidFill>
          <a:ln/>
        </p:spPr>
      </p:sp>
      <p:sp>
        <p:nvSpPr>
          <p:cNvPr id="24" name="Text 22"/>
          <p:cNvSpPr txBox="1"/>
          <p:nvPr/>
        </p:nvSpPr>
        <p:spPr>
          <a:xfrm>
            <a:off x="9151315"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FY34</a:t>
            </a:r>
            <a:endParaRPr lang="en-US" sz="800" dirty="0"/>
          </a:p>
        </p:txBody>
      </p:sp>
      <p:sp>
        <p:nvSpPr>
          <p:cNvPr id="25" name="Shape 23"/>
          <p:cNvSpPr/>
          <p:nvPr/>
        </p:nvSpPr>
        <p:spPr>
          <a:xfrm>
            <a:off x="9987077" y="1298448"/>
            <a:ext cx="899770" cy="292608"/>
          </a:xfrm>
          <a:prstGeom prst="rect">
            <a:avLst/>
          </a:prstGeom>
          <a:solidFill>
            <a:srgbClr val="10233A"/>
          </a:solidFill>
          <a:ln/>
        </p:spPr>
      </p:sp>
      <p:sp>
        <p:nvSpPr>
          <p:cNvPr id="26" name="Text 24"/>
          <p:cNvSpPr txBox="1"/>
          <p:nvPr/>
        </p:nvSpPr>
        <p:spPr>
          <a:xfrm>
            <a:off x="10051085"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FY35</a:t>
            </a:r>
            <a:endParaRPr lang="en-US" sz="800" dirty="0"/>
          </a:p>
        </p:txBody>
      </p:sp>
      <p:sp>
        <p:nvSpPr>
          <p:cNvPr id="27" name="Shape 25"/>
          <p:cNvSpPr/>
          <p:nvPr/>
        </p:nvSpPr>
        <p:spPr>
          <a:xfrm>
            <a:off x="10886846" y="1298448"/>
            <a:ext cx="899770" cy="292608"/>
          </a:xfrm>
          <a:prstGeom prst="rect">
            <a:avLst/>
          </a:prstGeom>
          <a:solidFill>
            <a:srgbClr val="10233A"/>
          </a:solidFill>
          <a:ln/>
        </p:spPr>
      </p:sp>
      <p:sp>
        <p:nvSpPr>
          <p:cNvPr id="28" name="Text 26"/>
          <p:cNvSpPr txBox="1"/>
          <p:nvPr/>
        </p:nvSpPr>
        <p:spPr>
          <a:xfrm>
            <a:off x="10950854" y="1298448"/>
            <a:ext cx="771754" cy="292608"/>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FY36</a:t>
            </a:r>
            <a:endParaRPr lang="en-US" sz="800" dirty="0"/>
          </a:p>
        </p:txBody>
      </p:sp>
      <p:sp>
        <p:nvSpPr>
          <p:cNvPr id="29" name="Shape 27"/>
          <p:cNvSpPr/>
          <p:nvPr/>
        </p:nvSpPr>
        <p:spPr>
          <a:xfrm>
            <a:off x="411480" y="1591056"/>
            <a:ext cx="2377440" cy="246888"/>
          </a:xfrm>
          <a:prstGeom prst="rect">
            <a:avLst/>
          </a:prstGeom>
          <a:solidFill>
            <a:srgbClr val="FFFFFF"/>
          </a:solidFill>
          <a:ln w="6350">
            <a:solidFill>
              <a:srgbClr val="D3DCE5"/>
            </a:solidFill>
            <a:prstDash val="solid"/>
          </a:ln>
        </p:spPr>
      </p:sp>
      <p:sp>
        <p:nvSpPr>
          <p:cNvPr id="30" name="Text 28"/>
          <p:cNvSpPr txBox="1"/>
          <p:nvPr/>
        </p:nvSpPr>
        <p:spPr>
          <a:xfrm>
            <a:off x="475488" y="1591056"/>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Concentrate sold (kt)</a:t>
            </a:r>
            <a:endParaRPr lang="en-US" sz="820" dirty="0"/>
          </a:p>
        </p:txBody>
      </p:sp>
      <p:sp>
        <p:nvSpPr>
          <p:cNvPr id="31" name="Shape 29"/>
          <p:cNvSpPr/>
          <p:nvPr/>
        </p:nvSpPr>
        <p:spPr>
          <a:xfrm>
            <a:off x="2788920" y="1591056"/>
            <a:ext cx="899770" cy="246888"/>
          </a:xfrm>
          <a:prstGeom prst="rect">
            <a:avLst/>
          </a:prstGeom>
          <a:solidFill>
            <a:srgbClr val="FFFFFF"/>
          </a:solidFill>
          <a:ln w="6350">
            <a:solidFill>
              <a:srgbClr val="D3DCE5"/>
            </a:solidFill>
            <a:prstDash val="solid"/>
          </a:ln>
        </p:spPr>
      </p:sp>
      <p:sp>
        <p:nvSpPr>
          <p:cNvPr id="32" name="Text 30"/>
          <p:cNvSpPr txBox="1"/>
          <p:nvPr/>
        </p:nvSpPr>
        <p:spPr>
          <a:xfrm>
            <a:off x="2852928"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1,100</a:t>
            </a:r>
            <a:endParaRPr lang="en-US" sz="820" dirty="0"/>
          </a:p>
        </p:txBody>
      </p:sp>
      <p:sp>
        <p:nvSpPr>
          <p:cNvPr id="33" name="Shape 31"/>
          <p:cNvSpPr/>
          <p:nvPr/>
        </p:nvSpPr>
        <p:spPr>
          <a:xfrm>
            <a:off x="3688690" y="1591056"/>
            <a:ext cx="899770" cy="246888"/>
          </a:xfrm>
          <a:prstGeom prst="rect">
            <a:avLst/>
          </a:prstGeom>
          <a:solidFill>
            <a:srgbClr val="FFFFFF"/>
          </a:solidFill>
          <a:ln w="6350">
            <a:solidFill>
              <a:srgbClr val="D3DCE5"/>
            </a:solidFill>
            <a:prstDash val="solid"/>
          </a:ln>
        </p:spPr>
      </p:sp>
      <p:sp>
        <p:nvSpPr>
          <p:cNvPr id="34" name="Text 32"/>
          <p:cNvSpPr txBox="1"/>
          <p:nvPr/>
        </p:nvSpPr>
        <p:spPr>
          <a:xfrm>
            <a:off x="3752698"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1,165</a:t>
            </a:r>
            <a:endParaRPr lang="en-US" sz="820" dirty="0"/>
          </a:p>
        </p:txBody>
      </p:sp>
      <p:sp>
        <p:nvSpPr>
          <p:cNvPr id="35" name="Shape 33"/>
          <p:cNvSpPr/>
          <p:nvPr/>
        </p:nvSpPr>
        <p:spPr>
          <a:xfrm>
            <a:off x="4588459" y="1591056"/>
            <a:ext cx="899770" cy="246888"/>
          </a:xfrm>
          <a:prstGeom prst="rect">
            <a:avLst/>
          </a:prstGeom>
          <a:solidFill>
            <a:srgbClr val="FFFFFF"/>
          </a:solidFill>
          <a:ln w="6350">
            <a:solidFill>
              <a:srgbClr val="D3DCE5"/>
            </a:solidFill>
            <a:prstDash val="solid"/>
          </a:ln>
        </p:spPr>
      </p:sp>
      <p:sp>
        <p:nvSpPr>
          <p:cNvPr id="36" name="Text 34"/>
          <p:cNvSpPr txBox="1"/>
          <p:nvPr/>
        </p:nvSpPr>
        <p:spPr>
          <a:xfrm>
            <a:off x="4652467"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1,295</a:t>
            </a:r>
            <a:endParaRPr lang="en-US" sz="820" dirty="0"/>
          </a:p>
        </p:txBody>
      </p:sp>
      <p:sp>
        <p:nvSpPr>
          <p:cNvPr id="37" name="Shape 35"/>
          <p:cNvSpPr/>
          <p:nvPr/>
        </p:nvSpPr>
        <p:spPr>
          <a:xfrm>
            <a:off x="5488229" y="1591056"/>
            <a:ext cx="899770" cy="246888"/>
          </a:xfrm>
          <a:prstGeom prst="rect">
            <a:avLst/>
          </a:prstGeom>
          <a:solidFill>
            <a:srgbClr val="FFFFFF"/>
          </a:solidFill>
          <a:ln w="6350">
            <a:solidFill>
              <a:srgbClr val="D3DCE5"/>
            </a:solidFill>
            <a:prstDash val="solid"/>
          </a:ln>
        </p:spPr>
      </p:sp>
      <p:sp>
        <p:nvSpPr>
          <p:cNvPr id="38" name="Text 36"/>
          <p:cNvSpPr txBox="1"/>
          <p:nvPr/>
        </p:nvSpPr>
        <p:spPr>
          <a:xfrm>
            <a:off x="5552237"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1,625</a:t>
            </a:r>
            <a:endParaRPr lang="en-US" sz="820" dirty="0"/>
          </a:p>
        </p:txBody>
      </p:sp>
      <p:sp>
        <p:nvSpPr>
          <p:cNvPr id="39" name="Shape 37"/>
          <p:cNvSpPr/>
          <p:nvPr/>
        </p:nvSpPr>
        <p:spPr>
          <a:xfrm>
            <a:off x="6387998" y="1591056"/>
            <a:ext cx="899770" cy="246888"/>
          </a:xfrm>
          <a:prstGeom prst="rect">
            <a:avLst/>
          </a:prstGeom>
          <a:solidFill>
            <a:srgbClr val="FFFFFF"/>
          </a:solidFill>
          <a:ln w="6350">
            <a:solidFill>
              <a:srgbClr val="D3DCE5"/>
            </a:solidFill>
            <a:prstDash val="solid"/>
          </a:ln>
        </p:spPr>
      </p:sp>
      <p:sp>
        <p:nvSpPr>
          <p:cNvPr id="40" name="Text 38"/>
          <p:cNvSpPr txBox="1"/>
          <p:nvPr/>
        </p:nvSpPr>
        <p:spPr>
          <a:xfrm>
            <a:off x="6452006"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2,135</a:t>
            </a:r>
            <a:endParaRPr lang="en-US" sz="820" dirty="0"/>
          </a:p>
        </p:txBody>
      </p:sp>
      <p:sp>
        <p:nvSpPr>
          <p:cNvPr id="41" name="Shape 39"/>
          <p:cNvSpPr/>
          <p:nvPr/>
        </p:nvSpPr>
        <p:spPr>
          <a:xfrm>
            <a:off x="7287768" y="1591056"/>
            <a:ext cx="899770" cy="246888"/>
          </a:xfrm>
          <a:prstGeom prst="rect">
            <a:avLst/>
          </a:prstGeom>
          <a:solidFill>
            <a:srgbClr val="FFFFFF"/>
          </a:solidFill>
          <a:ln w="6350">
            <a:solidFill>
              <a:srgbClr val="D3DCE5"/>
            </a:solidFill>
            <a:prstDash val="solid"/>
          </a:ln>
        </p:spPr>
      </p:sp>
      <p:sp>
        <p:nvSpPr>
          <p:cNvPr id="42" name="Text 40"/>
          <p:cNvSpPr txBox="1"/>
          <p:nvPr/>
        </p:nvSpPr>
        <p:spPr>
          <a:xfrm>
            <a:off x="7351776"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2,480</a:t>
            </a:r>
            <a:endParaRPr lang="en-US" sz="820" dirty="0"/>
          </a:p>
        </p:txBody>
      </p:sp>
      <p:sp>
        <p:nvSpPr>
          <p:cNvPr id="43" name="Shape 41"/>
          <p:cNvSpPr/>
          <p:nvPr/>
        </p:nvSpPr>
        <p:spPr>
          <a:xfrm>
            <a:off x="8187538" y="1591056"/>
            <a:ext cx="899770" cy="246888"/>
          </a:xfrm>
          <a:prstGeom prst="rect">
            <a:avLst/>
          </a:prstGeom>
          <a:solidFill>
            <a:srgbClr val="FFFFFF"/>
          </a:solidFill>
          <a:ln w="6350">
            <a:solidFill>
              <a:srgbClr val="D3DCE5"/>
            </a:solidFill>
            <a:prstDash val="solid"/>
          </a:ln>
        </p:spPr>
      </p:sp>
      <p:sp>
        <p:nvSpPr>
          <p:cNvPr id="44" name="Text 42"/>
          <p:cNvSpPr txBox="1"/>
          <p:nvPr/>
        </p:nvSpPr>
        <p:spPr>
          <a:xfrm>
            <a:off x="8251546"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2,625</a:t>
            </a:r>
            <a:endParaRPr lang="en-US" sz="820" dirty="0"/>
          </a:p>
        </p:txBody>
      </p:sp>
      <p:sp>
        <p:nvSpPr>
          <p:cNvPr id="45" name="Shape 43"/>
          <p:cNvSpPr/>
          <p:nvPr/>
        </p:nvSpPr>
        <p:spPr>
          <a:xfrm>
            <a:off x="9087307" y="1591056"/>
            <a:ext cx="899770" cy="246888"/>
          </a:xfrm>
          <a:prstGeom prst="rect">
            <a:avLst/>
          </a:prstGeom>
          <a:solidFill>
            <a:srgbClr val="FFFFFF"/>
          </a:solidFill>
          <a:ln w="6350">
            <a:solidFill>
              <a:srgbClr val="D3DCE5"/>
            </a:solidFill>
            <a:prstDash val="solid"/>
          </a:ln>
        </p:spPr>
      </p:sp>
      <p:sp>
        <p:nvSpPr>
          <p:cNvPr id="46" name="Text 44"/>
          <p:cNvSpPr txBox="1"/>
          <p:nvPr/>
        </p:nvSpPr>
        <p:spPr>
          <a:xfrm>
            <a:off x="9151315"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2,685</a:t>
            </a:r>
            <a:endParaRPr lang="en-US" sz="820" dirty="0"/>
          </a:p>
        </p:txBody>
      </p:sp>
      <p:sp>
        <p:nvSpPr>
          <p:cNvPr id="47" name="Shape 45"/>
          <p:cNvSpPr/>
          <p:nvPr/>
        </p:nvSpPr>
        <p:spPr>
          <a:xfrm>
            <a:off x="9987077" y="1591056"/>
            <a:ext cx="899770" cy="246888"/>
          </a:xfrm>
          <a:prstGeom prst="rect">
            <a:avLst/>
          </a:prstGeom>
          <a:solidFill>
            <a:srgbClr val="FFFFFF"/>
          </a:solidFill>
          <a:ln w="6350">
            <a:solidFill>
              <a:srgbClr val="D3DCE5"/>
            </a:solidFill>
            <a:prstDash val="solid"/>
          </a:ln>
        </p:spPr>
      </p:sp>
      <p:sp>
        <p:nvSpPr>
          <p:cNvPr id="48" name="Text 46"/>
          <p:cNvSpPr txBox="1"/>
          <p:nvPr/>
        </p:nvSpPr>
        <p:spPr>
          <a:xfrm>
            <a:off x="10051085"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2,685</a:t>
            </a:r>
            <a:endParaRPr lang="en-US" sz="820" dirty="0"/>
          </a:p>
        </p:txBody>
      </p:sp>
      <p:sp>
        <p:nvSpPr>
          <p:cNvPr id="49" name="Shape 47"/>
          <p:cNvSpPr/>
          <p:nvPr/>
        </p:nvSpPr>
        <p:spPr>
          <a:xfrm>
            <a:off x="10886846" y="1591056"/>
            <a:ext cx="899770" cy="246888"/>
          </a:xfrm>
          <a:prstGeom prst="rect">
            <a:avLst/>
          </a:prstGeom>
          <a:solidFill>
            <a:srgbClr val="FFFFFF"/>
          </a:solidFill>
          <a:ln w="6350">
            <a:solidFill>
              <a:srgbClr val="D3DCE5"/>
            </a:solidFill>
            <a:prstDash val="solid"/>
          </a:ln>
        </p:spPr>
      </p:sp>
      <p:sp>
        <p:nvSpPr>
          <p:cNvPr id="50" name="Text 48"/>
          <p:cNvSpPr txBox="1"/>
          <p:nvPr/>
        </p:nvSpPr>
        <p:spPr>
          <a:xfrm>
            <a:off x="10950854" y="1591056"/>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2,685</a:t>
            </a:r>
            <a:endParaRPr lang="en-US" sz="820" dirty="0"/>
          </a:p>
        </p:txBody>
      </p:sp>
      <p:sp>
        <p:nvSpPr>
          <p:cNvPr id="51" name="Shape 49"/>
          <p:cNvSpPr/>
          <p:nvPr/>
        </p:nvSpPr>
        <p:spPr>
          <a:xfrm>
            <a:off x="411480" y="1837944"/>
            <a:ext cx="2377440" cy="246888"/>
          </a:xfrm>
          <a:prstGeom prst="rect">
            <a:avLst/>
          </a:prstGeom>
          <a:solidFill>
            <a:srgbClr val="F7F9FB"/>
          </a:solidFill>
          <a:ln w="6350">
            <a:solidFill>
              <a:srgbClr val="D3DCE5"/>
            </a:solidFill>
            <a:prstDash val="solid"/>
          </a:ln>
        </p:spPr>
      </p:sp>
      <p:sp>
        <p:nvSpPr>
          <p:cNvPr id="52" name="Text 50"/>
          <p:cNvSpPr txBox="1"/>
          <p:nvPr/>
        </p:nvSpPr>
        <p:spPr>
          <a:xfrm>
            <a:off x="475488" y="1837944"/>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Realised price (US$/t)</a:t>
            </a:r>
            <a:endParaRPr lang="en-US" sz="820" dirty="0"/>
          </a:p>
        </p:txBody>
      </p:sp>
      <p:sp>
        <p:nvSpPr>
          <p:cNvPr id="53" name="Shape 51"/>
          <p:cNvSpPr/>
          <p:nvPr/>
        </p:nvSpPr>
        <p:spPr>
          <a:xfrm>
            <a:off x="2788920" y="1837944"/>
            <a:ext cx="899770" cy="246888"/>
          </a:xfrm>
          <a:prstGeom prst="rect">
            <a:avLst/>
          </a:prstGeom>
          <a:solidFill>
            <a:srgbClr val="F7F9FB"/>
          </a:solidFill>
          <a:ln w="6350">
            <a:solidFill>
              <a:srgbClr val="D3DCE5"/>
            </a:solidFill>
            <a:prstDash val="solid"/>
          </a:ln>
        </p:spPr>
      </p:sp>
      <p:sp>
        <p:nvSpPr>
          <p:cNvPr id="54" name="Text 52"/>
          <p:cNvSpPr txBox="1"/>
          <p:nvPr/>
        </p:nvSpPr>
        <p:spPr>
          <a:xfrm>
            <a:off x="2852928"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2,050</a:t>
            </a:r>
            <a:endParaRPr lang="en-US" sz="820" dirty="0"/>
          </a:p>
        </p:txBody>
      </p:sp>
      <p:sp>
        <p:nvSpPr>
          <p:cNvPr id="55" name="Shape 53"/>
          <p:cNvSpPr/>
          <p:nvPr/>
        </p:nvSpPr>
        <p:spPr>
          <a:xfrm>
            <a:off x="3688690" y="1837944"/>
            <a:ext cx="899770" cy="246888"/>
          </a:xfrm>
          <a:prstGeom prst="rect">
            <a:avLst/>
          </a:prstGeom>
          <a:solidFill>
            <a:srgbClr val="F7F9FB"/>
          </a:solidFill>
          <a:ln w="6350">
            <a:solidFill>
              <a:srgbClr val="D3DCE5"/>
            </a:solidFill>
            <a:prstDash val="solid"/>
          </a:ln>
        </p:spPr>
      </p:sp>
      <p:sp>
        <p:nvSpPr>
          <p:cNvPr id="56" name="Text 54"/>
          <p:cNvSpPr txBox="1"/>
          <p:nvPr/>
        </p:nvSpPr>
        <p:spPr>
          <a:xfrm>
            <a:off x="3752698"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2,400</a:t>
            </a:r>
            <a:endParaRPr lang="en-US" sz="820" dirty="0"/>
          </a:p>
        </p:txBody>
      </p:sp>
      <p:sp>
        <p:nvSpPr>
          <p:cNvPr id="57" name="Shape 55"/>
          <p:cNvSpPr/>
          <p:nvPr/>
        </p:nvSpPr>
        <p:spPr>
          <a:xfrm>
            <a:off x="4588459" y="1837944"/>
            <a:ext cx="899770" cy="246888"/>
          </a:xfrm>
          <a:prstGeom prst="rect">
            <a:avLst/>
          </a:prstGeom>
          <a:solidFill>
            <a:srgbClr val="F7F9FB"/>
          </a:solidFill>
          <a:ln w="6350">
            <a:solidFill>
              <a:srgbClr val="D3DCE5"/>
            </a:solidFill>
            <a:prstDash val="solid"/>
          </a:ln>
        </p:spPr>
      </p:sp>
      <p:sp>
        <p:nvSpPr>
          <p:cNvPr id="58" name="Text 56"/>
          <p:cNvSpPr txBox="1"/>
          <p:nvPr/>
        </p:nvSpPr>
        <p:spPr>
          <a:xfrm>
            <a:off x="4652467"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2,600</a:t>
            </a:r>
            <a:endParaRPr lang="en-US" sz="820" dirty="0"/>
          </a:p>
        </p:txBody>
      </p:sp>
      <p:sp>
        <p:nvSpPr>
          <p:cNvPr id="59" name="Shape 57"/>
          <p:cNvSpPr/>
          <p:nvPr/>
        </p:nvSpPr>
        <p:spPr>
          <a:xfrm>
            <a:off x="5488229" y="1837944"/>
            <a:ext cx="899770" cy="246888"/>
          </a:xfrm>
          <a:prstGeom prst="rect">
            <a:avLst/>
          </a:prstGeom>
          <a:solidFill>
            <a:srgbClr val="F7F9FB"/>
          </a:solidFill>
          <a:ln w="6350">
            <a:solidFill>
              <a:srgbClr val="D3DCE5"/>
            </a:solidFill>
            <a:prstDash val="solid"/>
          </a:ln>
        </p:spPr>
      </p:sp>
      <p:sp>
        <p:nvSpPr>
          <p:cNvPr id="60" name="Text 58"/>
          <p:cNvSpPr txBox="1"/>
          <p:nvPr/>
        </p:nvSpPr>
        <p:spPr>
          <a:xfrm>
            <a:off x="5552237"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2,450</a:t>
            </a:r>
            <a:endParaRPr lang="en-US" sz="820" dirty="0"/>
          </a:p>
        </p:txBody>
      </p:sp>
      <p:sp>
        <p:nvSpPr>
          <p:cNvPr id="61" name="Shape 59"/>
          <p:cNvSpPr/>
          <p:nvPr/>
        </p:nvSpPr>
        <p:spPr>
          <a:xfrm>
            <a:off x="6387998" y="1837944"/>
            <a:ext cx="899770" cy="246888"/>
          </a:xfrm>
          <a:prstGeom prst="rect">
            <a:avLst/>
          </a:prstGeom>
          <a:solidFill>
            <a:srgbClr val="F7F9FB"/>
          </a:solidFill>
          <a:ln w="6350">
            <a:solidFill>
              <a:srgbClr val="D3DCE5"/>
            </a:solidFill>
            <a:prstDash val="solid"/>
          </a:ln>
        </p:spPr>
      </p:sp>
      <p:sp>
        <p:nvSpPr>
          <p:cNvPr id="62" name="Text 60"/>
          <p:cNvSpPr txBox="1"/>
          <p:nvPr/>
        </p:nvSpPr>
        <p:spPr>
          <a:xfrm>
            <a:off x="6452006"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2,300</a:t>
            </a:r>
            <a:endParaRPr lang="en-US" sz="820" dirty="0"/>
          </a:p>
        </p:txBody>
      </p:sp>
      <p:sp>
        <p:nvSpPr>
          <p:cNvPr id="63" name="Shape 61"/>
          <p:cNvSpPr/>
          <p:nvPr/>
        </p:nvSpPr>
        <p:spPr>
          <a:xfrm>
            <a:off x="7287768" y="1837944"/>
            <a:ext cx="899770" cy="246888"/>
          </a:xfrm>
          <a:prstGeom prst="rect">
            <a:avLst/>
          </a:prstGeom>
          <a:solidFill>
            <a:srgbClr val="F7F9FB"/>
          </a:solidFill>
          <a:ln w="6350">
            <a:solidFill>
              <a:srgbClr val="D3DCE5"/>
            </a:solidFill>
            <a:prstDash val="solid"/>
          </a:ln>
        </p:spPr>
      </p:sp>
      <p:sp>
        <p:nvSpPr>
          <p:cNvPr id="64" name="Text 62"/>
          <p:cNvSpPr txBox="1"/>
          <p:nvPr/>
        </p:nvSpPr>
        <p:spPr>
          <a:xfrm>
            <a:off x="7351776"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2,150</a:t>
            </a:r>
            <a:endParaRPr lang="en-US" sz="820" dirty="0"/>
          </a:p>
        </p:txBody>
      </p:sp>
      <p:sp>
        <p:nvSpPr>
          <p:cNvPr id="65" name="Shape 63"/>
          <p:cNvSpPr/>
          <p:nvPr/>
        </p:nvSpPr>
        <p:spPr>
          <a:xfrm>
            <a:off x="8187538" y="1837944"/>
            <a:ext cx="899770" cy="246888"/>
          </a:xfrm>
          <a:prstGeom prst="rect">
            <a:avLst/>
          </a:prstGeom>
          <a:solidFill>
            <a:srgbClr val="F7F9FB"/>
          </a:solidFill>
          <a:ln w="6350">
            <a:solidFill>
              <a:srgbClr val="D3DCE5"/>
            </a:solidFill>
            <a:prstDash val="solid"/>
          </a:ln>
        </p:spPr>
      </p:sp>
      <p:sp>
        <p:nvSpPr>
          <p:cNvPr id="66" name="Text 64"/>
          <p:cNvSpPr txBox="1"/>
          <p:nvPr/>
        </p:nvSpPr>
        <p:spPr>
          <a:xfrm>
            <a:off x="8251546"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2,050</a:t>
            </a:r>
            <a:endParaRPr lang="en-US" sz="820" dirty="0"/>
          </a:p>
        </p:txBody>
      </p:sp>
      <p:sp>
        <p:nvSpPr>
          <p:cNvPr id="67" name="Shape 65"/>
          <p:cNvSpPr/>
          <p:nvPr/>
        </p:nvSpPr>
        <p:spPr>
          <a:xfrm>
            <a:off x="9087307" y="1837944"/>
            <a:ext cx="899770" cy="246888"/>
          </a:xfrm>
          <a:prstGeom prst="rect">
            <a:avLst/>
          </a:prstGeom>
          <a:solidFill>
            <a:srgbClr val="F7F9FB"/>
          </a:solidFill>
          <a:ln w="6350">
            <a:solidFill>
              <a:srgbClr val="D3DCE5"/>
            </a:solidFill>
            <a:prstDash val="solid"/>
          </a:ln>
        </p:spPr>
      </p:sp>
      <p:sp>
        <p:nvSpPr>
          <p:cNvPr id="68" name="Text 66"/>
          <p:cNvSpPr txBox="1"/>
          <p:nvPr/>
        </p:nvSpPr>
        <p:spPr>
          <a:xfrm>
            <a:off x="9151315"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1,975</a:t>
            </a:r>
            <a:endParaRPr lang="en-US" sz="820" dirty="0"/>
          </a:p>
        </p:txBody>
      </p:sp>
      <p:sp>
        <p:nvSpPr>
          <p:cNvPr id="69" name="Shape 67"/>
          <p:cNvSpPr/>
          <p:nvPr/>
        </p:nvSpPr>
        <p:spPr>
          <a:xfrm>
            <a:off x="9987077" y="1837944"/>
            <a:ext cx="899770" cy="246888"/>
          </a:xfrm>
          <a:prstGeom prst="rect">
            <a:avLst/>
          </a:prstGeom>
          <a:solidFill>
            <a:srgbClr val="F7F9FB"/>
          </a:solidFill>
          <a:ln w="6350">
            <a:solidFill>
              <a:srgbClr val="D3DCE5"/>
            </a:solidFill>
            <a:prstDash val="solid"/>
          </a:ln>
        </p:spPr>
      </p:sp>
      <p:sp>
        <p:nvSpPr>
          <p:cNvPr id="70" name="Text 68"/>
          <p:cNvSpPr txBox="1"/>
          <p:nvPr/>
        </p:nvSpPr>
        <p:spPr>
          <a:xfrm>
            <a:off x="10051085"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1,925</a:t>
            </a:r>
            <a:endParaRPr lang="en-US" sz="820" dirty="0"/>
          </a:p>
        </p:txBody>
      </p:sp>
      <p:sp>
        <p:nvSpPr>
          <p:cNvPr id="71" name="Shape 69"/>
          <p:cNvSpPr/>
          <p:nvPr/>
        </p:nvSpPr>
        <p:spPr>
          <a:xfrm>
            <a:off x="10886846" y="1837944"/>
            <a:ext cx="899770" cy="246888"/>
          </a:xfrm>
          <a:prstGeom prst="rect">
            <a:avLst/>
          </a:prstGeom>
          <a:solidFill>
            <a:srgbClr val="F7F9FB"/>
          </a:solidFill>
          <a:ln w="6350">
            <a:solidFill>
              <a:srgbClr val="D3DCE5"/>
            </a:solidFill>
            <a:prstDash val="solid"/>
          </a:ln>
        </p:spPr>
      </p:sp>
      <p:sp>
        <p:nvSpPr>
          <p:cNvPr id="72" name="Text 70"/>
          <p:cNvSpPr txBox="1"/>
          <p:nvPr/>
        </p:nvSpPr>
        <p:spPr>
          <a:xfrm>
            <a:off x="10950854" y="1837944"/>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1,900</a:t>
            </a:r>
            <a:endParaRPr lang="en-US" sz="820" dirty="0"/>
          </a:p>
        </p:txBody>
      </p:sp>
      <p:sp>
        <p:nvSpPr>
          <p:cNvPr id="73" name="Shape 71"/>
          <p:cNvSpPr/>
          <p:nvPr/>
        </p:nvSpPr>
        <p:spPr>
          <a:xfrm>
            <a:off x="411480" y="2084832"/>
            <a:ext cx="2377440" cy="246888"/>
          </a:xfrm>
          <a:prstGeom prst="rect">
            <a:avLst/>
          </a:prstGeom>
          <a:solidFill>
            <a:srgbClr val="FFFFFF"/>
          </a:solidFill>
          <a:ln w="6350">
            <a:solidFill>
              <a:srgbClr val="D3DCE5"/>
            </a:solidFill>
            <a:prstDash val="solid"/>
          </a:ln>
        </p:spPr>
      </p:sp>
      <p:sp>
        <p:nvSpPr>
          <p:cNvPr id="74" name="Text 72"/>
          <p:cNvSpPr txBox="1"/>
          <p:nvPr/>
        </p:nvSpPr>
        <p:spPr>
          <a:xfrm>
            <a:off x="475488" y="2084832"/>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Unit cost (A$/t)</a:t>
            </a:r>
            <a:endParaRPr lang="en-US" sz="820" dirty="0"/>
          </a:p>
        </p:txBody>
      </p:sp>
      <p:sp>
        <p:nvSpPr>
          <p:cNvPr id="75" name="Shape 73"/>
          <p:cNvSpPr/>
          <p:nvPr/>
        </p:nvSpPr>
        <p:spPr>
          <a:xfrm>
            <a:off x="2788920" y="2084832"/>
            <a:ext cx="899770" cy="246888"/>
          </a:xfrm>
          <a:prstGeom prst="rect">
            <a:avLst/>
          </a:prstGeom>
          <a:solidFill>
            <a:srgbClr val="FFFFFF"/>
          </a:solidFill>
          <a:ln w="6350">
            <a:solidFill>
              <a:srgbClr val="D3DCE5"/>
            </a:solidFill>
            <a:prstDash val="solid"/>
          </a:ln>
        </p:spPr>
      </p:sp>
      <p:sp>
        <p:nvSpPr>
          <p:cNvPr id="76" name="Text 74"/>
          <p:cNvSpPr txBox="1"/>
          <p:nvPr/>
        </p:nvSpPr>
        <p:spPr>
          <a:xfrm>
            <a:off x="2852928"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585</a:t>
            </a:r>
            <a:endParaRPr lang="en-US" sz="820" dirty="0"/>
          </a:p>
        </p:txBody>
      </p:sp>
      <p:sp>
        <p:nvSpPr>
          <p:cNvPr id="77" name="Shape 75"/>
          <p:cNvSpPr/>
          <p:nvPr/>
        </p:nvSpPr>
        <p:spPr>
          <a:xfrm>
            <a:off x="3688690" y="2084832"/>
            <a:ext cx="899770" cy="246888"/>
          </a:xfrm>
          <a:prstGeom prst="rect">
            <a:avLst/>
          </a:prstGeom>
          <a:solidFill>
            <a:srgbClr val="FFFFFF"/>
          </a:solidFill>
          <a:ln w="6350">
            <a:solidFill>
              <a:srgbClr val="D3DCE5"/>
            </a:solidFill>
            <a:prstDash val="solid"/>
          </a:ln>
        </p:spPr>
      </p:sp>
      <p:sp>
        <p:nvSpPr>
          <p:cNvPr id="78" name="Text 76"/>
          <p:cNvSpPr txBox="1"/>
          <p:nvPr/>
        </p:nvSpPr>
        <p:spPr>
          <a:xfrm>
            <a:off x="3752698"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565</a:t>
            </a:r>
            <a:endParaRPr lang="en-US" sz="820" dirty="0"/>
          </a:p>
        </p:txBody>
      </p:sp>
      <p:sp>
        <p:nvSpPr>
          <p:cNvPr id="79" name="Shape 77"/>
          <p:cNvSpPr/>
          <p:nvPr/>
        </p:nvSpPr>
        <p:spPr>
          <a:xfrm>
            <a:off x="4588459" y="2084832"/>
            <a:ext cx="899770" cy="246888"/>
          </a:xfrm>
          <a:prstGeom prst="rect">
            <a:avLst/>
          </a:prstGeom>
          <a:solidFill>
            <a:srgbClr val="FFFFFF"/>
          </a:solidFill>
          <a:ln w="6350">
            <a:solidFill>
              <a:srgbClr val="D3DCE5"/>
            </a:solidFill>
            <a:prstDash val="solid"/>
          </a:ln>
        </p:spPr>
      </p:sp>
      <p:sp>
        <p:nvSpPr>
          <p:cNvPr id="80" name="Text 78"/>
          <p:cNvSpPr txBox="1"/>
          <p:nvPr/>
        </p:nvSpPr>
        <p:spPr>
          <a:xfrm>
            <a:off x="4652467"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550</a:t>
            </a:r>
            <a:endParaRPr lang="en-US" sz="820" dirty="0"/>
          </a:p>
        </p:txBody>
      </p:sp>
      <p:sp>
        <p:nvSpPr>
          <p:cNvPr id="81" name="Shape 79"/>
          <p:cNvSpPr/>
          <p:nvPr/>
        </p:nvSpPr>
        <p:spPr>
          <a:xfrm>
            <a:off x="5488229" y="2084832"/>
            <a:ext cx="899770" cy="246888"/>
          </a:xfrm>
          <a:prstGeom prst="rect">
            <a:avLst/>
          </a:prstGeom>
          <a:solidFill>
            <a:srgbClr val="FFFFFF"/>
          </a:solidFill>
          <a:ln w="6350">
            <a:solidFill>
              <a:srgbClr val="D3DCE5"/>
            </a:solidFill>
            <a:prstDash val="solid"/>
          </a:ln>
        </p:spPr>
      </p:sp>
      <p:sp>
        <p:nvSpPr>
          <p:cNvPr id="82" name="Text 80"/>
          <p:cNvSpPr txBox="1"/>
          <p:nvPr/>
        </p:nvSpPr>
        <p:spPr>
          <a:xfrm>
            <a:off x="5552237"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540</a:t>
            </a:r>
            <a:endParaRPr lang="en-US" sz="820" dirty="0"/>
          </a:p>
        </p:txBody>
      </p:sp>
      <p:sp>
        <p:nvSpPr>
          <p:cNvPr id="83" name="Shape 81"/>
          <p:cNvSpPr/>
          <p:nvPr/>
        </p:nvSpPr>
        <p:spPr>
          <a:xfrm>
            <a:off x="6387998" y="2084832"/>
            <a:ext cx="899770" cy="246888"/>
          </a:xfrm>
          <a:prstGeom prst="rect">
            <a:avLst/>
          </a:prstGeom>
          <a:solidFill>
            <a:srgbClr val="FFFFFF"/>
          </a:solidFill>
          <a:ln w="6350">
            <a:solidFill>
              <a:srgbClr val="D3DCE5"/>
            </a:solidFill>
            <a:prstDash val="solid"/>
          </a:ln>
        </p:spPr>
      </p:sp>
      <p:sp>
        <p:nvSpPr>
          <p:cNvPr id="84" name="Text 82"/>
          <p:cNvSpPr txBox="1"/>
          <p:nvPr/>
        </p:nvSpPr>
        <p:spPr>
          <a:xfrm>
            <a:off x="6452006"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530</a:t>
            </a:r>
            <a:endParaRPr lang="en-US" sz="820" dirty="0"/>
          </a:p>
        </p:txBody>
      </p:sp>
      <p:sp>
        <p:nvSpPr>
          <p:cNvPr id="85" name="Shape 83"/>
          <p:cNvSpPr/>
          <p:nvPr/>
        </p:nvSpPr>
        <p:spPr>
          <a:xfrm>
            <a:off x="7287768" y="2084832"/>
            <a:ext cx="899770" cy="246888"/>
          </a:xfrm>
          <a:prstGeom prst="rect">
            <a:avLst/>
          </a:prstGeom>
          <a:solidFill>
            <a:srgbClr val="FFFFFF"/>
          </a:solidFill>
          <a:ln w="6350">
            <a:solidFill>
              <a:srgbClr val="D3DCE5"/>
            </a:solidFill>
            <a:prstDash val="solid"/>
          </a:ln>
        </p:spPr>
      </p:sp>
      <p:sp>
        <p:nvSpPr>
          <p:cNvPr id="86" name="Text 84"/>
          <p:cNvSpPr txBox="1"/>
          <p:nvPr/>
        </p:nvSpPr>
        <p:spPr>
          <a:xfrm>
            <a:off x="7351776"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525</a:t>
            </a:r>
            <a:endParaRPr lang="en-US" sz="820" dirty="0"/>
          </a:p>
        </p:txBody>
      </p:sp>
      <p:sp>
        <p:nvSpPr>
          <p:cNvPr id="87" name="Shape 85"/>
          <p:cNvSpPr/>
          <p:nvPr/>
        </p:nvSpPr>
        <p:spPr>
          <a:xfrm>
            <a:off x="8187538" y="2084832"/>
            <a:ext cx="899770" cy="246888"/>
          </a:xfrm>
          <a:prstGeom prst="rect">
            <a:avLst/>
          </a:prstGeom>
          <a:solidFill>
            <a:srgbClr val="FFFFFF"/>
          </a:solidFill>
          <a:ln w="6350">
            <a:solidFill>
              <a:srgbClr val="D3DCE5"/>
            </a:solidFill>
            <a:prstDash val="solid"/>
          </a:ln>
        </p:spPr>
      </p:sp>
      <p:sp>
        <p:nvSpPr>
          <p:cNvPr id="88" name="Text 86"/>
          <p:cNvSpPr txBox="1"/>
          <p:nvPr/>
        </p:nvSpPr>
        <p:spPr>
          <a:xfrm>
            <a:off x="8251546"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520</a:t>
            </a:r>
            <a:endParaRPr lang="en-US" sz="820" dirty="0"/>
          </a:p>
        </p:txBody>
      </p:sp>
      <p:sp>
        <p:nvSpPr>
          <p:cNvPr id="89" name="Shape 87"/>
          <p:cNvSpPr/>
          <p:nvPr/>
        </p:nvSpPr>
        <p:spPr>
          <a:xfrm>
            <a:off x="9087307" y="2084832"/>
            <a:ext cx="899770" cy="246888"/>
          </a:xfrm>
          <a:prstGeom prst="rect">
            <a:avLst/>
          </a:prstGeom>
          <a:solidFill>
            <a:srgbClr val="FFFFFF"/>
          </a:solidFill>
          <a:ln w="6350">
            <a:solidFill>
              <a:srgbClr val="D3DCE5"/>
            </a:solidFill>
            <a:prstDash val="solid"/>
          </a:ln>
        </p:spPr>
      </p:sp>
      <p:sp>
        <p:nvSpPr>
          <p:cNvPr id="90" name="Text 88"/>
          <p:cNvSpPr txBox="1"/>
          <p:nvPr/>
        </p:nvSpPr>
        <p:spPr>
          <a:xfrm>
            <a:off x="9151315"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520</a:t>
            </a:r>
            <a:endParaRPr lang="en-US" sz="820" dirty="0"/>
          </a:p>
        </p:txBody>
      </p:sp>
      <p:sp>
        <p:nvSpPr>
          <p:cNvPr id="91" name="Shape 89"/>
          <p:cNvSpPr/>
          <p:nvPr/>
        </p:nvSpPr>
        <p:spPr>
          <a:xfrm>
            <a:off x="9987077" y="2084832"/>
            <a:ext cx="899770" cy="246888"/>
          </a:xfrm>
          <a:prstGeom prst="rect">
            <a:avLst/>
          </a:prstGeom>
          <a:solidFill>
            <a:srgbClr val="FFFFFF"/>
          </a:solidFill>
          <a:ln w="6350">
            <a:solidFill>
              <a:srgbClr val="D3DCE5"/>
            </a:solidFill>
            <a:prstDash val="solid"/>
          </a:ln>
        </p:spPr>
      </p:sp>
      <p:sp>
        <p:nvSpPr>
          <p:cNvPr id="92" name="Text 90"/>
          <p:cNvSpPr txBox="1"/>
          <p:nvPr/>
        </p:nvSpPr>
        <p:spPr>
          <a:xfrm>
            <a:off x="10051085"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520</a:t>
            </a:r>
            <a:endParaRPr lang="en-US" sz="820" dirty="0"/>
          </a:p>
        </p:txBody>
      </p:sp>
      <p:sp>
        <p:nvSpPr>
          <p:cNvPr id="93" name="Shape 91"/>
          <p:cNvSpPr/>
          <p:nvPr/>
        </p:nvSpPr>
        <p:spPr>
          <a:xfrm>
            <a:off x="10886846" y="2084832"/>
            <a:ext cx="899770" cy="246888"/>
          </a:xfrm>
          <a:prstGeom prst="rect">
            <a:avLst/>
          </a:prstGeom>
          <a:solidFill>
            <a:srgbClr val="FFFFFF"/>
          </a:solidFill>
          <a:ln w="6350">
            <a:solidFill>
              <a:srgbClr val="D3DCE5"/>
            </a:solidFill>
            <a:prstDash val="solid"/>
          </a:ln>
        </p:spPr>
      </p:sp>
      <p:sp>
        <p:nvSpPr>
          <p:cNvPr id="94" name="Text 92"/>
          <p:cNvSpPr txBox="1"/>
          <p:nvPr/>
        </p:nvSpPr>
        <p:spPr>
          <a:xfrm>
            <a:off x="10950854" y="2084832"/>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520</a:t>
            </a:r>
            <a:endParaRPr lang="en-US" sz="820" dirty="0"/>
          </a:p>
        </p:txBody>
      </p:sp>
      <p:sp>
        <p:nvSpPr>
          <p:cNvPr id="95" name="Shape 93"/>
          <p:cNvSpPr/>
          <p:nvPr/>
        </p:nvSpPr>
        <p:spPr>
          <a:xfrm>
            <a:off x="411480" y="2331720"/>
            <a:ext cx="2377440" cy="246888"/>
          </a:xfrm>
          <a:prstGeom prst="rect">
            <a:avLst/>
          </a:prstGeom>
          <a:solidFill>
            <a:srgbClr val="F7F9FB"/>
          </a:solidFill>
          <a:ln w="6350">
            <a:solidFill>
              <a:srgbClr val="D3DCE5"/>
            </a:solidFill>
            <a:prstDash val="solid"/>
          </a:ln>
        </p:spPr>
      </p:sp>
      <p:sp>
        <p:nvSpPr>
          <p:cNvPr id="96" name="Text 94"/>
          <p:cNvSpPr txBox="1"/>
          <p:nvPr/>
        </p:nvSpPr>
        <p:spPr>
          <a:xfrm>
            <a:off x="475488" y="2331720"/>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Capital expenditure (A$m)</a:t>
            </a:r>
            <a:endParaRPr lang="en-US" sz="820" dirty="0"/>
          </a:p>
        </p:txBody>
      </p:sp>
      <p:sp>
        <p:nvSpPr>
          <p:cNvPr id="97" name="Shape 95"/>
          <p:cNvSpPr/>
          <p:nvPr/>
        </p:nvSpPr>
        <p:spPr>
          <a:xfrm>
            <a:off x="2788920" y="2331720"/>
            <a:ext cx="899770" cy="246888"/>
          </a:xfrm>
          <a:prstGeom prst="rect">
            <a:avLst/>
          </a:prstGeom>
          <a:solidFill>
            <a:srgbClr val="F7F9FB"/>
          </a:solidFill>
          <a:ln w="6350">
            <a:solidFill>
              <a:srgbClr val="D3DCE5"/>
            </a:solidFill>
            <a:prstDash val="solid"/>
          </a:ln>
        </p:spPr>
      </p:sp>
      <p:sp>
        <p:nvSpPr>
          <p:cNvPr id="98" name="Text 96"/>
          <p:cNvSpPr txBox="1"/>
          <p:nvPr/>
        </p:nvSpPr>
        <p:spPr>
          <a:xfrm>
            <a:off x="2852928"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685</a:t>
            </a:r>
            <a:endParaRPr lang="en-US" sz="820" dirty="0"/>
          </a:p>
        </p:txBody>
      </p:sp>
      <p:sp>
        <p:nvSpPr>
          <p:cNvPr id="99" name="Shape 97"/>
          <p:cNvSpPr/>
          <p:nvPr/>
        </p:nvSpPr>
        <p:spPr>
          <a:xfrm>
            <a:off x="3688690" y="2331720"/>
            <a:ext cx="899770" cy="246888"/>
          </a:xfrm>
          <a:prstGeom prst="rect">
            <a:avLst/>
          </a:prstGeom>
          <a:solidFill>
            <a:srgbClr val="F7F9FB"/>
          </a:solidFill>
          <a:ln w="6350">
            <a:solidFill>
              <a:srgbClr val="D3DCE5"/>
            </a:solidFill>
            <a:prstDash val="solid"/>
          </a:ln>
        </p:spPr>
      </p:sp>
      <p:sp>
        <p:nvSpPr>
          <p:cNvPr id="100" name="Text 98"/>
          <p:cNvSpPr txBox="1"/>
          <p:nvPr/>
        </p:nvSpPr>
        <p:spPr>
          <a:xfrm>
            <a:off x="3752698"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1,020</a:t>
            </a:r>
            <a:endParaRPr lang="en-US" sz="820" dirty="0"/>
          </a:p>
        </p:txBody>
      </p:sp>
      <p:sp>
        <p:nvSpPr>
          <p:cNvPr id="101" name="Shape 99"/>
          <p:cNvSpPr/>
          <p:nvPr/>
        </p:nvSpPr>
        <p:spPr>
          <a:xfrm>
            <a:off x="4588459" y="2331720"/>
            <a:ext cx="899770" cy="246888"/>
          </a:xfrm>
          <a:prstGeom prst="rect">
            <a:avLst/>
          </a:prstGeom>
          <a:solidFill>
            <a:srgbClr val="F7F9FB"/>
          </a:solidFill>
          <a:ln w="6350">
            <a:solidFill>
              <a:srgbClr val="D3DCE5"/>
            </a:solidFill>
            <a:prstDash val="solid"/>
          </a:ln>
        </p:spPr>
      </p:sp>
      <p:sp>
        <p:nvSpPr>
          <p:cNvPr id="102" name="Text 100"/>
          <p:cNvSpPr txBox="1"/>
          <p:nvPr/>
        </p:nvSpPr>
        <p:spPr>
          <a:xfrm>
            <a:off x="4652467"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1,130</a:t>
            </a:r>
            <a:endParaRPr lang="en-US" sz="820" dirty="0"/>
          </a:p>
        </p:txBody>
      </p:sp>
      <p:sp>
        <p:nvSpPr>
          <p:cNvPr id="103" name="Shape 101"/>
          <p:cNvSpPr/>
          <p:nvPr/>
        </p:nvSpPr>
        <p:spPr>
          <a:xfrm>
            <a:off x="5488229" y="2331720"/>
            <a:ext cx="899770" cy="246888"/>
          </a:xfrm>
          <a:prstGeom prst="rect">
            <a:avLst/>
          </a:prstGeom>
          <a:solidFill>
            <a:srgbClr val="F7F9FB"/>
          </a:solidFill>
          <a:ln w="6350">
            <a:solidFill>
              <a:srgbClr val="D3DCE5"/>
            </a:solidFill>
            <a:prstDash val="solid"/>
          </a:ln>
        </p:spPr>
      </p:sp>
      <p:sp>
        <p:nvSpPr>
          <p:cNvPr id="104" name="Text 102"/>
          <p:cNvSpPr txBox="1"/>
          <p:nvPr/>
        </p:nvSpPr>
        <p:spPr>
          <a:xfrm>
            <a:off x="5552237"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900</a:t>
            </a:r>
            <a:endParaRPr lang="en-US" sz="820" dirty="0"/>
          </a:p>
        </p:txBody>
      </p:sp>
      <p:sp>
        <p:nvSpPr>
          <p:cNvPr id="105" name="Shape 103"/>
          <p:cNvSpPr/>
          <p:nvPr/>
        </p:nvSpPr>
        <p:spPr>
          <a:xfrm>
            <a:off x="6387998" y="2331720"/>
            <a:ext cx="899770" cy="246888"/>
          </a:xfrm>
          <a:prstGeom prst="rect">
            <a:avLst/>
          </a:prstGeom>
          <a:solidFill>
            <a:srgbClr val="F7F9FB"/>
          </a:solidFill>
          <a:ln w="6350">
            <a:solidFill>
              <a:srgbClr val="D3DCE5"/>
            </a:solidFill>
            <a:prstDash val="solid"/>
          </a:ln>
        </p:spPr>
      </p:sp>
      <p:sp>
        <p:nvSpPr>
          <p:cNvPr id="106" name="Text 104"/>
          <p:cNvSpPr txBox="1"/>
          <p:nvPr/>
        </p:nvSpPr>
        <p:spPr>
          <a:xfrm>
            <a:off x="6452006"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720</a:t>
            </a:r>
            <a:endParaRPr lang="en-US" sz="820" dirty="0"/>
          </a:p>
        </p:txBody>
      </p:sp>
      <p:sp>
        <p:nvSpPr>
          <p:cNvPr id="107" name="Shape 105"/>
          <p:cNvSpPr/>
          <p:nvPr/>
        </p:nvSpPr>
        <p:spPr>
          <a:xfrm>
            <a:off x="7287768" y="2331720"/>
            <a:ext cx="899770" cy="246888"/>
          </a:xfrm>
          <a:prstGeom prst="rect">
            <a:avLst/>
          </a:prstGeom>
          <a:solidFill>
            <a:srgbClr val="F7F9FB"/>
          </a:solidFill>
          <a:ln w="6350">
            <a:solidFill>
              <a:srgbClr val="D3DCE5"/>
            </a:solidFill>
            <a:prstDash val="solid"/>
          </a:ln>
        </p:spPr>
      </p:sp>
      <p:sp>
        <p:nvSpPr>
          <p:cNvPr id="108" name="Text 106"/>
          <p:cNvSpPr txBox="1"/>
          <p:nvPr/>
        </p:nvSpPr>
        <p:spPr>
          <a:xfrm>
            <a:off x="7351776"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600</a:t>
            </a:r>
            <a:endParaRPr lang="en-US" sz="820" dirty="0"/>
          </a:p>
        </p:txBody>
      </p:sp>
      <p:sp>
        <p:nvSpPr>
          <p:cNvPr id="109" name="Shape 107"/>
          <p:cNvSpPr/>
          <p:nvPr/>
        </p:nvSpPr>
        <p:spPr>
          <a:xfrm>
            <a:off x="8187538" y="2331720"/>
            <a:ext cx="899770" cy="246888"/>
          </a:xfrm>
          <a:prstGeom prst="rect">
            <a:avLst/>
          </a:prstGeom>
          <a:solidFill>
            <a:srgbClr val="F7F9FB"/>
          </a:solidFill>
          <a:ln w="6350">
            <a:solidFill>
              <a:srgbClr val="D3DCE5"/>
            </a:solidFill>
            <a:prstDash val="solid"/>
          </a:ln>
        </p:spPr>
      </p:sp>
      <p:sp>
        <p:nvSpPr>
          <p:cNvPr id="110" name="Text 108"/>
          <p:cNvSpPr txBox="1"/>
          <p:nvPr/>
        </p:nvSpPr>
        <p:spPr>
          <a:xfrm>
            <a:off x="8251546"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480</a:t>
            </a:r>
            <a:endParaRPr lang="en-US" sz="820" dirty="0"/>
          </a:p>
        </p:txBody>
      </p:sp>
      <p:sp>
        <p:nvSpPr>
          <p:cNvPr id="111" name="Shape 109"/>
          <p:cNvSpPr/>
          <p:nvPr/>
        </p:nvSpPr>
        <p:spPr>
          <a:xfrm>
            <a:off x="9087307" y="2331720"/>
            <a:ext cx="899770" cy="246888"/>
          </a:xfrm>
          <a:prstGeom prst="rect">
            <a:avLst/>
          </a:prstGeom>
          <a:solidFill>
            <a:srgbClr val="F7F9FB"/>
          </a:solidFill>
          <a:ln w="6350">
            <a:solidFill>
              <a:srgbClr val="D3DCE5"/>
            </a:solidFill>
            <a:prstDash val="solid"/>
          </a:ln>
        </p:spPr>
      </p:sp>
      <p:sp>
        <p:nvSpPr>
          <p:cNvPr id="112" name="Text 110"/>
          <p:cNvSpPr txBox="1"/>
          <p:nvPr/>
        </p:nvSpPr>
        <p:spPr>
          <a:xfrm>
            <a:off x="9151315"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430</a:t>
            </a:r>
            <a:endParaRPr lang="en-US" sz="820" dirty="0"/>
          </a:p>
        </p:txBody>
      </p:sp>
      <p:sp>
        <p:nvSpPr>
          <p:cNvPr id="113" name="Shape 111"/>
          <p:cNvSpPr/>
          <p:nvPr/>
        </p:nvSpPr>
        <p:spPr>
          <a:xfrm>
            <a:off x="9987077" y="2331720"/>
            <a:ext cx="899770" cy="246888"/>
          </a:xfrm>
          <a:prstGeom prst="rect">
            <a:avLst/>
          </a:prstGeom>
          <a:solidFill>
            <a:srgbClr val="F7F9FB"/>
          </a:solidFill>
          <a:ln w="6350">
            <a:solidFill>
              <a:srgbClr val="D3DCE5"/>
            </a:solidFill>
            <a:prstDash val="solid"/>
          </a:ln>
        </p:spPr>
      </p:sp>
      <p:sp>
        <p:nvSpPr>
          <p:cNvPr id="114" name="Text 112"/>
          <p:cNvSpPr txBox="1"/>
          <p:nvPr/>
        </p:nvSpPr>
        <p:spPr>
          <a:xfrm>
            <a:off x="10051085"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410</a:t>
            </a:r>
            <a:endParaRPr lang="en-US" sz="820" dirty="0"/>
          </a:p>
        </p:txBody>
      </p:sp>
      <p:sp>
        <p:nvSpPr>
          <p:cNvPr id="115" name="Shape 113"/>
          <p:cNvSpPr/>
          <p:nvPr/>
        </p:nvSpPr>
        <p:spPr>
          <a:xfrm>
            <a:off x="10886846" y="2331720"/>
            <a:ext cx="899770" cy="246888"/>
          </a:xfrm>
          <a:prstGeom prst="rect">
            <a:avLst/>
          </a:prstGeom>
          <a:solidFill>
            <a:srgbClr val="F7F9FB"/>
          </a:solidFill>
          <a:ln w="6350">
            <a:solidFill>
              <a:srgbClr val="D3DCE5"/>
            </a:solidFill>
            <a:prstDash val="solid"/>
          </a:ln>
        </p:spPr>
      </p:sp>
      <p:sp>
        <p:nvSpPr>
          <p:cNvPr id="116" name="Text 114"/>
          <p:cNvSpPr txBox="1"/>
          <p:nvPr/>
        </p:nvSpPr>
        <p:spPr>
          <a:xfrm>
            <a:off x="10950854" y="2331720"/>
            <a:ext cx="771754" cy="246888"/>
          </a:xfrm>
          <a:prstGeom prst="rect">
            <a:avLst/>
          </a:prstGeom>
          <a:noFill/>
          <a:ln/>
        </p:spPr>
        <p:txBody>
          <a:bodyPr wrap="square" lIns="0" tIns="0" rIns="0" bIns="0" rtlCol="0" anchor="ctr"/>
          <a:lstStyle/>
          <a:p>
            <a:pPr algn="r" indent="0" marL="0">
              <a:buNone/>
            </a:pPr>
            <a:r>
              <a:rPr lang="en-US" sz="820" dirty="0">
                <a:solidFill>
                  <a:srgbClr val="1B2733"/>
                </a:solidFill>
                <a:latin typeface="Calibri" pitchFamily="34" charset="0"/>
                <a:ea typeface="Calibri" pitchFamily="34" charset="-122"/>
                <a:cs typeface="Calibri" pitchFamily="34" charset="-120"/>
              </a:rPr>
              <a:t>410</a:t>
            </a:r>
            <a:endParaRPr lang="en-US" sz="820" dirty="0"/>
          </a:p>
        </p:txBody>
      </p:sp>
      <p:sp>
        <p:nvSpPr>
          <p:cNvPr id="117" name="Shape 115"/>
          <p:cNvSpPr/>
          <p:nvPr/>
        </p:nvSpPr>
        <p:spPr>
          <a:xfrm>
            <a:off x="411480" y="2578608"/>
            <a:ext cx="2377440" cy="246888"/>
          </a:xfrm>
          <a:prstGeom prst="rect">
            <a:avLst/>
          </a:prstGeom>
          <a:solidFill>
            <a:srgbClr val="FFFFFF"/>
          </a:solidFill>
          <a:ln w="6350">
            <a:solidFill>
              <a:srgbClr val="D3DCE5"/>
            </a:solidFill>
            <a:prstDash val="solid"/>
          </a:ln>
        </p:spPr>
      </p:sp>
      <p:sp>
        <p:nvSpPr>
          <p:cNvPr id="118" name="Text 116"/>
          <p:cNvSpPr txBox="1"/>
          <p:nvPr/>
        </p:nvSpPr>
        <p:spPr>
          <a:xfrm>
            <a:off x="475488" y="2578608"/>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EBITDA (A$m)</a:t>
            </a:r>
            <a:endParaRPr lang="en-US" sz="820" dirty="0"/>
          </a:p>
        </p:txBody>
      </p:sp>
      <p:sp>
        <p:nvSpPr>
          <p:cNvPr id="119" name="Shape 117"/>
          <p:cNvSpPr/>
          <p:nvPr/>
        </p:nvSpPr>
        <p:spPr>
          <a:xfrm>
            <a:off x="2788920" y="2578608"/>
            <a:ext cx="899770" cy="246888"/>
          </a:xfrm>
          <a:prstGeom prst="rect">
            <a:avLst/>
          </a:prstGeom>
          <a:solidFill>
            <a:srgbClr val="FFFFFF"/>
          </a:solidFill>
          <a:ln w="6350">
            <a:solidFill>
              <a:srgbClr val="D3DCE5"/>
            </a:solidFill>
            <a:prstDash val="solid"/>
          </a:ln>
        </p:spPr>
      </p:sp>
      <p:sp>
        <p:nvSpPr>
          <p:cNvPr id="120" name="Text 118"/>
          <p:cNvSpPr txBox="1"/>
          <p:nvPr/>
        </p:nvSpPr>
        <p:spPr>
          <a:xfrm>
            <a:off x="2852928"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2,332</a:t>
            </a:r>
            <a:endParaRPr lang="en-US" sz="820" dirty="0"/>
          </a:p>
        </p:txBody>
      </p:sp>
      <p:sp>
        <p:nvSpPr>
          <p:cNvPr id="121" name="Shape 119"/>
          <p:cNvSpPr/>
          <p:nvPr/>
        </p:nvSpPr>
        <p:spPr>
          <a:xfrm>
            <a:off x="3688690" y="2578608"/>
            <a:ext cx="899770" cy="246888"/>
          </a:xfrm>
          <a:prstGeom prst="rect">
            <a:avLst/>
          </a:prstGeom>
          <a:solidFill>
            <a:srgbClr val="FFFFFF"/>
          </a:solidFill>
          <a:ln w="6350">
            <a:solidFill>
              <a:srgbClr val="D3DCE5"/>
            </a:solidFill>
            <a:prstDash val="solid"/>
          </a:ln>
        </p:spPr>
      </p:sp>
      <p:sp>
        <p:nvSpPr>
          <p:cNvPr id="122" name="Text 120"/>
          <p:cNvSpPr txBox="1"/>
          <p:nvPr/>
        </p:nvSpPr>
        <p:spPr>
          <a:xfrm>
            <a:off x="3752698"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2,995</a:t>
            </a:r>
            <a:endParaRPr lang="en-US" sz="820" dirty="0"/>
          </a:p>
        </p:txBody>
      </p:sp>
      <p:sp>
        <p:nvSpPr>
          <p:cNvPr id="123" name="Shape 121"/>
          <p:cNvSpPr/>
          <p:nvPr/>
        </p:nvSpPr>
        <p:spPr>
          <a:xfrm>
            <a:off x="4588459" y="2578608"/>
            <a:ext cx="899770" cy="246888"/>
          </a:xfrm>
          <a:prstGeom prst="rect">
            <a:avLst/>
          </a:prstGeom>
          <a:solidFill>
            <a:srgbClr val="FFFFFF"/>
          </a:solidFill>
          <a:ln w="6350">
            <a:solidFill>
              <a:srgbClr val="D3DCE5"/>
            </a:solidFill>
            <a:prstDash val="solid"/>
          </a:ln>
        </p:spPr>
      </p:sp>
      <p:sp>
        <p:nvSpPr>
          <p:cNvPr id="124" name="Text 122"/>
          <p:cNvSpPr txBox="1"/>
          <p:nvPr/>
        </p:nvSpPr>
        <p:spPr>
          <a:xfrm>
            <a:off x="4652467"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3,638</a:t>
            </a:r>
            <a:endParaRPr lang="en-US" sz="820" dirty="0"/>
          </a:p>
        </p:txBody>
      </p:sp>
      <p:sp>
        <p:nvSpPr>
          <p:cNvPr id="125" name="Shape 123"/>
          <p:cNvSpPr/>
          <p:nvPr/>
        </p:nvSpPr>
        <p:spPr>
          <a:xfrm>
            <a:off x="5488229" y="2578608"/>
            <a:ext cx="899770" cy="246888"/>
          </a:xfrm>
          <a:prstGeom prst="rect">
            <a:avLst/>
          </a:prstGeom>
          <a:solidFill>
            <a:srgbClr val="FFFFFF"/>
          </a:solidFill>
          <a:ln w="6350">
            <a:solidFill>
              <a:srgbClr val="D3DCE5"/>
            </a:solidFill>
            <a:prstDash val="solid"/>
          </a:ln>
        </p:spPr>
      </p:sp>
      <p:sp>
        <p:nvSpPr>
          <p:cNvPr id="126" name="Text 124"/>
          <p:cNvSpPr txBox="1"/>
          <p:nvPr/>
        </p:nvSpPr>
        <p:spPr>
          <a:xfrm>
            <a:off x="5552237"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4,206</a:t>
            </a:r>
            <a:endParaRPr lang="en-US" sz="820" dirty="0"/>
          </a:p>
        </p:txBody>
      </p:sp>
      <p:sp>
        <p:nvSpPr>
          <p:cNvPr id="127" name="Shape 125"/>
          <p:cNvSpPr/>
          <p:nvPr/>
        </p:nvSpPr>
        <p:spPr>
          <a:xfrm>
            <a:off x="6387998" y="2578608"/>
            <a:ext cx="899770" cy="246888"/>
          </a:xfrm>
          <a:prstGeom prst="rect">
            <a:avLst/>
          </a:prstGeom>
          <a:solidFill>
            <a:srgbClr val="FFFFFF"/>
          </a:solidFill>
          <a:ln w="6350">
            <a:solidFill>
              <a:srgbClr val="D3DCE5"/>
            </a:solidFill>
            <a:prstDash val="solid"/>
          </a:ln>
        </p:spPr>
      </p:sp>
      <p:sp>
        <p:nvSpPr>
          <p:cNvPr id="128" name="Text 126"/>
          <p:cNvSpPr txBox="1"/>
          <p:nvPr/>
        </p:nvSpPr>
        <p:spPr>
          <a:xfrm>
            <a:off x="6452006"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5,068</a:t>
            </a:r>
            <a:endParaRPr lang="en-US" sz="820" dirty="0"/>
          </a:p>
        </p:txBody>
      </p:sp>
      <p:sp>
        <p:nvSpPr>
          <p:cNvPr id="129" name="Shape 127"/>
          <p:cNvSpPr/>
          <p:nvPr/>
        </p:nvSpPr>
        <p:spPr>
          <a:xfrm>
            <a:off x="7287768" y="2578608"/>
            <a:ext cx="899770" cy="246888"/>
          </a:xfrm>
          <a:prstGeom prst="rect">
            <a:avLst/>
          </a:prstGeom>
          <a:solidFill>
            <a:srgbClr val="FFFFFF"/>
          </a:solidFill>
          <a:ln w="6350">
            <a:solidFill>
              <a:srgbClr val="D3DCE5"/>
            </a:solidFill>
            <a:prstDash val="solid"/>
          </a:ln>
        </p:spPr>
      </p:sp>
      <p:sp>
        <p:nvSpPr>
          <p:cNvPr id="130" name="Text 128"/>
          <p:cNvSpPr txBox="1"/>
          <p:nvPr/>
        </p:nvSpPr>
        <p:spPr>
          <a:xfrm>
            <a:off x="7351776"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5,436</a:t>
            </a:r>
            <a:endParaRPr lang="en-US" sz="820" dirty="0"/>
          </a:p>
        </p:txBody>
      </p:sp>
      <p:sp>
        <p:nvSpPr>
          <p:cNvPr id="131" name="Shape 129"/>
          <p:cNvSpPr/>
          <p:nvPr/>
        </p:nvSpPr>
        <p:spPr>
          <a:xfrm>
            <a:off x="8187538" y="2578608"/>
            <a:ext cx="899770" cy="246888"/>
          </a:xfrm>
          <a:prstGeom prst="rect">
            <a:avLst/>
          </a:prstGeom>
          <a:solidFill>
            <a:srgbClr val="FFFFFF"/>
          </a:solidFill>
          <a:ln w="6350">
            <a:solidFill>
              <a:srgbClr val="D3DCE5"/>
            </a:solidFill>
            <a:prstDash val="solid"/>
          </a:ln>
        </p:spPr>
      </p:sp>
      <p:sp>
        <p:nvSpPr>
          <p:cNvPr id="132" name="Text 130"/>
          <p:cNvSpPr txBox="1"/>
          <p:nvPr/>
        </p:nvSpPr>
        <p:spPr>
          <a:xfrm>
            <a:off x="8251546"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5,434</a:t>
            </a:r>
            <a:endParaRPr lang="en-US" sz="820" dirty="0"/>
          </a:p>
        </p:txBody>
      </p:sp>
      <p:sp>
        <p:nvSpPr>
          <p:cNvPr id="133" name="Shape 131"/>
          <p:cNvSpPr/>
          <p:nvPr/>
        </p:nvSpPr>
        <p:spPr>
          <a:xfrm>
            <a:off x="9087307" y="2578608"/>
            <a:ext cx="899770" cy="246888"/>
          </a:xfrm>
          <a:prstGeom prst="rect">
            <a:avLst/>
          </a:prstGeom>
          <a:solidFill>
            <a:srgbClr val="FFFFFF"/>
          </a:solidFill>
          <a:ln w="6350">
            <a:solidFill>
              <a:srgbClr val="D3DCE5"/>
            </a:solidFill>
            <a:prstDash val="solid"/>
          </a:ln>
        </p:spPr>
      </p:sp>
      <p:sp>
        <p:nvSpPr>
          <p:cNvPr id="134" name="Text 132"/>
          <p:cNvSpPr txBox="1"/>
          <p:nvPr/>
        </p:nvSpPr>
        <p:spPr>
          <a:xfrm>
            <a:off x="9151315"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5,299</a:t>
            </a:r>
            <a:endParaRPr lang="en-US" sz="820" dirty="0"/>
          </a:p>
        </p:txBody>
      </p:sp>
      <p:sp>
        <p:nvSpPr>
          <p:cNvPr id="135" name="Shape 133"/>
          <p:cNvSpPr/>
          <p:nvPr/>
        </p:nvSpPr>
        <p:spPr>
          <a:xfrm>
            <a:off x="9987077" y="2578608"/>
            <a:ext cx="899770" cy="246888"/>
          </a:xfrm>
          <a:prstGeom prst="rect">
            <a:avLst/>
          </a:prstGeom>
          <a:solidFill>
            <a:srgbClr val="FFFFFF"/>
          </a:solidFill>
          <a:ln w="6350">
            <a:solidFill>
              <a:srgbClr val="D3DCE5"/>
            </a:solidFill>
            <a:prstDash val="solid"/>
          </a:ln>
        </p:spPr>
      </p:sp>
      <p:sp>
        <p:nvSpPr>
          <p:cNvPr id="136" name="Text 134"/>
          <p:cNvSpPr txBox="1"/>
          <p:nvPr/>
        </p:nvSpPr>
        <p:spPr>
          <a:xfrm>
            <a:off x="10051085"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5,124</a:t>
            </a:r>
            <a:endParaRPr lang="en-US" sz="820" dirty="0"/>
          </a:p>
        </p:txBody>
      </p:sp>
      <p:sp>
        <p:nvSpPr>
          <p:cNvPr id="137" name="Shape 135"/>
          <p:cNvSpPr/>
          <p:nvPr/>
        </p:nvSpPr>
        <p:spPr>
          <a:xfrm>
            <a:off x="10886846" y="2578608"/>
            <a:ext cx="899770" cy="246888"/>
          </a:xfrm>
          <a:prstGeom prst="rect">
            <a:avLst/>
          </a:prstGeom>
          <a:solidFill>
            <a:srgbClr val="FFFFFF"/>
          </a:solidFill>
          <a:ln w="6350">
            <a:solidFill>
              <a:srgbClr val="D3DCE5"/>
            </a:solidFill>
            <a:prstDash val="solid"/>
          </a:ln>
        </p:spPr>
      </p:sp>
      <p:sp>
        <p:nvSpPr>
          <p:cNvPr id="138" name="Text 136"/>
          <p:cNvSpPr txBox="1"/>
          <p:nvPr/>
        </p:nvSpPr>
        <p:spPr>
          <a:xfrm>
            <a:off x="10950854" y="2578608"/>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5,035</a:t>
            </a:r>
            <a:endParaRPr lang="en-US" sz="820" dirty="0"/>
          </a:p>
        </p:txBody>
      </p:sp>
      <p:sp>
        <p:nvSpPr>
          <p:cNvPr id="139" name="Shape 137"/>
          <p:cNvSpPr/>
          <p:nvPr/>
        </p:nvSpPr>
        <p:spPr>
          <a:xfrm>
            <a:off x="411480" y="2825496"/>
            <a:ext cx="2377440" cy="246888"/>
          </a:xfrm>
          <a:prstGeom prst="rect">
            <a:avLst/>
          </a:prstGeom>
          <a:solidFill>
            <a:srgbClr val="F7F9FB"/>
          </a:solidFill>
          <a:ln w="6350">
            <a:solidFill>
              <a:srgbClr val="D3DCE5"/>
            </a:solidFill>
            <a:prstDash val="solid"/>
          </a:ln>
        </p:spPr>
      </p:sp>
      <p:sp>
        <p:nvSpPr>
          <p:cNvPr id="140" name="Text 138"/>
          <p:cNvSpPr txBox="1"/>
          <p:nvPr/>
        </p:nvSpPr>
        <p:spPr>
          <a:xfrm>
            <a:off x="475488" y="2825496"/>
            <a:ext cx="2249424" cy="246888"/>
          </a:xfrm>
          <a:prstGeom prst="rect">
            <a:avLst/>
          </a:prstGeom>
          <a:noFill/>
          <a:ln/>
        </p:spPr>
        <p:txBody>
          <a:bodyPr wrap="square" lIns="0" tIns="0" rIns="0" bIns="0" rtlCol="0" anchor="ctr"/>
          <a:lstStyle/>
          <a:p>
            <a:pPr algn="l" indent="0" marL="0">
              <a:buNone/>
            </a:pPr>
            <a:r>
              <a:rPr lang="en-US" sz="820" b="1" dirty="0">
                <a:solidFill>
                  <a:srgbClr val="1B2733"/>
                </a:solidFill>
                <a:latin typeface="Calibri" pitchFamily="34" charset="0"/>
                <a:ea typeface="Calibri" pitchFamily="34" charset="-122"/>
                <a:cs typeface="Calibri" pitchFamily="34" charset="-120"/>
              </a:rPr>
              <a:t>FCFF (A$m)</a:t>
            </a:r>
            <a:endParaRPr lang="en-US" sz="820" dirty="0"/>
          </a:p>
        </p:txBody>
      </p:sp>
      <p:sp>
        <p:nvSpPr>
          <p:cNvPr id="141" name="Shape 139"/>
          <p:cNvSpPr/>
          <p:nvPr/>
        </p:nvSpPr>
        <p:spPr>
          <a:xfrm>
            <a:off x="2788920" y="2825496"/>
            <a:ext cx="899770" cy="246888"/>
          </a:xfrm>
          <a:prstGeom prst="rect">
            <a:avLst/>
          </a:prstGeom>
          <a:solidFill>
            <a:srgbClr val="F7F9FB"/>
          </a:solidFill>
          <a:ln w="6350">
            <a:solidFill>
              <a:srgbClr val="D3DCE5"/>
            </a:solidFill>
            <a:prstDash val="solid"/>
          </a:ln>
        </p:spPr>
      </p:sp>
      <p:sp>
        <p:nvSpPr>
          <p:cNvPr id="142" name="Text 140"/>
          <p:cNvSpPr txBox="1"/>
          <p:nvPr/>
        </p:nvSpPr>
        <p:spPr>
          <a:xfrm>
            <a:off x="2852928"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975</a:t>
            </a:r>
            <a:endParaRPr lang="en-US" sz="820" dirty="0"/>
          </a:p>
        </p:txBody>
      </p:sp>
      <p:sp>
        <p:nvSpPr>
          <p:cNvPr id="143" name="Shape 141"/>
          <p:cNvSpPr/>
          <p:nvPr/>
        </p:nvSpPr>
        <p:spPr>
          <a:xfrm>
            <a:off x="3688690" y="2825496"/>
            <a:ext cx="899770" cy="246888"/>
          </a:xfrm>
          <a:prstGeom prst="rect">
            <a:avLst/>
          </a:prstGeom>
          <a:solidFill>
            <a:srgbClr val="F7F9FB"/>
          </a:solidFill>
          <a:ln w="6350">
            <a:solidFill>
              <a:srgbClr val="D3DCE5"/>
            </a:solidFill>
            <a:prstDash val="solid"/>
          </a:ln>
        </p:spPr>
      </p:sp>
      <p:sp>
        <p:nvSpPr>
          <p:cNvPr id="144" name="Text 142"/>
          <p:cNvSpPr txBox="1"/>
          <p:nvPr/>
        </p:nvSpPr>
        <p:spPr>
          <a:xfrm>
            <a:off x="3752698"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1,159</a:t>
            </a:r>
            <a:endParaRPr lang="en-US" sz="820" dirty="0"/>
          </a:p>
        </p:txBody>
      </p:sp>
      <p:sp>
        <p:nvSpPr>
          <p:cNvPr id="145" name="Shape 143"/>
          <p:cNvSpPr/>
          <p:nvPr/>
        </p:nvSpPr>
        <p:spPr>
          <a:xfrm>
            <a:off x="4588459" y="2825496"/>
            <a:ext cx="899770" cy="246888"/>
          </a:xfrm>
          <a:prstGeom prst="rect">
            <a:avLst/>
          </a:prstGeom>
          <a:solidFill>
            <a:srgbClr val="F7F9FB"/>
          </a:solidFill>
          <a:ln w="6350">
            <a:solidFill>
              <a:srgbClr val="D3DCE5"/>
            </a:solidFill>
            <a:prstDash val="solid"/>
          </a:ln>
        </p:spPr>
      </p:sp>
      <p:sp>
        <p:nvSpPr>
          <p:cNvPr id="146" name="Text 144"/>
          <p:cNvSpPr txBox="1"/>
          <p:nvPr/>
        </p:nvSpPr>
        <p:spPr>
          <a:xfrm>
            <a:off x="4652467"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1,517</a:t>
            </a:r>
            <a:endParaRPr lang="en-US" sz="820" dirty="0"/>
          </a:p>
        </p:txBody>
      </p:sp>
      <p:sp>
        <p:nvSpPr>
          <p:cNvPr id="147" name="Shape 145"/>
          <p:cNvSpPr/>
          <p:nvPr/>
        </p:nvSpPr>
        <p:spPr>
          <a:xfrm>
            <a:off x="5488229" y="2825496"/>
            <a:ext cx="899770" cy="246888"/>
          </a:xfrm>
          <a:prstGeom prst="rect">
            <a:avLst/>
          </a:prstGeom>
          <a:solidFill>
            <a:srgbClr val="F7F9FB"/>
          </a:solidFill>
          <a:ln w="6350">
            <a:solidFill>
              <a:srgbClr val="D3DCE5"/>
            </a:solidFill>
            <a:prstDash val="solid"/>
          </a:ln>
        </p:spPr>
      </p:sp>
      <p:sp>
        <p:nvSpPr>
          <p:cNvPr id="148" name="Text 146"/>
          <p:cNvSpPr txBox="1"/>
          <p:nvPr/>
        </p:nvSpPr>
        <p:spPr>
          <a:xfrm>
            <a:off x="5552237"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2,162</a:t>
            </a:r>
            <a:endParaRPr lang="en-US" sz="820" dirty="0"/>
          </a:p>
        </p:txBody>
      </p:sp>
      <p:sp>
        <p:nvSpPr>
          <p:cNvPr id="149" name="Shape 147"/>
          <p:cNvSpPr/>
          <p:nvPr/>
        </p:nvSpPr>
        <p:spPr>
          <a:xfrm>
            <a:off x="6387998" y="2825496"/>
            <a:ext cx="899770" cy="246888"/>
          </a:xfrm>
          <a:prstGeom prst="rect">
            <a:avLst/>
          </a:prstGeom>
          <a:solidFill>
            <a:srgbClr val="F7F9FB"/>
          </a:solidFill>
          <a:ln w="6350">
            <a:solidFill>
              <a:srgbClr val="D3DCE5"/>
            </a:solidFill>
            <a:prstDash val="solid"/>
          </a:ln>
        </p:spPr>
      </p:sp>
      <p:sp>
        <p:nvSpPr>
          <p:cNvPr id="150" name="Text 148"/>
          <p:cNvSpPr txBox="1"/>
          <p:nvPr/>
        </p:nvSpPr>
        <p:spPr>
          <a:xfrm>
            <a:off x="6452006"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2,924</a:t>
            </a:r>
            <a:endParaRPr lang="en-US" sz="820" dirty="0"/>
          </a:p>
        </p:txBody>
      </p:sp>
      <p:sp>
        <p:nvSpPr>
          <p:cNvPr id="151" name="Shape 149"/>
          <p:cNvSpPr/>
          <p:nvPr/>
        </p:nvSpPr>
        <p:spPr>
          <a:xfrm>
            <a:off x="7287768" y="2825496"/>
            <a:ext cx="899770" cy="246888"/>
          </a:xfrm>
          <a:prstGeom prst="rect">
            <a:avLst/>
          </a:prstGeom>
          <a:solidFill>
            <a:srgbClr val="F7F9FB"/>
          </a:solidFill>
          <a:ln w="6350">
            <a:solidFill>
              <a:srgbClr val="D3DCE5"/>
            </a:solidFill>
            <a:prstDash val="solid"/>
          </a:ln>
        </p:spPr>
      </p:sp>
      <p:sp>
        <p:nvSpPr>
          <p:cNvPr id="152" name="Text 150"/>
          <p:cNvSpPr txBox="1"/>
          <p:nvPr/>
        </p:nvSpPr>
        <p:spPr>
          <a:xfrm>
            <a:off x="7351776"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3,353</a:t>
            </a:r>
            <a:endParaRPr lang="en-US" sz="820" dirty="0"/>
          </a:p>
        </p:txBody>
      </p:sp>
      <p:sp>
        <p:nvSpPr>
          <p:cNvPr id="153" name="Shape 151"/>
          <p:cNvSpPr/>
          <p:nvPr/>
        </p:nvSpPr>
        <p:spPr>
          <a:xfrm>
            <a:off x="8187538" y="2825496"/>
            <a:ext cx="899770" cy="246888"/>
          </a:xfrm>
          <a:prstGeom prst="rect">
            <a:avLst/>
          </a:prstGeom>
          <a:solidFill>
            <a:srgbClr val="F7F9FB"/>
          </a:solidFill>
          <a:ln w="6350">
            <a:solidFill>
              <a:srgbClr val="D3DCE5"/>
            </a:solidFill>
            <a:prstDash val="solid"/>
          </a:ln>
        </p:spPr>
      </p:sp>
      <p:sp>
        <p:nvSpPr>
          <p:cNvPr id="154" name="Text 152"/>
          <p:cNvSpPr txBox="1"/>
          <p:nvPr/>
        </p:nvSpPr>
        <p:spPr>
          <a:xfrm>
            <a:off x="8251546"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3,510</a:t>
            </a:r>
            <a:endParaRPr lang="en-US" sz="820" dirty="0"/>
          </a:p>
        </p:txBody>
      </p:sp>
      <p:sp>
        <p:nvSpPr>
          <p:cNvPr id="155" name="Shape 153"/>
          <p:cNvSpPr/>
          <p:nvPr/>
        </p:nvSpPr>
        <p:spPr>
          <a:xfrm>
            <a:off x="9087307" y="2825496"/>
            <a:ext cx="899770" cy="246888"/>
          </a:xfrm>
          <a:prstGeom prst="rect">
            <a:avLst/>
          </a:prstGeom>
          <a:solidFill>
            <a:srgbClr val="F7F9FB"/>
          </a:solidFill>
          <a:ln w="6350">
            <a:solidFill>
              <a:srgbClr val="D3DCE5"/>
            </a:solidFill>
            <a:prstDash val="solid"/>
          </a:ln>
        </p:spPr>
      </p:sp>
      <p:sp>
        <p:nvSpPr>
          <p:cNvPr id="156" name="Text 154"/>
          <p:cNvSpPr txBox="1"/>
          <p:nvPr/>
        </p:nvSpPr>
        <p:spPr>
          <a:xfrm>
            <a:off x="9151315"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3,474</a:t>
            </a:r>
            <a:endParaRPr lang="en-US" sz="820" dirty="0"/>
          </a:p>
        </p:txBody>
      </p:sp>
      <p:sp>
        <p:nvSpPr>
          <p:cNvPr id="157" name="Shape 155"/>
          <p:cNvSpPr/>
          <p:nvPr/>
        </p:nvSpPr>
        <p:spPr>
          <a:xfrm>
            <a:off x="9987077" y="2825496"/>
            <a:ext cx="899770" cy="246888"/>
          </a:xfrm>
          <a:prstGeom prst="rect">
            <a:avLst/>
          </a:prstGeom>
          <a:solidFill>
            <a:srgbClr val="F7F9FB"/>
          </a:solidFill>
          <a:ln w="6350">
            <a:solidFill>
              <a:srgbClr val="D3DCE5"/>
            </a:solidFill>
            <a:prstDash val="solid"/>
          </a:ln>
        </p:spPr>
      </p:sp>
      <p:sp>
        <p:nvSpPr>
          <p:cNvPr id="158" name="Text 156"/>
          <p:cNvSpPr txBox="1"/>
          <p:nvPr/>
        </p:nvSpPr>
        <p:spPr>
          <a:xfrm>
            <a:off x="10051085"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3,371</a:t>
            </a:r>
            <a:endParaRPr lang="en-US" sz="820" dirty="0"/>
          </a:p>
        </p:txBody>
      </p:sp>
      <p:sp>
        <p:nvSpPr>
          <p:cNvPr id="159" name="Shape 157"/>
          <p:cNvSpPr/>
          <p:nvPr/>
        </p:nvSpPr>
        <p:spPr>
          <a:xfrm>
            <a:off x="10886846" y="2825496"/>
            <a:ext cx="899770" cy="246888"/>
          </a:xfrm>
          <a:prstGeom prst="rect">
            <a:avLst/>
          </a:prstGeom>
          <a:solidFill>
            <a:srgbClr val="F7F9FB"/>
          </a:solidFill>
          <a:ln w="6350">
            <a:solidFill>
              <a:srgbClr val="D3DCE5"/>
            </a:solidFill>
            <a:prstDash val="solid"/>
          </a:ln>
        </p:spPr>
      </p:sp>
      <p:sp>
        <p:nvSpPr>
          <p:cNvPr id="160" name="Text 158"/>
          <p:cNvSpPr txBox="1"/>
          <p:nvPr/>
        </p:nvSpPr>
        <p:spPr>
          <a:xfrm>
            <a:off x="10950854" y="2825496"/>
            <a:ext cx="771754" cy="246888"/>
          </a:xfrm>
          <a:prstGeom prst="rect">
            <a:avLst/>
          </a:prstGeom>
          <a:noFill/>
          <a:ln/>
        </p:spPr>
        <p:txBody>
          <a:bodyPr wrap="square" lIns="0" tIns="0" rIns="0" bIns="0" rtlCol="0" anchor="ctr"/>
          <a:lstStyle/>
          <a:p>
            <a:pPr algn="r" indent="0" marL="0">
              <a:buNone/>
            </a:pPr>
            <a:r>
              <a:rPr lang="en-US" sz="820" b="1" dirty="0">
                <a:solidFill>
                  <a:srgbClr val="1B2733"/>
                </a:solidFill>
                <a:latin typeface="Calibri" pitchFamily="34" charset="0"/>
                <a:ea typeface="Calibri" pitchFamily="34" charset="-122"/>
                <a:cs typeface="Calibri" pitchFamily="34" charset="-120"/>
              </a:rPr>
              <a:t>3,295</a:t>
            </a:r>
            <a:endParaRPr lang="en-US" sz="820" dirty="0"/>
          </a:p>
        </p:txBody>
      </p:sp>
      <p:sp>
        <p:nvSpPr>
          <p:cNvPr id="161" name="Shape 159"/>
          <p:cNvSpPr/>
          <p:nvPr/>
        </p:nvSpPr>
        <p:spPr>
          <a:xfrm>
            <a:off x="411480" y="3291840"/>
            <a:ext cx="4206240" cy="292608"/>
          </a:xfrm>
          <a:prstGeom prst="rect">
            <a:avLst/>
          </a:prstGeom>
          <a:solidFill>
            <a:srgbClr val="10233A"/>
          </a:solidFill>
          <a:ln/>
        </p:spPr>
      </p:sp>
      <p:sp>
        <p:nvSpPr>
          <p:cNvPr id="162" name="Text 160"/>
          <p:cNvSpPr txBox="1"/>
          <p:nvPr/>
        </p:nvSpPr>
        <p:spPr>
          <a:xfrm>
            <a:off x="475488" y="3291840"/>
            <a:ext cx="40782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Bull case bridge</a:t>
            </a:r>
            <a:endParaRPr lang="en-US" sz="900" dirty="0"/>
          </a:p>
        </p:txBody>
      </p:sp>
      <p:sp>
        <p:nvSpPr>
          <p:cNvPr id="163" name="Shape 161"/>
          <p:cNvSpPr/>
          <p:nvPr/>
        </p:nvSpPr>
        <p:spPr>
          <a:xfrm>
            <a:off x="4617720" y="3291840"/>
            <a:ext cx="1920240" cy="292608"/>
          </a:xfrm>
          <a:prstGeom prst="rect">
            <a:avLst/>
          </a:prstGeom>
          <a:solidFill>
            <a:srgbClr val="10233A"/>
          </a:solidFill>
          <a:ln/>
        </p:spPr>
      </p:sp>
      <p:sp>
        <p:nvSpPr>
          <p:cNvPr id="164" name="Text 162"/>
          <p:cNvSpPr txBox="1"/>
          <p:nvPr/>
        </p:nvSpPr>
        <p:spPr>
          <a:xfrm>
            <a:off x="4681728" y="3291840"/>
            <a:ext cx="179222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A$m unless stated</a:t>
            </a:r>
            <a:endParaRPr lang="en-US" sz="900" dirty="0"/>
          </a:p>
        </p:txBody>
      </p:sp>
      <p:sp>
        <p:nvSpPr>
          <p:cNvPr id="165" name="Shape 163"/>
          <p:cNvSpPr/>
          <p:nvPr/>
        </p:nvSpPr>
        <p:spPr>
          <a:xfrm>
            <a:off x="411480" y="3584448"/>
            <a:ext cx="4206240" cy="214884"/>
          </a:xfrm>
          <a:prstGeom prst="rect">
            <a:avLst/>
          </a:prstGeom>
          <a:solidFill>
            <a:srgbClr val="FFFFFF"/>
          </a:solidFill>
          <a:ln w="6350">
            <a:solidFill>
              <a:srgbClr val="D3DCE5"/>
            </a:solidFill>
            <a:prstDash val="solid"/>
          </a:ln>
        </p:spPr>
      </p:sp>
      <p:sp>
        <p:nvSpPr>
          <p:cNvPr id="166" name="Text 164"/>
          <p:cNvSpPr txBox="1"/>
          <p:nvPr/>
        </p:nvSpPr>
        <p:spPr>
          <a:xfrm>
            <a:off x="475488" y="3584448"/>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PV of explicit FCFF, FY27-FY36</a:t>
            </a:r>
            <a:endParaRPr lang="en-US" sz="860" dirty="0"/>
          </a:p>
        </p:txBody>
      </p:sp>
      <p:sp>
        <p:nvSpPr>
          <p:cNvPr id="167" name="Shape 165"/>
          <p:cNvSpPr/>
          <p:nvPr/>
        </p:nvSpPr>
        <p:spPr>
          <a:xfrm>
            <a:off x="4617720" y="3584448"/>
            <a:ext cx="1920240" cy="214884"/>
          </a:xfrm>
          <a:prstGeom prst="rect">
            <a:avLst/>
          </a:prstGeom>
          <a:solidFill>
            <a:srgbClr val="FFFFFF"/>
          </a:solidFill>
          <a:ln w="6350">
            <a:solidFill>
              <a:srgbClr val="D3DCE5"/>
            </a:solidFill>
            <a:prstDash val="solid"/>
          </a:ln>
        </p:spPr>
      </p:sp>
      <p:sp>
        <p:nvSpPr>
          <p:cNvPr id="168" name="Text 166"/>
          <p:cNvSpPr txBox="1"/>
          <p:nvPr/>
        </p:nvSpPr>
        <p:spPr>
          <a:xfrm>
            <a:off x="4681728" y="3584448"/>
            <a:ext cx="1792224" cy="214884"/>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15,838</a:t>
            </a:r>
            <a:endParaRPr lang="en-US" sz="860" dirty="0"/>
          </a:p>
        </p:txBody>
      </p:sp>
      <p:sp>
        <p:nvSpPr>
          <p:cNvPr id="169" name="Shape 167"/>
          <p:cNvSpPr/>
          <p:nvPr/>
        </p:nvSpPr>
        <p:spPr>
          <a:xfrm>
            <a:off x="411480" y="3799332"/>
            <a:ext cx="4206240" cy="214884"/>
          </a:xfrm>
          <a:prstGeom prst="rect">
            <a:avLst/>
          </a:prstGeom>
          <a:solidFill>
            <a:srgbClr val="F7F9FB"/>
          </a:solidFill>
          <a:ln w="6350">
            <a:solidFill>
              <a:srgbClr val="D3DCE5"/>
            </a:solidFill>
            <a:prstDash val="solid"/>
          </a:ln>
        </p:spPr>
      </p:sp>
      <p:sp>
        <p:nvSpPr>
          <p:cNvPr id="170" name="Text 168"/>
          <p:cNvSpPr txBox="1"/>
          <p:nvPr/>
        </p:nvSpPr>
        <p:spPr>
          <a:xfrm>
            <a:off x="475488" y="3799332"/>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PV of terminal value</a:t>
            </a:r>
            <a:endParaRPr lang="en-US" sz="860" dirty="0"/>
          </a:p>
        </p:txBody>
      </p:sp>
      <p:sp>
        <p:nvSpPr>
          <p:cNvPr id="171" name="Shape 169"/>
          <p:cNvSpPr/>
          <p:nvPr/>
        </p:nvSpPr>
        <p:spPr>
          <a:xfrm>
            <a:off x="4617720" y="3799332"/>
            <a:ext cx="1920240" cy="214884"/>
          </a:xfrm>
          <a:prstGeom prst="rect">
            <a:avLst/>
          </a:prstGeom>
          <a:solidFill>
            <a:srgbClr val="F7F9FB"/>
          </a:solidFill>
          <a:ln w="6350">
            <a:solidFill>
              <a:srgbClr val="D3DCE5"/>
            </a:solidFill>
            <a:prstDash val="solid"/>
          </a:ln>
        </p:spPr>
      </p:sp>
      <p:sp>
        <p:nvSpPr>
          <p:cNvPr id="172" name="Text 170"/>
          <p:cNvSpPr txBox="1"/>
          <p:nvPr/>
        </p:nvSpPr>
        <p:spPr>
          <a:xfrm>
            <a:off x="4681728" y="3799332"/>
            <a:ext cx="1792224" cy="214884"/>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11,588</a:t>
            </a:r>
            <a:endParaRPr lang="en-US" sz="860" dirty="0"/>
          </a:p>
        </p:txBody>
      </p:sp>
      <p:sp>
        <p:nvSpPr>
          <p:cNvPr id="173" name="Shape 171"/>
          <p:cNvSpPr/>
          <p:nvPr/>
        </p:nvSpPr>
        <p:spPr>
          <a:xfrm>
            <a:off x="411480" y="4014216"/>
            <a:ext cx="4206240" cy="214884"/>
          </a:xfrm>
          <a:prstGeom prst="rect">
            <a:avLst/>
          </a:prstGeom>
          <a:solidFill>
            <a:srgbClr val="FFFFFF"/>
          </a:solidFill>
          <a:ln w="6350">
            <a:solidFill>
              <a:srgbClr val="D3DCE5"/>
            </a:solidFill>
            <a:prstDash val="solid"/>
          </a:ln>
        </p:spPr>
      </p:sp>
      <p:sp>
        <p:nvSpPr>
          <p:cNvPr id="174" name="Text 172"/>
          <p:cNvSpPr txBox="1"/>
          <p:nvPr/>
        </p:nvSpPr>
        <p:spPr>
          <a:xfrm>
            <a:off x="475488" y="4014216"/>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Memo: growing perpetuity would have given</a:t>
            </a:r>
            <a:endParaRPr lang="en-US" sz="860" dirty="0"/>
          </a:p>
        </p:txBody>
      </p:sp>
      <p:sp>
        <p:nvSpPr>
          <p:cNvPr id="175" name="Shape 173"/>
          <p:cNvSpPr/>
          <p:nvPr/>
        </p:nvSpPr>
        <p:spPr>
          <a:xfrm>
            <a:off x="4617720" y="4014216"/>
            <a:ext cx="1920240" cy="214884"/>
          </a:xfrm>
          <a:prstGeom prst="rect">
            <a:avLst/>
          </a:prstGeom>
          <a:solidFill>
            <a:srgbClr val="FFFFFF"/>
          </a:solidFill>
          <a:ln w="6350">
            <a:solidFill>
              <a:srgbClr val="D3DCE5"/>
            </a:solidFill>
            <a:prstDash val="solid"/>
          </a:ln>
        </p:spPr>
      </p:sp>
      <p:sp>
        <p:nvSpPr>
          <p:cNvPr id="176" name="Text 174"/>
          <p:cNvSpPr txBox="1"/>
          <p:nvPr/>
        </p:nvSpPr>
        <p:spPr>
          <a:xfrm>
            <a:off x="4681728" y="4014216"/>
            <a:ext cx="1792224" cy="214884"/>
          </a:xfrm>
          <a:prstGeom prst="rect">
            <a:avLst/>
          </a:prstGeom>
          <a:noFill/>
          <a:ln/>
        </p:spPr>
        <p:txBody>
          <a:bodyPr wrap="square" lIns="0" tIns="0" rIns="0" bIns="0" rtlCol="0" anchor="ctr"/>
          <a:lstStyle/>
          <a:p>
            <a:pPr algn="r" indent="0" marL="0">
              <a:buNone/>
            </a:pPr>
            <a:r>
              <a:rPr lang="en-US" sz="860" dirty="0">
                <a:solidFill>
                  <a:srgbClr val="5F7183"/>
                </a:solidFill>
                <a:latin typeface="Calibri" pitchFamily="34" charset="0"/>
                <a:ea typeface="Calibri" pitchFamily="34" charset="-122"/>
                <a:cs typeface="Calibri" pitchFamily="34" charset="-120"/>
              </a:rPr>
              <a:t>25,723</a:t>
            </a:r>
            <a:endParaRPr lang="en-US" sz="860" dirty="0"/>
          </a:p>
        </p:txBody>
      </p:sp>
      <p:sp>
        <p:nvSpPr>
          <p:cNvPr id="177" name="Shape 175"/>
          <p:cNvSpPr/>
          <p:nvPr/>
        </p:nvSpPr>
        <p:spPr>
          <a:xfrm>
            <a:off x="411480" y="4229100"/>
            <a:ext cx="4206240" cy="214884"/>
          </a:xfrm>
          <a:prstGeom prst="rect">
            <a:avLst/>
          </a:prstGeom>
          <a:solidFill>
            <a:srgbClr val="F7F9FB"/>
          </a:solidFill>
          <a:ln w="6350">
            <a:solidFill>
              <a:srgbClr val="D3DCE5"/>
            </a:solidFill>
            <a:prstDash val="solid"/>
          </a:ln>
        </p:spPr>
      </p:sp>
      <p:sp>
        <p:nvSpPr>
          <p:cNvPr id="178" name="Text 176"/>
          <p:cNvSpPr txBox="1"/>
          <p:nvPr/>
        </p:nvSpPr>
        <p:spPr>
          <a:xfrm>
            <a:off x="475488" y="4229100"/>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Enterprise value</a:t>
            </a:r>
            <a:endParaRPr lang="en-US" sz="860" dirty="0"/>
          </a:p>
        </p:txBody>
      </p:sp>
      <p:sp>
        <p:nvSpPr>
          <p:cNvPr id="179" name="Shape 177"/>
          <p:cNvSpPr/>
          <p:nvPr/>
        </p:nvSpPr>
        <p:spPr>
          <a:xfrm>
            <a:off x="4617720" y="4229100"/>
            <a:ext cx="1920240" cy="214884"/>
          </a:xfrm>
          <a:prstGeom prst="rect">
            <a:avLst/>
          </a:prstGeom>
          <a:solidFill>
            <a:srgbClr val="F7F9FB"/>
          </a:solidFill>
          <a:ln w="6350">
            <a:solidFill>
              <a:srgbClr val="D3DCE5"/>
            </a:solidFill>
            <a:prstDash val="solid"/>
          </a:ln>
        </p:spPr>
      </p:sp>
      <p:sp>
        <p:nvSpPr>
          <p:cNvPr id="180" name="Text 178"/>
          <p:cNvSpPr txBox="1"/>
          <p:nvPr/>
        </p:nvSpPr>
        <p:spPr>
          <a:xfrm>
            <a:off x="4681728" y="4229100"/>
            <a:ext cx="1792224" cy="214884"/>
          </a:xfrm>
          <a:prstGeom prst="rect">
            <a:avLst/>
          </a:prstGeom>
          <a:noFill/>
          <a:ln/>
        </p:spPr>
        <p:txBody>
          <a:bodyPr wrap="square" lIns="0" tIns="0" rIns="0" bIns="0" rtlCol="0" anchor="ctr"/>
          <a:lstStyle/>
          <a:p>
            <a:pPr algn="r" indent="0" marL="0">
              <a:buNone/>
            </a:pPr>
            <a:r>
              <a:rPr lang="en-US" sz="860" b="1" dirty="0">
                <a:solidFill>
                  <a:srgbClr val="1B2733"/>
                </a:solidFill>
                <a:latin typeface="Calibri" pitchFamily="34" charset="0"/>
                <a:ea typeface="Calibri" pitchFamily="34" charset="-122"/>
                <a:cs typeface="Calibri" pitchFamily="34" charset="-120"/>
              </a:rPr>
              <a:t>27,426</a:t>
            </a:r>
            <a:endParaRPr lang="en-US" sz="860" dirty="0"/>
          </a:p>
        </p:txBody>
      </p:sp>
      <p:sp>
        <p:nvSpPr>
          <p:cNvPr id="181" name="Shape 179"/>
          <p:cNvSpPr/>
          <p:nvPr/>
        </p:nvSpPr>
        <p:spPr>
          <a:xfrm>
            <a:off x="411480" y="4443984"/>
            <a:ext cx="4206240" cy="214884"/>
          </a:xfrm>
          <a:prstGeom prst="rect">
            <a:avLst/>
          </a:prstGeom>
          <a:solidFill>
            <a:srgbClr val="FFFFFF"/>
          </a:solidFill>
          <a:ln w="6350">
            <a:solidFill>
              <a:srgbClr val="D3DCE5"/>
            </a:solidFill>
            <a:prstDash val="solid"/>
          </a:ln>
        </p:spPr>
      </p:sp>
      <p:sp>
        <p:nvSpPr>
          <p:cNvPr id="182" name="Text 180"/>
          <p:cNvSpPr txBox="1"/>
          <p:nvPr/>
        </p:nvSpPr>
        <p:spPr>
          <a:xfrm>
            <a:off x="475488" y="4443984"/>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Add net cash</a:t>
            </a:r>
            <a:endParaRPr lang="en-US" sz="860" dirty="0"/>
          </a:p>
        </p:txBody>
      </p:sp>
      <p:sp>
        <p:nvSpPr>
          <p:cNvPr id="183" name="Shape 181"/>
          <p:cNvSpPr/>
          <p:nvPr/>
        </p:nvSpPr>
        <p:spPr>
          <a:xfrm>
            <a:off x="4617720" y="4443984"/>
            <a:ext cx="1920240" cy="214884"/>
          </a:xfrm>
          <a:prstGeom prst="rect">
            <a:avLst/>
          </a:prstGeom>
          <a:solidFill>
            <a:srgbClr val="FFFFFF"/>
          </a:solidFill>
          <a:ln w="6350">
            <a:solidFill>
              <a:srgbClr val="D3DCE5"/>
            </a:solidFill>
            <a:prstDash val="solid"/>
          </a:ln>
        </p:spPr>
      </p:sp>
      <p:sp>
        <p:nvSpPr>
          <p:cNvPr id="184" name="Text 182"/>
          <p:cNvSpPr txBox="1"/>
          <p:nvPr/>
        </p:nvSpPr>
        <p:spPr>
          <a:xfrm>
            <a:off x="4681728" y="4443984"/>
            <a:ext cx="1792224" cy="214884"/>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1,437</a:t>
            </a:r>
            <a:endParaRPr lang="en-US" sz="860" dirty="0"/>
          </a:p>
        </p:txBody>
      </p:sp>
      <p:sp>
        <p:nvSpPr>
          <p:cNvPr id="185" name="Shape 183"/>
          <p:cNvSpPr/>
          <p:nvPr/>
        </p:nvSpPr>
        <p:spPr>
          <a:xfrm>
            <a:off x="411480" y="4658868"/>
            <a:ext cx="4206240" cy="214884"/>
          </a:xfrm>
          <a:prstGeom prst="rect">
            <a:avLst/>
          </a:prstGeom>
          <a:solidFill>
            <a:srgbClr val="F7F9FB"/>
          </a:solidFill>
          <a:ln w="6350">
            <a:solidFill>
              <a:srgbClr val="D3DCE5"/>
            </a:solidFill>
            <a:prstDash val="solid"/>
          </a:ln>
        </p:spPr>
      </p:sp>
      <p:sp>
        <p:nvSpPr>
          <p:cNvPr id="186" name="Text 184"/>
          <p:cNvSpPr txBox="1"/>
          <p:nvPr/>
        </p:nvSpPr>
        <p:spPr>
          <a:xfrm>
            <a:off x="475488" y="4658868"/>
            <a:ext cx="4078224" cy="214884"/>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Equity value</a:t>
            </a:r>
            <a:endParaRPr lang="en-US" sz="860" dirty="0"/>
          </a:p>
        </p:txBody>
      </p:sp>
      <p:sp>
        <p:nvSpPr>
          <p:cNvPr id="187" name="Shape 185"/>
          <p:cNvSpPr/>
          <p:nvPr/>
        </p:nvSpPr>
        <p:spPr>
          <a:xfrm>
            <a:off x="4617720" y="4658868"/>
            <a:ext cx="1920240" cy="214884"/>
          </a:xfrm>
          <a:prstGeom prst="rect">
            <a:avLst/>
          </a:prstGeom>
          <a:solidFill>
            <a:srgbClr val="F7F9FB"/>
          </a:solidFill>
          <a:ln w="6350">
            <a:solidFill>
              <a:srgbClr val="D3DCE5"/>
            </a:solidFill>
            <a:prstDash val="solid"/>
          </a:ln>
        </p:spPr>
      </p:sp>
      <p:sp>
        <p:nvSpPr>
          <p:cNvPr id="188" name="Text 186"/>
          <p:cNvSpPr txBox="1"/>
          <p:nvPr/>
        </p:nvSpPr>
        <p:spPr>
          <a:xfrm>
            <a:off x="4681728" y="4658868"/>
            <a:ext cx="1792224" cy="214884"/>
          </a:xfrm>
          <a:prstGeom prst="rect">
            <a:avLst/>
          </a:prstGeom>
          <a:noFill/>
          <a:ln/>
        </p:spPr>
        <p:txBody>
          <a:bodyPr wrap="square" lIns="0" tIns="0" rIns="0" bIns="0" rtlCol="0" anchor="ctr"/>
          <a:lstStyle/>
          <a:p>
            <a:pPr algn="r" indent="0" marL="0">
              <a:buNone/>
            </a:pPr>
            <a:r>
              <a:rPr lang="en-US" sz="860" b="1" dirty="0">
                <a:solidFill>
                  <a:srgbClr val="1B2733"/>
                </a:solidFill>
                <a:latin typeface="Calibri" pitchFamily="34" charset="0"/>
                <a:ea typeface="Calibri" pitchFamily="34" charset="-122"/>
                <a:cs typeface="Calibri" pitchFamily="34" charset="-120"/>
              </a:rPr>
              <a:t>28,863</a:t>
            </a:r>
            <a:endParaRPr lang="en-US" sz="860" dirty="0"/>
          </a:p>
        </p:txBody>
      </p:sp>
      <p:sp>
        <p:nvSpPr>
          <p:cNvPr id="189" name="Shape 187"/>
          <p:cNvSpPr/>
          <p:nvPr/>
        </p:nvSpPr>
        <p:spPr>
          <a:xfrm>
            <a:off x="411480" y="4873752"/>
            <a:ext cx="4206240" cy="214884"/>
          </a:xfrm>
          <a:prstGeom prst="rect">
            <a:avLst/>
          </a:prstGeom>
          <a:solidFill>
            <a:srgbClr val="FFFFFF"/>
          </a:solidFill>
          <a:ln w="6350">
            <a:solidFill>
              <a:srgbClr val="D3DCE5"/>
            </a:solidFill>
            <a:prstDash val="solid"/>
          </a:ln>
        </p:spPr>
      </p:sp>
      <p:sp>
        <p:nvSpPr>
          <p:cNvPr id="190" name="Text 188"/>
          <p:cNvSpPr txBox="1"/>
          <p:nvPr/>
        </p:nvSpPr>
        <p:spPr>
          <a:xfrm>
            <a:off x="475488" y="4873752"/>
            <a:ext cx="4078224" cy="214884"/>
          </a:xfrm>
          <a:prstGeom prst="rect">
            <a:avLst/>
          </a:prstGeom>
          <a:noFill/>
          <a:ln/>
        </p:spPr>
        <p:txBody>
          <a:bodyPr wrap="square" lIns="0" tIns="0" rIns="0" bIns="0" rtlCol="0" anchor="ctr"/>
          <a:lstStyle/>
          <a:p>
            <a:pPr algn="l" indent="0" marL="0">
              <a:buNone/>
            </a:pPr>
            <a:r>
              <a:rPr lang="en-US" sz="860" b="1" dirty="0">
                <a:solidFill>
                  <a:srgbClr val="1C3A5E"/>
                </a:solidFill>
                <a:latin typeface="Calibri" pitchFamily="34" charset="0"/>
                <a:ea typeface="Calibri" pitchFamily="34" charset="-122"/>
                <a:cs typeface="Calibri" pitchFamily="34" charset="-120"/>
              </a:rPr>
              <a:t>Value per share (A$)</a:t>
            </a:r>
            <a:endParaRPr lang="en-US" sz="860" dirty="0"/>
          </a:p>
        </p:txBody>
      </p:sp>
      <p:sp>
        <p:nvSpPr>
          <p:cNvPr id="191" name="Shape 189"/>
          <p:cNvSpPr/>
          <p:nvPr/>
        </p:nvSpPr>
        <p:spPr>
          <a:xfrm>
            <a:off x="4617720" y="4873752"/>
            <a:ext cx="1920240" cy="214884"/>
          </a:xfrm>
          <a:prstGeom prst="rect">
            <a:avLst/>
          </a:prstGeom>
          <a:solidFill>
            <a:srgbClr val="FFFFFF"/>
          </a:solidFill>
          <a:ln w="6350">
            <a:solidFill>
              <a:srgbClr val="D3DCE5"/>
            </a:solidFill>
            <a:prstDash val="solid"/>
          </a:ln>
        </p:spPr>
      </p:sp>
      <p:sp>
        <p:nvSpPr>
          <p:cNvPr id="192" name="Text 190"/>
          <p:cNvSpPr txBox="1"/>
          <p:nvPr/>
        </p:nvSpPr>
        <p:spPr>
          <a:xfrm>
            <a:off x="4681728" y="4873752"/>
            <a:ext cx="1792224" cy="214884"/>
          </a:xfrm>
          <a:prstGeom prst="rect">
            <a:avLst/>
          </a:prstGeom>
          <a:noFill/>
          <a:ln/>
        </p:spPr>
        <p:txBody>
          <a:bodyPr wrap="square" lIns="0" tIns="0" rIns="0" bIns="0" rtlCol="0" anchor="ctr"/>
          <a:lstStyle/>
          <a:p>
            <a:pPr algn="r" indent="0" marL="0">
              <a:buNone/>
            </a:pPr>
            <a:r>
              <a:rPr lang="en-US" sz="860" b="1" dirty="0">
                <a:solidFill>
                  <a:srgbClr val="1C3A5E"/>
                </a:solidFill>
                <a:latin typeface="Calibri" pitchFamily="34" charset="0"/>
                <a:ea typeface="Calibri" pitchFamily="34" charset="-122"/>
                <a:cs typeface="Calibri" pitchFamily="34" charset="-120"/>
              </a:rPr>
              <a:t>8.96</a:t>
            </a:r>
            <a:endParaRPr lang="en-US" sz="860" dirty="0"/>
          </a:p>
        </p:txBody>
      </p:sp>
      <p:sp>
        <p:nvSpPr>
          <p:cNvPr id="193" name="Shape 191"/>
          <p:cNvSpPr/>
          <p:nvPr/>
        </p:nvSpPr>
        <p:spPr>
          <a:xfrm>
            <a:off x="411480" y="5088636"/>
            <a:ext cx="4206240" cy="214884"/>
          </a:xfrm>
          <a:prstGeom prst="rect">
            <a:avLst/>
          </a:prstGeom>
          <a:solidFill>
            <a:srgbClr val="F7F9FB"/>
          </a:solidFill>
          <a:ln w="6350">
            <a:solidFill>
              <a:srgbClr val="D3DCE5"/>
            </a:solidFill>
            <a:prstDash val="solid"/>
          </a:ln>
        </p:spPr>
      </p:sp>
      <p:sp>
        <p:nvSpPr>
          <p:cNvPr id="194" name="Text 192"/>
          <p:cNvSpPr txBox="1"/>
          <p:nvPr/>
        </p:nvSpPr>
        <p:spPr>
          <a:xfrm>
            <a:off x="475488" y="5088636"/>
            <a:ext cx="4078224" cy="214884"/>
          </a:xfrm>
          <a:prstGeom prst="rect">
            <a:avLst/>
          </a:prstGeom>
          <a:noFill/>
          <a:ln/>
        </p:spPr>
        <p:txBody>
          <a:bodyPr wrap="square" lIns="0" tIns="0" rIns="0" bIns="0" rtlCol="0" anchor="ctr"/>
          <a:lstStyle/>
          <a:p>
            <a:pPr algn="l" indent="0" marL="0">
              <a:buNone/>
            </a:pPr>
            <a:r>
              <a:rPr lang="en-US" sz="860" b="1" dirty="0">
                <a:solidFill>
                  <a:srgbClr val="1C3A5E"/>
                </a:solidFill>
                <a:latin typeface="Calibri" pitchFamily="34" charset="0"/>
                <a:ea typeface="Calibri" pitchFamily="34" charset="-122"/>
                <a:cs typeface="Calibri" pitchFamily="34" charset="-120"/>
              </a:rPr>
              <a:t>Upside / (downside)</a:t>
            </a:r>
            <a:endParaRPr lang="en-US" sz="860" dirty="0"/>
          </a:p>
        </p:txBody>
      </p:sp>
      <p:sp>
        <p:nvSpPr>
          <p:cNvPr id="195" name="Shape 193"/>
          <p:cNvSpPr/>
          <p:nvPr/>
        </p:nvSpPr>
        <p:spPr>
          <a:xfrm>
            <a:off x="4617720" y="5088636"/>
            <a:ext cx="1920240" cy="214884"/>
          </a:xfrm>
          <a:prstGeom prst="rect">
            <a:avLst/>
          </a:prstGeom>
          <a:solidFill>
            <a:srgbClr val="F7F9FB"/>
          </a:solidFill>
          <a:ln w="6350">
            <a:solidFill>
              <a:srgbClr val="D3DCE5"/>
            </a:solidFill>
            <a:prstDash val="solid"/>
          </a:ln>
        </p:spPr>
      </p:sp>
      <p:sp>
        <p:nvSpPr>
          <p:cNvPr id="196" name="Text 194"/>
          <p:cNvSpPr txBox="1"/>
          <p:nvPr/>
        </p:nvSpPr>
        <p:spPr>
          <a:xfrm>
            <a:off x="4681728" y="5088636"/>
            <a:ext cx="1792224" cy="214884"/>
          </a:xfrm>
          <a:prstGeom prst="rect">
            <a:avLst/>
          </a:prstGeom>
          <a:noFill/>
          <a:ln/>
        </p:spPr>
        <p:txBody>
          <a:bodyPr wrap="square" lIns="0" tIns="0" rIns="0" bIns="0" rtlCol="0" anchor="ctr"/>
          <a:lstStyle/>
          <a:p>
            <a:pPr algn="r" indent="0" marL="0">
              <a:buNone/>
            </a:pPr>
            <a:r>
              <a:rPr lang="en-US" sz="860" b="1" dirty="0">
                <a:solidFill>
                  <a:srgbClr val="1C3A5E"/>
                </a:solidFill>
                <a:latin typeface="Calibri" pitchFamily="34" charset="0"/>
                <a:ea typeface="Calibri" pitchFamily="34" charset="-122"/>
                <a:cs typeface="Calibri" pitchFamily="34" charset="-120"/>
              </a:rPr>
              <a:t>+63.6%</a:t>
            </a:r>
            <a:endParaRPr lang="en-US" sz="860" dirty="0"/>
          </a:p>
        </p:txBody>
      </p:sp>
      <p:sp>
        <p:nvSpPr>
          <p:cNvPr id="197" name="Shape 195"/>
          <p:cNvSpPr/>
          <p:nvPr/>
        </p:nvSpPr>
        <p:spPr>
          <a:xfrm>
            <a:off x="6812280" y="3291840"/>
            <a:ext cx="3017520" cy="292608"/>
          </a:xfrm>
          <a:prstGeom prst="rect">
            <a:avLst/>
          </a:prstGeom>
          <a:solidFill>
            <a:srgbClr val="10233A"/>
          </a:solidFill>
          <a:ln/>
        </p:spPr>
      </p:sp>
      <p:sp>
        <p:nvSpPr>
          <p:cNvPr id="198" name="Text 196"/>
          <p:cNvSpPr txBox="1"/>
          <p:nvPr/>
        </p:nvSpPr>
        <p:spPr>
          <a:xfrm>
            <a:off x="6876288" y="3291840"/>
            <a:ext cx="2889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Orebody</a:t>
            </a:r>
            <a:endParaRPr lang="en-US" sz="900" dirty="0"/>
          </a:p>
        </p:txBody>
      </p:sp>
      <p:sp>
        <p:nvSpPr>
          <p:cNvPr id="199" name="Shape 197"/>
          <p:cNvSpPr/>
          <p:nvPr/>
        </p:nvSpPr>
        <p:spPr>
          <a:xfrm>
            <a:off x="9829800" y="3291840"/>
            <a:ext cx="1956816" cy="292608"/>
          </a:xfrm>
          <a:prstGeom prst="rect">
            <a:avLst/>
          </a:prstGeom>
          <a:solidFill>
            <a:srgbClr val="10233A"/>
          </a:solidFill>
          <a:ln/>
        </p:spPr>
      </p:sp>
      <p:sp>
        <p:nvSpPr>
          <p:cNvPr id="200" name="Text 198"/>
          <p:cNvSpPr txBox="1"/>
          <p:nvPr/>
        </p:nvSpPr>
        <p:spPr>
          <a:xfrm>
            <a:off x="9893808" y="3291840"/>
            <a:ext cx="1828800" cy="292608"/>
          </a:xfrm>
          <a:prstGeom prst="rect">
            <a:avLst/>
          </a:prstGeom>
          <a:noFill/>
          <a:ln/>
        </p:spPr>
        <p:txBody>
          <a:bodyPr wrap="square" lIns="0" tIns="0" rIns="0" bIns="0" rtlCol="0" anchor="ctr"/>
          <a:lstStyle/>
          <a:p>
            <a:pPr algn="r" indent="0" marL="0">
              <a:buNone/>
            </a:pPr>
            <a:endParaRPr lang="en-US" sz="900" dirty="0"/>
          </a:p>
        </p:txBody>
      </p:sp>
      <p:sp>
        <p:nvSpPr>
          <p:cNvPr id="201" name="Shape 199"/>
          <p:cNvSpPr/>
          <p:nvPr/>
        </p:nvSpPr>
        <p:spPr>
          <a:xfrm>
            <a:off x="6812280" y="3584448"/>
            <a:ext cx="3017520" cy="224028"/>
          </a:xfrm>
          <a:prstGeom prst="rect">
            <a:avLst/>
          </a:prstGeom>
          <a:solidFill>
            <a:srgbClr val="FFFFFF"/>
          </a:solidFill>
          <a:ln w="6350">
            <a:solidFill>
              <a:srgbClr val="D3DCE5"/>
            </a:solidFill>
            <a:prstDash val="solid"/>
          </a:ln>
        </p:spPr>
      </p:sp>
      <p:sp>
        <p:nvSpPr>
          <p:cNvPr id="202" name="Text 200"/>
          <p:cNvSpPr txBox="1"/>
          <p:nvPr/>
        </p:nvSpPr>
        <p:spPr>
          <a:xfrm>
            <a:off x="6876288" y="3584448"/>
            <a:ext cx="2889504" cy="22402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Ore consumed to FY36 (Mt)</a:t>
            </a:r>
            <a:endParaRPr lang="en-US" sz="860" dirty="0"/>
          </a:p>
        </p:txBody>
      </p:sp>
      <p:sp>
        <p:nvSpPr>
          <p:cNvPr id="203" name="Shape 201"/>
          <p:cNvSpPr/>
          <p:nvPr/>
        </p:nvSpPr>
        <p:spPr>
          <a:xfrm>
            <a:off x="9829800" y="3584448"/>
            <a:ext cx="1956816" cy="224028"/>
          </a:xfrm>
          <a:prstGeom prst="rect">
            <a:avLst/>
          </a:prstGeom>
          <a:solidFill>
            <a:srgbClr val="FFFFFF"/>
          </a:solidFill>
          <a:ln w="6350">
            <a:solidFill>
              <a:srgbClr val="D3DCE5"/>
            </a:solidFill>
            <a:prstDash val="solid"/>
          </a:ln>
        </p:spPr>
      </p:sp>
      <p:sp>
        <p:nvSpPr>
          <p:cNvPr id="204" name="Text 202"/>
          <p:cNvSpPr txBox="1"/>
          <p:nvPr/>
        </p:nvSpPr>
        <p:spPr>
          <a:xfrm>
            <a:off x="9893808" y="3584448"/>
            <a:ext cx="1828800" cy="224028"/>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117.0</a:t>
            </a:r>
            <a:endParaRPr lang="en-US" sz="860" dirty="0"/>
          </a:p>
        </p:txBody>
      </p:sp>
      <p:sp>
        <p:nvSpPr>
          <p:cNvPr id="205" name="Shape 203"/>
          <p:cNvSpPr/>
          <p:nvPr/>
        </p:nvSpPr>
        <p:spPr>
          <a:xfrm>
            <a:off x="6812280" y="3808476"/>
            <a:ext cx="3017520" cy="224028"/>
          </a:xfrm>
          <a:prstGeom prst="rect">
            <a:avLst/>
          </a:prstGeom>
          <a:solidFill>
            <a:srgbClr val="F7F9FB"/>
          </a:solidFill>
          <a:ln w="6350">
            <a:solidFill>
              <a:srgbClr val="D3DCE5"/>
            </a:solidFill>
            <a:prstDash val="solid"/>
          </a:ln>
        </p:spPr>
      </p:sp>
      <p:sp>
        <p:nvSpPr>
          <p:cNvPr id="206" name="Text 204"/>
          <p:cNvSpPr txBox="1"/>
          <p:nvPr/>
        </p:nvSpPr>
        <p:spPr>
          <a:xfrm>
            <a:off x="6876288" y="3808476"/>
            <a:ext cx="2889504" cy="22402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Ore remaining after FY36 (Mt)</a:t>
            </a:r>
            <a:endParaRPr lang="en-US" sz="860" dirty="0"/>
          </a:p>
        </p:txBody>
      </p:sp>
      <p:sp>
        <p:nvSpPr>
          <p:cNvPr id="207" name="Shape 205"/>
          <p:cNvSpPr/>
          <p:nvPr/>
        </p:nvSpPr>
        <p:spPr>
          <a:xfrm>
            <a:off x="9829800" y="3808476"/>
            <a:ext cx="1956816" cy="224028"/>
          </a:xfrm>
          <a:prstGeom prst="rect">
            <a:avLst/>
          </a:prstGeom>
          <a:solidFill>
            <a:srgbClr val="F7F9FB"/>
          </a:solidFill>
          <a:ln w="6350">
            <a:solidFill>
              <a:srgbClr val="D3DCE5"/>
            </a:solidFill>
            <a:prstDash val="solid"/>
          </a:ln>
        </p:spPr>
      </p:sp>
      <p:sp>
        <p:nvSpPr>
          <p:cNvPr id="208" name="Text 206"/>
          <p:cNvSpPr txBox="1"/>
          <p:nvPr/>
        </p:nvSpPr>
        <p:spPr>
          <a:xfrm>
            <a:off x="9893808" y="3808476"/>
            <a:ext cx="1828800" cy="224028"/>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217.5</a:t>
            </a:r>
            <a:endParaRPr lang="en-US" sz="860" dirty="0"/>
          </a:p>
        </p:txBody>
      </p:sp>
      <p:sp>
        <p:nvSpPr>
          <p:cNvPr id="209" name="Shape 207"/>
          <p:cNvSpPr/>
          <p:nvPr/>
        </p:nvSpPr>
        <p:spPr>
          <a:xfrm>
            <a:off x="6812280" y="4032504"/>
            <a:ext cx="3017520" cy="224028"/>
          </a:xfrm>
          <a:prstGeom prst="rect">
            <a:avLst/>
          </a:prstGeom>
          <a:solidFill>
            <a:srgbClr val="FFFFFF"/>
          </a:solidFill>
          <a:ln w="6350">
            <a:solidFill>
              <a:srgbClr val="D3DCE5"/>
            </a:solidFill>
            <a:prstDash val="solid"/>
          </a:ln>
        </p:spPr>
      </p:sp>
      <p:sp>
        <p:nvSpPr>
          <p:cNvPr id="210" name="Text 208"/>
          <p:cNvSpPr txBox="1"/>
          <p:nvPr/>
        </p:nvSpPr>
        <p:spPr>
          <a:xfrm>
            <a:off x="6876288" y="4032504"/>
            <a:ext cx="2889504" cy="22402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Remaining mine life (years)</a:t>
            </a:r>
            <a:endParaRPr lang="en-US" sz="860" dirty="0"/>
          </a:p>
        </p:txBody>
      </p:sp>
      <p:sp>
        <p:nvSpPr>
          <p:cNvPr id="211" name="Shape 209"/>
          <p:cNvSpPr/>
          <p:nvPr/>
        </p:nvSpPr>
        <p:spPr>
          <a:xfrm>
            <a:off x="9829800" y="4032504"/>
            <a:ext cx="1956816" cy="224028"/>
          </a:xfrm>
          <a:prstGeom prst="rect">
            <a:avLst/>
          </a:prstGeom>
          <a:solidFill>
            <a:srgbClr val="FFFFFF"/>
          </a:solidFill>
          <a:ln w="6350">
            <a:solidFill>
              <a:srgbClr val="D3DCE5"/>
            </a:solidFill>
            <a:prstDash val="solid"/>
          </a:ln>
        </p:spPr>
      </p:sp>
      <p:sp>
        <p:nvSpPr>
          <p:cNvPr id="212" name="Text 210"/>
          <p:cNvSpPr txBox="1"/>
          <p:nvPr/>
        </p:nvSpPr>
        <p:spPr>
          <a:xfrm>
            <a:off x="9893808" y="4032504"/>
            <a:ext cx="1828800" cy="224028"/>
          </a:xfrm>
          <a:prstGeom prst="rect">
            <a:avLst/>
          </a:prstGeom>
          <a:noFill/>
          <a:ln/>
        </p:spPr>
        <p:txBody>
          <a:bodyPr wrap="square" lIns="0" tIns="0" rIns="0" bIns="0" rtlCol="0" anchor="ctr"/>
          <a:lstStyle/>
          <a:p>
            <a:pPr algn="r" indent="0" marL="0">
              <a:buNone/>
            </a:pPr>
            <a:r>
              <a:rPr lang="en-US" sz="860" b="1" dirty="0">
                <a:solidFill>
                  <a:srgbClr val="1B2733"/>
                </a:solidFill>
                <a:latin typeface="Calibri" pitchFamily="34" charset="0"/>
                <a:ea typeface="Calibri" pitchFamily="34" charset="-122"/>
                <a:cs typeface="Calibri" pitchFamily="34" charset="-120"/>
              </a:rPr>
              <a:t>14.2</a:t>
            </a:r>
            <a:endParaRPr lang="en-US" sz="860" dirty="0"/>
          </a:p>
        </p:txBody>
      </p:sp>
      <p:sp>
        <p:nvSpPr>
          <p:cNvPr id="213" name="Shape 211"/>
          <p:cNvSpPr/>
          <p:nvPr/>
        </p:nvSpPr>
        <p:spPr>
          <a:xfrm>
            <a:off x="6812280" y="4256532"/>
            <a:ext cx="3017520" cy="224028"/>
          </a:xfrm>
          <a:prstGeom prst="rect">
            <a:avLst/>
          </a:prstGeom>
          <a:solidFill>
            <a:srgbClr val="F7F9FB"/>
          </a:solidFill>
          <a:ln w="6350">
            <a:solidFill>
              <a:srgbClr val="D3DCE5"/>
            </a:solidFill>
            <a:prstDash val="solid"/>
          </a:ln>
        </p:spPr>
      </p:sp>
      <p:sp>
        <p:nvSpPr>
          <p:cNvPr id="214" name="Text 212"/>
          <p:cNvSpPr txBox="1"/>
          <p:nvPr/>
        </p:nvSpPr>
        <p:spPr>
          <a:xfrm>
            <a:off x="6876288" y="4256532"/>
            <a:ext cx="2889504" cy="224028"/>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Terminal annuity factor</a:t>
            </a:r>
            <a:endParaRPr lang="en-US" sz="860" dirty="0"/>
          </a:p>
        </p:txBody>
      </p:sp>
      <p:sp>
        <p:nvSpPr>
          <p:cNvPr id="215" name="Shape 213"/>
          <p:cNvSpPr/>
          <p:nvPr/>
        </p:nvSpPr>
        <p:spPr>
          <a:xfrm>
            <a:off x="9829800" y="4256532"/>
            <a:ext cx="1956816" cy="224028"/>
          </a:xfrm>
          <a:prstGeom prst="rect">
            <a:avLst/>
          </a:prstGeom>
          <a:solidFill>
            <a:srgbClr val="F7F9FB"/>
          </a:solidFill>
          <a:ln w="6350">
            <a:solidFill>
              <a:srgbClr val="D3DCE5"/>
            </a:solidFill>
            <a:prstDash val="solid"/>
          </a:ln>
        </p:spPr>
      </p:sp>
      <p:sp>
        <p:nvSpPr>
          <p:cNvPr id="216" name="Text 214"/>
          <p:cNvSpPr txBox="1"/>
          <p:nvPr/>
        </p:nvSpPr>
        <p:spPr>
          <a:xfrm>
            <a:off x="9893808" y="4256532"/>
            <a:ext cx="1828800" cy="224028"/>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7.89x</a:t>
            </a:r>
            <a:endParaRPr lang="en-US" sz="860" dirty="0"/>
          </a:p>
        </p:txBody>
      </p:sp>
      <p:sp>
        <p:nvSpPr>
          <p:cNvPr id="217" name="Shape 215"/>
          <p:cNvSpPr/>
          <p:nvPr/>
        </p:nvSpPr>
        <p:spPr>
          <a:xfrm>
            <a:off x="6812280" y="4498848"/>
            <a:ext cx="4974336" cy="1572768"/>
          </a:xfrm>
          <a:prstGeom prst="rect">
            <a:avLst/>
          </a:prstGeom>
          <a:solidFill>
            <a:srgbClr val="D6EBE7"/>
          </a:solidFill>
          <a:ln w="9525">
            <a:solidFill>
              <a:srgbClr val="D3DCE5"/>
            </a:solidFill>
            <a:prstDash val="solid"/>
          </a:ln>
        </p:spPr>
      </p:sp>
      <p:sp>
        <p:nvSpPr>
          <p:cNvPr id="218" name="Text 216"/>
          <p:cNvSpPr txBox="1"/>
          <p:nvPr/>
        </p:nvSpPr>
        <p:spPr>
          <a:xfrm>
            <a:off x="6976872" y="4626864"/>
            <a:ext cx="4645152" cy="292608"/>
          </a:xfrm>
          <a:prstGeom prst="rect">
            <a:avLst/>
          </a:prstGeom>
          <a:noFill/>
          <a:ln/>
        </p:spPr>
        <p:txBody>
          <a:bodyPr wrap="square" lIns="0" tIns="0" rIns="0" bIns="0" rtlCol="0" anchor="ctr"/>
          <a:lstStyle/>
          <a:p>
            <a:pPr indent="0" marL="0">
              <a:buNone/>
            </a:pPr>
            <a:r>
              <a:rPr lang="en-US" sz="1150" b="1" dirty="0">
                <a:solidFill>
                  <a:srgbClr val="1C3A5E"/>
                </a:solidFill>
                <a:latin typeface="Calibri" pitchFamily="34" charset="0"/>
                <a:ea typeface="Calibri" pitchFamily="34" charset="-122"/>
                <a:cs typeface="Calibri" pitchFamily="34" charset="-120"/>
              </a:rPr>
              <a:t>What this case is telling you</a:t>
            </a:r>
            <a:endParaRPr lang="en-US" sz="1150" dirty="0"/>
          </a:p>
        </p:txBody>
      </p:sp>
      <p:sp>
        <p:nvSpPr>
          <p:cNvPr id="219" name="Text 217"/>
          <p:cNvSpPr txBox="1"/>
          <p:nvPr/>
        </p:nvSpPr>
        <p:spPr>
          <a:xfrm>
            <a:off x="6976872" y="4956048"/>
            <a:ext cx="4645152" cy="1024128"/>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Note the mine life falls to 14.2 years. Mining faster depletes the orebody faster, so the annuity period shortens and part of the volume upside is given back in the terminal value. A growing perpetuity would have hidden that entirely and produced a materially higher bull case.</a:t>
            </a:r>
            <a:endParaRPr lang="en-US" sz="880" dirty="0"/>
          </a:p>
        </p:txBody>
      </p:sp>
      <p:sp>
        <p:nvSpPr>
          <p:cNvPr id="220" name="Text 218"/>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Scenario Engine sheet. Set Assumptions!C7 to Bull to reproduce the full statements on this case.</a:t>
            </a:r>
            <a:endParaRPr lang="en-US" sz="720" dirty="0"/>
          </a:p>
        </p:txBody>
      </p:sp>
      <p:sp>
        <p:nvSpPr>
          <p:cNvPr id="221" name="Text 219"/>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E10</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The price coefficient is A$46,304m per 100% change and the cost coefficient A$11,628m. Price matters four times as much as cost.</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E11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Text 5"/>
          <p:cNvSpPr txBox="1"/>
          <p:nvPr/>
        </p:nvSpPr>
        <p:spPr>
          <a:xfrm>
            <a:off x="411480" y="1298448"/>
            <a:ext cx="6858000" cy="237744"/>
          </a:xfrm>
          <a:prstGeom prst="rect">
            <a:avLst/>
          </a:prstGeom>
          <a:noFill/>
          <a:ln/>
        </p:spPr>
        <p:txBody>
          <a:bodyPr wrap="square" lIns="0" tIns="0" rIns="0" bIns="0" rtlCol="0" anchor="ctr"/>
          <a:lstStyle/>
          <a:p>
            <a:pPr indent="0" marL="0">
              <a:buNone/>
            </a:pPr>
            <a:r>
              <a:rPr lang="en-US" sz="1000" b="1" dirty="0">
                <a:solidFill>
                  <a:srgbClr val="10233A"/>
                </a:solidFill>
                <a:latin typeface="Calibri" pitchFamily="34" charset="0"/>
                <a:ea typeface="Calibri" pitchFamily="34" charset="-122"/>
                <a:cs typeface="Calibri" pitchFamily="34" charset="-120"/>
              </a:rPr>
              <a:t>Base-case value per share against realised price and unit cost (A$)</a:t>
            </a:r>
            <a:endParaRPr lang="en-US" sz="1000" dirty="0"/>
          </a:p>
        </p:txBody>
      </p:sp>
      <p:sp>
        <p:nvSpPr>
          <p:cNvPr id="8" name="Shape 6"/>
          <p:cNvSpPr/>
          <p:nvPr/>
        </p:nvSpPr>
        <p:spPr>
          <a:xfrm>
            <a:off x="1737360" y="1591056"/>
            <a:ext cx="960120" cy="274320"/>
          </a:xfrm>
          <a:prstGeom prst="rect">
            <a:avLst/>
          </a:prstGeom>
          <a:solidFill>
            <a:srgbClr val="10233A"/>
          </a:solidFill>
          <a:ln/>
        </p:spPr>
      </p:sp>
      <p:sp>
        <p:nvSpPr>
          <p:cNvPr id="9" name="Text 7"/>
          <p:cNvSpPr txBox="1"/>
          <p:nvPr/>
        </p:nvSpPr>
        <p:spPr>
          <a:xfrm>
            <a:off x="1737360" y="1591056"/>
            <a:ext cx="9601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a:t>
            </a:r>
            <a:endParaRPr lang="en-US" sz="850" dirty="0"/>
          </a:p>
        </p:txBody>
      </p:sp>
      <p:sp>
        <p:nvSpPr>
          <p:cNvPr id="10" name="Shape 8"/>
          <p:cNvSpPr/>
          <p:nvPr/>
        </p:nvSpPr>
        <p:spPr>
          <a:xfrm>
            <a:off x="2697480" y="1591056"/>
            <a:ext cx="960120" cy="274320"/>
          </a:xfrm>
          <a:prstGeom prst="rect">
            <a:avLst/>
          </a:prstGeom>
          <a:solidFill>
            <a:srgbClr val="10233A"/>
          </a:solidFill>
          <a:ln/>
        </p:spPr>
      </p:sp>
      <p:sp>
        <p:nvSpPr>
          <p:cNvPr id="11" name="Text 9"/>
          <p:cNvSpPr txBox="1"/>
          <p:nvPr/>
        </p:nvSpPr>
        <p:spPr>
          <a:xfrm>
            <a:off x="2697480" y="1591056"/>
            <a:ext cx="9601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-10%</a:t>
            </a:r>
            <a:endParaRPr lang="en-US" sz="850" dirty="0"/>
          </a:p>
        </p:txBody>
      </p:sp>
      <p:sp>
        <p:nvSpPr>
          <p:cNvPr id="12" name="Shape 10"/>
          <p:cNvSpPr/>
          <p:nvPr/>
        </p:nvSpPr>
        <p:spPr>
          <a:xfrm>
            <a:off x="3657600" y="1591056"/>
            <a:ext cx="960120" cy="274320"/>
          </a:xfrm>
          <a:prstGeom prst="rect">
            <a:avLst/>
          </a:prstGeom>
          <a:solidFill>
            <a:srgbClr val="10233A"/>
          </a:solidFill>
          <a:ln/>
        </p:spPr>
      </p:sp>
      <p:sp>
        <p:nvSpPr>
          <p:cNvPr id="13" name="Text 11"/>
          <p:cNvSpPr txBox="1"/>
          <p:nvPr/>
        </p:nvSpPr>
        <p:spPr>
          <a:xfrm>
            <a:off x="3657600" y="1591056"/>
            <a:ext cx="9601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+0%</a:t>
            </a:r>
            <a:endParaRPr lang="en-US" sz="850" dirty="0"/>
          </a:p>
        </p:txBody>
      </p:sp>
      <p:sp>
        <p:nvSpPr>
          <p:cNvPr id="14" name="Shape 12"/>
          <p:cNvSpPr/>
          <p:nvPr/>
        </p:nvSpPr>
        <p:spPr>
          <a:xfrm>
            <a:off x="4617720" y="1591056"/>
            <a:ext cx="960120" cy="274320"/>
          </a:xfrm>
          <a:prstGeom prst="rect">
            <a:avLst/>
          </a:prstGeom>
          <a:solidFill>
            <a:srgbClr val="10233A"/>
          </a:solidFill>
          <a:ln/>
        </p:spPr>
      </p:sp>
      <p:sp>
        <p:nvSpPr>
          <p:cNvPr id="15" name="Text 13"/>
          <p:cNvSpPr txBox="1"/>
          <p:nvPr/>
        </p:nvSpPr>
        <p:spPr>
          <a:xfrm>
            <a:off x="4617720" y="1591056"/>
            <a:ext cx="9601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+10%</a:t>
            </a:r>
            <a:endParaRPr lang="en-US" sz="850" dirty="0"/>
          </a:p>
        </p:txBody>
      </p:sp>
      <p:sp>
        <p:nvSpPr>
          <p:cNvPr id="16" name="Shape 14"/>
          <p:cNvSpPr/>
          <p:nvPr/>
        </p:nvSpPr>
        <p:spPr>
          <a:xfrm>
            <a:off x="5577840" y="1591056"/>
            <a:ext cx="960120" cy="274320"/>
          </a:xfrm>
          <a:prstGeom prst="rect">
            <a:avLst/>
          </a:prstGeom>
          <a:solidFill>
            <a:srgbClr val="10233A"/>
          </a:solidFill>
          <a:ln/>
        </p:spPr>
      </p:sp>
      <p:sp>
        <p:nvSpPr>
          <p:cNvPr id="17" name="Text 15"/>
          <p:cNvSpPr txBox="1"/>
          <p:nvPr/>
        </p:nvSpPr>
        <p:spPr>
          <a:xfrm>
            <a:off x="5577840" y="1591056"/>
            <a:ext cx="960120"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+20%</a:t>
            </a:r>
            <a:endParaRPr lang="en-US" sz="850" dirty="0"/>
          </a:p>
        </p:txBody>
      </p:sp>
      <p:sp>
        <p:nvSpPr>
          <p:cNvPr id="18" name="Shape 16"/>
          <p:cNvSpPr/>
          <p:nvPr/>
        </p:nvSpPr>
        <p:spPr>
          <a:xfrm>
            <a:off x="411480" y="1591056"/>
            <a:ext cx="1307592" cy="274320"/>
          </a:xfrm>
          <a:prstGeom prst="rect">
            <a:avLst/>
          </a:prstGeom>
          <a:solidFill>
            <a:srgbClr val="10233A"/>
          </a:solidFill>
          <a:ln/>
        </p:spPr>
      </p:sp>
      <p:sp>
        <p:nvSpPr>
          <p:cNvPr id="19" name="Text 17"/>
          <p:cNvSpPr txBox="1"/>
          <p:nvPr/>
        </p:nvSpPr>
        <p:spPr>
          <a:xfrm>
            <a:off x="484632" y="1591056"/>
            <a:ext cx="1161288" cy="274320"/>
          </a:xfrm>
          <a:prstGeom prst="rect">
            <a:avLst/>
          </a:prstGeom>
          <a:noFill/>
          <a:ln/>
        </p:spPr>
        <p:txBody>
          <a:bodyPr wrap="square" lIns="0" tIns="0" rIns="0" bIns="0" rtlCol="0" anchor="ctr"/>
          <a:lstStyle/>
          <a:p>
            <a:pPr algn="r" indent="0" marL="0">
              <a:buNone/>
            </a:pPr>
            <a:r>
              <a:rPr lang="en-US" sz="800" b="1" dirty="0">
                <a:solidFill>
                  <a:srgbClr val="FFFFFF"/>
                </a:solidFill>
                <a:latin typeface="Calibri" pitchFamily="34" charset="0"/>
                <a:ea typeface="Calibri" pitchFamily="34" charset="-122"/>
                <a:cs typeface="Calibri" pitchFamily="34" charset="-120"/>
              </a:rPr>
              <a:t>Unit cost</a:t>
            </a:r>
            <a:endParaRPr lang="en-US" sz="800" dirty="0"/>
          </a:p>
        </p:txBody>
      </p:sp>
      <p:sp>
        <p:nvSpPr>
          <p:cNvPr id="20" name="Shape 18"/>
          <p:cNvSpPr/>
          <p:nvPr/>
        </p:nvSpPr>
        <p:spPr>
          <a:xfrm>
            <a:off x="411480" y="1865376"/>
            <a:ext cx="1307592" cy="274320"/>
          </a:xfrm>
          <a:prstGeom prst="rect">
            <a:avLst/>
          </a:prstGeom>
          <a:solidFill>
            <a:srgbClr val="10233A"/>
          </a:solidFill>
          <a:ln/>
        </p:spPr>
      </p:sp>
      <p:sp>
        <p:nvSpPr>
          <p:cNvPr id="21" name="Text 19"/>
          <p:cNvSpPr txBox="1"/>
          <p:nvPr/>
        </p:nvSpPr>
        <p:spPr>
          <a:xfrm>
            <a:off x="411480" y="1865376"/>
            <a:ext cx="130759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-10%</a:t>
            </a:r>
            <a:endParaRPr lang="en-US" sz="850" dirty="0"/>
          </a:p>
        </p:txBody>
      </p:sp>
      <p:sp>
        <p:nvSpPr>
          <p:cNvPr id="22" name="Shape 20"/>
          <p:cNvSpPr/>
          <p:nvPr/>
        </p:nvSpPr>
        <p:spPr>
          <a:xfrm>
            <a:off x="1737360" y="1865376"/>
            <a:ext cx="960120" cy="274320"/>
          </a:xfrm>
          <a:prstGeom prst="rect">
            <a:avLst/>
          </a:prstGeom>
          <a:solidFill>
            <a:srgbClr val="F7E2E2"/>
          </a:solidFill>
          <a:ln w="6350">
            <a:solidFill>
              <a:srgbClr val="D3DCE5"/>
            </a:solidFill>
            <a:prstDash val="solid"/>
          </a:ln>
        </p:spPr>
      </p:sp>
      <p:sp>
        <p:nvSpPr>
          <p:cNvPr id="23" name="Text 21"/>
          <p:cNvSpPr txBox="1"/>
          <p:nvPr/>
        </p:nvSpPr>
        <p:spPr>
          <a:xfrm>
            <a:off x="1737360" y="1865376"/>
            <a:ext cx="960120" cy="274320"/>
          </a:xfrm>
          <a:prstGeom prst="rect">
            <a:avLst/>
          </a:prstGeom>
          <a:noFill/>
          <a:ln/>
        </p:spPr>
        <p:txBody>
          <a:bodyPr wrap="square" lIns="0" tIns="0" rIns="0" bIns="0" rtlCol="0" anchor="ctr"/>
          <a:lstStyle/>
          <a:p>
            <a:pPr algn="ctr" indent="0" marL="0">
              <a:buNone/>
            </a:pPr>
            <a:r>
              <a:rPr lang="en-US" sz="860" dirty="0">
                <a:solidFill>
                  <a:srgbClr val="A3282C"/>
                </a:solidFill>
                <a:latin typeface="Calibri" pitchFamily="34" charset="0"/>
                <a:ea typeface="Calibri" pitchFamily="34" charset="-122"/>
                <a:cs typeface="Calibri" pitchFamily="34" charset="-120"/>
              </a:rPr>
              <a:t>4.01</a:t>
            </a:r>
            <a:endParaRPr lang="en-US" sz="860" dirty="0"/>
          </a:p>
        </p:txBody>
      </p:sp>
      <p:sp>
        <p:nvSpPr>
          <p:cNvPr id="24" name="Shape 22"/>
          <p:cNvSpPr/>
          <p:nvPr/>
        </p:nvSpPr>
        <p:spPr>
          <a:xfrm>
            <a:off x="2697480" y="1865376"/>
            <a:ext cx="960120" cy="274320"/>
          </a:xfrm>
          <a:prstGeom prst="rect">
            <a:avLst/>
          </a:prstGeom>
          <a:solidFill>
            <a:srgbClr val="F7E2E2"/>
          </a:solidFill>
          <a:ln w="6350">
            <a:solidFill>
              <a:srgbClr val="D3DCE5"/>
            </a:solidFill>
            <a:prstDash val="solid"/>
          </a:ln>
        </p:spPr>
      </p:sp>
      <p:sp>
        <p:nvSpPr>
          <p:cNvPr id="25" name="Text 23"/>
          <p:cNvSpPr txBox="1"/>
          <p:nvPr/>
        </p:nvSpPr>
        <p:spPr>
          <a:xfrm>
            <a:off x="2697480" y="1865376"/>
            <a:ext cx="960120" cy="274320"/>
          </a:xfrm>
          <a:prstGeom prst="rect">
            <a:avLst/>
          </a:prstGeom>
          <a:noFill/>
          <a:ln/>
        </p:spPr>
        <p:txBody>
          <a:bodyPr wrap="square" lIns="0" tIns="0" rIns="0" bIns="0" rtlCol="0" anchor="ctr"/>
          <a:lstStyle/>
          <a:p>
            <a:pPr algn="ctr" indent="0" marL="0">
              <a:buNone/>
            </a:pPr>
            <a:r>
              <a:rPr lang="en-US" sz="860" dirty="0">
                <a:solidFill>
                  <a:srgbClr val="A3282C"/>
                </a:solidFill>
                <a:latin typeface="Calibri" pitchFamily="34" charset="0"/>
                <a:ea typeface="Calibri" pitchFamily="34" charset="-122"/>
                <a:cs typeface="Calibri" pitchFamily="34" charset="-120"/>
              </a:rPr>
              <a:t>5.45</a:t>
            </a:r>
            <a:endParaRPr lang="en-US" sz="860" dirty="0"/>
          </a:p>
        </p:txBody>
      </p:sp>
      <p:sp>
        <p:nvSpPr>
          <p:cNvPr id="26" name="Shape 24"/>
          <p:cNvSpPr/>
          <p:nvPr/>
        </p:nvSpPr>
        <p:spPr>
          <a:xfrm>
            <a:off x="3657600" y="1865376"/>
            <a:ext cx="960120" cy="274320"/>
          </a:xfrm>
          <a:prstGeom prst="rect">
            <a:avLst/>
          </a:prstGeom>
          <a:solidFill>
            <a:srgbClr val="F7F9FB"/>
          </a:solidFill>
          <a:ln w="6350">
            <a:solidFill>
              <a:srgbClr val="D3DCE5"/>
            </a:solidFill>
            <a:prstDash val="solid"/>
          </a:ln>
        </p:spPr>
      </p:sp>
      <p:sp>
        <p:nvSpPr>
          <p:cNvPr id="27" name="Text 25"/>
          <p:cNvSpPr txBox="1"/>
          <p:nvPr/>
        </p:nvSpPr>
        <p:spPr>
          <a:xfrm>
            <a:off x="3657600" y="186537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6.89</a:t>
            </a:r>
            <a:endParaRPr lang="en-US" sz="860" dirty="0"/>
          </a:p>
        </p:txBody>
      </p:sp>
      <p:sp>
        <p:nvSpPr>
          <p:cNvPr id="28" name="Shape 26"/>
          <p:cNvSpPr/>
          <p:nvPr/>
        </p:nvSpPr>
        <p:spPr>
          <a:xfrm>
            <a:off x="4617720" y="1865376"/>
            <a:ext cx="960120" cy="274320"/>
          </a:xfrm>
          <a:prstGeom prst="rect">
            <a:avLst/>
          </a:prstGeom>
          <a:solidFill>
            <a:srgbClr val="F7F9FB"/>
          </a:solidFill>
          <a:ln w="6350">
            <a:solidFill>
              <a:srgbClr val="D3DCE5"/>
            </a:solidFill>
            <a:prstDash val="solid"/>
          </a:ln>
        </p:spPr>
      </p:sp>
      <p:sp>
        <p:nvSpPr>
          <p:cNvPr id="29" name="Text 27"/>
          <p:cNvSpPr txBox="1"/>
          <p:nvPr/>
        </p:nvSpPr>
        <p:spPr>
          <a:xfrm>
            <a:off x="4617720" y="186537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8.33</a:t>
            </a:r>
            <a:endParaRPr lang="en-US" sz="860" dirty="0"/>
          </a:p>
        </p:txBody>
      </p:sp>
      <p:sp>
        <p:nvSpPr>
          <p:cNvPr id="30" name="Shape 28"/>
          <p:cNvSpPr/>
          <p:nvPr/>
        </p:nvSpPr>
        <p:spPr>
          <a:xfrm>
            <a:off x="5577840" y="1865376"/>
            <a:ext cx="960120" cy="274320"/>
          </a:xfrm>
          <a:prstGeom prst="rect">
            <a:avLst/>
          </a:prstGeom>
          <a:solidFill>
            <a:srgbClr val="F7F9FB"/>
          </a:solidFill>
          <a:ln w="6350">
            <a:solidFill>
              <a:srgbClr val="D3DCE5"/>
            </a:solidFill>
            <a:prstDash val="solid"/>
          </a:ln>
        </p:spPr>
      </p:sp>
      <p:sp>
        <p:nvSpPr>
          <p:cNvPr id="31" name="Text 29"/>
          <p:cNvSpPr txBox="1"/>
          <p:nvPr/>
        </p:nvSpPr>
        <p:spPr>
          <a:xfrm>
            <a:off x="5577840" y="186537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9.76</a:t>
            </a:r>
            <a:endParaRPr lang="en-US" sz="860" dirty="0"/>
          </a:p>
        </p:txBody>
      </p:sp>
      <p:sp>
        <p:nvSpPr>
          <p:cNvPr id="32" name="Shape 30"/>
          <p:cNvSpPr/>
          <p:nvPr/>
        </p:nvSpPr>
        <p:spPr>
          <a:xfrm>
            <a:off x="411480" y="2139696"/>
            <a:ext cx="1307592" cy="274320"/>
          </a:xfrm>
          <a:prstGeom prst="rect">
            <a:avLst/>
          </a:prstGeom>
          <a:solidFill>
            <a:srgbClr val="10233A"/>
          </a:solidFill>
          <a:ln/>
        </p:spPr>
      </p:sp>
      <p:sp>
        <p:nvSpPr>
          <p:cNvPr id="33" name="Text 31"/>
          <p:cNvSpPr txBox="1"/>
          <p:nvPr/>
        </p:nvSpPr>
        <p:spPr>
          <a:xfrm>
            <a:off x="411480" y="2139696"/>
            <a:ext cx="130759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a:t>
            </a:r>
            <a:endParaRPr lang="en-US" sz="850" dirty="0"/>
          </a:p>
        </p:txBody>
      </p:sp>
      <p:sp>
        <p:nvSpPr>
          <p:cNvPr id="34" name="Shape 32"/>
          <p:cNvSpPr/>
          <p:nvPr/>
        </p:nvSpPr>
        <p:spPr>
          <a:xfrm>
            <a:off x="1737360" y="2139696"/>
            <a:ext cx="960120" cy="274320"/>
          </a:xfrm>
          <a:prstGeom prst="rect">
            <a:avLst/>
          </a:prstGeom>
          <a:solidFill>
            <a:srgbClr val="F7E2E2"/>
          </a:solidFill>
          <a:ln w="6350">
            <a:solidFill>
              <a:srgbClr val="D3DCE5"/>
            </a:solidFill>
            <a:prstDash val="solid"/>
          </a:ln>
        </p:spPr>
      </p:sp>
      <p:sp>
        <p:nvSpPr>
          <p:cNvPr id="35" name="Text 33"/>
          <p:cNvSpPr txBox="1"/>
          <p:nvPr/>
        </p:nvSpPr>
        <p:spPr>
          <a:xfrm>
            <a:off x="1737360" y="2139696"/>
            <a:ext cx="960120" cy="274320"/>
          </a:xfrm>
          <a:prstGeom prst="rect">
            <a:avLst/>
          </a:prstGeom>
          <a:noFill/>
          <a:ln/>
        </p:spPr>
        <p:txBody>
          <a:bodyPr wrap="square" lIns="0" tIns="0" rIns="0" bIns="0" rtlCol="0" anchor="ctr"/>
          <a:lstStyle/>
          <a:p>
            <a:pPr algn="ctr" indent="0" marL="0">
              <a:buNone/>
            </a:pPr>
            <a:r>
              <a:rPr lang="en-US" sz="860" dirty="0">
                <a:solidFill>
                  <a:srgbClr val="A3282C"/>
                </a:solidFill>
                <a:latin typeface="Calibri" pitchFamily="34" charset="0"/>
                <a:ea typeface="Calibri" pitchFamily="34" charset="-122"/>
                <a:cs typeface="Calibri" pitchFamily="34" charset="-120"/>
              </a:rPr>
              <a:t>3.83</a:t>
            </a:r>
            <a:endParaRPr lang="en-US" sz="860" dirty="0"/>
          </a:p>
        </p:txBody>
      </p:sp>
      <p:sp>
        <p:nvSpPr>
          <p:cNvPr id="36" name="Shape 34"/>
          <p:cNvSpPr/>
          <p:nvPr/>
        </p:nvSpPr>
        <p:spPr>
          <a:xfrm>
            <a:off x="2697480" y="2139696"/>
            <a:ext cx="960120" cy="274320"/>
          </a:xfrm>
          <a:prstGeom prst="rect">
            <a:avLst/>
          </a:prstGeom>
          <a:solidFill>
            <a:srgbClr val="F7E2E2"/>
          </a:solidFill>
          <a:ln w="6350">
            <a:solidFill>
              <a:srgbClr val="D3DCE5"/>
            </a:solidFill>
            <a:prstDash val="solid"/>
          </a:ln>
        </p:spPr>
      </p:sp>
      <p:sp>
        <p:nvSpPr>
          <p:cNvPr id="37" name="Text 35"/>
          <p:cNvSpPr txBox="1"/>
          <p:nvPr/>
        </p:nvSpPr>
        <p:spPr>
          <a:xfrm>
            <a:off x="2697480" y="2139696"/>
            <a:ext cx="960120" cy="274320"/>
          </a:xfrm>
          <a:prstGeom prst="rect">
            <a:avLst/>
          </a:prstGeom>
          <a:noFill/>
          <a:ln/>
        </p:spPr>
        <p:txBody>
          <a:bodyPr wrap="square" lIns="0" tIns="0" rIns="0" bIns="0" rtlCol="0" anchor="ctr"/>
          <a:lstStyle/>
          <a:p>
            <a:pPr algn="ctr" indent="0" marL="0">
              <a:buNone/>
            </a:pPr>
            <a:r>
              <a:rPr lang="en-US" sz="860" dirty="0">
                <a:solidFill>
                  <a:srgbClr val="A3282C"/>
                </a:solidFill>
                <a:latin typeface="Calibri" pitchFamily="34" charset="0"/>
                <a:ea typeface="Calibri" pitchFamily="34" charset="-122"/>
                <a:cs typeface="Calibri" pitchFamily="34" charset="-120"/>
              </a:rPr>
              <a:t>5.27</a:t>
            </a:r>
            <a:endParaRPr lang="en-US" sz="860" dirty="0"/>
          </a:p>
        </p:txBody>
      </p:sp>
      <p:sp>
        <p:nvSpPr>
          <p:cNvPr id="38" name="Shape 36"/>
          <p:cNvSpPr/>
          <p:nvPr/>
        </p:nvSpPr>
        <p:spPr>
          <a:xfrm>
            <a:off x="3657600" y="2139696"/>
            <a:ext cx="960120" cy="274320"/>
          </a:xfrm>
          <a:prstGeom prst="rect">
            <a:avLst/>
          </a:prstGeom>
          <a:solidFill>
            <a:srgbClr val="F7F9FB"/>
          </a:solidFill>
          <a:ln w="6350">
            <a:solidFill>
              <a:srgbClr val="D3DCE5"/>
            </a:solidFill>
            <a:prstDash val="solid"/>
          </a:ln>
        </p:spPr>
      </p:sp>
      <p:sp>
        <p:nvSpPr>
          <p:cNvPr id="39" name="Text 37"/>
          <p:cNvSpPr txBox="1"/>
          <p:nvPr/>
        </p:nvSpPr>
        <p:spPr>
          <a:xfrm>
            <a:off x="3657600" y="213969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6.71</a:t>
            </a:r>
            <a:endParaRPr lang="en-US" sz="860" dirty="0"/>
          </a:p>
        </p:txBody>
      </p:sp>
      <p:sp>
        <p:nvSpPr>
          <p:cNvPr id="40" name="Shape 38"/>
          <p:cNvSpPr/>
          <p:nvPr/>
        </p:nvSpPr>
        <p:spPr>
          <a:xfrm>
            <a:off x="4617720" y="2139696"/>
            <a:ext cx="960120" cy="274320"/>
          </a:xfrm>
          <a:prstGeom prst="rect">
            <a:avLst/>
          </a:prstGeom>
          <a:solidFill>
            <a:srgbClr val="F7F9FB"/>
          </a:solidFill>
          <a:ln w="6350">
            <a:solidFill>
              <a:srgbClr val="D3DCE5"/>
            </a:solidFill>
            <a:prstDash val="solid"/>
          </a:ln>
        </p:spPr>
      </p:sp>
      <p:sp>
        <p:nvSpPr>
          <p:cNvPr id="41" name="Text 39"/>
          <p:cNvSpPr txBox="1"/>
          <p:nvPr/>
        </p:nvSpPr>
        <p:spPr>
          <a:xfrm>
            <a:off x="4617720" y="213969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8.15</a:t>
            </a:r>
            <a:endParaRPr lang="en-US" sz="860" dirty="0"/>
          </a:p>
        </p:txBody>
      </p:sp>
      <p:sp>
        <p:nvSpPr>
          <p:cNvPr id="42" name="Shape 40"/>
          <p:cNvSpPr/>
          <p:nvPr/>
        </p:nvSpPr>
        <p:spPr>
          <a:xfrm>
            <a:off x="5577840" y="2139696"/>
            <a:ext cx="960120" cy="274320"/>
          </a:xfrm>
          <a:prstGeom prst="rect">
            <a:avLst/>
          </a:prstGeom>
          <a:solidFill>
            <a:srgbClr val="F7F9FB"/>
          </a:solidFill>
          <a:ln w="6350">
            <a:solidFill>
              <a:srgbClr val="D3DCE5"/>
            </a:solidFill>
            <a:prstDash val="solid"/>
          </a:ln>
        </p:spPr>
      </p:sp>
      <p:sp>
        <p:nvSpPr>
          <p:cNvPr id="43" name="Text 41"/>
          <p:cNvSpPr txBox="1"/>
          <p:nvPr/>
        </p:nvSpPr>
        <p:spPr>
          <a:xfrm>
            <a:off x="5577840" y="213969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9.58</a:t>
            </a:r>
            <a:endParaRPr lang="en-US" sz="860" dirty="0"/>
          </a:p>
        </p:txBody>
      </p:sp>
      <p:sp>
        <p:nvSpPr>
          <p:cNvPr id="44" name="Shape 42"/>
          <p:cNvSpPr/>
          <p:nvPr/>
        </p:nvSpPr>
        <p:spPr>
          <a:xfrm>
            <a:off x="411480" y="2414016"/>
            <a:ext cx="1307592" cy="274320"/>
          </a:xfrm>
          <a:prstGeom prst="rect">
            <a:avLst/>
          </a:prstGeom>
          <a:solidFill>
            <a:srgbClr val="10233A"/>
          </a:solidFill>
          <a:ln/>
        </p:spPr>
      </p:sp>
      <p:sp>
        <p:nvSpPr>
          <p:cNvPr id="45" name="Text 43"/>
          <p:cNvSpPr txBox="1"/>
          <p:nvPr/>
        </p:nvSpPr>
        <p:spPr>
          <a:xfrm>
            <a:off x="411480" y="2414016"/>
            <a:ext cx="130759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+0%</a:t>
            </a:r>
            <a:endParaRPr lang="en-US" sz="850" dirty="0"/>
          </a:p>
        </p:txBody>
      </p:sp>
      <p:sp>
        <p:nvSpPr>
          <p:cNvPr id="46" name="Shape 44"/>
          <p:cNvSpPr/>
          <p:nvPr/>
        </p:nvSpPr>
        <p:spPr>
          <a:xfrm>
            <a:off x="1737360" y="2414016"/>
            <a:ext cx="960120" cy="274320"/>
          </a:xfrm>
          <a:prstGeom prst="rect">
            <a:avLst/>
          </a:prstGeom>
          <a:solidFill>
            <a:srgbClr val="F7E2E2"/>
          </a:solidFill>
          <a:ln w="6350">
            <a:solidFill>
              <a:srgbClr val="D3DCE5"/>
            </a:solidFill>
            <a:prstDash val="solid"/>
          </a:ln>
        </p:spPr>
      </p:sp>
      <p:sp>
        <p:nvSpPr>
          <p:cNvPr id="47" name="Text 45"/>
          <p:cNvSpPr txBox="1"/>
          <p:nvPr/>
        </p:nvSpPr>
        <p:spPr>
          <a:xfrm>
            <a:off x="1737360" y="2414016"/>
            <a:ext cx="960120" cy="274320"/>
          </a:xfrm>
          <a:prstGeom prst="rect">
            <a:avLst/>
          </a:prstGeom>
          <a:noFill/>
          <a:ln/>
        </p:spPr>
        <p:txBody>
          <a:bodyPr wrap="square" lIns="0" tIns="0" rIns="0" bIns="0" rtlCol="0" anchor="ctr"/>
          <a:lstStyle/>
          <a:p>
            <a:pPr algn="ctr" indent="0" marL="0">
              <a:buNone/>
            </a:pPr>
            <a:r>
              <a:rPr lang="en-US" sz="860" dirty="0">
                <a:solidFill>
                  <a:srgbClr val="A3282C"/>
                </a:solidFill>
                <a:latin typeface="Calibri" pitchFamily="34" charset="0"/>
                <a:ea typeface="Calibri" pitchFamily="34" charset="-122"/>
                <a:cs typeface="Calibri" pitchFamily="34" charset="-120"/>
              </a:rPr>
              <a:t>3.65</a:t>
            </a:r>
            <a:endParaRPr lang="en-US" sz="860" dirty="0"/>
          </a:p>
        </p:txBody>
      </p:sp>
      <p:sp>
        <p:nvSpPr>
          <p:cNvPr id="48" name="Shape 46"/>
          <p:cNvSpPr/>
          <p:nvPr/>
        </p:nvSpPr>
        <p:spPr>
          <a:xfrm>
            <a:off x="2697480" y="2414016"/>
            <a:ext cx="960120" cy="274320"/>
          </a:xfrm>
          <a:prstGeom prst="rect">
            <a:avLst/>
          </a:prstGeom>
          <a:solidFill>
            <a:srgbClr val="F7E2E2"/>
          </a:solidFill>
          <a:ln w="6350">
            <a:solidFill>
              <a:srgbClr val="D3DCE5"/>
            </a:solidFill>
            <a:prstDash val="solid"/>
          </a:ln>
        </p:spPr>
      </p:sp>
      <p:sp>
        <p:nvSpPr>
          <p:cNvPr id="49" name="Text 47"/>
          <p:cNvSpPr txBox="1"/>
          <p:nvPr/>
        </p:nvSpPr>
        <p:spPr>
          <a:xfrm>
            <a:off x="2697480" y="2414016"/>
            <a:ext cx="960120" cy="274320"/>
          </a:xfrm>
          <a:prstGeom prst="rect">
            <a:avLst/>
          </a:prstGeom>
          <a:noFill/>
          <a:ln/>
        </p:spPr>
        <p:txBody>
          <a:bodyPr wrap="square" lIns="0" tIns="0" rIns="0" bIns="0" rtlCol="0" anchor="ctr"/>
          <a:lstStyle/>
          <a:p>
            <a:pPr algn="ctr" indent="0" marL="0">
              <a:buNone/>
            </a:pPr>
            <a:r>
              <a:rPr lang="en-US" sz="860" dirty="0">
                <a:solidFill>
                  <a:srgbClr val="A3282C"/>
                </a:solidFill>
                <a:latin typeface="Calibri" pitchFamily="34" charset="0"/>
                <a:ea typeface="Calibri" pitchFamily="34" charset="-122"/>
                <a:cs typeface="Calibri" pitchFamily="34" charset="-120"/>
              </a:rPr>
              <a:t>5.09</a:t>
            </a:r>
            <a:endParaRPr lang="en-US" sz="860" dirty="0"/>
          </a:p>
        </p:txBody>
      </p:sp>
      <p:sp>
        <p:nvSpPr>
          <p:cNvPr id="50" name="Shape 48"/>
          <p:cNvSpPr/>
          <p:nvPr/>
        </p:nvSpPr>
        <p:spPr>
          <a:xfrm>
            <a:off x="3657600" y="2414016"/>
            <a:ext cx="960120" cy="274320"/>
          </a:xfrm>
          <a:prstGeom prst="rect">
            <a:avLst/>
          </a:prstGeom>
          <a:solidFill>
            <a:srgbClr val="D6EBE7"/>
          </a:solidFill>
          <a:ln w="6350">
            <a:solidFill>
              <a:srgbClr val="D3DCE5"/>
            </a:solidFill>
            <a:prstDash val="solid"/>
          </a:ln>
        </p:spPr>
      </p:sp>
      <p:sp>
        <p:nvSpPr>
          <p:cNvPr id="51" name="Text 49"/>
          <p:cNvSpPr txBox="1"/>
          <p:nvPr/>
        </p:nvSpPr>
        <p:spPr>
          <a:xfrm>
            <a:off x="3657600" y="2414016"/>
            <a:ext cx="960120" cy="274320"/>
          </a:xfrm>
          <a:prstGeom prst="rect">
            <a:avLst/>
          </a:prstGeom>
          <a:noFill/>
          <a:ln/>
        </p:spPr>
        <p:txBody>
          <a:bodyPr wrap="square" lIns="0" tIns="0" rIns="0" bIns="0" rtlCol="0" anchor="ctr"/>
          <a:lstStyle/>
          <a:p>
            <a:pPr algn="ctr" indent="0" marL="0">
              <a:buNone/>
            </a:pPr>
            <a:r>
              <a:rPr lang="en-US" sz="860" b="1" dirty="0">
                <a:solidFill>
                  <a:srgbClr val="0E7C6B"/>
                </a:solidFill>
                <a:latin typeface="Calibri" pitchFamily="34" charset="0"/>
                <a:ea typeface="Calibri" pitchFamily="34" charset="-122"/>
                <a:cs typeface="Calibri" pitchFamily="34" charset="-120"/>
              </a:rPr>
              <a:t>6.53</a:t>
            </a:r>
            <a:endParaRPr lang="en-US" sz="860" dirty="0"/>
          </a:p>
        </p:txBody>
      </p:sp>
      <p:sp>
        <p:nvSpPr>
          <p:cNvPr id="52" name="Shape 50"/>
          <p:cNvSpPr/>
          <p:nvPr/>
        </p:nvSpPr>
        <p:spPr>
          <a:xfrm>
            <a:off x="4617720" y="2414016"/>
            <a:ext cx="960120" cy="274320"/>
          </a:xfrm>
          <a:prstGeom prst="rect">
            <a:avLst/>
          </a:prstGeom>
          <a:solidFill>
            <a:srgbClr val="F7F9FB"/>
          </a:solidFill>
          <a:ln w="6350">
            <a:solidFill>
              <a:srgbClr val="D3DCE5"/>
            </a:solidFill>
            <a:prstDash val="solid"/>
          </a:ln>
        </p:spPr>
      </p:sp>
      <p:sp>
        <p:nvSpPr>
          <p:cNvPr id="53" name="Text 51"/>
          <p:cNvSpPr txBox="1"/>
          <p:nvPr/>
        </p:nvSpPr>
        <p:spPr>
          <a:xfrm>
            <a:off x="4617720" y="241401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7.97</a:t>
            </a:r>
            <a:endParaRPr lang="en-US" sz="860" dirty="0"/>
          </a:p>
        </p:txBody>
      </p:sp>
      <p:sp>
        <p:nvSpPr>
          <p:cNvPr id="54" name="Shape 52"/>
          <p:cNvSpPr/>
          <p:nvPr/>
        </p:nvSpPr>
        <p:spPr>
          <a:xfrm>
            <a:off x="5577840" y="2414016"/>
            <a:ext cx="960120" cy="274320"/>
          </a:xfrm>
          <a:prstGeom prst="rect">
            <a:avLst/>
          </a:prstGeom>
          <a:solidFill>
            <a:srgbClr val="F7F9FB"/>
          </a:solidFill>
          <a:ln w="6350">
            <a:solidFill>
              <a:srgbClr val="D3DCE5"/>
            </a:solidFill>
            <a:prstDash val="solid"/>
          </a:ln>
        </p:spPr>
      </p:sp>
      <p:sp>
        <p:nvSpPr>
          <p:cNvPr id="55" name="Text 53"/>
          <p:cNvSpPr txBox="1"/>
          <p:nvPr/>
        </p:nvSpPr>
        <p:spPr>
          <a:xfrm>
            <a:off x="5577840" y="241401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9.40</a:t>
            </a:r>
            <a:endParaRPr lang="en-US" sz="860" dirty="0"/>
          </a:p>
        </p:txBody>
      </p:sp>
      <p:sp>
        <p:nvSpPr>
          <p:cNvPr id="56" name="Shape 54"/>
          <p:cNvSpPr/>
          <p:nvPr/>
        </p:nvSpPr>
        <p:spPr>
          <a:xfrm>
            <a:off x="411480" y="2688336"/>
            <a:ext cx="1307592" cy="274320"/>
          </a:xfrm>
          <a:prstGeom prst="rect">
            <a:avLst/>
          </a:prstGeom>
          <a:solidFill>
            <a:srgbClr val="10233A"/>
          </a:solidFill>
          <a:ln/>
        </p:spPr>
      </p:sp>
      <p:sp>
        <p:nvSpPr>
          <p:cNvPr id="57" name="Text 55"/>
          <p:cNvSpPr txBox="1"/>
          <p:nvPr/>
        </p:nvSpPr>
        <p:spPr>
          <a:xfrm>
            <a:off x="411480" y="2688336"/>
            <a:ext cx="130759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a:t>
            </a:r>
            <a:endParaRPr lang="en-US" sz="850" dirty="0"/>
          </a:p>
        </p:txBody>
      </p:sp>
      <p:sp>
        <p:nvSpPr>
          <p:cNvPr id="58" name="Shape 56"/>
          <p:cNvSpPr/>
          <p:nvPr/>
        </p:nvSpPr>
        <p:spPr>
          <a:xfrm>
            <a:off x="1737360" y="2688336"/>
            <a:ext cx="960120" cy="274320"/>
          </a:xfrm>
          <a:prstGeom prst="rect">
            <a:avLst/>
          </a:prstGeom>
          <a:solidFill>
            <a:srgbClr val="F7E2E2"/>
          </a:solidFill>
          <a:ln w="6350">
            <a:solidFill>
              <a:srgbClr val="D3DCE5"/>
            </a:solidFill>
            <a:prstDash val="solid"/>
          </a:ln>
        </p:spPr>
      </p:sp>
      <p:sp>
        <p:nvSpPr>
          <p:cNvPr id="59" name="Text 57"/>
          <p:cNvSpPr txBox="1"/>
          <p:nvPr/>
        </p:nvSpPr>
        <p:spPr>
          <a:xfrm>
            <a:off x="1737360" y="2688336"/>
            <a:ext cx="960120" cy="274320"/>
          </a:xfrm>
          <a:prstGeom prst="rect">
            <a:avLst/>
          </a:prstGeom>
          <a:noFill/>
          <a:ln/>
        </p:spPr>
        <p:txBody>
          <a:bodyPr wrap="square" lIns="0" tIns="0" rIns="0" bIns="0" rtlCol="0" anchor="ctr"/>
          <a:lstStyle/>
          <a:p>
            <a:pPr algn="ctr" indent="0" marL="0">
              <a:buNone/>
            </a:pPr>
            <a:r>
              <a:rPr lang="en-US" sz="860" dirty="0">
                <a:solidFill>
                  <a:srgbClr val="A3282C"/>
                </a:solidFill>
                <a:latin typeface="Calibri" pitchFamily="34" charset="0"/>
                <a:ea typeface="Calibri" pitchFamily="34" charset="-122"/>
                <a:cs typeface="Calibri" pitchFamily="34" charset="-120"/>
              </a:rPr>
              <a:t>3.47</a:t>
            </a:r>
            <a:endParaRPr lang="en-US" sz="860" dirty="0"/>
          </a:p>
        </p:txBody>
      </p:sp>
      <p:sp>
        <p:nvSpPr>
          <p:cNvPr id="60" name="Shape 58"/>
          <p:cNvSpPr/>
          <p:nvPr/>
        </p:nvSpPr>
        <p:spPr>
          <a:xfrm>
            <a:off x="2697480" y="2688336"/>
            <a:ext cx="960120" cy="274320"/>
          </a:xfrm>
          <a:prstGeom prst="rect">
            <a:avLst/>
          </a:prstGeom>
          <a:solidFill>
            <a:srgbClr val="F7E2E2"/>
          </a:solidFill>
          <a:ln w="6350">
            <a:solidFill>
              <a:srgbClr val="D3DCE5"/>
            </a:solidFill>
            <a:prstDash val="solid"/>
          </a:ln>
        </p:spPr>
      </p:sp>
      <p:sp>
        <p:nvSpPr>
          <p:cNvPr id="61" name="Text 59"/>
          <p:cNvSpPr txBox="1"/>
          <p:nvPr/>
        </p:nvSpPr>
        <p:spPr>
          <a:xfrm>
            <a:off x="2697480" y="2688336"/>
            <a:ext cx="960120" cy="274320"/>
          </a:xfrm>
          <a:prstGeom prst="rect">
            <a:avLst/>
          </a:prstGeom>
          <a:noFill/>
          <a:ln/>
        </p:spPr>
        <p:txBody>
          <a:bodyPr wrap="square" lIns="0" tIns="0" rIns="0" bIns="0" rtlCol="0" anchor="ctr"/>
          <a:lstStyle/>
          <a:p>
            <a:pPr algn="ctr" indent="0" marL="0">
              <a:buNone/>
            </a:pPr>
            <a:r>
              <a:rPr lang="en-US" sz="860" dirty="0">
                <a:solidFill>
                  <a:srgbClr val="A3282C"/>
                </a:solidFill>
                <a:latin typeface="Calibri" pitchFamily="34" charset="0"/>
                <a:ea typeface="Calibri" pitchFamily="34" charset="-122"/>
                <a:cs typeface="Calibri" pitchFamily="34" charset="-120"/>
              </a:rPr>
              <a:t>4.91</a:t>
            </a:r>
            <a:endParaRPr lang="en-US" sz="860" dirty="0"/>
          </a:p>
        </p:txBody>
      </p:sp>
      <p:sp>
        <p:nvSpPr>
          <p:cNvPr id="62" name="Shape 60"/>
          <p:cNvSpPr/>
          <p:nvPr/>
        </p:nvSpPr>
        <p:spPr>
          <a:xfrm>
            <a:off x="3657600" y="2688336"/>
            <a:ext cx="960120" cy="274320"/>
          </a:xfrm>
          <a:prstGeom prst="rect">
            <a:avLst/>
          </a:prstGeom>
          <a:solidFill>
            <a:srgbClr val="F7F9FB"/>
          </a:solidFill>
          <a:ln w="6350">
            <a:solidFill>
              <a:srgbClr val="D3DCE5"/>
            </a:solidFill>
            <a:prstDash val="solid"/>
          </a:ln>
        </p:spPr>
      </p:sp>
      <p:sp>
        <p:nvSpPr>
          <p:cNvPr id="63" name="Text 61"/>
          <p:cNvSpPr txBox="1"/>
          <p:nvPr/>
        </p:nvSpPr>
        <p:spPr>
          <a:xfrm>
            <a:off x="3657600" y="268833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6.35</a:t>
            </a:r>
            <a:endParaRPr lang="en-US" sz="860" dirty="0"/>
          </a:p>
        </p:txBody>
      </p:sp>
      <p:sp>
        <p:nvSpPr>
          <p:cNvPr id="64" name="Shape 62"/>
          <p:cNvSpPr/>
          <p:nvPr/>
        </p:nvSpPr>
        <p:spPr>
          <a:xfrm>
            <a:off x="4617720" y="2688336"/>
            <a:ext cx="960120" cy="274320"/>
          </a:xfrm>
          <a:prstGeom prst="rect">
            <a:avLst/>
          </a:prstGeom>
          <a:solidFill>
            <a:srgbClr val="F7F9FB"/>
          </a:solidFill>
          <a:ln w="6350">
            <a:solidFill>
              <a:srgbClr val="D3DCE5"/>
            </a:solidFill>
            <a:prstDash val="solid"/>
          </a:ln>
        </p:spPr>
      </p:sp>
      <p:sp>
        <p:nvSpPr>
          <p:cNvPr id="65" name="Text 63"/>
          <p:cNvSpPr txBox="1"/>
          <p:nvPr/>
        </p:nvSpPr>
        <p:spPr>
          <a:xfrm>
            <a:off x="4617720" y="268833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7.78</a:t>
            </a:r>
            <a:endParaRPr lang="en-US" sz="860" dirty="0"/>
          </a:p>
        </p:txBody>
      </p:sp>
      <p:sp>
        <p:nvSpPr>
          <p:cNvPr id="66" name="Shape 64"/>
          <p:cNvSpPr/>
          <p:nvPr/>
        </p:nvSpPr>
        <p:spPr>
          <a:xfrm>
            <a:off x="5577840" y="2688336"/>
            <a:ext cx="960120" cy="274320"/>
          </a:xfrm>
          <a:prstGeom prst="rect">
            <a:avLst/>
          </a:prstGeom>
          <a:solidFill>
            <a:srgbClr val="F7F9FB"/>
          </a:solidFill>
          <a:ln w="6350">
            <a:solidFill>
              <a:srgbClr val="D3DCE5"/>
            </a:solidFill>
            <a:prstDash val="solid"/>
          </a:ln>
        </p:spPr>
      </p:sp>
      <p:sp>
        <p:nvSpPr>
          <p:cNvPr id="67" name="Text 65"/>
          <p:cNvSpPr txBox="1"/>
          <p:nvPr/>
        </p:nvSpPr>
        <p:spPr>
          <a:xfrm>
            <a:off x="5577840" y="268833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9.22</a:t>
            </a:r>
            <a:endParaRPr lang="en-US" sz="860" dirty="0"/>
          </a:p>
        </p:txBody>
      </p:sp>
      <p:sp>
        <p:nvSpPr>
          <p:cNvPr id="68" name="Shape 66"/>
          <p:cNvSpPr/>
          <p:nvPr/>
        </p:nvSpPr>
        <p:spPr>
          <a:xfrm>
            <a:off x="411480" y="2962656"/>
            <a:ext cx="1307592" cy="274320"/>
          </a:xfrm>
          <a:prstGeom prst="rect">
            <a:avLst/>
          </a:prstGeom>
          <a:solidFill>
            <a:srgbClr val="10233A"/>
          </a:solidFill>
          <a:ln/>
        </p:spPr>
      </p:sp>
      <p:sp>
        <p:nvSpPr>
          <p:cNvPr id="69" name="Text 67"/>
          <p:cNvSpPr txBox="1"/>
          <p:nvPr/>
        </p:nvSpPr>
        <p:spPr>
          <a:xfrm>
            <a:off x="411480" y="2962656"/>
            <a:ext cx="1307592"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+10%</a:t>
            </a:r>
            <a:endParaRPr lang="en-US" sz="850" dirty="0"/>
          </a:p>
        </p:txBody>
      </p:sp>
      <p:sp>
        <p:nvSpPr>
          <p:cNvPr id="70" name="Shape 68"/>
          <p:cNvSpPr/>
          <p:nvPr/>
        </p:nvSpPr>
        <p:spPr>
          <a:xfrm>
            <a:off x="1737360" y="2962656"/>
            <a:ext cx="960120" cy="274320"/>
          </a:xfrm>
          <a:prstGeom prst="rect">
            <a:avLst/>
          </a:prstGeom>
          <a:solidFill>
            <a:srgbClr val="F7E2E2"/>
          </a:solidFill>
          <a:ln w="6350">
            <a:solidFill>
              <a:srgbClr val="D3DCE5"/>
            </a:solidFill>
            <a:prstDash val="solid"/>
          </a:ln>
        </p:spPr>
      </p:sp>
      <p:sp>
        <p:nvSpPr>
          <p:cNvPr id="71" name="Text 69"/>
          <p:cNvSpPr txBox="1"/>
          <p:nvPr/>
        </p:nvSpPr>
        <p:spPr>
          <a:xfrm>
            <a:off x="1737360" y="2962656"/>
            <a:ext cx="960120" cy="274320"/>
          </a:xfrm>
          <a:prstGeom prst="rect">
            <a:avLst/>
          </a:prstGeom>
          <a:noFill/>
          <a:ln/>
        </p:spPr>
        <p:txBody>
          <a:bodyPr wrap="square" lIns="0" tIns="0" rIns="0" bIns="0" rtlCol="0" anchor="ctr"/>
          <a:lstStyle/>
          <a:p>
            <a:pPr algn="ctr" indent="0" marL="0">
              <a:buNone/>
            </a:pPr>
            <a:r>
              <a:rPr lang="en-US" sz="860" dirty="0">
                <a:solidFill>
                  <a:srgbClr val="A3282C"/>
                </a:solidFill>
                <a:latin typeface="Calibri" pitchFamily="34" charset="0"/>
                <a:ea typeface="Calibri" pitchFamily="34" charset="-122"/>
                <a:cs typeface="Calibri" pitchFamily="34" charset="-120"/>
              </a:rPr>
              <a:t>3.29</a:t>
            </a:r>
            <a:endParaRPr lang="en-US" sz="860" dirty="0"/>
          </a:p>
        </p:txBody>
      </p:sp>
      <p:sp>
        <p:nvSpPr>
          <p:cNvPr id="72" name="Shape 70"/>
          <p:cNvSpPr/>
          <p:nvPr/>
        </p:nvSpPr>
        <p:spPr>
          <a:xfrm>
            <a:off x="2697480" y="2962656"/>
            <a:ext cx="960120" cy="274320"/>
          </a:xfrm>
          <a:prstGeom prst="rect">
            <a:avLst/>
          </a:prstGeom>
          <a:solidFill>
            <a:srgbClr val="F7E2E2"/>
          </a:solidFill>
          <a:ln w="6350">
            <a:solidFill>
              <a:srgbClr val="D3DCE5"/>
            </a:solidFill>
            <a:prstDash val="solid"/>
          </a:ln>
        </p:spPr>
      </p:sp>
      <p:sp>
        <p:nvSpPr>
          <p:cNvPr id="73" name="Text 71"/>
          <p:cNvSpPr txBox="1"/>
          <p:nvPr/>
        </p:nvSpPr>
        <p:spPr>
          <a:xfrm>
            <a:off x="2697480" y="2962656"/>
            <a:ext cx="960120" cy="274320"/>
          </a:xfrm>
          <a:prstGeom prst="rect">
            <a:avLst/>
          </a:prstGeom>
          <a:noFill/>
          <a:ln/>
        </p:spPr>
        <p:txBody>
          <a:bodyPr wrap="square" lIns="0" tIns="0" rIns="0" bIns="0" rtlCol="0" anchor="ctr"/>
          <a:lstStyle/>
          <a:p>
            <a:pPr algn="ctr" indent="0" marL="0">
              <a:buNone/>
            </a:pPr>
            <a:r>
              <a:rPr lang="en-US" sz="860" dirty="0">
                <a:solidFill>
                  <a:srgbClr val="A3282C"/>
                </a:solidFill>
                <a:latin typeface="Calibri" pitchFamily="34" charset="0"/>
                <a:ea typeface="Calibri" pitchFamily="34" charset="-122"/>
                <a:cs typeface="Calibri" pitchFamily="34" charset="-120"/>
              </a:rPr>
              <a:t>4.73</a:t>
            </a:r>
            <a:endParaRPr lang="en-US" sz="860" dirty="0"/>
          </a:p>
        </p:txBody>
      </p:sp>
      <p:sp>
        <p:nvSpPr>
          <p:cNvPr id="74" name="Shape 72"/>
          <p:cNvSpPr/>
          <p:nvPr/>
        </p:nvSpPr>
        <p:spPr>
          <a:xfrm>
            <a:off x="3657600" y="2962656"/>
            <a:ext cx="960120" cy="274320"/>
          </a:xfrm>
          <a:prstGeom prst="rect">
            <a:avLst/>
          </a:prstGeom>
          <a:solidFill>
            <a:srgbClr val="F7F9FB"/>
          </a:solidFill>
          <a:ln w="6350">
            <a:solidFill>
              <a:srgbClr val="D3DCE5"/>
            </a:solidFill>
            <a:prstDash val="solid"/>
          </a:ln>
        </p:spPr>
      </p:sp>
      <p:sp>
        <p:nvSpPr>
          <p:cNvPr id="75" name="Text 73"/>
          <p:cNvSpPr txBox="1"/>
          <p:nvPr/>
        </p:nvSpPr>
        <p:spPr>
          <a:xfrm>
            <a:off x="3657600" y="296265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6.17</a:t>
            </a:r>
            <a:endParaRPr lang="en-US" sz="860" dirty="0"/>
          </a:p>
        </p:txBody>
      </p:sp>
      <p:sp>
        <p:nvSpPr>
          <p:cNvPr id="76" name="Shape 74"/>
          <p:cNvSpPr/>
          <p:nvPr/>
        </p:nvSpPr>
        <p:spPr>
          <a:xfrm>
            <a:off x="4617720" y="2962656"/>
            <a:ext cx="960120" cy="274320"/>
          </a:xfrm>
          <a:prstGeom prst="rect">
            <a:avLst/>
          </a:prstGeom>
          <a:solidFill>
            <a:srgbClr val="F7F9FB"/>
          </a:solidFill>
          <a:ln w="6350">
            <a:solidFill>
              <a:srgbClr val="D3DCE5"/>
            </a:solidFill>
            <a:prstDash val="solid"/>
          </a:ln>
        </p:spPr>
      </p:sp>
      <p:sp>
        <p:nvSpPr>
          <p:cNvPr id="77" name="Text 75"/>
          <p:cNvSpPr txBox="1"/>
          <p:nvPr/>
        </p:nvSpPr>
        <p:spPr>
          <a:xfrm>
            <a:off x="4617720" y="296265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7.60</a:t>
            </a:r>
            <a:endParaRPr lang="en-US" sz="860" dirty="0"/>
          </a:p>
        </p:txBody>
      </p:sp>
      <p:sp>
        <p:nvSpPr>
          <p:cNvPr id="78" name="Shape 76"/>
          <p:cNvSpPr/>
          <p:nvPr/>
        </p:nvSpPr>
        <p:spPr>
          <a:xfrm>
            <a:off x="5577840" y="2962656"/>
            <a:ext cx="960120" cy="274320"/>
          </a:xfrm>
          <a:prstGeom prst="rect">
            <a:avLst/>
          </a:prstGeom>
          <a:solidFill>
            <a:srgbClr val="F7F9FB"/>
          </a:solidFill>
          <a:ln w="6350">
            <a:solidFill>
              <a:srgbClr val="D3DCE5"/>
            </a:solidFill>
            <a:prstDash val="solid"/>
          </a:ln>
        </p:spPr>
      </p:sp>
      <p:sp>
        <p:nvSpPr>
          <p:cNvPr id="79" name="Text 77"/>
          <p:cNvSpPr txBox="1"/>
          <p:nvPr/>
        </p:nvSpPr>
        <p:spPr>
          <a:xfrm>
            <a:off x="5577840" y="2962656"/>
            <a:ext cx="96012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9.04</a:t>
            </a:r>
            <a:endParaRPr lang="en-US" sz="860" dirty="0"/>
          </a:p>
        </p:txBody>
      </p:sp>
      <p:sp>
        <p:nvSpPr>
          <p:cNvPr id="80" name="Shape 78"/>
          <p:cNvSpPr/>
          <p:nvPr/>
        </p:nvSpPr>
        <p:spPr>
          <a:xfrm>
            <a:off x="6903720" y="1298448"/>
            <a:ext cx="4882896" cy="1938528"/>
          </a:xfrm>
          <a:prstGeom prst="rect">
            <a:avLst/>
          </a:prstGeom>
          <a:solidFill>
            <a:srgbClr val="D6EBE7"/>
          </a:solidFill>
          <a:ln w="9525">
            <a:solidFill>
              <a:srgbClr val="AFD3CC"/>
            </a:solidFill>
            <a:prstDash val="solid"/>
          </a:ln>
        </p:spPr>
      </p:sp>
      <p:sp>
        <p:nvSpPr>
          <p:cNvPr id="81" name="Text 79"/>
          <p:cNvSpPr txBox="1"/>
          <p:nvPr/>
        </p:nvSpPr>
        <p:spPr>
          <a:xfrm>
            <a:off x="7068312" y="1426464"/>
            <a:ext cx="4572000" cy="36576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What the coefficients mean</a:t>
            </a:r>
            <a:endParaRPr lang="en-US" sz="1150" dirty="0"/>
          </a:p>
        </p:txBody>
      </p:sp>
      <p:sp>
        <p:nvSpPr>
          <p:cNvPr id="82" name="Text 80"/>
          <p:cNvSpPr txBox="1"/>
          <p:nvPr/>
        </p:nvSpPr>
        <p:spPr>
          <a:xfrm>
            <a:off x="7086600" y="1865376"/>
            <a:ext cx="4517136" cy="1261872"/>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870" dirty="0">
                <a:solidFill>
                  <a:srgbClr val="1B2733"/>
                </a:solidFill>
                <a:latin typeface="Calibri" pitchFamily="34" charset="0"/>
                <a:ea typeface="Calibri" pitchFamily="34" charset="-122"/>
                <a:cs typeface="Calibri" pitchFamily="34" charset="-120"/>
              </a:rPr>
              <a:t>A 1% change in realised price across every forecast year moves equity value by about A$463m, or A$0.14 per share.</a:t>
            </a:r>
            <a:endParaRPr lang="en-US" sz="870" dirty="0"/>
          </a:p>
          <a:p>
            <a:pPr marL="342900" indent="-342900">
              <a:lnSpc>
                <a:spcPct val="100000"/>
              </a:lnSpc>
              <a:spcAft>
                <a:spcPts val="500"/>
              </a:spcAft>
              <a:buSzPct val="100000"/>
              <a:buChar char="▪"/>
            </a:pPr>
            <a:r>
              <a:rPr lang="en-US" sz="870" dirty="0">
                <a:solidFill>
                  <a:srgbClr val="1B2733"/>
                </a:solidFill>
                <a:latin typeface="Calibri" pitchFamily="34" charset="0"/>
                <a:ea typeface="Calibri" pitchFamily="34" charset="-122"/>
                <a:cs typeface="Calibri" pitchFamily="34" charset="-120"/>
              </a:rPr>
              <a:t>A 1% change in unit cost moves it by about A$116m, or A$0.04 per share.</a:t>
            </a:r>
            <a:endParaRPr lang="en-US" sz="870" dirty="0"/>
          </a:p>
          <a:p>
            <a:pPr marL="342900" indent="-342900">
              <a:lnSpc>
                <a:spcPct val="100000"/>
              </a:lnSpc>
              <a:spcAft>
                <a:spcPts val="500"/>
              </a:spcAft>
              <a:buSzPct val="100000"/>
              <a:buChar char="▪"/>
            </a:pPr>
            <a:r>
              <a:rPr lang="en-US" sz="870" dirty="0">
                <a:solidFill>
                  <a:srgbClr val="1B2733"/>
                </a:solidFill>
                <a:latin typeface="Calibri" pitchFamily="34" charset="0"/>
                <a:ea typeface="Calibri" pitchFamily="34" charset="-122"/>
                <a:cs typeface="Calibri" pitchFamily="34" charset="-120"/>
              </a:rPr>
              <a:t>So price is roughly four times as powerful as cost. Operational excellence cannot rescue this position from a sustained price relapse - which is why the risk register leads with price.</a:t>
            </a:r>
            <a:endParaRPr lang="en-US" sz="870" dirty="0"/>
          </a:p>
          <a:p>
            <a:pPr marL="342900" indent="-342900">
              <a:lnSpc>
                <a:spcPct val="100000"/>
              </a:lnSpc>
              <a:spcAft>
                <a:spcPts val="500"/>
              </a:spcAft>
              <a:buSzPct val="100000"/>
              <a:buChar char="▪"/>
            </a:pPr>
            <a:r>
              <a:rPr lang="en-US" sz="870" dirty="0">
                <a:solidFill>
                  <a:srgbClr val="1B2733"/>
                </a:solidFill>
                <a:latin typeface="Calibri" pitchFamily="34" charset="0"/>
                <a:ea typeface="Calibri" pitchFamily="34" charset="-122"/>
                <a:cs typeface="Calibri" pitchFamily="34" charset="-120"/>
              </a:rPr>
              <a:t>Shaded cells sit below the current share price of A$5.48.</a:t>
            </a:r>
            <a:endParaRPr lang="en-US" sz="870" dirty="0"/>
          </a:p>
        </p:txBody>
      </p:sp>
      <p:sp>
        <p:nvSpPr>
          <p:cNvPr id="83" name="Shape 81"/>
          <p:cNvSpPr/>
          <p:nvPr/>
        </p:nvSpPr>
        <p:spPr>
          <a:xfrm>
            <a:off x="411480" y="3456432"/>
            <a:ext cx="11375136" cy="1627632"/>
          </a:xfrm>
          <a:prstGeom prst="rect">
            <a:avLst/>
          </a:prstGeom>
          <a:solidFill>
            <a:srgbClr val="EEF2F6"/>
          </a:solidFill>
          <a:ln w="9525">
            <a:solidFill>
              <a:srgbClr val="D3DCE5"/>
            </a:solidFill>
            <a:prstDash val="solid"/>
          </a:ln>
        </p:spPr>
      </p:sp>
      <p:sp>
        <p:nvSpPr>
          <p:cNvPr id="84" name="Text 82"/>
          <p:cNvSpPr txBox="1"/>
          <p:nvPr/>
        </p:nvSpPr>
        <p:spPr>
          <a:xfrm>
            <a:off x="576072" y="3584448"/>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Where the break-even sits</a:t>
            </a:r>
            <a:endParaRPr lang="en-US" sz="1150" dirty="0"/>
          </a:p>
        </p:txBody>
      </p:sp>
      <p:sp>
        <p:nvSpPr>
          <p:cNvPr id="85" name="Text 83"/>
          <p:cNvSpPr txBox="1"/>
          <p:nvPr/>
        </p:nvSpPr>
        <p:spPr>
          <a:xfrm>
            <a:off x="576072" y="3913632"/>
            <a:ext cx="11045952" cy="1078992"/>
          </a:xfrm>
          <a:prstGeom prst="rect">
            <a:avLst/>
          </a:prstGeom>
          <a:noFill/>
          <a:ln/>
        </p:spPr>
        <p:txBody>
          <a:bodyPr wrap="square" lIns="0" tIns="0" rIns="0" bIns="0" rtlCol="0" anchor="t"/>
          <a:lstStyle/>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PLS needs realised prices no worse than about 8% below our base case to justify today's share price at unchanged costs. Our base case already sits 11% below spot-implied realisation and 19% below the June-2026 quarter exit rate. In other words the pitch does not require the price to rise from here - it requires the price not to fall by roughly a fifth from a level we have already discounted twice.</a:t>
            </a:r>
            <a:endParaRPr lang="en-US" sz="920" dirty="0"/>
          </a:p>
          <a:p>
            <a:pPr indent="0" marL="0">
              <a:lnSpc>
                <a:spcPct val="105000"/>
              </a:lnSpc>
              <a:buNone/>
            </a:pPr>
            <a:endParaRPr lang="en-US" sz="920" dirty="0"/>
          </a:p>
          <a:p>
            <a:pPr indent="0" marL="0">
              <a:lnSpc>
                <a:spcPct val="105000"/>
              </a:lnSpc>
              <a:buNone/>
            </a:pPr>
            <a:r>
              <a:rPr lang="en-US" sz="920" dirty="0">
                <a:solidFill>
                  <a:srgbClr val="1B2733"/>
                </a:solidFill>
                <a:latin typeface="Calibri" pitchFamily="34" charset="0"/>
                <a:ea typeface="Calibri" pitchFamily="34" charset="-122"/>
                <a:cs typeface="Calibri" pitchFamily="34" charset="-120"/>
              </a:rPr>
              <a:t>The workbook also carries a WACC against mine-life grid, which we have not reproduced here because it moves the answer far less: the annuity structure makes the model relatively insensitive to the terminal assumption.</a:t>
            </a:r>
            <a:endParaRPr lang="en-US" sz="920" dirty="0"/>
          </a:p>
        </p:txBody>
      </p:sp>
      <p:sp>
        <p:nvSpPr>
          <p:cNvPr id="86" name="Text 84"/>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Sensitivity sheet. Coefficients are computed in the workbook from the base-case volume profile, after the realisation adjustment, royalties, tax and discounting, and include the effect on terminal value.</a:t>
            </a:r>
            <a:endParaRPr lang="en-US" sz="720" dirty="0"/>
          </a:p>
        </p:txBody>
      </p:sp>
      <p:sp>
        <p:nvSpPr>
          <p:cNvPr id="87" name="Text 85"/>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E11</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8.0x to 11.0x FY27 estimated EBITDA against a diversified peer median near 7.8x. A premium for growth, capped for single-commodity risk.</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E12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148840" cy="292608"/>
          </a:xfrm>
          <a:prstGeom prst="rect">
            <a:avLst/>
          </a:prstGeom>
          <a:solidFill>
            <a:srgbClr val="10233A"/>
          </a:solidFill>
          <a:ln/>
        </p:spPr>
      </p:sp>
      <p:sp>
        <p:nvSpPr>
          <p:cNvPr id="8" name="Text 6"/>
          <p:cNvSpPr txBox="1"/>
          <p:nvPr/>
        </p:nvSpPr>
        <p:spPr>
          <a:xfrm>
            <a:off x="475488" y="1298448"/>
            <a:ext cx="20208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Company</a:t>
            </a:r>
            <a:endParaRPr lang="en-US" sz="900" dirty="0"/>
          </a:p>
        </p:txBody>
      </p:sp>
      <p:sp>
        <p:nvSpPr>
          <p:cNvPr id="9" name="Shape 7"/>
          <p:cNvSpPr/>
          <p:nvPr/>
        </p:nvSpPr>
        <p:spPr>
          <a:xfrm>
            <a:off x="2560320" y="1298448"/>
            <a:ext cx="1691640" cy="292608"/>
          </a:xfrm>
          <a:prstGeom prst="rect">
            <a:avLst/>
          </a:prstGeom>
          <a:solidFill>
            <a:srgbClr val="10233A"/>
          </a:solidFill>
          <a:ln/>
        </p:spPr>
      </p:sp>
      <p:sp>
        <p:nvSpPr>
          <p:cNvPr id="10" name="Text 8"/>
          <p:cNvSpPr txBox="1"/>
          <p:nvPr/>
        </p:nvSpPr>
        <p:spPr>
          <a:xfrm>
            <a:off x="2624328" y="1298448"/>
            <a:ext cx="156362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Market cap A$m</a:t>
            </a:r>
            <a:endParaRPr lang="en-US" sz="900" dirty="0"/>
          </a:p>
        </p:txBody>
      </p:sp>
      <p:sp>
        <p:nvSpPr>
          <p:cNvPr id="11" name="Shape 9"/>
          <p:cNvSpPr/>
          <p:nvPr/>
        </p:nvSpPr>
        <p:spPr>
          <a:xfrm>
            <a:off x="4251960" y="1298448"/>
            <a:ext cx="1600200" cy="292608"/>
          </a:xfrm>
          <a:prstGeom prst="rect">
            <a:avLst/>
          </a:prstGeom>
          <a:solidFill>
            <a:srgbClr val="10233A"/>
          </a:solidFill>
          <a:ln/>
        </p:spPr>
      </p:sp>
      <p:sp>
        <p:nvSpPr>
          <p:cNvPr id="12" name="Text 10"/>
          <p:cNvSpPr txBox="1"/>
          <p:nvPr/>
        </p:nvSpPr>
        <p:spPr>
          <a:xfrm>
            <a:off x="4315968" y="1298448"/>
            <a:ext cx="147218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EV A$m</a:t>
            </a:r>
            <a:endParaRPr lang="en-US" sz="900" dirty="0"/>
          </a:p>
        </p:txBody>
      </p:sp>
      <p:sp>
        <p:nvSpPr>
          <p:cNvPr id="13" name="Shape 11"/>
          <p:cNvSpPr/>
          <p:nvPr/>
        </p:nvSpPr>
        <p:spPr>
          <a:xfrm>
            <a:off x="5852160" y="1298448"/>
            <a:ext cx="1783080" cy="292608"/>
          </a:xfrm>
          <a:prstGeom prst="rect">
            <a:avLst/>
          </a:prstGeom>
          <a:solidFill>
            <a:srgbClr val="10233A"/>
          </a:solidFill>
          <a:ln/>
        </p:spPr>
      </p:sp>
      <p:sp>
        <p:nvSpPr>
          <p:cNvPr id="14" name="Text 12"/>
          <p:cNvSpPr txBox="1"/>
          <p:nvPr/>
        </p:nvSpPr>
        <p:spPr>
          <a:xfrm>
            <a:off x="5916168" y="1298448"/>
            <a:ext cx="165506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FY26 EBITDA A$m</a:t>
            </a:r>
            <a:endParaRPr lang="en-US" sz="900" dirty="0"/>
          </a:p>
        </p:txBody>
      </p:sp>
      <p:sp>
        <p:nvSpPr>
          <p:cNvPr id="15" name="Shape 13"/>
          <p:cNvSpPr/>
          <p:nvPr/>
        </p:nvSpPr>
        <p:spPr>
          <a:xfrm>
            <a:off x="7635240" y="1298448"/>
            <a:ext cx="1234440" cy="292608"/>
          </a:xfrm>
          <a:prstGeom prst="rect">
            <a:avLst/>
          </a:prstGeom>
          <a:solidFill>
            <a:srgbClr val="10233A"/>
          </a:solidFill>
          <a:ln/>
        </p:spPr>
      </p:sp>
      <p:sp>
        <p:nvSpPr>
          <p:cNvPr id="16" name="Text 14"/>
          <p:cNvSpPr txBox="1"/>
          <p:nvPr/>
        </p:nvSpPr>
        <p:spPr>
          <a:xfrm>
            <a:off x="7699248" y="1298448"/>
            <a:ext cx="110642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EV/EBITDA</a:t>
            </a:r>
            <a:endParaRPr lang="en-US" sz="900" dirty="0"/>
          </a:p>
        </p:txBody>
      </p:sp>
      <p:sp>
        <p:nvSpPr>
          <p:cNvPr id="17" name="Shape 15"/>
          <p:cNvSpPr/>
          <p:nvPr/>
        </p:nvSpPr>
        <p:spPr>
          <a:xfrm>
            <a:off x="8869680" y="1298448"/>
            <a:ext cx="1234440" cy="292608"/>
          </a:xfrm>
          <a:prstGeom prst="rect">
            <a:avLst/>
          </a:prstGeom>
          <a:solidFill>
            <a:srgbClr val="10233A"/>
          </a:solidFill>
          <a:ln/>
        </p:spPr>
      </p:sp>
      <p:sp>
        <p:nvSpPr>
          <p:cNvPr id="18" name="Text 16"/>
          <p:cNvSpPr txBox="1"/>
          <p:nvPr/>
        </p:nvSpPr>
        <p:spPr>
          <a:xfrm>
            <a:off x="8933688" y="1298448"/>
            <a:ext cx="110642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P/E forward</a:t>
            </a:r>
            <a:endParaRPr lang="en-US" sz="900" dirty="0"/>
          </a:p>
        </p:txBody>
      </p:sp>
      <p:sp>
        <p:nvSpPr>
          <p:cNvPr id="19" name="Shape 17"/>
          <p:cNvSpPr/>
          <p:nvPr/>
        </p:nvSpPr>
        <p:spPr>
          <a:xfrm>
            <a:off x="10104120" y="1298448"/>
            <a:ext cx="1682496" cy="292608"/>
          </a:xfrm>
          <a:prstGeom prst="rect">
            <a:avLst/>
          </a:prstGeom>
          <a:solidFill>
            <a:srgbClr val="10233A"/>
          </a:solidFill>
          <a:ln/>
        </p:spPr>
      </p:sp>
      <p:sp>
        <p:nvSpPr>
          <p:cNvPr id="20" name="Text 18"/>
          <p:cNvSpPr txBox="1"/>
          <p:nvPr/>
        </p:nvSpPr>
        <p:spPr>
          <a:xfrm>
            <a:off x="10168128" y="1298448"/>
            <a:ext cx="15544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Consensus</a:t>
            </a:r>
            <a:endParaRPr lang="en-US" sz="900" dirty="0"/>
          </a:p>
        </p:txBody>
      </p:sp>
      <p:sp>
        <p:nvSpPr>
          <p:cNvPr id="21" name="Shape 19"/>
          <p:cNvSpPr/>
          <p:nvPr/>
        </p:nvSpPr>
        <p:spPr>
          <a:xfrm>
            <a:off x="411480" y="1591056"/>
            <a:ext cx="2148840" cy="274320"/>
          </a:xfrm>
          <a:prstGeom prst="rect">
            <a:avLst/>
          </a:prstGeom>
          <a:solidFill>
            <a:srgbClr val="FFFFFF"/>
          </a:solidFill>
          <a:ln w="6350">
            <a:solidFill>
              <a:srgbClr val="D3DCE5"/>
            </a:solidFill>
            <a:prstDash val="solid"/>
          </a:ln>
        </p:spPr>
      </p:sp>
      <p:sp>
        <p:nvSpPr>
          <p:cNvPr id="22" name="Text 20"/>
          <p:cNvSpPr txBox="1"/>
          <p:nvPr/>
        </p:nvSpPr>
        <p:spPr>
          <a:xfrm>
            <a:off x="475488" y="1591056"/>
            <a:ext cx="2020824" cy="27432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BHP Group</a:t>
            </a:r>
            <a:endParaRPr lang="en-US" sz="860" dirty="0"/>
          </a:p>
        </p:txBody>
      </p:sp>
      <p:sp>
        <p:nvSpPr>
          <p:cNvPr id="23" name="Shape 21"/>
          <p:cNvSpPr/>
          <p:nvPr/>
        </p:nvSpPr>
        <p:spPr>
          <a:xfrm>
            <a:off x="2560320" y="1591056"/>
            <a:ext cx="1691640" cy="274320"/>
          </a:xfrm>
          <a:prstGeom prst="rect">
            <a:avLst/>
          </a:prstGeom>
          <a:solidFill>
            <a:srgbClr val="FFFFFF"/>
          </a:solidFill>
          <a:ln w="6350">
            <a:solidFill>
              <a:srgbClr val="D3DCE5"/>
            </a:solidFill>
            <a:prstDash val="solid"/>
          </a:ln>
        </p:spPr>
      </p:sp>
      <p:sp>
        <p:nvSpPr>
          <p:cNvPr id="24" name="Text 22"/>
          <p:cNvSpPr txBox="1"/>
          <p:nvPr/>
        </p:nvSpPr>
        <p:spPr>
          <a:xfrm>
            <a:off x="2624328" y="1591056"/>
            <a:ext cx="156362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312,560</a:t>
            </a:r>
            <a:endParaRPr lang="en-US" sz="860" dirty="0"/>
          </a:p>
        </p:txBody>
      </p:sp>
      <p:sp>
        <p:nvSpPr>
          <p:cNvPr id="25" name="Shape 23"/>
          <p:cNvSpPr/>
          <p:nvPr/>
        </p:nvSpPr>
        <p:spPr>
          <a:xfrm>
            <a:off x="4251960" y="1591056"/>
            <a:ext cx="1600200" cy="274320"/>
          </a:xfrm>
          <a:prstGeom prst="rect">
            <a:avLst/>
          </a:prstGeom>
          <a:solidFill>
            <a:srgbClr val="FFFFFF"/>
          </a:solidFill>
          <a:ln w="6350">
            <a:solidFill>
              <a:srgbClr val="D3DCE5"/>
            </a:solidFill>
            <a:prstDash val="solid"/>
          </a:ln>
        </p:spPr>
      </p:sp>
      <p:sp>
        <p:nvSpPr>
          <p:cNvPr id="26" name="Text 24"/>
          <p:cNvSpPr txBox="1"/>
          <p:nvPr/>
        </p:nvSpPr>
        <p:spPr>
          <a:xfrm>
            <a:off x="4315968" y="1591056"/>
            <a:ext cx="147218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343,660</a:t>
            </a:r>
            <a:endParaRPr lang="en-US" sz="860" dirty="0"/>
          </a:p>
        </p:txBody>
      </p:sp>
      <p:sp>
        <p:nvSpPr>
          <p:cNvPr id="27" name="Shape 25"/>
          <p:cNvSpPr/>
          <p:nvPr/>
        </p:nvSpPr>
        <p:spPr>
          <a:xfrm>
            <a:off x="5852160" y="1591056"/>
            <a:ext cx="1783080" cy="274320"/>
          </a:xfrm>
          <a:prstGeom prst="rect">
            <a:avLst/>
          </a:prstGeom>
          <a:solidFill>
            <a:srgbClr val="FFFFFF"/>
          </a:solidFill>
          <a:ln w="6350">
            <a:solidFill>
              <a:srgbClr val="D3DCE5"/>
            </a:solidFill>
            <a:prstDash val="solid"/>
          </a:ln>
        </p:spPr>
      </p:sp>
      <p:sp>
        <p:nvSpPr>
          <p:cNvPr id="28" name="Text 26"/>
          <p:cNvSpPr txBox="1"/>
          <p:nvPr/>
        </p:nvSpPr>
        <p:spPr>
          <a:xfrm>
            <a:off x="5916168" y="1591056"/>
            <a:ext cx="165506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50,600</a:t>
            </a:r>
            <a:endParaRPr lang="en-US" sz="860" dirty="0"/>
          </a:p>
        </p:txBody>
      </p:sp>
      <p:sp>
        <p:nvSpPr>
          <p:cNvPr id="29" name="Shape 27"/>
          <p:cNvSpPr/>
          <p:nvPr/>
        </p:nvSpPr>
        <p:spPr>
          <a:xfrm>
            <a:off x="7635240" y="1591056"/>
            <a:ext cx="1234440" cy="274320"/>
          </a:xfrm>
          <a:prstGeom prst="rect">
            <a:avLst/>
          </a:prstGeom>
          <a:solidFill>
            <a:srgbClr val="FFFFFF"/>
          </a:solidFill>
          <a:ln w="6350">
            <a:solidFill>
              <a:srgbClr val="D3DCE5"/>
            </a:solidFill>
            <a:prstDash val="solid"/>
          </a:ln>
        </p:spPr>
      </p:sp>
      <p:sp>
        <p:nvSpPr>
          <p:cNvPr id="30" name="Text 28"/>
          <p:cNvSpPr txBox="1"/>
          <p:nvPr/>
        </p:nvSpPr>
        <p:spPr>
          <a:xfrm>
            <a:off x="7699248" y="159105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n/a</a:t>
            </a:r>
            <a:endParaRPr lang="en-US" sz="860" dirty="0"/>
          </a:p>
        </p:txBody>
      </p:sp>
      <p:sp>
        <p:nvSpPr>
          <p:cNvPr id="31" name="Shape 29"/>
          <p:cNvSpPr/>
          <p:nvPr/>
        </p:nvSpPr>
        <p:spPr>
          <a:xfrm>
            <a:off x="8869680" y="1591056"/>
            <a:ext cx="1234440" cy="274320"/>
          </a:xfrm>
          <a:prstGeom prst="rect">
            <a:avLst/>
          </a:prstGeom>
          <a:solidFill>
            <a:srgbClr val="FFFFFF"/>
          </a:solidFill>
          <a:ln w="6350">
            <a:solidFill>
              <a:srgbClr val="D3DCE5"/>
            </a:solidFill>
            <a:prstDash val="solid"/>
          </a:ln>
        </p:spPr>
      </p:sp>
      <p:sp>
        <p:nvSpPr>
          <p:cNvPr id="32" name="Text 30"/>
          <p:cNvSpPr txBox="1"/>
          <p:nvPr/>
        </p:nvSpPr>
        <p:spPr>
          <a:xfrm>
            <a:off x="8933688" y="159105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17.4x</a:t>
            </a:r>
            <a:endParaRPr lang="en-US" sz="860" dirty="0"/>
          </a:p>
        </p:txBody>
      </p:sp>
      <p:sp>
        <p:nvSpPr>
          <p:cNvPr id="33" name="Shape 31"/>
          <p:cNvSpPr/>
          <p:nvPr/>
        </p:nvSpPr>
        <p:spPr>
          <a:xfrm>
            <a:off x="10104120" y="1591056"/>
            <a:ext cx="1682496" cy="274320"/>
          </a:xfrm>
          <a:prstGeom prst="rect">
            <a:avLst/>
          </a:prstGeom>
          <a:solidFill>
            <a:srgbClr val="FFFFFF"/>
          </a:solidFill>
          <a:ln w="6350">
            <a:solidFill>
              <a:srgbClr val="D3DCE5"/>
            </a:solidFill>
            <a:prstDash val="solid"/>
          </a:ln>
        </p:spPr>
      </p:sp>
      <p:sp>
        <p:nvSpPr>
          <p:cNvPr id="34" name="Text 32"/>
          <p:cNvSpPr txBox="1"/>
          <p:nvPr/>
        </p:nvSpPr>
        <p:spPr>
          <a:xfrm>
            <a:off x="10168128" y="1591056"/>
            <a:ext cx="155448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Hold</a:t>
            </a:r>
            <a:endParaRPr lang="en-US" sz="860" dirty="0"/>
          </a:p>
        </p:txBody>
      </p:sp>
      <p:sp>
        <p:nvSpPr>
          <p:cNvPr id="35" name="Shape 33"/>
          <p:cNvSpPr/>
          <p:nvPr/>
        </p:nvSpPr>
        <p:spPr>
          <a:xfrm>
            <a:off x="411480" y="1865376"/>
            <a:ext cx="2148840" cy="274320"/>
          </a:xfrm>
          <a:prstGeom prst="rect">
            <a:avLst/>
          </a:prstGeom>
          <a:solidFill>
            <a:srgbClr val="F7F9FB"/>
          </a:solidFill>
          <a:ln w="6350">
            <a:solidFill>
              <a:srgbClr val="D3DCE5"/>
            </a:solidFill>
            <a:prstDash val="solid"/>
          </a:ln>
        </p:spPr>
      </p:sp>
      <p:sp>
        <p:nvSpPr>
          <p:cNvPr id="36" name="Text 34"/>
          <p:cNvSpPr txBox="1"/>
          <p:nvPr/>
        </p:nvSpPr>
        <p:spPr>
          <a:xfrm>
            <a:off x="475488" y="1865376"/>
            <a:ext cx="2020824" cy="27432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Rio Tinto</a:t>
            </a:r>
            <a:endParaRPr lang="en-US" sz="860" dirty="0"/>
          </a:p>
        </p:txBody>
      </p:sp>
      <p:sp>
        <p:nvSpPr>
          <p:cNvPr id="37" name="Shape 35"/>
          <p:cNvSpPr/>
          <p:nvPr/>
        </p:nvSpPr>
        <p:spPr>
          <a:xfrm>
            <a:off x="2560320" y="1865376"/>
            <a:ext cx="1691640" cy="274320"/>
          </a:xfrm>
          <a:prstGeom prst="rect">
            <a:avLst/>
          </a:prstGeom>
          <a:solidFill>
            <a:srgbClr val="F7F9FB"/>
          </a:solidFill>
          <a:ln w="6350">
            <a:solidFill>
              <a:srgbClr val="D3DCE5"/>
            </a:solidFill>
            <a:prstDash val="solid"/>
          </a:ln>
        </p:spPr>
      </p:sp>
      <p:sp>
        <p:nvSpPr>
          <p:cNvPr id="38" name="Text 36"/>
          <p:cNvSpPr txBox="1"/>
          <p:nvPr/>
        </p:nvSpPr>
        <p:spPr>
          <a:xfrm>
            <a:off x="2624328" y="1865376"/>
            <a:ext cx="156362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220,530</a:t>
            </a:r>
            <a:endParaRPr lang="en-US" sz="860" dirty="0"/>
          </a:p>
        </p:txBody>
      </p:sp>
      <p:sp>
        <p:nvSpPr>
          <p:cNvPr id="39" name="Shape 37"/>
          <p:cNvSpPr/>
          <p:nvPr/>
        </p:nvSpPr>
        <p:spPr>
          <a:xfrm>
            <a:off x="4251960" y="1865376"/>
            <a:ext cx="1600200" cy="274320"/>
          </a:xfrm>
          <a:prstGeom prst="rect">
            <a:avLst/>
          </a:prstGeom>
          <a:solidFill>
            <a:srgbClr val="F7F9FB"/>
          </a:solidFill>
          <a:ln w="6350">
            <a:solidFill>
              <a:srgbClr val="D3DCE5"/>
            </a:solidFill>
            <a:prstDash val="solid"/>
          </a:ln>
        </p:spPr>
      </p:sp>
      <p:sp>
        <p:nvSpPr>
          <p:cNvPr id="40" name="Text 38"/>
          <p:cNvSpPr txBox="1"/>
          <p:nvPr/>
        </p:nvSpPr>
        <p:spPr>
          <a:xfrm>
            <a:off x="4315968" y="1865376"/>
            <a:ext cx="147218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247,680</a:t>
            </a:r>
            <a:endParaRPr lang="en-US" sz="860" dirty="0"/>
          </a:p>
        </p:txBody>
      </p:sp>
      <p:sp>
        <p:nvSpPr>
          <p:cNvPr id="41" name="Shape 39"/>
          <p:cNvSpPr/>
          <p:nvPr/>
        </p:nvSpPr>
        <p:spPr>
          <a:xfrm>
            <a:off x="5852160" y="1865376"/>
            <a:ext cx="1783080" cy="274320"/>
          </a:xfrm>
          <a:prstGeom prst="rect">
            <a:avLst/>
          </a:prstGeom>
          <a:solidFill>
            <a:srgbClr val="F7F9FB"/>
          </a:solidFill>
          <a:ln w="6350">
            <a:solidFill>
              <a:srgbClr val="D3DCE5"/>
            </a:solidFill>
            <a:prstDash val="solid"/>
          </a:ln>
        </p:spPr>
      </p:sp>
      <p:sp>
        <p:nvSpPr>
          <p:cNvPr id="42" name="Text 40"/>
          <p:cNvSpPr txBox="1"/>
          <p:nvPr/>
        </p:nvSpPr>
        <p:spPr>
          <a:xfrm>
            <a:off x="5916168" y="1865376"/>
            <a:ext cx="165506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45,500</a:t>
            </a:r>
            <a:endParaRPr lang="en-US" sz="860" dirty="0"/>
          </a:p>
        </p:txBody>
      </p:sp>
      <p:sp>
        <p:nvSpPr>
          <p:cNvPr id="43" name="Shape 41"/>
          <p:cNvSpPr/>
          <p:nvPr/>
        </p:nvSpPr>
        <p:spPr>
          <a:xfrm>
            <a:off x="7635240" y="1865376"/>
            <a:ext cx="1234440" cy="274320"/>
          </a:xfrm>
          <a:prstGeom prst="rect">
            <a:avLst/>
          </a:prstGeom>
          <a:solidFill>
            <a:srgbClr val="F7F9FB"/>
          </a:solidFill>
          <a:ln w="6350">
            <a:solidFill>
              <a:srgbClr val="D3DCE5"/>
            </a:solidFill>
            <a:prstDash val="solid"/>
          </a:ln>
        </p:spPr>
      </p:sp>
      <p:sp>
        <p:nvSpPr>
          <p:cNvPr id="44" name="Text 42"/>
          <p:cNvSpPr txBox="1"/>
          <p:nvPr/>
        </p:nvSpPr>
        <p:spPr>
          <a:xfrm>
            <a:off x="7699248" y="186537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7.8x</a:t>
            </a:r>
            <a:endParaRPr lang="en-US" sz="860" dirty="0"/>
          </a:p>
        </p:txBody>
      </p:sp>
      <p:sp>
        <p:nvSpPr>
          <p:cNvPr id="45" name="Shape 43"/>
          <p:cNvSpPr/>
          <p:nvPr/>
        </p:nvSpPr>
        <p:spPr>
          <a:xfrm>
            <a:off x="8869680" y="1865376"/>
            <a:ext cx="1234440" cy="274320"/>
          </a:xfrm>
          <a:prstGeom prst="rect">
            <a:avLst/>
          </a:prstGeom>
          <a:solidFill>
            <a:srgbClr val="F7F9FB"/>
          </a:solidFill>
          <a:ln w="6350">
            <a:solidFill>
              <a:srgbClr val="D3DCE5"/>
            </a:solidFill>
            <a:prstDash val="solid"/>
          </a:ln>
        </p:spPr>
      </p:sp>
      <p:sp>
        <p:nvSpPr>
          <p:cNvPr id="46" name="Text 44"/>
          <p:cNvSpPr txBox="1"/>
          <p:nvPr/>
        </p:nvSpPr>
        <p:spPr>
          <a:xfrm>
            <a:off x="8933688" y="186537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11.7x</a:t>
            </a:r>
            <a:endParaRPr lang="en-US" sz="860" dirty="0"/>
          </a:p>
        </p:txBody>
      </p:sp>
      <p:sp>
        <p:nvSpPr>
          <p:cNvPr id="47" name="Shape 45"/>
          <p:cNvSpPr/>
          <p:nvPr/>
        </p:nvSpPr>
        <p:spPr>
          <a:xfrm>
            <a:off x="10104120" y="1865376"/>
            <a:ext cx="1682496" cy="274320"/>
          </a:xfrm>
          <a:prstGeom prst="rect">
            <a:avLst/>
          </a:prstGeom>
          <a:solidFill>
            <a:srgbClr val="F7F9FB"/>
          </a:solidFill>
          <a:ln w="6350">
            <a:solidFill>
              <a:srgbClr val="D3DCE5"/>
            </a:solidFill>
            <a:prstDash val="solid"/>
          </a:ln>
        </p:spPr>
      </p:sp>
      <p:sp>
        <p:nvSpPr>
          <p:cNvPr id="48" name="Text 46"/>
          <p:cNvSpPr txBox="1"/>
          <p:nvPr/>
        </p:nvSpPr>
        <p:spPr>
          <a:xfrm>
            <a:off x="10168128" y="1865376"/>
            <a:ext cx="155448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Hold</a:t>
            </a:r>
            <a:endParaRPr lang="en-US" sz="860" dirty="0"/>
          </a:p>
        </p:txBody>
      </p:sp>
      <p:sp>
        <p:nvSpPr>
          <p:cNvPr id="49" name="Shape 47"/>
          <p:cNvSpPr/>
          <p:nvPr/>
        </p:nvSpPr>
        <p:spPr>
          <a:xfrm>
            <a:off x="411480" y="2139696"/>
            <a:ext cx="2148840" cy="274320"/>
          </a:xfrm>
          <a:prstGeom prst="rect">
            <a:avLst/>
          </a:prstGeom>
          <a:solidFill>
            <a:srgbClr val="FFFFFF"/>
          </a:solidFill>
          <a:ln w="6350">
            <a:solidFill>
              <a:srgbClr val="D3DCE5"/>
            </a:solidFill>
            <a:prstDash val="solid"/>
          </a:ln>
        </p:spPr>
      </p:sp>
      <p:sp>
        <p:nvSpPr>
          <p:cNvPr id="50" name="Text 48"/>
          <p:cNvSpPr txBox="1"/>
          <p:nvPr/>
        </p:nvSpPr>
        <p:spPr>
          <a:xfrm>
            <a:off x="475488" y="2139696"/>
            <a:ext cx="2020824" cy="27432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Fortescue</a:t>
            </a:r>
            <a:endParaRPr lang="en-US" sz="860" dirty="0"/>
          </a:p>
        </p:txBody>
      </p:sp>
      <p:sp>
        <p:nvSpPr>
          <p:cNvPr id="51" name="Shape 49"/>
          <p:cNvSpPr/>
          <p:nvPr/>
        </p:nvSpPr>
        <p:spPr>
          <a:xfrm>
            <a:off x="2560320" y="2139696"/>
            <a:ext cx="1691640" cy="274320"/>
          </a:xfrm>
          <a:prstGeom prst="rect">
            <a:avLst/>
          </a:prstGeom>
          <a:solidFill>
            <a:srgbClr val="FFFFFF"/>
          </a:solidFill>
          <a:ln w="6350">
            <a:solidFill>
              <a:srgbClr val="D3DCE5"/>
            </a:solidFill>
            <a:prstDash val="solid"/>
          </a:ln>
        </p:spPr>
      </p:sp>
      <p:sp>
        <p:nvSpPr>
          <p:cNvPr id="52" name="Text 50"/>
          <p:cNvSpPr txBox="1"/>
          <p:nvPr/>
        </p:nvSpPr>
        <p:spPr>
          <a:xfrm>
            <a:off x="2624328" y="2139696"/>
            <a:ext cx="156362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68,680</a:t>
            </a:r>
            <a:endParaRPr lang="en-US" sz="860" dirty="0"/>
          </a:p>
        </p:txBody>
      </p:sp>
      <p:sp>
        <p:nvSpPr>
          <p:cNvPr id="53" name="Shape 51"/>
          <p:cNvSpPr/>
          <p:nvPr/>
        </p:nvSpPr>
        <p:spPr>
          <a:xfrm>
            <a:off x="4251960" y="2139696"/>
            <a:ext cx="1600200" cy="274320"/>
          </a:xfrm>
          <a:prstGeom prst="rect">
            <a:avLst/>
          </a:prstGeom>
          <a:solidFill>
            <a:srgbClr val="FFFFFF"/>
          </a:solidFill>
          <a:ln w="6350">
            <a:solidFill>
              <a:srgbClr val="D3DCE5"/>
            </a:solidFill>
            <a:prstDash val="solid"/>
          </a:ln>
        </p:spPr>
      </p:sp>
      <p:sp>
        <p:nvSpPr>
          <p:cNvPr id="54" name="Text 52"/>
          <p:cNvSpPr txBox="1"/>
          <p:nvPr/>
        </p:nvSpPr>
        <p:spPr>
          <a:xfrm>
            <a:off x="4315968" y="2139696"/>
            <a:ext cx="147218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70,150</a:t>
            </a:r>
            <a:endParaRPr lang="en-US" sz="860" dirty="0"/>
          </a:p>
        </p:txBody>
      </p:sp>
      <p:sp>
        <p:nvSpPr>
          <p:cNvPr id="55" name="Shape 53"/>
          <p:cNvSpPr/>
          <p:nvPr/>
        </p:nvSpPr>
        <p:spPr>
          <a:xfrm>
            <a:off x="5852160" y="2139696"/>
            <a:ext cx="1783080" cy="274320"/>
          </a:xfrm>
          <a:prstGeom prst="rect">
            <a:avLst/>
          </a:prstGeom>
          <a:solidFill>
            <a:srgbClr val="FFFFFF"/>
          </a:solidFill>
          <a:ln w="6350">
            <a:solidFill>
              <a:srgbClr val="D3DCE5"/>
            </a:solidFill>
            <a:prstDash val="solid"/>
          </a:ln>
        </p:spPr>
      </p:sp>
      <p:sp>
        <p:nvSpPr>
          <p:cNvPr id="56" name="Text 54"/>
          <p:cNvSpPr txBox="1"/>
          <p:nvPr/>
        </p:nvSpPr>
        <p:spPr>
          <a:xfrm>
            <a:off x="5916168" y="2139696"/>
            <a:ext cx="165506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13,230</a:t>
            </a:r>
            <a:endParaRPr lang="en-US" sz="860" dirty="0"/>
          </a:p>
        </p:txBody>
      </p:sp>
      <p:sp>
        <p:nvSpPr>
          <p:cNvPr id="57" name="Shape 55"/>
          <p:cNvSpPr/>
          <p:nvPr/>
        </p:nvSpPr>
        <p:spPr>
          <a:xfrm>
            <a:off x="7635240" y="2139696"/>
            <a:ext cx="1234440" cy="274320"/>
          </a:xfrm>
          <a:prstGeom prst="rect">
            <a:avLst/>
          </a:prstGeom>
          <a:solidFill>
            <a:srgbClr val="FFFFFF"/>
          </a:solidFill>
          <a:ln w="6350">
            <a:solidFill>
              <a:srgbClr val="D3DCE5"/>
            </a:solidFill>
            <a:prstDash val="solid"/>
          </a:ln>
        </p:spPr>
      </p:sp>
      <p:sp>
        <p:nvSpPr>
          <p:cNvPr id="58" name="Text 56"/>
          <p:cNvSpPr txBox="1"/>
          <p:nvPr/>
        </p:nvSpPr>
        <p:spPr>
          <a:xfrm>
            <a:off x="7699248" y="213969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5.6x</a:t>
            </a:r>
            <a:endParaRPr lang="en-US" sz="860" dirty="0"/>
          </a:p>
        </p:txBody>
      </p:sp>
      <p:sp>
        <p:nvSpPr>
          <p:cNvPr id="59" name="Shape 57"/>
          <p:cNvSpPr/>
          <p:nvPr/>
        </p:nvSpPr>
        <p:spPr>
          <a:xfrm>
            <a:off x="8869680" y="2139696"/>
            <a:ext cx="1234440" cy="274320"/>
          </a:xfrm>
          <a:prstGeom prst="rect">
            <a:avLst/>
          </a:prstGeom>
          <a:solidFill>
            <a:srgbClr val="FFFFFF"/>
          </a:solidFill>
          <a:ln w="6350">
            <a:solidFill>
              <a:srgbClr val="D3DCE5"/>
            </a:solidFill>
            <a:prstDash val="solid"/>
          </a:ln>
        </p:spPr>
      </p:sp>
      <p:sp>
        <p:nvSpPr>
          <p:cNvPr id="60" name="Text 58"/>
          <p:cNvSpPr txBox="1"/>
          <p:nvPr/>
        </p:nvSpPr>
        <p:spPr>
          <a:xfrm>
            <a:off x="8933688" y="213969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14.7x</a:t>
            </a:r>
            <a:endParaRPr lang="en-US" sz="860" dirty="0"/>
          </a:p>
        </p:txBody>
      </p:sp>
      <p:sp>
        <p:nvSpPr>
          <p:cNvPr id="61" name="Shape 59"/>
          <p:cNvSpPr/>
          <p:nvPr/>
        </p:nvSpPr>
        <p:spPr>
          <a:xfrm>
            <a:off x="10104120" y="2139696"/>
            <a:ext cx="1682496" cy="274320"/>
          </a:xfrm>
          <a:prstGeom prst="rect">
            <a:avLst/>
          </a:prstGeom>
          <a:solidFill>
            <a:srgbClr val="FFFFFF"/>
          </a:solidFill>
          <a:ln w="6350">
            <a:solidFill>
              <a:srgbClr val="D3DCE5"/>
            </a:solidFill>
            <a:prstDash val="solid"/>
          </a:ln>
        </p:spPr>
      </p:sp>
      <p:sp>
        <p:nvSpPr>
          <p:cNvPr id="62" name="Text 60"/>
          <p:cNvSpPr txBox="1"/>
          <p:nvPr/>
        </p:nvSpPr>
        <p:spPr>
          <a:xfrm>
            <a:off x="10168128" y="2139696"/>
            <a:ext cx="155448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Neutral</a:t>
            </a:r>
            <a:endParaRPr lang="en-US" sz="860" dirty="0"/>
          </a:p>
        </p:txBody>
      </p:sp>
      <p:sp>
        <p:nvSpPr>
          <p:cNvPr id="63" name="Shape 61"/>
          <p:cNvSpPr/>
          <p:nvPr/>
        </p:nvSpPr>
        <p:spPr>
          <a:xfrm>
            <a:off x="411480" y="2414016"/>
            <a:ext cx="2148840" cy="274320"/>
          </a:xfrm>
          <a:prstGeom prst="rect">
            <a:avLst/>
          </a:prstGeom>
          <a:solidFill>
            <a:srgbClr val="F7F9FB"/>
          </a:solidFill>
          <a:ln w="6350">
            <a:solidFill>
              <a:srgbClr val="D3DCE5"/>
            </a:solidFill>
            <a:prstDash val="solid"/>
          </a:ln>
        </p:spPr>
      </p:sp>
      <p:sp>
        <p:nvSpPr>
          <p:cNvPr id="64" name="Text 62"/>
          <p:cNvSpPr txBox="1"/>
          <p:nvPr/>
        </p:nvSpPr>
        <p:spPr>
          <a:xfrm>
            <a:off x="475488" y="2414016"/>
            <a:ext cx="2020824" cy="27432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South32</a:t>
            </a:r>
            <a:endParaRPr lang="en-US" sz="860" dirty="0"/>
          </a:p>
        </p:txBody>
      </p:sp>
      <p:sp>
        <p:nvSpPr>
          <p:cNvPr id="65" name="Shape 63"/>
          <p:cNvSpPr/>
          <p:nvPr/>
        </p:nvSpPr>
        <p:spPr>
          <a:xfrm>
            <a:off x="2560320" y="2414016"/>
            <a:ext cx="1691640" cy="274320"/>
          </a:xfrm>
          <a:prstGeom prst="rect">
            <a:avLst/>
          </a:prstGeom>
          <a:solidFill>
            <a:srgbClr val="F7F9FB"/>
          </a:solidFill>
          <a:ln w="6350">
            <a:solidFill>
              <a:srgbClr val="D3DCE5"/>
            </a:solidFill>
            <a:prstDash val="solid"/>
          </a:ln>
        </p:spPr>
      </p:sp>
      <p:sp>
        <p:nvSpPr>
          <p:cNvPr id="66" name="Text 64"/>
          <p:cNvSpPr txBox="1"/>
          <p:nvPr/>
        </p:nvSpPr>
        <p:spPr>
          <a:xfrm>
            <a:off x="2624328" y="2414016"/>
            <a:ext cx="156362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17,190</a:t>
            </a:r>
            <a:endParaRPr lang="en-US" sz="860" dirty="0"/>
          </a:p>
        </p:txBody>
      </p:sp>
      <p:sp>
        <p:nvSpPr>
          <p:cNvPr id="67" name="Shape 65"/>
          <p:cNvSpPr/>
          <p:nvPr/>
        </p:nvSpPr>
        <p:spPr>
          <a:xfrm>
            <a:off x="4251960" y="2414016"/>
            <a:ext cx="1600200" cy="274320"/>
          </a:xfrm>
          <a:prstGeom prst="rect">
            <a:avLst/>
          </a:prstGeom>
          <a:solidFill>
            <a:srgbClr val="F7F9FB"/>
          </a:solidFill>
          <a:ln w="6350">
            <a:solidFill>
              <a:srgbClr val="D3DCE5"/>
            </a:solidFill>
            <a:prstDash val="solid"/>
          </a:ln>
        </p:spPr>
      </p:sp>
      <p:sp>
        <p:nvSpPr>
          <p:cNvPr id="68" name="Text 66"/>
          <p:cNvSpPr txBox="1"/>
          <p:nvPr/>
        </p:nvSpPr>
        <p:spPr>
          <a:xfrm>
            <a:off x="4315968" y="2414016"/>
            <a:ext cx="147218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17,150</a:t>
            </a:r>
            <a:endParaRPr lang="en-US" sz="860" dirty="0"/>
          </a:p>
        </p:txBody>
      </p:sp>
      <p:sp>
        <p:nvSpPr>
          <p:cNvPr id="69" name="Shape 67"/>
          <p:cNvSpPr/>
          <p:nvPr/>
        </p:nvSpPr>
        <p:spPr>
          <a:xfrm>
            <a:off x="5852160" y="2414016"/>
            <a:ext cx="1783080" cy="274320"/>
          </a:xfrm>
          <a:prstGeom prst="rect">
            <a:avLst/>
          </a:prstGeom>
          <a:solidFill>
            <a:srgbClr val="F7F9FB"/>
          </a:solidFill>
          <a:ln w="6350">
            <a:solidFill>
              <a:srgbClr val="D3DCE5"/>
            </a:solidFill>
            <a:prstDash val="solid"/>
          </a:ln>
        </p:spPr>
      </p:sp>
      <p:sp>
        <p:nvSpPr>
          <p:cNvPr id="70" name="Text 68"/>
          <p:cNvSpPr txBox="1"/>
          <p:nvPr/>
        </p:nvSpPr>
        <p:spPr>
          <a:xfrm>
            <a:off x="5916168" y="2414016"/>
            <a:ext cx="165506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3,790</a:t>
            </a:r>
            <a:endParaRPr lang="en-US" sz="860" dirty="0"/>
          </a:p>
        </p:txBody>
      </p:sp>
      <p:sp>
        <p:nvSpPr>
          <p:cNvPr id="71" name="Shape 69"/>
          <p:cNvSpPr/>
          <p:nvPr/>
        </p:nvSpPr>
        <p:spPr>
          <a:xfrm>
            <a:off x="7635240" y="2414016"/>
            <a:ext cx="1234440" cy="274320"/>
          </a:xfrm>
          <a:prstGeom prst="rect">
            <a:avLst/>
          </a:prstGeom>
          <a:solidFill>
            <a:srgbClr val="F7F9FB"/>
          </a:solidFill>
          <a:ln w="6350">
            <a:solidFill>
              <a:srgbClr val="D3DCE5"/>
            </a:solidFill>
            <a:prstDash val="solid"/>
          </a:ln>
        </p:spPr>
      </p:sp>
      <p:sp>
        <p:nvSpPr>
          <p:cNvPr id="72" name="Text 70"/>
          <p:cNvSpPr txBox="1"/>
          <p:nvPr/>
        </p:nvSpPr>
        <p:spPr>
          <a:xfrm>
            <a:off x="7699248" y="241401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8.5x</a:t>
            </a:r>
            <a:endParaRPr lang="en-US" sz="860" dirty="0"/>
          </a:p>
        </p:txBody>
      </p:sp>
      <p:sp>
        <p:nvSpPr>
          <p:cNvPr id="73" name="Shape 71"/>
          <p:cNvSpPr/>
          <p:nvPr/>
        </p:nvSpPr>
        <p:spPr>
          <a:xfrm>
            <a:off x="8869680" y="2414016"/>
            <a:ext cx="1234440" cy="274320"/>
          </a:xfrm>
          <a:prstGeom prst="rect">
            <a:avLst/>
          </a:prstGeom>
          <a:solidFill>
            <a:srgbClr val="F7F9FB"/>
          </a:solidFill>
          <a:ln w="6350">
            <a:solidFill>
              <a:srgbClr val="D3DCE5"/>
            </a:solidFill>
            <a:prstDash val="solid"/>
          </a:ln>
        </p:spPr>
      </p:sp>
      <p:sp>
        <p:nvSpPr>
          <p:cNvPr id="74" name="Text 72"/>
          <p:cNvSpPr txBox="1"/>
          <p:nvPr/>
        </p:nvSpPr>
        <p:spPr>
          <a:xfrm>
            <a:off x="8933688" y="241401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18.2x</a:t>
            </a:r>
            <a:endParaRPr lang="en-US" sz="860" dirty="0"/>
          </a:p>
        </p:txBody>
      </p:sp>
      <p:sp>
        <p:nvSpPr>
          <p:cNvPr id="75" name="Shape 73"/>
          <p:cNvSpPr/>
          <p:nvPr/>
        </p:nvSpPr>
        <p:spPr>
          <a:xfrm>
            <a:off x="10104120" y="2414016"/>
            <a:ext cx="1682496" cy="274320"/>
          </a:xfrm>
          <a:prstGeom prst="rect">
            <a:avLst/>
          </a:prstGeom>
          <a:solidFill>
            <a:srgbClr val="F7F9FB"/>
          </a:solidFill>
          <a:ln w="6350">
            <a:solidFill>
              <a:srgbClr val="D3DCE5"/>
            </a:solidFill>
            <a:prstDash val="solid"/>
          </a:ln>
        </p:spPr>
      </p:sp>
      <p:sp>
        <p:nvSpPr>
          <p:cNvPr id="76" name="Text 74"/>
          <p:cNvSpPr txBox="1"/>
          <p:nvPr/>
        </p:nvSpPr>
        <p:spPr>
          <a:xfrm>
            <a:off x="10168128" y="2414016"/>
            <a:ext cx="155448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Buy</a:t>
            </a:r>
            <a:endParaRPr lang="en-US" sz="860" dirty="0"/>
          </a:p>
        </p:txBody>
      </p:sp>
      <p:sp>
        <p:nvSpPr>
          <p:cNvPr id="77" name="Shape 75"/>
          <p:cNvSpPr/>
          <p:nvPr/>
        </p:nvSpPr>
        <p:spPr>
          <a:xfrm>
            <a:off x="411480" y="2688336"/>
            <a:ext cx="2148840" cy="274320"/>
          </a:xfrm>
          <a:prstGeom prst="rect">
            <a:avLst/>
          </a:prstGeom>
          <a:solidFill>
            <a:srgbClr val="FFFFFF"/>
          </a:solidFill>
          <a:ln w="6350">
            <a:solidFill>
              <a:srgbClr val="D3DCE5"/>
            </a:solidFill>
            <a:prstDash val="solid"/>
          </a:ln>
        </p:spPr>
      </p:sp>
      <p:sp>
        <p:nvSpPr>
          <p:cNvPr id="78" name="Text 76"/>
          <p:cNvSpPr txBox="1"/>
          <p:nvPr/>
        </p:nvSpPr>
        <p:spPr>
          <a:xfrm>
            <a:off x="475488" y="2688336"/>
            <a:ext cx="2020824" cy="27432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Mineral Resources</a:t>
            </a:r>
            <a:endParaRPr lang="en-US" sz="860" dirty="0"/>
          </a:p>
        </p:txBody>
      </p:sp>
      <p:sp>
        <p:nvSpPr>
          <p:cNvPr id="79" name="Shape 77"/>
          <p:cNvSpPr/>
          <p:nvPr/>
        </p:nvSpPr>
        <p:spPr>
          <a:xfrm>
            <a:off x="2560320" y="2688336"/>
            <a:ext cx="1691640" cy="274320"/>
          </a:xfrm>
          <a:prstGeom prst="rect">
            <a:avLst/>
          </a:prstGeom>
          <a:solidFill>
            <a:srgbClr val="FFFFFF"/>
          </a:solidFill>
          <a:ln w="6350">
            <a:solidFill>
              <a:srgbClr val="D3DCE5"/>
            </a:solidFill>
            <a:prstDash val="solid"/>
          </a:ln>
        </p:spPr>
      </p:sp>
      <p:sp>
        <p:nvSpPr>
          <p:cNvPr id="80" name="Text 78"/>
          <p:cNvSpPr txBox="1"/>
          <p:nvPr/>
        </p:nvSpPr>
        <p:spPr>
          <a:xfrm>
            <a:off x="2624328" y="2688336"/>
            <a:ext cx="156362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10,400</a:t>
            </a:r>
            <a:endParaRPr lang="en-US" sz="860" dirty="0"/>
          </a:p>
        </p:txBody>
      </p:sp>
      <p:sp>
        <p:nvSpPr>
          <p:cNvPr id="81" name="Shape 79"/>
          <p:cNvSpPr/>
          <p:nvPr/>
        </p:nvSpPr>
        <p:spPr>
          <a:xfrm>
            <a:off x="4251960" y="2688336"/>
            <a:ext cx="1600200" cy="274320"/>
          </a:xfrm>
          <a:prstGeom prst="rect">
            <a:avLst/>
          </a:prstGeom>
          <a:solidFill>
            <a:srgbClr val="FFFFFF"/>
          </a:solidFill>
          <a:ln w="6350">
            <a:solidFill>
              <a:srgbClr val="D3DCE5"/>
            </a:solidFill>
            <a:prstDash val="solid"/>
          </a:ln>
        </p:spPr>
      </p:sp>
      <p:sp>
        <p:nvSpPr>
          <p:cNvPr id="82" name="Text 80"/>
          <p:cNvSpPr txBox="1"/>
          <p:nvPr/>
        </p:nvSpPr>
        <p:spPr>
          <a:xfrm>
            <a:off x="4315968" y="2688336"/>
            <a:ext cx="147218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15,720</a:t>
            </a:r>
            <a:endParaRPr lang="en-US" sz="860" dirty="0"/>
          </a:p>
        </p:txBody>
      </p:sp>
      <p:sp>
        <p:nvSpPr>
          <p:cNvPr id="83" name="Shape 81"/>
          <p:cNvSpPr/>
          <p:nvPr/>
        </p:nvSpPr>
        <p:spPr>
          <a:xfrm>
            <a:off x="5852160" y="2688336"/>
            <a:ext cx="1783080" cy="274320"/>
          </a:xfrm>
          <a:prstGeom prst="rect">
            <a:avLst/>
          </a:prstGeom>
          <a:solidFill>
            <a:srgbClr val="FFFFFF"/>
          </a:solidFill>
          <a:ln w="6350">
            <a:solidFill>
              <a:srgbClr val="D3DCE5"/>
            </a:solidFill>
            <a:prstDash val="solid"/>
          </a:ln>
        </p:spPr>
      </p:sp>
      <p:sp>
        <p:nvSpPr>
          <p:cNvPr id="84" name="Text 82"/>
          <p:cNvSpPr txBox="1"/>
          <p:nvPr/>
        </p:nvSpPr>
        <p:spPr>
          <a:xfrm>
            <a:off x="5916168" y="2688336"/>
            <a:ext cx="1655064" cy="27432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2,600</a:t>
            </a:r>
            <a:endParaRPr lang="en-US" sz="860" dirty="0"/>
          </a:p>
        </p:txBody>
      </p:sp>
      <p:sp>
        <p:nvSpPr>
          <p:cNvPr id="85" name="Shape 83"/>
          <p:cNvSpPr/>
          <p:nvPr/>
        </p:nvSpPr>
        <p:spPr>
          <a:xfrm>
            <a:off x="7635240" y="2688336"/>
            <a:ext cx="1234440" cy="274320"/>
          </a:xfrm>
          <a:prstGeom prst="rect">
            <a:avLst/>
          </a:prstGeom>
          <a:solidFill>
            <a:srgbClr val="FFFFFF"/>
          </a:solidFill>
          <a:ln w="6350">
            <a:solidFill>
              <a:srgbClr val="D3DCE5"/>
            </a:solidFill>
            <a:prstDash val="solid"/>
          </a:ln>
        </p:spPr>
      </p:sp>
      <p:sp>
        <p:nvSpPr>
          <p:cNvPr id="86" name="Text 84"/>
          <p:cNvSpPr txBox="1"/>
          <p:nvPr/>
        </p:nvSpPr>
        <p:spPr>
          <a:xfrm>
            <a:off x="7699248" y="268833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7.8x</a:t>
            </a:r>
            <a:endParaRPr lang="en-US" sz="860" dirty="0"/>
          </a:p>
        </p:txBody>
      </p:sp>
      <p:sp>
        <p:nvSpPr>
          <p:cNvPr id="87" name="Shape 85"/>
          <p:cNvSpPr/>
          <p:nvPr/>
        </p:nvSpPr>
        <p:spPr>
          <a:xfrm>
            <a:off x="8869680" y="2688336"/>
            <a:ext cx="1234440" cy="274320"/>
          </a:xfrm>
          <a:prstGeom prst="rect">
            <a:avLst/>
          </a:prstGeom>
          <a:solidFill>
            <a:srgbClr val="FFFFFF"/>
          </a:solidFill>
          <a:ln w="6350">
            <a:solidFill>
              <a:srgbClr val="D3DCE5"/>
            </a:solidFill>
            <a:prstDash val="solid"/>
          </a:ln>
        </p:spPr>
      </p:sp>
      <p:sp>
        <p:nvSpPr>
          <p:cNvPr id="88" name="Text 86"/>
          <p:cNvSpPr txBox="1"/>
          <p:nvPr/>
        </p:nvSpPr>
        <p:spPr>
          <a:xfrm>
            <a:off x="8933688" y="268833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15.5x</a:t>
            </a:r>
            <a:endParaRPr lang="en-US" sz="860" dirty="0"/>
          </a:p>
        </p:txBody>
      </p:sp>
      <p:sp>
        <p:nvSpPr>
          <p:cNvPr id="89" name="Shape 87"/>
          <p:cNvSpPr/>
          <p:nvPr/>
        </p:nvSpPr>
        <p:spPr>
          <a:xfrm>
            <a:off x="10104120" y="2688336"/>
            <a:ext cx="1682496" cy="274320"/>
          </a:xfrm>
          <a:prstGeom prst="rect">
            <a:avLst/>
          </a:prstGeom>
          <a:solidFill>
            <a:srgbClr val="FFFFFF"/>
          </a:solidFill>
          <a:ln w="6350">
            <a:solidFill>
              <a:srgbClr val="D3DCE5"/>
            </a:solidFill>
            <a:prstDash val="solid"/>
          </a:ln>
        </p:spPr>
      </p:sp>
      <p:sp>
        <p:nvSpPr>
          <p:cNvPr id="90" name="Text 88"/>
          <p:cNvSpPr txBox="1"/>
          <p:nvPr/>
        </p:nvSpPr>
        <p:spPr>
          <a:xfrm>
            <a:off x="10168128" y="2688336"/>
            <a:ext cx="1554480"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Buy</a:t>
            </a:r>
            <a:endParaRPr lang="en-US" sz="860" dirty="0"/>
          </a:p>
        </p:txBody>
      </p:sp>
      <p:sp>
        <p:nvSpPr>
          <p:cNvPr id="91" name="Shape 89"/>
          <p:cNvSpPr/>
          <p:nvPr/>
        </p:nvSpPr>
        <p:spPr>
          <a:xfrm>
            <a:off x="411480" y="2962656"/>
            <a:ext cx="2148840" cy="274320"/>
          </a:xfrm>
          <a:prstGeom prst="rect">
            <a:avLst/>
          </a:prstGeom>
          <a:solidFill>
            <a:srgbClr val="EEF2F6"/>
          </a:solidFill>
          <a:ln w="6350">
            <a:solidFill>
              <a:srgbClr val="D3DCE5"/>
            </a:solidFill>
            <a:prstDash val="solid"/>
          </a:ln>
        </p:spPr>
      </p:sp>
      <p:sp>
        <p:nvSpPr>
          <p:cNvPr id="92" name="Text 90"/>
          <p:cNvSpPr txBox="1"/>
          <p:nvPr/>
        </p:nvSpPr>
        <p:spPr>
          <a:xfrm>
            <a:off x="475488" y="2962656"/>
            <a:ext cx="2020824" cy="27432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Peer median</a:t>
            </a:r>
            <a:endParaRPr lang="en-US" sz="860" dirty="0"/>
          </a:p>
        </p:txBody>
      </p:sp>
      <p:sp>
        <p:nvSpPr>
          <p:cNvPr id="93" name="Shape 91"/>
          <p:cNvSpPr/>
          <p:nvPr/>
        </p:nvSpPr>
        <p:spPr>
          <a:xfrm>
            <a:off x="2560320" y="2962656"/>
            <a:ext cx="1691640" cy="274320"/>
          </a:xfrm>
          <a:prstGeom prst="rect">
            <a:avLst/>
          </a:prstGeom>
          <a:solidFill>
            <a:srgbClr val="EEF2F6"/>
          </a:solidFill>
          <a:ln w="6350">
            <a:solidFill>
              <a:srgbClr val="D3DCE5"/>
            </a:solidFill>
            <a:prstDash val="solid"/>
          </a:ln>
        </p:spPr>
      </p:sp>
      <p:sp>
        <p:nvSpPr>
          <p:cNvPr id="94" name="Text 92"/>
          <p:cNvSpPr txBox="1"/>
          <p:nvPr/>
        </p:nvSpPr>
        <p:spPr>
          <a:xfrm>
            <a:off x="2624328" y="2962656"/>
            <a:ext cx="1563624" cy="274320"/>
          </a:xfrm>
          <a:prstGeom prst="rect">
            <a:avLst/>
          </a:prstGeom>
          <a:noFill/>
          <a:ln/>
        </p:spPr>
        <p:txBody>
          <a:bodyPr wrap="square" lIns="0" tIns="0" rIns="0" bIns="0" rtlCol="0" anchor="ctr"/>
          <a:lstStyle/>
          <a:p>
            <a:pPr algn="r" indent="0" marL="0">
              <a:buNone/>
            </a:pPr>
            <a:endParaRPr lang="en-US" sz="860" dirty="0"/>
          </a:p>
        </p:txBody>
      </p:sp>
      <p:sp>
        <p:nvSpPr>
          <p:cNvPr id="95" name="Shape 93"/>
          <p:cNvSpPr/>
          <p:nvPr/>
        </p:nvSpPr>
        <p:spPr>
          <a:xfrm>
            <a:off x="4251960" y="2962656"/>
            <a:ext cx="1600200" cy="274320"/>
          </a:xfrm>
          <a:prstGeom prst="rect">
            <a:avLst/>
          </a:prstGeom>
          <a:solidFill>
            <a:srgbClr val="EEF2F6"/>
          </a:solidFill>
          <a:ln w="6350">
            <a:solidFill>
              <a:srgbClr val="D3DCE5"/>
            </a:solidFill>
            <a:prstDash val="solid"/>
          </a:ln>
        </p:spPr>
      </p:sp>
      <p:sp>
        <p:nvSpPr>
          <p:cNvPr id="96" name="Text 94"/>
          <p:cNvSpPr txBox="1"/>
          <p:nvPr/>
        </p:nvSpPr>
        <p:spPr>
          <a:xfrm>
            <a:off x="4315968" y="2962656"/>
            <a:ext cx="1472184" cy="274320"/>
          </a:xfrm>
          <a:prstGeom prst="rect">
            <a:avLst/>
          </a:prstGeom>
          <a:noFill/>
          <a:ln/>
        </p:spPr>
        <p:txBody>
          <a:bodyPr wrap="square" lIns="0" tIns="0" rIns="0" bIns="0" rtlCol="0" anchor="ctr"/>
          <a:lstStyle/>
          <a:p>
            <a:pPr algn="r" indent="0" marL="0">
              <a:buNone/>
            </a:pPr>
            <a:endParaRPr lang="en-US" sz="860" dirty="0"/>
          </a:p>
        </p:txBody>
      </p:sp>
      <p:sp>
        <p:nvSpPr>
          <p:cNvPr id="97" name="Shape 95"/>
          <p:cNvSpPr/>
          <p:nvPr/>
        </p:nvSpPr>
        <p:spPr>
          <a:xfrm>
            <a:off x="5852160" y="2962656"/>
            <a:ext cx="1783080" cy="274320"/>
          </a:xfrm>
          <a:prstGeom prst="rect">
            <a:avLst/>
          </a:prstGeom>
          <a:solidFill>
            <a:srgbClr val="EEF2F6"/>
          </a:solidFill>
          <a:ln w="6350">
            <a:solidFill>
              <a:srgbClr val="D3DCE5"/>
            </a:solidFill>
            <a:prstDash val="solid"/>
          </a:ln>
        </p:spPr>
      </p:sp>
      <p:sp>
        <p:nvSpPr>
          <p:cNvPr id="98" name="Text 96"/>
          <p:cNvSpPr txBox="1"/>
          <p:nvPr/>
        </p:nvSpPr>
        <p:spPr>
          <a:xfrm>
            <a:off x="5916168" y="2962656"/>
            <a:ext cx="1655064" cy="274320"/>
          </a:xfrm>
          <a:prstGeom prst="rect">
            <a:avLst/>
          </a:prstGeom>
          <a:noFill/>
          <a:ln/>
        </p:spPr>
        <p:txBody>
          <a:bodyPr wrap="square" lIns="0" tIns="0" rIns="0" bIns="0" rtlCol="0" anchor="ctr"/>
          <a:lstStyle/>
          <a:p>
            <a:pPr algn="r" indent="0" marL="0">
              <a:buNone/>
            </a:pPr>
            <a:endParaRPr lang="en-US" sz="860" dirty="0"/>
          </a:p>
        </p:txBody>
      </p:sp>
      <p:sp>
        <p:nvSpPr>
          <p:cNvPr id="99" name="Shape 97"/>
          <p:cNvSpPr/>
          <p:nvPr/>
        </p:nvSpPr>
        <p:spPr>
          <a:xfrm>
            <a:off x="7635240" y="2962656"/>
            <a:ext cx="1234440" cy="274320"/>
          </a:xfrm>
          <a:prstGeom prst="rect">
            <a:avLst/>
          </a:prstGeom>
          <a:solidFill>
            <a:srgbClr val="EEF2F6"/>
          </a:solidFill>
          <a:ln w="6350">
            <a:solidFill>
              <a:srgbClr val="D3DCE5"/>
            </a:solidFill>
            <a:prstDash val="solid"/>
          </a:ln>
        </p:spPr>
      </p:sp>
      <p:sp>
        <p:nvSpPr>
          <p:cNvPr id="100" name="Text 98"/>
          <p:cNvSpPr txBox="1"/>
          <p:nvPr/>
        </p:nvSpPr>
        <p:spPr>
          <a:xfrm>
            <a:off x="7699248" y="2962656"/>
            <a:ext cx="1106424" cy="274320"/>
          </a:xfrm>
          <a:prstGeom prst="rect">
            <a:avLst/>
          </a:prstGeom>
          <a:noFill/>
          <a:ln/>
        </p:spPr>
        <p:txBody>
          <a:bodyPr wrap="square" lIns="0" tIns="0" rIns="0" bIns="0" rtlCol="0" anchor="ctr"/>
          <a:lstStyle/>
          <a:p>
            <a:pPr algn="ctr" indent="0" marL="0">
              <a:buNone/>
            </a:pPr>
            <a:r>
              <a:rPr lang="en-US" sz="860" b="1" dirty="0">
                <a:solidFill>
                  <a:srgbClr val="1B2733"/>
                </a:solidFill>
                <a:latin typeface="Calibri" pitchFamily="34" charset="0"/>
                <a:ea typeface="Calibri" pitchFamily="34" charset="-122"/>
                <a:cs typeface="Calibri" pitchFamily="34" charset="-120"/>
              </a:rPr>
              <a:t>7.8x</a:t>
            </a:r>
            <a:endParaRPr lang="en-US" sz="860" dirty="0"/>
          </a:p>
        </p:txBody>
      </p:sp>
      <p:sp>
        <p:nvSpPr>
          <p:cNvPr id="101" name="Shape 99"/>
          <p:cNvSpPr/>
          <p:nvPr/>
        </p:nvSpPr>
        <p:spPr>
          <a:xfrm>
            <a:off x="8869680" y="2962656"/>
            <a:ext cx="1234440" cy="274320"/>
          </a:xfrm>
          <a:prstGeom prst="rect">
            <a:avLst/>
          </a:prstGeom>
          <a:solidFill>
            <a:srgbClr val="EEF2F6"/>
          </a:solidFill>
          <a:ln w="6350">
            <a:solidFill>
              <a:srgbClr val="D3DCE5"/>
            </a:solidFill>
            <a:prstDash val="solid"/>
          </a:ln>
        </p:spPr>
      </p:sp>
      <p:sp>
        <p:nvSpPr>
          <p:cNvPr id="102" name="Text 100"/>
          <p:cNvSpPr txBox="1"/>
          <p:nvPr/>
        </p:nvSpPr>
        <p:spPr>
          <a:xfrm>
            <a:off x="8933688" y="2962656"/>
            <a:ext cx="1106424" cy="274320"/>
          </a:xfrm>
          <a:prstGeom prst="rect">
            <a:avLst/>
          </a:prstGeom>
          <a:noFill/>
          <a:ln/>
        </p:spPr>
        <p:txBody>
          <a:bodyPr wrap="square" lIns="0" tIns="0" rIns="0" bIns="0" rtlCol="0" anchor="ctr"/>
          <a:lstStyle/>
          <a:p>
            <a:pPr algn="ctr" indent="0" marL="0">
              <a:buNone/>
            </a:pPr>
            <a:r>
              <a:rPr lang="en-US" sz="860" b="1" dirty="0">
                <a:solidFill>
                  <a:srgbClr val="1B2733"/>
                </a:solidFill>
                <a:latin typeface="Calibri" pitchFamily="34" charset="0"/>
                <a:ea typeface="Calibri" pitchFamily="34" charset="-122"/>
                <a:cs typeface="Calibri" pitchFamily="34" charset="-120"/>
              </a:rPr>
              <a:t>15.5x</a:t>
            </a:r>
            <a:endParaRPr lang="en-US" sz="860" dirty="0"/>
          </a:p>
        </p:txBody>
      </p:sp>
      <p:sp>
        <p:nvSpPr>
          <p:cNvPr id="103" name="Shape 101"/>
          <p:cNvSpPr/>
          <p:nvPr/>
        </p:nvSpPr>
        <p:spPr>
          <a:xfrm>
            <a:off x="10104120" y="2962656"/>
            <a:ext cx="1682496" cy="274320"/>
          </a:xfrm>
          <a:prstGeom prst="rect">
            <a:avLst/>
          </a:prstGeom>
          <a:solidFill>
            <a:srgbClr val="EEF2F6"/>
          </a:solidFill>
          <a:ln w="6350">
            <a:solidFill>
              <a:srgbClr val="D3DCE5"/>
            </a:solidFill>
            <a:prstDash val="solid"/>
          </a:ln>
        </p:spPr>
      </p:sp>
      <p:sp>
        <p:nvSpPr>
          <p:cNvPr id="104" name="Text 102"/>
          <p:cNvSpPr txBox="1"/>
          <p:nvPr/>
        </p:nvSpPr>
        <p:spPr>
          <a:xfrm>
            <a:off x="10168128" y="2962656"/>
            <a:ext cx="1554480" cy="274320"/>
          </a:xfrm>
          <a:prstGeom prst="rect">
            <a:avLst/>
          </a:prstGeom>
          <a:noFill/>
          <a:ln/>
        </p:spPr>
        <p:txBody>
          <a:bodyPr wrap="square" lIns="0" tIns="0" rIns="0" bIns="0" rtlCol="0" anchor="ctr"/>
          <a:lstStyle/>
          <a:p>
            <a:pPr algn="ctr" indent="0" marL="0">
              <a:buNone/>
            </a:pPr>
            <a:endParaRPr lang="en-US" sz="860" dirty="0"/>
          </a:p>
        </p:txBody>
      </p:sp>
      <p:sp>
        <p:nvSpPr>
          <p:cNvPr id="105" name="Shape 103"/>
          <p:cNvSpPr/>
          <p:nvPr/>
        </p:nvSpPr>
        <p:spPr>
          <a:xfrm>
            <a:off x="411480" y="3236976"/>
            <a:ext cx="2148840" cy="274320"/>
          </a:xfrm>
          <a:prstGeom prst="rect">
            <a:avLst/>
          </a:prstGeom>
          <a:solidFill>
            <a:srgbClr val="D6EBE7"/>
          </a:solidFill>
          <a:ln w="6350">
            <a:solidFill>
              <a:srgbClr val="D3DCE5"/>
            </a:solidFill>
            <a:prstDash val="solid"/>
          </a:ln>
        </p:spPr>
      </p:sp>
      <p:sp>
        <p:nvSpPr>
          <p:cNvPr id="106" name="Text 104"/>
          <p:cNvSpPr txBox="1"/>
          <p:nvPr/>
        </p:nvSpPr>
        <p:spPr>
          <a:xfrm>
            <a:off x="475488" y="3236976"/>
            <a:ext cx="2020824" cy="274320"/>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PLS Group</a:t>
            </a:r>
            <a:endParaRPr lang="en-US" sz="860" dirty="0"/>
          </a:p>
        </p:txBody>
      </p:sp>
      <p:sp>
        <p:nvSpPr>
          <p:cNvPr id="107" name="Shape 105"/>
          <p:cNvSpPr/>
          <p:nvPr/>
        </p:nvSpPr>
        <p:spPr>
          <a:xfrm>
            <a:off x="2560320" y="3236976"/>
            <a:ext cx="1691640" cy="274320"/>
          </a:xfrm>
          <a:prstGeom prst="rect">
            <a:avLst/>
          </a:prstGeom>
          <a:solidFill>
            <a:srgbClr val="D6EBE7"/>
          </a:solidFill>
          <a:ln w="6350">
            <a:solidFill>
              <a:srgbClr val="D3DCE5"/>
            </a:solidFill>
            <a:prstDash val="solid"/>
          </a:ln>
        </p:spPr>
      </p:sp>
      <p:sp>
        <p:nvSpPr>
          <p:cNvPr id="108" name="Text 106"/>
          <p:cNvSpPr txBox="1"/>
          <p:nvPr/>
        </p:nvSpPr>
        <p:spPr>
          <a:xfrm>
            <a:off x="2624328" y="3236976"/>
            <a:ext cx="1563624" cy="274320"/>
          </a:xfrm>
          <a:prstGeom prst="rect">
            <a:avLst/>
          </a:prstGeom>
          <a:noFill/>
          <a:ln/>
        </p:spPr>
        <p:txBody>
          <a:bodyPr wrap="square" lIns="0" tIns="0" rIns="0" bIns="0" rtlCol="0" anchor="ctr"/>
          <a:lstStyle/>
          <a:p>
            <a:pPr algn="r" indent="0" marL="0">
              <a:buNone/>
            </a:pPr>
            <a:r>
              <a:rPr lang="en-US" sz="860" dirty="0">
                <a:solidFill>
                  <a:srgbClr val="0E7C6B"/>
                </a:solidFill>
                <a:latin typeface="Calibri" pitchFamily="34" charset="0"/>
                <a:ea typeface="Calibri" pitchFamily="34" charset="-122"/>
                <a:cs typeface="Calibri" pitchFamily="34" charset="-120"/>
              </a:rPr>
              <a:t>17,646</a:t>
            </a:r>
            <a:endParaRPr lang="en-US" sz="860" dirty="0"/>
          </a:p>
        </p:txBody>
      </p:sp>
      <p:sp>
        <p:nvSpPr>
          <p:cNvPr id="109" name="Shape 107"/>
          <p:cNvSpPr/>
          <p:nvPr/>
        </p:nvSpPr>
        <p:spPr>
          <a:xfrm>
            <a:off x="4251960" y="3236976"/>
            <a:ext cx="1600200" cy="274320"/>
          </a:xfrm>
          <a:prstGeom prst="rect">
            <a:avLst/>
          </a:prstGeom>
          <a:solidFill>
            <a:srgbClr val="D6EBE7"/>
          </a:solidFill>
          <a:ln w="6350">
            <a:solidFill>
              <a:srgbClr val="D3DCE5"/>
            </a:solidFill>
            <a:prstDash val="solid"/>
          </a:ln>
        </p:spPr>
      </p:sp>
      <p:sp>
        <p:nvSpPr>
          <p:cNvPr id="110" name="Text 108"/>
          <p:cNvSpPr txBox="1"/>
          <p:nvPr/>
        </p:nvSpPr>
        <p:spPr>
          <a:xfrm>
            <a:off x="4315968" y="3236976"/>
            <a:ext cx="1472184" cy="274320"/>
          </a:xfrm>
          <a:prstGeom prst="rect">
            <a:avLst/>
          </a:prstGeom>
          <a:noFill/>
          <a:ln/>
        </p:spPr>
        <p:txBody>
          <a:bodyPr wrap="square" lIns="0" tIns="0" rIns="0" bIns="0" rtlCol="0" anchor="ctr"/>
          <a:lstStyle/>
          <a:p>
            <a:pPr algn="r" indent="0" marL="0">
              <a:buNone/>
            </a:pPr>
            <a:r>
              <a:rPr lang="en-US" sz="860" dirty="0">
                <a:solidFill>
                  <a:srgbClr val="0E7C6B"/>
                </a:solidFill>
                <a:latin typeface="Calibri" pitchFamily="34" charset="0"/>
                <a:ea typeface="Calibri" pitchFamily="34" charset="-122"/>
                <a:cs typeface="Calibri" pitchFamily="34" charset="-120"/>
              </a:rPr>
              <a:t>16,184</a:t>
            </a:r>
            <a:endParaRPr lang="en-US" sz="860" dirty="0"/>
          </a:p>
        </p:txBody>
      </p:sp>
      <p:sp>
        <p:nvSpPr>
          <p:cNvPr id="111" name="Shape 109"/>
          <p:cNvSpPr/>
          <p:nvPr/>
        </p:nvSpPr>
        <p:spPr>
          <a:xfrm>
            <a:off x="5852160" y="3236976"/>
            <a:ext cx="1783080" cy="274320"/>
          </a:xfrm>
          <a:prstGeom prst="rect">
            <a:avLst/>
          </a:prstGeom>
          <a:solidFill>
            <a:srgbClr val="D6EBE7"/>
          </a:solidFill>
          <a:ln w="6350">
            <a:solidFill>
              <a:srgbClr val="D3DCE5"/>
            </a:solidFill>
            <a:prstDash val="solid"/>
          </a:ln>
        </p:spPr>
      </p:sp>
      <p:sp>
        <p:nvSpPr>
          <p:cNvPr id="112" name="Text 110"/>
          <p:cNvSpPr txBox="1"/>
          <p:nvPr/>
        </p:nvSpPr>
        <p:spPr>
          <a:xfrm>
            <a:off x="5916168" y="3236976"/>
            <a:ext cx="1655064" cy="274320"/>
          </a:xfrm>
          <a:prstGeom prst="rect">
            <a:avLst/>
          </a:prstGeom>
          <a:noFill/>
          <a:ln/>
        </p:spPr>
        <p:txBody>
          <a:bodyPr wrap="square" lIns="0" tIns="0" rIns="0" bIns="0" rtlCol="0" anchor="ctr"/>
          <a:lstStyle/>
          <a:p>
            <a:pPr algn="r" indent="0" marL="0">
              <a:buNone/>
            </a:pPr>
            <a:r>
              <a:rPr lang="en-US" sz="860" dirty="0">
                <a:solidFill>
                  <a:srgbClr val="0E7C6B"/>
                </a:solidFill>
                <a:latin typeface="Calibri" pitchFamily="34" charset="0"/>
                <a:ea typeface="Calibri" pitchFamily="34" charset="-122"/>
                <a:cs typeface="Calibri" pitchFamily="34" charset="-120"/>
              </a:rPr>
              <a:t>1,137</a:t>
            </a:r>
            <a:endParaRPr lang="en-US" sz="860" dirty="0"/>
          </a:p>
        </p:txBody>
      </p:sp>
      <p:sp>
        <p:nvSpPr>
          <p:cNvPr id="113" name="Shape 111"/>
          <p:cNvSpPr/>
          <p:nvPr/>
        </p:nvSpPr>
        <p:spPr>
          <a:xfrm>
            <a:off x="7635240" y="3236976"/>
            <a:ext cx="1234440" cy="274320"/>
          </a:xfrm>
          <a:prstGeom prst="rect">
            <a:avLst/>
          </a:prstGeom>
          <a:solidFill>
            <a:srgbClr val="D6EBE7"/>
          </a:solidFill>
          <a:ln w="6350">
            <a:solidFill>
              <a:srgbClr val="D3DCE5"/>
            </a:solidFill>
            <a:prstDash val="solid"/>
          </a:ln>
        </p:spPr>
      </p:sp>
      <p:sp>
        <p:nvSpPr>
          <p:cNvPr id="114" name="Text 112"/>
          <p:cNvSpPr txBox="1"/>
          <p:nvPr/>
        </p:nvSpPr>
        <p:spPr>
          <a:xfrm>
            <a:off x="7699248" y="3236976"/>
            <a:ext cx="1106424" cy="274320"/>
          </a:xfrm>
          <a:prstGeom prst="rect">
            <a:avLst/>
          </a:prstGeom>
          <a:noFill/>
          <a:ln/>
        </p:spPr>
        <p:txBody>
          <a:bodyPr wrap="square" lIns="0" tIns="0" rIns="0" bIns="0" rtlCol="0" anchor="ctr"/>
          <a:lstStyle/>
          <a:p>
            <a:pPr algn="ctr" indent="0" marL="0">
              <a:buNone/>
            </a:pPr>
            <a:r>
              <a:rPr lang="en-US" sz="860" dirty="0">
                <a:solidFill>
                  <a:srgbClr val="0E7C6B"/>
                </a:solidFill>
                <a:latin typeface="Calibri" pitchFamily="34" charset="0"/>
                <a:ea typeface="Calibri" pitchFamily="34" charset="-122"/>
                <a:cs typeface="Calibri" pitchFamily="34" charset="-120"/>
              </a:rPr>
              <a:t>26.8x trailing</a:t>
            </a:r>
            <a:endParaRPr lang="en-US" sz="860" dirty="0"/>
          </a:p>
        </p:txBody>
      </p:sp>
      <p:sp>
        <p:nvSpPr>
          <p:cNvPr id="115" name="Shape 113"/>
          <p:cNvSpPr/>
          <p:nvPr/>
        </p:nvSpPr>
        <p:spPr>
          <a:xfrm>
            <a:off x="8869680" y="3236976"/>
            <a:ext cx="1234440" cy="274320"/>
          </a:xfrm>
          <a:prstGeom prst="rect">
            <a:avLst/>
          </a:prstGeom>
          <a:solidFill>
            <a:srgbClr val="D6EBE7"/>
          </a:solidFill>
          <a:ln w="6350">
            <a:solidFill>
              <a:srgbClr val="D3DCE5"/>
            </a:solidFill>
            <a:prstDash val="solid"/>
          </a:ln>
        </p:spPr>
      </p:sp>
      <p:sp>
        <p:nvSpPr>
          <p:cNvPr id="116" name="Text 114"/>
          <p:cNvSpPr txBox="1"/>
          <p:nvPr/>
        </p:nvSpPr>
        <p:spPr>
          <a:xfrm>
            <a:off x="8933688" y="3236976"/>
            <a:ext cx="1106424" cy="274320"/>
          </a:xfrm>
          <a:prstGeom prst="rect">
            <a:avLst/>
          </a:prstGeom>
          <a:noFill/>
          <a:ln/>
        </p:spPr>
        <p:txBody>
          <a:bodyPr wrap="square" lIns="0" tIns="0" rIns="0" bIns="0" rtlCol="0" anchor="ctr"/>
          <a:lstStyle/>
          <a:p>
            <a:pPr algn="ctr" indent="0" marL="0">
              <a:buNone/>
            </a:pPr>
            <a:r>
              <a:rPr lang="en-US" sz="860" dirty="0">
                <a:solidFill>
                  <a:srgbClr val="1B2733"/>
                </a:solidFill>
                <a:latin typeface="Calibri" pitchFamily="34" charset="0"/>
                <a:ea typeface="Calibri" pitchFamily="34" charset="-122"/>
                <a:cs typeface="Calibri" pitchFamily="34" charset="-120"/>
              </a:rPr>
              <a:t>n/m</a:t>
            </a:r>
            <a:endParaRPr lang="en-US" sz="860" dirty="0"/>
          </a:p>
        </p:txBody>
      </p:sp>
      <p:sp>
        <p:nvSpPr>
          <p:cNvPr id="117" name="Shape 115"/>
          <p:cNvSpPr/>
          <p:nvPr/>
        </p:nvSpPr>
        <p:spPr>
          <a:xfrm>
            <a:off x="10104120" y="3236976"/>
            <a:ext cx="1682496" cy="274320"/>
          </a:xfrm>
          <a:prstGeom prst="rect">
            <a:avLst/>
          </a:prstGeom>
          <a:solidFill>
            <a:srgbClr val="D6EBE7"/>
          </a:solidFill>
          <a:ln w="6350">
            <a:solidFill>
              <a:srgbClr val="D3DCE5"/>
            </a:solidFill>
            <a:prstDash val="solid"/>
          </a:ln>
        </p:spPr>
      </p:sp>
      <p:sp>
        <p:nvSpPr>
          <p:cNvPr id="118" name="Text 116"/>
          <p:cNvSpPr txBox="1"/>
          <p:nvPr/>
        </p:nvSpPr>
        <p:spPr>
          <a:xfrm>
            <a:off x="10168128" y="3236976"/>
            <a:ext cx="1554480" cy="274320"/>
          </a:xfrm>
          <a:prstGeom prst="rect">
            <a:avLst/>
          </a:prstGeom>
          <a:noFill/>
          <a:ln/>
        </p:spPr>
        <p:txBody>
          <a:bodyPr wrap="square" lIns="0" tIns="0" rIns="0" bIns="0" rtlCol="0" anchor="ctr"/>
          <a:lstStyle/>
          <a:p>
            <a:pPr algn="ctr" indent="0" marL="0">
              <a:buNone/>
            </a:pPr>
            <a:r>
              <a:rPr lang="en-US" sz="860" dirty="0">
                <a:solidFill>
                  <a:srgbClr val="0E7C6B"/>
                </a:solidFill>
                <a:latin typeface="Calibri" pitchFamily="34" charset="0"/>
                <a:ea typeface="Calibri" pitchFamily="34" charset="-122"/>
                <a:cs typeface="Calibri" pitchFamily="34" charset="-120"/>
              </a:rPr>
              <a:t>Buy</a:t>
            </a:r>
            <a:endParaRPr lang="en-US" sz="860" dirty="0"/>
          </a:p>
        </p:txBody>
      </p:sp>
      <p:sp>
        <p:nvSpPr>
          <p:cNvPr id="119" name="Shape 117"/>
          <p:cNvSpPr/>
          <p:nvPr/>
        </p:nvSpPr>
        <p:spPr>
          <a:xfrm>
            <a:off x="411480" y="3630168"/>
            <a:ext cx="4663440" cy="292608"/>
          </a:xfrm>
          <a:prstGeom prst="rect">
            <a:avLst/>
          </a:prstGeom>
          <a:solidFill>
            <a:srgbClr val="10233A"/>
          </a:solidFill>
          <a:ln/>
        </p:spPr>
      </p:sp>
      <p:sp>
        <p:nvSpPr>
          <p:cNvPr id="120" name="Text 118"/>
          <p:cNvSpPr txBox="1"/>
          <p:nvPr/>
        </p:nvSpPr>
        <p:spPr>
          <a:xfrm>
            <a:off x="475488" y="3630168"/>
            <a:ext cx="45354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PLS valued on the peer set</a:t>
            </a:r>
            <a:endParaRPr lang="en-US" sz="900" dirty="0"/>
          </a:p>
        </p:txBody>
      </p:sp>
      <p:sp>
        <p:nvSpPr>
          <p:cNvPr id="121" name="Shape 119"/>
          <p:cNvSpPr/>
          <p:nvPr/>
        </p:nvSpPr>
        <p:spPr>
          <a:xfrm>
            <a:off x="5074920" y="3630168"/>
            <a:ext cx="1874520" cy="292608"/>
          </a:xfrm>
          <a:prstGeom prst="rect">
            <a:avLst/>
          </a:prstGeom>
          <a:solidFill>
            <a:srgbClr val="10233A"/>
          </a:solidFill>
          <a:ln/>
        </p:spPr>
      </p:sp>
      <p:sp>
        <p:nvSpPr>
          <p:cNvPr id="122" name="Text 120"/>
          <p:cNvSpPr txBox="1"/>
          <p:nvPr/>
        </p:nvSpPr>
        <p:spPr>
          <a:xfrm>
            <a:off x="5138928" y="3630168"/>
            <a:ext cx="1746504" cy="292608"/>
          </a:xfrm>
          <a:prstGeom prst="rect">
            <a:avLst/>
          </a:prstGeom>
          <a:noFill/>
          <a:ln/>
        </p:spPr>
        <p:txBody>
          <a:bodyPr wrap="square" lIns="0" tIns="0" rIns="0" bIns="0" rtlCol="0" anchor="ctr"/>
          <a:lstStyle/>
          <a:p>
            <a:pPr algn="r" indent="0" marL="0">
              <a:buNone/>
            </a:pPr>
            <a:endParaRPr lang="en-US" sz="900" dirty="0"/>
          </a:p>
        </p:txBody>
      </p:sp>
      <p:sp>
        <p:nvSpPr>
          <p:cNvPr id="123" name="Shape 121"/>
          <p:cNvSpPr/>
          <p:nvPr/>
        </p:nvSpPr>
        <p:spPr>
          <a:xfrm>
            <a:off x="411480" y="3922776"/>
            <a:ext cx="4663440" cy="228600"/>
          </a:xfrm>
          <a:prstGeom prst="rect">
            <a:avLst/>
          </a:prstGeom>
          <a:solidFill>
            <a:srgbClr val="FFFFFF"/>
          </a:solidFill>
          <a:ln w="6350">
            <a:solidFill>
              <a:srgbClr val="D3DCE5"/>
            </a:solidFill>
            <a:prstDash val="solid"/>
          </a:ln>
        </p:spPr>
      </p:sp>
      <p:sp>
        <p:nvSpPr>
          <p:cNvPr id="124" name="Text 122"/>
          <p:cNvSpPr txBox="1"/>
          <p:nvPr/>
        </p:nvSpPr>
        <p:spPr>
          <a:xfrm>
            <a:off x="475488" y="3922776"/>
            <a:ext cx="4535424" cy="22860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FY27 estimated EBITDA, base case (A$m)</a:t>
            </a:r>
            <a:endParaRPr lang="en-US" sz="860" dirty="0"/>
          </a:p>
        </p:txBody>
      </p:sp>
      <p:sp>
        <p:nvSpPr>
          <p:cNvPr id="125" name="Shape 123"/>
          <p:cNvSpPr/>
          <p:nvPr/>
        </p:nvSpPr>
        <p:spPr>
          <a:xfrm>
            <a:off x="5074920" y="3922776"/>
            <a:ext cx="1874520" cy="228600"/>
          </a:xfrm>
          <a:prstGeom prst="rect">
            <a:avLst/>
          </a:prstGeom>
          <a:solidFill>
            <a:srgbClr val="FFFFFF"/>
          </a:solidFill>
          <a:ln w="6350">
            <a:solidFill>
              <a:srgbClr val="D3DCE5"/>
            </a:solidFill>
            <a:prstDash val="solid"/>
          </a:ln>
        </p:spPr>
      </p:sp>
      <p:sp>
        <p:nvSpPr>
          <p:cNvPr id="126" name="Text 124"/>
          <p:cNvSpPr txBox="1"/>
          <p:nvPr/>
        </p:nvSpPr>
        <p:spPr>
          <a:xfrm>
            <a:off x="5138928" y="3922776"/>
            <a:ext cx="1746504" cy="22860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1,731</a:t>
            </a:r>
            <a:endParaRPr lang="en-US" sz="860" dirty="0"/>
          </a:p>
        </p:txBody>
      </p:sp>
      <p:sp>
        <p:nvSpPr>
          <p:cNvPr id="127" name="Shape 125"/>
          <p:cNvSpPr/>
          <p:nvPr/>
        </p:nvSpPr>
        <p:spPr>
          <a:xfrm>
            <a:off x="411480" y="4151376"/>
            <a:ext cx="4663440" cy="228600"/>
          </a:xfrm>
          <a:prstGeom prst="rect">
            <a:avLst/>
          </a:prstGeom>
          <a:solidFill>
            <a:srgbClr val="F7F9FB"/>
          </a:solidFill>
          <a:ln w="6350">
            <a:solidFill>
              <a:srgbClr val="D3DCE5"/>
            </a:solidFill>
            <a:prstDash val="solid"/>
          </a:ln>
        </p:spPr>
      </p:sp>
      <p:sp>
        <p:nvSpPr>
          <p:cNvPr id="128" name="Text 126"/>
          <p:cNvSpPr txBox="1"/>
          <p:nvPr/>
        </p:nvSpPr>
        <p:spPr>
          <a:xfrm>
            <a:off x="475488" y="4151376"/>
            <a:ext cx="4535424" cy="22860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Multiple applied - low</a:t>
            </a:r>
            <a:endParaRPr lang="en-US" sz="860" dirty="0"/>
          </a:p>
        </p:txBody>
      </p:sp>
      <p:sp>
        <p:nvSpPr>
          <p:cNvPr id="129" name="Shape 127"/>
          <p:cNvSpPr/>
          <p:nvPr/>
        </p:nvSpPr>
        <p:spPr>
          <a:xfrm>
            <a:off x="5074920" y="4151376"/>
            <a:ext cx="1874520" cy="228600"/>
          </a:xfrm>
          <a:prstGeom prst="rect">
            <a:avLst/>
          </a:prstGeom>
          <a:solidFill>
            <a:srgbClr val="F7F9FB"/>
          </a:solidFill>
          <a:ln w="6350">
            <a:solidFill>
              <a:srgbClr val="D3DCE5"/>
            </a:solidFill>
            <a:prstDash val="solid"/>
          </a:ln>
        </p:spPr>
      </p:sp>
      <p:sp>
        <p:nvSpPr>
          <p:cNvPr id="130" name="Text 128"/>
          <p:cNvSpPr txBox="1"/>
          <p:nvPr/>
        </p:nvSpPr>
        <p:spPr>
          <a:xfrm>
            <a:off x="5138928" y="4151376"/>
            <a:ext cx="1746504" cy="22860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8.0x</a:t>
            </a:r>
            <a:endParaRPr lang="en-US" sz="860" dirty="0"/>
          </a:p>
        </p:txBody>
      </p:sp>
      <p:sp>
        <p:nvSpPr>
          <p:cNvPr id="131" name="Shape 129"/>
          <p:cNvSpPr/>
          <p:nvPr/>
        </p:nvSpPr>
        <p:spPr>
          <a:xfrm>
            <a:off x="411480" y="4379976"/>
            <a:ext cx="4663440" cy="228600"/>
          </a:xfrm>
          <a:prstGeom prst="rect">
            <a:avLst/>
          </a:prstGeom>
          <a:solidFill>
            <a:srgbClr val="FFFFFF"/>
          </a:solidFill>
          <a:ln w="6350">
            <a:solidFill>
              <a:srgbClr val="D3DCE5"/>
            </a:solidFill>
            <a:prstDash val="solid"/>
          </a:ln>
        </p:spPr>
      </p:sp>
      <p:sp>
        <p:nvSpPr>
          <p:cNvPr id="132" name="Text 130"/>
          <p:cNvSpPr txBox="1"/>
          <p:nvPr/>
        </p:nvSpPr>
        <p:spPr>
          <a:xfrm>
            <a:off x="475488" y="4379976"/>
            <a:ext cx="4535424" cy="22860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Multiple applied - high</a:t>
            </a:r>
            <a:endParaRPr lang="en-US" sz="860" dirty="0"/>
          </a:p>
        </p:txBody>
      </p:sp>
      <p:sp>
        <p:nvSpPr>
          <p:cNvPr id="133" name="Shape 131"/>
          <p:cNvSpPr/>
          <p:nvPr/>
        </p:nvSpPr>
        <p:spPr>
          <a:xfrm>
            <a:off x="5074920" y="4379976"/>
            <a:ext cx="1874520" cy="228600"/>
          </a:xfrm>
          <a:prstGeom prst="rect">
            <a:avLst/>
          </a:prstGeom>
          <a:solidFill>
            <a:srgbClr val="FFFFFF"/>
          </a:solidFill>
          <a:ln w="6350">
            <a:solidFill>
              <a:srgbClr val="D3DCE5"/>
            </a:solidFill>
            <a:prstDash val="solid"/>
          </a:ln>
        </p:spPr>
      </p:sp>
      <p:sp>
        <p:nvSpPr>
          <p:cNvPr id="134" name="Text 132"/>
          <p:cNvSpPr txBox="1"/>
          <p:nvPr/>
        </p:nvSpPr>
        <p:spPr>
          <a:xfrm>
            <a:off x="5138928" y="4379976"/>
            <a:ext cx="1746504" cy="22860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11.0x</a:t>
            </a:r>
            <a:endParaRPr lang="en-US" sz="860" dirty="0"/>
          </a:p>
        </p:txBody>
      </p:sp>
      <p:sp>
        <p:nvSpPr>
          <p:cNvPr id="135" name="Shape 133"/>
          <p:cNvSpPr/>
          <p:nvPr/>
        </p:nvSpPr>
        <p:spPr>
          <a:xfrm>
            <a:off x="411480" y="4608576"/>
            <a:ext cx="4663440" cy="228600"/>
          </a:xfrm>
          <a:prstGeom prst="rect">
            <a:avLst/>
          </a:prstGeom>
          <a:solidFill>
            <a:srgbClr val="F7F9FB"/>
          </a:solidFill>
          <a:ln w="6350">
            <a:solidFill>
              <a:srgbClr val="D3DCE5"/>
            </a:solidFill>
            <a:prstDash val="solid"/>
          </a:ln>
        </p:spPr>
      </p:sp>
      <p:sp>
        <p:nvSpPr>
          <p:cNvPr id="136" name="Text 134"/>
          <p:cNvSpPr txBox="1"/>
          <p:nvPr/>
        </p:nvSpPr>
        <p:spPr>
          <a:xfrm>
            <a:off x="475488" y="4608576"/>
            <a:ext cx="4535424" cy="22860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Implied value per share - low (A$)</a:t>
            </a:r>
            <a:endParaRPr lang="en-US" sz="860" dirty="0"/>
          </a:p>
        </p:txBody>
      </p:sp>
      <p:sp>
        <p:nvSpPr>
          <p:cNvPr id="137" name="Shape 135"/>
          <p:cNvSpPr/>
          <p:nvPr/>
        </p:nvSpPr>
        <p:spPr>
          <a:xfrm>
            <a:off x="5074920" y="4608576"/>
            <a:ext cx="1874520" cy="228600"/>
          </a:xfrm>
          <a:prstGeom prst="rect">
            <a:avLst/>
          </a:prstGeom>
          <a:solidFill>
            <a:srgbClr val="F7F9FB"/>
          </a:solidFill>
          <a:ln w="6350">
            <a:solidFill>
              <a:srgbClr val="D3DCE5"/>
            </a:solidFill>
            <a:prstDash val="solid"/>
          </a:ln>
        </p:spPr>
      </p:sp>
      <p:sp>
        <p:nvSpPr>
          <p:cNvPr id="138" name="Text 136"/>
          <p:cNvSpPr txBox="1"/>
          <p:nvPr/>
        </p:nvSpPr>
        <p:spPr>
          <a:xfrm>
            <a:off x="5138928" y="4608576"/>
            <a:ext cx="1746504" cy="22860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4.75</a:t>
            </a:r>
            <a:endParaRPr lang="en-US" sz="860" dirty="0"/>
          </a:p>
        </p:txBody>
      </p:sp>
      <p:sp>
        <p:nvSpPr>
          <p:cNvPr id="139" name="Shape 137"/>
          <p:cNvSpPr/>
          <p:nvPr/>
        </p:nvSpPr>
        <p:spPr>
          <a:xfrm>
            <a:off x="411480" y="4837176"/>
            <a:ext cx="4663440" cy="228600"/>
          </a:xfrm>
          <a:prstGeom prst="rect">
            <a:avLst/>
          </a:prstGeom>
          <a:solidFill>
            <a:srgbClr val="FFFFFF"/>
          </a:solidFill>
          <a:ln w="6350">
            <a:solidFill>
              <a:srgbClr val="D3DCE5"/>
            </a:solidFill>
            <a:prstDash val="solid"/>
          </a:ln>
        </p:spPr>
      </p:sp>
      <p:sp>
        <p:nvSpPr>
          <p:cNvPr id="140" name="Text 138"/>
          <p:cNvSpPr txBox="1"/>
          <p:nvPr/>
        </p:nvSpPr>
        <p:spPr>
          <a:xfrm>
            <a:off x="475488" y="4837176"/>
            <a:ext cx="4535424" cy="228600"/>
          </a:xfrm>
          <a:prstGeom prst="rect">
            <a:avLst/>
          </a:prstGeom>
          <a:noFill/>
          <a:ln/>
        </p:spPr>
        <p:txBody>
          <a:bodyPr wrap="square" lIns="0" tIns="0" rIns="0" bIns="0" rtlCol="0" anchor="ctr"/>
          <a:lstStyle/>
          <a:p>
            <a:pPr algn="l" indent="0" marL="0">
              <a:buNone/>
            </a:pPr>
            <a:r>
              <a:rPr lang="en-US" sz="860" b="1" dirty="0">
                <a:solidFill>
                  <a:srgbClr val="1B2733"/>
                </a:solidFill>
                <a:latin typeface="Calibri" pitchFamily="34" charset="0"/>
                <a:ea typeface="Calibri" pitchFamily="34" charset="-122"/>
                <a:cs typeface="Calibri" pitchFamily="34" charset="-120"/>
              </a:rPr>
              <a:t>Implied value per share - high (A$)</a:t>
            </a:r>
            <a:endParaRPr lang="en-US" sz="860" dirty="0"/>
          </a:p>
        </p:txBody>
      </p:sp>
      <p:sp>
        <p:nvSpPr>
          <p:cNvPr id="141" name="Shape 139"/>
          <p:cNvSpPr/>
          <p:nvPr/>
        </p:nvSpPr>
        <p:spPr>
          <a:xfrm>
            <a:off x="5074920" y="4837176"/>
            <a:ext cx="1874520" cy="228600"/>
          </a:xfrm>
          <a:prstGeom prst="rect">
            <a:avLst/>
          </a:prstGeom>
          <a:solidFill>
            <a:srgbClr val="FFFFFF"/>
          </a:solidFill>
          <a:ln w="6350">
            <a:solidFill>
              <a:srgbClr val="D3DCE5"/>
            </a:solidFill>
            <a:prstDash val="solid"/>
          </a:ln>
        </p:spPr>
      </p:sp>
      <p:sp>
        <p:nvSpPr>
          <p:cNvPr id="142" name="Text 140"/>
          <p:cNvSpPr txBox="1"/>
          <p:nvPr/>
        </p:nvSpPr>
        <p:spPr>
          <a:xfrm>
            <a:off x="5138928" y="4837176"/>
            <a:ext cx="1746504" cy="228600"/>
          </a:xfrm>
          <a:prstGeom prst="rect">
            <a:avLst/>
          </a:prstGeom>
          <a:noFill/>
          <a:ln/>
        </p:spPr>
        <p:txBody>
          <a:bodyPr wrap="square" lIns="0" tIns="0" rIns="0" bIns="0" rtlCol="0" anchor="ctr"/>
          <a:lstStyle/>
          <a:p>
            <a:pPr algn="r" indent="0" marL="0">
              <a:buNone/>
            </a:pPr>
            <a:r>
              <a:rPr lang="en-US" sz="860" dirty="0">
                <a:solidFill>
                  <a:srgbClr val="1B2733"/>
                </a:solidFill>
                <a:latin typeface="Calibri" pitchFamily="34" charset="0"/>
                <a:ea typeface="Calibri" pitchFamily="34" charset="-122"/>
                <a:cs typeface="Calibri" pitchFamily="34" charset="-120"/>
              </a:rPr>
              <a:t>6.36</a:t>
            </a:r>
            <a:endParaRPr lang="en-US" sz="860" dirty="0"/>
          </a:p>
        </p:txBody>
      </p:sp>
      <p:sp>
        <p:nvSpPr>
          <p:cNvPr id="143" name="Shape 141"/>
          <p:cNvSpPr/>
          <p:nvPr/>
        </p:nvSpPr>
        <p:spPr>
          <a:xfrm>
            <a:off x="411480" y="5065776"/>
            <a:ext cx="4663440" cy="228600"/>
          </a:xfrm>
          <a:prstGeom prst="rect">
            <a:avLst/>
          </a:prstGeom>
          <a:solidFill>
            <a:srgbClr val="F7F9FB"/>
          </a:solidFill>
          <a:ln w="6350">
            <a:solidFill>
              <a:srgbClr val="D3DCE5"/>
            </a:solidFill>
            <a:prstDash val="solid"/>
          </a:ln>
        </p:spPr>
      </p:sp>
      <p:sp>
        <p:nvSpPr>
          <p:cNvPr id="144" name="Text 142"/>
          <p:cNvSpPr txBox="1"/>
          <p:nvPr/>
        </p:nvSpPr>
        <p:spPr>
          <a:xfrm>
            <a:off x="475488" y="5065776"/>
            <a:ext cx="4535424" cy="228600"/>
          </a:xfrm>
          <a:prstGeom prst="rect">
            <a:avLst/>
          </a:prstGeom>
          <a:noFill/>
          <a:ln/>
        </p:spPr>
        <p:txBody>
          <a:bodyPr wrap="square" lIns="0" tIns="0" rIns="0" bIns="0" rtlCol="0" anchor="ctr"/>
          <a:lstStyle/>
          <a:p>
            <a:pPr algn="l" indent="0" marL="0">
              <a:buNone/>
            </a:pPr>
            <a:r>
              <a:rPr lang="en-US" sz="860" b="1" dirty="0">
                <a:solidFill>
                  <a:srgbClr val="0E7C6B"/>
                </a:solidFill>
                <a:latin typeface="Calibri" pitchFamily="34" charset="0"/>
                <a:ea typeface="Calibri" pitchFamily="34" charset="-122"/>
                <a:cs typeface="Calibri" pitchFamily="34" charset="-120"/>
              </a:rPr>
              <a:t>Midpoint (A$)</a:t>
            </a:r>
            <a:endParaRPr lang="en-US" sz="860" dirty="0"/>
          </a:p>
        </p:txBody>
      </p:sp>
      <p:sp>
        <p:nvSpPr>
          <p:cNvPr id="145" name="Shape 143"/>
          <p:cNvSpPr/>
          <p:nvPr/>
        </p:nvSpPr>
        <p:spPr>
          <a:xfrm>
            <a:off x="5074920" y="5065776"/>
            <a:ext cx="1874520" cy="228600"/>
          </a:xfrm>
          <a:prstGeom prst="rect">
            <a:avLst/>
          </a:prstGeom>
          <a:solidFill>
            <a:srgbClr val="F7F9FB"/>
          </a:solidFill>
          <a:ln w="6350">
            <a:solidFill>
              <a:srgbClr val="D3DCE5"/>
            </a:solidFill>
            <a:prstDash val="solid"/>
          </a:ln>
        </p:spPr>
      </p:sp>
      <p:sp>
        <p:nvSpPr>
          <p:cNvPr id="146" name="Text 144"/>
          <p:cNvSpPr txBox="1"/>
          <p:nvPr/>
        </p:nvSpPr>
        <p:spPr>
          <a:xfrm>
            <a:off x="5138928" y="5065776"/>
            <a:ext cx="1746504" cy="228600"/>
          </a:xfrm>
          <a:prstGeom prst="rect">
            <a:avLst/>
          </a:prstGeom>
          <a:noFill/>
          <a:ln/>
        </p:spPr>
        <p:txBody>
          <a:bodyPr wrap="square" lIns="0" tIns="0" rIns="0" bIns="0" rtlCol="0" anchor="ctr"/>
          <a:lstStyle/>
          <a:p>
            <a:pPr algn="r" indent="0" marL="0">
              <a:buNone/>
            </a:pPr>
            <a:r>
              <a:rPr lang="en-US" sz="860" b="1" dirty="0">
                <a:solidFill>
                  <a:srgbClr val="0E7C6B"/>
                </a:solidFill>
                <a:latin typeface="Calibri" pitchFamily="34" charset="0"/>
                <a:ea typeface="Calibri" pitchFamily="34" charset="-122"/>
                <a:cs typeface="Calibri" pitchFamily="34" charset="-120"/>
              </a:rPr>
              <a:t>5.55</a:t>
            </a:r>
            <a:endParaRPr lang="en-US" sz="860" dirty="0"/>
          </a:p>
        </p:txBody>
      </p:sp>
      <p:sp>
        <p:nvSpPr>
          <p:cNvPr id="147" name="Shape 145"/>
          <p:cNvSpPr/>
          <p:nvPr/>
        </p:nvSpPr>
        <p:spPr>
          <a:xfrm>
            <a:off x="7086600" y="3630168"/>
            <a:ext cx="4700016" cy="1481328"/>
          </a:xfrm>
          <a:prstGeom prst="rect">
            <a:avLst/>
          </a:prstGeom>
          <a:solidFill>
            <a:srgbClr val="FBEBD9"/>
          </a:solidFill>
          <a:ln w="9525">
            <a:solidFill>
              <a:srgbClr val="E8C9A3"/>
            </a:solidFill>
            <a:prstDash val="solid"/>
          </a:ln>
        </p:spPr>
      </p:sp>
      <p:sp>
        <p:nvSpPr>
          <p:cNvPr id="148" name="Text 146"/>
          <p:cNvSpPr txBox="1"/>
          <p:nvPr/>
        </p:nvSpPr>
        <p:spPr>
          <a:xfrm>
            <a:off x="7251192" y="3758184"/>
            <a:ext cx="4370832"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Why the 26.8x is not the relevant number</a:t>
            </a:r>
            <a:endParaRPr lang="en-US" sz="1150" dirty="0"/>
          </a:p>
        </p:txBody>
      </p:sp>
      <p:sp>
        <p:nvSpPr>
          <p:cNvPr id="149" name="Text 147"/>
          <p:cNvSpPr txBox="1"/>
          <p:nvPr/>
        </p:nvSpPr>
        <p:spPr>
          <a:xfrm>
            <a:off x="7251192" y="4087368"/>
            <a:ext cx="4370832" cy="932688"/>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PLS's trailing multiple looks extreme because FY26 EBITDA of A$1,137m captures a year that began with realised prices at US$742/t. On our FY27 estimate of A$1,731m the same enterprise value is roughly 9.4x. That is the cyclical trap in this sector: the stock looks expensive at the bottom and cheap at the top, and a multiple taken at either point is misleading.</a:t>
            </a:r>
            <a:endParaRPr lang="en-US" sz="880" dirty="0"/>
          </a:p>
        </p:txBody>
      </p:sp>
      <p:sp>
        <p:nvSpPr>
          <p:cNvPr id="150" name="Shape 148"/>
          <p:cNvSpPr/>
          <p:nvPr/>
        </p:nvSpPr>
        <p:spPr>
          <a:xfrm>
            <a:off x="411480" y="5376672"/>
            <a:ext cx="11375136" cy="658368"/>
          </a:xfrm>
          <a:prstGeom prst="rect">
            <a:avLst/>
          </a:prstGeom>
          <a:solidFill>
            <a:srgbClr val="EEF2F6"/>
          </a:solidFill>
          <a:ln w="9525">
            <a:solidFill>
              <a:srgbClr val="D3DCE5"/>
            </a:solidFill>
            <a:prstDash val="solid"/>
          </a:ln>
        </p:spPr>
      </p:sp>
      <p:sp>
        <p:nvSpPr>
          <p:cNvPr id="151" name="Text 149"/>
          <p:cNvSpPr txBox="1"/>
          <p:nvPr/>
        </p:nvSpPr>
        <p:spPr>
          <a:xfrm>
            <a:off x="576072" y="5504688"/>
            <a:ext cx="11045952" cy="438912"/>
          </a:xfrm>
          <a:prstGeom prst="rect">
            <a:avLst/>
          </a:prstGeom>
          <a:noFill/>
          <a:ln/>
        </p:spPr>
        <p:txBody>
          <a:bodyPr wrap="square" lIns="0" tIns="0" rIns="0" bIns="0" rtlCol="0" anchor="t"/>
          <a:lstStyle/>
          <a:p>
            <a:pPr indent="0" marL="0">
              <a:lnSpc>
                <a:spcPct val="105000"/>
              </a:lnSpc>
              <a:buNone/>
            </a:pPr>
            <a:r>
              <a:rPr lang="en-US" sz="880" dirty="0">
                <a:solidFill>
                  <a:srgbClr val="1B2733"/>
                </a:solidFill>
                <a:latin typeface="Calibri" pitchFamily="34" charset="0"/>
                <a:ea typeface="Calibri" pitchFamily="34" charset="-122"/>
                <a:cs typeface="Calibri" pitchFamily="34" charset="-120"/>
              </a:rPr>
              <a:t>Vendor caveat: providers disagree materially on EV/EBITDA across this peer set, reflecting different snapshot dates through a volatile 2026 and different methodologies. Treat single-point figures as indicative.</a:t>
            </a:r>
            <a:endParaRPr lang="en-US" sz="880" dirty="0"/>
          </a:p>
        </p:txBody>
      </p:sp>
      <p:sp>
        <p:nvSpPr>
          <p:cNvPr id="152" name="Text 150"/>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company FY26 results; data-vendor multiples, August 2026. PLS-implied values are computed in the workbook's Trading Comps sheet from the model's own FY27 EBITDA estimate.</a:t>
            </a:r>
            <a:endParaRPr lang="en-US" sz="720" dirty="0"/>
          </a:p>
        </p:txBody>
      </p:sp>
      <p:sp>
        <p:nvSpPr>
          <p:cNvPr id="153" name="Text 151"/>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E12</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Shown as reference only and given zero weight, because transaction multiples could not be sourced on a consistent basis.</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E13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234440" cy="292608"/>
          </a:xfrm>
          <a:prstGeom prst="rect">
            <a:avLst/>
          </a:prstGeom>
          <a:solidFill>
            <a:srgbClr val="10233A"/>
          </a:solidFill>
          <a:ln/>
        </p:spPr>
      </p:sp>
      <p:sp>
        <p:nvSpPr>
          <p:cNvPr id="8" name="Text 6"/>
          <p:cNvSpPr txBox="1"/>
          <p:nvPr/>
        </p:nvSpPr>
        <p:spPr>
          <a:xfrm>
            <a:off x="475488" y="1298448"/>
            <a:ext cx="11064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Completed</a:t>
            </a:r>
            <a:endParaRPr lang="en-US" sz="900" dirty="0"/>
          </a:p>
        </p:txBody>
      </p:sp>
      <p:sp>
        <p:nvSpPr>
          <p:cNvPr id="9" name="Shape 7"/>
          <p:cNvSpPr/>
          <p:nvPr/>
        </p:nvSpPr>
        <p:spPr>
          <a:xfrm>
            <a:off x="1645920" y="1298448"/>
            <a:ext cx="1965960" cy="292608"/>
          </a:xfrm>
          <a:prstGeom prst="rect">
            <a:avLst/>
          </a:prstGeom>
          <a:solidFill>
            <a:srgbClr val="10233A"/>
          </a:solidFill>
          <a:ln/>
        </p:spPr>
      </p:sp>
      <p:sp>
        <p:nvSpPr>
          <p:cNvPr id="10" name="Text 8"/>
          <p:cNvSpPr txBox="1"/>
          <p:nvPr/>
        </p:nvSpPr>
        <p:spPr>
          <a:xfrm>
            <a:off x="1709928" y="1298448"/>
            <a:ext cx="183794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Acquirer</a:t>
            </a:r>
            <a:endParaRPr lang="en-US" sz="900" dirty="0"/>
          </a:p>
        </p:txBody>
      </p:sp>
      <p:sp>
        <p:nvSpPr>
          <p:cNvPr id="11" name="Shape 9"/>
          <p:cNvSpPr/>
          <p:nvPr/>
        </p:nvSpPr>
        <p:spPr>
          <a:xfrm>
            <a:off x="3611880" y="1298448"/>
            <a:ext cx="2148840" cy="292608"/>
          </a:xfrm>
          <a:prstGeom prst="rect">
            <a:avLst/>
          </a:prstGeom>
          <a:solidFill>
            <a:srgbClr val="10233A"/>
          </a:solidFill>
          <a:ln/>
        </p:spPr>
      </p:sp>
      <p:sp>
        <p:nvSpPr>
          <p:cNvPr id="12" name="Text 10"/>
          <p:cNvSpPr txBox="1"/>
          <p:nvPr/>
        </p:nvSpPr>
        <p:spPr>
          <a:xfrm>
            <a:off x="3675888" y="1298448"/>
            <a:ext cx="20208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Target</a:t>
            </a:r>
            <a:endParaRPr lang="en-US" sz="900" dirty="0"/>
          </a:p>
        </p:txBody>
      </p:sp>
      <p:sp>
        <p:nvSpPr>
          <p:cNvPr id="13" name="Shape 11"/>
          <p:cNvSpPr/>
          <p:nvPr/>
        </p:nvSpPr>
        <p:spPr>
          <a:xfrm>
            <a:off x="5760720" y="1298448"/>
            <a:ext cx="1234440" cy="292608"/>
          </a:xfrm>
          <a:prstGeom prst="rect">
            <a:avLst/>
          </a:prstGeom>
          <a:solidFill>
            <a:srgbClr val="10233A"/>
          </a:solidFill>
          <a:ln/>
        </p:spPr>
      </p:sp>
      <p:sp>
        <p:nvSpPr>
          <p:cNvPr id="14" name="Text 12"/>
          <p:cNvSpPr txBox="1"/>
          <p:nvPr/>
        </p:nvSpPr>
        <p:spPr>
          <a:xfrm>
            <a:off x="5824728" y="1298448"/>
            <a:ext cx="110642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p>
        </p:txBody>
      </p:sp>
      <p:sp>
        <p:nvSpPr>
          <p:cNvPr id="15" name="Shape 13"/>
          <p:cNvSpPr/>
          <p:nvPr/>
        </p:nvSpPr>
        <p:spPr>
          <a:xfrm>
            <a:off x="6995160" y="1298448"/>
            <a:ext cx="1463040" cy="292608"/>
          </a:xfrm>
          <a:prstGeom prst="rect">
            <a:avLst/>
          </a:prstGeom>
          <a:solidFill>
            <a:srgbClr val="10233A"/>
          </a:solidFill>
          <a:ln/>
        </p:spPr>
      </p:sp>
      <p:sp>
        <p:nvSpPr>
          <p:cNvPr id="16" name="Text 14"/>
          <p:cNvSpPr txBox="1"/>
          <p:nvPr/>
        </p:nvSpPr>
        <p:spPr>
          <a:xfrm>
            <a:off x="7059168" y="1298448"/>
            <a:ext cx="13350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Structure</a:t>
            </a:r>
            <a:endParaRPr lang="en-US" sz="900" dirty="0"/>
          </a:p>
        </p:txBody>
      </p:sp>
      <p:sp>
        <p:nvSpPr>
          <p:cNvPr id="17" name="Shape 15"/>
          <p:cNvSpPr/>
          <p:nvPr/>
        </p:nvSpPr>
        <p:spPr>
          <a:xfrm>
            <a:off x="8458200" y="1298448"/>
            <a:ext cx="3328416" cy="292608"/>
          </a:xfrm>
          <a:prstGeom prst="rect">
            <a:avLst/>
          </a:prstGeom>
          <a:solidFill>
            <a:srgbClr val="10233A"/>
          </a:solidFill>
          <a:ln/>
        </p:spPr>
      </p:sp>
      <p:sp>
        <p:nvSpPr>
          <p:cNvPr id="18" name="Text 16"/>
          <p:cNvSpPr txBox="1"/>
          <p:nvPr/>
        </p:nvSpPr>
        <p:spPr>
          <a:xfrm>
            <a:off x="8522208" y="1298448"/>
            <a:ext cx="320040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Note</a:t>
            </a:r>
            <a:endParaRPr lang="en-US" sz="900" dirty="0"/>
          </a:p>
        </p:txBody>
      </p:sp>
      <p:sp>
        <p:nvSpPr>
          <p:cNvPr id="19" name="Shape 17"/>
          <p:cNvSpPr/>
          <p:nvPr/>
        </p:nvSpPr>
        <p:spPr>
          <a:xfrm>
            <a:off x="411480" y="1591056"/>
            <a:ext cx="1234440" cy="342900"/>
          </a:xfrm>
          <a:prstGeom prst="rect">
            <a:avLst/>
          </a:prstGeom>
          <a:solidFill>
            <a:srgbClr val="FFFFFF"/>
          </a:solidFill>
          <a:ln w="6350">
            <a:solidFill>
              <a:srgbClr val="D3DCE5"/>
            </a:solidFill>
            <a:prstDash val="solid"/>
          </a:ln>
        </p:spPr>
      </p:sp>
      <p:sp>
        <p:nvSpPr>
          <p:cNvPr id="20" name="Text 18"/>
          <p:cNvSpPr txBox="1"/>
          <p:nvPr/>
        </p:nvSpPr>
        <p:spPr>
          <a:xfrm>
            <a:off x="475488" y="1591056"/>
            <a:ext cx="1106424" cy="34290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Mar 2025</a:t>
            </a:r>
            <a:endParaRPr lang="en-US" sz="840" dirty="0"/>
          </a:p>
        </p:txBody>
      </p:sp>
      <p:sp>
        <p:nvSpPr>
          <p:cNvPr id="21" name="Shape 19"/>
          <p:cNvSpPr/>
          <p:nvPr/>
        </p:nvSpPr>
        <p:spPr>
          <a:xfrm>
            <a:off x="1645920" y="1591056"/>
            <a:ext cx="1965960" cy="342900"/>
          </a:xfrm>
          <a:prstGeom prst="rect">
            <a:avLst/>
          </a:prstGeom>
          <a:solidFill>
            <a:srgbClr val="FFFFFF"/>
          </a:solidFill>
          <a:ln w="6350">
            <a:solidFill>
              <a:srgbClr val="D3DCE5"/>
            </a:solidFill>
            <a:prstDash val="solid"/>
          </a:ln>
        </p:spPr>
      </p:sp>
      <p:sp>
        <p:nvSpPr>
          <p:cNvPr id="22" name="Text 20"/>
          <p:cNvSpPr txBox="1"/>
          <p:nvPr/>
        </p:nvSpPr>
        <p:spPr>
          <a:xfrm>
            <a:off x="1709928" y="1591056"/>
            <a:ext cx="183794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Rio Tinto</a:t>
            </a:r>
            <a:endParaRPr lang="en-US" sz="840" dirty="0"/>
          </a:p>
        </p:txBody>
      </p:sp>
      <p:sp>
        <p:nvSpPr>
          <p:cNvPr id="23" name="Shape 21"/>
          <p:cNvSpPr/>
          <p:nvPr/>
        </p:nvSpPr>
        <p:spPr>
          <a:xfrm>
            <a:off x="3611880" y="1591056"/>
            <a:ext cx="2148840" cy="342900"/>
          </a:xfrm>
          <a:prstGeom prst="rect">
            <a:avLst/>
          </a:prstGeom>
          <a:solidFill>
            <a:srgbClr val="FFFFFF"/>
          </a:solidFill>
          <a:ln w="6350">
            <a:solidFill>
              <a:srgbClr val="D3DCE5"/>
            </a:solidFill>
            <a:prstDash val="solid"/>
          </a:ln>
        </p:spPr>
      </p:sp>
      <p:sp>
        <p:nvSpPr>
          <p:cNvPr id="24" name="Text 22"/>
          <p:cNvSpPr txBox="1"/>
          <p:nvPr/>
        </p:nvSpPr>
        <p:spPr>
          <a:xfrm>
            <a:off x="3675888" y="1591056"/>
            <a:ext cx="20208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Arcadium Lithium</a:t>
            </a:r>
            <a:endParaRPr lang="en-US" sz="840" dirty="0"/>
          </a:p>
        </p:txBody>
      </p:sp>
      <p:sp>
        <p:nvSpPr>
          <p:cNvPr id="25" name="Shape 23"/>
          <p:cNvSpPr/>
          <p:nvPr/>
        </p:nvSpPr>
        <p:spPr>
          <a:xfrm>
            <a:off x="5760720" y="1591056"/>
            <a:ext cx="1234440" cy="342900"/>
          </a:xfrm>
          <a:prstGeom prst="rect">
            <a:avLst/>
          </a:prstGeom>
          <a:solidFill>
            <a:srgbClr val="FFFFFF"/>
          </a:solidFill>
          <a:ln w="6350">
            <a:solidFill>
              <a:srgbClr val="D3DCE5"/>
            </a:solidFill>
            <a:prstDash val="solid"/>
          </a:ln>
        </p:spPr>
      </p:sp>
      <p:sp>
        <p:nvSpPr>
          <p:cNvPr id="26" name="Text 24"/>
          <p:cNvSpPr txBox="1"/>
          <p:nvPr/>
        </p:nvSpPr>
        <p:spPr>
          <a:xfrm>
            <a:off x="5824728" y="1591056"/>
            <a:ext cx="1106424" cy="342900"/>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US$6.7bn</a:t>
            </a:r>
            <a:endParaRPr lang="en-US" sz="840" dirty="0"/>
          </a:p>
        </p:txBody>
      </p:sp>
      <p:sp>
        <p:nvSpPr>
          <p:cNvPr id="27" name="Shape 25"/>
          <p:cNvSpPr/>
          <p:nvPr/>
        </p:nvSpPr>
        <p:spPr>
          <a:xfrm>
            <a:off x="6995160" y="1591056"/>
            <a:ext cx="1463040" cy="342900"/>
          </a:xfrm>
          <a:prstGeom prst="rect">
            <a:avLst/>
          </a:prstGeom>
          <a:solidFill>
            <a:srgbClr val="FFFFFF"/>
          </a:solidFill>
          <a:ln w="6350">
            <a:solidFill>
              <a:srgbClr val="D3DCE5"/>
            </a:solidFill>
            <a:prstDash val="solid"/>
          </a:ln>
        </p:spPr>
      </p:sp>
      <p:sp>
        <p:nvSpPr>
          <p:cNvPr id="28" name="Text 26"/>
          <p:cNvSpPr txBox="1"/>
          <p:nvPr/>
        </p:nvSpPr>
        <p:spPr>
          <a:xfrm>
            <a:off x="7059168" y="1591056"/>
            <a:ext cx="13350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All cash</a:t>
            </a:r>
            <a:endParaRPr lang="en-US" sz="840" dirty="0"/>
          </a:p>
        </p:txBody>
      </p:sp>
      <p:sp>
        <p:nvSpPr>
          <p:cNvPr id="29" name="Shape 27"/>
          <p:cNvSpPr/>
          <p:nvPr/>
        </p:nvSpPr>
        <p:spPr>
          <a:xfrm>
            <a:off x="8458200" y="1591056"/>
            <a:ext cx="3328416" cy="342900"/>
          </a:xfrm>
          <a:prstGeom prst="rect">
            <a:avLst/>
          </a:prstGeom>
          <a:solidFill>
            <a:srgbClr val="FFFFFF"/>
          </a:solidFill>
          <a:ln w="6350">
            <a:solidFill>
              <a:srgbClr val="D3DCE5"/>
            </a:solidFill>
            <a:prstDash val="solid"/>
          </a:ln>
        </p:spPr>
      </p:sp>
      <p:sp>
        <p:nvSpPr>
          <p:cNvPr id="30" name="Text 28"/>
          <p:cNvSpPr txBox="1"/>
          <p:nvPr/>
        </p:nvSpPr>
        <p:spPr>
          <a:xfrm>
            <a:off x="8522208" y="1591056"/>
            <a:ext cx="3200400"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US$5.85/share. The largest completed lithium deal on this page.</a:t>
            </a:r>
            <a:endParaRPr lang="en-US" sz="840" dirty="0"/>
          </a:p>
        </p:txBody>
      </p:sp>
      <p:sp>
        <p:nvSpPr>
          <p:cNvPr id="31" name="Shape 29"/>
          <p:cNvSpPr/>
          <p:nvPr/>
        </p:nvSpPr>
        <p:spPr>
          <a:xfrm>
            <a:off x="411480" y="1933956"/>
            <a:ext cx="1234440" cy="342900"/>
          </a:xfrm>
          <a:prstGeom prst="rect">
            <a:avLst/>
          </a:prstGeom>
          <a:solidFill>
            <a:srgbClr val="F7F9FB"/>
          </a:solidFill>
          <a:ln w="6350">
            <a:solidFill>
              <a:srgbClr val="D3DCE5"/>
            </a:solidFill>
            <a:prstDash val="solid"/>
          </a:ln>
        </p:spPr>
      </p:sp>
      <p:sp>
        <p:nvSpPr>
          <p:cNvPr id="32" name="Text 30"/>
          <p:cNvSpPr txBox="1"/>
          <p:nvPr/>
        </p:nvSpPr>
        <p:spPr>
          <a:xfrm>
            <a:off x="475488" y="1933956"/>
            <a:ext cx="1106424" cy="34290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Jan 2025</a:t>
            </a:r>
            <a:endParaRPr lang="en-US" sz="840" dirty="0"/>
          </a:p>
        </p:txBody>
      </p:sp>
      <p:sp>
        <p:nvSpPr>
          <p:cNvPr id="33" name="Shape 31"/>
          <p:cNvSpPr/>
          <p:nvPr/>
        </p:nvSpPr>
        <p:spPr>
          <a:xfrm>
            <a:off x="1645920" y="1933956"/>
            <a:ext cx="1965960" cy="342900"/>
          </a:xfrm>
          <a:prstGeom prst="rect">
            <a:avLst/>
          </a:prstGeom>
          <a:solidFill>
            <a:srgbClr val="F7F9FB"/>
          </a:solidFill>
          <a:ln w="6350">
            <a:solidFill>
              <a:srgbClr val="D3DCE5"/>
            </a:solidFill>
            <a:prstDash val="solid"/>
          </a:ln>
        </p:spPr>
      </p:sp>
      <p:sp>
        <p:nvSpPr>
          <p:cNvPr id="34" name="Text 32"/>
          <p:cNvSpPr txBox="1"/>
          <p:nvPr/>
        </p:nvSpPr>
        <p:spPr>
          <a:xfrm>
            <a:off x="1709928" y="1933956"/>
            <a:ext cx="183794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PLS Group</a:t>
            </a:r>
            <a:endParaRPr lang="en-US" sz="840" dirty="0"/>
          </a:p>
        </p:txBody>
      </p:sp>
      <p:sp>
        <p:nvSpPr>
          <p:cNvPr id="35" name="Shape 33"/>
          <p:cNvSpPr/>
          <p:nvPr/>
        </p:nvSpPr>
        <p:spPr>
          <a:xfrm>
            <a:off x="3611880" y="1933956"/>
            <a:ext cx="2148840" cy="342900"/>
          </a:xfrm>
          <a:prstGeom prst="rect">
            <a:avLst/>
          </a:prstGeom>
          <a:solidFill>
            <a:srgbClr val="F7F9FB"/>
          </a:solidFill>
          <a:ln w="6350">
            <a:solidFill>
              <a:srgbClr val="D3DCE5"/>
            </a:solidFill>
            <a:prstDash val="solid"/>
          </a:ln>
        </p:spPr>
      </p:sp>
      <p:sp>
        <p:nvSpPr>
          <p:cNvPr id="36" name="Text 34"/>
          <p:cNvSpPr txBox="1"/>
          <p:nvPr/>
        </p:nvSpPr>
        <p:spPr>
          <a:xfrm>
            <a:off x="3675888" y="1933956"/>
            <a:ext cx="20208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Latin Resources</a:t>
            </a:r>
            <a:endParaRPr lang="en-US" sz="840" dirty="0"/>
          </a:p>
        </p:txBody>
      </p:sp>
      <p:sp>
        <p:nvSpPr>
          <p:cNvPr id="37" name="Shape 35"/>
          <p:cNvSpPr/>
          <p:nvPr/>
        </p:nvSpPr>
        <p:spPr>
          <a:xfrm>
            <a:off x="5760720" y="1933956"/>
            <a:ext cx="1234440" cy="342900"/>
          </a:xfrm>
          <a:prstGeom prst="rect">
            <a:avLst/>
          </a:prstGeom>
          <a:solidFill>
            <a:srgbClr val="F7F9FB"/>
          </a:solidFill>
          <a:ln w="6350">
            <a:solidFill>
              <a:srgbClr val="D3DCE5"/>
            </a:solidFill>
            <a:prstDash val="solid"/>
          </a:ln>
        </p:spPr>
      </p:sp>
      <p:sp>
        <p:nvSpPr>
          <p:cNvPr id="38" name="Text 36"/>
          <p:cNvSpPr txBox="1"/>
          <p:nvPr/>
        </p:nvSpPr>
        <p:spPr>
          <a:xfrm>
            <a:off x="5824728" y="1933956"/>
            <a:ext cx="1106424" cy="342900"/>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A$560m</a:t>
            </a:r>
            <a:endParaRPr lang="en-US" sz="840" dirty="0"/>
          </a:p>
        </p:txBody>
      </p:sp>
      <p:sp>
        <p:nvSpPr>
          <p:cNvPr id="39" name="Shape 37"/>
          <p:cNvSpPr/>
          <p:nvPr/>
        </p:nvSpPr>
        <p:spPr>
          <a:xfrm>
            <a:off x="6995160" y="1933956"/>
            <a:ext cx="1463040" cy="342900"/>
          </a:xfrm>
          <a:prstGeom prst="rect">
            <a:avLst/>
          </a:prstGeom>
          <a:solidFill>
            <a:srgbClr val="F7F9FB"/>
          </a:solidFill>
          <a:ln w="6350">
            <a:solidFill>
              <a:srgbClr val="D3DCE5"/>
            </a:solidFill>
            <a:prstDash val="solid"/>
          </a:ln>
        </p:spPr>
      </p:sp>
      <p:sp>
        <p:nvSpPr>
          <p:cNvPr id="40" name="Text 38"/>
          <p:cNvSpPr txBox="1"/>
          <p:nvPr/>
        </p:nvSpPr>
        <p:spPr>
          <a:xfrm>
            <a:off x="7059168" y="1933956"/>
            <a:ext cx="13350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All scrip</a:t>
            </a:r>
            <a:endParaRPr lang="en-US" sz="840" dirty="0"/>
          </a:p>
        </p:txBody>
      </p:sp>
      <p:sp>
        <p:nvSpPr>
          <p:cNvPr id="41" name="Shape 39"/>
          <p:cNvSpPr/>
          <p:nvPr/>
        </p:nvSpPr>
        <p:spPr>
          <a:xfrm>
            <a:off x="8458200" y="1933956"/>
            <a:ext cx="3328416" cy="342900"/>
          </a:xfrm>
          <a:prstGeom prst="rect">
            <a:avLst/>
          </a:prstGeom>
          <a:solidFill>
            <a:srgbClr val="F7F9FB"/>
          </a:solidFill>
          <a:ln w="6350">
            <a:solidFill>
              <a:srgbClr val="D3DCE5"/>
            </a:solidFill>
            <a:prstDash val="solid"/>
          </a:ln>
        </p:spPr>
      </p:sp>
      <p:sp>
        <p:nvSpPr>
          <p:cNvPr id="42" name="Text 40"/>
          <p:cNvSpPr txBox="1"/>
          <p:nvPr/>
        </p:nvSpPr>
        <p:spPr>
          <a:xfrm>
            <a:off x="8522208" y="1933956"/>
            <a:ext cx="3200400"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0.07 PLS shares per Latin share. Preserved PLS's net cash through the trough.</a:t>
            </a:r>
            <a:endParaRPr lang="en-US" sz="840" dirty="0"/>
          </a:p>
        </p:txBody>
      </p:sp>
      <p:sp>
        <p:nvSpPr>
          <p:cNvPr id="43" name="Shape 41"/>
          <p:cNvSpPr/>
          <p:nvPr/>
        </p:nvSpPr>
        <p:spPr>
          <a:xfrm>
            <a:off x="411480" y="2276856"/>
            <a:ext cx="1234440" cy="342900"/>
          </a:xfrm>
          <a:prstGeom prst="rect">
            <a:avLst/>
          </a:prstGeom>
          <a:solidFill>
            <a:srgbClr val="FFFFFF"/>
          </a:solidFill>
          <a:ln w="6350">
            <a:solidFill>
              <a:srgbClr val="D3DCE5"/>
            </a:solidFill>
            <a:prstDash val="solid"/>
          </a:ln>
        </p:spPr>
      </p:sp>
      <p:sp>
        <p:nvSpPr>
          <p:cNvPr id="44" name="Text 42"/>
          <p:cNvSpPr txBox="1"/>
          <p:nvPr/>
        </p:nvSpPr>
        <p:spPr>
          <a:xfrm>
            <a:off x="475488" y="2276856"/>
            <a:ext cx="1106424" cy="34290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May 2026</a:t>
            </a:r>
            <a:endParaRPr lang="en-US" sz="840" dirty="0"/>
          </a:p>
        </p:txBody>
      </p:sp>
      <p:sp>
        <p:nvSpPr>
          <p:cNvPr id="45" name="Shape 43"/>
          <p:cNvSpPr/>
          <p:nvPr/>
        </p:nvSpPr>
        <p:spPr>
          <a:xfrm>
            <a:off x="1645920" y="2276856"/>
            <a:ext cx="1965960" cy="342900"/>
          </a:xfrm>
          <a:prstGeom prst="rect">
            <a:avLst/>
          </a:prstGeom>
          <a:solidFill>
            <a:srgbClr val="FFFFFF"/>
          </a:solidFill>
          <a:ln w="6350">
            <a:solidFill>
              <a:srgbClr val="D3DCE5"/>
            </a:solidFill>
            <a:prstDash val="solid"/>
          </a:ln>
        </p:spPr>
      </p:sp>
      <p:sp>
        <p:nvSpPr>
          <p:cNvPr id="46" name="Text 44"/>
          <p:cNvSpPr txBox="1"/>
          <p:nvPr/>
        </p:nvSpPr>
        <p:spPr>
          <a:xfrm>
            <a:off x="1709928" y="2276856"/>
            <a:ext cx="183794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Huayou Cobalt</a:t>
            </a:r>
            <a:endParaRPr lang="en-US" sz="840" dirty="0"/>
          </a:p>
        </p:txBody>
      </p:sp>
      <p:sp>
        <p:nvSpPr>
          <p:cNvPr id="47" name="Shape 45"/>
          <p:cNvSpPr/>
          <p:nvPr/>
        </p:nvSpPr>
        <p:spPr>
          <a:xfrm>
            <a:off x="3611880" y="2276856"/>
            <a:ext cx="2148840" cy="342900"/>
          </a:xfrm>
          <a:prstGeom prst="rect">
            <a:avLst/>
          </a:prstGeom>
          <a:solidFill>
            <a:srgbClr val="FFFFFF"/>
          </a:solidFill>
          <a:ln w="6350">
            <a:solidFill>
              <a:srgbClr val="D3DCE5"/>
            </a:solidFill>
            <a:prstDash val="solid"/>
          </a:ln>
        </p:spPr>
      </p:sp>
      <p:sp>
        <p:nvSpPr>
          <p:cNvPr id="48" name="Text 46"/>
          <p:cNvSpPr txBox="1"/>
          <p:nvPr/>
        </p:nvSpPr>
        <p:spPr>
          <a:xfrm>
            <a:off x="3675888" y="2276856"/>
            <a:ext cx="20208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Atlantic Lithium</a:t>
            </a:r>
            <a:endParaRPr lang="en-US" sz="840" dirty="0"/>
          </a:p>
        </p:txBody>
      </p:sp>
      <p:sp>
        <p:nvSpPr>
          <p:cNvPr id="49" name="Shape 47"/>
          <p:cNvSpPr/>
          <p:nvPr/>
        </p:nvSpPr>
        <p:spPr>
          <a:xfrm>
            <a:off x="5760720" y="2276856"/>
            <a:ext cx="1234440" cy="342900"/>
          </a:xfrm>
          <a:prstGeom prst="rect">
            <a:avLst/>
          </a:prstGeom>
          <a:solidFill>
            <a:srgbClr val="FFFFFF"/>
          </a:solidFill>
          <a:ln w="6350">
            <a:solidFill>
              <a:srgbClr val="D3DCE5"/>
            </a:solidFill>
            <a:prstDash val="solid"/>
          </a:ln>
        </p:spPr>
      </p:sp>
      <p:sp>
        <p:nvSpPr>
          <p:cNvPr id="50" name="Text 48"/>
          <p:cNvSpPr txBox="1"/>
          <p:nvPr/>
        </p:nvSpPr>
        <p:spPr>
          <a:xfrm>
            <a:off x="5824728" y="2276856"/>
            <a:ext cx="1106424" cy="342900"/>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US$210m</a:t>
            </a:r>
            <a:endParaRPr lang="en-US" sz="840" dirty="0"/>
          </a:p>
        </p:txBody>
      </p:sp>
      <p:sp>
        <p:nvSpPr>
          <p:cNvPr id="51" name="Shape 49"/>
          <p:cNvSpPr/>
          <p:nvPr/>
        </p:nvSpPr>
        <p:spPr>
          <a:xfrm>
            <a:off x="6995160" y="2276856"/>
            <a:ext cx="1463040" cy="342900"/>
          </a:xfrm>
          <a:prstGeom prst="rect">
            <a:avLst/>
          </a:prstGeom>
          <a:solidFill>
            <a:srgbClr val="FFFFFF"/>
          </a:solidFill>
          <a:ln w="6350">
            <a:solidFill>
              <a:srgbClr val="D3DCE5"/>
            </a:solidFill>
            <a:prstDash val="solid"/>
          </a:ln>
        </p:spPr>
      </p:sp>
      <p:sp>
        <p:nvSpPr>
          <p:cNvPr id="52" name="Text 50"/>
          <p:cNvSpPr txBox="1"/>
          <p:nvPr/>
        </p:nvSpPr>
        <p:spPr>
          <a:xfrm>
            <a:off x="7059168" y="2276856"/>
            <a:ext cx="13350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All cash</a:t>
            </a:r>
            <a:endParaRPr lang="en-US" sz="840" dirty="0"/>
          </a:p>
        </p:txBody>
      </p:sp>
      <p:sp>
        <p:nvSpPr>
          <p:cNvPr id="53" name="Shape 51"/>
          <p:cNvSpPr/>
          <p:nvPr/>
        </p:nvSpPr>
        <p:spPr>
          <a:xfrm>
            <a:off x="8458200" y="2276856"/>
            <a:ext cx="3328416" cy="342900"/>
          </a:xfrm>
          <a:prstGeom prst="rect">
            <a:avLst/>
          </a:prstGeom>
          <a:solidFill>
            <a:srgbClr val="FFFFFF"/>
          </a:solidFill>
          <a:ln w="6350">
            <a:solidFill>
              <a:srgbClr val="D3DCE5"/>
            </a:solidFill>
            <a:prstDash val="solid"/>
          </a:ln>
        </p:spPr>
      </p:sp>
      <p:sp>
        <p:nvSpPr>
          <p:cNvPr id="54" name="Text 52"/>
          <p:cNvSpPr txBox="1"/>
          <p:nvPr/>
        </p:nvSpPr>
        <p:spPr>
          <a:xfrm>
            <a:off x="8522208" y="2276856"/>
            <a:ext cx="3200400"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US$0.25486/share, a 26.6% premium. Explicitly a price-rebound deal.</a:t>
            </a:r>
            <a:endParaRPr lang="en-US" sz="840" dirty="0"/>
          </a:p>
        </p:txBody>
      </p:sp>
      <p:sp>
        <p:nvSpPr>
          <p:cNvPr id="55" name="Shape 53"/>
          <p:cNvSpPr/>
          <p:nvPr/>
        </p:nvSpPr>
        <p:spPr>
          <a:xfrm>
            <a:off x="411480" y="2619756"/>
            <a:ext cx="1234440" cy="342900"/>
          </a:xfrm>
          <a:prstGeom prst="rect">
            <a:avLst/>
          </a:prstGeom>
          <a:solidFill>
            <a:srgbClr val="F7F9FB"/>
          </a:solidFill>
          <a:ln w="6350">
            <a:solidFill>
              <a:srgbClr val="D3DCE5"/>
            </a:solidFill>
            <a:prstDash val="solid"/>
          </a:ln>
        </p:spPr>
      </p:sp>
      <p:sp>
        <p:nvSpPr>
          <p:cNvPr id="56" name="Text 54"/>
          <p:cNvSpPr txBox="1"/>
          <p:nvPr/>
        </p:nvSpPr>
        <p:spPr>
          <a:xfrm>
            <a:off x="475488" y="2619756"/>
            <a:ext cx="1106424" cy="34290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Aug 2025</a:t>
            </a:r>
            <a:endParaRPr lang="en-US" sz="840" dirty="0"/>
          </a:p>
        </p:txBody>
      </p:sp>
      <p:sp>
        <p:nvSpPr>
          <p:cNvPr id="57" name="Shape 55"/>
          <p:cNvSpPr/>
          <p:nvPr/>
        </p:nvSpPr>
        <p:spPr>
          <a:xfrm>
            <a:off x="1645920" y="2619756"/>
            <a:ext cx="1965960" cy="342900"/>
          </a:xfrm>
          <a:prstGeom prst="rect">
            <a:avLst/>
          </a:prstGeom>
          <a:solidFill>
            <a:srgbClr val="F7F9FB"/>
          </a:solidFill>
          <a:ln w="6350">
            <a:solidFill>
              <a:srgbClr val="D3DCE5"/>
            </a:solidFill>
            <a:prstDash val="solid"/>
          </a:ln>
        </p:spPr>
      </p:sp>
      <p:sp>
        <p:nvSpPr>
          <p:cNvPr id="58" name="Text 56"/>
          <p:cNvSpPr txBox="1"/>
          <p:nvPr/>
        </p:nvSpPr>
        <p:spPr>
          <a:xfrm>
            <a:off x="1709928" y="2619756"/>
            <a:ext cx="183794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Sayona Mining</a:t>
            </a:r>
            <a:endParaRPr lang="en-US" sz="840" dirty="0"/>
          </a:p>
        </p:txBody>
      </p:sp>
      <p:sp>
        <p:nvSpPr>
          <p:cNvPr id="59" name="Shape 57"/>
          <p:cNvSpPr/>
          <p:nvPr/>
        </p:nvSpPr>
        <p:spPr>
          <a:xfrm>
            <a:off x="3611880" y="2619756"/>
            <a:ext cx="2148840" cy="342900"/>
          </a:xfrm>
          <a:prstGeom prst="rect">
            <a:avLst/>
          </a:prstGeom>
          <a:solidFill>
            <a:srgbClr val="F7F9FB"/>
          </a:solidFill>
          <a:ln w="6350">
            <a:solidFill>
              <a:srgbClr val="D3DCE5"/>
            </a:solidFill>
            <a:prstDash val="solid"/>
          </a:ln>
        </p:spPr>
      </p:sp>
      <p:sp>
        <p:nvSpPr>
          <p:cNvPr id="60" name="Text 58"/>
          <p:cNvSpPr txBox="1"/>
          <p:nvPr/>
        </p:nvSpPr>
        <p:spPr>
          <a:xfrm>
            <a:off x="3675888" y="2619756"/>
            <a:ext cx="20208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Piedmont Lithium</a:t>
            </a:r>
            <a:endParaRPr lang="en-US" sz="840" dirty="0"/>
          </a:p>
        </p:txBody>
      </p:sp>
      <p:sp>
        <p:nvSpPr>
          <p:cNvPr id="61" name="Shape 59"/>
          <p:cNvSpPr/>
          <p:nvPr/>
        </p:nvSpPr>
        <p:spPr>
          <a:xfrm>
            <a:off x="5760720" y="2619756"/>
            <a:ext cx="1234440" cy="342900"/>
          </a:xfrm>
          <a:prstGeom prst="rect">
            <a:avLst/>
          </a:prstGeom>
          <a:solidFill>
            <a:srgbClr val="F7F9FB"/>
          </a:solidFill>
          <a:ln w="6350">
            <a:solidFill>
              <a:srgbClr val="D3DCE5"/>
            </a:solidFill>
            <a:prstDash val="solid"/>
          </a:ln>
        </p:spPr>
      </p:sp>
      <p:sp>
        <p:nvSpPr>
          <p:cNvPr id="62" name="Text 60"/>
          <p:cNvSpPr txBox="1"/>
          <p:nvPr/>
        </p:nvSpPr>
        <p:spPr>
          <a:xfrm>
            <a:off x="5824728" y="2619756"/>
            <a:ext cx="1106424" cy="342900"/>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n/d</a:t>
            </a:r>
            <a:endParaRPr lang="en-US" sz="840" dirty="0"/>
          </a:p>
        </p:txBody>
      </p:sp>
      <p:sp>
        <p:nvSpPr>
          <p:cNvPr id="63" name="Shape 61"/>
          <p:cNvSpPr/>
          <p:nvPr/>
        </p:nvSpPr>
        <p:spPr>
          <a:xfrm>
            <a:off x="6995160" y="2619756"/>
            <a:ext cx="1463040" cy="342900"/>
          </a:xfrm>
          <a:prstGeom prst="rect">
            <a:avLst/>
          </a:prstGeom>
          <a:solidFill>
            <a:srgbClr val="F7F9FB"/>
          </a:solidFill>
          <a:ln w="6350">
            <a:solidFill>
              <a:srgbClr val="D3DCE5"/>
            </a:solidFill>
            <a:prstDash val="solid"/>
          </a:ln>
        </p:spPr>
      </p:sp>
      <p:sp>
        <p:nvSpPr>
          <p:cNvPr id="64" name="Text 62"/>
          <p:cNvSpPr txBox="1"/>
          <p:nvPr/>
        </p:nvSpPr>
        <p:spPr>
          <a:xfrm>
            <a:off x="7059168" y="2619756"/>
            <a:ext cx="13350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Merger of equals</a:t>
            </a:r>
            <a:endParaRPr lang="en-US" sz="840" dirty="0"/>
          </a:p>
        </p:txBody>
      </p:sp>
      <p:sp>
        <p:nvSpPr>
          <p:cNvPr id="65" name="Shape 63"/>
          <p:cNvSpPr/>
          <p:nvPr/>
        </p:nvSpPr>
        <p:spPr>
          <a:xfrm>
            <a:off x="8458200" y="2619756"/>
            <a:ext cx="3328416" cy="342900"/>
          </a:xfrm>
          <a:prstGeom prst="rect">
            <a:avLst/>
          </a:prstGeom>
          <a:solidFill>
            <a:srgbClr val="F7F9FB"/>
          </a:solidFill>
          <a:ln w="6350">
            <a:solidFill>
              <a:srgbClr val="D3DCE5"/>
            </a:solidFill>
            <a:prstDash val="solid"/>
          </a:ln>
        </p:spPr>
      </p:sp>
      <p:sp>
        <p:nvSpPr>
          <p:cNvPr id="66" name="Text 64"/>
          <p:cNvSpPr txBox="1"/>
          <p:nvPr/>
        </p:nvSpPr>
        <p:spPr>
          <a:xfrm>
            <a:off x="8522208" y="2619756"/>
            <a:ext cx="3200400"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50/50 split creating Elevra Lithium; both sub-scale standalone.</a:t>
            </a:r>
            <a:endParaRPr lang="en-US" sz="840" dirty="0"/>
          </a:p>
        </p:txBody>
      </p:sp>
      <p:sp>
        <p:nvSpPr>
          <p:cNvPr id="67" name="Shape 65"/>
          <p:cNvSpPr/>
          <p:nvPr/>
        </p:nvSpPr>
        <p:spPr>
          <a:xfrm>
            <a:off x="411480" y="2962656"/>
            <a:ext cx="1234440" cy="342900"/>
          </a:xfrm>
          <a:prstGeom prst="rect">
            <a:avLst/>
          </a:prstGeom>
          <a:solidFill>
            <a:srgbClr val="FFFFFF"/>
          </a:solidFill>
          <a:ln w="6350">
            <a:solidFill>
              <a:srgbClr val="D3DCE5"/>
            </a:solidFill>
            <a:prstDash val="solid"/>
          </a:ln>
        </p:spPr>
      </p:sp>
      <p:sp>
        <p:nvSpPr>
          <p:cNvPr id="68" name="Text 66"/>
          <p:cNvSpPr txBox="1"/>
          <p:nvPr/>
        </p:nvSpPr>
        <p:spPr>
          <a:xfrm>
            <a:off x="475488" y="2962656"/>
            <a:ext cx="1106424" cy="34290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May 2024</a:t>
            </a:r>
            <a:endParaRPr lang="en-US" sz="840" dirty="0"/>
          </a:p>
        </p:txBody>
      </p:sp>
      <p:sp>
        <p:nvSpPr>
          <p:cNvPr id="69" name="Shape 67"/>
          <p:cNvSpPr/>
          <p:nvPr/>
        </p:nvSpPr>
        <p:spPr>
          <a:xfrm>
            <a:off x="1645920" y="2962656"/>
            <a:ext cx="1965960" cy="342900"/>
          </a:xfrm>
          <a:prstGeom prst="rect">
            <a:avLst/>
          </a:prstGeom>
          <a:solidFill>
            <a:srgbClr val="FFFFFF"/>
          </a:solidFill>
          <a:ln w="6350">
            <a:solidFill>
              <a:srgbClr val="D3DCE5"/>
            </a:solidFill>
            <a:prstDash val="solid"/>
          </a:ln>
        </p:spPr>
      </p:sp>
      <p:sp>
        <p:nvSpPr>
          <p:cNvPr id="70" name="Text 68"/>
          <p:cNvSpPr txBox="1"/>
          <p:nvPr/>
        </p:nvSpPr>
        <p:spPr>
          <a:xfrm>
            <a:off x="1709928" y="2962656"/>
            <a:ext cx="183794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SQM and Hancock</a:t>
            </a:r>
            <a:endParaRPr lang="en-US" sz="840" dirty="0"/>
          </a:p>
        </p:txBody>
      </p:sp>
      <p:sp>
        <p:nvSpPr>
          <p:cNvPr id="71" name="Shape 69"/>
          <p:cNvSpPr/>
          <p:nvPr/>
        </p:nvSpPr>
        <p:spPr>
          <a:xfrm>
            <a:off x="3611880" y="2962656"/>
            <a:ext cx="2148840" cy="342900"/>
          </a:xfrm>
          <a:prstGeom prst="rect">
            <a:avLst/>
          </a:prstGeom>
          <a:solidFill>
            <a:srgbClr val="FFFFFF"/>
          </a:solidFill>
          <a:ln w="6350">
            <a:solidFill>
              <a:srgbClr val="D3DCE5"/>
            </a:solidFill>
            <a:prstDash val="solid"/>
          </a:ln>
        </p:spPr>
      </p:sp>
      <p:sp>
        <p:nvSpPr>
          <p:cNvPr id="72" name="Text 70"/>
          <p:cNvSpPr txBox="1"/>
          <p:nvPr/>
        </p:nvSpPr>
        <p:spPr>
          <a:xfrm>
            <a:off x="3675888" y="2962656"/>
            <a:ext cx="20208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Azure Minerals</a:t>
            </a:r>
            <a:endParaRPr lang="en-US" sz="840" dirty="0"/>
          </a:p>
        </p:txBody>
      </p:sp>
      <p:sp>
        <p:nvSpPr>
          <p:cNvPr id="73" name="Shape 71"/>
          <p:cNvSpPr/>
          <p:nvPr/>
        </p:nvSpPr>
        <p:spPr>
          <a:xfrm>
            <a:off x="5760720" y="2962656"/>
            <a:ext cx="1234440" cy="342900"/>
          </a:xfrm>
          <a:prstGeom prst="rect">
            <a:avLst/>
          </a:prstGeom>
          <a:solidFill>
            <a:srgbClr val="FFFFFF"/>
          </a:solidFill>
          <a:ln w="6350">
            <a:solidFill>
              <a:srgbClr val="D3DCE5"/>
            </a:solidFill>
            <a:prstDash val="solid"/>
          </a:ln>
        </p:spPr>
      </p:sp>
      <p:sp>
        <p:nvSpPr>
          <p:cNvPr id="74" name="Text 72"/>
          <p:cNvSpPr txBox="1"/>
          <p:nvPr/>
        </p:nvSpPr>
        <p:spPr>
          <a:xfrm>
            <a:off x="5824728" y="2962656"/>
            <a:ext cx="1106424" cy="342900"/>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A$1.7bn</a:t>
            </a:r>
            <a:endParaRPr lang="en-US" sz="840" dirty="0"/>
          </a:p>
        </p:txBody>
      </p:sp>
      <p:sp>
        <p:nvSpPr>
          <p:cNvPr id="75" name="Shape 73"/>
          <p:cNvSpPr/>
          <p:nvPr/>
        </p:nvSpPr>
        <p:spPr>
          <a:xfrm>
            <a:off x="6995160" y="2962656"/>
            <a:ext cx="1463040" cy="342900"/>
          </a:xfrm>
          <a:prstGeom prst="rect">
            <a:avLst/>
          </a:prstGeom>
          <a:solidFill>
            <a:srgbClr val="FFFFFF"/>
          </a:solidFill>
          <a:ln w="6350">
            <a:solidFill>
              <a:srgbClr val="D3DCE5"/>
            </a:solidFill>
            <a:prstDash val="solid"/>
          </a:ln>
        </p:spPr>
      </p:sp>
      <p:sp>
        <p:nvSpPr>
          <p:cNvPr id="76" name="Text 74"/>
          <p:cNvSpPr txBox="1"/>
          <p:nvPr/>
        </p:nvSpPr>
        <p:spPr>
          <a:xfrm>
            <a:off x="7059168" y="2962656"/>
            <a:ext cx="13350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Scheme, cash</a:t>
            </a:r>
            <a:endParaRPr lang="en-US" sz="840" dirty="0"/>
          </a:p>
        </p:txBody>
      </p:sp>
      <p:sp>
        <p:nvSpPr>
          <p:cNvPr id="77" name="Shape 75"/>
          <p:cNvSpPr/>
          <p:nvPr/>
        </p:nvSpPr>
        <p:spPr>
          <a:xfrm>
            <a:off x="8458200" y="2962656"/>
            <a:ext cx="3328416" cy="342900"/>
          </a:xfrm>
          <a:prstGeom prst="rect">
            <a:avLst/>
          </a:prstGeom>
          <a:solidFill>
            <a:srgbClr val="FFFFFF"/>
          </a:solidFill>
          <a:ln w="6350">
            <a:solidFill>
              <a:srgbClr val="D3DCE5"/>
            </a:solidFill>
            <a:prstDash val="solid"/>
          </a:ln>
        </p:spPr>
      </p:sp>
      <p:sp>
        <p:nvSpPr>
          <p:cNvPr id="78" name="Text 76"/>
          <p:cNvSpPr txBox="1"/>
          <p:nvPr/>
        </p:nvSpPr>
        <p:spPr>
          <a:xfrm>
            <a:off x="8522208" y="2962656"/>
            <a:ext cx="3200400"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A$3.70/share. SQM's first Australian hard-rock foothold.</a:t>
            </a:r>
            <a:endParaRPr lang="en-US" sz="840" dirty="0"/>
          </a:p>
        </p:txBody>
      </p:sp>
      <p:sp>
        <p:nvSpPr>
          <p:cNvPr id="79" name="Shape 77"/>
          <p:cNvSpPr/>
          <p:nvPr/>
        </p:nvSpPr>
        <p:spPr>
          <a:xfrm>
            <a:off x="411480" y="3305556"/>
            <a:ext cx="1234440" cy="342900"/>
          </a:xfrm>
          <a:prstGeom prst="rect">
            <a:avLst/>
          </a:prstGeom>
          <a:solidFill>
            <a:srgbClr val="F7F9FB"/>
          </a:solidFill>
          <a:ln w="6350">
            <a:solidFill>
              <a:srgbClr val="D3DCE5"/>
            </a:solidFill>
            <a:prstDash val="solid"/>
          </a:ln>
        </p:spPr>
      </p:sp>
      <p:sp>
        <p:nvSpPr>
          <p:cNvPr id="80" name="Text 78"/>
          <p:cNvSpPr txBox="1"/>
          <p:nvPr/>
        </p:nvSpPr>
        <p:spPr>
          <a:xfrm>
            <a:off x="475488" y="3305556"/>
            <a:ext cx="1106424" cy="34290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Lapsed 2023</a:t>
            </a:r>
            <a:endParaRPr lang="en-US" sz="840" dirty="0"/>
          </a:p>
        </p:txBody>
      </p:sp>
      <p:sp>
        <p:nvSpPr>
          <p:cNvPr id="81" name="Shape 79"/>
          <p:cNvSpPr/>
          <p:nvPr/>
        </p:nvSpPr>
        <p:spPr>
          <a:xfrm>
            <a:off x="1645920" y="3305556"/>
            <a:ext cx="1965960" cy="342900"/>
          </a:xfrm>
          <a:prstGeom prst="rect">
            <a:avLst/>
          </a:prstGeom>
          <a:solidFill>
            <a:srgbClr val="F7F9FB"/>
          </a:solidFill>
          <a:ln w="6350">
            <a:solidFill>
              <a:srgbClr val="D3DCE5"/>
            </a:solidFill>
            <a:prstDash val="solid"/>
          </a:ln>
        </p:spPr>
      </p:sp>
      <p:sp>
        <p:nvSpPr>
          <p:cNvPr id="82" name="Text 80"/>
          <p:cNvSpPr txBox="1"/>
          <p:nvPr/>
        </p:nvSpPr>
        <p:spPr>
          <a:xfrm>
            <a:off x="1709928" y="3305556"/>
            <a:ext cx="183794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Albemarle</a:t>
            </a:r>
            <a:endParaRPr lang="en-US" sz="840" dirty="0"/>
          </a:p>
        </p:txBody>
      </p:sp>
      <p:sp>
        <p:nvSpPr>
          <p:cNvPr id="83" name="Shape 81"/>
          <p:cNvSpPr/>
          <p:nvPr/>
        </p:nvSpPr>
        <p:spPr>
          <a:xfrm>
            <a:off x="3611880" y="3305556"/>
            <a:ext cx="2148840" cy="342900"/>
          </a:xfrm>
          <a:prstGeom prst="rect">
            <a:avLst/>
          </a:prstGeom>
          <a:solidFill>
            <a:srgbClr val="F7F9FB"/>
          </a:solidFill>
          <a:ln w="6350">
            <a:solidFill>
              <a:srgbClr val="D3DCE5"/>
            </a:solidFill>
            <a:prstDash val="solid"/>
          </a:ln>
        </p:spPr>
      </p:sp>
      <p:sp>
        <p:nvSpPr>
          <p:cNvPr id="84" name="Text 82"/>
          <p:cNvSpPr txBox="1"/>
          <p:nvPr/>
        </p:nvSpPr>
        <p:spPr>
          <a:xfrm>
            <a:off x="3675888" y="3305556"/>
            <a:ext cx="20208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Liontown Resources</a:t>
            </a:r>
            <a:endParaRPr lang="en-US" sz="840" dirty="0"/>
          </a:p>
        </p:txBody>
      </p:sp>
      <p:sp>
        <p:nvSpPr>
          <p:cNvPr id="85" name="Shape 83"/>
          <p:cNvSpPr/>
          <p:nvPr/>
        </p:nvSpPr>
        <p:spPr>
          <a:xfrm>
            <a:off x="5760720" y="3305556"/>
            <a:ext cx="1234440" cy="342900"/>
          </a:xfrm>
          <a:prstGeom prst="rect">
            <a:avLst/>
          </a:prstGeom>
          <a:solidFill>
            <a:srgbClr val="F7F9FB"/>
          </a:solidFill>
          <a:ln w="6350">
            <a:solidFill>
              <a:srgbClr val="D3DCE5"/>
            </a:solidFill>
            <a:prstDash val="solid"/>
          </a:ln>
        </p:spPr>
      </p:sp>
      <p:sp>
        <p:nvSpPr>
          <p:cNvPr id="86" name="Text 84"/>
          <p:cNvSpPr txBox="1"/>
          <p:nvPr/>
        </p:nvSpPr>
        <p:spPr>
          <a:xfrm>
            <a:off x="5824728" y="3305556"/>
            <a:ext cx="1106424" cy="342900"/>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A$6.6bn</a:t>
            </a:r>
            <a:endParaRPr lang="en-US" sz="840" dirty="0"/>
          </a:p>
        </p:txBody>
      </p:sp>
      <p:sp>
        <p:nvSpPr>
          <p:cNvPr id="87" name="Shape 85"/>
          <p:cNvSpPr/>
          <p:nvPr/>
        </p:nvSpPr>
        <p:spPr>
          <a:xfrm>
            <a:off x="6995160" y="3305556"/>
            <a:ext cx="1463040" cy="342900"/>
          </a:xfrm>
          <a:prstGeom prst="rect">
            <a:avLst/>
          </a:prstGeom>
          <a:solidFill>
            <a:srgbClr val="F7F9FB"/>
          </a:solidFill>
          <a:ln w="6350">
            <a:solidFill>
              <a:srgbClr val="D3DCE5"/>
            </a:solidFill>
            <a:prstDash val="solid"/>
          </a:ln>
        </p:spPr>
      </p:sp>
      <p:sp>
        <p:nvSpPr>
          <p:cNvPr id="88" name="Text 86"/>
          <p:cNvSpPr txBox="1"/>
          <p:nvPr/>
        </p:nvSpPr>
        <p:spPr>
          <a:xfrm>
            <a:off x="7059168" y="3305556"/>
            <a:ext cx="13350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Cash, withdrawn</a:t>
            </a:r>
            <a:endParaRPr lang="en-US" sz="840" dirty="0"/>
          </a:p>
        </p:txBody>
      </p:sp>
      <p:sp>
        <p:nvSpPr>
          <p:cNvPr id="89" name="Shape 87"/>
          <p:cNvSpPr/>
          <p:nvPr/>
        </p:nvSpPr>
        <p:spPr>
          <a:xfrm>
            <a:off x="8458200" y="3305556"/>
            <a:ext cx="3328416" cy="342900"/>
          </a:xfrm>
          <a:prstGeom prst="rect">
            <a:avLst/>
          </a:prstGeom>
          <a:solidFill>
            <a:srgbClr val="F7F9FB"/>
          </a:solidFill>
          <a:ln w="6350">
            <a:solidFill>
              <a:srgbClr val="D3DCE5"/>
            </a:solidFill>
            <a:prstDash val="solid"/>
          </a:ln>
        </p:spPr>
      </p:sp>
      <p:sp>
        <p:nvSpPr>
          <p:cNvPr id="90" name="Text 88"/>
          <p:cNvSpPr txBox="1"/>
          <p:nvPr/>
        </p:nvSpPr>
        <p:spPr>
          <a:xfrm>
            <a:off x="8522208" y="3305556"/>
            <a:ext cx="3200400"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A$3.00/share, nearly double the pre-bid price. Blocked by a 19.9% Hancock stake.</a:t>
            </a:r>
            <a:endParaRPr lang="en-US" sz="840" dirty="0"/>
          </a:p>
        </p:txBody>
      </p:sp>
      <p:sp>
        <p:nvSpPr>
          <p:cNvPr id="91" name="Shape 89"/>
          <p:cNvSpPr/>
          <p:nvPr/>
        </p:nvSpPr>
        <p:spPr>
          <a:xfrm>
            <a:off x="411480" y="3648456"/>
            <a:ext cx="1234440" cy="342900"/>
          </a:xfrm>
          <a:prstGeom prst="rect">
            <a:avLst/>
          </a:prstGeom>
          <a:solidFill>
            <a:srgbClr val="FFFFFF"/>
          </a:solidFill>
          <a:ln w="6350">
            <a:solidFill>
              <a:srgbClr val="D3DCE5"/>
            </a:solidFill>
            <a:prstDash val="solid"/>
          </a:ln>
        </p:spPr>
      </p:sp>
      <p:sp>
        <p:nvSpPr>
          <p:cNvPr id="92" name="Text 90"/>
          <p:cNvSpPr txBox="1"/>
          <p:nvPr/>
        </p:nvSpPr>
        <p:spPr>
          <a:xfrm>
            <a:off x="475488" y="3648456"/>
            <a:ext cx="1106424" cy="34290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Jan 2024</a:t>
            </a:r>
            <a:endParaRPr lang="en-US" sz="840" dirty="0"/>
          </a:p>
        </p:txBody>
      </p:sp>
      <p:sp>
        <p:nvSpPr>
          <p:cNvPr id="93" name="Shape 91"/>
          <p:cNvSpPr/>
          <p:nvPr/>
        </p:nvSpPr>
        <p:spPr>
          <a:xfrm>
            <a:off x="1645920" y="3648456"/>
            <a:ext cx="1965960" cy="342900"/>
          </a:xfrm>
          <a:prstGeom prst="rect">
            <a:avLst/>
          </a:prstGeom>
          <a:solidFill>
            <a:srgbClr val="FFFFFF"/>
          </a:solidFill>
          <a:ln w="6350">
            <a:solidFill>
              <a:srgbClr val="D3DCE5"/>
            </a:solidFill>
            <a:prstDash val="solid"/>
          </a:ln>
        </p:spPr>
      </p:sp>
      <p:sp>
        <p:nvSpPr>
          <p:cNvPr id="94" name="Text 92"/>
          <p:cNvSpPr txBox="1"/>
          <p:nvPr/>
        </p:nvSpPr>
        <p:spPr>
          <a:xfrm>
            <a:off x="1709928" y="3648456"/>
            <a:ext cx="183794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Livent</a:t>
            </a:r>
            <a:endParaRPr lang="en-US" sz="840" dirty="0"/>
          </a:p>
        </p:txBody>
      </p:sp>
      <p:sp>
        <p:nvSpPr>
          <p:cNvPr id="95" name="Shape 93"/>
          <p:cNvSpPr/>
          <p:nvPr/>
        </p:nvSpPr>
        <p:spPr>
          <a:xfrm>
            <a:off x="3611880" y="3648456"/>
            <a:ext cx="2148840" cy="342900"/>
          </a:xfrm>
          <a:prstGeom prst="rect">
            <a:avLst/>
          </a:prstGeom>
          <a:solidFill>
            <a:srgbClr val="FFFFFF"/>
          </a:solidFill>
          <a:ln w="6350">
            <a:solidFill>
              <a:srgbClr val="D3DCE5"/>
            </a:solidFill>
            <a:prstDash val="solid"/>
          </a:ln>
        </p:spPr>
      </p:sp>
      <p:sp>
        <p:nvSpPr>
          <p:cNvPr id="96" name="Text 94"/>
          <p:cNvSpPr txBox="1"/>
          <p:nvPr/>
        </p:nvSpPr>
        <p:spPr>
          <a:xfrm>
            <a:off x="3675888" y="3648456"/>
            <a:ext cx="20208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Allkem</a:t>
            </a:r>
            <a:endParaRPr lang="en-US" sz="840" dirty="0"/>
          </a:p>
        </p:txBody>
      </p:sp>
      <p:sp>
        <p:nvSpPr>
          <p:cNvPr id="97" name="Shape 95"/>
          <p:cNvSpPr/>
          <p:nvPr/>
        </p:nvSpPr>
        <p:spPr>
          <a:xfrm>
            <a:off x="5760720" y="3648456"/>
            <a:ext cx="1234440" cy="342900"/>
          </a:xfrm>
          <a:prstGeom prst="rect">
            <a:avLst/>
          </a:prstGeom>
          <a:solidFill>
            <a:srgbClr val="FFFFFF"/>
          </a:solidFill>
          <a:ln w="6350">
            <a:solidFill>
              <a:srgbClr val="D3DCE5"/>
            </a:solidFill>
            <a:prstDash val="solid"/>
          </a:ln>
        </p:spPr>
      </p:sp>
      <p:sp>
        <p:nvSpPr>
          <p:cNvPr id="98" name="Text 96"/>
          <p:cNvSpPr txBox="1"/>
          <p:nvPr/>
        </p:nvSpPr>
        <p:spPr>
          <a:xfrm>
            <a:off x="5824728" y="3648456"/>
            <a:ext cx="1106424" cy="342900"/>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US$10.6bn</a:t>
            </a:r>
            <a:endParaRPr lang="en-US" sz="840" dirty="0"/>
          </a:p>
        </p:txBody>
      </p:sp>
      <p:sp>
        <p:nvSpPr>
          <p:cNvPr id="99" name="Shape 97"/>
          <p:cNvSpPr/>
          <p:nvPr/>
        </p:nvSpPr>
        <p:spPr>
          <a:xfrm>
            <a:off x="6995160" y="3648456"/>
            <a:ext cx="1463040" cy="342900"/>
          </a:xfrm>
          <a:prstGeom prst="rect">
            <a:avLst/>
          </a:prstGeom>
          <a:solidFill>
            <a:srgbClr val="FFFFFF"/>
          </a:solidFill>
          <a:ln w="6350">
            <a:solidFill>
              <a:srgbClr val="D3DCE5"/>
            </a:solidFill>
            <a:prstDash val="solid"/>
          </a:ln>
        </p:spPr>
      </p:sp>
      <p:sp>
        <p:nvSpPr>
          <p:cNvPr id="100" name="Text 98"/>
          <p:cNvSpPr txBox="1"/>
          <p:nvPr/>
        </p:nvSpPr>
        <p:spPr>
          <a:xfrm>
            <a:off x="7059168" y="3648456"/>
            <a:ext cx="13350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Merger of equals</a:t>
            </a:r>
            <a:endParaRPr lang="en-US" sz="840" dirty="0"/>
          </a:p>
        </p:txBody>
      </p:sp>
      <p:sp>
        <p:nvSpPr>
          <p:cNvPr id="101" name="Shape 99"/>
          <p:cNvSpPr/>
          <p:nvPr/>
        </p:nvSpPr>
        <p:spPr>
          <a:xfrm>
            <a:off x="8458200" y="3648456"/>
            <a:ext cx="3328416" cy="342900"/>
          </a:xfrm>
          <a:prstGeom prst="rect">
            <a:avLst/>
          </a:prstGeom>
          <a:solidFill>
            <a:srgbClr val="FFFFFF"/>
          </a:solidFill>
          <a:ln w="6350">
            <a:solidFill>
              <a:srgbClr val="D3DCE5"/>
            </a:solidFill>
            <a:prstDash val="solid"/>
          </a:ln>
        </p:spPr>
      </p:sp>
      <p:sp>
        <p:nvSpPr>
          <p:cNvPr id="102" name="Text 100"/>
          <p:cNvSpPr txBox="1"/>
          <p:nvPr/>
        </p:nvSpPr>
        <p:spPr>
          <a:xfrm>
            <a:off x="8522208" y="3648456"/>
            <a:ext cx="3200400"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Created Arcadium, which Rio acquired 14 months later.</a:t>
            </a:r>
            <a:endParaRPr lang="en-US" sz="840" dirty="0"/>
          </a:p>
        </p:txBody>
      </p:sp>
      <p:sp>
        <p:nvSpPr>
          <p:cNvPr id="103" name="Shape 101"/>
          <p:cNvSpPr/>
          <p:nvPr/>
        </p:nvSpPr>
        <p:spPr>
          <a:xfrm>
            <a:off x="411480" y="3991356"/>
            <a:ext cx="1234440" cy="342900"/>
          </a:xfrm>
          <a:prstGeom prst="rect">
            <a:avLst/>
          </a:prstGeom>
          <a:solidFill>
            <a:srgbClr val="F7F9FB"/>
          </a:solidFill>
          <a:ln w="6350">
            <a:solidFill>
              <a:srgbClr val="D3DCE5"/>
            </a:solidFill>
            <a:prstDash val="solid"/>
          </a:ln>
        </p:spPr>
      </p:sp>
      <p:sp>
        <p:nvSpPr>
          <p:cNvPr id="104" name="Text 102"/>
          <p:cNvSpPr txBox="1"/>
          <p:nvPr/>
        </p:nvSpPr>
        <p:spPr>
          <a:xfrm>
            <a:off x="475488" y="3991356"/>
            <a:ext cx="1106424" cy="342900"/>
          </a:xfrm>
          <a:prstGeom prst="rect">
            <a:avLst/>
          </a:prstGeom>
          <a:noFill/>
          <a:ln/>
        </p:spPr>
        <p:txBody>
          <a:bodyPr wrap="square" lIns="0" tIns="0" rIns="0" bIns="0" rtlCol="0" anchor="ctr"/>
          <a:lstStyle/>
          <a:p>
            <a:pPr algn="l" indent="0" marL="0">
              <a:buNone/>
            </a:pPr>
            <a:r>
              <a:rPr lang="en-US" sz="840" b="1" dirty="0">
                <a:solidFill>
                  <a:srgbClr val="1B2733"/>
                </a:solidFill>
                <a:latin typeface="Calibri" pitchFamily="34" charset="0"/>
                <a:ea typeface="Calibri" pitchFamily="34" charset="-122"/>
                <a:cs typeface="Calibri" pitchFamily="34" charset="-120"/>
              </a:rPr>
              <a:t>Oct 2025</a:t>
            </a:r>
            <a:endParaRPr lang="en-US" sz="840" dirty="0"/>
          </a:p>
        </p:txBody>
      </p:sp>
      <p:sp>
        <p:nvSpPr>
          <p:cNvPr id="105" name="Shape 103"/>
          <p:cNvSpPr/>
          <p:nvPr/>
        </p:nvSpPr>
        <p:spPr>
          <a:xfrm>
            <a:off x="1645920" y="3991356"/>
            <a:ext cx="1965960" cy="342900"/>
          </a:xfrm>
          <a:prstGeom prst="rect">
            <a:avLst/>
          </a:prstGeom>
          <a:solidFill>
            <a:srgbClr val="F7F9FB"/>
          </a:solidFill>
          <a:ln w="6350">
            <a:solidFill>
              <a:srgbClr val="D3DCE5"/>
            </a:solidFill>
            <a:prstDash val="solid"/>
          </a:ln>
        </p:spPr>
      </p:sp>
      <p:sp>
        <p:nvSpPr>
          <p:cNvPr id="106" name="Text 104"/>
          <p:cNvSpPr txBox="1"/>
          <p:nvPr/>
        </p:nvSpPr>
        <p:spPr>
          <a:xfrm>
            <a:off x="1709928" y="3991356"/>
            <a:ext cx="183794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Ganfeng Lithium</a:t>
            </a:r>
            <a:endParaRPr lang="en-US" sz="840" dirty="0"/>
          </a:p>
        </p:txBody>
      </p:sp>
      <p:sp>
        <p:nvSpPr>
          <p:cNvPr id="107" name="Shape 105"/>
          <p:cNvSpPr/>
          <p:nvPr/>
        </p:nvSpPr>
        <p:spPr>
          <a:xfrm>
            <a:off x="3611880" y="3991356"/>
            <a:ext cx="2148840" cy="342900"/>
          </a:xfrm>
          <a:prstGeom prst="rect">
            <a:avLst/>
          </a:prstGeom>
          <a:solidFill>
            <a:srgbClr val="F7F9FB"/>
          </a:solidFill>
          <a:ln w="6350">
            <a:solidFill>
              <a:srgbClr val="D3DCE5"/>
            </a:solidFill>
            <a:prstDash val="solid"/>
          </a:ln>
        </p:spPr>
      </p:sp>
      <p:sp>
        <p:nvSpPr>
          <p:cNvPr id="108" name="Text 106"/>
          <p:cNvSpPr txBox="1"/>
          <p:nvPr/>
        </p:nvSpPr>
        <p:spPr>
          <a:xfrm>
            <a:off x="3675888" y="3991356"/>
            <a:ext cx="20208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Leo Lithium (Goulamina 40%)</a:t>
            </a:r>
            <a:endParaRPr lang="en-US" sz="840" dirty="0"/>
          </a:p>
        </p:txBody>
      </p:sp>
      <p:sp>
        <p:nvSpPr>
          <p:cNvPr id="109" name="Shape 107"/>
          <p:cNvSpPr/>
          <p:nvPr/>
        </p:nvSpPr>
        <p:spPr>
          <a:xfrm>
            <a:off x="5760720" y="3991356"/>
            <a:ext cx="1234440" cy="342900"/>
          </a:xfrm>
          <a:prstGeom prst="rect">
            <a:avLst/>
          </a:prstGeom>
          <a:solidFill>
            <a:srgbClr val="F7F9FB"/>
          </a:solidFill>
          <a:ln w="6350">
            <a:solidFill>
              <a:srgbClr val="D3DCE5"/>
            </a:solidFill>
            <a:prstDash val="solid"/>
          </a:ln>
        </p:spPr>
      </p:sp>
      <p:sp>
        <p:nvSpPr>
          <p:cNvPr id="110" name="Text 108"/>
          <p:cNvSpPr txBox="1"/>
          <p:nvPr/>
        </p:nvSpPr>
        <p:spPr>
          <a:xfrm>
            <a:off x="5824728" y="3991356"/>
            <a:ext cx="1106424" cy="342900"/>
          </a:xfrm>
          <a:prstGeom prst="rect">
            <a:avLst/>
          </a:prstGeom>
          <a:noFill/>
          <a:ln/>
        </p:spPr>
        <p:txBody>
          <a:bodyPr wrap="square" lIns="0" tIns="0" rIns="0" bIns="0" rtlCol="0" anchor="ctr"/>
          <a:lstStyle/>
          <a:p>
            <a:pPr algn="ctr" indent="0" marL="0">
              <a:buNone/>
            </a:pPr>
            <a:r>
              <a:rPr lang="en-US" sz="840" dirty="0">
                <a:solidFill>
                  <a:srgbClr val="1B2733"/>
                </a:solidFill>
                <a:latin typeface="Calibri" pitchFamily="34" charset="0"/>
                <a:ea typeface="Calibri" pitchFamily="34" charset="-122"/>
                <a:cs typeface="Calibri" pitchFamily="34" charset="-120"/>
              </a:rPr>
              <a:t>US$343m</a:t>
            </a:r>
            <a:endParaRPr lang="en-US" sz="840" dirty="0"/>
          </a:p>
        </p:txBody>
      </p:sp>
      <p:sp>
        <p:nvSpPr>
          <p:cNvPr id="111" name="Shape 109"/>
          <p:cNvSpPr/>
          <p:nvPr/>
        </p:nvSpPr>
        <p:spPr>
          <a:xfrm>
            <a:off x="6995160" y="3991356"/>
            <a:ext cx="1463040" cy="342900"/>
          </a:xfrm>
          <a:prstGeom prst="rect">
            <a:avLst/>
          </a:prstGeom>
          <a:solidFill>
            <a:srgbClr val="F7F9FB"/>
          </a:solidFill>
          <a:ln w="6350">
            <a:solidFill>
              <a:srgbClr val="D3DCE5"/>
            </a:solidFill>
            <a:prstDash val="solid"/>
          </a:ln>
        </p:spPr>
      </p:sp>
      <p:sp>
        <p:nvSpPr>
          <p:cNvPr id="112" name="Text 110"/>
          <p:cNvSpPr txBox="1"/>
          <p:nvPr/>
        </p:nvSpPr>
        <p:spPr>
          <a:xfrm>
            <a:off x="7059168" y="3991356"/>
            <a:ext cx="1335024"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Staged cash</a:t>
            </a:r>
            <a:endParaRPr lang="en-US" sz="840" dirty="0"/>
          </a:p>
        </p:txBody>
      </p:sp>
      <p:sp>
        <p:nvSpPr>
          <p:cNvPr id="113" name="Shape 111"/>
          <p:cNvSpPr/>
          <p:nvPr/>
        </p:nvSpPr>
        <p:spPr>
          <a:xfrm>
            <a:off x="8458200" y="3991356"/>
            <a:ext cx="3328416" cy="342900"/>
          </a:xfrm>
          <a:prstGeom prst="rect">
            <a:avLst/>
          </a:prstGeom>
          <a:solidFill>
            <a:srgbClr val="F7F9FB"/>
          </a:solidFill>
          <a:ln w="6350">
            <a:solidFill>
              <a:srgbClr val="D3DCE5"/>
            </a:solidFill>
            <a:prstDash val="solid"/>
          </a:ln>
        </p:spPr>
      </p:sp>
      <p:sp>
        <p:nvSpPr>
          <p:cNvPr id="114" name="Text 112"/>
          <p:cNvSpPr txBox="1"/>
          <p:nvPr/>
        </p:nvSpPr>
        <p:spPr>
          <a:xfrm>
            <a:off x="8522208" y="3991356"/>
            <a:ext cx="3200400" cy="342900"/>
          </a:xfrm>
          <a:prstGeom prst="rect">
            <a:avLst/>
          </a:prstGeom>
          <a:noFill/>
          <a:ln/>
        </p:spPr>
        <p:txBody>
          <a:bodyPr wrap="square" lIns="0" tIns="0" rIns="0" bIns="0" rtlCol="0" anchor="ctr"/>
          <a:lstStyle/>
          <a:p>
            <a:pPr algn="l" indent="0" marL="0">
              <a:buNone/>
            </a:pPr>
            <a:r>
              <a:rPr lang="en-US" sz="840" dirty="0">
                <a:solidFill>
                  <a:srgbClr val="1B2733"/>
                </a:solidFill>
                <a:latin typeface="Calibri" pitchFamily="34" charset="0"/>
                <a:ea typeface="Calibri" pitchFamily="34" charset="-122"/>
                <a:cs typeface="Calibri" pitchFamily="34" charset="-120"/>
              </a:rPr>
              <a:t>Plus a 1.5% gross revenue royalty for 20 years.</a:t>
            </a:r>
            <a:endParaRPr lang="en-US" sz="840" dirty="0"/>
          </a:p>
        </p:txBody>
      </p:sp>
      <p:sp>
        <p:nvSpPr>
          <p:cNvPr id="115" name="Shape 113"/>
          <p:cNvSpPr/>
          <p:nvPr/>
        </p:nvSpPr>
        <p:spPr>
          <a:xfrm>
            <a:off x="411480" y="4462272"/>
            <a:ext cx="5577840" cy="1572768"/>
          </a:xfrm>
          <a:prstGeom prst="rect">
            <a:avLst/>
          </a:prstGeom>
          <a:solidFill>
            <a:srgbClr val="FBEBD9"/>
          </a:solidFill>
          <a:ln w="9525">
            <a:solidFill>
              <a:srgbClr val="E8C9A3"/>
            </a:solidFill>
            <a:prstDash val="solid"/>
          </a:ln>
        </p:spPr>
      </p:sp>
      <p:sp>
        <p:nvSpPr>
          <p:cNvPr id="116" name="Text 114"/>
          <p:cNvSpPr txBox="1"/>
          <p:nvPr/>
        </p:nvSpPr>
        <p:spPr>
          <a:xfrm>
            <a:off x="576072" y="4590288"/>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Why we gave this method zero weight</a:t>
            </a:r>
            <a:endParaRPr lang="en-US" sz="1150" dirty="0"/>
          </a:p>
        </p:txBody>
      </p:sp>
      <p:sp>
        <p:nvSpPr>
          <p:cNvPr id="117" name="Text 115"/>
          <p:cNvSpPr txBox="1"/>
          <p:nvPr/>
        </p:nvSpPr>
        <p:spPr>
          <a:xfrm>
            <a:off x="576072" y="4919472"/>
            <a:ext cx="5248656" cy="1024128"/>
          </a:xfrm>
          <a:prstGeom prst="rect">
            <a:avLst/>
          </a:prstGeom>
          <a:noFill/>
          <a:ln/>
        </p:spPr>
        <p:txBody>
          <a:bodyPr wrap="square" lIns="0" tIns="0" rIns="0" bIns="0" rtlCol="0" anchor="t"/>
          <a:lstStyle/>
          <a:p>
            <a:pPr indent="0" marL="0">
              <a:lnSpc>
                <a:spcPct val="105000"/>
              </a:lnSpc>
              <a:buNone/>
            </a:pPr>
            <a:r>
              <a:rPr lang="en-US" sz="800" dirty="0">
                <a:solidFill>
                  <a:srgbClr val="1B2733"/>
                </a:solidFill>
                <a:latin typeface="Calibri" pitchFamily="34" charset="0"/>
                <a:ea typeface="Calibri" pitchFamily="34" charset="-122"/>
                <a:cs typeface="Calibri" pitchFamily="34" charset="-120"/>
              </a:rPr>
              <a:t>Two reasons, either of which would have made a stated multiple spurious. First, no broker-published EV/EBITDA or EV/resource multiple for these deals was retrievable, and the targets' resource statements are on inconsistent bases - JORC against exploration target, ore tonnes against lithium carbonate equivalent - so any multiple we built would be meaningless.</a:t>
            </a:r>
            <a:endParaRPr lang="en-US" sz="800" dirty="0"/>
          </a:p>
          <a:p>
            <a:pPr indent="0" marL="0">
              <a:lnSpc>
                <a:spcPct val="105000"/>
              </a:lnSpc>
              <a:buNone/>
            </a:pPr>
            <a:endParaRPr lang="en-US" sz="800" dirty="0"/>
          </a:p>
          <a:p>
            <a:pPr indent="0" marL="0">
              <a:lnSpc>
                <a:spcPct val="105000"/>
              </a:lnSpc>
              <a:buNone/>
            </a:pPr>
            <a:r>
              <a:rPr lang="en-US" sz="800" dirty="0">
                <a:solidFill>
                  <a:srgbClr val="1B2733"/>
                </a:solidFill>
                <a:latin typeface="Calibri" pitchFamily="34" charset="0"/>
                <a:ea typeface="Calibri" pitchFamily="34" charset="-122"/>
                <a:cs typeface="Calibri" pitchFamily="34" charset="-120"/>
              </a:rPr>
              <a:t>Second, applying a control premium to our own discounted cash flow and calling the result an independent method is circular. It would inflate the football field using our own assumptions twice.</a:t>
            </a:r>
            <a:endParaRPr lang="en-US" sz="800" dirty="0"/>
          </a:p>
        </p:txBody>
      </p:sp>
      <p:sp>
        <p:nvSpPr>
          <p:cNvPr id="118" name="Shape 116"/>
          <p:cNvSpPr/>
          <p:nvPr/>
        </p:nvSpPr>
        <p:spPr>
          <a:xfrm>
            <a:off x="6208776" y="4462272"/>
            <a:ext cx="5577840" cy="1572768"/>
          </a:xfrm>
          <a:prstGeom prst="rect">
            <a:avLst/>
          </a:prstGeom>
          <a:solidFill>
            <a:srgbClr val="EEF2F6"/>
          </a:solidFill>
          <a:ln w="9525">
            <a:solidFill>
              <a:srgbClr val="D3DCE5"/>
            </a:solidFill>
            <a:prstDash val="solid"/>
          </a:ln>
        </p:spPr>
      </p:sp>
      <p:sp>
        <p:nvSpPr>
          <p:cNvPr id="119" name="Text 117"/>
          <p:cNvSpPr txBox="1"/>
          <p:nvPr/>
        </p:nvSpPr>
        <p:spPr>
          <a:xfrm>
            <a:off x="6373368" y="4590288"/>
            <a:ext cx="524865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What the deals do tell us</a:t>
            </a:r>
            <a:endParaRPr lang="en-US" sz="1150" dirty="0"/>
          </a:p>
        </p:txBody>
      </p:sp>
      <p:sp>
        <p:nvSpPr>
          <p:cNvPr id="120" name="Text 118"/>
          <p:cNvSpPr txBox="1"/>
          <p:nvPr/>
        </p:nvSpPr>
        <p:spPr>
          <a:xfrm>
            <a:off x="6373368" y="4919472"/>
            <a:ext cx="5248656" cy="1024128"/>
          </a:xfrm>
          <a:prstGeom prst="rect">
            <a:avLst/>
          </a:prstGeom>
          <a:noFill/>
          <a:ln/>
        </p:spPr>
        <p:txBody>
          <a:bodyPr wrap="square" lIns="0" tIns="0" rIns="0" bIns="0" rtlCol="0" anchor="t"/>
          <a:lstStyle/>
          <a:p>
            <a:pPr indent="0" marL="0">
              <a:lnSpc>
                <a:spcPct val="105000"/>
              </a:lnSpc>
              <a:buNone/>
            </a:pPr>
            <a:r>
              <a:rPr lang="en-US" sz="850" dirty="0">
                <a:solidFill>
                  <a:srgbClr val="1B2733"/>
                </a:solidFill>
                <a:latin typeface="Calibri" pitchFamily="34" charset="0"/>
                <a:ea typeface="Calibri" pitchFamily="34" charset="-122"/>
                <a:cs typeface="Calibri" pitchFamily="34" charset="-120"/>
              </a:rPr>
              <a:t>Lithium dealmaking fell about 89% in 2025 across just four transactions, then accelerated in early 2026 on recovering prices and concern about future deficits. The Huayou acquisition of Atlantic Lithium in May 2026 was reported explicitly as price-rebound driven.</a:t>
            </a:r>
            <a:endParaRPr lang="en-US" sz="850" dirty="0"/>
          </a:p>
          <a:p>
            <a:pPr indent="0" marL="0">
              <a:lnSpc>
                <a:spcPct val="105000"/>
              </a:lnSpc>
              <a:buNone/>
            </a:pPr>
            <a:endParaRPr lang="en-US" sz="850" dirty="0"/>
          </a:p>
          <a:p>
            <a:pPr indent="0" marL="0">
              <a:lnSpc>
                <a:spcPct val="105000"/>
              </a:lnSpc>
              <a:buNone/>
            </a:pPr>
            <a:r>
              <a:rPr lang="en-US" sz="850" dirty="0">
                <a:solidFill>
                  <a:srgbClr val="1B2733"/>
                </a:solidFill>
                <a:latin typeface="Calibri" pitchFamily="34" charset="0"/>
                <a:ea typeface="Calibri" pitchFamily="34" charset="-122"/>
                <a:cs typeface="Calibri" pitchFamily="34" charset="-120"/>
              </a:rPr>
              <a:t>PLS at roughly A$17.6bn is also large for this sector: the biggest completed deal here was US$6.7bn. Consolidation in 2026 has run through sub-scale developers, not producers of PLS's size, so we do not present it as a takeover candidate.</a:t>
            </a:r>
            <a:endParaRPr lang="en-US" sz="850" dirty="0"/>
          </a:p>
        </p:txBody>
      </p:sp>
      <p:sp>
        <p:nvSpPr>
          <p:cNvPr id="121" name="Text 119"/>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company announcements for each transaction; trade press coverage of 2025-26 lithium M&amp;A volumes. Deal values are as announced.</a:t>
            </a:r>
            <a:endParaRPr lang="en-US" sz="720" dirty="0"/>
          </a:p>
        </p:txBody>
      </p:sp>
      <p:sp>
        <p:nvSpPr>
          <p:cNvPr id="122" name="Text 120"/>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E13</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A risked asset-by-asset cross-check on the consolidated discounted cash flow, and a reminder of how much of the value is not yet producing.</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E14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788920" cy="292608"/>
          </a:xfrm>
          <a:prstGeom prst="rect">
            <a:avLst/>
          </a:prstGeom>
          <a:solidFill>
            <a:srgbClr val="10233A"/>
          </a:solidFill>
          <a:ln/>
        </p:spPr>
      </p:sp>
      <p:sp>
        <p:nvSpPr>
          <p:cNvPr id="8" name="Text 6"/>
          <p:cNvSpPr txBox="1"/>
          <p:nvPr/>
        </p:nvSpPr>
        <p:spPr>
          <a:xfrm>
            <a:off x="475488" y="1298448"/>
            <a:ext cx="26609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Asset</a:t>
            </a:r>
            <a:endParaRPr lang="en-US" sz="900" dirty="0"/>
          </a:p>
        </p:txBody>
      </p:sp>
      <p:sp>
        <p:nvSpPr>
          <p:cNvPr id="9" name="Shape 7"/>
          <p:cNvSpPr/>
          <p:nvPr/>
        </p:nvSpPr>
        <p:spPr>
          <a:xfrm>
            <a:off x="3200400" y="1298448"/>
            <a:ext cx="1508760" cy="292608"/>
          </a:xfrm>
          <a:prstGeom prst="rect">
            <a:avLst/>
          </a:prstGeom>
          <a:solidFill>
            <a:srgbClr val="10233A"/>
          </a:solidFill>
          <a:ln/>
        </p:spPr>
      </p:sp>
      <p:sp>
        <p:nvSpPr>
          <p:cNvPr id="10" name="Text 8"/>
          <p:cNvSpPr txBox="1"/>
          <p:nvPr/>
        </p:nvSpPr>
        <p:spPr>
          <a:xfrm>
            <a:off x="3264408" y="1298448"/>
            <a:ext cx="138074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Unrisked A$m</a:t>
            </a:r>
            <a:endParaRPr lang="en-US" sz="900" dirty="0"/>
          </a:p>
        </p:txBody>
      </p:sp>
      <p:sp>
        <p:nvSpPr>
          <p:cNvPr id="11" name="Shape 9"/>
          <p:cNvSpPr/>
          <p:nvPr/>
        </p:nvSpPr>
        <p:spPr>
          <a:xfrm>
            <a:off x="4709160" y="1298448"/>
            <a:ext cx="1005840" cy="292608"/>
          </a:xfrm>
          <a:prstGeom prst="rect">
            <a:avLst/>
          </a:prstGeom>
          <a:solidFill>
            <a:srgbClr val="10233A"/>
          </a:solidFill>
          <a:ln/>
        </p:spPr>
      </p:sp>
      <p:sp>
        <p:nvSpPr>
          <p:cNvPr id="12" name="Text 10"/>
          <p:cNvSpPr txBox="1"/>
          <p:nvPr/>
        </p:nvSpPr>
        <p:spPr>
          <a:xfrm>
            <a:off x="4773168" y="1298448"/>
            <a:ext cx="87782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Risking</a:t>
            </a:r>
            <a:endParaRPr lang="en-US" sz="900" dirty="0"/>
          </a:p>
        </p:txBody>
      </p:sp>
      <p:sp>
        <p:nvSpPr>
          <p:cNvPr id="13" name="Shape 11"/>
          <p:cNvSpPr/>
          <p:nvPr/>
        </p:nvSpPr>
        <p:spPr>
          <a:xfrm>
            <a:off x="5715000" y="1298448"/>
            <a:ext cx="1417320" cy="292608"/>
          </a:xfrm>
          <a:prstGeom prst="rect">
            <a:avLst/>
          </a:prstGeom>
          <a:solidFill>
            <a:srgbClr val="10233A"/>
          </a:solidFill>
          <a:ln/>
        </p:spPr>
      </p:sp>
      <p:sp>
        <p:nvSpPr>
          <p:cNvPr id="14" name="Text 12"/>
          <p:cNvSpPr txBox="1"/>
          <p:nvPr/>
        </p:nvSpPr>
        <p:spPr>
          <a:xfrm>
            <a:off x="5779008" y="1298448"/>
            <a:ext cx="128930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Risked A$m</a:t>
            </a:r>
            <a:endParaRPr lang="en-US" sz="900" dirty="0"/>
          </a:p>
        </p:txBody>
      </p:sp>
      <p:sp>
        <p:nvSpPr>
          <p:cNvPr id="15" name="Shape 13"/>
          <p:cNvSpPr/>
          <p:nvPr/>
        </p:nvSpPr>
        <p:spPr>
          <a:xfrm>
            <a:off x="7132320" y="1298448"/>
            <a:ext cx="1097280" cy="292608"/>
          </a:xfrm>
          <a:prstGeom prst="rect">
            <a:avLst/>
          </a:prstGeom>
          <a:solidFill>
            <a:srgbClr val="10233A"/>
          </a:solidFill>
          <a:ln/>
        </p:spPr>
      </p:sp>
      <p:sp>
        <p:nvSpPr>
          <p:cNvPr id="16" name="Text 14"/>
          <p:cNvSpPr txBox="1"/>
          <p:nvPr/>
        </p:nvSpPr>
        <p:spPr>
          <a:xfrm>
            <a:off x="7196328" y="1298448"/>
            <a:ext cx="96926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A$/share</a:t>
            </a:r>
            <a:endParaRPr lang="en-US" sz="900" dirty="0"/>
          </a:p>
        </p:txBody>
      </p:sp>
      <p:sp>
        <p:nvSpPr>
          <p:cNvPr id="17" name="Shape 15"/>
          <p:cNvSpPr/>
          <p:nvPr/>
        </p:nvSpPr>
        <p:spPr>
          <a:xfrm>
            <a:off x="8229600" y="1298448"/>
            <a:ext cx="3557016" cy="292608"/>
          </a:xfrm>
          <a:prstGeom prst="rect">
            <a:avLst/>
          </a:prstGeom>
          <a:solidFill>
            <a:srgbClr val="10233A"/>
          </a:solidFill>
          <a:ln/>
        </p:spPr>
      </p:sp>
      <p:sp>
        <p:nvSpPr>
          <p:cNvPr id="18" name="Text 16"/>
          <p:cNvSpPr txBox="1"/>
          <p:nvPr/>
        </p:nvSpPr>
        <p:spPr>
          <a:xfrm>
            <a:off x="8293608" y="1298448"/>
            <a:ext cx="342900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Basis</a:t>
            </a:r>
            <a:endParaRPr lang="en-US" sz="900" dirty="0"/>
          </a:p>
        </p:txBody>
      </p:sp>
      <p:sp>
        <p:nvSpPr>
          <p:cNvPr id="19" name="Shape 17"/>
          <p:cNvSpPr/>
          <p:nvPr/>
        </p:nvSpPr>
        <p:spPr>
          <a:xfrm>
            <a:off x="411480" y="1591056"/>
            <a:ext cx="2788920" cy="265176"/>
          </a:xfrm>
          <a:prstGeom prst="rect">
            <a:avLst/>
          </a:prstGeom>
          <a:solidFill>
            <a:srgbClr val="FFFFFF"/>
          </a:solidFill>
          <a:ln w="6350">
            <a:solidFill>
              <a:srgbClr val="D3DCE5"/>
            </a:solidFill>
            <a:prstDash val="solid"/>
          </a:ln>
        </p:spPr>
      </p:sp>
      <p:sp>
        <p:nvSpPr>
          <p:cNvPr id="20" name="Text 18"/>
          <p:cNvSpPr txBox="1"/>
          <p:nvPr/>
        </p:nvSpPr>
        <p:spPr>
          <a:xfrm>
            <a:off x="475488" y="1591056"/>
            <a:ext cx="2660904" cy="265176"/>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Pilgangoora, Pilgan plant</a:t>
            </a:r>
            <a:endParaRPr lang="en-US" sz="850" dirty="0"/>
          </a:p>
        </p:txBody>
      </p:sp>
      <p:sp>
        <p:nvSpPr>
          <p:cNvPr id="21" name="Shape 19"/>
          <p:cNvSpPr/>
          <p:nvPr/>
        </p:nvSpPr>
        <p:spPr>
          <a:xfrm>
            <a:off x="3200400" y="1591056"/>
            <a:ext cx="1508760" cy="265176"/>
          </a:xfrm>
          <a:prstGeom prst="rect">
            <a:avLst/>
          </a:prstGeom>
          <a:solidFill>
            <a:srgbClr val="FFFFFF"/>
          </a:solidFill>
          <a:ln w="6350">
            <a:solidFill>
              <a:srgbClr val="D3DCE5"/>
            </a:solidFill>
            <a:prstDash val="solid"/>
          </a:ln>
        </p:spPr>
      </p:sp>
      <p:sp>
        <p:nvSpPr>
          <p:cNvPr id="22" name="Text 20"/>
          <p:cNvSpPr txBox="1"/>
          <p:nvPr/>
        </p:nvSpPr>
        <p:spPr>
          <a:xfrm>
            <a:off x="3264408" y="1591056"/>
            <a:ext cx="138074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9,800</a:t>
            </a:r>
            <a:endParaRPr lang="en-US" sz="850" dirty="0"/>
          </a:p>
        </p:txBody>
      </p:sp>
      <p:sp>
        <p:nvSpPr>
          <p:cNvPr id="23" name="Shape 21"/>
          <p:cNvSpPr/>
          <p:nvPr/>
        </p:nvSpPr>
        <p:spPr>
          <a:xfrm>
            <a:off x="4709160" y="1591056"/>
            <a:ext cx="1005840" cy="265176"/>
          </a:xfrm>
          <a:prstGeom prst="rect">
            <a:avLst/>
          </a:prstGeom>
          <a:solidFill>
            <a:srgbClr val="FFFFFF"/>
          </a:solidFill>
          <a:ln w="6350">
            <a:solidFill>
              <a:srgbClr val="D3DCE5"/>
            </a:solidFill>
            <a:prstDash val="solid"/>
          </a:ln>
        </p:spPr>
      </p:sp>
      <p:sp>
        <p:nvSpPr>
          <p:cNvPr id="24" name="Text 22"/>
          <p:cNvSpPr txBox="1"/>
          <p:nvPr/>
        </p:nvSpPr>
        <p:spPr>
          <a:xfrm>
            <a:off x="4773168" y="1591056"/>
            <a:ext cx="877824" cy="265176"/>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100%</a:t>
            </a:r>
            <a:endParaRPr lang="en-US" sz="850" dirty="0"/>
          </a:p>
        </p:txBody>
      </p:sp>
      <p:sp>
        <p:nvSpPr>
          <p:cNvPr id="25" name="Shape 23"/>
          <p:cNvSpPr/>
          <p:nvPr/>
        </p:nvSpPr>
        <p:spPr>
          <a:xfrm>
            <a:off x="5715000" y="1591056"/>
            <a:ext cx="1417320" cy="265176"/>
          </a:xfrm>
          <a:prstGeom prst="rect">
            <a:avLst/>
          </a:prstGeom>
          <a:solidFill>
            <a:srgbClr val="FFFFFF"/>
          </a:solidFill>
          <a:ln w="6350">
            <a:solidFill>
              <a:srgbClr val="D3DCE5"/>
            </a:solidFill>
            <a:prstDash val="solid"/>
          </a:ln>
        </p:spPr>
      </p:sp>
      <p:sp>
        <p:nvSpPr>
          <p:cNvPr id="26" name="Text 24"/>
          <p:cNvSpPr txBox="1"/>
          <p:nvPr/>
        </p:nvSpPr>
        <p:spPr>
          <a:xfrm>
            <a:off x="5779008" y="1591056"/>
            <a:ext cx="128930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9,800</a:t>
            </a:r>
            <a:endParaRPr lang="en-US" sz="850" dirty="0"/>
          </a:p>
        </p:txBody>
      </p:sp>
      <p:sp>
        <p:nvSpPr>
          <p:cNvPr id="27" name="Shape 25"/>
          <p:cNvSpPr/>
          <p:nvPr/>
        </p:nvSpPr>
        <p:spPr>
          <a:xfrm>
            <a:off x="7132320" y="1591056"/>
            <a:ext cx="1097280" cy="265176"/>
          </a:xfrm>
          <a:prstGeom prst="rect">
            <a:avLst/>
          </a:prstGeom>
          <a:solidFill>
            <a:srgbClr val="FFFFFF"/>
          </a:solidFill>
          <a:ln w="6350">
            <a:solidFill>
              <a:srgbClr val="D3DCE5"/>
            </a:solidFill>
            <a:prstDash val="solid"/>
          </a:ln>
        </p:spPr>
      </p:sp>
      <p:sp>
        <p:nvSpPr>
          <p:cNvPr id="28" name="Text 26"/>
          <p:cNvSpPr txBox="1"/>
          <p:nvPr/>
        </p:nvSpPr>
        <p:spPr>
          <a:xfrm>
            <a:off x="7196328" y="1591056"/>
            <a:ext cx="96926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3.04</a:t>
            </a:r>
            <a:endParaRPr lang="en-US" sz="850" dirty="0"/>
          </a:p>
        </p:txBody>
      </p:sp>
      <p:sp>
        <p:nvSpPr>
          <p:cNvPr id="29" name="Shape 27"/>
          <p:cNvSpPr/>
          <p:nvPr/>
        </p:nvSpPr>
        <p:spPr>
          <a:xfrm>
            <a:off x="8229600" y="1591056"/>
            <a:ext cx="3557016" cy="265176"/>
          </a:xfrm>
          <a:prstGeom prst="rect">
            <a:avLst/>
          </a:prstGeom>
          <a:solidFill>
            <a:srgbClr val="FFFFFF"/>
          </a:solidFill>
          <a:ln w="6350">
            <a:solidFill>
              <a:srgbClr val="D3DCE5"/>
            </a:solidFill>
            <a:prstDash val="solid"/>
          </a:ln>
        </p:spPr>
      </p:sp>
      <p:sp>
        <p:nvSpPr>
          <p:cNvPr id="30" name="Text 28"/>
          <p:cNvSpPr txBox="1"/>
          <p:nvPr/>
        </p:nvSpPr>
        <p:spPr>
          <a:xfrm>
            <a:off x="8293608" y="1591056"/>
            <a:ext cx="3429000" cy="265176"/>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In production at about 920ktpa steady state</a:t>
            </a:r>
            <a:endParaRPr lang="en-US" sz="850" dirty="0"/>
          </a:p>
        </p:txBody>
      </p:sp>
      <p:sp>
        <p:nvSpPr>
          <p:cNvPr id="31" name="Shape 29"/>
          <p:cNvSpPr/>
          <p:nvPr/>
        </p:nvSpPr>
        <p:spPr>
          <a:xfrm>
            <a:off x="411480" y="1856232"/>
            <a:ext cx="2788920" cy="265176"/>
          </a:xfrm>
          <a:prstGeom prst="rect">
            <a:avLst/>
          </a:prstGeom>
          <a:solidFill>
            <a:srgbClr val="F7F9FB"/>
          </a:solidFill>
          <a:ln w="6350">
            <a:solidFill>
              <a:srgbClr val="D3DCE5"/>
            </a:solidFill>
            <a:prstDash val="solid"/>
          </a:ln>
        </p:spPr>
      </p:sp>
      <p:sp>
        <p:nvSpPr>
          <p:cNvPr id="32" name="Text 30"/>
          <p:cNvSpPr txBox="1"/>
          <p:nvPr/>
        </p:nvSpPr>
        <p:spPr>
          <a:xfrm>
            <a:off x="475488" y="1856232"/>
            <a:ext cx="2660904" cy="265176"/>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Ngungaju plant</a:t>
            </a:r>
            <a:endParaRPr lang="en-US" sz="850" dirty="0"/>
          </a:p>
        </p:txBody>
      </p:sp>
      <p:sp>
        <p:nvSpPr>
          <p:cNvPr id="33" name="Shape 31"/>
          <p:cNvSpPr/>
          <p:nvPr/>
        </p:nvSpPr>
        <p:spPr>
          <a:xfrm>
            <a:off x="3200400" y="1856232"/>
            <a:ext cx="1508760" cy="265176"/>
          </a:xfrm>
          <a:prstGeom prst="rect">
            <a:avLst/>
          </a:prstGeom>
          <a:solidFill>
            <a:srgbClr val="F7F9FB"/>
          </a:solidFill>
          <a:ln w="6350">
            <a:solidFill>
              <a:srgbClr val="D3DCE5"/>
            </a:solidFill>
            <a:prstDash val="solid"/>
          </a:ln>
        </p:spPr>
      </p:sp>
      <p:sp>
        <p:nvSpPr>
          <p:cNvPr id="34" name="Text 32"/>
          <p:cNvSpPr txBox="1"/>
          <p:nvPr/>
        </p:nvSpPr>
        <p:spPr>
          <a:xfrm>
            <a:off x="3264408" y="1856232"/>
            <a:ext cx="138074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1,450</a:t>
            </a:r>
            <a:endParaRPr lang="en-US" sz="850" dirty="0"/>
          </a:p>
        </p:txBody>
      </p:sp>
      <p:sp>
        <p:nvSpPr>
          <p:cNvPr id="35" name="Shape 33"/>
          <p:cNvSpPr/>
          <p:nvPr/>
        </p:nvSpPr>
        <p:spPr>
          <a:xfrm>
            <a:off x="4709160" y="1856232"/>
            <a:ext cx="1005840" cy="265176"/>
          </a:xfrm>
          <a:prstGeom prst="rect">
            <a:avLst/>
          </a:prstGeom>
          <a:solidFill>
            <a:srgbClr val="F7F9FB"/>
          </a:solidFill>
          <a:ln w="6350">
            <a:solidFill>
              <a:srgbClr val="D3DCE5"/>
            </a:solidFill>
            <a:prstDash val="solid"/>
          </a:ln>
        </p:spPr>
      </p:sp>
      <p:sp>
        <p:nvSpPr>
          <p:cNvPr id="36" name="Text 34"/>
          <p:cNvSpPr txBox="1"/>
          <p:nvPr/>
        </p:nvSpPr>
        <p:spPr>
          <a:xfrm>
            <a:off x="4773168" y="1856232"/>
            <a:ext cx="877824" cy="265176"/>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95%</a:t>
            </a:r>
            <a:endParaRPr lang="en-US" sz="850" dirty="0"/>
          </a:p>
        </p:txBody>
      </p:sp>
      <p:sp>
        <p:nvSpPr>
          <p:cNvPr id="37" name="Shape 35"/>
          <p:cNvSpPr/>
          <p:nvPr/>
        </p:nvSpPr>
        <p:spPr>
          <a:xfrm>
            <a:off x="5715000" y="1856232"/>
            <a:ext cx="1417320" cy="265176"/>
          </a:xfrm>
          <a:prstGeom prst="rect">
            <a:avLst/>
          </a:prstGeom>
          <a:solidFill>
            <a:srgbClr val="F7F9FB"/>
          </a:solidFill>
          <a:ln w="6350">
            <a:solidFill>
              <a:srgbClr val="D3DCE5"/>
            </a:solidFill>
            <a:prstDash val="solid"/>
          </a:ln>
        </p:spPr>
      </p:sp>
      <p:sp>
        <p:nvSpPr>
          <p:cNvPr id="38" name="Text 36"/>
          <p:cNvSpPr txBox="1"/>
          <p:nvPr/>
        </p:nvSpPr>
        <p:spPr>
          <a:xfrm>
            <a:off x="5779008" y="1856232"/>
            <a:ext cx="128930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1,378</a:t>
            </a:r>
            <a:endParaRPr lang="en-US" sz="850" dirty="0"/>
          </a:p>
        </p:txBody>
      </p:sp>
      <p:sp>
        <p:nvSpPr>
          <p:cNvPr id="39" name="Shape 37"/>
          <p:cNvSpPr/>
          <p:nvPr/>
        </p:nvSpPr>
        <p:spPr>
          <a:xfrm>
            <a:off x="7132320" y="1856232"/>
            <a:ext cx="1097280" cy="265176"/>
          </a:xfrm>
          <a:prstGeom prst="rect">
            <a:avLst/>
          </a:prstGeom>
          <a:solidFill>
            <a:srgbClr val="F7F9FB"/>
          </a:solidFill>
          <a:ln w="6350">
            <a:solidFill>
              <a:srgbClr val="D3DCE5"/>
            </a:solidFill>
            <a:prstDash val="solid"/>
          </a:ln>
        </p:spPr>
      </p:sp>
      <p:sp>
        <p:nvSpPr>
          <p:cNvPr id="40" name="Text 38"/>
          <p:cNvSpPr txBox="1"/>
          <p:nvPr/>
        </p:nvSpPr>
        <p:spPr>
          <a:xfrm>
            <a:off x="7196328" y="1856232"/>
            <a:ext cx="96926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0.43</a:t>
            </a:r>
            <a:endParaRPr lang="en-US" sz="850" dirty="0"/>
          </a:p>
        </p:txBody>
      </p:sp>
      <p:sp>
        <p:nvSpPr>
          <p:cNvPr id="41" name="Shape 39"/>
          <p:cNvSpPr/>
          <p:nvPr/>
        </p:nvSpPr>
        <p:spPr>
          <a:xfrm>
            <a:off x="8229600" y="1856232"/>
            <a:ext cx="3557016" cy="265176"/>
          </a:xfrm>
          <a:prstGeom prst="rect">
            <a:avLst/>
          </a:prstGeom>
          <a:solidFill>
            <a:srgbClr val="F7F9FB"/>
          </a:solidFill>
          <a:ln w="6350">
            <a:solidFill>
              <a:srgbClr val="D3DCE5"/>
            </a:solidFill>
            <a:prstDash val="solid"/>
          </a:ln>
        </p:spPr>
      </p:sp>
      <p:sp>
        <p:nvSpPr>
          <p:cNvPr id="42" name="Text 40"/>
          <p:cNvSpPr txBox="1"/>
          <p:nvPr/>
        </p:nvSpPr>
        <p:spPr>
          <a:xfrm>
            <a:off x="8293608" y="1856232"/>
            <a:ext cx="3429000" cy="265176"/>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Restarted July 2026; small risking for ramp-up execution</a:t>
            </a:r>
            <a:endParaRPr lang="en-US" sz="850" dirty="0"/>
          </a:p>
        </p:txBody>
      </p:sp>
      <p:sp>
        <p:nvSpPr>
          <p:cNvPr id="43" name="Shape 41"/>
          <p:cNvSpPr/>
          <p:nvPr/>
        </p:nvSpPr>
        <p:spPr>
          <a:xfrm>
            <a:off x="411480" y="2121408"/>
            <a:ext cx="2788920" cy="265176"/>
          </a:xfrm>
          <a:prstGeom prst="rect">
            <a:avLst/>
          </a:prstGeom>
          <a:solidFill>
            <a:srgbClr val="FFFFFF"/>
          </a:solidFill>
          <a:ln w="6350">
            <a:solidFill>
              <a:srgbClr val="D3DCE5"/>
            </a:solidFill>
            <a:prstDash val="solid"/>
          </a:ln>
        </p:spPr>
      </p:sp>
      <p:sp>
        <p:nvSpPr>
          <p:cNvPr id="44" name="Text 42"/>
          <p:cNvSpPr txBox="1"/>
          <p:nvPr/>
        </p:nvSpPr>
        <p:spPr>
          <a:xfrm>
            <a:off x="475488" y="2121408"/>
            <a:ext cx="2660904" cy="265176"/>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P2000 expansion</a:t>
            </a:r>
            <a:endParaRPr lang="en-US" sz="850" dirty="0"/>
          </a:p>
        </p:txBody>
      </p:sp>
      <p:sp>
        <p:nvSpPr>
          <p:cNvPr id="45" name="Shape 43"/>
          <p:cNvSpPr/>
          <p:nvPr/>
        </p:nvSpPr>
        <p:spPr>
          <a:xfrm>
            <a:off x="3200400" y="2121408"/>
            <a:ext cx="1508760" cy="265176"/>
          </a:xfrm>
          <a:prstGeom prst="rect">
            <a:avLst/>
          </a:prstGeom>
          <a:solidFill>
            <a:srgbClr val="FFFFFF"/>
          </a:solidFill>
          <a:ln w="6350">
            <a:solidFill>
              <a:srgbClr val="D3DCE5"/>
            </a:solidFill>
            <a:prstDash val="solid"/>
          </a:ln>
        </p:spPr>
      </p:sp>
      <p:sp>
        <p:nvSpPr>
          <p:cNvPr id="46" name="Text 44"/>
          <p:cNvSpPr txBox="1"/>
          <p:nvPr/>
        </p:nvSpPr>
        <p:spPr>
          <a:xfrm>
            <a:off x="3264408" y="2121408"/>
            <a:ext cx="138074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2,600</a:t>
            </a:r>
            <a:endParaRPr lang="en-US" sz="850" dirty="0"/>
          </a:p>
        </p:txBody>
      </p:sp>
      <p:sp>
        <p:nvSpPr>
          <p:cNvPr id="47" name="Shape 45"/>
          <p:cNvSpPr/>
          <p:nvPr/>
        </p:nvSpPr>
        <p:spPr>
          <a:xfrm>
            <a:off x="4709160" y="2121408"/>
            <a:ext cx="1005840" cy="265176"/>
          </a:xfrm>
          <a:prstGeom prst="rect">
            <a:avLst/>
          </a:prstGeom>
          <a:solidFill>
            <a:srgbClr val="FFFFFF"/>
          </a:solidFill>
          <a:ln w="6350">
            <a:solidFill>
              <a:srgbClr val="D3DCE5"/>
            </a:solidFill>
            <a:prstDash val="solid"/>
          </a:ln>
        </p:spPr>
      </p:sp>
      <p:sp>
        <p:nvSpPr>
          <p:cNvPr id="48" name="Text 46"/>
          <p:cNvSpPr txBox="1"/>
          <p:nvPr/>
        </p:nvSpPr>
        <p:spPr>
          <a:xfrm>
            <a:off x="4773168" y="2121408"/>
            <a:ext cx="877824" cy="265176"/>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70%</a:t>
            </a:r>
            <a:endParaRPr lang="en-US" sz="850" dirty="0"/>
          </a:p>
        </p:txBody>
      </p:sp>
      <p:sp>
        <p:nvSpPr>
          <p:cNvPr id="49" name="Shape 47"/>
          <p:cNvSpPr/>
          <p:nvPr/>
        </p:nvSpPr>
        <p:spPr>
          <a:xfrm>
            <a:off x="5715000" y="2121408"/>
            <a:ext cx="1417320" cy="265176"/>
          </a:xfrm>
          <a:prstGeom prst="rect">
            <a:avLst/>
          </a:prstGeom>
          <a:solidFill>
            <a:srgbClr val="FFFFFF"/>
          </a:solidFill>
          <a:ln w="6350">
            <a:solidFill>
              <a:srgbClr val="D3DCE5"/>
            </a:solidFill>
            <a:prstDash val="solid"/>
          </a:ln>
        </p:spPr>
      </p:sp>
      <p:sp>
        <p:nvSpPr>
          <p:cNvPr id="50" name="Text 48"/>
          <p:cNvSpPr txBox="1"/>
          <p:nvPr/>
        </p:nvSpPr>
        <p:spPr>
          <a:xfrm>
            <a:off x="5779008" y="2121408"/>
            <a:ext cx="128930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1,820</a:t>
            </a:r>
            <a:endParaRPr lang="en-US" sz="850" dirty="0"/>
          </a:p>
        </p:txBody>
      </p:sp>
      <p:sp>
        <p:nvSpPr>
          <p:cNvPr id="51" name="Shape 49"/>
          <p:cNvSpPr/>
          <p:nvPr/>
        </p:nvSpPr>
        <p:spPr>
          <a:xfrm>
            <a:off x="7132320" y="2121408"/>
            <a:ext cx="1097280" cy="265176"/>
          </a:xfrm>
          <a:prstGeom prst="rect">
            <a:avLst/>
          </a:prstGeom>
          <a:solidFill>
            <a:srgbClr val="FFFFFF"/>
          </a:solidFill>
          <a:ln w="6350">
            <a:solidFill>
              <a:srgbClr val="D3DCE5"/>
            </a:solidFill>
            <a:prstDash val="solid"/>
          </a:ln>
        </p:spPr>
      </p:sp>
      <p:sp>
        <p:nvSpPr>
          <p:cNvPr id="52" name="Text 50"/>
          <p:cNvSpPr txBox="1"/>
          <p:nvPr/>
        </p:nvSpPr>
        <p:spPr>
          <a:xfrm>
            <a:off x="7196328" y="2121408"/>
            <a:ext cx="96926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0.57</a:t>
            </a:r>
            <a:endParaRPr lang="en-US" sz="850" dirty="0"/>
          </a:p>
        </p:txBody>
      </p:sp>
      <p:sp>
        <p:nvSpPr>
          <p:cNvPr id="53" name="Shape 51"/>
          <p:cNvSpPr/>
          <p:nvPr/>
        </p:nvSpPr>
        <p:spPr>
          <a:xfrm>
            <a:off x="8229600" y="2121408"/>
            <a:ext cx="3557016" cy="265176"/>
          </a:xfrm>
          <a:prstGeom prst="rect">
            <a:avLst/>
          </a:prstGeom>
          <a:solidFill>
            <a:srgbClr val="FFFFFF"/>
          </a:solidFill>
          <a:ln w="6350">
            <a:solidFill>
              <a:srgbClr val="D3DCE5"/>
            </a:solidFill>
            <a:prstDash val="solid"/>
          </a:ln>
        </p:spPr>
      </p:sp>
      <p:sp>
        <p:nvSpPr>
          <p:cNvPr id="54" name="Text 52"/>
          <p:cNvSpPr txBox="1"/>
          <p:nvPr/>
        </p:nvSpPr>
        <p:spPr>
          <a:xfrm>
            <a:off x="8293608" y="2121408"/>
            <a:ext cx="3429000" cy="265176"/>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PFS incremental NPV; risked for an FID not yet taken</a:t>
            </a:r>
            <a:endParaRPr lang="en-US" sz="850" dirty="0"/>
          </a:p>
        </p:txBody>
      </p:sp>
      <p:sp>
        <p:nvSpPr>
          <p:cNvPr id="55" name="Shape 53"/>
          <p:cNvSpPr/>
          <p:nvPr/>
        </p:nvSpPr>
        <p:spPr>
          <a:xfrm>
            <a:off x="411480" y="2386584"/>
            <a:ext cx="2788920" cy="265176"/>
          </a:xfrm>
          <a:prstGeom prst="rect">
            <a:avLst/>
          </a:prstGeom>
          <a:solidFill>
            <a:srgbClr val="F7F9FB"/>
          </a:solidFill>
          <a:ln w="6350">
            <a:solidFill>
              <a:srgbClr val="D3DCE5"/>
            </a:solidFill>
            <a:prstDash val="solid"/>
          </a:ln>
        </p:spPr>
      </p:sp>
      <p:sp>
        <p:nvSpPr>
          <p:cNvPr id="56" name="Text 54"/>
          <p:cNvSpPr txBox="1"/>
          <p:nvPr/>
        </p:nvSpPr>
        <p:spPr>
          <a:xfrm>
            <a:off x="475488" y="2386584"/>
            <a:ext cx="2660904" cy="265176"/>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Colina, Brazil</a:t>
            </a:r>
            <a:endParaRPr lang="en-US" sz="850" dirty="0"/>
          </a:p>
        </p:txBody>
      </p:sp>
      <p:sp>
        <p:nvSpPr>
          <p:cNvPr id="57" name="Shape 55"/>
          <p:cNvSpPr/>
          <p:nvPr/>
        </p:nvSpPr>
        <p:spPr>
          <a:xfrm>
            <a:off x="3200400" y="2386584"/>
            <a:ext cx="1508760" cy="265176"/>
          </a:xfrm>
          <a:prstGeom prst="rect">
            <a:avLst/>
          </a:prstGeom>
          <a:solidFill>
            <a:srgbClr val="F7F9FB"/>
          </a:solidFill>
          <a:ln w="6350">
            <a:solidFill>
              <a:srgbClr val="D3DCE5"/>
            </a:solidFill>
            <a:prstDash val="solid"/>
          </a:ln>
        </p:spPr>
      </p:sp>
      <p:sp>
        <p:nvSpPr>
          <p:cNvPr id="58" name="Text 56"/>
          <p:cNvSpPr txBox="1"/>
          <p:nvPr/>
        </p:nvSpPr>
        <p:spPr>
          <a:xfrm>
            <a:off x="3264408" y="2386584"/>
            <a:ext cx="138074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900</a:t>
            </a:r>
            <a:endParaRPr lang="en-US" sz="850" dirty="0"/>
          </a:p>
        </p:txBody>
      </p:sp>
      <p:sp>
        <p:nvSpPr>
          <p:cNvPr id="59" name="Shape 57"/>
          <p:cNvSpPr/>
          <p:nvPr/>
        </p:nvSpPr>
        <p:spPr>
          <a:xfrm>
            <a:off x="4709160" y="2386584"/>
            <a:ext cx="1005840" cy="265176"/>
          </a:xfrm>
          <a:prstGeom prst="rect">
            <a:avLst/>
          </a:prstGeom>
          <a:solidFill>
            <a:srgbClr val="F7F9FB"/>
          </a:solidFill>
          <a:ln w="6350">
            <a:solidFill>
              <a:srgbClr val="D3DCE5"/>
            </a:solidFill>
            <a:prstDash val="solid"/>
          </a:ln>
        </p:spPr>
      </p:sp>
      <p:sp>
        <p:nvSpPr>
          <p:cNvPr id="60" name="Text 58"/>
          <p:cNvSpPr txBox="1"/>
          <p:nvPr/>
        </p:nvSpPr>
        <p:spPr>
          <a:xfrm>
            <a:off x="4773168" y="2386584"/>
            <a:ext cx="877824" cy="265176"/>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40%</a:t>
            </a:r>
            <a:endParaRPr lang="en-US" sz="850" dirty="0"/>
          </a:p>
        </p:txBody>
      </p:sp>
      <p:sp>
        <p:nvSpPr>
          <p:cNvPr id="61" name="Shape 59"/>
          <p:cNvSpPr/>
          <p:nvPr/>
        </p:nvSpPr>
        <p:spPr>
          <a:xfrm>
            <a:off x="5715000" y="2386584"/>
            <a:ext cx="1417320" cy="265176"/>
          </a:xfrm>
          <a:prstGeom prst="rect">
            <a:avLst/>
          </a:prstGeom>
          <a:solidFill>
            <a:srgbClr val="F7F9FB"/>
          </a:solidFill>
          <a:ln w="6350">
            <a:solidFill>
              <a:srgbClr val="D3DCE5"/>
            </a:solidFill>
            <a:prstDash val="solid"/>
          </a:ln>
        </p:spPr>
      </p:sp>
      <p:sp>
        <p:nvSpPr>
          <p:cNvPr id="62" name="Text 60"/>
          <p:cNvSpPr txBox="1"/>
          <p:nvPr/>
        </p:nvSpPr>
        <p:spPr>
          <a:xfrm>
            <a:off x="5779008" y="2386584"/>
            <a:ext cx="128930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360</a:t>
            </a:r>
            <a:endParaRPr lang="en-US" sz="850" dirty="0"/>
          </a:p>
        </p:txBody>
      </p:sp>
      <p:sp>
        <p:nvSpPr>
          <p:cNvPr id="63" name="Shape 61"/>
          <p:cNvSpPr/>
          <p:nvPr/>
        </p:nvSpPr>
        <p:spPr>
          <a:xfrm>
            <a:off x="7132320" y="2386584"/>
            <a:ext cx="1097280" cy="265176"/>
          </a:xfrm>
          <a:prstGeom prst="rect">
            <a:avLst/>
          </a:prstGeom>
          <a:solidFill>
            <a:srgbClr val="F7F9FB"/>
          </a:solidFill>
          <a:ln w="6350">
            <a:solidFill>
              <a:srgbClr val="D3DCE5"/>
            </a:solidFill>
            <a:prstDash val="solid"/>
          </a:ln>
        </p:spPr>
      </p:sp>
      <p:sp>
        <p:nvSpPr>
          <p:cNvPr id="64" name="Text 62"/>
          <p:cNvSpPr txBox="1"/>
          <p:nvPr/>
        </p:nvSpPr>
        <p:spPr>
          <a:xfrm>
            <a:off x="7196328" y="2386584"/>
            <a:ext cx="96926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0.11</a:t>
            </a:r>
            <a:endParaRPr lang="en-US" sz="850" dirty="0"/>
          </a:p>
        </p:txBody>
      </p:sp>
      <p:sp>
        <p:nvSpPr>
          <p:cNvPr id="65" name="Shape 63"/>
          <p:cNvSpPr/>
          <p:nvPr/>
        </p:nvSpPr>
        <p:spPr>
          <a:xfrm>
            <a:off x="8229600" y="2386584"/>
            <a:ext cx="3557016" cy="265176"/>
          </a:xfrm>
          <a:prstGeom prst="rect">
            <a:avLst/>
          </a:prstGeom>
          <a:solidFill>
            <a:srgbClr val="F7F9FB"/>
          </a:solidFill>
          <a:ln w="6350">
            <a:solidFill>
              <a:srgbClr val="D3DCE5"/>
            </a:solidFill>
            <a:prstDash val="solid"/>
          </a:ln>
        </p:spPr>
      </p:sp>
      <p:sp>
        <p:nvSpPr>
          <p:cNvPr id="66" name="Text 64"/>
          <p:cNvSpPr txBox="1"/>
          <p:nvPr/>
        </p:nvSpPr>
        <p:spPr>
          <a:xfrm>
            <a:off x="8293608" y="2386584"/>
            <a:ext cx="3429000" cy="265176"/>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Study due December-quarter 2027; no FID, no permits</a:t>
            </a:r>
            <a:endParaRPr lang="en-US" sz="850" dirty="0"/>
          </a:p>
        </p:txBody>
      </p:sp>
      <p:sp>
        <p:nvSpPr>
          <p:cNvPr id="67" name="Shape 65"/>
          <p:cNvSpPr/>
          <p:nvPr/>
        </p:nvSpPr>
        <p:spPr>
          <a:xfrm>
            <a:off x="411480" y="2651760"/>
            <a:ext cx="2788920" cy="265176"/>
          </a:xfrm>
          <a:prstGeom prst="rect">
            <a:avLst/>
          </a:prstGeom>
          <a:solidFill>
            <a:srgbClr val="FFFFFF"/>
          </a:solidFill>
          <a:ln w="6350">
            <a:solidFill>
              <a:srgbClr val="D3DCE5"/>
            </a:solidFill>
            <a:prstDash val="solid"/>
          </a:ln>
        </p:spPr>
      </p:sp>
      <p:sp>
        <p:nvSpPr>
          <p:cNvPr id="68" name="Text 66"/>
          <p:cNvSpPr txBox="1"/>
          <p:nvPr/>
        </p:nvSpPr>
        <p:spPr>
          <a:xfrm>
            <a:off x="475488" y="2651760"/>
            <a:ext cx="2660904" cy="265176"/>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Mid-stream plant</a:t>
            </a:r>
            <a:endParaRPr lang="en-US" sz="850" dirty="0"/>
          </a:p>
        </p:txBody>
      </p:sp>
      <p:sp>
        <p:nvSpPr>
          <p:cNvPr id="69" name="Shape 67"/>
          <p:cNvSpPr/>
          <p:nvPr/>
        </p:nvSpPr>
        <p:spPr>
          <a:xfrm>
            <a:off x="3200400" y="2651760"/>
            <a:ext cx="1508760" cy="265176"/>
          </a:xfrm>
          <a:prstGeom prst="rect">
            <a:avLst/>
          </a:prstGeom>
          <a:solidFill>
            <a:srgbClr val="FFFFFF"/>
          </a:solidFill>
          <a:ln w="6350">
            <a:solidFill>
              <a:srgbClr val="D3DCE5"/>
            </a:solidFill>
            <a:prstDash val="solid"/>
          </a:ln>
        </p:spPr>
      </p:sp>
      <p:sp>
        <p:nvSpPr>
          <p:cNvPr id="70" name="Text 68"/>
          <p:cNvSpPr txBox="1"/>
          <p:nvPr/>
        </p:nvSpPr>
        <p:spPr>
          <a:xfrm>
            <a:off x="3264408" y="2651760"/>
            <a:ext cx="138074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260</a:t>
            </a:r>
            <a:endParaRPr lang="en-US" sz="850" dirty="0"/>
          </a:p>
        </p:txBody>
      </p:sp>
      <p:sp>
        <p:nvSpPr>
          <p:cNvPr id="71" name="Shape 69"/>
          <p:cNvSpPr/>
          <p:nvPr/>
        </p:nvSpPr>
        <p:spPr>
          <a:xfrm>
            <a:off x="4709160" y="2651760"/>
            <a:ext cx="1005840" cy="265176"/>
          </a:xfrm>
          <a:prstGeom prst="rect">
            <a:avLst/>
          </a:prstGeom>
          <a:solidFill>
            <a:srgbClr val="FFFFFF"/>
          </a:solidFill>
          <a:ln w="6350">
            <a:solidFill>
              <a:srgbClr val="D3DCE5"/>
            </a:solidFill>
            <a:prstDash val="solid"/>
          </a:ln>
        </p:spPr>
      </p:sp>
      <p:sp>
        <p:nvSpPr>
          <p:cNvPr id="72" name="Text 70"/>
          <p:cNvSpPr txBox="1"/>
          <p:nvPr/>
        </p:nvSpPr>
        <p:spPr>
          <a:xfrm>
            <a:off x="4773168" y="2651760"/>
            <a:ext cx="877824" cy="265176"/>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50%</a:t>
            </a:r>
            <a:endParaRPr lang="en-US" sz="850" dirty="0"/>
          </a:p>
        </p:txBody>
      </p:sp>
      <p:sp>
        <p:nvSpPr>
          <p:cNvPr id="73" name="Shape 71"/>
          <p:cNvSpPr/>
          <p:nvPr/>
        </p:nvSpPr>
        <p:spPr>
          <a:xfrm>
            <a:off x="5715000" y="2651760"/>
            <a:ext cx="1417320" cy="265176"/>
          </a:xfrm>
          <a:prstGeom prst="rect">
            <a:avLst/>
          </a:prstGeom>
          <a:solidFill>
            <a:srgbClr val="FFFFFF"/>
          </a:solidFill>
          <a:ln w="6350">
            <a:solidFill>
              <a:srgbClr val="D3DCE5"/>
            </a:solidFill>
            <a:prstDash val="solid"/>
          </a:ln>
        </p:spPr>
      </p:sp>
      <p:sp>
        <p:nvSpPr>
          <p:cNvPr id="74" name="Text 72"/>
          <p:cNvSpPr txBox="1"/>
          <p:nvPr/>
        </p:nvSpPr>
        <p:spPr>
          <a:xfrm>
            <a:off x="5779008" y="2651760"/>
            <a:ext cx="128930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130</a:t>
            </a:r>
            <a:endParaRPr lang="en-US" sz="850" dirty="0"/>
          </a:p>
        </p:txBody>
      </p:sp>
      <p:sp>
        <p:nvSpPr>
          <p:cNvPr id="75" name="Shape 73"/>
          <p:cNvSpPr/>
          <p:nvPr/>
        </p:nvSpPr>
        <p:spPr>
          <a:xfrm>
            <a:off x="7132320" y="2651760"/>
            <a:ext cx="1097280" cy="265176"/>
          </a:xfrm>
          <a:prstGeom prst="rect">
            <a:avLst/>
          </a:prstGeom>
          <a:solidFill>
            <a:srgbClr val="FFFFFF"/>
          </a:solidFill>
          <a:ln w="6350">
            <a:solidFill>
              <a:srgbClr val="D3DCE5"/>
            </a:solidFill>
            <a:prstDash val="solid"/>
          </a:ln>
        </p:spPr>
      </p:sp>
      <p:sp>
        <p:nvSpPr>
          <p:cNvPr id="76" name="Text 74"/>
          <p:cNvSpPr txBox="1"/>
          <p:nvPr/>
        </p:nvSpPr>
        <p:spPr>
          <a:xfrm>
            <a:off x="7196328" y="2651760"/>
            <a:ext cx="96926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0.04</a:t>
            </a:r>
            <a:endParaRPr lang="en-US" sz="850" dirty="0"/>
          </a:p>
        </p:txBody>
      </p:sp>
      <p:sp>
        <p:nvSpPr>
          <p:cNvPr id="77" name="Shape 75"/>
          <p:cNvSpPr/>
          <p:nvPr/>
        </p:nvSpPr>
        <p:spPr>
          <a:xfrm>
            <a:off x="8229600" y="2651760"/>
            <a:ext cx="3557016" cy="265176"/>
          </a:xfrm>
          <a:prstGeom prst="rect">
            <a:avLst/>
          </a:prstGeom>
          <a:solidFill>
            <a:srgbClr val="FFFFFF"/>
          </a:solidFill>
          <a:ln w="6350">
            <a:solidFill>
              <a:srgbClr val="D3DCE5"/>
            </a:solidFill>
            <a:prstDash val="solid"/>
          </a:ln>
        </p:spPr>
      </p:sp>
      <p:sp>
        <p:nvSpPr>
          <p:cNvPr id="78" name="Text 76"/>
          <p:cNvSpPr txBox="1"/>
          <p:nvPr/>
        </p:nvSpPr>
        <p:spPr>
          <a:xfrm>
            <a:off x="8293608" y="2651760"/>
            <a:ext cx="3429000" cy="265176"/>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Demonstration scale; first production guided this quarter</a:t>
            </a:r>
            <a:endParaRPr lang="en-US" sz="850" dirty="0"/>
          </a:p>
        </p:txBody>
      </p:sp>
      <p:sp>
        <p:nvSpPr>
          <p:cNvPr id="79" name="Shape 77"/>
          <p:cNvSpPr/>
          <p:nvPr/>
        </p:nvSpPr>
        <p:spPr>
          <a:xfrm>
            <a:off x="411480" y="2916936"/>
            <a:ext cx="2788920" cy="265176"/>
          </a:xfrm>
          <a:prstGeom prst="rect">
            <a:avLst/>
          </a:prstGeom>
          <a:solidFill>
            <a:srgbClr val="F7F9FB"/>
          </a:solidFill>
          <a:ln w="6350">
            <a:solidFill>
              <a:srgbClr val="D3DCE5"/>
            </a:solidFill>
            <a:prstDash val="solid"/>
          </a:ln>
        </p:spPr>
      </p:sp>
      <p:sp>
        <p:nvSpPr>
          <p:cNvPr id="80" name="Text 78"/>
          <p:cNvSpPr txBox="1"/>
          <p:nvPr/>
        </p:nvSpPr>
        <p:spPr>
          <a:xfrm>
            <a:off x="475488" y="2916936"/>
            <a:ext cx="2660904" cy="265176"/>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POSCO joint venture, 18%</a:t>
            </a:r>
            <a:endParaRPr lang="en-US" sz="850" dirty="0"/>
          </a:p>
        </p:txBody>
      </p:sp>
      <p:sp>
        <p:nvSpPr>
          <p:cNvPr id="81" name="Shape 79"/>
          <p:cNvSpPr/>
          <p:nvPr/>
        </p:nvSpPr>
        <p:spPr>
          <a:xfrm>
            <a:off x="3200400" y="2916936"/>
            <a:ext cx="1508760" cy="265176"/>
          </a:xfrm>
          <a:prstGeom prst="rect">
            <a:avLst/>
          </a:prstGeom>
          <a:solidFill>
            <a:srgbClr val="F7F9FB"/>
          </a:solidFill>
          <a:ln w="6350">
            <a:solidFill>
              <a:srgbClr val="D3DCE5"/>
            </a:solidFill>
            <a:prstDash val="solid"/>
          </a:ln>
        </p:spPr>
      </p:sp>
      <p:sp>
        <p:nvSpPr>
          <p:cNvPr id="82" name="Text 80"/>
          <p:cNvSpPr txBox="1"/>
          <p:nvPr/>
        </p:nvSpPr>
        <p:spPr>
          <a:xfrm>
            <a:off x="3264408" y="2916936"/>
            <a:ext cx="138074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320</a:t>
            </a:r>
            <a:endParaRPr lang="en-US" sz="850" dirty="0"/>
          </a:p>
        </p:txBody>
      </p:sp>
      <p:sp>
        <p:nvSpPr>
          <p:cNvPr id="83" name="Shape 81"/>
          <p:cNvSpPr/>
          <p:nvPr/>
        </p:nvSpPr>
        <p:spPr>
          <a:xfrm>
            <a:off x="4709160" y="2916936"/>
            <a:ext cx="1005840" cy="265176"/>
          </a:xfrm>
          <a:prstGeom prst="rect">
            <a:avLst/>
          </a:prstGeom>
          <a:solidFill>
            <a:srgbClr val="F7F9FB"/>
          </a:solidFill>
          <a:ln w="6350">
            <a:solidFill>
              <a:srgbClr val="D3DCE5"/>
            </a:solidFill>
            <a:prstDash val="solid"/>
          </a:ln>
        </p:spPr>
      </p:sp>
      <p:sp>
        <p:nvSpPr>
          <p:cNvPr id="84" name="Text 82"/>
          <p:cNvSpPr txBox="1"/>
          <p:nvPr/>
        </p:nvSpPr>
        <p:spPr>
          <a:xfrm>
            <a:off x="4773168" y="2916936"/>
            <a:ext cx="877824" cy="265176"/>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85%</a:t>
            </a:r>
            <a:endParaRPr lang="en-US" sz="850" dirty="0"/>
          </a:p>
        </p:txBody>
      </p:sp>
      <p:sp>
        <p:nvSpPr>
          <p:cNvPr id="85" name="Shape 83"/>
          <p:cNvSpPr/>
          <p:nvPr/>
        </p:nvSpPr>
        <p:spPr>
          <a:xfrm>
            <a:off x="5715000" y="2916936"/>
            <a:ext cx="1417320" cy="265176"/>
          </a:xfrm>
          <a:prstGeom prst="rect">
            <a:avLst/>
          </a:prstGeom>
          <a:solidFill>
            <a:srgbClr val="F7F9FB"/>
          </a:solidFill>
          <a:ln w="6350">
            <a:solidFill>
              <a:srgbClr val="D3DCE5"/>
            </a:solidFill>
            <a:prstDash val="solid"/>
          </a:ln>
        </p:spPr>
      </p:sp>
      <p:sp>
        <p:nvSpPr>
          <p:cNvPr id="86" name="Text 84"/>
          <p:cNvSpPr txBox="1"/>
          <p:nvPr/>
        </p:nvSpPr>
        <p:spPr>
          <a:xfrm>
            <a:off x="5779008" y="2916936"/>
            <a:ext cx="128930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272</a:t>
            </a:r>
            <a:endParaRPr lang="en-US" sz="850" dirty="0"/>
          </a:p>
        </p:txBody>
      </p:sp>
      <p:sp>
        <p:nvSpPr>
          <p:cNvPr id="87" name="Shape 85"/>
          <p:cNvSpPr/>
          <p:nvPr/>
        </p:nvSpPr>
        <p:spPr>
          <a:xfrm>
            <a:off x="7132320" y="2916936"/>
            <a:ext cx="1097280" cy="265176"/>
          </a:xfrm>
          <a:prstGeom prst="rect">
            <a:avLst/>
          </a:prstGeom>
          <a:solidFill>
            <a:srgbClr val="F7F9FB"/>
          </a:solidFill>
          <a:ln w="6350">
            <a:solidFill>
              <a:srgbClr val="D3DCE5"/>
            </a:solidFill>
            <a:prstDash val="solid"/>
          </a:ln>
        </p:spPr>
      </p:sp>
      <p:sp>
        <p:nvSpPr>
          <p:cNvPr id="88" name="Text 86"/>
          <p:cNvSpPr txBox="1"/>
          <p:nvPr/>
        </p:nvSpPr>
        <p:spPr>
          <a:xfrm>
            <a:off x="7196328" y="2916936"/>
            <a:ext cx="96926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0.08</a:t>
            </a:r>
            <a:endParaRPr lang="en-US" sz="850" dirty="0"/>
          </a:p>
        </p:txBody>
      </p:sp>
      <p:sp>
        <p:nvSpPr>
          <p:cNvPr id="89" name="Shape 87"/>
          <p:cNvSpPr/>
          <p:nvPr/>
        </p:nvSpPr>
        <p:spPr>
          <a:xfrm>
            <a:off x="8229600" y="2916936"/>
            <a:ext cx="3557016" cy="265176"/>
          </a:xfrm>
          <a:prstGeom prst="rect">
            <a:avLst/>
          </a:prstGeom>
          <a:solidFill>
            <a:srgbClr val="F7F9FB"/>
          </a:solidFill>
          <a:ln w="6350">
            <a:solidFill>
              <a:srgbClr val="D3DCE5"/>
            </a:solidFill>
            <a:prstDash val="solid"/>
          </a:ln>
        </p:spPr>
      </p:sp>
      <p:sp>
        <p:nvSpPr>
          <p:cNvPr id="90" name="Text 88"/>
          <p:cNvSpPr txBox="1"/>
          <p:nvPr/>
        </p:nvSpPr>
        <p:spPr>
          <a:xfrm>
            <a:off x="8293608" y="2916936"/>
            <a:ext cx="3429000" cy="265176"/>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Both trains built; Train 2 ramping</a:t>
            </a:r>
            <a:endParaRPr lang="en-US" sz="850" dirty="0"/>
          </a:p>
        </p:txBody>
      </p:sp>
      <p:sp>
        <p:nvSpPr>
          <p:cNvPr id="91" name="Shape 89"/>
          <p:cNvSpPr/>
          <p:nvPr/>
        </p:nvSpPr>
        <p:spPr>
          <a:xfrm>
            <a:off x="411480" y="3182112"/>
            <a:ext cx="2788920" cy="265176"/>
          </a:xfrm>
          <a:prstGeom prst="rect">
            <a:avLst/>
          </a:prstGeom>
          <a:solidFill>
            <a:srgbClr val="FFFFFF"/>
          </a:solidFill>
          <a:ln w="6350">
            <a:solidFill>
              <a:srgbClr val="D3DCE5"/>
            </a:solidFill>
            <a:prstDash val="solid"/>
          </a:ln>
        </p:spPr>
      </p:sp>
      <p:sp>
        <p:nvSpPr>
          <p:cNvPr id="92" name="Text 90"/>
          <p:cNvSpPr txBox="1"/>
          <p:nvPr/>
        </p:nvSpPr>
        <p:spPr>
          <a:xfrm>
            <a:off x="475488" y="3182112"/>
            <a:ext cx="2660904" cy="265176"/>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Exploration and tenements</a:t>
            </a:r>
            <a:endParaRPr lang="en-US" sz="850" dirty="0"/>
          </a:p>
        </p:txBody>
      </p:sp>
      <p:sp>
        <p:nvSpPr>
          <p:cNvPr id="93" name="Shape 91"/>
          <p:cNvSpPr/>
          <p:nvPr/>
        </p:nvSpPr>
        <p:spPr>
          <a:xfrm>
            <a:off x="3200400" y="3182112"/>
            <a:ext cx="1508760" cy="265176"/>
          </a:xfrm>
          <a:prstGeom prst="rect">
            <a:avLst/>
          </a:prstGeom>
          <a:solidFill>
            <a:srgbClr val="FFFFFF"/>
          </a:solidFill>
          <a:ln w="6350">
            <a:solidFill>
              <a:srgbClr val="D3DCE5"/>
            </a:solidFill>
            <a:prstDash val="solid"/>
          </a:ln>
        </p:spPr>
      </p:sp>
      <p:sp>
        <p:nvSpPr>
          <p:cNvPr id="94" name="Text 92"/>
          <p:cNvSpPr txBox="1"/>
          <p:nvPr/>
        </p:nvSpPr>
        <p:spPr>
          <a:xfrm>
            <a:off x="3264408" y="3182112"/>
            <a:ext cx="138074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180</a:t>
            </a:r>
            <a:endParaRPr lang="en-US" sz="850" dirty="0"/>
          </a:p>
        </p:txBody>
      </p:sp>
      <p:sp>
        <p:nvSpPr>
          <p:cNvPr id="95" name="Shape 93"/>
          <p:cNvSpPr/>
          <p:nvPr/>
        </p:nvSpPr>
        <p:spPr>
          <a:xfrm>
            <a:off x="4709160" y="3182112"/>
            <a:ext cx="1005840" cy="265176"/>
          </a:xfrm>
          <a:prstGeom prst="rect">
            <a:avLst/>
          </a:prstGeom>
          <a:solidFill>
            <a:srgbClr val="FFFFFF"/>
          </a:solidFill>
          <a:ln w="6350">
            <a:solidFill>
              <a:srgbClr val="D3DCE5"/>
            </a:solidFill>
            <a:prstDash val="solid"/>
          </a:ln>
        </p:spPr>
      </p:sp>
      <p:sp>
        <p:nvSpPr>
          <p:cNvPr id="96" name="Text 94"/>
          <p:cNvSpPr txBox="1"/>
          <p:nvPr/>
        </p:nvSpPr>
        <p:spPr>
          <a:xfrm>
            <a:off x="4773168" y="3182112"/>
            <a:ext cx="877824" cy="265176"/>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50%</a:t>
            </a:r>
            <a:endParaRPr lang="en-US" sz="850" dirty="0"/>
          </a:p>
        </p:txBody>
      </p:sp>
      <p:sp>
        <p:nvSpPr>
          <p:cNvPr id="97" name="Shape 95"/>
          <p:cNvSpPr/>
          <p:nvPr/>
        </p:nvSpPr>
        <p:spPr>
          <a:xfrm>
            <a:off x="5715000" y="3182112"/>
            <a:ext cx="1417320" cy="265176"/>
          </a:xfrm>
          <a:prstGeom prst="rect">
            <a:avLst/>
          </a:prstGeom>
          <a:solidFill>
            <a:srgbClr val="FFFFFF"/>
          </a:solidFill>
          <a:ln w="6350">
            <a:solidFill>
              <a:srgbClr val="D3DCE5"/>
            </a:solidFill>
            <a:prstDash val="solid"/>
          </a:ln>
        </p:spPr>
      </p:sp>
      <p:sp>
        <p:nvSpPr>
          <p:cNvPr id="98" name="Text 96"/>
          <p:cNvSpPr txBox="1"/>
          <p:nvPr/>
        </p:nvSpPr>
        <p:spPr>
          <a:xfrm>
            <a:off x="5779008" y="3182112"/>
            <a:ext cx="128930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90</a:t>
            </a:r>
            <a:endParaRPr lang="en-US" sz="850" dirty="0"/>
          </a:p>
        </p:txBody>
      </p:sp>
      <p:sp>
        <p:nvSpPr>
          <p:cNvPr id="99" name="Shape 97"/>
          <p:cNvSpPr/>
          <p:nvPr/>
        </p:nvSpPr>
        <p:spPr>
          <a:xfrm>
            <a:off x="7132320" y="3182112"/>
            <a:ext cx="1097280" cy="265176"/>
          </a:xfrm>
          <a:prstGeom prst="rect">
            <a:avLst/>
          </a:prstGeom>
          <a:solidFill>
            <a:srgbClr val="FFFFFF"/>
          </a:solidFill>
          <a:ln w="6350">
            <a:solidFill>
              <a:srgbClr val="D3DCE5"/>
            </a:solidFill>
            <a:prstDash val="solid"/>
          </a:ln>
        </p:spPr>
      </p:sp>
      <p:sp>
        <p:nvSpPr>
          <p:cNvPr id="100" name="Text 98"/>
          <p:cNvSpPr txBox="1"/>
          <p:nvPr/>
        </p:nvSpPr>
        <p:spPr>
          <a:xfrm>
            <a:off x="7196328" y="3182112"/>
            <a:ext cx="96926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0.03</a:t>
            </a:r>
            <a:endParaRPr lang="en-US" sz="850" dirty="0"/>
          </a:p>
        </p:txBody>
      </p:sp>
      <p:sp>
        <p:nvSpPr>
          <p:cNvPr id="101" name="Shape 99"/>
          <p:cNvSpPr/>
          <p:nvPr/>
        </p:nvSpPr>
        <p:spPr>
          <a:xfrm>
            <a:off x="8229600" y="3182112"/>
            <a:ext cx="3557016" cy="265176"/>
          </a:xfrm>
          <a:prstGeom prst="rect">
            <a:avLst/>
          </a:prstGeom>
          <a:solidFill>
            <a:srgbClr val="FFFFFF"/>
          </a:solidFill>
          <a:ln w="6350">
            <a:solidFill>
              <a:srgbClr val="D3DCE5"/>
            </a:solidFill>
            <a:prstDash val="solid"/>
          </a:ln>
        </p:spPr>
      </p:sp>
      <p:sp>
        <p:nvSpPr>
          <p:cNvPr id="102" name="Text 100"/>
          <p:cNvSpPr txBox="1"/>
          <p:nvPr/>
        </p:nvSpPr>
        <p:spPr>
          <a:xfrm>
            <a:off x="8293608" y="3182112"/>
            <a:ext cx="3429000" cy="265176"/>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Includes tenements acquired adjacent to Colina</a:t>
            </a:r>
            <a:endParaRPr lang="en-US" sz="850" dirty="0"/>
          </a:p>
        </p:txBody>
      </p:sp>
      <p:sp>
        <p:nvSpPr>
          <p:cNvPr id="103" name="Shape 101"/>
          <p:cNvSpPr/>
          <p:nvPr/>
        </p:nvSpPr>
        <p:spPr>
          <a:xfrm>
            <a:off x="411480" y="3447288"/>
            <a:ext cx="2788920" cy="265176"/>
          </a:xfrm>
          <a:prstGeom prst="rect">
            <a:avLst/>
          </a:prstGeom>
          <a:solidFill>
            <a:srgbClr val="F7F9FB"/>
          </a:solidFill>
          <a:ln w="6350">
            <a:solidFill>
              <a:srgbClr val="D3DCE5"/>
            </a:solidFill>
            <a:prstDash val="solid"/>
          </a:ln>
        </p:spPr>
      </p:sp>
      <p:sp>
        <p:nvSpPr>
          <p:cNvPr id="104" name="Text 102"/>
          <p:cNvSpPr txBox="1"/>
          <p:nvPr/>
        </p:nvSpPr>
        <p:spPr>
          <a:xfrm>
            <a:off x="475488" y="3447288"/>
            <a:ext cx="2660904" cy="265176"/>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Corporate costs capitalised</a:t>
            </a:r>
            <a:endParaRPr lang="en-US" sz="850" dirty="0"/>
          </a:p>
        </p:txBody>
      </p:sp>
      <p:sp>
        <p:nvSpPr>
          <p:cNvPr id="105" name="Shape 103"/>
          <p:cNvSpPr/>
          <p:nvPr/>
        </p:nvSpPr>
        <p:spPr>
          <a:xfrm>
            <a:off x="3200400" y="3447288"/>
            <a:ext cx="1508760" cy="265176"/>
          </a:xfrm>
          <a:prstGeom prst="rect">
            <a:avLst/>
          </a:prstGeom>
          <a:solidFill>
            <a:srgbClr val="F7F9FB"/>
          </a:solidFill>
          <a:ln w="6350">
            <a:solidFill>
              <a:srgbClr val="D3DCE5"/>
            </a:solidFill>
            <a:prstDash val="solid"/>
          </a:ln>
        </p:spPr>
      </p:sp>
      <p:sp>
        <p:nvSpPr>
          <p:cNvPr id="106" name="Text 104"/>
          <p:cNvSpPr txBox="1"/>
          <p:nvPr/>
        </p:nvSpPr>
        <p:spPr>
          <a:xfrm>
            <a:off x="3264408" y="3447288"/>
            <a:ext cx="138074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(900)</a:t>
            </a:r>
            <a:endParaRPr lang="en-US" sz="850" dirty="0"/>
          </a:p>
        </p:txBody>
      </p:sp>
      <p:sp>
        <p:nvSpPr>
          <p:cNvPr id="107" name="Shape 105"/>
          <p:cNvSpPr/>
          <p:nvPr/>
        </p:nvSpPr>
        <p:spPr>
          <a:xfrm>
            <a:off x="4709160" y="3447288"/>
            <a:ext cx="1005840" cy="265176"/>
          </a:xfrm>
          <a:prstGeom prst="rect">
            <a:avLst/>
          </a:prstGeom>
          <a:solidFill>
            <a:srgbClr val="F7F9FB"/>
          </a:solidFill>
          <a:ln w="6350">
            <a:solidFill>
              <a:srgbClr val="D3DCE5"/>
            </a:solidFill>
            <a:prstDash val="solid"/>
          </a:ln>
        </p:spPr>
      </p:sp>
      <p:sp>
        <p:nvSpPr>
          <p:cNvPr id="108" name="Text 106"/>
          <p:cNvSpPr txBox="1"/>
          <p:nvPr/>
        </p:nvSpPr>
        <p:spPr>
          <a:xfrm>
            <a:off x="4773168" y="3447288"/>
            <a:ext cx="877824" cy="265176"/>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100%</a:t>
            </a:r>
            <a:endParaRPr lang="en-US" sz="850" dirty="0"/>
          </a:p>
        </p:txBody>
      </p:sp>
      <p:sp>
        <p:nvSpPr>
          <p:cNvPr id="109" name="Shape 107"/>
          <p:cNvSpPr/>
          <p:nvPr/>
        </p:nvSpPr>
        <p:spPr>
          <a:xfrm>
            <a:off x="5715000" y="3447288"/>
            <a:ext cx="1417320" cy="265176"/>
          </a:xfrm>
          <a:prstGeom prst="rect">
            <a:avLst/>
          </a:prstGeom>
          <a:solidFill>
            <a:srgbClr val="F7F9FB"/>
          </a:solidFill>
          <a:ln w="6350">
            <a:solidFill>
              <a:srgbClr val="D3DCE5"/>
            </a:solidFill>
            <a:prstDash val="solid"/>
          </a:ln>
        </p:spPr>
      </p:sp>
      <p:sp>
        <p:nvSpPr>
          <p:cNvPr id="110" name="Text 108"/>
          <p:cNvSpPr txBox="1"/>
          <p:nvPr/>
        </p:nvSpPr>
        <p:spPr>
          <a:xfrm>
            <a:off x="5779008" y="3447288"/>
            <a:ext cx="128930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(900)</a:t>
            </a:r>
            <a:endParaRPr lang="en-US" sz="850" dirty="0"/>
          </a:p>
        </p:txBody>
      </p:sp>
      <p:sp>
        <p:nvSpPr>
          <p:cNvPr id="111" name="Shape 109"/>
          <p:cNvSpPr/>
          <p:nvPr/>
        </p:nvSpPr>
        <p:spPr>
          <a:xfrm>
            <a:off x="7132320" y="3447288"/>
            <a:ext cx="1097280" cy="265176"/>
          </a:xfrm>
          <a:prstGeom prst="rect">
            <a:avLst/>
          </a:prstGeom>
          <a:solidFill>
            <a:srgbClr val="F7F9FB"/>
          </a:solidFill>
          <a:ln w="6350">
            <a:solidFill>
              <a:srgbClr val="D3DCE5"/>
            </a:solidFill>
            <a:prstDash val="solid"/>
          </a:ln>
        </p:spPr>
      </p:sp>
      <p:sp>
        <p:nvSpPr>
          <p:cNvPr id="112" name="Text 110"/>
          <p:cNvSpPr txBox="1"/>
          <p:nvPr/>
        </p:nvSpPr>
        <p:spPr>
          <a:xfrm>
            <a:off x="7196328" y="3447288"/>
            <a:ext cx="96926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(0.28)</a:t>
            </a:r>
            <a:endParaRPr lang="en-US" sz="850" dirty="0"/>
          </a:p>
        </p:txBody>
      </p:sp>
      <p:sp>
        <p:nvSpPr>
          <p:cNvPr id="113" name="Shape 111"/>
          <p:cNvSpPr/>
          <p:nvPr/>
        </p:nvSpPr>
        <p:spPr>
          <a:xfrm>
            <a:off x="8229600" y="3447288"/>
            <a:ext cx="3557016" cy="265176"/>
          </a:xfrm>
          <a:prstGeom prst="rect">
            <a:avLst/>
          </a:prstGeom>
          <a:solidFill>
            <a:srgbClr val="F7F9FB"/>
          </a:solidFill>
          <a:ln w="6350">
            <a:solidFill>
              <a:srgbClr val="D3DCE5"/>
            </a:solidFill>
            <a:prstDash val="solid"/>
          </a:ln>
        </p:spPr>
      </p:sp>
      <p:sp>
        <p:nvSpPr>
          <p:cNvPr id="114" name="Text 112"/>
          <p:cNvSpPr txBox="1"/>
          <p:nvPr/>
        </p:nvSpPr>
        <p:spPr>
          <a:xfrm>
            <a:off x="8293608" y="3447288"/>
            <a:ext cx="3429000" cy="265176"/>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Present value of unallocated overhead</a:t>
            </a:r>
            <a:endParaRPr lang="en-US" sz="850" dirty="0"/>
          </a:p>
        </p:txBody>
      </p:sp>
      <p:sp>
        <p:nvSpPr>
          <p:cNvPr id="115" name="Shape 113"/>
          <p:cNvSpPr/>
          <p:nvPr/>
        </p:nvSpPr>
        <p:spPr>
          <a:xfrm>
            <a:off x="411480" y="3712464"/>
            <a:ext cx="2788920" cy="265176"/>
          </a:xfrm>
          <a:prstGeom prst="rect">
            <a:avLst/>
          </a:prstGeom>
          <a:solidFill>
            <a:srgbClr val="EEF2F6"/>
          </a:solidFill>
          <a:ln w="6350">
            <a:solidFill>
              <a:srgbClr val="D3DCE5"/>
            </a:solidFill>
            <a:prstDash val="solid"/>
          </a:ln>
        </p:spPr>
      </p:sp>
      <p:sp>
        <p:nvSpPr>
          <p:cNvPr id="116" name="Text 114"/>
          <p:cNvSpPr txBox="1"/>
          <p:nvPr/>
        </p:nvSpPr>
        <p:spPr>
          <a:xfrm>
            <a:off x="475488" y="3712464"/>
            <a:ext cx="2660904" cy="265176"/>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Enterprise NAV</a:t>
            </a:r>
            <a:endParaRPr lang="en-US" sz="850" dirty="0"/>
          </a:p>
        </p:txBody>
      </p:sp>
      <p:sp>
        <p:nvSpPr>
          <p:cNvPr id="117" name="Shape 115"/>
          <p:cNvSpPr/>
          <p:nvPr/>
        </p:nvSpPr>
        <p:spPr>
          <a:xfrm>
            <a:off x="3200400" y="3712464"/>
            <a:ext cx="1508760" cy="265176"/>
          </a:xfrm>
          <a:prstGeom prst="rect">
            <a:avLst/>
          </a:prstGeom>
          <a:solidFill>
            <a:srgbClr val="EEF2F6"/>
          </a:solidFill>
          <a:ln w="6350">
            <a:solidFill>
              <a:srgbClr val="D3DCE5"/>
            </a:solidFill>
            <a:prstDash val="solid"/>
          </a:ln>
        </p:spPr>
      </p:sp>
      <p:sp>
        <p:nvSpPr>
          <p:cNvPr id="118" name="Text 116"/>
          <p:cNvSpPr txBox="1"/>
          <p:nvPr/>
        </p:nvSpPr>
        <p:spPr>
          <a:xfrm>
            <a:off x="3264408" y="3712464"/>
            <a:ext cx="1380744" cy="265176"/>
          </a:xfrm>
          <a:prstGeom prst="rect">
            <a:avLst/>
          </a:prstGeom>
          <a:noFill/>
          <a:ln/>
        </p:spPr>
        <p:txBody>
          <a:bodyPr wrap="square" lIns="0" tIns="0" rIns="0" bIns="0" rtlCol="0" anchor="ctr"/>
          <a:lstStyle/>
          <a:p>
            <a:pPr algn="r" indent="0" marL="0">
              <a:buNone/>
            </a:pPr>
            <a:endParaRPr lang="en-US" sz="850" dirty="0"/>
          </a:p>
        </p:txBody>
      </p:sp>
      <p:sp>
        <p:nvSpPr>
          <p:cNvPr id="119" name="Shape 117"/>
          <p:cNvSpPr/>
          <p:nvPr/>
        </p:nvSpPr>
        <p:spPr>
          <a:xfrm>
            <a:off x="4709160" y="3712464"/>
            <a:ext cx="1005840" cy="265176"/>
          </a:xfrm>
          <a:prstGeom prst="rect">
            <a:avLst/>
          </a:prstGeom>
          <a:solidFill>
            <a:srgbClr val="EEF2F6"/>
          </a:solidFill>
          <a:ln w="6350">
            <a:solidFill>
              <a:srgbClr val="D3DCE5"/>
            </a:solidFill>
            <a:prstDash val="solid"/>
          </a:ln>
        </p:spPr>
      </p:sp>
      <p:sp>
        <p:nvSpPr>
          <p:cNvPr id="120" name="Text 118"/>
          <p:cNvSpPr txBox="1"/>
          <p:nvPr/>
        </p:nvSpPr>
        <p:spPr>
          <a:xfrm>
            <a:off x="4773168" y="3712464"/>
            <a:ext cx="877824" cy="265176"/>
          </a:xfrm>
          <a:prstGeom prst="rect">
            <a:avLst/>
          </a:prstGeom>
          <a:noFill/>
          <a:ln/>
        </p:spPr>
        <p:txBody>
          <a:bodyPr wrap="square" lIns="0" tIns="0" rIns="0" bIns="0" rtlCol="0" anchor="ctr"/>
          <a:lstStyle/>
          <a:p>
            <a:pPr algn="ctr" indent="0" marL="0">
              <a:buNone/>
            </a:pPr>
            <a:endParaRPr lang="en-US" sz="850" dirty="0"/>
          </a:p>
        </p:txBody>
      </p:sp>
      <p:sp>
        <p:nvSpPr>
          <p:cNvPr id="121" name="Shape 119"/>
          <p:cNvSpPr/>
          <p:nvPr/>
        </p:nvSpPr>
        <p:spPr>
          <a:xfrm>
            <a:off x="5715000" y="3712464"/>
            <a:ext cx="1417320" cy="265176"/>
          </a:xfrm>
          <a:prstGeom prst="rect">
            <a:avLst/>
          </a:prstGeom>
          <a:solidFill>
            <a:srgbClr val="EEF2F6"/>
          </a:solidFill>
          <a:ln w="6350">
            <a:solidFill>
              <a:srgbClr val="D3DCE5"/>
            </a:solidFill>
            <a:prstDash val="solid"/>
          </a:ln>
        </p:spPr>
      </p:sp>
      <p:sp>
        <p:nvSpPr>
          <p:cNvPr id="122" name="Text 120"/>
          <p:cNvSpPr txBox="1"/>
          <p:nvPr/>
        </p:nvSpPr>
        <p:spPr>
          <a:xfrm>
            <a:off x="5779008" y="3712464"/>
            <a:ext cx="1289304" cy="265176"/>
          </a:xfrm>
          <a:prstGeom prst="rect">
            <a:avLst/>
          </a:prstGeom>
          <a:noFill/>
          <a:ln/>
        </p:spPr>
        <p:txBody>
          <a:bodyPr wrap="square" lIns="0" tIns="0" rIns="0" bIns="0" rtlCol="0" anchor="ctr"/>
          <a:lstStyle/>
          <a:p>
            <a:pPr algn="r" indent="0" marL="0">
              <a:buNone/>
            </a:pPr>
            <a:r>
              <a:rPr lang="en-US" sz="850" b="1" dirty="0">
                <a:solidFill>
                  <a:srgbClr val="1B2733"/>
                </a:solidFill>
                <a:latin typeface="Calibri" pitchFamily="34" charset="0"/>
                <a:ea typeface="Calibri" pitchFamily="34" charset="-122"/>
                <a:cs typeface="Calibri" pitchFamily="34" charset="-120"/>
              </a:rPr>
              <a:t>12,950</a:t>
            </a:r>
            <a:endParaRPr lang="en-US" sz="850" dirty="0"/>
          </a:p>
        </p:txBody>
      </p:sp>
      <p:sp>
        <p:nvSpPr>
          <p:cNvPr id="123" name="Shape 121"/>
          <p:cNvSpPr/>
          <p:nvPr/>
        </p:nvSpPr>
        <p:spPr>
          <a:xfrm>
            <a:off x="7132320" y="3712464"/>
            <a:ext cx="1097280" cy="265176"/>
          </a:xfrm>
          <a:prstGeom prst="rect">
            <a:avLst/>
          </a:prstGeom>
          <a:solidFill>
            <a:srgbClr val="EEF2F6"/>
          </a:solidFill>
          <a:ln w="6350">
            <a:solidFill>
              <a:srgbClr val="D3DCE5"/>
            </a:solidFill>
            <a:prstDash val="solid"/>
          </a:ln>
        </p:spPr>
      </p:sp>
      <p:sp>
        <p:nvSpPr>
          <p:cNvPr id="124" name="Text 122"/>
          <p:cNvSpPr txBox="1"/>
          <p:nvPr/>
        </p:nvSpPr>
        <p:spPr>
          <a:xfrm>
            <a:off x="7196328" y="3712464"/>
            <a:ext cx="969264" cy="265176"/>
          </a:xfrm>
          <a:prstGeom prst="rect">
            <a:avLst/>
          </a:prstGeom>
          <a:noFill/>
          <a:ln/>
        </p:spPr>
        <p:txBody>
          <a:bodyPr wrap="square" lIns="0" tIns="0" rIns="0" bIns="0" rtlCol="0" anchor="ctr"/>
          <a:lstStyle/>
          <a:p>
            <a:pPr algn="r" indent="0" marL="0">
              <a:buNone/>
            </a:pPr>
            <a:r>
              <a:rPr lang="en-US" sz="850" b="1" dirty="0">
                <a:solidFill>
                  <a:srgbClr val="1B2733"/>
                </a:solidFill>
                <a:latin typeface="Calibri" pitchFamily="34" charset="0"/>
                <a:ea typeface="Calibri" pitchFamily="34" charset="-122"/>
                <a:cs typeface="Calibri" pitchFamily="34" charset="-120"/>
              </a:rPr>
              <a:t>4.02</a:t>
            </a:r>
            <a:endParaRPr lang="en-US" sz="850" dirty="0"/>
          </a:p>
        </p:txBody>
      </p:sp>
      <p:sp>
        <p:nvSpPr>
          <p:cNvPr id="125" name="Shape 123"/>
          <p:cNvSpPr/>
          <p:nvPr/>
        </p:nvSpPr>
        <p:spPr>
          <a:xfrm>
            <a:off x="8229600" y="3712464"/>
            <a:ext cx="3557016" cy="265176"/>
          </a:xfrm>
          <a:prstGeom prst="rect">
            <a:avLst/>
          </a:prstGeom>
          <a:solidFill>
            <a:srgbClr val="EEF2F6"/>
          </a:solidFill>
          <a:ln w="6350">
            <a:solidFill>
              <a:srgbClr val="D3DCE5"/>
            </a:solidFill>
            <a:prstDash val="solid"/>
          </a:ln>
        </p:spPr>
      </p:sp>
      <p:sp>
        <p:nvSpPr>
          <p:cNvPr id="126" name="Text 124"/>
          <p:cNvSpPr txBox="1"/>
          <p:nvPr/>
        </p:nvSpPr>
        <p:spPr>
          <a:xfrm>
            <a:off x="8293608" y="3712464"/>
            <a:ext cx="3429000" cy="265176"/>
          </a:xfrm>
          <a:prstGeom prst="rect">
            <a:avLst/>
          </a:prstGeom>
          <a:noFill/>
          <a:ln/>
        </p:spPr>
        <p:txBody>
          <a:bodyPr wrap="square" lIns="0" tIns="0" rIns="0" bIns="0" rtlCol="0" anchor="ctr"/>
          <a:lstStyle/>
          <a:p>
            <a:pPr algn="l" indent="0" marL="0">
              <a:buNone/>
            </a:pPr>
            <a:endParaRPr lang="en-US" sz="850" dirty="0"/>
          </a:p>
        </p:txBody>
      </p:sp>
      <p:sp>
        <p:nvSpPr>
          <p:cNvPr id="127" name="Shape 125"/>
          <p:cNvSpPr/>
          <p:nvPr/>
        </p:nvSpPr>
        <p:spPr>
          <a:xfrm>
            <a:off x="411480" y="3977640"/>
            <a:ext cx="2788920" cy="265176"/>
          </a:xfrm>
          <a:prstGeom prst="rect">
            <a:avLst/>
          </a:prstGeom>
          <a:solidFill>
            <a:srgbClr val="F7F9FB"/>
          </a:solidFill>
          <a:ln w="6350">
            <a:solidFill>
              <a:srgbClr val="D3DCE5"/>
            </a:solidFill>
            <a:prstDash val="solid"/>
          </a:ln>
        </p:spPr>
      </p:sp>
      <p:sp>
        <p:nvSpPr>
          <p:cNvPr id="128" name="Text 126"/>
          <p:cNvSpPr txBox="1"/>
          <p:nvPr/>
        </p:nvSpPr>
        <p:spPr>
          <a:xfrm>
            <a:off x="475488" y="3977640"/>
            <a:ext cx="2660904" cy="265176"/>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Net cash</a:t>
            </a:r>
            <a:endParaRPr lang="en-US" sz="850" dirty="0"/>
          </a:p>
        </p:txBody>
      </p:sp>
      <p:sp>
        <p:nvSpPr>
          <p:cNvPr id="129" name="Shape 127"/>
          <p:cNvSpPr/>
          <p:nvPr/>
        </p:nvSpPr>
        <p:spPr>
          <a:xfrm>
            <a:off x="3200400" y="3977640"/>
            <a:ext cx="1508760" cy="265176"/>
          </a:xfrm>
          <a:prstGeom prst="rect">
            <a:avLst/>
          </a:prstGeom>
          <a:solidFill>
            <a:srgbClr val="F7F9FB"/>
          </a:solidFill>
          <a:ln w="6350">
            <a:solidFill>
              <a:srgbClr val="D3DCE5"/>
            </a:solidFill>
            <a:prstDash val="solid"/>
          </a:ln>
        </p:spPr>
      </p:sp>
      <p:sp>
        <p:nvSpPr>
          <p:cNvPr id="130" name="Text 128"/>
          <p:cNvSpPr txBox="1"/>
          <p:nvPr/>
        </p:nvSpPr>
        <p:spPr>
          <a:xfrm>
            <a:off x="3264408" y="3977640"/>
            <a:ext cx="1380744" cy="265176"/>
          </a:xfrm>
          <a:prstGeom prst="rect">
            <a:avLst/>
          </a:prstGeom>
          <a:noFill/>
          <a:ln/>
        </p:spPr>
        <p:txBody>
          <a:bodyPr wrap="square" lIns="0" tIns="0" rIns="0" bIns="0" rtlCol="0" anchor="ctr"/>
          <a:lstStyle/>
          <a:p>
            <a:pPr algn="r" indent="0" marL="0">
              <a:buNone/>
            </a:pPr>
            <a:endParaRPr lang="en-US" sz="850" dirty="0"/>
          </a:p>
        </p:txBody>
      </p:sp>
      <p:sp>
        <p:nvSpPr>
          <p:cNvPr id="131" name="Shape 129"/>
          <p:cNvSpPr/>
          <p:nvPr/>
        </p:nvSpPr>
        <p:spPr>
          <a:xfrm>
            <a:off x="4709160" y="3977640"/>
            <a:ext cx="1005840" cy="265176"/>
          </a:xfrm>
          <a:prstGeom prst="rect">
            <a:avLst/>
          </a:prstGeom>
          <a:solidFill>
            <a:srgbClr val="F7F9FB"/>
          </a:solidFill>
          <a:ln w="6350">
            <a:solidFill>
              <a:srgbClr val="D3DCE5"/>
            </a:solidFill>
            <a:prstDash val="solid"/>
          </a:ln>
        </p:spPr>
      </p:sp>
      <p:sp>
        <p:nvSpPr>
          <p:cNvPr id="132" name="Text 130"/>
          <p:cNvSpPr txBox="1"/>
          <p:nvPr/>
        </p:nvSpPr>
        <p:spPr>
          <a:xfrm>
            <a:off x="4773168" y="3977640"/>
            <a:ext cx="877824" cy="265176"/>
          </a:xfrm>
          <a:prstGeom prst="rect">
            <a:avLst/>
          </a:prstGeom>
          <a:noFill/>
          <a:ln/>
        </p:spPr>
        <p:txBody>
          <a:bodyPr wrap="square" lIns="0" tIns="0" rIns="0" bIns="0" rtlCol="0" anchor="ctr"/>
          <a:lstStyle/>
          <a:p>
            <a:pPr algn="ctr" indent="0" marL="0">
              <a:buNone/>
            </a:pPr>
            <a:endParaRPr lang="en-US" sz="850" dirty="0"/>
          </a:p>
        </p:txBody>
      </p:sp>
      <p:sp>
        <p:nvSpPr>
          <p:cNvPr id="133" name="Shape 131"/>
          <p:cNvSpPr/>
          <p:nvPr/>
        </p:nvSpPr>
        <p:spPr>
          <a:xfrm>
            <a:off x="5715000" y="3977640"/>
            <a:ext cx="1417320" cy="265176"/>
          </a:xfrm>
          <a:prstGeom prst="rect">
            <a:avLst/>
          </a:prstGeom>
          <a:solidFill>
            <a:srgbClr val="F7F9FB"/>
          </a:solidFill>
          <a:ln w="6350">
            <a:solidFill>
              <a:srgbClr val="D3DCE5"/>
            </a:solidFill>
            <a:prstDash val="solid"/>
          </a:ln>
        </p:spPr>
      </p:sp>
      <p:sp>
        <p:nvSpPr>
          <p:cNvPr id="134" name="Text 132"/>
          <p:cNvSpPr txBox="1"/>
          <p:nvPr/>
        </p:nvSpPr>
        <p:spPr>
          <a:xfrm>
            <a:off x="5779008" y="3977640"/>
            <a:ext cx="128930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1,437</a:t>
            </a:r>
            <a:endParaRPr lang="en-US" sz="850" dirty="0"/>
          </a:p>
        </p:txBody>
      </p:sp>
      <p:sp>
        <p:nvSpPr>
          <p:cNvPr id="135" name="Shape 133"/>
          <p:cNvSpPr/>
          <p:nvPr/>
        </p:nvSpPr>
        <p:spPr>
          <a:xfrm>
            <a:off x="7132320" y="3977640"/>
            <a:ext cx="1097280" cy="265176"/>
          </a:xfrm>
          <a:prstGeom prst="rect">
            <a:avLst/>
          </a:prstGeom>
          <a:solidFill>
            <a:srgbClr val="F7F9FB"/>
          </a:solidFill>
          <a:ln w="6350">
            <a:solidFill>
              <a:srgbClr val="D3DCE5"/>
            </a:solidFill>
            <a:prstDash val="solid"/>
          </a:ln>
        </p:spPr>
      </p:sp>
      <p:sp>
        <p:nvSpPr>
          <p:cNvPr id="136" name="Text 134"/>
          <p:cNvSpPr txBox="1"/>
          <p:nvPr/>
        </p:nvSpPr>
        <p:spPr>
          <a:xfrm>
            <a:off x="7196328" y="3977640"/>
            <a:ext cx="969264" cy="265176"/>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0.45</a:t>
            </a:r>
            <a:endParaRPr lang="en-US" sz="850" dirty="0"/>
          </a:p>
        </p:txBody>
      </p:sp>
      <p:sp>
        <p:nvSpPr>
          <p:cNvPr id="137" name="Shape 135"/>
          <p:cNvSpPr/>
          <p:nvPr/>
        </p:nvSpPr>
        <p:spPr>
          <a:xfrm>
            <a:off x="8229600" y="3977640"/>
            <a:ext cx="3557016" cy="265176"/>
          </a:xfrm>
          <a:prstGeom prst="rect">
            <a:avLst/>
          </a:prstGeom>
          <a:solidFill>
            <a:srgbClr val="F7F9FB"/>
          </a:solidFill>
          <a:ln w="6350">
            <a:solidFill>
              <a:srgbClr val="D3DCE5"/>
            </a:solidFill>
            <a:prstDash val="solid"/>
          </a:ln>
        </p:spPr>
      </p:sp>
      <p:sp>
        <p:nvSpPr>
          <p:cNvPr id="138" name="Text 136"/>
          <p:cNvSpPr txBox="1"/>
          <p:nvPr/>
        </p:nvSpPr>
        <p:spPr>
          <a:xfrm>
            <a:off x="8293608" y="3977640"/>
            <a:ext cx="3429000" cy="265176"/>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FY26 cash of A$2,290m less A$853m of borrowings</a:t>
            </a:r>
            <a:endParaRPr lang="en-US" sz="850" dirty="0"/>
          </a:p>
        </p:txBody>
      </p:sp>
      <p:sp>
        <p:nvSpPr>
          <p:cNvPr id="139" name="Shape 137"/>
          <p:cNvSpPr/>
          <p:nvPr/>
        </p:nvSpPr>
        <p:spPr>
          <a:xfrm>
            <a:off x="411480" y="4242816"/>
            <a:ext cx="2788920" cy="265176"/>
          </a:xfrm>
          <a:prstGeom prst="rect">
            <a:avLst/>
          </a:prstGeom>
          <a:solidFill>
            <a:srgbClr val="D6EBE7"/>
          </a:solidFill>
          <a:ln w="6350">
            <a:solidFill>
              <a:srgbClr val="D3DCE5"/>
            </a:solidFill>
            <a:prstDash val="solid"/>
          </a:ln>
        </p:spPr>
      </p:sp>
      <p:sp>
        <p:nvSpPr>
          <p:cNvPr id="140" name="Text 138"/>
          <p:cNvSpPr txBox="1"/>
          <p:nvPr/>
        </p:nvSpPr>
        <p:spPr>
          <a:xfrm>
            <a:off x="475488" y="4242816"/>
            <a:ext cx="2660904" cy="265176"/>
          </a:xfrm>
          <a:prstGeom prst="rect">
            <a:avLst/>
          </a:prstGeom>
          <a:noFill/>
          <a:ln/>
        </p:spPr>
        <p:txBody>
          <a:bodyPr wrap="square" lIns="0" tIns="0" rIns="0" bIns="0" rtlCol="0" anchor="ctr"/>
          <a:lstStyle/>
          <a:p>
            <a:pPr algn="l" indent="0" marL="0">
              <a:buNone/>
            </a:pPr>
            <a:r>
              <a:rPr lang="en-US" sz="850" b="1" dirty="0">
                <a:solidFill>
                  <a:srgbClr val="0E7C6B"/>
                </a:solidFill>
                <a:latin typeface="Calibri" pitchFamily="34" charset="0"/>
                <a:ea typeface="Calibri" pitchFamily="34" charset="-122"/>
                <a:cs typeface="Calibri" pitchFamily="34" charset="-120"/>
              </a:rPr>
              <a:t>Equity NAV</a:t>
            </a:r>
            <a:endParaRPr lang="en-US" sz="850" dirty="0"/>
          </a:p>
        </p:txBody>
      </p:sp>
      <p:sp>
        <p:nvSpPr>
          <p:cNvPr id="141" name="Shape 139"/>
          <p:cNvSpPr/>
          <p:nvPr/>
        </p:nvSpPr>
        <p:spPr>
          <a:xfrm>
            <a:off x="3200400" y="4242816"/>
            <a:ext cx="1508760" cy="265176"/>
          </a:xfrm>
          <a:prstGeom prst="rect">
            <a:avLst/>
          </a:prstGeom>
          <a:solidFill>
            <a:srgbClr val="D6EBE7"/>
          </a:solidFill>
          <a:ln w="6350">
            <a:solidFill>
              <a:srgbClr val="D3DCE5"/>
            </a:solidFill>
            <a:prstDash val="solid"/>
          </a:ln>
        </p:spPr>
      </p:sp>
      <p:sp>
        <p:nvSpPr>
          <p:cNvPr id="142" name="Text 140"/>
          <p:cNvSpPr txBox="1"/>
          <p:nvPr/>
        </p:nvSpPr>
        <p:spPr>
          <a:xfrm>
            <a:off x="3264408" y="4242816"/>
            <a:ext cx="1380744" cy="265176"/>
          </a:xfrm>
          <a:prstGeom prst="rect">
            <a:avLst/>
          </a:prstGeom>
          <a:noFill/>
          <a:ln/>
        </p:spPr>
        <p:txBody>
          <a:bodyPr wrap="square" lIns="0" tIns="0" rIns="0" bIns="0" rtlCol="0" anchor="ctr"/>
          <a:lstStyle/>
          <a:p>
            <a:pPr algn="r" indent="0" marL="0">
              <a:buNone/>
            </a:pPr>
            <a:endParaRPr lang="en-US" sz="850" dirty="0"/>
          </a:p>
        </p:txBody>
      </p:sp>
      <p:sp>
        <p:nvSpPr>
          <p:cNvPr id="143" name="Shape 141"/>
          <p:cNvSpPr/>
          <p:nvPr/>
        </p:nvSpPr>
        <p:spPr>
          <a:xfrm>
            <a:off x="4709160" y="4242816"/>
            <a:ext cx="1005840" cy="265176"/>
          </a:xfrm>
          <a:prstGeom prst="rect">
            <a:avLst/>
          </a:prstGeom>
          <a:solidFill>
            <a:srgbClr val="D6EBE7"/>
          </a:solidFill>
          <a:ln w="6350">
            <a:solidFill>
              <a:srgbClr val="D3DCE5"/>
            </a:solidFill>
            <a:prstDash val="solid"/>
          </a:ln>
        </p:spPr>
      </p:sp>
      <p:sp>
        <p:nvSpPr>
          <p:cNvPr id="144" name="Text 142"/>
          <p:cNvSpPr txBox="1"/>
          <p:nvPr/>
        </p:nvSpPr>
        <p:spPr>
          <a:xfrm>
            <a:off x="4773168" y="4242816"/>
            <a:ext cx="877824" cy="265176"/>
          </a:xfrm>
          <a:prstGeom prst="rect">
            <a:avLst/>
          </a:prstGeom>
          <a:noFill/>
          <a:ln/>
        </p:spPr>
        <p:txBody>
          <a:bodyPr wrap="square" lIns="0" tIns="0" rIns="0" bIns="0" rtlCol="0" anchor="ctr"/>
          <a:lstStyle/>
          <a:p>
            <a:pPr algn="ctr" indent="0" marL="0">
              <a:buNone/>
            </a:pPr>
            <a:endParaRPr lang="en-US" sz="850" dirty="0"/>
          </a:p>
        </p:txBody>
      </p:sp>
      <p:sp>
        <p:nvSpPr>
          <p:cNvPr id="145" name="Shape 143"/>
          <p:cNvSpPr/>
          <p:nvPr/>
        </p:nvSpPr>
        <p:spPr>
          <a:xfrm>
            <a:off x="5715000" y="4242816"/>
            <a:ext cx="1417320" cy="265176"/>
          </a:xfrm>
          <a:prstGeom prst="rect">
            <a:avLst/>
          </a:prstGeom>
          <a:solidFill>
            <a:srgbClr val="D6EBE7"/>
          </a:solidFill>
          <a:ln w="6350">
            <a:solidFill>
              <a:srgbClr val="D3DCE5"/>
            </a:solidFill>
            <a:prstDash val="solid"/>
          </a:ln>
        </p:spPr>
      </p:sp>
      <p:sp>
        <p:nvSpPr>
          <p:cNvPr id="146" name="Text 144"/>
          <p:cNvSpPr txBox="1"/>
          <p:nvPr/>
        </p:nvSpPr>
        <p:spPr>
          <a:xfrm>
            <a:off x="5779008" y="4242816"/>
            <a:ext cx="1289304" cy="265176"/>
          </a:xfrm>
          <a:prstGeom prst="rect">
            <a:avLst/>
          </a:prstGeom>
          <a:noFill/>
          <a:ln/>
        </p:spPr>
        <p:txBody>
          <a:bodyPr wrap="square" lIns="0" tIns="0" rIns="0" bIns="0" rtlCol="0" anchor="ctr"/>
          <a:lstStyle/>
          <a:p>
            <a:pPr algn="r" indent="0" marL="0">
              <a:buNone/>
            </a:pPr>
            <a:r>
              <a:rPr lang="en-US" sz="850" b="1" dirty="0">
                <a:solidFill>
                  <a:srgbClr val="0E7C6B"/>
                </a:solidFill>
                <a:latin typeface="Calibri" pitchFamily="34" charset="0"/>
                <a:ea typeface="Calibri" pitchFamily="34" charset="-122"/>
                <a:cs typeface="Calibri" pitchFamily="34" charset="-120"/>
              </a:rPr>
              <a:t>14,412</a:t>
            </a:r>
            <a:endParaRPr lang="en-US" sz="850" dirty="0"/>
          </a:p>
        </p:txBody>
      </p:sp>
      <p:sp>
        <p:nvSpPr>
          <p:cNvPr id="147" name="Shape 145"/>
          <p:cNvSpPr/>
          <p:nvPr/>
        </p:nvSpPr>
        <p:spPr>
          <a:xfrm>
            <a:off x="7132320" y="4242816"/>
            <a:ext cx="1097280" cy="265176"/>
          </a:xfrm>
          <a:prstGeom prst="rect">
            <a:avLst/>
          </a:prstGeom>
          <a:solidFill>
            <a:srgbClr val="D6EBE7"/>
          </a:solidFill>
          <a:ln w="6350">
            <a:solidFill>
              <a:srgbClr val="D3DCE5"/>
            </a:solidFill>
            <a:prstDash val="solid"/>
          </a:ln>
        </p:spPr>
      </p:sp>
      <p:sp>
        <p:nvSpPr>
          <p:cNvPr id="148" name="Text 146"/>
          <p:cNvSpPr txBox="1"/>
          <p:nvPr/>
        </p:nvSpPr>
        <p:spPr>
          <a:xfrm>
            <a:off x="7196328" y="4242816"/>
            <a:ext cx="969264" cy="265176"/>
          </a:xfrm>
          <a:prstGeom prst="rect">
            <a:avLst/>
          </a:prstGeom>
          <a:noFill/>
          <a:ln/>
        </p:spPr>
        <p:txBody>
          <a:bodyPr wrap="square" lIns="0" tIns="0" rIns="0" bIns="0" rtlCol="0" anchor="ctr"/>
          <a:lstStyle/>
          <a:p>
            <a:pPr algn="r" indent="0" marL="0">
              <a:buNone/>
            </a:pPr>
            <a:r>
              <a:rPr lang="en-US" sz="850" b="1" dirty="0">
                <a:solidFill>
                  <a:srgbClr val="0E7C6B"/>
                </a:solidFill>
                <a:latin typeface="Calibri" pitchFamily="34" charset="0"/>
                <a:ea typeface="Calibri" pitchFamily="34" charset="-122"/>
                <a:cs typeface="Calibri" pitchFamily="34" charset="-120"/>
              </a:rPr>
              <a:t>4.48</a:t>
            </a:r>
            <a:endParaRPr lang="en-US" sz="850" dirty="0"/>
          </a:p>
        </p:txBody>
      </p:sp>
      <p:sp>
        <p:nvSpPr>
          <p:cNvPr id="149" name="Shape 147"/>
          <p:cNvSpPr/>
          <p:nvPr/>
        </p:nvSpPr>
        <p:spPr>
          <a:xfrm>
            <a:off x="8229600" y="4242816"/>
            <a:ext cx="3557016" cy="265176"/>
          </a:xfrm>
          <a:prstGeom prst="rect">
            <a:avLst/>
          </a:prstGeom>
          <a:solidFill>
            <a:srgbClr val="D6EBE7"/>
          </a:solidFill>
          <a:ln w="6350">
            <a:solidFill>
              <a:srgbClr val="D3DCE5"/>
            </a:solidFill>
            <a:prstDash val="solid"/>
          </a:ln>
        </p:spPr>
      </p:sp>
      <p:sp>
        <p:nvSpPr>
          <p:cNvPr id="150" name="Text 148"/>
          <p:cNvSpPr txBox="1"/>
          <p:nvPr/>
        </p:nvSpPr>
        <p:spPr>
          <a:xfrm>
            <a:off x="8293608" y="4242816"/>
            <a:ext cx="3429000" cy="265176"/>
          </a:xfrm>
          <a:prstGeom prst="rect">
            <a:avLst/>
          </a:prstGeom>
          <a:noFill/>
          <a:ln/>
        </p:spPr>
        <p:txBody>
          <a:bodyPr wrap="square" lIns="0" tIns="0" rIns="0" bIns="0" rtlCol="0" anchor="ctr"/>
          <a:lstStyle/>
          <a:p>
            <a:pPr algn="l" indent="0" marL="0">
              <a:buNone/>
            </a:pPr>
            <a:endParaRPr lang="en-US" sz="850" dirty="0"/>
          </a:p>
        </p:txBody>
      </p:sp>
      <p:sp>
        <p:nvSpPr>
          <p:cNvPr id="151" name="Shape 149"/>
          <p:cNvSpPr/>
          <p:nvPr/>
        </p:nvSpPr>
        <p:spPr>
          <a:xfrm>
            <a:off x="411480" y="4544568"/>
            <a:ext cx="11375136" cy="1316736"/>
          </a:xfrm>
          <a:prstGeom prst="rect">
            <a:avLst/>
          </a:prstGeom>
          <a:solidFill>
            <a:srgbClr val="EEF2F6"/>
          </a:solidFill>
          <a:ln w="9525">
            <a:solidFill>
              <a:srgbClr val="D3DCE5"/>
            </a:solidFill>
            <a:prstDash val="solid"/>
          </a:ln>
        </p:spPr>
      </p:sp>
      <p:sp>
        <p:nvSpPr>
          <p:cNvPr id="152" name="Text 150"/>
          <p:cNvSpPr txBox="1"/>
          <p:nvPr/>
        </p:nvSpPr>
        <p:spPr>
          <a:xfrm>
            <a:off x="576072" y="4672584"/>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Why the NAV is below the DCF, and why we did not average the two</a:t>
            </a:r>
            <a:endParaRPr lang="en-US" sz="1150" dirty="0"/>
          </a:p>
        </p:txBody>
      </p:sp>
      <p:sp>
        <p:nvSpPr>
          <p:cNvPr id="153" name="Text 151"/>
          <p:cNvSpPr txBox="1"/>
          <p:nvPr/>
        </p:nvSpPr>
        <p:spPr>
          <a:xfrm>
            <a:off x="576072" y="5001768"/>
            <a:ext cx="11045952" cy="768096"/>
          </a:xfrm>
          <a:prstGeom prst="rect">
            <a:avLst/>
          </a:prstGeom>
          <a:noFill/>
          <a:ln/>
        </p:spPr>
        <p:txBody>
          <a:bodyPr wrap="square" lIns="0" tIns="0" rIns="0" bIns="0" rtlCol="0" anchor="t"/>
          <a:lstStyle/>
          <a:p>
            <a:pPr indent="0" marL="0">
              <a:lnSpc>
                <a:spcPct val="105000"/>
              </a:lnSpc>
              <a:buNone/>
            </a:pPr>
            <a:r>
              <a:rPr lang="en-US" sz="830" dirty="0">
                <a:solidFill>
                  <a:srgbClr val="1B2733"/>
                </a:solidFill>
                <a:latin typeface="Calibri" pitchFamily="34" charset="0"/>
                <a:ea typeface="Calibri" pitchFamily="34" charset="-122"/>
                <a:cs typeface="Calibri" pitchFamily="34" charset="-120"/>
              </a:rPr>
              <a:t>Equity NAV of about A$4.48 sits well below both the A$6.53 base-case DCF and the A$5.48 share price. That is not a contradiction, it is a different question. The NAV values each asset separately, risk-weighted, at a point in time. The DCF values the consolidated cash flow the business actually generates, including the sixteen years of ore that follow the explicit forecast.</a:t>
            </a:r>
            <a:endParaRPr lang="en-US" sz="830" dirty="0"/>
          </a:p>
          <a:p>
            <a:pPr indent="0" marL="0">
              <a:lnSpc>
                <a:spcPct val="105000"/>
              </a:lnSpc>
              <a:buNone/>
            </a:pPr>
            <a:endParaRPr lang="en-US" sz="830" dirty="0"/>
          </a:p>
          <a:p>
            <a:pPr indent="0" marL="0">
              <a:lnSpc>
                <a:spcPct val="105000"/>
              </a:lnSpc>
              <a:buNone/>
            </a:pPr>
            <a:r>
              <a:rPr lang="en-US" sz="830" dirty="0">
                <a:solidFill>
                  <a:srgbClr val="1B2733"/>
                </a:solidFill>
                <a:latin typeface="Calibri" pitchFamily="34" charset="0"/>
                <a:ea typeface="Calibri" pitchFamily="34" charset="-122"/>
                <a:cs typeface="Calibri" pitchFamily="34" charset="-120"/>
              </a:rPr>
              <a:t>The gap is roughly the value of continuity: an operating business that keeps converting resource into reserve and reserve into cash flow is worth more than the sum of its individually risk-weighted parts. We present the NAV because it is the more conservative frame and because it makes visible that about A$0.80 per share of our valuation sits in assets that are not yet producing anything.</a:t>
            </a:r>
            <a:endParaRPr lang="en-US" sz="830" dirty="0"/>
          </a:p>
        </p:txBody>
      </p:sp>
      <p:sp>
        <p:nvSpPr>
          <p:cNvPr id="154" name="Text 152"/>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SOTP NAV sheet. Asset net present values are the team's estimates built on the same price deck and discount rate as the consolidated DCF, except P2000 which uses the company's own PFS figure. Risk weightings are our judgement.</a:t>
            </a:r>
            <a:endParaRPr lang="en-US" sz="720" dirty="0"/>
          </a:p>
        </p:txBody>
      </p:sp>
      <p:sp>
        <p:nvSpPr>
          <p:cNvPr id="155" name="Text 153"/>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E14</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mbria" pitchFamily="34" charset="0"/>
                <a:ea typeface="Cambria" pitchFamily="34" charset="-122"/>
                <a:cs typeface="Cambria" pitchFamily="34" charset="-120"/>
              </a:rPr>
              <a:t>A$2,396m unrisked, A$1,023m risked, A$0.32 per share - and deliberately excluded from the A$6.14 target.</a:t>
            </a:r>
            <a:endParaRPr lang="en-US" sz="170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E15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3657600" cy="292608"/>
          </a:xfrm>
          <a:prstGeom prst="rect">
            <a:avLst/>
          </a:prstGeom>
          <a:solidFill>
            <a:srgbClr val="10233A"/>
          </a:solidFill>
          <a:ln/>
        </p:spPr>
      </p:sp>
      <p:sp>
        <p:nvSpPr>
          <p:cNvPr id="8" name="Text 6"/>
          <p:cNvSpPr txBox="1"/>
          <p:nvPr/>
        </p:nvSpPr>
        <p:spPr>
          <a:xfrm>
            <a:off x="475488" y="1298448"/>
            <a:ext cx="352958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Lever</a:t>
            </a:r>
            <a:endParaRPr lang="en-US" sz="900" dirty="0"/>
          </a:p>
        </p:txBody>
      </p:sp>
      <p:sp>
        <p:nvSpPr>
          <p:cNvPr id="9" name="Shape 7"/>
          <p:cNvSpPr/>
          <p:nvPr/>
        </p:nvSpPr>
        <p:spPr>
          <a:xfrm>
            <a:off x="4069080" y="1298448"/>
            <a:ext cx="1143000" cy="292608"/>
          </a:xfrm>
          <a:prstGeom prst="rect">
            <a:avLst/>
          </a:prstGeom>
          <a:solidFill>
            <a:srgbClr val="10233A"/>
          </a:solidFill>
          <a:ln/>
        </p:spPr>
      </p:sp>
      <p:sp>
        <p:nvSpPr>
          <p:cNvPr id="10" name="Text 8"/>
          <p:cNvSpPr txBox="1"/>
          <p:nvPr/>
        </p:nvSpPr>
        <p:spPr>
          <a:xfrm>
            <a:off x="4133088" y="1298448"/>
            <a:ext cx="101498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Volume</a:t>
            </a:r>
            <a:endParaRPr lang="en-US" sz="900" dirty="0"/>
          </a:p>
        </p:txBody>
      </p:sp>
      <p:sp>
        <p:nvSpPr>
          <p:cNvPr id="11" name="Shape 9"/>
          <p:cNvSpPr/>
          <p:nvPr/>
        </p:nvSpPr>
        <p:spPr>
          <a:xfrm>
            <a:off x="5212080" y="1298448"/>
            <a:ext cx="1234440" cy="292608"/>
          </a:xfrm>
          <a:prstGeom prst="rect">
            <a:avLst/>
          </a:prstGeom>
          <a:solidFill>
            <a:srgbClr val="10233A"/>
          </a:solidFill>
          <a:ln/>
        </p:spPr>
      </p:sp>
      <p:sp>
        <p:nvSpPr>
          <p:cNvPr id="12" name="Text 10"/>
          <p:cNvSpPr txBox="1"/>
          <p:nvPr/>
        </p:nvSpPr>
        <p:spPr>
          <a:xfrm>
            <a:off x="5276088" y="1298448"/>
            <a:ext cx="110642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Unit margin</a:t>
            </a:r>
            <a:endParaRPr lang="en-US" sz="900" dirty="0"/>
          </a:p>
        </p:txBody>
      </p:sp>
      <p:sp>
        <p:nvSpPr>
          <p:cNvPr id="13" name="Shape 11"/>
          <p:cNvSpPr/>
          <p:nvPr/>
        </p:nvSpPr>
        <p:spPr>
          <a:xfrm>
            <a:off x="6446520" y="1298448"/>
            <a:ext cx="1234440" cy="292608"/>
          </a:xfrm>
          <a:prstGeom prst="rect">
            <a:avLst/>
          </a:prstGeom>
          <a:solidFill>
            <a:srgbClr val="10233A"/>
          </a:solidFill>
          <a:ln/>
        </p:spPr>
      </p:sp>
      <p:sp>
        <p:nvSpPr>
          <p:cNvPr id="14" name="Text 12"/>
          <p:cNvSpPr txBox="1"/>
          <p:nvPr/>
        </p:nvSpPr>
        <p:spPr>
          <a:xfrm>
            <a:off x="6510528" y="1298448"/>
            <a:ext cx="110642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EBITDA A$m</a:t>
            </a:r>
            <a:endParaRPr lang="en-US" sz="900" dirty="0"/>
          </a:p>
        </p:txBody>
      </p:sp>
      <p:sp>
        <p:nvSpPr>
          <p:cNvPr id="15" name="Shape 13"/>
          <p:cNvSpPr/>
          <p:nvPr/>
        </p:nvSpPr>
        <p:spPr>
          <a:xfrm>
            <a:off x="7680960" y="1298448"/>
            <a:ext cx="960120" cy="292608"/>
          </a:xfrm>
          <a:prstGeom prst="rect">
            <a:avLst/>
          </a:prstGeom>
          <a:solidFill>
            <a:srgbClr val="10233A"/>
          </a:solidFill>
          <a:ln/>
        </p:spPr>
      </p:sp>
      <p:sp>
        <p:nvSpPr>
          <p:cNvPr id="16" name="Text 14"/>
          <p:cNvSpPr txBox="1"/>
          <p:nvPr/>
        </p:nvSpPr>
        <p:spPr>
          <a:xfrm>
            <a:off x="7744968" y="1298448"/>
            <a:ext cx="83210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Multiple</a:t>
            </a:r>
            <a:endParaRPr lang="en-US" sz="900" dirty="0"/>
          </a:p>
        </p:txBody>
      </p:sp>
      <p:sp>
        <p:nvSpPr>
          <p:cNvPr id="17" name="Shape 15"/>
          <p:cNvSpPr/>
          <p:nvPr/>
        </p:nvSpPr>
        <p:spPr>
          <a:xfrm>
            <a:off x="8641080" y="1298448"/>
            <a:ext cx="1097280" cy="292608"/>
          </a:xfrm>
          <a:prstGeom prst="rect">
            <a:avLst/>
          </a:prstGeom>
          <a:solidFill>
            <a:srgbClr val="10233A"/>
          </a:solidFill>
          <a:ln/>
        </p:spPr>
      </p:sp>
      <p:sp>
        <p:nvSpPr>
          <p:cNvPr id="18" name="Text 16"/>
          <p:cNvSpPr txBox="1"/>
          <p:nvPr/>
        </p:nvSpPr>
        <p:spPr>
          <a:xfrm>
            <a:off x="8705088" y="1298448"/>
            <a:ext cx="969264"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NPV A$m</a:t>
            </a:r>
            <a:endParaRPr lang="en-US" sz="900" dirty="0"/>
          </a:p>
        </p:txBody>
      </p:sp>
      <p:sp>
        <p:nvSpPr>
          <p:cNvPr id="19" name="Shape 17"/>
          <p:cNvSpPr/>
          <p:nvPr/>
        </p:nvSpPr>
        <p:spPr>
          <a:xfrm>
            <a:off x="9738360" y="1298448"/>
            <a:ext cx="822960" cy="292608"/>
          </a:xfrm>
          <a:prstGeom prst="rect">
            <a:avLst/>
          </a:prstGeom>
          <a:solidFill>
            <a:srgbClr val="10233A"/>
          </a:solidFill>
          <a:ln/>
        </p:spPr>
      </p:sp>
      <p:sp>
        <p:nvSpPr>
          <p:cNvPr id="20" name="Text 18"/>
          <p:cNvSpPr txBox="1"/>
          <p:nvPr/>
        </p:nvSpPr>
        <p:spPr>
          <a:xfrm>
            <a:off x="9802368" y="1298448"/>
            <a:ext cx="694944"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p>
        </p:txBody>
      </p:sp>
      <p:sp>
        <p:nvSpPr>
          <p:cNvPr id="21" name="Shape 19"/>
          <p:cNvSpPr/>
          <p:nvPr/>
        </p:nvSpPr>
        <p:spPr>
          <a:xfrm>
            <a:off x="10561320" y="1298448"/>
            <a:ext cx="1225296" cy="292608"/>
          </a:xfrm>
          <a:prstGeom prst="rect">
            <a:avLst/>
          </a:prstGeom>
          <a:solidFill>
            <a:srgbClr val="10233A"/>
          </a:solidFill>
          <a:ln/>
        </p:spPr>
      </p:sp>
      <p:sp>
        <p:nvSpPr>
          <p:cNvPr id="22" name="Text 20"/>
          <p:cNvSpPr txBox="1"/>
          <p:nvPr/>
        </p:nvSpPr>
        <p:spPr>
          <a:xfrm>
            <a:off x="10625328" y="1298448"/>
            <a:ext cx="1097280" cy="292608"/>
          </a:xfrm>
          <a:prstGeom prst="rect">
            <a:avLst/>
          </a:prstGeom>
          <a:noFill/>
          <a:ln/>
        </p:spPr>
        <p:txBody>
          <a:bodyPr wrap="square" lIns="0" tIns="0" rIns="0" bIns="0" rtlCol="0" anchor="ctr"/>
          <a:lstStyle/>
          <a:p>
            <a:pPr algn="r" indent="0" marL="0">
              <a:buNone/>
            </a:pPr>
            <a:r>
              <a:rPr lang="en-US" sz="900" b="1" dirty="0">
                <a:solidFill>
                  <a:srgbClr val="FFFFFF"/>
                </a:solidFill>
                <a:latin typeface="Calibri" pitchFamily="34" charset="0"/>
                <a:ea typeface="Calibri" pitchFamily="34" charset="-122"/>
                <a:cs typeface="Calibri" pitchFamily="34" charset="-120"/>
              </a:rPr>
              <a:t>A$/sh</a:t>
            </a:r>
            <a:endParaRPr lang="en-US" sz="900" dirty="0"/>
          </a:p>
        </p:txBody>
      </p:sp>
      <p:sp>
        <p:nvSpPr>
          <p:cNvPr id="23" name="Shape 21"/>
          <p:cNvSpPr/>
          <p:nvPr/>
        </p:nvSpPr>
        <p:spPr>
          <a:xfrm>
            <a:off x="411480" y="1591056"/>
            <a:ext cx="3657600" cy="384048"/>
          </a:xfrm>
          <a:prstGeom prst="rect">
            <a:avLst/>
          </a:prstGeom>
          <a:solidFill>
            <a:srgbClr val="FFFFFF"/>
          </a:solidFill>
          <a:ln w="6350">
            <a:solidFill>
              <a:srgbClr val="D3DCE5"/>
            </a:solidFill>
            <a:prstDash val="solid"/>
          </a:ln>
        </p:spPr>
      </p:sp>
      <p:sp>
        <p:nvSpPr>
          <p:cNvPr id="24" name="Text 22"/>
          <p:cNvSpPr txBox="1"/>
          <p:nvPr/>
        </p:nvSpPr>
        <p:spPr>
          <a:xfrm>
            <a:off x="475488" y="1591056"/>
            <a:ext cx="3529584" cy="38404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Mid-stream lithium phosphate</a:t>
            </a:r>
            <a:endParaRPr lang="en-US" sz="850" dirty="0"/>
          </a:p>
        </p:txBody>
      </p:sp>
      <p:sp>
        <p:nvSpPr>
          <p:cNvPr id="25" name="Shape 23"/>
          <p:cNvSpPr/>
          <p:nvPr/>
        </p:nvSpPr>
        <p:spPr>
          <a:xfrm>
            <a:off x="4069080" y="1591056"/>
            <a:ext cx="1143000" cy="384048"/>
          </a:xfrm>
          <a:prstGeom prst="rect">
            <a:avLst/>
          </a:prstGeom>
          <a:solidFill>
            <a:srgbClr val="FFFFFF"/>
          </a:solidFill>
          <a:ln w="6350">
            <a:solidFill>
              <a:srgbClr val="D3DCE5"/>
            </a:solidFill>
            <a:prstDash val="solid"/>
          </a:ln>
        </p:spPr>
      </p:sp>
      <p:sp>
        <p:nvSpPr>
          <p:cNvPr id="26" name="Text 24"/>
          <p:cNvSpPr txBox="1"/>
          <p:nvPr/>
        </p:nvSpPr>
        <p:spPr>
          <a:xfrm>
            <a:off x="4133088" y="1591056"/>
            <a:ext cx="101498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400kt</a:t>
            </a:r>
            <a:endParaRPr lang="en-US" sz="850" dirty="0"/>
          </a:p>
        </p:txBody>
      </p:sp>
      <p:sp>
        <p:nvSpPr>
          <p:cNvPr id="27" name="Shape 25"/>
          <p:cNvSpPr/>
          <p:nvPr/>
        </p:nvSpPr>
        <p:spPr>
          <a:xfrm>
            <a:off x="5212080" y="1591056"/>
            <a:ext cx="1234440" cy="384048"/>
          </a:xfrm>
          <a:prstGeom prst="rect">
            <a:avLst/>
          </a:prstGeom>
          <a:solidFill>
            <a:srgbClr val="FFFFFF"/>
          </a:solidFill>
          <a:ln w="6350">
            <a:solidFill>
              <a:srgbClr val="D3DCE5"/>
            </a:solidFill>
            <a:prstDash val="solid"/>
          </a:ln>
        </p:spPr>
      </p:sp>
      <p:sp>
        <p:nvSpPr>
          <p:cNvPr id="28" name="Text 26"/>
          <p:cNvSpPr txBox="1"/>
          <p:nvPr/>
        </p:nvSpPr>
        <p:spPr>
          <a:xfrm>
            <a:off x="5276088" y="1591056"/>
            <a:ext cx="110642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A$480/t</a:t>
            </a:r>
            <a:endParaRPr lang="en-US" sz="850" dirty="0"/>
          </a:p>
        </p:txBody>
      </p:sp>
      <p:sp>
        <p:nvSpPr>
          <p:cNvPr id="29" name="Shape 27"/>
          <p:cNvSpPr/>
          <p:nvPr/>
        </p:nvSpPr>
        <p:spPr>
          <a:xfrm>
            <a:off x="6446520" y="1591056"/>
            <a:ext cx="1234440" cy="384048"/>
          </a:xfrm>
          <a:prstGeom prst="rect">
            <a:avLst/>
          </a:prstGeom>
          <a:solidFill>
            <a:srgbClr val="FFFFFF"/>
          </a:solidFill>
          <a:ln w="6350">
            <a:solidFill>
              <a:srgbClr val="D3DCE5"/>
            </a:solidFill>
            <a:prstDash val="solid"/>
          </a:ln>
        </p:spPr>
      </p:sp>
      <p:sp>
        <p:nvSpPr>
          <p:cNvPr id="30" name="Text 28"/>
          <p:cNvSpPr txBox="1"/>
          <p:nvPr/>
        </p:nvSpPr>
        <p:spPr>
          <a:xfrm>
            <a:off x="6510528" y="1591056"/>
            <a:ext cx="110642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192</a:t>
            </a:r>
            <a:endParaRPr lang="en-US" sz="850" dirty="0"/>
          </a:p>
        </p:txBody>
      </p:sp>
      <p:sp>
        <p:nvSpPr>
          <p:cNvPr id="31" name="Shape 29"/>
          <p:cNvSpPr/>
          <p:nvPr/>
        </p:nvSpPr>
        <p:spPr>
          <a:xfrm>
            <a:off x="7680960" y="1591056"/>
            <a:ext cx="960120" cy="384048"/>
          </a:xfrm>
          <a:prstGeom prst="rect">
            <a:avLst/>
          </a:prstGeom>
          <a:solidFill>
            <a:srgbClr val="FFFFFF"/>
          </a:solidFill>
          <a:ln w="6350">
            <a:solidFill>
              <a:srgbClr val="D3DCE5"/>
            </a:solidFill>
            <a:prstDash val="solid"/>
          </a:ln>
        </p:spPr>
      </p:sp>
      <p:sp>
        <p:nvSpPr>
          <p:cNvPr id="32" name="Text 30"/>
          <p:cNvSpPr txBox="1"/>
          <p:nvPr/>
        </p:nvSpPr>
        <p:spPr>
          <a:xfrm>
            <a:off x="7744968" y="1591056"/>
            <a:ext cx="832104" cy="384048"/>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8.0x</a:t>
            </a:r>
            <a:endParaRPr lang="en-US" sz="850" dirty="0"/>
          </a:p>
        </p:txBody>
      </p:sp>
      <p:sp>
        <p:nvSpPr>
          <p:cNvPr id="33" name="Shape 31"/>
          <p:cNvSpPr/>
          <p:nvPr/>
        </p:nvSpPr>
        <p:spPr>
          <a:xfrm>
            <a:off x="8641080" y="1591056"/>
            <a:ext cx="1097280" cy="384048"/>
          </a:xfrm>
          <a:prstGeom prst="rect">
            <a:avLst/>
          </a:prstGeom>
          <a:solidFill>
            <a:srgbClr val="FFFFFF"/>
          </a:solidFill>
          <a:ln w="6350">
            <a:solidFill>
              <a:srgbClr val="D3DCE5"/>
            </a:solidFill>
            <a:prstDash val="solid"/>
          </a:ln>
        </p:spPr>
      </p:sp>
      <p:sp>
        <p:nvSpPr>
          <p:cNvPr id="34" name="Text 32"/>
          <p:cNvSpPr txBox="1"/>
          <p:nvPr/>
        </p:nvSpPr>
        <p:spPr>
          <a:xfrm>
            <a:off x="8705088" y="1591056"/>
            <a:ext cx="96926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1,536</a:t>
            </a:r>
            <a:endParaRPr lang="en-US" sz="850" dirty="0"/>
          </a:p>
        </p:txBody>
      </p:sp>
      <p:sp>
        <p:nvSpPr>
          <p:cNvPr id="35" name="Shape 33"/>
          <p:cNvSpPr/>
          <p:nvPr/>
        </p:nvSpPr>
        <p:spPr>
          <a:xfrm>
            <a:off x="9738360" y="1591056"/>
            <a:ext cx="822960" cy="384048"/>
          </a:xfrm>
          <a:prstGeom prst="rect">
            <a:avLst/>
          </a:prstGeom>
          <a:solidFill>
            <a:srgbClr val="FFFFFF"/>
          </a:solidFill>
          <a:ln w="6350">
            <a:solidFill>
              <a:srgbClr val="D3DCE5"/>
            </a:solidFill>
            <a:prstDash val="solid"/>
          </a:ln>
        </p:spPr>
      </p:sp>
      <p:sp>
        <p:nvSpPr>
          <p:cNvPr id="36" name="Text 34"/>
          <p:cNvSpPr txBox="1"/>
          <p:nvPr/>
        </p:nvSpPr>
        <p:spPr>
          <a:xfrm>
            <a:off x="9802368" y="1591056"/>
            <a:ext cx="694944" cy="384048"/>
          </a:xfrm>
          <a:prstGeom prst="rect">
            <a:avLst/>
          </a:prstGeom>
          <a:noFill/>
          <a:ln/>
        </p:spPr>
        <p:txBody>
          <a:bodyPr wrap="square" lIns="0" tIns="0" rIns="0" bIns="0" rtlCol="0" anchor="ctr"/>
          <a:lstStyle/>
          <a:p>
            <a:pPr algn="ctr" indent="0" marL="0">
              <a:buNone/>
            </a:pPr>
            <a:r>
              <a:rPr lang="en-US" sz="850" dirty="0">
                <a:solidFill>
                  <a:srgbClr val="C2610A"/>
                </a:solidFill>
                <a:latin typeface="Calibri" pitchFamily="34" charset="0"/>
                <a:ea typeface="Calibri" pitchFamily="34" charset="-122"/>
                <a:cs typeface="Calibri" pitchFamily="34" charset="-120"/>
              </a:rPr>
              <a:t>45%</a:t>
            </a:r>
            <a:endParaRPr lang="en-US" sz="850" dirty="0"/>
          </a:p>
        </p:txBody>
      </p:sp>
      <p:sp>
        <p:nvSpPr>
          <p:cNvPr id="37" name="Shape 35"/>
          <p:cNvSpPr/>
          <p:nvPr/>
        </p:nvSpPr>
        <p:spPr>
          <a:xfrm>
            <a:off x="10561320" y="1591056"/>
            <a:ext cx="1225296" cy="384048"/>
          </a:xfrm>
          <a:prstGeom prst="rect">
            <a:avLst/>
          </a:prstGeom>
          <a:solidFill>
            <a:srgbClr val="FFFFFF"/>
          </a:solidFill>
          <a:ln w="6350">
            <a:solidFill>
              <a:srgbClr val="D3DCE5"/>
            </a:solidFill>
            <a:prstDash val="solid"/>
          </a:ln>
        </p:spPr>
      </p:sp>
      <p:sp>
        <p:nvSpPr>
          <p:cNvPr id="38" name="Text 36"/>
          <p:cNvSpPr txBox="1"/>
          <p:nvPr/>
        </p:nvSpPr>
        <p:spPr>
          <a:xfrm>
            <a:off x="10625328" y="1591056"/>
            <a:ext cx="1097280" cy="384048"/>
          </a:xfrm>
          <a:prstGeom prst="rect">
            <a:avLst/>
          </a:prstGeom>
          <a:noFill/>
          <a:ln/>
        </p:spPr>
        <p:txBody>
          <a:bodyPr wrap="square" lIns="0" tIns="0" rIns="0" bIns="0" rtlCol="0" anchor="ctr"/>
          <a:lstStyle/>
          <a:p>
            <a:pPr algn="r" indent="0" marL="0">
              <a:buNone/>
            </a:pPr>
            <a:r>
              <a:rPr lang="en-US" sz="850" b="1" dirty="0">
                <a:solidFill>
                  <a:srgbClr val="1B2733"/>
                </a:solidFill>
                <a:latin typeface="Calibri" pitchFamily="34" charset="0"/>
                <a:ea typeface="Calibri" pitchFamily="34" charset="-122"/>
                <a:cs typeface="Calibri" pitchFamily="34" charset="-120"/>
              </a:rPr>
              <a:t>0.21</a:t>
            </a:r>
            <a:endParaRPr lang="en-US" sz="850" dirty="0"/>
          </a:p>
        </p:txBody>
      </p:sp>
      <p:sp>
        <p:nvSpPr>
          <p:cNvPr id="39" name="Shape 37"/>
          <p:cNvSpPr/>
          <p:nvPr/>
        </p:nvSpPr>
        <p:spPr>
          <a:xfrm>
            <a:off x="411480" y="1975104"/>
            <a:ext cx="3657600" cy="384048"/>
          </a:xfrm>
          <a:prstGeom prst="rect">
            <a:avLst/>
          </a:prstGeom>
          <a:solidFill>
            <a:srgbClr val="F7F9FB"/>
          </a:solidFill>
          <a:ln w="6350">
            <a:solidFill>
              <a:srgbClr val="D3DCE5"/>
            </a:solidFill>
            <a:prstDash val="solid"/>
          </a:ln>
        </p:spPr>
      </p:sp>
      <p:sp>
        <p:nvSpPr>
          <p:cNvPr id="40" name="Text 38"/>
          <p:cNvSpPr txBox="1"/>
          <p:nvPr/>
        </p:nvSpPr>
        <p:spPr>
          <a:xfrm>
            <a:off x="475488" y="1975104"/>
            <a:ext cx="3529584" cy="38404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POSCO joint venture equity</a:t>
            </a:r>
            <a:endParaRPr lang="en-US" sz="850" dirty="0"/>
          </a:p>
        </p:txBody>
      </p:sp>
      <p:sp>
        <p:nvSpPr>
          <p:cNvPr id="41" name="Shape 39"/>
          <p:cNvSpPr/>
          <p:nvPr/>
        </p:nvSpPr>
        <p:spPr>
          <a:xfrm>
            <a:off x="4069080" y="1975104"/>
            <a:ext cx="1143000" cy="384048"/>
          </a:xfrm>
          <a:prstGeom prst="rect">
            <a:avLst/>
          </a:prstGeom>
          <a:solidFill>
            <a:srgbClr val="F7F9FB"/>
          </a:solidFill>
          <a:ln w="6350">
            <a:solidFill>
              <a:srgbClr val="D3DCE5"/>
            </a:solidFill>
            <a:prstDash val="solid"/>
          </a:ln>
        </p:spPr>
      </p:sp>
      <p:sp>
        <p:nvSpPr>
          <p:cNvPr id="42" name="Text 40"/>
          <p:cNvSpPr txBox="1"/>
          <p:nvPr/>
        </p:nvSpPr>
        <p:spPr>
          <a:xfrm>
            <a:off x="4133088" y="1975104"/>
            <a:ext cx="101498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43ktpa</a:t>
            </a:r>
            <a:endParaRPr lang="en-US" sz="850" dirty="0"/>
          </a:p>
        </p:txBody>
      </p:sp>
      <p:sp>
        <p:nvSpPr>
          <p:cNvPr id="43" name="Shape 41"/>
          <p:cNvSpPr/>
          <p:nvPr/>
        </p:nvSpPr>
        <p:spPr>
          <a:xfrm>
            <a:off x="5212080" y="1975104"/>
            <a:ext cx="1234440" cy="384048"/>
          </a:xfrm>
          <a:prstGeom prst="rect">
            <a:avLst/>
          </a:prstGeom>
          <a:solidFill>
            <a:srgbClr val="F7F9FB"/>
          </a:solidFill>
          <a:ln w="6350">
            <a:solidFill>
              <a:srgbClr val="D3DCE5"/>
            </a:solidFill>
            <a:prstDash val="solid"/>
          </a:ln>
        </p:spPr>
      </p:sp>
      <p:sp>
        <p:nvSpPr>
          <p:cNvPr id="44" name="Text 42"/>
          <p:cNvSpPr txBox="1"/>
          <p:nvPr/>
        </p:nvSpPr>
        <p:spPr>
          <a:xfrm>
            <a:off x="5276088" y="1975104"/>
            <a:ext cx="110642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A$4,200/t</a:t>
            </a:r>
            <a:endParaRPr lang="en-US" sz="850" dirty="0"/>
          </a:p>
        </p:txBody>
      </p:sp>
      <p:sp>
        <p:nvSpPr>
          <p:cNvPr id="45" name="Shape 43"/>
          <p:cNvSpPr/>
          <p:nvPr/>
        </p:nvSpPr>
        <p:spPr>
          <a:xfrm>
            <a:off x="6446520" y="1975104"/>
            <a:ext cx="1234440" cy="384048"/>
          </a:xfrm>
          <a:prstGeom prst="rect">
            <a:avLst/>
          </a:prstGeom>
          <a:solidFill>
            <a:srgbClr val="F7F9FB"/>
          </a:solidFill>
          <a:ln w="6350">
            <a:solidFill>
              <a:srgbClr val="D3DCE5"/>
            </a:solidFill>
            <a:prstDash val="solid"/>
          </a:ln>
        </p:spPr>
      </p:sp>
      <p:sp>
        <p:nvSpPr>
          <p:cNvPr id="46" name="Text 44"/>
          <p:cNvSpPr txBox="1"/>
          <p:nvPr/>
        </p:nvSpPr>
        <p:spPr>
          <a:xfrm>
            <a:off x="6510528" y="1975104"/>
            <a:ext cx="110642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33</a:t>
            </a:r>
            <a:endParaRPr lang="en-US" sz="850" dirty="0"/>
          </a:p>
        </p:txBody>
      </p:sp>
      <p:sp>
        <p:nvSpPr>
          <p:cNvPr id="47" name="Shape 45"/>
          <p:cNvSpPr/>
          <p:nvPr/>
        </p:nvSpPr>
        <p:spPr>
          <a:xfrm>
            <a:off x="7680960" y="1975104"/>
            <a:ext cx="960120" cy="384048"/>
          </a:xfrm>
          <a:prstGeom prst="rect">
            <a:avLst/>
          </a:prstGeom>
          <a:solidFill>
            <a:srgbClr val="F7F9FB"/>
          </a:solidFill>
          <a:ln w="6350">
            <a:solidFill>
              <a:srgbClr val="D3DCE5"/>
            </a:solidFill>
            <a:prstDash val="solid"/>
          </a:ln>
        </p:spPr>
      </p:sp>
      <p:sp>
        <p:nvSpPr>
          <p:cNvPr id="48" name="Text 46"/>
          <p:cNvSpPr txBox="1"/>
          <p:nvPr/>
        </p:nvSpPr>
        <p:spPr>
          <a:xfrm>
            <a:off x="7744968" y="1975104"/>
            <a:ext cx="832104" cy="384048"/>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8.0x</a:t>
            </a:r>
            <a:endParaRPr lang="en-US" sz="850" dirty="0"/>
          </a:p>
        </p:txBody>
      </p:sp>
      <p:sp>
        <p:nvSpPr>
          <p:cNvPr id="49" name="Shape 47"/>
          <p:cNvSpPr/>
          <p:nvPr/>
        </p:nvSpPr>
        <p:spPr>
          <a:xfrm>
            <a:off x="8641080" y="1975104"/>
            <a:ext cx="1097280" cy="384048"/>
          </a:xfrm>
          <a:prstGeom prst="rect">
            <a:avLst/>
          </a:prstGeom>
          <a:solidFill>
            <a:srgbClr val="F7F9FB"/>
          </a:solidFill>
          <a:ln w="6350">
            <a:solidFill>
              <a:srgbClr val="D3DCE5"/>
            </a:solidFill>
            <a:prstDash val="solid"/>
          </a:ln>
        </p:spPr>
      </p:sp>
      <p:sp>
        <p:nvSpPr>
          <p:cNvPr id="50" name="Text 48"/>
          <p:cNvSpPr txBox="1"/>
          <p:nvPr/>
        </p:nvSpPr>
        <p:spPr>
          <a:xfrm>
            <a:off x="8705088" y="1975104"/>
            <a:ext cx="96926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260</a:t>
            </a:r>
            <a:endParaRPr lang="en-US" sz="850" dirty="0"/>
          </a:p>
        </p:txBody>
      </p:sp>
      <p:sp>
        <p:nvSpPr>
          <p:cNvPr id="51" name="Shape 49"/>
          <p:cNvSpPr/>
          <p:nvPr/>
        </p:nvSpPr>
        <p:spPr>
          <a:xfrm>
            <a:off x="9738360" y="1975104"/>
            <a:ext cx="822960" cy="384048"/>
          </a:xfrm>
          <a:prstGeom prst="rect">
            <a:avLst/>
          </a:prstGeom>
          <a:solidFill>
            <a:srgbClr val="F7F9FB"/>
          </a:solidFill>
          <a:ln w="6350">
            <a:solidFill>
              <a:srgbClr val="D3DCE5"/>
            </a:solidFill>
            <a:prstDash val="solid"/>
          </a:ln>
        </p:spPr>
      </p:sp>
      <p:sp>
        <p:nvSpPr>
          <p:cNvPr id="52" name="Text 50"/>
          <p:cNvSpPr txBox="1"/>
          <p:nvPr/>
        </p:nvSpPr>
        <p:spPr>
          <a:xfrm>
            <a:off x="9802368" y="1975104"/>
            <a:ext cx="694944" cy="384048"/>
          </a:xfrm>
          <a:prstGeom prst="rect">
            <a:avLst/>
          </a:prstGeom>
          <a:noFill/>
          <a:ln/>
        </p:spPr>
        <p:txBody>
          <a:bodyPr wrap="square" lIns="0" tIns="0" rIns="0" bIns="0" rtlCol="0" anchor="ctr"/>
          <a:lstStyle/>
          <a:p>
            <a:pPr algn="ctr" indent="0" marL="0">
              <a:buNone/>
            </a:pPr>
            <a:r>
              <a:rPr lang="en-US" sz="850" dirty="0">
                <a:solidFill>
                  <a:srgbClr val="0E7C6B"/>
                </a:solidFill>
                <a:latin typeface="Calibri" pitchFamily="34" charset="0"/>
                <a:ea typeface="Calibri" pitchFamily="34" charset="-122"/>
                <a:cs typeface="Calibri" pitchFamily="34" charset="-120"/>
              </a:rPr>
              <a:t>70%</a:t>
            </a:r>
            <a:endParaRPr lang="en-US" sz="850" dirty="0"/>
          </a:p>
        </p:txBody>
      </p:sp>
      <p:sp>
        <p:nvSpPr>
          <p:cNvPr id="53" name="Shape 51"/>
          <p:cNvSpPr/>
          <p:nvPr/>
        </p:nvSpPr>
        <p:spPr>
          <a:xfrm>
            <a:off x="10561320" y="1975104"/>
            <a:ext cx="1225296" cy="384048"/>
          </a:xfrm>
          <a:prstGeom prst="rect">
            <a:avLst/>
          </a:prstGeom>
          <a:solidFill>
            <a:srgbClr val="F7F9FB"/>
          </a:solidFill>
          <a:ln w="6350">
            <a:solidFill>
              <a:srgbClr val="D3DCE5"/>
            </a:solidFill>
            <a:prstDash val="solid"/>
          </a:ln>
        </p:spPr>
      </p:sp>
      <p:sp>
        <p:nvSpPr>
          <p:cNvPr id="54" name="Text 52"/>
          <p:cNvSpPr txBox="1"/>
          <p:nvPr/>
        </p:nvSpPr>
        <p:spPr>
          <a:xfrm>
            <a:off x="10625328" y="1975104"/>
            <a:ext cx="1097280" cy="384048"/>
          </a:xfrm>
          <a:prstGeom prst="rect">
            <a:avLst/>
          </a:prstGeom>
          <a:noFill/>
          <a:ln/>
        </p:spPr>
        <p:txBody>
          <a:bodyPr wrap="square" lIns="0" tIns="0" rIns="0" bIns="0" rtlCol="0" anchor="ctr"/>
          <a:lstStyle/>
          <a:p>
            <a:pPr algn="r" indent="0" marL="0">
              <a:buNone/>
            </a:pPr>
            <a:r>
              <a:rPr lang="en-US" sz="850" b="1" dirty="0">
                <a:solidFill>
                  <a:srgbClr val="1B2733"/>
                </a:solidFill>
                <a:latin typeface="Calibri" pitchFamily="34" charset="0"/>
                <a:ea typeface="Calibri" pitchFamily="34" charset="-122"/>
                <a:cs typeface="Calibri" pitchFamily="34" charset="-120"/>
              </a:rPr>
              <a:t>0.06</a:t>
            </a:r>
            <a:endParaRPr lang="en-US" sz="850" dirty="0"/>
          </a:p>
        </p:txBody>
      </p:sp>
      <p:sp>
        <p:nvSpPr>
          <p:cNvPr id="55" name="Shape 53"/>
          <p:cNvSpPr/>
          <p:nvPr/>
        </p:nvSpPr>
        <p:spPr>
          <a:xfrm>
            <a:off x="411480" y="2359152"/>
            <a:ext cx="3657600" cy="384048"/>
          </a:xfrm>
          <a:prstGeom prst="rect">
            <a:avLst/>
          </a:prstGeom>
          <a:solidFill>
            <a:srgbClr val="FFFFFF"/>
          </a:solidFill>
          <a:ln w="6350">
            <a:solidFill>
              <a:srgbClr val="D3DCE5"/>
            </a:solidFill>
            <a:prstDash val="solid"/>
          </a:ln>
        </p:spPr>
      </p:sp>
      <p:sp>
        <p:nvSpPr>
          <p:cNvPr id="56" name="Text 54"/>
          <p:cNvSpPr txBox="1"/>
          <p:nvPr/>
        </p:nvSpPr>
        <p:spPr>
          <a:xfrm>
            <a:off x="475488" y="2359152"/>
            <a:ext cx="3529584" cy="38404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Low-carbon qualification premium</a:t>
            </a:r>
            <a:endParaRPr lang="en-US" sz="850" dirty="0"/>
          </a:p>
        </p:txBody>
      </p:sp>
      <p:sp>
        <p:nvSpPr>
          <p:cNvPr id="57" name="Shape 55"/>
          <p:cNvSpPr/>
          <p:nvPr/>
        </p:nvSpPr>
        <p:spPr>
          <a:xfrm>
            <a:off x="4069080" y="2359152"/>
            <a:ext cx="1143000" cy="384048"/>
          </a:xfrm>
          <a:prstGeom prst="rect">
            <a:avLst/>
          </a:prstGeom>
          <a:solidFill>
            <a:srgbClr val="FFFFFF"/>
          </a:solidFill>
          <a:ln w="6350">
            <a:solidFill>
              <a:srgbClr val="D3DCE5"/>
            </a:solidFill>
            <a:prstDash val="solid"/>
          </a:ln>
        </p:spPr>
      </p:sp>
      <p:sp>
        <p:nvSpPr>
          <p:cNvPr id="58" name="Text 56"/>
          <p:cNvSpPr txBox="1"/>
          <p:nvPr/>
        </p:nvSpPr>
        <p:spPr>
          <a:xfrm>
            <a:off x="4133088" y="2359152"/>
            <a:ext cx="101498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1,000kt</a:t>
            </a:r>
            <a:endParaRPr lang="en-US" sz="850" dirty="0"/>
          </a:p>
        </p:txBody>
      </p:sp>
      <p:sp>
        <p:nvSpPr>
          <p:cNvPr id="59" name="Shape 57"/>
          <p:cNvSpPr/>
          <p:nvPr/>
        </p:nvSpPr>
        <p:spPr>
          <a:xfrm>
            <a:off x="5212080" y="2359152"/>
            <a:ext cx="1234440" cy="384048"/>
          </a:xfrm>
          <a:prstGeom prst="rect">
            <a:avLst/>
          </a:prstGeom>
          <a:solidFill>
            <a:srgbClr val="FFFFFF"/>
          </a:solidFill>
          <a:ln w="6350">
            <a:solidFill>
              <a:srgbClr val="D3DCE5"/>
            </a:solidFill>
            <a:prstDash val="solid"/>
          </a:ln>
        </p:spPr>
      </p:sp>
      <p:sp>
        <p:nvSpPr>
          <p:cNvPr id="60" name="Text 58"/>
          <p:cNvSpPr txBox="1"/>
          <p:nvPr/>
        </p:nvSpPr>
        <p:spPr>
          <a:xfrm>
            <a:off x="5276088" y="2359152"/>
            <a:ext cx="110642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A$75/t</a:t>
            </a:r>
            <a:endParaRPr lang="en-US" sz="850" dirty="0"/>
          </a:p>
        </p:txBody>
      </p:sp>
      <p:sp>
        <p:nvSpPr>
          <p:cNvPr id="61" name="Shape 59"/>
          <p:cNvSpPr/>
          <p:nvPr/>
        </p:nvSpPr>
        <p:spPr>
          <a:xfrm>
            <a:off x="6446520" y="2359152"/>
            <a:ext cx="1234440" cy="384048"/>
          </a:xfrm>
          <a:prstGeom prst="rect">
            <a:avLst/>
          </a:prstGeom>
          <a:solidFill>
            <a:srgbClr val="FFFFFF"/>
          </a:solidFill>
          <a:ln w="6350">
            <a:solidFill>
              <a:srgbClr val="D3DCE5"/>
            </a:solidFill>
            <a:prstDash val="solid"/>
          </a:ln>
        </p:spPr>
      </p:sp>
      <p:sp>
        <p:nvSpPr>
          <p:cNvPr id="62" name="Text 60"/>
          <p:cNvSpPr txBox="1"/>
          <p:nvPr/>
        </p:nvSpPr>
        <p:spPr>
          <a:xfrm>
            <a:off x="6510528" y="2359152"/>
            <a:ext cx="110642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75</a:t>
            </a:r>
            <a:endParaRPr lang="en-US" sz="850" dirty="0"/>
          </a:p>
        </p:txBody>
      </p:sp>
      <p:sp>
        <p:nvSpPr>
          <p:cNvPr id="63" name="Shape 61"/>
          <p:cNvSpPr/>
          <p:nvPr/>
        </p:nvSpPr>
        <p:spPr>
          <a:xfrm>
            <a:off x="7680960" y="2359152"/>
            <a:ext cx="960120" cy="384048"/>
          </a:xfrm>
          <a:prstGeom prst="rect">
            <a:avLst/>
          </a:prstGeom>
          <a:solidFill>
            <a:srgbClr val="FFFFFF"/>
          </a:solidFill>
          <a:ln w="6350">
            <a:solidFill>
              <a:srgbClr val="D3DCE5"/>
            </a:solidFill>
            <a:prstDash val="solid"/>
          </a:ln>
        </p:spPr>
      </p:sp>
      <p:sp>
        <p:nvSpPr>
          <p:cNvPr id="64" name="Text 62"/>
          <p:cNvSpPr txBox="1"/>
          <p:nvPr/>
        </p:nvSpPr>
        <p:spPr>
          <a:xfrm>
            <a:off x="7744968" y="2359152"/>
            <a:ext cx="832104" cy="384048"/>
          </a:xfrm>
          <a:prstGeom prst="rect">
            <a:avLst/>
          </a:prstGeom>
          <a:noFill/>
          <a:ln/>
        </p:spPr>
        <p:txBody>
          <a:bodyPr wrap="square" lIns="0" tIns="0" rIns="0" bIns="0" rtlCol="0" anchor="ctr"/>
          <a:lstStyle/>
          <a:p>
            <a:pPr algn="ctr" indent="0" marL="0">
              <a:buNone/>
            </a:pPr>
            <a:r>
              <a:rPr lang="en-US" sz="850" dirty="0">
                <a:solidFill>
                  <a:srgbClr val="1B2733"/>
                </a:solidFill>
                <a:latin typeface="Calibri" pitchFamily="34" charset="0"/>
                <a:ea typeface="Calibri" pitchFamily="34" charset="-122"/>
                <a:cs typeface="Calibri" pitchFamily="34" charset="-120"/>
              </a:rPr>
              <a:t>8.0x</a:t>
            </a:r>
            <a:endParaRPr lang="en-US" sz="850" dirty="0"/>
          </a:p>
        </p:txBody>
      </p:sp>
      <p:sp>
        <p:nvSpPr>
          <p:cNvPr id="65" name="Shape 63"/>
          <p:cNvSpPr/>
          <p:nvPr/>
        </p:nvSpPr>
        <p:spPr>
          <a:xfrm>
            <a:off x="8641080" y="2359152"/>
            <a:ext cx="1097280" cy="384048"/>
          </a:xfrm>
          <a:prstGeom prst="rect">
            <a:avLst/>
          </a:prstGeom>
          <a:solidFill>
            <a:srgbClr val="FFFFFF"/>
          </a:solidFill>
          <a:ln w="6350">
            <a:solidFill>
              <a:srgbClr val="D3DCE5"/>
            </a:solidFill>
            <a:prstDash val="solid"/>
          </a:ln>
        </p:spPr>
      </p:sp>
      <p:sp>
        <p:nvSpPr>
          <p:cNvPr id="66" name="Text 64"/>
          <p:cNvSpPr txBox="1"/>
          <p:nvPr/>
        </p:nvSpPr>
        <p:spPr>
          <a:xfrm>
            <a:off x="8705088" y="2359152"/>
            <a:ext cx="969264" cy="384048"/>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600</a:t>
            </a:r>
            <a:endParaRPr lang="en-US" sz="850" dirty="0"/>
          </a:p>
        </p:txBody>
      </p:sp>
      <p:sp>
        <p:nvSpPr>
          <p:cNvPr id="67" name="Shape 65"/>
          <p:cNvSpPr/>
          <p:nvPr/>
        </p:nvSpPr>
        <p:spPr>
          <a:xfrm>
            <a:off x="9738360" y="2359152"/>
            <a:ext cx="822960" cy="384048"/>
          </a:xfrm>
          <a:prstGeom prst="rect">
            <a:avLst/>
          </a:prstGeom>
          <a:solidFill>
            <a:srgbClr val="FFFFFF"/>
          </a:solidFill>
          <a:ln w="6350">
            <a:solidFill>
              <a:srgbClr val="D3DCE5"/>
            </a:solidFill>
            <a:prstDash val="solid"/>
          </a:ln>
        </p:spPr>
      </p:sp>
      <p:sp>
        <p:nvSpPr>
          <p:cNvPr id="68" name="Text 66"/>
          <p:cNvSpPr txBox="1"/>
          <p:nvPr/>
        </p:nvSpPr>
        <p:spPr>
          <a:xfrm>
            <a:off x="9802368" y="2359152"/>
            <a:ext cx="694944" cy="384048"/>
          </a:xfrm>
          <a:prstGeom prst="rect">
            <a:avLst/>
          </a:prstGeom>
          <a:noFill/>
          <a:ln/>
        </p:spPr>
        <p:txBody>
          <a:bodyPr wrap="square" lIns="0" tIns="0" rIns="0" bIns="0" rtlCol="0" anchor="ctr"/>
          <a:lstStyle/>
          <a:p>
            <a:pPr algn="ctr" indent="0" marL="0">
              <a:buNone/>
            </a:pPr>
            <a:r>
              <a:rPr lang="en-US" sz="850" dirty="0">
                <a:solidFill>
                  <a:srgbClr val="A3282C"/>
                </a:solidFill>
                <a:latin typeface="Calibri" pitchFamily="34" charset="0"/>
                <a:ea typeface="Calibri" pitchFamily="34" charset="-122"/>
                <a:cs typeface="Calibri" pitchFamily="34" charset="-120"/>
              </a:rPr>
              <a:t>25%</a:t>
            </a:r>
            <a:endParaRPr lang="en-US" sz="850" dirty="0"/>
          </a:p>
        </p:txBody>
      </p:sp>
      <p:sp>
        <p:nvSpPr>
          <p:cNvPr id="69" name="Shape 67"/>
          <p:cNvSpPr/>
          <p:nvPr/>
        </p:nvSpPr>
        <p:spPr>
          <a:xfrm>
            <a:off x="10561320" y="2359152"/>
            <a:ext cx="1225296" cy="384048"/>
          </a:xfrm>
          <a:prstGeom prst="rect">
            <a:avLst/>
          </a:prstGeom>
          <a:solidFill>
            <a:srgbClr val="FFFFFF"/>
          </a:solidFill>
          <a:ln w="6350">
            <a:solidFill>
              <a:srgbClr val="D3DCE5"/>
            </a:solidFill>
            <a:prstDash val="solid"/>
          </a:ln>
        </p:spPr>
      </p:sp>
      <p:sp>
        <p:nvSpPr>
          <p:cNvPr id="70" name="Text 68"/>
          <p:cNvSpPr txBox="1"/>
          <p:nvPr/>
        </p:nvSpPr>
        <p:spPr>
          <a:xfrm>
            <a:off x="10625328" y="2359152"/>
            <a:ext cx="1097280" cy="384048"/>
          </a:xfrm>
          <a:prstGeom prst="rect">
            <a:avLst/>
          </a:prstGeom>
          <a:noFill/>
          <a:ln/>
        </p:spPr>
        <p:txBody>
          <a:bodyPr wrap="square" lIns="0" tIns="0" rIns="0" bIns="0" rtlCol="0" anchor="ctr"/>
          <a:lstStyle/>
          <a:p>
            <a:pPr algn="r" indent="0" marL="0">
              <a:buNone/>
            </a:pPr>
            <a:r>
              <a:rPr lang="en-US" sz="850" b="1" dirty="0">
                <a:solidFill>
                  <a:srgbClr val="1B2733"/>
                </a:solidFill>
                <a:latin typeface="Calibri" pitchFamily="34" charset="0"/>
                <a:ea typeface="Calibri" pitchFamily="34" charset="-122"/>
                <a:cs typeface="Calibri" pitchFamily="34" charset="-120"/>
              </a:rPr>
              <a:t>0.05</a:t>
            </a:r>
            <a:endParaRPr lang="en-US" sz="850" dirty="0"/>
          </a:p>
        </p:txBody>
      </p:sp>
      <p:sp>
        <p:nvSpPr>
          <p:cNvPr id="71" name="Shape 69"/>
          <p:cNvSpPr/>
          <p:nvPr/>
        </p:nvSpPr>
        <p:spPr>
          <a:xfrm>
            <a:off x="411480" y="2743200"/>
            <a:ext cx="3657600" cy="384048"/>
          </a:xfrm>
          <a:prstGeom prst="rect">
            <a:avLst/>
          </a:prstGeom>
          <a:solidFill>
            <a:srgbClr val="D6EBE7"/>
          </a:solidFill>
          <a:ln w="6350">
            <a:solidFill>
              <a:srgbClr val="D3DCE5"/>
            </a:solidFill>
            <a:prstDash val="solid"/>
          </a:ln>
        </p:spPr>
      </p:sp>
      <p:sp>
        <p:nvSpPr>
          <p:cNvPr id="72" name="Text 70"/>
          <p:cNvSpPr txBox="1"/>
          <p:nvPr/>
        </p:nvSpPr>
        <p:spPr>
          <a:xfrm>
            <a:off x="475488" y="2743200"/>
            <a:ext cx="3529584" cy="384048"/>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Total</a:t>
            </a:r>
            <a:endParaRPr lang="en-US" sz="850" dirty="0"/>
          </a:p>
        </p:txBody>
      </p:sp>
      <p:sp>
        <p:nvSpPr>
          <p:cNvPr id="73" name="Shape 71"/>
          <p:cNvSpPr/>
          <p:nvPr/>
        </p:nvSpPr>
        <p:spPr>
          <a:xfrm>
            <a:off x="4069080" y="2743200"/>
            <a:ext cx="1143000" cy="384048"/>
          </a:xfrm>
          <a:prstGeom prst="rect">
            <a:avLst/>
          </a:prstGeom>
          <a:solidFill>
            <a:srgbClr val="D6EBE7"/>
          </a:solidFill>
          <a:ln w="6350">
            <a:solidFill>
              <a:srgbClr val="D3DCE5"/>
            </a:solidFill>
            <a:prstDash val="solid"/>
          </a:ln>
        </p:spPr>
      </p:sp>
      <p:sp>
        <p:nvSpPr>
          <p:cNvPr id="74" name="Text 72"/>
          <p:cNvSpPr txBox="1"/>
          <p:nvPr/>
        </p:nvSpPr>
        <p:spPr>
          <a:xfrm>
            <a:off x="4133088" y="2743200"/>
            <a:ext cx="1014984" cy="384048"/>
          </a:xfrm>
          <a:prstGeom prst="rect">
            <a:avLst/>
          </a:prstGeom>
          <a:noFill/>
          <a:ln/>
        </p:spPr>
        <p:txBody>
          <a:bodyPr wrap="square" lIns="0" tIns="0" rIns="0" bIns="0" rtlCol="0" anchor="ctr"/>
          <a:lstStyle/>
          <a:p>
            <a:pPr algn="r" indent="0" marL="0">
              <a:buNone/>
            </a:pPr>
            <a:endParaRPr lang="en-US" sz="850" dirty="0"/>
          </a:p>
        </p:txBody>
      </p:sp>
      <p:sp>
        <p:nvSpPr>
          <p:cNvPr id="75" name="Shape 73"/>
          <p:cNvSpPr/>
          <p:nvPr/>
        </p:nvSpPr>
        <p:spPr>
          <a:xfrm>
            <a:off x="5212080" y="2743200"/>
            <a:ext cx="1234440" cy="384048"/>
          </a:xfrm>
          <a:prstGeom prst="rect">
            <a:avLst/>
          </a:prstGeom>
          <a:solidFill>
            <a:srgbClr val="D6EBE7"/>
          </a:solidFill>
          <a:ln w="6350">
            <a:solidFill>
              <a:srgbClr val="D3DCE5"/>
            </a:solidFill>
            <a:prstDash val="solid"/>
          </a:ln>
        </p:spPr>
      </p:sp>
      <p:sp>
        <p:nvSpPr>
          <p:cNvPr id="76" name="Text 74"/>
          <p:cNvSpPr txBox="1"/>
          <p:nvPr/>
        </p:nvSpPr>
        <p:spPr>
          <a:xfrm>
            <a:off x="5276088" y="2743200"/>
            <a:ext cx="1106424" cy="384048"/>
          </a:xfrm>
          <a:prstGeom prst="rect">
            <a:avLst/>
          </a:prstGeom>
          <a:noFill/>
          <a:ln/>
        </p:spPr>
        <p:txBody>
          <a:bodyPr wrap="square" lIns="0" tIns="0" rIns="0" bIns="0" rtlCol="0" anchor="ctr"/>
          <a:lstStyle/>
          <a:p>
            <a:pPr algn="r" indent="0" marL="0">
              <a:buNone/>
            </a:pPr>
            <a:endParaRPr lang="en-US" sz="850" dirty="0"/>
          </a:p>
        </p:txBody>
      </p:sp>
      <p:sp>
        <p:nvSpPr>
          <p:cNvPr id="77" name="Shape 75"/>
          <p:cNvSpPr/>
          <p:nvPr/>
        </p:nvSpPr>
        <p:spPr>
          <a:xfrm>
            <a:off x="6446520" y="2743200"/>
            <a:ext cx="1234440" cy="384048"/>
          </a:xfrm>
          <a:prstGeom prst="rect">
            <a:avLst/>
          </a:prstGeom>
          <a:solidFill>
            <a:srgbClr val="D6EBE7"/>
          </a:solidFill>
          <a:ln w="6350">
            <a:solidFill>
              <a:srgbClr val="D3DCE5"/>
            </a:solidFill>
            <a:prstDash val="solid"/>
          </a:ln>
        </p:spPr>
      </p:sp>
      <p:sp>
        <p:nvSpPr>
          <p:cNvPr id="78" name="Text 76"/>
          <p:cNvSpPr txBox="1"/>
          <p:nvPr/>
        </p:nvSpPr>
        <p:spPr>
          <a:xfrm>
            <a:off x="6510528" y="2743200"/>
            <a:ext cx="1106424" cy="384048"/>
          </a:xfrm>
          <a:prstGeom prst="rect">
            <a:avLst/>
          </a:prstGeom>
          <a:noFill/>
          <a:ln/>
        </p:spPr>
        <p:txBody>
          <a:bodyPr wrap="square" lIns="0" tIns="0" rIns="0" bIns="0" rtlCol="0" anchor="ctr"/>
          <a:lstStyle/>
          <a:p>
            <a:pPr algn="r" indent="0" marL="0">
              <a:buNone/>
            </a:pPr>
            <a:r>
              <a:rPr lang="en-US" sz="850" b="1" dirty="0">
                <a:solidFill>
                  <a:srgbClr val="1B2733"/>
                </a:solidFill>
                <a:latin typeface="Calibri" pitchFamily="34" charset="0"/>
                <a:ea typeface="Calibri" pitchFamily="34" charset="-122"/>
                <a:cs typeface="Calibri" pitchFamily="34" charset="-120"/>
              </a:rPr>
              <a:t>300</a:t>
            </a:r>
            <a:endParaRPr lang="en-US" sz="850" dirty="0"/>
          </a:p>
        </p:txBody>
      </p:sp>
      <p:sp>
        <p:nvSpPr>
          <p:cNvPr id="79" name="Shape 77"/>
          <p:cNvSpPr/>
          <p:nvPr/>
        </p:nvSpPr>
        <p:spPr>
          <a:xfrm>
            <a:off x="7680960" y="2743200"/>
            <a:ext cx="960120" cy="384048"/>
          </a:xfrm>
          <a:prstGeom prst="rect">
            <a:avLst/>
          </a:prstGeom>
          <a:solidFill>
            <a:srgbClr val="D6EBE7"/>
          </a:solidFill>
          <a:ln w="6350">
            <a:solidFill>
              <a:srgbClr val="D3DCE5"/>
            </a:solidFill>
            <a:prstDash val="solid"/>
          </a:ln>
        </p:spPr>
      </p:sp>
      <p:sp>
        <p:nvSpPr>
          <p:cNvPr id="80" name="Text 78"/>
          <p:cNvSpPr txBox="1"/>
          <p:nvPr/>
        </p:nvSpPr>
        <p:spPr>
          <a:xfrm>
            <a:off x="7744968" y="2743200"/>
            <a:ext cx="832104" cy="384048"/>
          </a:xfrm>
          <a:prstGeom prst="rect">
            <a:avLst/>
          </a:prstGeom>
          <a:noFill/>
          <a:ln/>
        </p:spPr>
        <p:txBody>
          <a:bodyPr wrap="square" lIns="0" tIns="0" rIns="0" bIns="0" rtlCol="0" anchor="ctr"/>
          <a:lstStyle/>
          <a:p>
            <a:pPr algn="ctr" indent="0" marL="0">
              <a:buNone/>
            </a:pPr>
            <a:endParaRPr lang="en-US" sz="850" dirty="0"/>
          </a:p>
        </p:txBody>
      </p:sp>
      <p:sp>
        <p:nvSpPr>
          <p:cNvPr id="81" name="Shape 79"/>
          <p:cNvSpPr/>
          <p:nvPr/>
        </p:nvSpPr>
        <p:spPr>
          <a:xfrm>
            <a:off x="8641080" y="2743200"/>
            <a:ext cx="1097280" cy="384048"/>
          </a:xfrm>
          <a:prstGeom prst="rect">
            <a:avLst/>
          </a:prstGeom>
          <a:solidFill>
            <a:srgbClr val="D6EBE7"/>
          </a:solidFill>
          <a:ln w="6350">
            <a:solidFill>
              <a:srgbClr val="D3DCE5"/>
            </a:solidFill>
            <a:prstDash val="solid"/>
          </a:ln>
        </p:spPr>
      </p:sp>
      <p:sp>
        <p:nvSpPr>
          <p:cNvPr id="82" name="Text 80"/>
          <p:cNvSpPr txBox="1"/>
          <p:nvPr/>
        </p:nvSpPr>
        <p:spPr>
          <a:xfrm>
            <a:off x="8705088" y="2743200"/>
            <a:ext cx="969264" cy="384048"/>
          </a:xfrm>
          <a:prstGeom prst="rect">
            <a:avLst/>
          </a:prstGeom>
          <a:noFill/>
          <a:ln/>
        </p:spPr>
        <p:txBody>
          <a:bodyPr wrap="square" lIns="0" tIns="0" rIns="0" bIns="0" rtlCol="0" anchor="ctr"/>
          <a:lstStyle/>
          <a:p>
            <a:pPr algn="r" indent="0" marL="0">
              <a:buNone/>
            </a:pPr>
            <a:r>
              <a:rPr lang="en-US" sz="850" b="1" dirty="0">
                <a:solidFill>
                  <a:srgbClr val="1B2733"/>
                </a:solidFill>
                <a:latin typeface="Calibri" pitchFamily="34" charset="0"/>
                <a:ea typeface="Calibri" pitchFamily="34" charset="-122"/>
                <a:cs typeface="Calibri" pitchFamily="34" charset="-120"/>
              </a:rPr>
              <a:t>2,396</a:t>
            </a:r>
            <a:endParaRPr lang="en-US" sz="850" dirty="0"/>
          </a:p>
        </p:txBody>
      </p:sp>
      <p:sp>
        <p:nvSpPr>
          <p:cNvPr id="83" name="Shape 81"/>
          <p:cNvSpPr/>
          <p:nvPr/>
        </p:nvSpPr>
        <p:spPr>
          <a:xfrm>
            <a:off x="9738360" y="2743200"/>
            <a:ext cx="822960" cy="384048"/>
          </a:xfrm>
          <a:prstGeom prst="rect">
            <a:avLst/>
          </a:prstGeom>
          <a:solidFill>
            <a:srgbClr val="D6EBE7"/>
          </a:solidFill>
          <a:ln w="6350">
            <a:solidFill>
              <a:srgbClr val="D3DCE5"/>
            </a:solidFill>
            <a:prstDash val="solid"/>
          </a:ln>
        </p:spPr>
      </p:sp>
      <p:sp>
        <p:nvSpPr>
          <p:cNvPr id="84" name="Text 82"/>
          <p:cNvSpPr txBox="1"/>
          <p:nvPr/>
        </p:nvSpPr>
        <p:spPr>
          <a:xfrm>
            <a:off x="9802368" y="2743200"/>
            <a:ext cx="694944" cy="384048"/>
          </a:xfrm>
          <a:prstGeom prst="rect">
            <a:avLst/>
          </a:prstGeom>
          <a:noFill/>
          <a:ln/>
        </p:spPr>
        <p:txBody>
          <a:bodyPr wrap="square" lIns="0" tIns="0" rIns="0" bIns="0" rtlCol="0" anchor="ctr"/>
          <a:lstStyle/>
          <a:p>
            <a:pPr algn="ctr" indent="0" marL="0">
              <a:buNone/>
            </a:pPr>
            <a:endParaRPr lang="en-US" sz="850" dirty="0"/>
          </a:p>
        </p:txBody>
      </p:sp>
      <p:sp>
        <p:nvSpPr>
          <p:cNvPr id="85" name="Shape 83"/>
          <p:cNvSpPr/>
          <p:nvPr/>
        </p:nvSpPr>
        <p:spPr>
          <a:xfrm>
            <a:off x="10561320" y="2743200"/>
            <a:ext cx="1225296" cy="384048"/>
          </a:xfrm>
          <a:prstGeom prst="rect">
            <a:avLst/>
          </a:prstGeom>
          <a:solidFill>
            <a:srgbClr val="D6EBE7"/>
          </a:solidFill>
          <a:ln w="6350">
            <a:solidFill>
              <a:srgbClr val="D3DCE5"/>
            </a:solidFill>
            <a:prstDash val="solid"/>
          </a:ln>
        </p:spPr>
      </p:sp>
      <p:sp>
        <p:nvSpPr>
          <p:cNvPr id="86" name="Text 84"/>
          <p:cNvSpPr txBox="1"/>
          <p:nvPr/>
        </p:nvSpPr>
        <p:spPr>
          <a:xfrm>
            <a:off x="10625328" y="2743200"/>
            <a:ext cx="1097280" cy="384048"/>
          </a:xfrm>
          <a:prstGeom prst="rect">
            <a:avLst/>
          </a:prstGeom>
          <a:noFill/>
          <a:ln/>
        </p:spPr>
        <p:txBody>
          <a:bodyPr wrap="square" lIns="0" tIns="0" rIns="0" bIns="0" rtlCol="0" anchor="ctr"/>
          <a:lstStyle/>
          <a:p>
            <a:pPr algn="r" indent="0" marL="0">
              <a:buNone/>
            </a:pPr>
            <a:r>
              <a:rPr lang="en-US" sz="850" b="1" dirty="0">
                <a:solidFill>
                  <a:srgbClr val="0E7C6B"/>
                </a:solidFill>
                <a:latin typeface="Calibri" pitchFamily="34" charset="0"/>
                <a:ea typeface="Calibri" pitchFamily="34" charset="-122"/>
                <a:cs typeface="Calibri" pitchFamily="34" charset="-120"/>
              </a:rPr>
              <a:t>0.32</a:t>
            </a:r>
            <a:endParaRPr lang="en-US" sz="850" dirty="0"/>
          </a:p>
        </p:txBody>
      </p:sp>
      <p:sp>
        <p:nvSpPr>
          <p:cNvPr id="87" name="Shape 85"/>
          <p:cNvSpPr/>
          <p:nvPr/>
        </p:nvSpPr>
        <p:spPr>
          <a:xfrm>
            <a:off x="411480" y="3172968"/>
            <a:ext cx="5577840" cy="2834640"/>
          </a:xfrm>
          <a:prstGeom prst="rect">
            <a:avLst/>
          </a:prstGeom>
          <a:solidFill>
            <a:srgbClr val="FBEBD9"/>
          </a:solidFill>
          <a:ln w="9525">
            <a:solidFill>
              <a:srgbClr val="E8C9A3"/>
            </a:solidFill>
            <a:prstDash val="solid"/>
          </a:ln>
        </p:spPr>
      </p:sp>
      <p:sp>
        <p:nvSpPr>
          <p:cNvPr id="88" name="Text 86"/>
          <p:cNvSpPr txBox="1"/>
          <p:nvPr/>
        </p:nvSpPr>
        <p:spPr>
          <a:xfrm>
            <a:off x="576072" y="3300984"/>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The assumptions, stated so they can be attacked</a:t>
            </a:r>
            <a:endParaRPr lang="en-US" sz="1150" dirty="0"/>
          </a:p>
        </p:txBody>
      </p:sp>
      <p:sp>
        <p:nvSpPr>
          <p:cNvPr id="89" name="Text 87"/>
          <p:cNvSpPr txBox="1"/>
          <p:nvPr/>
        </p:nvSpPr>
        <p:spPr>
          <a:xfrm>
            <a:off x="576072" y="3630168"/>
            <a:ext cx="5248656" cy="2286000"/>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Mid-stream: 400kt of concentrate calcined in-house, being 20% of a 2Mtpa base, at the conversion margin retained rather than ceded to a third-party converter. Neither the volume share nor the margin is disclosed by PLS.</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POSCO: 43ktpa of hydroxide at an assumed A$4,200/t conversion margin, PLS share 18%. The option to lift that stake to 30% is not valued at all.</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Qualification premium: 1,000kt of qualified volume at an assumed A$75/t. This is the weakest of the three and we risk it hardest, at 25%, because no verified carbon-linked premium exists in any PLS contract we could find.</a:t>
            </a:r>
            <a:endParaRPr lang="en-US" sz="900" dirty="0"/>
          </a:p>
        </p:txBody>
      </p:sp>
      <p:sp>
        <p:nvSpPr>
          <p:cNvPr id="90" name="Shape 88"/>
          <p:cNvSpPr/>
          <p:nvPr/>
        </p:nvSpPr>
        <p:spPr>
          <a:xfrm>
            <a:off x="6208776" y="3172968"/>
            <a:ext cx="5577840" cy="2834640"/>
          </a:xfrm>
          <a:prstGeom prst="rect">
            <a:avLst/>
          </a:prstGeom>
          <a:solidFill>
            <a:srgbClr val="D6EBE7"/>
          </a:solidFill>
          <a:ln w="9525">
            <a:solidFill>
              <a:srgbClr val="AFD3CC"/>
            </a:solidFill>
            <a:prstDash val="solid"/>
          </a:ln>
        </p:spPr>
      </p:sp>
      <p:sp>
        <p:nvSpPr>
          <p:cNvPr id="91" name="Text 89"/>
          <p:cNvSpPr txBox="1"/>
          <p:nvPr/>
        </p:nvSpPr>
        <p:spPr>
          <a:xfrm>
            <a:off x="6373368" y="3300984"/>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Why it sits outside the target price</a:t>
            </a:r>
            <a:endParaRPr lang="en-US" sz="1150" dirty="0"/>
          </a:p>
        </p:txBody>
      </p:sp>
      <p:sp>
        <p:nvSpPr>
          <p:cNvPr id="92" name="Text 90"/>
          <p:cNvSpPr txBox="1"/>
          <p:nvPr/>
        </p:nvSpPr>
        <p:spPr>
          <a:xfrm>
            <a:off x="6373368" y="3630168"/>
            <a:ext cx="5248656" cy="2286000"/>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Because none of it is earning yet. The mid-stream plant produces its first lithium phosphate in the September 2026 quarter, the joint venture is still ramping, and the premium is unproven.</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Keeping it outside means the recommendation does not depend on it. The A$6.14 target rests on an operating asset with a disclosed cost base and company-guided volumes. Everything on this page is upside we have identified, sized and then declined to bank.</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Target plus the risked option would be A$6.44, or 17.5% above the last close. We do not publish that number. A target should rest on what is already producing, and this is not yet.</a:t>
            </a:r>
            <a:endParaRPr lang="en-US" sz="900" dirty="0"/>
          </a:p>
        </p:txBody>
      </p:sp>
      <p:sp>
        <p:nvSpPr>
          <p:cNvPr id="93" name="Text 91"/>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valuation model, Downstream Option sheet. Volumes, margins, multiples and probabilities are the team's assumptions and are all visible and editable in the workbook.</a:t>
            </a:r>
            <a:endParaRPr lang="en-US" sz="720" dirty="0"/>
          </a:p>
        </p:txBody>
      </p:sp>
      <p:sp>
        <p:nvSpPr>
          <p:cNvPr id="94" name="Text 92"/>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E15</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20,000 trials. Expected value backs the position at A$5.69. The median, at A$5.19, sits below today's close.</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E16  Valuation</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graphicFrame>
        <p:nvGraphicFramePr>
          <p:cNvPr id="7" name="Chart 0" descr=""/>
          <p:cNvGraphicFramePr/>
          <p:nvPr/>
        </p:nvGraphicFramePr>
        <p:xfrm>
          <a:off x="411480" y="1298448"/>
          <a:ext cx="7086600" cy="248716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708392" y="1298448"/>
            <a:ext cx="2697480" cy="292608"/>
          </a:xfrm>
          <a:prstGeom prst="rect">
            <a:avLst/>
          </a:prstGeom>
          <a:solidFill>
            <a:srgbClr val="10233A"/>
          </a:solidFill>
          <a:ln/>
        </p:spPr>
      </p:sp>
      <p:sp>
        <p:nvSpPr>
          <p:cNvPr id="9" name="Text 6"/>
          <p:cNvSpPr txBox="1"/>
          <p:nvPr/>
        </p:nvSpPr>
        <p:spPr>
          <a:xfrm>
            <a:off x="7772400" y="1298448"/>
            <a:ext cx="256946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Outcome</a:t>
            </a:r>
            <a:endParaRPr lang="en-US" sz="900" dirty="0"/>
          </a:p>
        </p:txBody>
      </p:sp>
      <p:sp>
        <p:nvSpPr>
          <p:cNvPr id="10" name="Shape 7"/>
          <p:cNvSpPr/>
          <p:nvPr/>
        </p:nvSpPr>
        <p:spPr>
          <a:xfrm>
            <a:off x="10405872" y="1298448"/>
            <a:ext cx="1380744" cy="292608"/>
          </a:xfrm>
          <a:prstGeom prst="rect">
            <a:avLst/>
          </a:prstGeom>
          <a:solidFill>
            <a:srgbClr val="10233A"/>
          </a:solidFill>
          <a:ln/>
        </p:spPr>
      </p:sp>
      <p:sp>
        <p:nvSpPr>
          <p:cNvPr id="11" name="Text 8"/>
          <p:cNvSpPr txBox="1"/>
          <p:nvPr/>
        </p:nvSpPr>
        <p:spPr>
          <a:xfrm>
            <a:off x="10469880" y="1298448"/>
            <a:ext cx="1252728" cy="292608"/>
          </a:xfrm>
          <a:prstGeom prst="rect">
            <a:avLst/>
          </a:prstGeom>
          <a:noFill/>
          <a:ln/>
        </p:spPr>
        <p:txBody>
          <a:bodyPr wrap="square" lIns="0" tIns="0" rIns="0" bIns="0" rtlCol="0" anchor="ctr"/>
          <a:lstStyle/>
          <a:p>
            <a:pPr algn="r" indent="0" marL="0">
              <a:buNone/>
            </a:pPr>
            <a:endParaRPr lang="en-US" sz="900" dirty="0"/>
          </a:p>
        </p:txBody>
      </p:sp>
      <p:sp>
        <p:nvSpPr>
          <p:cNvPr id="12" name="Shape 9"/>
          <p:cNvSpPr/>
          <p:nvPr/>
        </p:nvSpPr>
        <p:spPr>
          <a:xfrm>
            <a:off x="7708392" y="1591056"/>
            <a:ext cx="2697480" cy="202997"/>
          </a:xfrm>
          <a:prstGeom prst="rect">
            <a:avLst/>
          </a:prstGeom>
          <a:solidFill>
            <a:srgbClr val="FFFFFF"/>
          </a:solidFill>
          <a:ln w="6350">
            <a:solidFill>
              <a:srgbClr val="D3DCE5"/>
            </a:solidFill>
            <a:prstDash val="solid"/>
          </a:ln>
        </p:spPr>
      </p:sp>
      <p:sp>
        <p:nvSpPr>
          <p:cNvPr id="13" name="Text 10"/>
          <p:cNvSpPr txBox="1"/>
          <p:nvPr/>
        </p:nvSpPr>
        <p:spPr>
          <a:xfrm>
            <a:off x="7772400" y="1591056"/>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Mean</a:t>
            </a:r>
            <a:endParaRPr lang="en-US" sz="850" dirty="0"/>
          </a:p>
        </p:txBody>
      </p:sp>
      <p:sp>
        <p:nvSpPr>
          <p:cNvPr id="14" name="Shape 11"/>
          <p:cNvSpPr/>
          <p:nvPr/>
        </p:nvSpPr>
        <p:spPr>
          <a:xfrm>
            <a:off x="10405872" y="1591056"/>
            <a:ext cx="1380744" cy="202997"/>
          </a:xfrm>
          <a:prstGeom prst="rect">
            <a:avLst/>
          </a:prstGeom>
          <a:solidFill>
            <a:srgbClr val="FFFFFF"/>
          </a:solidFill>
          <a:ln w="6350">
            <a:solidFill>
              <a:srgbClr val="D3DCE5"/>
            </a:solidFill>
            <a:prstDash val="solid"/>
          </a:ln>
        </p:spPr>
      </p:sp>
      <p:sp>
        <p:nvSpPr>
          <p:cNvPr id="15" name="Text 12"/>
          <p:cNvSpPr txBox="1"/>
          <p:nvPr/>
        </p:nvSpPr>
        <p:spPr>
          <a:xfrm>
            <a:off x="10469880" y="1591056"/>
            <a:ext cx="1252728" cy="202997"/>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A$5.69</a:t>
            </a:r>
            <a:endParaRPr lang="en-US" sz="850" dirty="0"/>
          </a:p>
        </p:txBody>
      </p:sp>
      <p:sp>
        <p:nvSpPr>
          <p:cNvPr id="16" name="Shape 13"/>
          <p:cNvSpPr/>
          <p:nvPr/>
        </p:nvSpPr>
        <p:spPr>
          <a:xfrm>
            <a:off x="7708392" y="1794053"/>
            <a:ext cx="2697480" cy="202997"/>
          </a:xfrm>
          <a:prstGeom prst="rect">
            <a:avLst/>
          </a:prstGeom>
          <a:solidFill>
            <a:srgbClr val="F7F9FB"/>
          </a:solidFill>
          <a:ln w="6350">
            <a:solidFill>
              <a:srgbClr val="D3DCE5"/>
            </a:solidFill>
            <a:prstDash val="solid"/>
          </a:ln>
        </p:spPr>
      </p:sp>
      <p:sp>
        <p:nvSpPr>
          <p:cNvPr id="17" name="Text 14"/>
          <p:cNvSpPr txBox="1"/>
          <p:nvPr/>
        </p:nvSpPr>
        <p:spPr>
          <a:xfrm>
            <a:off x="7772400" y="1794053"/>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Median</a:t>
            </a:r>
            <a:endParaRPr lang="en-US" sz="850" dirty="0"/>
          </a:p>
        </p:txBody>
      </p:sp>
      <p:sp>
        <p:nvSpPr>
          <p:cNvPr id="18" name="Shape 15"/>
          <p:cNvSpPr/>
          <p:nvPr/>
        </p:nvSpPr>
        <p:spPr>
          <a:xfrm>
            <a:off x="10405872" y="1794053"/>
            <a:ext cx="1380744" cy="202997"/>
          </a:xfrm>
          <a:prstGeom prst="rect">
            <a:avLst/>
          </a:prstGeom>
          <a:solidFill>
            <a:srgbClr val="F7F9FB"/>
          </a:solidFill>
          <a:ln w="6350">
            <a:solidFill>
              <a:srgbClr val="D3DCE5"/>
            </a:solidFill>
            <a:prstDash val="solid"/>
          </a:ln>
        </p:spPr>
      </p:sp>
      <p:sp>
        <p:nvSpPr>
          <p:cNvPr id="19" name="Text 16"/>
          <p:cNvSpPr txBox="1"/>
          <p:nvPr/>
        </p:nvSpPr>
        <p:spPr>
          <a:xfrm>
            <a:off x="10469880" y="1794053"/>
            <a:ext cx="1252728" cy="202997"/>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A$5.19</a:t>
            </a:r>
            <a:endParaRPr lang="en-US" sz="850" dirty="0"/>
          </a:p>
        </p:txBody>
      </p:sp>
      <p:sp>
        <p:nvSpPr>
          <p:cNvPr id="20" name="Shape 17"/>
          <p:cNvSpPr/>
          <p:nvPr/>
        </p:nvSpPr>
        <p:spPr>
          <a:xfrm>
            <a:off x="7708392" y="1997050"/>
            <a:ext cx="2697480" cy="202997"/>
          </a:xfrm>
          <a:prstGeom prst="rect">
            <a:avLst/>
          </a:prstGeom>
          <a:solidFill>
            <a:srgbClr val="FFFFFF"/>
          </a:solidFill>
          <a:ln w="6350">
            <a:solidFill>
              <a:srgbClr val="D3DCE5"/>
            </a:solidFill>
            <a:prstDash val="solid"/>
          </a:ln>
        </p:spPr>
      </p:sp>
      <p:sp>
        <p:nvSpPr>
          <p:cNvPr id="21" name="Text 18"/>
          <p:cNvSpPr txBox="1"/>
          <p:nvPr/>
        </p:nvSpPr>
        <p:spPr>
          <a:xfrm>
            <a:off x="7772400" y="1997050"/>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Standard deviation</a:t>
            </a:r>
            <a:endParaRPr lang="en-US" sz="850" dirty="0"/>
          </a:p>
        </p:txBody>
      </p:sp>
      <p:sp>
        <p:nvSpPr>
          <p:cNvPr id="22" name="Shape 19"/>
          <p:cNvSpPr/>
          <p:nvPr/>
        </p:nvSpPr>
        <p:spPr>
          <a:xfrm>
            <a:off x="10405872" y="1997050"/>
            <a:ext cx="1380744" cy="202997"/>
          </a:xfrm>
          <a:prstGeom prst="rect">
            <a:avLst/>
          </a:prstGeom>
          <a:solidFill>
            <a:srgbClr val="FFFFFF"/>
          </a:solidFill>
          <a:ln w="6350">
            <a:solidFill>
              <a:srgbClr val="D3DCE5"/>
            </a:solidFill>
            <a:prstDash val="solid"/>
          </a:ln>
        </p:spPr>
      </p:sp>
      <p:sp>
        <p:nvSpPr>
          <p:cNvPr id="23" name="Text 20"/>
          <p:cNvSpPr txBox="1"/>
          <p:nvPr/>
        </p:nvSpPr>
        <p:spPr>
          <a:xfrm>
            <a:off x="10469880" y="1997050"/>
            <a:ext cx="1252728" cy="202997"/>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A$3.28</a:t>
            </a:r>
            <a:endParaRPr lang="en-US" sz="850" dirty="0"/>
          </a:p>
        </p:txBody>
      </p:sp>
      <p:sp>
        <p:nvSpPr>
          <p:cNvPr id="24" name="Shape 21"/>
          <p:cNvSpPr/>
          <p:nvPr/>
        </p:nvSpPr>
        <p:spPr>
          <a:xfrm>
            <a:off x="7708392" y="2200046"/>
            <a:ext cx="2697480" cy="202997"/>
          </a:xfrm>
          <a:prstGeom prst="rect">
            <a:avLst/>
          </a:prstGeom>
          <a:solidFill>
            <a:srgbClr val="F7F9FB"/>
          </a:solidFill>
          <a:ln w="6350">
            <a:solidFill>
              <a:srgbClr val="D3DCE5"/>
            </a:solidFill>
            <a:prstDash val="solid"/>
          </a:ln>
        </p:spPr>
      </p:sp>
      <p:sp>
        <p:nvSpPr>
          <p:cNvPr id="25" name="Text 22"/>
          <p:cNvSpPr txBox="1"/>
          <p:nvPr/>
        </p:nvSpPr>
        <p:spPr>
          <a:xfrm>
            <a:off x="7772400" y="2200046"/>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P10</a:t>
            </a:r>
            <a:endParaRPr lang="en-US" sz="850" dirty="0"/>
          </a:p>
        </p:txBody>
      </p:sp>
      <p:sp>
        <p:nvSpPr>
          <p:cNvPr id="26" name="Shape 23"/>
          <p:cNvSpPr/>
          <p:nvPr/>
        </p:nvSpPr>
        <p:spPr>
          <a:xfrm>
            <a:off x="10405872" y="2200046"/>
            <a:ext cx="1380744" cy="202997"/>
          </a:xfrm>
          <a:prstGeom prst="rect">
            <a:avLst/>
          </a:prstGeom>
          <a:solidFill>
            <a:srgbClr val="F7F9FB"/>
          </a:solidFill>
          <a:ln w="6350">
            <a:solidFill>
              <a:srgbClr val="D3DCE5"/>
            </a:solidFill>
            <a:prstDash val="solid"/>
          </a:ln>
        </p:spPr>
      </p:sp>
      <p:sp>
        <p:nvSpPr>
          <p:cNvPr id="27" name="Text 24"/>
          <p:cNvSpPr txBox="1"/>
          <p:nvPr/>
        </p:nvSpPr>
        <p:spPr>
          <a:xfrm>
            <a:off x="10469880" y="2200046"/>
            <a:ext cx="1252728" cy="202997"/>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A$1.99</a:t>
            </a:r>
            <a:endParaRPr lang="en-US" sz="850" dirty="0"/>
          </a:p>
        </p:txBody>
      </p:sp>
      <p:sp>
        <p:nvSpPr>
          <p:cNvPr id="28" name="Shape 25"/>
          <p:cNvSpPr/>
          <p:nvPr/>
        </p:nvSpPr>
        <p:spPr>
          <a:xfrm>
            <a:off x="7708392" y="2403043"/>
            <a:ext cx="2697480" cy="202997"/>
          </a:xfrm>
          <a:prstGeom prst="rect">
            <a:avLst/>
          </a:prstGeom>
          <a:solidFill>
            <a:srgbClr val="FFFFFF"/>
          </a:solidFill>
          <a:ln w="6350">
            <a:solidFill>
              <a:srgbClr val="D3DCE5"/>
            </a:solidFill>
            <a:prstDash val="solid"/>
          </a:ln>
        </p:spPr>
      </p:sp>
      <p:sp>
        <p:nvSpPr>
          <p:cNvPr id="29" name="Text 26"/>
          <p:cNvSpPr txBox="1"/>
          <p:nvPr/>
        </p:nvSpPr>
        <p:spPr>
          <a:xfrm>
            <a:off x="7772400" y="2403043"/>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P25</a:t>
            </a:r>
            <a:endParaRPr lang="en-US" sz="850" dirty="0"/>
          </a:p>
        </p:txBody>
      </p:sp>
      <p:sp>
        <p:nvSpPr>
          <p:cNvPr id="30" name="Shape 27"/>
          <p:cNvSpPr/>
          <p:nvPr/>
        </p:nvSpPr>
        <p:spPr>
          <a:xfrm>
            <a:off x="10405872" y="2403043"/>
            <a:ext cx="1380744" cy="202997"/>
          </a:xfrm>
          <a:prstGeom prst="rect">
            <a:avLst/>
          </a:prstGeom>
          <a:solidFill>
            <a:srgbClr val="FFFFFF"/>
          </a:solidFill>
          <a:ln w="6350">
            <a:solidFill>
              <a:srgbClr val="D3DCE5"/>
            </a:solidFill>
            <a:prstDash val="solid"/>
          </a:ln>
        </p:spPr>
      </p:sp>
      <p:sp>
        <p:nvSpPr>
          <p:cNvPr id="31" name="Text 28"/>
          <p:cNvSpPr txBox="1"/>
          <p:nvPr/>
        </p:nvSpPr>
        <p:spPr>
          <a:xfrm>
            <a:off x="10469880" y="2403043"/>
            <a:ext cx="1252728" cy="202997"/>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A$3.13</a:t>
            </a:r>
            <a:endParaRPr lang="en-US" sz="850" dirty="0"/>
          </a:p>
        </p:txBody>
      </p:sp>
      <p:sp>
        <p:nvSpPr>
          <p:cNvPr id="32" name="Shape 29"/>
          <p:cNvSpPr/>
          <p:nvPr/>
        </p:nvSpPr>
        <p:spPr>
          <a:xfrm>
            <a:off x="7708392" y="2606040"/>
            <a:ext cx="2697480" cy="202997"/>
          </a:xfrm>
          <a:prstGeom prst="rect">
            <a:avLst/>
          </a:prstGeom>
          <a:solidFill>
            <a:srgbClr val="F7F9FB"/>
          </a:solidFill>
          <a:ln w="6350">
            <a:solidFill>
              <a:srgbClr val="D3DCE5"/>
            </a:solidFill>
            <a:prstDash val="solid"/>
          </a:ln>
        </p:spPr>
      </p:sp>
      <p:sp>
        <p:nvSpPr>
          <p:cNvPr id="33" name="Text 30"/>
          <p:cNvSpPr txBox="1"/>
          <p:nvPr/>
        </p:nvSpPr>
        <p:spPr>
          <a:xfrm>
            <a:off x="7772400" y="2606040"/>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P75</a:t>
            </a:r>
            <a:endParaRPr lang="en-US" sz="850" dirty="0"/>
          </a:p>
        </p:txBody>
      </p:sp>
      <p:sp>
        <p:nvSpPr>
          <p:cNvPr id="34" name="Shape 31"/>
          <p:cNvSpPr/>
          <p:nvPr/>
        </p:nvSpPr>
        <p:spPr>
          <a:xfrm>
            <a:off x="10405872" y="2606040"/>
            <a:ext cx="1380744" cy="202997"/>
          </a:xfrm>
          <a:prstGeom prst="rect">
            <a:avLst/>
          </a:prstGeom>
          <a:solidFill>
            <a:srgbClr val="F7F9FB"/>
          </a:solidFill>
          <a:ln w="6350">
            <a:solidFill>
              <a:srgbClr val="D3DCE5"/>
            </a:solidFill>
            <a:prstDash val="solid"/>
          </a:ln>
        </p:spPr>
      </p:sp>
      <p:sp>
        <p:nvSpPr>
          <p:cNvPr id="35" name="Text 32"/>
          <p:cNvSpPr txBox="1"/>
          <p:nvPr/>
        </p:nvSpPr>
        <p:spPr>
          <a:xfrm>
            <a:off x="10469880" y="2606040"/>
            <a:ext cx="1252728" cy="202997"/>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A$7.65</a:t>
            </a:r>
            <a:endParaRPr lang="en-US" sz="850" dirty="0"/>
          </a:p>
        </p:txBody>
      </p:sp>
      <p:sp>
        <p:nvSpPr>
          <p:cNvPr id="36" name="Shape 33"/>
          <p:cNvSpPr/>
          <p:nvPr/>
        </p:nvSpPr>
        <p:spPr>
          <a:xfrm>
            <a:off x="7708392" y="2809037"/>
            <a:ext cx="2697480" cy="202997"/>
          </a:xfrm>
          <a:prstGeom prst="rect">
            <a:avLst/>
          </a:prstGeom>
          <a:solidFill>
            <a:srgbClr val="FFFFFF"/>
          </a:solidFill>
          <a:ln w="6350">
            <a:solidFill>
              <a:srgbClr val="D3DCE5"/>
            </a:solidFill>
            <a:prstDash val="solid"/>
          </a:ln>
        </p:spPr>
      </p:sp>
      <p:sp>
        <p:nvSpPr>
          <p:cNvPr id="37" name="Text 34"/>
          <p:cNvSpPr txBox="1"/>
          <p:nvPr/>
        </p:nvSpPr>
        <p:spPr>
          <a:xfrm>
            <a:off x="7772400" y="2809037"/>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P90</a:t>
            </a:r>
            <a:endParaRPr lang="en-US" sz="850" dirty="0"/>
          </a:p>
        </p:txBody>
      </p:sp>
      <p:sp>
        <p:nvSpPr>
          <p:cNvPr id="38" name="Shape 35"/>
          <p:cNvSpPr/>
          <p:nvPr/>
        </p:nvSpPr>
        <p:spPr>
          <a:xfrm>
            <a:off x="10405872" y="2809037"/>
            <a:ext cx="1380744" cy="202997"/>
          </a:xfrm>
          <a:prstGeom prst="rect">
            <a:avLst/>
          </a:prstGeom>
          <a:solidFill>
            <a:srgbClr val="FFFFFF"/>
          </a:solidFill>
          <a:ln w="6350">
            <a:solidFill>
              <a:srgbClr val="D3DCE5"/>
            </a:solidFill>
            <a:prstDash val="solid"/>
          </a:ln>
        </p:spPr>
      </p:sp>
      <p:sp>
        <p:nvSpPr>
          <p:cNvPr id="39" name="Text 36"/>
          <p:cNvSpPr txBox="1"/>
          <p:nvPr/>
        </p:nvSpPr>
        <p:spPr>
          <a:xfrm>
            <a:off x="10469880" y="2809037"/>
            <a:ext cx="1252728" cy="202997"/>
          </a:xfrm>
          <a:prstGeom prst="rect">
            <a:avLst/>
          </a:prstGeom>
          <a:noFill/>
          <a:ln/>
        </p:spPr>
        <p:txBody>
          <a:bodyPr wrap="square" lIns="0" tIns="0" rIns="0" bIns="0" rtlCol="0" anchor="ctr"/>
          <a:lstStyle/>
          <a:p>
            <a:pPr algn="r" indent="0" marL="0">
              <a:buNone/>
            </a:pPr>
            <a:r>
              <a:rPr lang="en-US" sz="850" dirty="0">
                <a:solidFill>
                  <a:srgbClr val="1B2733"/>
                </a:solidFill>
                <a:latin typeface="Calibri" pitchFamily="34" charset="0"/>
                <a:ea typeface="Calibri" pitchFamily="34" charset="-122"/>
                <a:cs typeface="Calibri" pitchFamily="34" charset="-120"/>
              </a:rPr>
              <a:t>A$10.09</a:t>
            </a:r>
            <a:endParaRPr lang="en-US" sz="850" dirty="0"/>
          </a:p>
        </p:txBody>
      </p:sp>
      <p:sp>
        <p:nvSpPr>
          <p:cNvPr id="40" name="Shape 37"/>
          <p:cNvSpPr/>
          <p:nvPr/>
        </p:nvSpPr>
        <p:spPr>
          <a:xfrm>
            <a:off x="7708392" y="3012034"/>
            <a:ext cx="2697480" cy="202997"/>
          </a:xfrm>
          <a:prstGeom prst="rect">
            <a:avLst/>
          </a:prstGeom>
          <a:solidFill>
            <a:srgbClr val="F7F9FB"/>
          </a:solidFill>
          <a:ln w="6350">
            <a:solidFill>
              <a:srgbClr val="D3DCE5"/>
            </a:solidFill>
            <a:prstDash val="solid"/>
          </a:ln>
        </p:spPr>
      </p:sp>
      <p:sp>
        <p:nvSpPr>
          <p:cNvPr id="41" name="Text 38"/>
          <p:cNvSpPr txBox="1"/>
          <p:nvPr/>
        </p:nvSpPr>
        <p:spPr>
          <a:xfrm>
            <a:off x="7772400" y="3012034"/>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Above last close of A$5.48</a:t>
            </a:r>
            <a:endParaRPr lang="en-US" sz="850" dirty="0"/>
          </a:p>
        </p:txBody>
      </p:sp>
      <p:sp>
        <p:nvSpPr>
          <p:cNvPr id="42" name="Shape 39"/>
          <p:cNvSpPr/>
          <p:nvPr/>
        </p:nvSpPr>
        <p:spPr>
          <a:xfrm>
            <a:off x="10405872" y="3012034"/>
            <a:ext cx="1380744" cy="202997"/>
          </a:xfrm>
          <a:prstGeom prst="rect">
            <a:avLst/>
          </a:prstGeom>
          <a:solidFill>
            <a:srgbClr val="F7F9FB"/>
          </a:solidFill>
          <a:ln w="6350">
            <a:solidFill>
              <a:srgbClr val="D3DCE5"/>
            </a:solidFill>
            <a:prstDash val="solid"/>
          </a:ln>
        </p:spPr>
      </p:sp>
      <p:sp>
        <p:nvSpPr>
          <p:cNvPr id="43" name="Text 40"/>
          <p:cNvSpPr txBox="1"/>
          <p:nvPr/>
        </p:nvSpPr>
        <p:spPr>
          <a:xfrm>
            <a:off x="10469880" y="3012034"/>
            <a:ext cx="1252728" cy="202997"/>
          </a:xfrm>
          <a:prstGeom prst="rect">
            <a:avLst/>
          </a:prstGeom>
          <a:noFill/>
          <a:ln/>
        </p:spPr>
        <p:txBody>
          <a:bodyPr wrap="square" lIns="0" tIns="0" rIns="0" bIns="0" rtlCol="0" anchor="ctr"/>
          <a:lstStyle/>
          <a:p>
            <a:pPr algn="r" indent="0" marL="0">
              <a:buNone/>
            </a:pPr>
            <a:r>
              <a:rPr lang="en-US" sz="850" b="1" dirty="0">
                <a:solidFill>
                  <a:srgbClr val="C2610A"/>
                </a:solidFill>
                <a:latin typeface="Calibri" pitchFamily="34" charset="0"/>
                <a:ea typeface="Calibri" pitchFamily="34" charset="-122"/>
                <a:cs typeface="Calibri" pitchFamily="34" charset="-120"/>
              </a:rPr>
              <a:t>46.6%</a:t>
            </a:r>
            <a:endParaRPr lang="en-US" sz="850" dirty="0"/>
          </a:p>
        </p:txBody>
      </p:sp>
      <p:sp>
        <p:nvSpPr>
          <p:cNvPr id="44" name="Shape 41"/>
          <p:cNvSpPr/>
          <p:nvPr/>
        </p:nvSpPr>
        <p:spPr>
          <a:xfrm>
            <a:off x="7708392" y="3215030"/>
            <a:ext cx="2697480" cy="202997"/>
          </a:xfrm>
          <a:prstGeom prst="rect">
            <a:avLst/>
          </a:prstGeom>
          <a:solidFill>
            <a:srgbClr val="FFFFFF"/>
          </a:solidFill>
          <a:ln w="6350">
            <a:solidFill>
              <a:srgbClr val="D3DCE5"/>
            </a:solidFill>
            <a:prstDash val="solid"/>
          </a:ln>
        </p:spPr>
      </p:sp>
      <p:sp>
        <p:nvSpPr>
          <p:cNvPr id="45" name="Text 42"/>
          <p:cNvSpPr txBox="1"/>
          <p:nvPr/>
        </p:nvSpPr>
        <p:spPr>
          <a:xfrm>
            <a:off x="7772400" y="3215030"/>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Above our A$6.14 target</a:t>
            </a:r>
            <a:endParaRPr lang="en-US" sz="850" dirty="0"/>
          </a:p>
        </p:txBody>
      </p:sp>
      <p:sp>
        <p:nvSpPr>
          <p:cNvPr id="46" name="Shape 43"/>
          <p:cNvSpPr/>
          <p:nvPr/>
        </p:nvSpPr>
        <p:spPr>
          <a:xfrm>
            <a:off x="10405872" y="3215030"/>
            <a:ext cx="1380744" cy="202997"/>
          </a:xfrm>
          <a:prstGeom prst="rect">
            <a:avLst/>
          </a:prstGeom>
          <a:solidFill>
            <a:srgbClr val="FFFFFF"/>
          </a:solidFill>
          <a:ln w="6350">
            <a:solidFill>
              <a:srgbClr val="D3DCE5"/>
            </a:solidFill>
            <a:prstDash val="solid"/>
          </a:ln>
        </p:spPr>
      </p:sp>
      <p:sp>
        <p:nvSpPr>
          <p:cNvPr id="47" name="Text 44"/>
          <p:cNvSpPr txBox="1"/>
          <p:nvPr/>
        </p:nvSpPr>
        <p:spPr>
          <a:xfrm>
            <a:off x="10469880" y="3215030"/>
            <a:ext cx="1252728" cy="202997"/>
          </a:xfrm>
          <a:prstGeom prst="rect">
            <a:avLst/>
          </a:prstGeom>
          <a:noFill/>
          <a:ln/>
        </p:spPr>
        <p:txBody>
          <a:bodyPr wrap="square" lIns="0" tIns="0" rIns="0" bIns="0" rtlCol="0" anchor="ctr"/>
          <a:lstStyle/>
          <a:p>
            <a:pPr algn="r" indent="0" marL="0">
              <a:buNone/>
            </a:pPr>
            <a:r>
              <a:rPr lang="en-US" sz="850" b="1" dirty="0">
                <a:solidFill>
                  <a:srgbClr val="C2610A"/>
                </a:solidFill>
                <a:latin typeface="Calibri" pitchFamily="34" charset="0"/>
                <a:ea typeface="Calibri" pitchFamily="34" charset="-122"/>
                <a:cs typeface="Calibri" pitchFamily="34" charset="-120"/>
              </a:rPr>
              <a:t>39.3%</a:t>
            </a:r>
            <a:endParaRPr lang="en-US" sz="850" dirty="0"/>
          </a:p>
        </p:txBody>
      </p:sp>
      <p:sp>
        <p:nvSpPr>
          <p:cNvPr id="48" name="Shape 45"/>
          <p:cNvSpPr/>
          <p:nvPr/>
        </p:nvSpPr>
        <p:spPr>
          <a:xfrm>
            <a:off x="7708392" y="3418027"/>
            <a:ext cx="2697480" cy="202997"/>
          </a:xfrm>
          <a:prstGeom prst="rect">
            <a:avLst/>
          </a:prstGeom>
          <a:solidFill>
            <a:srgbClr val="F7F9FB"/>
          </a:solidFill>
          <a:ln w="6350">
            <a:solidFill>
              <a:srgbClr val="D3DCE5"/>
            </a:solidFill>
            <a:prstDash val="solid"/>
          </a:ln>
        </p:spPr>
      </p:sp>
      <p:sp>
        <p:nvSpPr>
          <p:cNvPr id="49" name="Text 46"/>
          <p:cNvSpPr txBox="1"/>
          <p:nvPr/>
        </p:nvSpPr>
        <p:spPr>
          <a:xfrm>
            <a:off x="7772400" y="3418027"/>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More than 20% below last close</a:t>
            </a:r>
            <a:endParaRPr lang="en-US" sz="850" dirty="0"/>
          </a:p>
        </p:txBody>
      </p:sp>
      <p:sp>
        <p:nvSpPr>
          <p:cNvPr id="50" name="Shape 47"/>
          <p:cNvSpPr/>
          <p:nvPr/>
        </p:nvSpPr>
        <p:spPr>
          <a:xfrm>
            <a:off x="10405872" y="3418027"/>
            <a:ext cx="1380744" cy="202997"/>
          </a:xfrm>
          <a:prstGeom prst="rect">
            <a:avLst/>
          </a:prstGeom>
          <a:solidFill>
            <a:srgbClr val="F7F9FB"/>
          </a:solidFill>
          <a:ln w="6350">
            <a:solidFill>
              <a:srgbClr val="D3DCE5"/>
            </a:solidFill>
            <a:prstDash val="solid"/>
          </a:ln>
        </p:spPr>
      </p:sp>
      <p:sp>
        <p:nvSpPr>
          <p:cNvPr id="51" name="Text 48"/>
          <p:cNvSpPr txBox="1"/>
          <p:nvPr/>
        </p:nvSpPr>
        <p:spPr>
          <a:xfrm>
            <a:off x="10469880" y="3418027"/>
            <a:ext cx="1252728" cy="202997"/>
          </a:xfrm>
          <a:prstGeom prst="rect">
            <a:avLst/>
          </a:prstGeom>
          <a:noFill/>
          <a:ln/>
        </p:spPr>
        <p:txBody>
          <a:bodyPr wrap="square" lIns="0" tIns="0" rIns="0" bIns="0" rtlCol="0" anchor="ctr"/>
          <a:lstStyle/>
          <a:p>
            <a:pPr algn="r" indent="0" marL="0">
              <a:buNone/>
            </a:pPr>
            <a:r>
              <a:rPr lang="en-US" sz="850" dirty="0">
                <a:solidFill>
                  <a:srgbClr val="A3282C"/>
                </a:solidFill>
                <a:latin typeface="Calibri" pitchFamily="34" charset="0"/>
                <a:ea typeface="Calibri" pitchFamily="34" charset="-122"/>
                <a:cs typeface="Calibri" pitchFamily="34" charset="-120"/>
              </a:rPr>
              <a:t>40.9%</a:t>
            </a:r>
            <a:endParaRPr lang="en-US" sz="850" dirty="0"/>
          </a:p>
        </p:txBody>
      </p:sp>
      <p:sp>
        <p:nvSpPr>
          <p:cNvPr id="52" name="Shape 49"/>
          <p:cNvSpPr/>
          <p:nvPr/>
        </p:nvSpPr>
        <p:spPr>
          <a:xfrm>
            <a:off x="7708392" y="3621024"/>
            <a:ext cx="2697480" cy="202997"/>
          </a:xfrm>
          <a:prstGeom prst="rect">
            <a:avLst/>
          </a:prstGeom>
          <a:solidFill>
            <a:srgbClr val="FFFFFF"/>
          </a:solidFill>
          <a:ln w="6350">
            <a:solidFill>
              <a:srgbClr val="D3DCE5"/>
            </a:solidFill>
            <a:prstDash val="solid"/>
          </a:ln>
        </p:spPr>
      </p:sp>
      <p:sp>
        <p:nvSpPr>
          <p:cNvPr id="53" name="Text 50"/>
          <p:cNvSpPr txBox="1"/>
          <p:nvPr/>
        </p:nvSpPr>
        <p:spPr>
          <a:xfrm>
            <a:off x="7772400" y="3621024"/>
            <a:ext cx="2569464" cy="202997"/>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More than doubles</a:t>
            </a:r>
            <a:endParaRPr lang="en-US" sz="850" dirty="0"/>
          </a:p>
        </p:txBody>
      </p:sp>
      <p:sp>
        <p:nvSpPr>
          <p:cNvPr id="54" name="Shape 51"/>
          <p:cNvSpPr/>
          <p:nvPr/>
        </p:nvSpPr>
        <p:spPr>
          <a:xfrm>
            <a:off x="10405872" y="3621024"/>
            <a:ext cx="1380744" cy="202997"/>
          </a:xfrm>
          <a:prstGeom prst="rect">
            <a:avLst/>
          </a:prstGeom>
          <a:solidFill>
            <a:srgbClr val="FFFFFF"/>
          </a:solidFill>
          <a:ln w="6350">
            <a:solidFill>
              <a:srgbClr val="D3DCE5"/>
            </a:solidFill>
            <a:prstDash val="solid"/>
          </a:ln>
        </p:spPr>
      </p:sp>
      <p:sp>
        <p:nvSpPr>
          <p:cNvPr id="55" name="Text 52"/>
          <p:cNvSpPr txBox="1"/>
          <p:nvPr/>
        </p:nvSpPr>
        <p:spPr>
          <a:xfrm>
            <a:off x="10469880" y="3621024"/>
            <a:ext cx="1252728" cy="202997"/>
          </a:xfrm>
          <a:prstGeom prst="rect">
            <a:avLst/>
          </a:prstGeom>
          <a:noFill/>
          <a:ln/>
        </p:spPr>
        <p:txBody>
          <a:bodyPr wrap="square" lIns="0" tIns="0" rIns="0" bIns="0" rtlCol="0" anchor="ctr"/>
          <a:lstStyle/>
          <a:p>
            <a:pPr algn="r" indent="0" marL="0">
              <a:buNone/>
            </a:pPr>
            <a:r>
              <a:rPr lang="en-US" sz="850" dirty="0">
                <a:solidFill>
                  <a:srgbClr val="10A07E"/>
                </a:solidFill>
                <a:latin typeface="Calibri" pitchFamily="34" charset="0"/>
                <a:ea typeface="Calibri" pitchFamily="34" charset="-122"/>
                <a:cs typeface="Calibri" pitchFamily="34" charset="-120"/>
              </a:rPr>
              <a:t>6.8%</a:t>
            </a:r>
            <a:endParaRPr lang="en-US" sz="850" dirty="0"/>
          </a:p>
        </p:txBody>
      </p:sp>
      <p:sp>
        <p:nvSpPr>
          <p:cNvPr id="56" name="Text 53"/>
          <p:cNvSpPr txBox="1"/>
          <p:nvPr/>
        </p:nvSpPr>
        <p:spPr>
          <a:xfrm>
            <a:off x="411480" y="3877056"/>
            <a:ext cx="5577840" cy="256032"/>
          </a:xfrm>
          <a:prstGeom prst="rect">
            <a:avLst/>
          </a:prstGeom>
          <a:noFill/>
          <a:ln/>
        </p:spPr>
        <p:txBody>
          <a:bodyPr wrap="square" lIns="0" tIns="0" rIns="0" bIns="0" rtlCol="0" anchor="ctr"/>
          <a:lstStyle/>
          <a:p>
            <a:pPr algn="l" indent="0" marL="0">
              <a:buNone/>
            </a:pPr>
            <a:r>
              <a:rPr lang="en-US" sz="1050" b="1" dirty="0">
                <a:solidFill>
                  <a:srgbClr val="10233A"/>
                </a:solidFill>
                <a:latin typeface="Calibri" pitchFamily="34" charset="0"/>
                <a:ea typeface="Calibri" pitchFamily="34" charset="-122"/>
                <a:cs typeface="Calibri" pitchFamily="34" charset="-120"/>
              </a:rPr>
              <a:t>What we randomised, and why each is drawn that way</a:t>
            </a:r>
            <a:endParaRPr lang="en-US" sz="1050" dirty="0"/>
          </a:p>
        </p:txBody>
      </p:sp>
      <p:sp>
        <p:nvSpPr>
          <p:cNvPr id="57" name="Shape 54"/>
          <p:cNvSpPr/>
          <p:nvPr/>
        </p:nvSpPr>
        <p:spPr>
          <a:xfrm>
            <a:off x="411480" y="4133088"/>
            <a:ext cx="5577840" cy="13716"/>
          </a:xfrm>
          <a:prstGeom prst="rect">
            <a:avLst/>
          </a:prstGeom>
          <a:solidFill>
            <a:srgbClr val="10233A"/>
          </a:solidFill>
          <a:ln/>
        </p:spPr>
      </p:sp>
      <p:sp>
        <p:nvSpPr>
          <p:cNvPr id="58" name="Shape 55"/>
          <p:cNvSpPr/>
          <p:nvPr/>
        </p:nvSpPr>
        <p:spPr>
          <a:xfrm>
            <a:off x="411480" y="4261104"/>
            <a:ext cx="1737360" cy="292608"/>
          </a:xfrm>
          <a:prstGeom prst="rect">
            <a:avLst/>
          </a:prstGeom>
          <a:solidFill>
            <a:srgbClr val="10233A"/>
          </a:solidFill>
          <a:ln/>
        </p:spPr>
      </p:sp>
      <p:sp>
        <p:nvSpPr>
          <p:cNvPr id="59" name="Text 56"/>
          <p:cNvSpPr txBox="1"/>
          <p:nvPr/>
        </p:nvSpPr>
        <p:spPr>
          <a:xfrm>
            <a:off x="475488" y="4261104"/>
            <a:ext cx="1609344" cy="292608"/>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Input</a:t>
            </a:r>
            <a:endParaRPr lang="en-US" sz="800" dirty="0"/>
          </a:p>
        </p:txBody>
      </p:sp>
      <p:sp>
        <p:nvSpPr>
          <p:cNvPr id="60" name="Shape 57"/>
          <p:cNvSpPr/>
          <p:nvPr/>
        </p:nvSpPr>
        <p:spPr>
          <a:xfrm>
            <a:off x="2148840" y="4261104"/>
            <a:ext cx="1371600" cy="292608"/>
          </a:xfrm>
          <a:prstGeom prst="rect">
            <a:avLst/>
          </a:prstGeom>
          <a:solidFill>
            <a:srgbClr val="10233A"/>
          </a:solidFill>
          <a:ln/>
        </p:spPr>
      </p:sp>
      <p:sp>
        <p:nvSpPr>
          <p:cNvPr id="61" name="Text 58"/>
          <p:cNvSpPr txBox="1"/>
          <p:nvPr/>
        </p:nvSpPr>
        <p:spPr>
          <a:xfrm>
            <a:off x="2212848" y="4261104"/>
            <a:ext cx="1243584" cy="292608"/>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Distribution</a:t>
            </a:r>
            <a:endParaRPr lang="en-US" sz="800" dirty="0"/>
          </a:p>
        </p:txBody>
      </p:sp>
      <p:sp>
        <p:nvSpPr>
          <p:cNvPr id="62" name="Shape 59"/>
          <p:cNvSpPr/>
          <p:nvPr/>
        </p:nvSpPr>
        <p:spPr>
          <a:xfrm>
            <a:off x="3520440" y="4261104"/>
            <a:ext cx="2468880" cy="292608"/>
          </a:xfrm>
          <a:prstGeom prst="rect">
            <a:avLst/>
          </a:prstGeom>
          <a:solidFill>
            <a:srgbClr val="10233A"/>
          </a:solidFill>
          <a:ln/>
        </p:spPr>
      </p:sp>
      <p:sp>
        <p:nvSpPr>
          <p:cNvPr id="63" name="Text 60"/>
          <p:cNvSpPr txBox="1"/>
          <p:nvPr/>
        </p:nvSpPr>
        <p:spPr>
          <a:xfrm>
            <a:off x="3584448" y="4261104"/>
            <a:ext cx="2340864" cy="292608"/>
          </a:xfrm>
          <a:prstGeom prst="rect">
            <a:avLst/>
          </a:prstGeom>
          <a:noFill/>
          <a:ln/>
        </p:spPr>
        <p:txBody>
          <a:bodyPr wrap="square" lIns="0" tIns="0" rIns="0" bIns="0" rtlCol="0" anchor="ctr"/>
          <a:lstStyle/>
          <a:p>
            <a:pPr algn="l" indent="0" marL="0">
              <a:buNone/>
            </a:pPr>
            <a:r>
              <a:rPr lang="en-US" sz="800" b="1" dirty="0">
                <a:solidFill>
                  <a:srgbClr val="FFFFFF"/>
                </a:solidFill>
                <a:latin typeface="Calibri" pitchFamily="34" charset="0"/>
                <a:ea typeface="Calibri" pitchFamily="34" charset="-122"/>
                <a:cs typeface="Calibri" pitchFamily="34" charset="-120"/>
              </a:rPr>
              <a:t>Reasoning</a:t>
            </a:r>
            <a:endParaRPr lang="en-US" sz="800" dirty="0"/>
          </a:p>
        </p:txBody>
      </p:sp>
      <p:sp>
        <p:nvSpPr>
          <p:cNvPr id="64" name="Shape 61"/>
          <p:cNvSpPr/>
          <p:nvPr/>
        </p:nvSpPr>
        <p:spPr>
          <a:xfrm>
            <a:off x="411480" y="4553712"/>
            <a:ext cx="1737360" cy="224028"/>
          </a:xfrm>
          <a:prstGeom prst="rect">
            <a:avLst/>
          </a:prstGeom>
          <a:solidFill>
            <a:srgbClr val="FFFFFF"/>
          </a:solidFill>
          <a:ln w="6350">
            <a:solidFill>
              <a:srgbClr val="D3DCE5"/>
            </a:solidFill>
            <a:prstDash val="solid"/>
          </a:ln>
        </p:spPr>
      </p:sp>
      <p:sp>
        <p:nvSpPr>
          <p:cNvPr id="65" name="Text 62"/>
          <p:cNvSpPr txBox="1"/>
          <p:nvPr/>
        </p:nvSpPr>
        <p:spPr>
          <a:xfrm>
            <a:off x="475488" y="4553712"/>
            <a:ext cx="160934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Price level</a:t>
            </a:r>
            <a:endParaRPr lang="en-US" sz="800" dirty="0"/>
          </a:p>
        </p:txBody>
      </p:sp>
      <p:sp>
        <p:nvSpPr>
          <p:cNvPr id="66" name="Shape 63"/>
          <p:cNvSpPr/>
          <p:nvPr/>
        </p:nvSpPr>
        <p:spPr>
          <a:xfrm>
            <a:off x="2148840" y="4553712"/>
            <a:ext cx="1371600" cy="224028"/>
          </a:xfrm>
          <a:prstGeom prst="rect">
            <a:avLst/>
          </a:prstGeom>
          <a:solidFill>
            <a:srgbClr val="FFFFFF"/>
          </a:solidFill>
          <a:ln w="6350">
            <a:solidFill>
              <a:srgbClr val="D3DCE5"/>
            </a:solidFill>
            <a:prstDash val="solid"/>
          </a:ln>
        </p:spPr>
      </p:sp>
      <p:sp>
        <p:nvSpPr>
          <p:cNvPr id="67" name="Text 64"/>
          <p:cNvSpPr txBox="1"/>
          <p:nvPr/>
        </p:nvSpPr>
        <p:spPr>
          <a:xfrm>
            <a:off x="2212848" y="4553712"/>
            <a:ext cx="124358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Lognormal, 28%</a:t>
            </a:r>
            <a:endParaRPr lang="en-US" sz="800" dirty="0"/>
          </a:p>
        </p:txBody>
      </p:sp>
      <p:sp>
        <p:nvSpPr>
          <p:cNvPr id="68" name="Shape 65"/>
          <p:cNvSpPr/>
          <p:nvPr/>
        </p:nvSpPr>
        <p:spPr>
          <a:xfrm>
            <a:off x="3520440" y="4553712"/>
            <a:ext cx="2468880" cy="224028"/>
          </a:xfrm>
          <a:prstGeom prst="rect">
            <a:avLst/>
          </a:prstGeom>
          <a:solidFill>
            <a:srgbClr val="FFFFFF"/>
          </a:solidFill>
          <a:ln w="6350">
            <a:solidFill>
              <a:srgbClr val="D3DCE5"/>
            </a:solidFill>
            <a:prstDash val="solid"/>
          </a:ln>
        </p:spPr>
      </p:sp>
      <p:sp>
        <p:nvSpPr>
          <p:cNvPr id="69" name="Text 66"/>
          <p:cNvSpPr txBox="1"/>
          <p:nvPr/>
        </p:nvSpPr>
        <p:spPr>
          <a:xfrm>
            <a:off x="3584448" y="4553712"/>
            <a:ext cx="234086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A commodity forecast is wrong by a multiple, and it persists</a:t>
            </a:r>
            <a:endParaRPr lang="en-US" sz="800" dirty="0"/>
          </a:p>
        </p:txBody>
      </p:sp>
      <p:sp>
        <p:nvSpPr>
          <p:cNvPr id="70" name="Shape 67"/>
          <p:cNvSpPr/>
          <p:nvPr/>
        </p:nvSpPr>
        <p:spPr>
          <a:xfrm>
            <a:off x="411480" y="4777740"/>
            <a:ext cx="1737360" cy="224028"/>
          </a:xfrm>
          <a:prstGeom prst="rect">
            <a:avLst/>
          </a:prstGeom>
          <a:solidFill>
            <a:srgbClr val="F7F9FB"/>
          </a:solidFill>
          <a:ln w="6350">
            <a:solidFill>
              <a:srgbClr val="D3DCE5"/>
            </a:solidFill>
            <a:prstDash val="solid"/>
          </a:ln>
        </p:spPr>
      </p:sp>
      <p:sp>
        <p:nvSpPr>
          <p:cNvPr id="71" name="Text 68"/>
          <p:cNvSpPr txBox="1"/>
          <p:nvPr/>
        </p:nvSpPr>
        <p:spPr>
          <a:xfrm>
            <a:off x="475488" y="4777740"/>
            <a:ext cx="160934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Annual price noise</a:t>
            </a:r>
            <a:endParaRPr lang="en-US" sz="800" dirty="0"/>
          </a:p>
        </p:txBody>
      </p:sp>
      <p:sp>
        <p:nvSpPr>
          <p:cNvPr id="72" name="Shape 69"/>
          <p:cNvSpPr/>
          <p:nvPr/>
        </p:nvSpPr>
        <p:spPr>
          <a:xfrm>
            <a:off x="2148840" y="4777740"/>
            <a:ext cx="1371600" cy="224028"/>
          </a:xfrm>
          <a:prstGeom prst="rect">
            <a:avLst/>
          </a:prstGeom>
          <a:solidFill>
            <a:srgbClr val="F7F9FB"/>
          </a:solidFill>
          <a:ln w="6350">
            <a:solidFill>
              <a:srgbClr val="D3DCE5"/>
            </a:solidFill>
            <a:prstDash val="solid"/>
          </a:ln>
        </p:spPr>
      </p:sp>
      <p:sp>
        <p:nvSpPr>
          <p:cNvPr id="73" name="Text 70"/>
          <p:cNvSpPr txBox="1"/>
          <p:nvPr/>
        </p:nvSpPr>
        <p:spPr>
          <a:xfrm>
            <a:off x="2212848" y="4777740"/>
            <a:ext cx="124358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Normal, 10%</a:t>
            </a:r>
            <a:endParaRPr lang="en-US" sz="800" dirty="0"/>
          </a:p>
        </p:txBody>
      </p:sp>
      <p:sp>
        <p:nvSpPr>
          <p:cNvPr id="74" name="Shape 71"/>
          <p:cNvSpPr/>
          <p:nvPr/>
        </p:nvSpPr>
        <p:spPr>
          <a:xfrm>
            <a:off x="3520440" y="4777740"/>
            <a:ext cx="2468880" cy="224028"/>
          </a:xfrm>
          <a:prstGeom prst="rect">
            <a:avLst/>
          </a:prstGeom>
          <a:solidFill>
            <a:srgbClr val="F7F9FB"/>
          </a:solidFill>
          <a:ln w="6350">
            <a:solidFill>
              <a:srgbClr val="D3DCE5"/>
            </a:solidFill>
            <a:prstDash val="solid"/>
          </a:ln>
        </p:spPr>
      </p:sp>
      <p:sp>
        <p:nvSpPr>
          <p:cNvPr id="75" name="Text 72"/>
          <p:cNvSpPr txBox="1"/>
          <p:nvPr/>
        </p:nvSpPr>
        <p:spPr>
          <a:xfrm>
            <a:off x="3584448" y="4777740"/>
            <a:ext cx="234086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Year-to-year variation around that level</a:t>
            </a:r>
            <a:endParaRPr lang="en-US" sz="800" dirty="0"/>
          </a:p>
        </p:txBody>
      </p:sp>
      <p:sp>
        <p:nvSpPr>
          <p:cNvPr id="76" name="Shape 73"/>
          <p:cNvSpPr/>
          <p:nvPr/>
        </p:nvSpPr>
        <p:spPr>
          <a:xfrm>
            <a:off x="411480" y="5001768"/>
            <a:ext cx="1737360" cy="224028"/>
          </a:xfrm>
          <a:prstGeom prst="rect">
            <a:avLst/>
          </a:prstGeom>
          <a:solidFill>
            <a:srgbClr val="FFFFFF"/>
          </a:solidFill>
          <a:ln w="6350">
            <a:solidFill>
              <a:srgbClr val="D3DCE5"/>
            </a:solidFill>
            <a:prstDash val="solid"/>
          </a:ln>
        </p:spPr>
      </p:sp>
      <p:sp>
        <p:nvSpPr>
          <p:cNvPr id="77" name="Text 74"/>
          <p:cNvSpPr txBox="1"/>
          <p:nvPr/>
        </p:nvSpPr>
        <p:spPr>
          <a:xfrm>
            <a:off x="475488" y="5001768"/>
            <a:ext cx="160934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Unit cost</a:t>
            </a:r>
            <a:endParaRPr lang="en-US" sz="800" dirty="0"/>
          </a:p>
        </p:txBody>
      </p:sp>
      <p:sp>
        <p:nvSpPr>
          <p:cNvPr id="78" name="Shape 75"/>
          <p:cNvSpPr/>
          <p:nvPr/>
        </p:nvSpPr>
        <p:spPr>
          <a:xfrm>
            <a:off x="2148840" y="5001768"/>
            <a:ext cx="1371600" cy="224028"/>
          </a:xfrm>
          <a:prstGeom prst="rect">
            <a:avLst/>
          </a:prstGeom>
          <a:solidFill>
            <a:srgbClr val="FFFFFF"/>
          </a:solidFill>
          <a:ln w="6350">
            <a:solidFill>
              <a:srgbClr val="D3DCE5"/>
            </a:solidFill>
            <a:prstDash val="solid"/>
          </a:ln>
        </p:spPr>
      </p:sp>
      <p:sp>
        <p:nvSpPr>
          <p:cNvPr id="79" name="Text 76"/>
          <p:cNvSpPr txBox="1"/>
          <p:nvPr/>
        </p:nvSpPr>
        <p:spPr>
          <a:xfrm>
            <a:off x="2212848" y="5001768"/>
            <a:ext cx="124358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Normal, 7%</a:t>
            </a:r>
            <a:endParaRPr lang="en-US" sz="800" dirty="0"/>
          </a:p>
        </p:txBody>
      </p:sp>
      <p:sp>
        <p:nvSpPr>
          <p:cNvPr id="80" name="Shape 77"/>
          <p:cNvSpPr/>
          <p:nvPr/>
        </p:nvSpPr>
        <p:spPr>
          <a:xfrm>
            <a:off x="3520440" y="5001768"/>
            <a:ext cx="2468880" cy="224028"/>
          </a:xfrm>
          <a:prstGeom prst="rect">
            <a:avLst/>
          </a:prstGeom>
          <a:solidFill>
            <a:srgbClr val="FFFFFF"/>
          </a:solidFill>
          <a:ln w="6350">
            <a:solidFill>
              <a:srgbClr val="D3DCE5"/>
            </a:solidFill>
            <a:prstDash val="solid"/>
          </a:ln>
        </p:spPr>
      </p:sp>
      <p:sp>
        <p:nvSpPr>
          <p:cNvPr id="81" name="Text 78"/>
          <p:cNvSpPr txBox="1"/>
          <p:nvPr/>
        </p:nvSpPr>
        <p:spPr>
          <a:xfrm>
            <a:off x="3584448" y="5001768"/>
            <a:ext cx="234086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Disclosed and guided within a A$50/t band</a:t>
            </a:r>
            <a:endParaRPr lang="en-US" sz="800" dirty="0"/>
          </a:p>
        </p:txBody>
      </p:sp>
      <p:sp>
        <p:nvSpPr>
          <p:cNvPr id="82" name="Shape 79"/>
          <p:cNvSpPr/>
          <p:nvPr/>
        </p:nvSpPr>
        <p:spPr>
          <a:xfrm>
            <a:off x="411480" y="5225796"/>
            <a:ext cx="1737360" cy="224028"/>
          </a:xfrm>
          <a:prstGeom prst="rect">
            <a:avLst/>
          </a:prstGeom>
          <a:solidFill>
            <a:srgbClr val="F7F9FB"/>
          </a:solidFill>
          <a:ln w="6350">
            <a:solidFill>
              <a:srgbClr val="D3DCE5"/>
            </a:solidFill>
            <a:prstDash val="solid"/>
          </a:ln>
        </p:spPr>
      </p:sp>
      <p:sp>
        <p:nvSpPr>
          <p:cNvPr id="83" name="Text 80"/>
          <p:cNvSpPr txBox="1"/>
          <p:nvPr/>
        </p:nvSpPr>
        <p:spPr>
          <a:xfrm>
            <a:off x="475488" y="5225796"/>
            <a:ext cx="160934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P2000 proceeds</a:t>
            </a:r>
            <a:endParaRPr lang="en-US" sz="800" dirty="0"/>
          </a:p>
        </p:txBody>
      </p:sp>
      <p:sp>
        <p:nvSpPr>
          <p:cNvPr id="84" name="Shape 81"/>
          <p:cNvSpPr/>
          <p:nvPr/>
        </p:nvSpPr>
        <p:spPr>
          <a:xfrm>
            <a:off x="2148840" y="5225796"/>
            <a:ext cx="1371600" cy="224028"/>
          </a:xfrm>
          <a:prstGeom prst="rect">
            <a:avLst/>
          </a:prstGeom>
          <a:solidFill>
            <a:srgbClr val="F7F9FB"/>
          </a:solidFill>
          <a:ln w="6350">
            <a:solidFill>
              <a:srgbClr val="D3DCE5"/>
            </a:solidFill>
            <a:prstDash val="solid"/>
          </a:ln>
        </p:spPr>
      </p:sp>
      <p:sp>
        <p:nvSpPr>
          <p:cNvPr id="85" name="Text 82"/>
          <p:cNvSpPr txBox="1"/>
          <p:nvPr/>
        </p:nvSpPr>
        <p:spPr>
          <a:xfrm>
            <a:off x="2212848" y="5225796"/>
            <a:ext cx="124358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Bernoulli, 70%</a:t>
            </a:r>
            <a:endParaRPr lang="en-US" sz="800" dirty="0"/>
          </a:p>
        </p:txBody>
      </p:sp>
      <p:sp>
        <p:nvSpPr>
          <p:cNvPr id="86" name="Shape 83"/>
          <p:cNvSpPr/>
          <p:nvPr/>
        </p:nvSpPr>
        <p:spPr>
          <a:xfrm>
            <a:off x="3520440" y="5225796"/>
            <a:ext cx="2468880" cy="224028"/>
          </a:xfrm>
          <a:prstGeom prst="rect">
            <a:avLst/>
          </a:prstGeom>
          <a:solidFill>
            <a:srgbClr val="F7F9FB"/>
          </a:solidFill>
          <a:ln w="6350">
            <a:solidFill>
              <a:srgbClr val="D3DCE5"/>
            </a:solidFill>
            <a:prstDash val="solid"/>
          </a:ln>
        </p:spPr>
      </p:sp>
      <p:sp>
        <p:nvSpPr>
          <p:cNvPr id="87" name="Text 84"/>
          <p:cNvSpPr txBox="1"/>
          <p:nvPr/>
        </p:nvSpPr>
        <p:spPr>
          <a:xfrm>
            <a:off x="3584448" y="5225796"/>
            <a:ext cx="234086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Conditioned on the price draw, not independent of it</a:t>
            </a:r>
            <a:endParaRPr lang="en-US" sz="800" dirty="0"/>
          </a:p>
        </p:txBody>
      </p:sp>
      <p:sp>
        <p:nvSpPr>
          <p:cNvPr id="88" name="Shape 85"/>
          <p:cNvSpPr/>
          <p:nvPr/>
        </p:nvSpPr>
        <p:spPr>
          <a:xfrm>
            <a:off x="411480" y="5449824"/>
            <a:ext cx="1737360" cy="224028"/>
          </a:xfrm>
          <a:prstGeom prst="rect">
            <a:avLst/>
          </a:prstGeom>
          <a:solidFill>
            <a:srgbClr val="FFFFFF"/>
          </a:solidFill>
          <a:ln w="6350">
            <a:solidFill>
              <a:srgbClr val="D3DCE5"/>
            </a:solidFill>
            <a:prstDash val="solid"/>
          </a:ln>
        </p:spPr>
      </p:sp>
      <p:sp>
        <p:nvSpPr>
          <p:cNvPr id="89" name="Text 86"/>
          <p:cNvSpPr txBox="1"/>
          <p:nvPr/>
        </p:nvSpPr>
        <p:spPr>
          <a:xfrm>
            <a:off x="475488" y="5449824"/>
            <a:ext cx="160934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Colina proceeds</a:t>
            </a:r>
            <a:endParaRPr lang="en-US" sz="800" dirty="0"/>
          </a:p>
        </p:txBody>
      </p:sp>
      <p:sp>
        <p:nvSpPr>
          <p:cNvPr id="90" name="Shape 87"/>
          <p:cNvSpPr/>
          <p:nvPr/>
        </p:nvSpPr>
        <p:spPr>
          <a:xfrm>
            <a:off x="2148840" y="5449824"/>
            <a:ext cx="1371600" cy="224028"/>
          </a:xfrm>
          <a:prstGeom prst="rect">
            <a:avLst/>
          </a:prstGeom>
          <a:solidFill>
            <a:srgbClr val="FFFFFF"/>
          </a:solidFill>
          <a:ln w="6350">
            <a:solidFill>
              <a:srgbClr val="D3DCE5"/>
            </a:solidFill>
            <a:prstDash val="solid"/>
          </a:ln>
        </p:spPr>
      </p:sp>
      <p:sp>
        <p:nvSpPr>
          <p:cNvPr id="91" name="Text 88"/>
          <p:cNvSpPr txBox="1"/>
          <p:nvPr/>
        </p:nvSpPr>
        <p:spPr>
          <a:xfrm>
            <a:off x="2212848" y="5449824"/>
            <a:ext cx="124358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Bernoulli, 40%</a:t>
            </a:r>
            <a:endParaRPr lang="en-US" sz="800" dirty="0"/>
          </a:p>
        </p:txBody>
      </p:sp>
      <p:sp>
        <p:nvSpPr>
          <p:cNvPr id="92" name="Shape 89"/>
          <p:cNvSpPr/>
          <p:nvPr/>
        </p:nvSpPr>
        <p:spPr>
          <a:xfrm>
            <a:off x="3520440" y="5449824"/>
            <a:ext cx="2468880" cy="224028"/>
          </a:xfrm>
          <a:prstGeom prst="rect">
            <a:avLst/>
          </a:prstGeom>
          <a:solidFill>
            <a:srgbClr val="FFFFFF"/>
          </a:solidFill>
          <a:ln w="6350">
            <a:solidFill>
              <a:srgbClr val="D3DCE5"/>
            </a:solidFill>
            <a:prstDash val="solid"/>
          </a:ln>
        </p:spPr>
      </p:sp>
      <p:sp>
        <p:nvSpPr>
          <p:cNvPr id="93" name="Text 90"/>
          <p:cNvSpPr txBox="1"/>
          <p:nvPr/>
        </p:nvSpPr>
        <p:spPr>
          <a:xfrm>
            <a:off x="3584448" y="5449824"/>
            <a:ext cx="234086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Same treatment, lower rate, only after P2000</a:t>
            </a:r>
            <a:endParaRPr lang="en-US" sz="800" dirty="0"/>
          </a:p>
        </p:txBody>
      </p:sp>
      <p:sp>
        <p:nvSpPr>
          <p:cNvPr id="94" name="Shape 91"/>
          <p:cNvSpPr/>
          <p:nvPr/>
        </p:nvSpPr>
        <p:spPr>
          <a:xfrm>
            <a:off x="411480" y="5673852"/>
            <a:ext cx="1737360" cy="224028"/>
          </a:xfrm>
          <a:prstGeom prst="rect">
            <a:avLst/>
          </a:prstGeom>
          <a:solidFill>
            <a:srgbClr val="F7F9FB"/>
          </a:solidFill>
          <a:ln w="6350">
            <a:solidFill>
              <a:srgbClr val="D3DCE5"/>
            </a:solidFill>
            <a:prstDash val="solid"/>
          </a:ln>
        </p:spPr>
      </p:sp>
      <p:sp>
        <p:nvSpPr>
          <p:cNvPr id="95" name="Text 92"/>
          <p:cNvSpPr txBox="1"/>
          <p:nvPr/>
        </p:nvSpPr>
        <p:spPr>
          <a:xfrm>
            <a:off x="475488" y="5673852"/>
            <a:ext cx="160934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WACC</a:t>
            </a:r>
            <a:endParaRPr lang="en-US" sz="800" dirty="0"/>
          </a:p>
        </p:txBody>
      </p:sp>
      <p:sp>
        <p:nvSpPr>
          <p:cNvPr id="96" name="Shape 93"/>
          <p:cNvSpPr/>
          <p:nvPr/>
        </p:nvSpPr>
        <p:spPr>
          <a:xfrm>
            <a:off x="2148840" y="5673852"/>
            <a:ext cx="1371600" cy="224028"/>
          </a:xfrm>
          <a:prstGeom prst="rect">
            <a:avLst/>
          </a:prstGeom>
          <a:solidFill>
            <a:srgbClr val="F7F9FB"/>
          </a:solidFill>
          <a:ln w="6350">
            <a:solidFill>
              <a:srgbClr val="D3DCE5"/>
            </a:solidFill>
            <a:prstDash val="solid"/>
          </a:ln>
        </p:spPr>
      </p:sp>
      <p:sp>
        <p:nvSpPr>
          <p:cNvPr id="97" name="Text 94"/>
          <p:cNvSpPr txBox="1"/>
          <p:nvPr/>
        </p:nvSpPr>
        <p:spPr>
          <a:xfrm>
            <a:off x="2212848" y="5673852"/>
            <a:ext cx="124358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Normal, 60bp</a:t>
            </a:r>
            <a:endParaRPr lang="en-US" sz="800" dirty="0"/>
          </a:p>
        </p:txBody>
      </p:sp>
      <p:sp>
        <p:nvSpPr>
          <p:cNvPr id="98" name="Shape 95"/>
          <p:cNvSpPr/>
          <p:nvPr/>
        </p:nvSpPr>
        <p:spPr>
          <a:xfrm>
            <a:off x="3520440" y="5673852"/>
            <a:ext cx="2468880" cy="224028"/>
          </a:xfrm>
          <a:prstGeom prst="rect">
            <a:avLst/>
          </a:prstGeom>
          <a:solidFill>
            <a:srgbClr val="F7F9FB"/>
          </a:solidFill>
          <a:ln w="6350">
            <a:solidFill>
              <a:srgbClr val="D3DCE5"/>
            </a:solidFill>
            <a:prstDash val="solid"/>
          </a:ln>
        </p:spPr>
      </p:sp>
      <p:sp>
        <p:nvSpPr>
          <p:cNvPr id="99" name="Text 96"/>
          <p:cNvSpPr txBox="1"/>
          <p:nvPr/>
        </p:nvSpPr>
        <p:spPr>
          <a:xfrm>
            <a:off x="3584448" y="5673852"/>
            <a:ext cx="234086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The CAPM inputs are prescribed; gearing is not</a:t>
            </a:r>
            <a:endParaRPr lang="en-US" sz="800" dirty="0"/>
          </a:p>
        </p:txBody>
      </p:sp>
      <p:sp>
        <p:nvSpPr>
          <p:cNvPr id="100" name="Shape 97"/>
          <p:cNvSpPr/>
          <p:nvPr/>
        </p:nvSpPr>
        <p:spPr>
          <a:xfrm>
            <a:off x="411480" y="5897880"/>
            <a:ext cx="1737360" cy="224028"/>
          </a:xfrm>
          <a:prstGeom prst="rect">
            <a:avLst/>
          </a:prstGeom>
          <a:solidFill>
            <a:srgbClr val="FFFFFF"/>
          </a:solidFill>
          <a:ln w="6350">
            <a:solidFill>
              <a:srgbClr val="D3DCE5"/>
            </a:solidFill>
            <a:prstDash val="solid"/>
          </a:ln>
        </p:spPr>
      </p:sp>
      <p:sp>
        <p:nvSpPr>
          <p:cNvPr id="101" name="Text 98"/>
          <p:cNvSpPr txBox="1"/>
          <p:nvPr/>
        </p:nvSpPr>
        <p:spPr>
          <a:xfrm>
            <a:off x="475488" y="5897880"/>
            <a:ext cx="160934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Reserve conversion</a:t>
            </a:r>
            <a:endParaRPr lang="en-US" sz="800" dirty="0"/>
          </a:p>
        </p:txBody>
      </p:sp>
      <p:sp>
        <p:nvSpPr>
          <p:cNvPr id="102" name="Shape 99"/>
          <p:cNvSpPr/>
          <p:nvPr/>
        </p:nvSpPr>
        <p:spPr>
          <a:xfrm>
            <a:off x="2148840" y="5897880"/>
            <a:ext cx="1371600" cy="224028"/>
          </a:xfrm>
          <a:prstGeom prst="rect">
            <a:avLst/>
          </a:prstGeom>
          <a:solidFill>
            <a:srgbClr val="FFFFFF"/>
          </a:solidFill>
          <a:ln w="6350">
            <a:solidFill>
              <a:srgbClr val="D3DCE5"/>
            </a:solidFill>
            <a:prstDash val="solid"/>
          </a:ln>
        </p:spPr>
      </p:sp>
      <p:sp>
        <p:nvSpPr>
          <p:cNvPr id="103" name="Text 100"/>
          <p:cNvSpPr txBox="1"/>
          <p:nvPr/>
        </p:nvSpPr>
        <p:spPr>
          <a:xfrm>
            <a:off x="2212848" y="5897880"/>
            <a:ext cx="124358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Normal, 8pp</a:t>
            </a:r>
            <a:endParaRPr lang="en-US" sz="800" dirty="0"/>
          </a:p>
        </p:txBody>
      </p:sp>
      <p:sp>
        <p:nvSpPr>
          <p:cNvPr id="104" name="Shape 101"/>
          <p:cNvSpPr/>
          <p:nvPr/>
        </p:nvSpPr>
        <p:spPr>
          <a:xfrm>
            <a:off x="3520440" y="5897880"/>
            <a:ext cx="2468880" cy="224028"/>
          </a:xfrm>
          <a:prstGeom prst="rect">
            <a:avLst/>
          </a:prstGeom>
          <a:solidFill>
            <a:srgbClr val="FFFFFF"/>
          </a:solidFill>
          <a:ln w="6350">
            <a:solidFill>
              <a:srgbClr val="D3DCE5"/>
            </a:solidFill>
            <a:prstDash val="solid"/>
          </a:ln>
        </p:spPr>
      </p:sp>
      <p:sp>
        <p:nvSpPr>
          <p:cNvPr id="105" name="Text 102"/>
          <p:cNvSpPr txBox="1"/>
          <p:nvPr/>
        </p:nvSpPr>
        <p:spPr>
          <a:xfrm>
            <a:off x="3584448" y="5897880"/>
            <a:ext cx="2340864" cy="224028"/>
          </a:xfrm>
          <a:prstGeom prst="rect">
            <a:avLst/>
          </a:prstGeom>
          <a:noFill/>
          <a:ln/>
        </p:spPr>
        <p:txBody>
          <a:bodyPr wrap="square" lIns="0" tIns="0" rIns="0" bIns="0" rtlCol="0" anchor="ctr"/>
          <a:lstStyle/>
          <a:p>
            <a:pPr algn="l" indent="0" marL="0">
              <a:buNone/>
            </a:pPr>
            <a:r>
              <a:rPr lang="en-US" sz="800" dirty="0">
                <a:solidFill>
                  <a:srgbClr val="1B2733"/>
                </a:solidFill>
                <a:latin typeface="Calibri" pitchFamily="34" charset="0"/>
                <a:ea typeface="Calibri" pitchFamily="34" charset="-122"/>
                <a:cs typeface="Calibri" pitchFamily="34" charset="-120"/>
              </a:rPr>
              <a:t>Sets the terminal annuity life</a:t>
            </a:r>
            <a:endParaRPr lang="en-US" sz="800" dirty="0"/>
          </a:p>
        </p:txBody>
      </p:sp>
      <p:sp>
        <p:nvSpPr>
          <p:cNvPr id="106" name="Shape 103"/>
          <p:cNvSpPr/>
          <p:nvPr/>
        </p:nvSpPr>
        <p:spPr>
          <a:xfrm>
            <a:off x="6263640" y="3895344"/>
            <a:ext cx="5522976" cy="2121408"/>
          </a:xfrm>
          <a:prstGeom prst="rect">
            <a:avLst/>
          </a:prstGeom>
          <a:solidFill>
            <a:srgbClr val="FBEBD9"/>
          </a:solidFill>
          <a:ln w="9525">
            <a:solidFill>
              <a:srgbClr val="E8C9A3"/>
            </a:solidFill>
            <a:prstDash val="solid"/>
          </a:ln>
        </p:spPr>
      </p:sp>
      <p:sp>
        <p:nvSpPr>
          <p:cNvPr id="107" name="Text 104"/>
          <p:cNvSpPr txBox="1"/>
          <p:nvPr/>
        </p:nvSpPr>
        <p:spPr>
          <a:xfrm>
            <a:off x="6428232" y="4023360"/>
            <a:ext cx="5193792"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A 46.6% probability, and what it changes</a:t>
            </a:r>
            <a:endParaRPr lang="en-US" sz="1150" dirty="0"/>
          </a:p>
        </p:txBody>
      </p:sp>
      <p:sp>
        <p:nvSpPr>
          <p:cNvPr id="108" name="Text 105"/>
          <p:cNvSpPr txBox="1"/>
          <p:nvPr/>
        </p:nvSpPr>
        <p:spPr>
          <a:xfrm>
            <a:off x="6428232" y="4352544"/>
            <a:ext cx="5193792" cy="1572768"/>
          </a:xfrm>
          <a:prstGeom prst="rect">
            <a:avLst/>
          </a:prstGeom>
          <a:noFill/>
          <a:ln/>
        </p:spPr>
        <p:txBody>
          <a:bodyPr wrap="square" lIns="0" tIns="0" rIns="0" bIns="0" rtlCol="0" anchor="t"/>
          <a:lstStyle/>
          <a:p>
            <a:pPr indent="0" marL="0">
              <a:lnSpc>
                <a:spcPct val="105000"/>
              </a:lnSpc>
              <a:buNone/>
            </a:pPr>
            <a:r>
              <a:rPr lang="en-US" sz="800" dirty="0">
                <a:solidFill>
                  <a:srgbClr val="1B2733"/>
                </a:solidFill>
                <a:latin typeface="Calibri" pitchFamily="34" charset="0"/>
                <a:ea typeface="Calibri" pitchFamily="34" charset="-122"/>
                <a:cs typeface="Calibri" pitchFamily="34" charset="-120"/>
              </a:rPr>
              <a:t>A 46.6% chance that intrinsic value beats today's price is close to a coin flip, and the median trial at A$5.19 sits below the A$5.48 close. The mean at A$5.69 sits above it. Both are true: a long right tail from the growth options, a fat left tail from the price.</a:t>
            </a:r>
            <a:endParaRPr lang="en-US" sz="800" dirty="0"/>
          </a:p>
          <a:p>
            <a:pPr indent="0" marL="0">
              <a:lnSpc>
                <a:spcPct val="105000"/>
              </a:lnSpc>
              <a:buNone/>
            </a:pPr>
            <a:endParaRPr lang="en-US" sz="800" dirty="0"/>
          </a:p>
          <a:p>
            <a:pPr indent="0" marL="0">
              <a:lnSpc>
                <a:spcPct val="105000"/>
              </a:lnSpc>
              <a:buNone/>
            </a:pPr>
            <a:r>
              <a:rPr lang="en-US" sz="800" dirty="0">
                <a:solidFill>
                  <a:srgbClr val="1B2733"/>
                </a:solidFill>
                <a:latin typeface="Calibri" pitchFamily="34" charset="0"/>
                <a:ea typeface="Calibri" pitchFamily="34" charset="-122"/>
                <a:cs typeface="Calibri" pitchFamily="34" charset="-120"/>
              </a:rPr>
              <a:t>That does not move the target, a base-case point estimate. It changes conviction, and therefore sizing: an expected value that clears the hurdle on a median that does not is an overweight to build into over several prints rather than take in one. The short-interest rebuild says the same.</a:t>
            </a:r>
            <a:endParaRPr lang="en-US" sz="800" dirty="0"/>
          </a:p>
          <a:p>
            <a:pPr indent="0" marL="0">
              <a:lnSpc>
                <a:spcPct val="105000"/>
              </a:lnSpc>
              <a:buNone/>
            </a:pPr>
            <a:endParaRPr lang="en-US" sz="800" dirty="0"/>
          </a:p>
          <a:p>
            <a:pPr indent="0" marL="0">
              <a:lnSpc>
                <a:spcPct val="105000"/>
              </a:lnSpc>
              <a:buNone/>
            </a:pPr>
            <a:r>
              <a:rPr lang="en-US" sz="800" dirty="0">
                <a:solidFill>
                  <a:srgbClr val="1B2733"/>
                </a:solidFill>
                <a:latin typeface="Calibri" pitchFamily="34" charset="0"/>
                <a:ea typeface="Calibri" pitchFamily="34" charset="-122"/>
                <a:cs typeface="Calibri" pitchFamily="34" charset="-120"/>
              </a:rPr>
              <a:t>One specification note. The P2000 and Colina decisions are correlated with the price draw. Drawing them independently fails the projects in the states where they are worth most, and that error costs four percentage points.</a:t>
            </a:r>
            <a:endParaRPr lang="en-US" sz="800" dirty="0"/>
          </a:p>
        </p:txBody>
      </p:sp>
      <p:sp>
        <p:nvSpPr>
          <p:cNvPr id="109" name="Text 106"/>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model/monte_carlo.py, 20,000 trials, seed 20260906, run against the same FCFF mechanics as the Scenario Engine sheet. The script is committed with the model and is reproducible.</a:t>
            </a:r>
            <a:endParaRPr lang="en-US" sz="720" dirty="0"/>
          </a:p>
        </p:txBody>
      </p:sp>
      <p:sp>
        <p:nvSpPr>
          <p:cNvPr id="110" name="Text 107"/>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E16</a:t>
            </a:r>
            <a:endParaRPr lang="en-US" sz="8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Twelve risks, each with an inherent rating, a mitigant, a residual rating and a named indicator we would watch.</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F1  Risk and reference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2148840" cy="292608"/>
          </a:xfrm>
          <a:prstGeom prst="rect">
            <a:avLst/>
          </a:prstGeom>
          <a:solidFill>
            <a:srgbClr val="10233A"/>
          </a:solidFill>
          <a:ln/>
        </p:spPr>
      </p:sp>
      <p:sp>
        <p:nvSpPr>
          <p:cNvPr id="8" name="Text 6"/>
          <p:cNvSpPr txBox="1"/>
          <p:nvPr/>
        </p:nvSpPr>
        <p:spPr>
          <a:xfrm>
            <a:off x="475488" y="1298448"/>
            <a:ext cx="20208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p>
        </p:txBody>
      </p:sp>
      <p:sp>
        <p:nvSpPr>
          <p:cNvPr id="9" name="Shape 7"/>
          <p:cNvSpPr/>
          <p:nvPr/>
        </p:nvSpPr>
        <p:spPr>
          <a:xfrm>
            <a:off x="2560320" y="1298448"/>
            <a:ext cx="658368" cy="292608"/>
          </a:xfrm>
          <a:prstGeom prst="rect">
            <a:avLst/>
          </a:prstGeom>
          <a:solidFill>
            <a:srgbClr val="10233A"/>
          </a:solidFill>
          <a:ln/>
        </p:spPr>
      </p:sp>
      <p:sp>
        <p:nvSpPr>
          <p:cNvPr id="10" name="Text 8"/>
          <p:cNvSpPr txBox="1"/>
          <p:nvPr/>
        </p:nvSpPr>
        <p:spPr>
          <a:xfrm>
            <a:off x="2624328" y="1298448"/>
            <a:ext cx="53035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Inh.</a:t>
            </a:r>
            <a:endParaRPr lang="en-US" sz="900" dirty="0"/>
          </a:p>
        </p:txBody>
      </p:sp>
      <p:sp>
        <p:nvSpPr>
          <p:cNvPr id="11" name="Shape 9"/>
          <p:cNvSpPr/>
          <p:nvPr/>
        </p:nvSpPr>
        <p:spPr>
          <a:xfrm>
            <a:off x="3218688" y="1298448"/>
            <a:ext cx="4160520" cy="292608"/>
          </a:xfrm>
          <a:prstGeom prst="rect">
            <a:avLst/>
          </a:prstGeom>
          <a:solidFill>
            <a:srgbClr val="10233A"/>
          </a:solidFill>
          <a:ln/>
        </p:spPr>
      </p:sp>
      <p:sp>
        <p:nvSpPr>
          <p:cNvPr id="12" name="Text 10"/>
          <p:cNvSpPr txBox="1"/>
          <p:nvPr/>
        </p:nvSpPr>
        <p:spPr>
          <a:xfrm>
            <a:off x="3282696" y="1298448"/>
            <a:ext cx="4032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Mitigant</a:t>
            </a:r>
            <a:endParaRPr lang="en-US" sz="900" dirty="0"/>
          </a:p>
        </p:txBody>
      </p:sp>
      <p:sp>
        <p:nvSpPr>
          <p:cNvPr id="13" name="Shape 11"/>
          <p:cNvSpPr/>
          <p:nvPr/>
        </p:nvSpPr>
        <p:spPr>
          <a:xfrm>
            <a:off x="7379208" y="1298448"/>
            <a:ext cx="658368" cy="292608"/>
          </a:xfrm>
          <a:prstGeom prst="rect">
            <a:avLst/>
          </a:prstGeom>
          <a:solidFill>
            <a:srgbClr val="10233A"/>
          </a:solidFill>
          <a:ln/>
        </p:spPr>
      </p:sp>
      <p:sp>
        <p:nvSpPr>
          <p:cNvPr id="14" name="Text 12"/>
          <p:cNvSpPr txBox="1"/>
          <p:nvPr/>
        </p:nvSpPr>
        <p:spPr>
          <a:xfrm>
            <a:off x="7443216" y="1298448"/>
            <a:ext cx="530352"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Res.</a:t>
            </a:r>
            <a:endParaRPr lang="en-US" sz="900" dirty="0"/>
          </a:p>
        </p:txBody>
      </p:sp>
      <p:sp>
        <p:nvSpPr>
          <p:cNvPr id="15" name="Shape 13"/>
          <p:cNvSpPr/>
          <p:nvPr/>
        </p:nvSpPr>
        <p:spPr>
          <a:xfrm>
            <a:off x="8037576" y="1298448"/>
            <a:ext cx="3749040" cy="292608"/>
          </a:xfrm>
          <a:prstGeom prst="rect">
            <a:avLst/>
          </a:prstGeom>
          <a:solidFill>
            <a:srgbClr val="10233A"/>
          </a:solidFill>
          <a:ln/>
        </p:spPr>
      </p:sp>
      <p:sp>
        <p:nvSpPr>
          <p:cNvPr id="16" name="Text 14"/>
          <p:cNvSpPr txBox="1"/>
          <p:nvPr/>
        </p:nvSpPr>
        <p:spPr>
          <a:xfrm>
            <a:off x="8101584" y="1298448"/>
            <a:ext cx="36210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Indicator we watch</a:t>
            </a:r>
            <a:endParaRPr lang="en-US" sz="900" dirty="0"/>
          </a:p>
        </p:txBody>
      </p:sp>
      <p:sp>
        <p:nvSpPr>
          <p:cNvPr id="17" name="Shape 15"/>
          <p:cNvSpPr/>
          <p:nvPr/>
        </p:nvSpPr>
        <p:spPr>
          <a:xfrm>
            <a:off x="411480" y="1591056"/>
            <a:ext cx="2148840" cy="320040"/>
          </a:xfrm>
          <a:prstGeom prst="rect">
            <a:avLst/>
          </a:prstGeom>
          <a:solidFill>
            <a:srgbClr val="FFFFFF"/>
          </a:solidFill>
          <a:ln w="6350">
            <a:solidFill>
              <a:srgbClr val="D3DCE5"/>
            </a:solidFill>
            <a:prstDash val="solid"/>
          </a:ln>
        </p:spPr>
      </p:sp>
      <p:sp>
        <p:nvSpPr>
          <p:cNvPr id="18" name="Text 16"/>
          <p:cNvSpPr txBox="1"/>
          <p:nvPr/>
        </p:nvSpPr>
        <p:spPr>
          <a:xfrm>
            <a:off x="475488" y="159105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Sustained price relapse</a:t>
            </a:r>
            <a:endParaRPr lang="en-US" sz="790" dirty="0"/>
          </a:p>
        </p:txBody>
      </p:sp>
      <p:sp>
        <p:nvSpPr>
          <p:cNvPr id="19" name="Shape 17"/>
          <p:cNvSpPr/>
          <p:nvPr/>
        </p:nvSpPr>
        <p:spPr>
          <a:xfrm>
            <a:off x="2560320" y="1591056"/>
            <a:ext cx="658368" cy="320040"/>
          </a:xfrm>
          <a:prstGeom prst="rect">
            <a:avLst/>
          </a:prstGeom>
          <a:solidFill>
            <a:srgbClr val="FFFFFF"/>
          </a:solidFill>
          <a:ln w="6350">
            <a:solidFill>
              <a:srgbClr val="D3DCE5"/>
            </a:solidFill>
            <a:prstDash val="solid"/>
          </a:ln>
        </p:spPr>
      </p:sp>
      <p:sp>
        <p:nvSpPr>
          <p:cNvPr id="20" name="Text 18"/>
          <p:cNvSpPr txBox="1"/>
          <p:nvPr/>
        </p:nvSpPr>
        <p:spPr>
          <a:xfrm>
            <a:off x="2624328" y="1591056"/>
            <a:ext cx="530352" cy="320040"/>
          </a:xfrm>
          <a:prstGeom prst="rect">
            <a:avLst/>
          </a:prstGeom>
          <a:noFill/>
          <a:ln/>
        </p:spPr>
        <p:txBody>
          <a:bodyPr wrap="square" lIns="0" tIns="0" rIns="0" bIns="0" rtlCol="0" anchor="ctr"/>
          <a:lstStyle/>
          <a:p>
            <a:pPr algn="ctr" indent="0" marL="0">
              <a:buNone/>
            </a:pPr>
            <a:r>
              <a:rPr lang="en-US" sz="790" b="1" dirty="0">
                <a:solidFill>
                  <a:srgbClr val="A3282C"/>
                </a:solidFill>
                <a:latin typeface="Calibri" pitchFamily="34" charset="0"/>
                <a:ea typeface="Calibri" pitchFamily="34" charset="-122"/>
                <a:cs typeface="Calibri" pitchFamily="34" charset="-120"/>
              </a:rPr>
              <a:t>High</a:t>
            </a:r>
            <a:endParaRPr lang="en-US" sz="790" dirty="0"/>
          </a:p>
        </p:txBody>
      </p:sp>
      <p:sp>
        <p:nvSpPr>
          <p:cNvPr id="21" name="Shape 19"/>
          <p:cNvSpPr/>
          <p:nvPr/>
        </p:nvSpPr>
        <p:spPr>
          <a:xfrm>
            <a:off x="3218688" y="1591056"/>
            <a:ext cx="4160520" cy="320040"/>
          </a:xfrm>
          <a:prstGeom prst="rect">
            <a:avLst/>
          </a:prstGeom>
          <a:solidFill>
            <a:srgbClr val="FFFFFF"/>
          </a:solidFill>
          <a:ln w="6350">
            <a:solidFill>
              <a:srgbClr val="D3DCE5"/>
            </a:solidFill>
            <a:prstDash val="solid"/>
          </a:ln>
        </p:spPr>
      </p:sp>
      <p:sp>
        <p:nvSpPr>
          <p:cNvPr id="22" name="Text 20"/>
          <p:cNvSpPr txBox="1"/>
          <p:nvPr/>
        </p:nvSpPr>
        <p:spPr>
          <a:xfrm>
            <a:off x="3282696" y="159105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Bottom-quartile cost position and A$2.29bn of cash allow PLS to wait. Bear case still values it at A$2.30.</a:t>
            </a:r>
            <a:endParaRPr lang="en-US" sz="790" dirty="0"/>
          </a:p>
        </p:txBody>
      </p:sp>
      <p:sp>
        <p:nvSpPr>
          <p:cNvPr id="23" name="Shape 21"/>
          <p:cNvSpPr/>
          <p:nvPr/>
        </p:nvSpPr>
        <p:spPr>
          <a:xfrm>
            <a:off x="7379208" y="1591056"/>
            <a:ext cx="658368" cy="320040"/>
          </a:xfrm>
          <a:prstGeom prst="rect">
            <a:avLst/>
          </a:prstGeom>
          <a:solidFill>
            <a:srgbClr val="FFFFFF"/>
          </a:solidFill>
          <a:ln w="6350">
            <a:solidFill>
              <a:srgbClr val="D3DCE5"/>
            </a:solidFill>
            <a:prstDash val="solid"/>
          </a:ln>
        </p:spPr>
      </p:sp>
      <p:sp>
        <p:nvSpPr>
          <p:cNvPr id="24" name="Text 22"/>
          <p:cNvSpPr txBox="1"/>
          <p:nvPr/>
        </p:nvSpPr>
        <p:spPr>
          <a:xfrm>
            <a:off x="7443216" y="1591056"/>
            <a:ext cx="530352" cy="320040"/>
          </a:xfrm>
          <a:prstGeom prst="rect">
            <a:avLst/>
          </a:prstGeom>
          <a:noFill/>
          <a:ln/>
        </p:spPr>
        <p:txBody>
          <a:bodyPr wrap="square" lIns="0" tIns="0" rIns="0" bIns="0" rtlCol="0" anchor="ctr"/>
          <a:lstStyle/>
          <a:p>
            <a:pPr algn="ctr" indent="0" marL="0">
              <a:buNone/>
            </a:pPr>
            <a:r>
              <a:rPr lang="en-US" sz="790" b="1" dirty="0">
                <a:solidFill>
                  <a:srgbClr val="A3282C"/>
                </a:solidFill>
                <a:latin typeface="Calibri" pitchFamily="34" charset="0"/>
                <a:ea typeface="Calibri" pitchFamily="34" charset="-122"/>
                <a:cs typeface="Calibri" pitchFamily="34" charset="-120"/>
              </a:rPr>
              <a:t>High</a:t>
            </a:r>
            <a:endParaRPr lang="en-US" sz="790" dirty="0"/>
          </a:p>
        </p:txBody>
      </p:sp>
      <p:sp>
        <p:nvSpPr>
          <p:cNvPr id="25" name="Shape 23"/>
          <p:cNvSpPr/>
          <p:nvPr/>
        </p:nvSpPr>
        <p:spPr>
          <a:xfrm>
            <a:off x="8037576" y="1591056"/>
            <a:ext cx="3749040" cy="320040"/>
          </a:xfrm>
          <a:prstGeom prst="rect">
            <a:avLst/>
          </a:prstGeom>
          <a:solidFill>
            <a:srgbClr val="FFFFFF"/>
          </a:solidFill>
          <a:ln w="6350">
            <a:solidFill>
              <a:srgbClr val="D3DCE5"/>
            </a:solidFill>
            <a:prstDash val="solid"/>
          </a:ln>
        </p:spPr>
      </p:sp>
      <p:sp>
        <p:nvSpPr>
          <p:cNvPr id="26" name="Text 24"/>
          <p:cNvSpPr txBox="1"/>
          <p:nvPr/>
        </p:nvSpPr>
        <p:spPr>
          <a:xfrm>
            <a:off x="8101584" y="159105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Monthly SpodIX prints; Chinese carbonate inventory days</a:t>
            </a:r>
            <a:endParaRPr lang="en-US" sz="790" dirty="0"/>
          </a:p>
        </p:txBody>
      </p:sp>
      <p:sp>
        <p:nvSpPr>
          <p:cNvPr id="27" name="Shape 25"/>
          <p:cNvSpPr/>
          <p:nvPr/>
        </p:nvSpPr>
        <p:spPr>
          <a:xfrm>
            <a:off x="411480" y="1911096"/>
            <a:ext cx="2148840" cy="320040"/>
          </a:xfrm>
          <a:prstGeom prst="rect">
            <a:avLst/>
          </a:prstGeom>
          <a:solidFill>
            <a:srgbClr val="F7F9FB"/>
          </a:solidFill>
          <a:ln w="6350">
            <a:solidFill>
              <a:srgbClr val="D3DCE5"/>
            </a:solidFill>
            <a:prstDash val="solid"/>
          </a:ln>
        </p:spPr>
      </p:sp>
      <p:sp>
        <p:nvSpPr>
          <p:cNvPr id="28" name="Text 26"/>
          <p:cNvSpPr txBox="1"/>
          <p:nvPr/>
        </p:nvSpPr>
        <p:spPr>
          <a:xfrm>
            <a:off x="475488" y="191109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Re-rating already spent</a:t>
            </a:r>
            <a:endParaRPr lang="en-US" sz="790" dirty="0"/>
          </a:p>
        </p:txBody>
      </p:sp>
      <p:sp>
        <p:nvSpPr>
          <p:cNvPr id="29" name="Shape 27"/>
          <p:cNvSpPr/>
          <p:nvPr/>
        </p:nvSpPr>
        <p:spPr>
          <a:xfrm>
            <a:off x="2560320" y="1911096"/>
            <a:ext cx="658368" cy="320040"/>
          </a:xfrm>
          <a:prstGeom prst="rect">
            <a:avLst/>
          </a:prstGeom>
          <a:solidFill>
            <a:srgbClr val="F7F9FB"/>
          </a:solidFill>
          <a:ln w="6350">
            <a:solidFill>
              <a:srgbClr val="D3DCE5"/>
            </a:solidFill>
            <a:prstDash val="solid"/>
          </a:ln>
        </p:spPr>
      </p:sp>
      <p:sp>
        <p:nvSpPr>
          <p:cNvPr id="30" name="Text 28"/>
          <p:cNvSpPr txBox="1"/>
          <p:nvPr/>
        </p:nvSpPr>
        <p:spPr>
          <a:xfrm>
            <a:off x="2624328" y="1911096"/>
            <a:ext cx="530352" cy="320040"/>
          </a:xfrm>
          <a:prstGeom prst="rect">
            <a:avLst/>
          </a:prstGeom>
          <a:noFill/>
          <a:ln/>
        </p:spPr>
        <p:txBody>
          <a:bodyPr wrap="square" lIns="0" tIns="0" rIns="0" bIns="0" rtlCol="0" anchor="ctr"/>
          <a:lstStyle/>
          <a:p>
            <a:pPr algn="ctr" indent="0" marL="0">
              <a:buNone/>
            </a:pPr>
            <a:r>
              <a:rPr lang="en-US" sz="790" b="1" dirty="0">
                <a:solidFill>
                  <a:srgbClr val="A3282C"/>
                </a:solidFill>
                <a:latin typeface="Calibri" pitchFamily="34" charset="0"/>
                <a:ea typeface="Calibri" pitchFamily="34" charset="-122"/>
                <a:cs typeface="Calibri" pitchFamily="34" charset="-120"/>
              </a:rPr>
              <a:t>High</a:t>
            </a:r>
            <a:endParaRPr lang="en-US" sz="790" dirty="0"/>
          </a:p>
        </p:txBody>
      </p:sp>
      <p:sp>
        <p:nvSpPr>
          <p:cNvPr id="31" name="Shape 29"/>
          <p:cNvSpPr/>
          <p:nvPr/>
        </p:nvSpPr>
        <p:spPr>
          <a:xfrm>
            <a:off x="3218688" y="1911096"/>
            <a:ext cx="4160520" cy="320040"/>
          </a:xfrm>
          <a:prstGeom prst="rect">
            <a:avLst/>
          </a:prstGeom>
          <a:solidFill>
            <a:srgbClr val="F7F9FB"/>
          </a:solidFill>
          <a:ln w="6350">
            <a:solidFill>
              <a:srgbClr val="D3DCE5"/>
            </a:solidFill>
            <a:prstDash val="solid"/>
          </a:ln>
        </p:spPr>
      </p:sp>
      <p:sp>
        <p:nvSpPr>
          <p:cNvPr id="32" name="Text 30"/>
          <p:cNvSpPr txBox="1"/>
          <p:nvPr/>
        </p:nvSpPr>
        <p:spPr>
          <a:xfrm>
            <a:off x="3282696" y="191109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Target rests on FY27 earnings and the growth option, not on further short covering.</a:t>
            </a:r>
            <a:endParaRPr lang="en-US" sz="790" dirty="0"/>
          </a:p>
        </p:txBody>
      </p:sp>
      <p:sp>
        <p:nvSpPr>
          <p:cNvPr id="33" name="Shape 31"/>
          <p:cNvSpPr/>
          <p:nvPr/>
        </p:nvSpPr>
        <p:spPr>
          <a:xfrm>
            <a:off x="7379208" y="1911096"/>
            <a:ext cx="658368" cy="320040"/>
          </a:xfrm>
          <a:prstGeom prst="rect">
            <a:avLst/>
          </a:prstGeom>
          <a:solidFill>
            <a:srgbClr val="F7F9FB"/>
          </a:solidFill>
          <a:ln w="6350">
            <a:solidFill>
              <a:srgbClr val="D3DCE5"/>
            </a:solidFill>
            <a:prstDash val="solid"/>
          </a:ln>
        </p:spPr>
      </p:sp>
      <p:sp>
        <p:nvSpPr>
          <p:cNvPr id="34" name="Text 32"/>
          <p:cNvSpPr txBox="1"/>
          <p:nvPr/>
        </p:nvSpPr>
        <p:spPr>
          <a:xfrm>
            <a:off x="7443216" y="191109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35" name="Shape 33"/>
          <p:cNvSpPr/>
          <p:nvPr/>
        </p:nvSpPr>
        <p:spPr>
          <a:xfrm>
            <a:off x="8037576" y="1911096"/>
            <a:ext cx="3749040" cy="320040"/>
          </a:xfrm>
          <a:prstGeom prst="rect">
            <a:avLst/>
          </a:prstGeom>
          <a:solidFill>
            <a:srgbClr val="F7F9FB"/>
          </a:solidFill>
          <a:ln w="6350">
            <a:solidFill>
              <a:srgbClr val="D3DCE5"/>
            </a:solidFill>
            <a:prstDash val="solid"/>
          </a:ln>
        </p:spPr>
      </p:sp>
      <p:sp>
        <p:nvSpPr>
          <p:cNvPr id="36" name="Text 34"/>
          <p:cNvSpPr txBox="1"/>
          <p:nvPr/>
        </p:nvSpPr>
        <p:spPr>
          <a:xfrm>
            <a:off x="8101584" y="191109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ASIC short position reports; a rebuild above 10%</a:t>
            </a:r>
            <a:endParaRPr lang="en-US" sz="790" dirty="0"/>
          </a:p>
        </p:txBody>
      </p:sp>
      <p:sp>
        <p:nvSpPr>
          <p:cNvPr id="37" name="Shape 35"/>
          <p:cNvSpPr/>
          <p:nvPr/>
        </p:nvSpPr>
        <p:spPr>
          <a:xfrm>
            <a:off x="411480" y="2231136"/>
            <a:ext cx="2148840" cy="320040"/>
          </a:xfrm>
          <a:prstGeom prst="rect">
            <a:avLst/>
          </a:prstGeom>
          <a:solidFill>
            <a:srgbClr val="FFFFFF"/>
          </a:solidFill>
          <a:ln w="6350">
            <a:solidFill>
              <a:srgbClr val="D3DCE5"/>
            </a:solidFill>
            <a:prstDash val="solid"/>
          </a:ln>
        </p:spPr>
      </p:sp>
      <p:sp>
        <p:nvSpPr>
          <p:cNvPr id="38" name="Text 36"/>
          <p:cNvSpPr txBox="1"/>
          <p:nvPr/>
        </p:nvSpPr>
        <p:spPr>
          <a:xfrm>
            <a:off x="475488" y="223113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P2000 deferred or shelved</a:t>
            </a:r>
            <a:endParaRPr lang="en-US" sz="790" dirty="0"/>
          </a:p>
        </p:txBody>
      </p:sp>
      <p:sp>
        <p:nvSpPr>
          <p:cNvPr id="39" name="Shape 37"/>
          <p:cNvSpPr/>
          <p:nvPr/>
        </p:nvSpPr>
        <p:spPr>
          <a:xfrm>
            <a:off x="2560320" y="2231136"/>
            <a:ext cx="658368" cy="320040"/>
          </a:xfrm>
          <a:prstGeom prst="rect">
            <a:avLst/>
          </a:prstGeom>
          <a:solidFill>
            <a:srgbClr val="FFFFFF"/>
          </a:solidFill>
          <a:ln w="6350">
            <a:solidFill>
              <a:srgbClr val="D3DCE5"/>
            </a:solidFill>
            <a:prstDash val="solid"/>
          </a:ln>
        </p:spPr>
      </p:sp>
      <p:sp>
        <p:nvSpPr>
          <p:cNvPr id="40" name="Text 38"/>
          <p:cNvSpPr txBox="1"/>
          <p:nvPr/>
        </p:nvSpPr>
        <p:spPr>
          <a:xfrm>
            <a:off x="2624328" y="2231136"/>
            <a:ext cx="530352" cy="320040"/>
          </a:xfrm>
          <a:prstGeom prst="rect">
            <a:avLst/>
          </a:prstGeom>
          <a:noFill/>
          <a:ln/>
        </p:spPr>
        <p:txBody>
          <a:bodyPr wrap="square" lIns="0" tIns="0" rIns="0" bIns="0" rtlCol="0" anchor="ctr"/>
          <a:lstStyle/>
          <a:p>
            <a:pPr algn="ctr" indent="0" marL="0">
              <a:buNone/>
            </a:pPr>
            <a:r>
              <a:rPr lang="en-US" sz="790" b="1" dirty="0">
                <a:solidFill>
                  <a:srgbClr val="A3282C"/>
                </a:solidFill>
                <a:latin typeface="Calibri" pitchFamily="34" charset="0"/>
                <a:ea typeface="Calibri" pitchFamily="34" charset="-122"/>
                <a:cs typeface="Calibri" pitchFamily="34" charset="-120"/>
              </a:rPr>
              <a:t>High</a:t>
            </a:r>
            <a:endParaRPr lang="en-US" sz="790" dirty="0"/>
          </a:p>
        </p:txBody>
      </p:sp>
      <p:sp>
        <p:nvSpPr>
          <p:cNvPr id="41" name="Shape 39"/>
          <p:cNvSpPr/>
          <p:nvPr/>
        </p:nvSpPr>
        <p:spPr>
          <a:xfrm>
            <a:off x="3218688" y="2231136"/>
            <a:ext cx="4160520" cy="320040"/>
          </a:xfrm>
          <a:prstGeom prst="rect">
            <a:avLst/>
          </a:prstGeom>
          <a:solidFill>
            <a:srgbClr val="FFFFFF"/>
          </a:solidFill>
          <a:ln w="6350">
            <a:solidFill>
              <a:srgbClr val="D3DCE5"/>
            </a:solidFill>
            <a:prstDash val="solid"/>
          </a:ln>
        </p:spPr>
      </p:sp>
      <p:sp>
        <p:nvSpPr>
          <p:cNvPr id="42" name="Text 40"/>
          <p:cNvSpPr txBox="1"/>
          <p:nvPr/>
        </p:nvSpPr>
        <p:spPr>
          <a:xfrm>
            <a:off x="3282696" y="223113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A$175m of pre-FID capital committed; balance sheet can fund the A$1.2bn build.</a:t>
            </a:r>
            <a:endParaRPr lang="en-US" sz="790" dirty="0"/>
          </a:p>
        </p:txBody>
      </p:sp>
      <p:sp>
        <p:nvSpPr>
          <p:cNvPr id="43" name="Shape 41"/>
          <p:cNvSpPr/>
          <p:nvPr/>
        </p:nvSpPr>
        <p:spPr>
          <a:xfrm>
            <a:off x="7379208" y="2231136"/>
            <a:ext cx="658368" cy="320040"/>
          </a:xfrm>
          <a:prstGeom prst="rect">
            <a:avLst/>
          </a:prstGeom>
          <a:solidFill>
            <a:srgbClr val="FFFFFF"/>
          </a:solidFill>
          <a:ln w="6350">
            <a:solidFill>
              <a:srgbClr val="D3DCE5"/>
            </a:solidFill>
            <a:prstDash val="solid"/>
          </a:ln>
        </p:spPr>
      </p:sp>
      <p:sp>
        <p:nvSpPr>
          <p:cNvPr id="44" name="Text 42"/>
          <p:cNvSpPr txBox="1"/>
          <p:nvPr/>
        </p:nvSpPr>
        <p:spPr>
          <a:xfrm>
            <a:off x="7443216" y="223113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45" name="Shape 43"/>
          <p:cNvSpPr/>
          <p:nvPr/>
        </p:nvSpPr>
        <p:spPr>
          <a:xfrm>
            <a:off x="8037576" y="2231136"/>
            <a:ext cx="3749040" cy="320040"/>
          </a:xfrm>
          <a:prstGeom prst="rect">
            <a:avLst/>
          </a:prstGeom>
          <a:solidFill>
            <a:srgbClr val="FFFFFF"/>
          </a:solidFill>
          <a:ln w="6350">
            <a:solidFill>
              <a:srgbClr val="D3DCE5"/>
            </a:solidFill>
            <a:prstDash val="solid"/>
          </a:ln>
        </p:spPr>
      </p:sp>
      <p:sp>
        <p:nvSpPr>
          <p:cNvPr id="46" name="Text 44"/>
          <p:cNvSpPr txBox="1"/>
          <p:nvPr/>
        </p:nvSpPr>
        <p:spPr>
          <a:xfrm>
            <a:off x="8101584" y="223113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December-quarter 2026 study outcome; the FID itself</a:t>
            </a:r>
            <a:endParaRPr lang="en-US" sz="790" dirty="0"/>
          </a:p>
        </p:txBody>
      </p:sp>
      <p:sp>
        <p:nvSpPr>
          <p:cNvPr id="47" name="Shape 45"/>
          <p:cNvSpPr/>
          <p:nvPr/>
        </p:nvSpPr>
        <p:spPr>
          <a:xfrm>
            <a:off x="411480" y="2551176"/>
            <a:ext cx="2148840" cy="320040"/>
          </a:xfrm>
          <a:prstGeom prst="rect">
            <a:avLst/>
          </a:prstGeom>
          <a:solidFill>
            <a:srgbClr val="F7F9FB"/>
          </a:solidFill>
          <a:ln w="6350">
            <a:solidFill>
              <a:srgbClr val="D3DCE5"/>
            </a:solidFill>
            <a:prstDash val="solid"/>
          </a:ln>
        </p:spPr>
      </p:sp>
      <p:sp>
        <p:nvSpPr>
          <p:cNvPr id="48" name="Text 46"/>
          <p:cNvSpPr txBox="1"/>
          <p:nvPr/>
        </p:nvSpPr>
        <p:spPr>
          <a:xfrm>
            <a:off x="475488" y="255117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Single asset concentration</a:t>
            </a:r>
            <a:endParaRPr lang="en-US" sz="790" dirty="0"/>
          </a:p>
        </p:txBody>
      </p:sp>
      <p:sp>
        <p:nvSpPr>
          <p:cNvPr id="49" name="Shape 47"/>
          <p:cNvSpPr/>
          <p:nvPr/>
        </p:nvSpPr>
        <p:spPr>
          <a:xfrm>
            <a:off x="2560320" y="2551176"/>
            <a:ext cx="658368" cy="320040"/>
          </a:xfrm>
          <a:prstGeom prst="rect">
            <a:avLst/>
          </a:prstGeom>
          <a:solidFill>
            <a:srgbClr val="F7F9FB"/>
          </a:solidFill>
          <a:ln w="6350">
            <a:solidFill>
              <a:srgbClr val="D3DCE5"/>
            </a:solidFill>
            <a:prstDash val="solid"/>
          </a:ln>
        </p:spPr>
      </p:sp>
      <p:sp>
        <p:nvSpPr>
          <p:cNvPr id="50" name="Text 48"/>
          <p:cNvSpPr txBox="1"/>
          <p:nvPr/>
        </p:nvSpPr>
        <p:spPr>
          <a:xfrm>
            <a:off x="2624328" y="2551176"/>
            <a:ext cx="530352" cy="320040"/>
          </a:xfrm>
          <a:prstGeom prst="rect">
            <a:avLst/>
          </a:prstGeom>
          <a:noFill/>
          <a:ln/>
        </p:spPr>
        <p:txBody>
          <a:bodyPr wrap="square" lIns="0" tIns="0" rIns="0" bIns="0" rtlCol="0" anchor="ctr"/>
          <a:lstStyle/>
          <a:p>
            <a:pPr algn="ctr" indent="0" marL="0">
              <a:buNone/>
            </a:pPr>
            <a:r>
              <a:rPr lang="en-US" sz="790" b="1" dirty="0">
                <a:solidFill>
                  <a:srgbClr val="A3282C"/>
                </a:solidFill>
                <a:latin typeface="Calibri" pitchFamily="34" charset="0"/>
                <a:ea typeface="Calibri" pitchFamily="34" charset="-122"/>
                <a:cs typeface="Calibri" pitchFamily="34" charset="-120"/>
              </a:rPr>
              <a:t>High</a:t>
            </a:r>
            <a:endParaRPr lang="en-US" sz="790" dirty="0"/>
          </a:p>
        </p:txBody>
      </p:sp>
      <p:sp>
        <p:nvSpPr>
          <p:cNvPr id="51" name="Shape 49"/>
          <p:cNvSpPr/>
          <p:nvPr/>
        </p:nvSpPr>
        <p:spPr>
          <a:xfrm>
            <a:off x="3218688" y="2551176"/>
            <a:ext cx="4160520" cy="320040"/>
          </a:xfrm>
          <a:prstGeom prst="rect">
            <a:avLst/>
          </a:prstGeom>
          <a:solidFill>
            <a:srgbClr val="F7F9FB"/>
          </a:solidFill>
          <a:ln w="6350">
            <a:solidFill>
              <a:srgbClr val="D3DCE5"/>
            </a:solidFill>
            <a:prstDash val="solid"/>
          </a:ln>
        </p:spPr>
      </p:sp>
      <p:sp>
        <p:nvSpPr>
          <p:cNvPr id="52" name="Text 50"/>
          <p:cNvSpPr txBox="1"/>
          <p:nvPr/>
        </p:nvSpPr>
        <p:spPr>
          <a:xfrm>
            <a:off x="3282696" y="255117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Colina adds a second jurisdiction from the 2030s, risked at 40% and contributing nothing before FY32.</a:t>
            </a:r>
            <a:endParaRPr lang="en-US" sz="790" dirty="0"/>
          </a:p>
        </p:txBody>
      </p:sp>
      <p:sp>
        <p:nvSpPr>
          <p:cNvPr id="53" name="Shape 51"/>
          <p:cNvSpPr/>
          <p:nvPr/>
        </p:nvSpPr>
        <p:spPr>
          <a:xfrm>
            <a:off x="7379208" y="2551176"/>
            <a:ext cx="658368" cy="320040"/>
          </a:xfrm>
          <a:prstGeom prst="rect">
            <a:avLst/>
          </a:prstGeom>
          <a:solidFill>
            <a:srgbClr val="F7F9FB"/>
          </a:solidFill>
          <a:ln w="6350">
            <a:solidFill>
              <a:srgbClr val="D3DCE5"/>
            </a:solidFill>
            <a:prstDash val="solid"/>
          </a:ln>
        </p:spPr>
      </p:sp>
      <p:sp>
        <p:nvSpPr>
          <p:cNvPr id="54" name="Text 52"/>
          <p:cNvSpPr txBox="1"/>
          <p:nvPr/>
        </p:nvSpPr>
        <p:spPr>
          <a:xfrm>
            <a:off x="7443216" y="2551176"/>
            <a:ext cx="530352" cy="320040"/>
          </a:xfrm>
          <a:prstGeom prst="rect">
            <a:avLst/>
          </a:prstGeom>
          <a:noFill/>
          <a:ln/>
        </p:spPr>
        <p:txBody>
          <a:bodyPr wrap="square" lIns="0" tIns="0" rIns="0" bIns="0" rtlCol="0" anchor="ctr"/>
          <a:lstStyle/>
          <a:p>
            <a:pPr algn="ctr" indent="0" marL="0">
              <a:buNone/>
            </a:pPr>
            <a:r>
              <a:rPr lang="en-US" sz="790" b="1" dirty="0">
                <a:solidFill>
                  <a:srgbClr val="A3282C"/>
                </a:solidFill>
                <a:latin typeface="Calibri" pitchFamily="34" charset="0"/>
                <a:ea typeface="Calibri" pitchFamily="34" charset="-122"/>
                <a:cs typeface="Calibri" pitchFamily="34" charset="-120"/>
              </a:rPr>
              <a:t>High</a:t>
            </a:r>
            <a:endParaRPr lang="en-US" sz="790" dirty="0"/>
          </a:p>
        </p:txBody>
      </p:sp>
      <p:sp>
        <p:nvSpPr>
          <p:cNvPr id="55" name="Shape 53"/>
          <p:cNvSpPr/>
          <p:nvPr/>
        </p:nvSpPr>
        <p:spPr>
          <a:xfrm>
            <a:off x="8037576" y="2551176"/>
            <a:ext cx="3749040" cy="320040"/>
          </a:xfrm>
          <a:prstGeom prst="rect">
            <a:avLst/>
          </a:prstGeom>
          <a:solidFill>
            <a:srgbClr val="F7F9FB"/>
          </a:solidFill>
          <a:ln w="6350">
            <a:solidFill>
              <a:srgbClr val="D3DCE5"/>
            </a:solidFill>
            <a:prstDash val="solid"/>
          </a:ln>
        </p:spPr>
      </p:sp>
      <p:sp>
        <p:nvSpPr>
          <p:cNvPr id="56" name="Text 54"/>
          <p:cNvSpPr txBox="1"/>
          <p:nvPr/>
        </p:nvSpPr>
        <p:spPr>
          <a:xfrm>
            <a:off x="8101584" y="255117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Any Pilgangoora interruption; cyclone season</a:t>
            </a:r>
            <a:endParaRPr lang="en-US" sz="790" dirty="0"/>
          </a:p>
        </p:txBody>
      </p:sp>
      <p:sp>
        <p:nvSpPr>
          <p:cNvPr id="57" name="Shape 55"/>
          <p:cNvSpPr/>
          <p:nvPr/>
        </p:nvSpPr>
        <p:spPr>
          <a:xfrm>
            <a:off x="411480" y="2871216"/>
            <a:ext cx="2148840" cy="320040"/>
          </a:xfrm>
          <a:prstGeom prst="rect">
            <a:avLst/>
          </a:prstGeom>
          <a:solidFill>
            <a:srgbClr val="FFFFFF"/>
          </a:solidFill>
          <a:ln w="6350">
            <a:solidFill>
              <a:srgbClr val="D3DCE5"/>
            </a:solidFill>
            <a:prstDash val="solid"/>
          </a:ln>
        </p:spPr>
      </p:sp>
      <p:sp>
        <p:nvSpPr>
          <p:cNvPr id="58" name="Text 56"/>
          <p:cNvSpPr txBox="1"/>
          <p:nvPr/>
        </p:nvSpPr>
        <p:spPr>
          <a:xfrm>
            <a:off x="475488" y="287121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Reserve conversion below 75%</a:t>
            </a:r>
            <a:endParaRPr lang="en-US" sz="790" dirty="0"/>
          </a:p>
        </p:txBody>
      </p:sp>
      <p:sp>
        <p:nvSpPr>
          <p:cNvPr id="59" name="Shape 57"/>
          <p:cNvSpPr/>
          <p:nvPr/>
        </p:nvSpPr>
        <p:spPr>
          <a:xfrm>
            <a:off x="2560320" y="2871216"/>
            <a:ext cx="658368" cy="320040"/>
          </a:xfrm>
          <a:prstGeom prst="rect">
            <a:avLst/>
          </a:prstGeom>
          <a:solidFill>
            <a:srgbClr val="FFFFFF"/>
          </a:solidFill>
          <a:ln w="6350">
            <a:solidFill>
              <a:srgbClr val="D3DCE5"/>
            </a:solidFill>
            <a:prstDash val="solid"/>
          </a:ln>
        </p:spPr>
      </p:sp>
      <p:sp>
        <p:nvSpPr>
          <p:cNvPr id="60" name="Text 58"/>
          <p:cNvSpPr txBox="1"/>
          <p:nvPr/>
        </p:nvSpPr>
        <p:spPr>
          <a:xfrm>
            <a:off x="2624328" y="287121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61" name="Shape 59"/>
          <p:cNvSpPr/>
          <p:nvPr/>
        </p:nvSpPr>
        <p:spPr>
          <a:xfrm>
            <a:off x="3218688" y="2871216"/>
            <a:ext cx="4160520" cy="320040"/>
          </a:xfrm>
          <a:prstGeom prst="rect">
            <a:avLst/>
          </a:prstGeom>
          <a:solidFill>
            <a:srgbClr val="FFFFFF"/>
          </a:solidFill>
          <a:ln w="6350">
            <a:solidFill>
              <a:srgbClr val="D3DCE5"/>
            </a:solidFill>
            <a:prstDash val="solid"/>
          </a:ln>
        </p:spPr>
      </p:sp>
      <p:sp>
        <p:nvSpPr>
          <p:cNvPr id="62" name="Text 60"/>
          <p:cNvSpPr txBox="1"/>
          <p:nvPr/>
        </p:nvSpPr>
        <p:spPr>
          <a:xfrm>
            <a:off x="3282696" y="287121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The 2025 resource upgrade lifted contained lithium 23%, which supports conversion.</a:t>
            </a:r>
            <a:endParaRPr lang="en-US" sz="790" dirty="0"/>
          </a:p>
        </p:txBody>
      </p:sp>
      <p:sp>
        <p:nvSpPr>
          <p:cNvPr id="63" name="Shape 61"/>
          <p:cNvSpPr/>
          <p:nvPr/>
        </p:nvSpPr>
        <p:spPr>
          <a:xfrm>
            <a:off x="7379208" y="2871216"/>
            <a:ext cx="658368" cy="320040"/>
          </a:xfrm>
          <a:prstGeom prst="rect">
            <a:avLst/>
          </a:prstGeom>
          <a:solidFill>
            <a:srgbClr val="FFFFFF"/>
          </a:solidFill>
          <a:ln w="6350">
            <a:solidFill>
              <a:srgbClr val="D3DCE5"/>
            </a:solidFill>
            <a:prstDash val="solid"/>
          </a:ln>
        </p:spPr>
      </p:sp>
      <p:sp>
        <p:nvSpPr>
          <p:cNvPr id="64" name="Text 62"/>
          <p:cNvSpPr txBox="1"/>
          <p:nvPr/>
        </p:nvSpPr>
        <p:spPr>
          <a:xfrm>
            <a:off x="7443216" y="287121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65" name="Shape 63"/>
          <p:cNvSpPr/>
          <p:nvPr/>
        </p:nvSpPr>
        <p:spPr>
          <a:xfrm>
            <a:off x="8037576" y="2871216"/>
            <a:ext cx="3749040" cy="320040"/>
          </a:xfrm>
          <a:prstGeom prst="rect">
            <a:avLst/>
          </a:prstGeom>
          <a:solidFill>
            <a:srgbClr val="FFFFFF"/>
          </a:solidFill>
          <a:ln w="6350">
            <a:solidFill>
              <a:srgbClr val="D3DCE5"/>
            </a:solidFill>
            <a:prstDash val="solid"/>
          </a:ln>
        </p:spPr>
      </p:sp>
      <p:sp>
        <p:nvSpPr>
          <p:cNvPr id="66" name="Text 64"/>
          <p:cNvSpPr txBox="1"/>
          <p:nvPr/>
        </p:nvSpPr>
        <p:spPr>
          <a:xfrm>
            <a:off x="8101584" y="287121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The next Ore Reserve statement; below 60% costs about A$0.40/share</a:t>
            </a:r>
            <a:endParaRPr lang="en-US" sz="790" dirty="0"/>
          </a:p>
        </p:txBody>
      </p:sp>
      <p:sp>
        <p:nvSpPr>
          <p:cNvPr id="67" name="Shape 65"/>
          <p:cNvSpPr/>
          <p:nvPr/>
        </p:nvSpPr>
        <p:spPr>
          <a:xfrm>
            <a:off x="411480" y="3191256"/>
            <a:ext cx="2148840" cy="320040"/>
          </a:xfrm>
          <a:prstGeom prst="rect">
            <a:avLst/>
          </a:prstGeom>
          <a:solidFill>
            <a:srgbClr val="F7F9FB"/>
          </a:solidFill>
          <a:ln w="6350">
            <a:solidFill>
              <a:srgbClr val="D3DCE5"/>
            </a:solidFill>
            <a:prstDash val="solid"/>
          </a:ln>
        </p:spPr>
      </p:sp>
      <p:sp>
        <p:nvSpPr>
          <p:cNvPr id="68" name="Text 66"/>
          <p:cNvSpPr txBox="1"/>
          <p:nvPr/>
        </p:nvSpPr>
        <p:spPr>
          <a:xfrm>
            <a:off x="475488" y="319125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Carbon premium never materialises</a:t>
            </a:r>
            <a:endParaRPr lang="en-US" sz="790" dirty="0"/>
          </a:p>
        </p:txBody>
      </p:sp>
      <p:sp>
        <p:nvSpPr>
          <p:cNvPr id="69" name="Shape 67"/>
          <p:cNvSpPr/>
          <p:nvPr/>
        </p:nvSpPr>
        <p:spPr>
          <a:xfrm>
            <a:off x="2560320" y="3191256"/>
            <a:ext cx="658368" cy="320040"/>
          </a:xfrm>
          <a:prstGeom prst="rect">
            <a:avLst/>
          </a:prstGeom>
          <a:solidFill>
            <a:srgbClr val="F7F9FB"/>
          </a:solidFill>
          <a:ln w="6350">
            <a:solidFill>
              <a:srgbClr val="D3DCE5"/>
            </a:solidFill>
            <a:prstDash val="solid"/>
          </a:ln>
        </p:spPr>
      </p:sp>
      <p:sp>
        <p:nvSpPr>
          <p:cNvPr id="70" name="Text 68"/>
          <p:cNvSpPr txBox="1"/>
          <p:nvPr/>
        </p:nvSpPr>
        <p:spPr>
          <a:xfrm>
            <a:off x="2624328" y="319125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71" name="Shape 69"/>
          <p:cNvSpPr/>
          <p:nvPr/>
        </p:nvSpPr>
        <p:spPr>
          <a:xfrm>
            <a:off x="3218688" y="3191256"/>
            <a:ext cx="4160520" cy="320040"/>
          </a:xfrm>
          <a:prstGeom prst="rect">
            <a:avLst/>
          </a:prstGeom>
          <a:solidFill>
            <a:srgbClr val="F7F9FB"/>
          </a:solidFill>
          <a:ln w="6350">
            <a:solidFill>
              <a:srgbClr val="D3DCE5"/>
            </a:solidFill>
            <a:prstDash val="solid"/>
          </a:ln>
        </p:spPr>
      </p:sp>
      <p:sp>
        <p:nvSpPr>
          <p:cNvPr id="72" name="Text 70"/>
          <p:cNvSpPr txBox="1"/>
          <p:nvPr/>
        </p:nvSpPr>
        <p:spPr>
          <a:xfrm>
            <a:off x="3282696" y="319125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Already valued at zero inside the target and risked at 25% outside it.</a:t>
            </a:r>
            <a:endParaRPr lang="en-US" sz="790" dirty="0"/>
          </a:p>
        </p:txBody>
      </p:sp>
      <p:sp>
        <p:nvSpPr>
          <p:cNvPr id="73" name="Shape 71"/>
          <p:cNvSpPr/>
          <p:nvPr/>
        </p:nvSpPr>
        <p:spPr>
          <a:xfrm>
            <a:off x="7379208" y="3191256"/>
            <a:ext cx="658368" cy="320040"/>
          </a:xfrm>
          <a:prstGeom prst="rect">
            <a:avLst/>
          </a:prstGeom>
          <a:solidFill>
            <a:srgbClr val="F7F9FB"/>
          </a:solidFill>
          <a:ln w="6350">
            <a:solidFill>
              <a:srgbClr val="D3DCE5"/>
            </a:solidFill>
            <a:prstDash val="solid"/>
          </a:ln>
        </p:spPr>
      </p:sp>
      <p:sp>
        <p:nvSpPr>
          <p:cNvPr id="74" name="Text 72"/>
          <p:cNvSpPr txBox="1"/>
          <p:nvPr/>
        </p:nvSpPr>
        <p:spPr>
          <a:xfrm>
            <a:off x="7443216" y="3191256"/>
            <a:ext cx="530352" cy="320040"/>
          </a:xfrm>
          <a:prstGeom prst="rect">
            <a:avLst/>
          </a:prstGeom>
          <a:noFill/>
          <a:ln/>
        </p:spPr>
        <p:txBody>
          <a:bodyPr wrap="square" lIns="0" tIns="0" rIns="0" bIns="0" rtlCol="0" anchor="ctr"/>
          <a:lstStyle/>
          <a:p>
            <a:pPr algn="ctr" indent="0" marL="0">
              <a:buNone/>
            </a:pPr>
            <a:r>
              <a:rPr lang="en-US" sz="790" b="1" dirty="0">
                <a:solidFill>
                  <a:srgbClr val="0E7C6B"/>
                </a:solidFill>
                <a:latin typeface="Calibri" pitchFamily="34" charset="0"/>
                <a:ea typeface="Calibri" pitchFamily="34" charset="-122"/>
                <a:cs typeface="Calibri" pitchFamily="34" charset="-120"/>
              </a:rPr>
              <a:t>Low</a:t>
            </a:r>
            <a:endParaRPr lang="en-US" sz="790" dirty="0"/>
          </a:p>
        </p:txBody>
      </p:sp>
      <p:sp>
        <p:nvSpPr>
          <p:cNvPr id="75" name="Shape 73"/>
          <p:cNvSpPr/>
          <p:nvPr/>
        </p:nvSpPr>
        <p:spPr>
          <a:xfrm>
            <a:off x="8037576" y="3191256"/>
            <a:ext cx="3749040" cy="320040"/>
          </a:xfrm>
          <a:prstGeom prst="rect">
            <a:avLst/>
          </a:prstGeom>
          <a:solidFill>
            <a:srgbClr val="F7F9FB"/>
          </a:solidFill>
          <a:ln w="6350">
            <a:solidFill>
              <a:srgbClr val="D3DCE5"/>
            </a:solidFill>
            <a:prstDash val="solid"/>
          </a:ln>
        </p:spPr>
      </p:sp>
      <p:sp>
        <p:nvSpPr>
          <p:cNvPr id="76" name="Text 74"/>
          <p:cNvSpPr txBox="1"/>
          <p:nvPr/>
        </p:nvSpPr>
        <p:spPr>
          <a:xfrm>
            <a:off x="8101584" y="319125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First PLS contract with a disclosed carbon-linked term</a:t>
            </a:r>
            <a:endParaRPr lang="en-US" sz="790" dirty="0"/>
          </a:p>
        </p:txBody>
      </p:sp>
      <p:sp>
        <p:nvSpPr>
          <p:cNvPr id="77" name="Shape 75"/>
          <p:cNvSpPr/>
          <p:nvPr/>
        </p:nvSpPr>
        <p:spPr>
          <a:xfrm>
            <a:off x="411480" y="3511296"/>
            <a:ext cx="2148840" cy="320040"/>
          </a:xfrm>
          <a:prstGeom prst="rect">
            <a:avLst/>
          </a:prstGeom>
          <a:solidFill>
            <a:srgbClr val="FFFFFF"/>
          </a:solidFill>
          <a:ln w="6350">
            <a:solidFill>
              <a:srgbClr val="D3DCE5"/>
            </a:solidFill>
            <a:prstDash val="solid"/>
          </a:ln>
        </p:spPr>
      </p:sp>
      <p:sp>
        <p:nvSpPr>
          <p:cNvPr id="78" name="Text 76"/>
          <p:cNvSpPr txBox="1"/>
          <p:nvPr/>
        </p:nvSpPr>
        <p:spPr>
          <a:xfrm>
            <a:off x="475488" y="351129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Cost inflation in the Pilbara</a:t>
            </a:r>
            <a:endParaRPr lang="en-US" sz="790" dirty="0"/>
          </a:p>
        </p:txBody>
      </p:sp>
      <p:sp>
        <p:nvSpPr>
          <p:cNvPr id="79" name="Shape 77"/>
          <p:cNvSpPr/>
          <p:nvPr/>
        </p:nvSpPr>
        <p:spPr>
          <a:xfrm>
            <a:off x="2560320" y="3511296"/>
            <a:ext cx="658368" cy="320040"/>
          </a:xfrm>
          <a:prstGeom prst="rect">
            <a:avLst/>
          </a:prstGeom>
          <a:solidFill>
            <a:srgbClr val="FFFFFF"/>
          </a:solidFill>
          <a:ln w="6350">
            <a:solidFill>
              <a:srgbClr val="D3DCE5"/>
            </a:solidFill>
            <a:prstDash val="solid"/>
          </a:ln>
        </p:spPr>
      </p:sp>
      <p:sp>
        <p:nvSpPr>
          <p:cNvPr id="80" name="Text 78"/>
          <p:cNvSpPr txBox="1"/>
          <p:nvPr/>
        </p:nvSpPr>
        <p:spPr>
          <a:xfrm>
            <a:off x="2624328" y="351129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81" name="Shape 79"/>
          <p:cNvSpPr/>
          <p:nvPr/>
        </p:nvSpPr>
        <p:spPr>
          <a:xfrm>
            <a:off x="3218688" y="3511296"/>
            <a:ext cx="4160520" cy="320040"/>
          </a:xfrm>
          <a:prstGeom prst="rect">
            <a:avLst/>
          </a:prstGeom>
          <a:solidFill>
            <a:srgbClr val="FFFFFF"/>
          </a:solidFill>
          <a:ln w="6350">
            <a:solidFill>
              <a:srgbClr val="D3DCE5"/>
            </a:solidFill>
            <a:prstDash val="solid"/>
          </a:ln>
        </p:spPr>
      </p:sp>
      <p:sp>
        <p:nvSpPr>
          <p:cNvPr id="82" name="Text 80"/>
          <p:cNvSpPr txBox="1"/>
          <p:nvPr/>
        </p:nvSpPr>
        <p:spPr>
          <a:xfrm>
            <a:off x="3282696" y="351129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Ore sorting and P2000 scale dilute fixed costs; guidance held within a A$50/t band.</a:t>
            </a:r>
            <a:endParaRPr lang="en-US" sz="790" dirty="0"/>
          </a:p>
        </p:txBody>
      </p:sp>
      <p:sp>
        <p:nvSpPr>
          <p:cNvPr id="83" name="Shape 81"/>
          <p:cNvSpPr/>
          <p:nvPr/>
        </p:nvSpPr>
        <p:spPr>
          <a:xfrm>
            <a:off x="7379208" y="3511296"/>
            <a:ext cx="658368" cy="320040"/>
          </a:xfrm>
          <a:prstGeom prst="rect">
            <a:avLst/>
          </a:prstGeom>
          <a:solidFill>
            <a:srgbClr val="FFFFFF"/>
          </a:solidFill>
          <a:ln w="6350">
            <a:solidFill>
              <a:srgbClr val="D3DCE5"/>
            </a:solidFill>
            <a:prstDash val="solid"/>
          </a:ln>
        </p:spPr>
      </p:sp>
      <p:sp>
        <p:nvSpPr>
          <p:cNvPr id="84" name="Text 82"/>
          <p:cNvSpPr txBox="1"/>
          <p:nvPr/>
        </p:nvSpPr>
        <p:spPr>
          <a:xfrm>
            <a:off x="7443216" y="351129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85" name="Shape 83"/>
          <p:cNvSpPr/>
          <p:nvPr/>
        </p:nvSpPr>
        <p:spPr>
          <a:xfrm>
            <a:off x="8037576" y="3511296"/>
            <a:ext cx="3749040" cy="320040"/>
          </a:xfrm>
          <a:prstGeom prst="rect">
            <a:avLst/>
          </a:prstGeom>
          <a:solidFill>
            <a:srgbClr val="FFFFFF"/>
          </a:solidFill>
          <a:ln w="6350">
            <a:solidFill>
              <a:srgbClr val="D3DCE5"/>
            </a:solidFill>
            <a:prstDash val="solid"/>
          </a:ln>
        </p:spPr>
      </p:sp>
      <p:sp>
        <p:nvSpPr>
          <p:cNvPr id="86" name="Text 84"/>
          <p:cNvSpPr txBox="1"/>
          <p:nvPr/>
        </p:nvSpPr>
        <p:spPr>
          <a:xfrm>
            <a:off x="8101584" y="351129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Quarterly unit cost against the A$575-625/t guidance</a:t>
            </a:r>
            <a:endParaRPr lang="en-US" sz="790" dirty="0"/>
          </a:p>
        </p:txBody>
      </p:sp>
      <p:sp>
        <p:nvSpPr>
          <p:cNvPr id="87" name="Shape 85"/>
          <p:cNvSpPr/>
          <p:nvPr/>
        </p:nvSpPr>
        <p:spPr>
          <a:xfrm>
            <a:off x="411480" y="3831336"/>
            <a:ext cx="2148840" cy="320040"/>
          </a:xfrm>
          <a:prstGeom prst="rect">
            <a:avLst/>
          </a:prstGeom>
          <a:solidFill>
            <a:srgbClr val="F7F9FB"/>
          </a:solidFill>
          <a:ln w="6350">
            <a:solidFill>
              <a:srgbClr val="D3DCE5"/>
            </a:solidFill>
            <a:prstDash val="solid"/>
          </a:ln>
        </p:spPr>
      </p:sp>
      <p:sp>
        <p:nvSpPr>
          <p:cNvPr id="88" name="Text 86"/>
          <p:cNvSpPr txBox="1"/>
          <p:nvPr/>
        </p:nvSpPr>
        <p:spPr>
          <a:xfrm>
            <a:off x="475488" y="383133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Tailings incident or disclosure shock</a:t>
            </a:r>
            <a:endParaRPr lang="en-US" sz="790" dirty="0"/>
          </a:p>
        </p:txBody>
      </p:sp>
      <p:sp>
        <p:nvSpPr>
          <p:cNvPr id="89" name="Shape 87"/>
          <p:cNvSpPr/>
          <p:nvPr/>
        </p:nvSpPr>
        <p:spPr>
          <a:xfrm>
            <a:off x="2560320" y="3831336"/>
            <a:ext cx="658368" cy="320040"/>
          </a:xfrm>
          <a:prstGeom prst="rect">
            <a:avLst/>
          </a:prstGeom>
          <a:solidFill>
            <a:srgbClr val="F7F9FB"/>
          </a:solidFill>
          <a:ln w="6350">
            <a:solidFill>
              <a:srgbClr val="D3DCE5"/>
            </a:solidFill>
            <a:prstDash val="solid"/>
          </a:ln>
        </p:spPr>
      </p:sp>
      <p:sp>
        <p:nvSpPr>
          <p:cNvPr id="90" name="Text 88"/>
          <p:cNvSpPr txBox="1"/>
          <p:nvPr/>
        </p:nvSpPr>
        <p:spPr>
          <a:xfrm>
            <a:off x="2624328" y="383133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91" name="Shape 89"/>
          <p:cNvSpPr/>
          <p:nvPr/>
        </p:nvSpPr>
        <p:spPr>
          <a:xfrm>
            <a:off x="3218688" y="3831336"/>
            <a:ext cx="4160520" cy="320040"/>
          </a:xfrm>
          <a:prstGeom prst="rect">
            <a:avLst/>
          </a:prstGeom>
          <a:solidFill>
            <a:srgbClr val="F7F9FB"/>
          </a:solidFill>
          <a:ln w="6350">
            <a:solidFill>
              <a:srgbClr val="D3DCE5"/>
            </a:solidFill>
            <a:prstDash val="solid"/>
          </a:ln>
        </p:spPr>
      </p:sp>
      <p:sp>
        <p:nvSpPr>
          <p:cNvPr id="92" name="Text 90"/>
          <p:cNvSpPr txBox="1"/>
          <p:nvPr/>
        </p:nvSpPr>
        <p:spPr>
          <a:xfrm>
            <a:off x="3282696" y="383133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None. The method is undisclosed and we carry this as unpriced.</a:t>
            </a:r>
            <a:endParaRPr lang="en-US" sz="790" dirty="0"/>
          </a:p>
        </p:txBody>
      </p:sp>
      <p:sp>
        <p:nvSpPr>
          <p:cNvPr id="93" name="Shape 91"/>
          <p:cNvSpPr/>
          <p:nvPr/>
        </p:nvSpPr>
        <p:spPr>
          <a:xfrm>
            <a:off x="7379208" y="3831336"/>
            <a:ext cx="658368" cy="320040"/>
          </a:xfrm>
          <a:prstGeom prst="rect">
            <a:avLst/>
          </a:prstGeom>
          <a:solidFill>
            <a:srgbClr val="F7F9FB"/>
          </a:solidFill>
          <a:ln w="6350">
            <a:solidFill>
              <a:srgbClr val="D3DCE5"/>
            </a:solidFill>
            <a:prstDash val="solid"/>
          </a:ln>
        </p:spPr>
      </p:sp>
      <p:sp>
        <p:nvSpPr>
          <p:cNvPr id="94" name="Text 92"/>
          <p:cNvSpPr txBox="1"/>
          <p:nvPr/>
        </p:nvSpPr>
        <p:spPr>
          <a:xfrm>
            <a:off x="7443216" y="383133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95" name="Shape 93"/>
          <p:cNvSpPr/>
          <p:nvPr/>
        </p:nvSpPr>
        <p:spPr>
          <a:xfrm>
            <a:off x="8037576" y="3831336"/>
            <a:ext cx="3749040" cy="320040"/>
          </a:xfrm>
          <a:prstGeom prst="rect">
            <a:avLst/>
          </a:prstGeom>
          <a:solidFill>
            <a:srgbClr val="F7F9FB"/>
          </a:solidFill>
          <a:ln w="6350">
            <a:solidFill>
              <a:srgbClr val="D3DCE5"/>
            </a:solidFill>
            <a:prstDash val="solid"/>
          </a:ln>
        </p:spPr>
      </p:sp>
      <p:sp>
        <p:nvSpPr>
          <p:cNvPr id="96" name="Text 94"/>
          <p:cNvSpPr txBox="1"/>
          <p:nvPr/>
        </p:nvSpPr>
        <p:spPr>
          <a:xfrm>
            <a:off x="8101584" y="383133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Any tailings or GISTM disclosure; P2000 approval conditions</a:t>
            </a:r>
            <a:endParaRPr lang="en-US" sz="790" dirty="0"/>
          </a:p>
        </p:txBody>
      </p:sp>
      <p:sp>
        <p:nvSpPr>
          <p:cNvPr id="97" name="Shape 95"/>
          <p:cNvSpPr/>
          <p:nvPr/>
        </p:nvSpPr>
        <p:spPr>
          <a:xfrm>
            <a:off x="411480" y="4151376"/>
            <a:ext cx="2148840" cy="320040"/>
          </a:xfrm>
          <a:prstGeom prst="rect">
            <a:avLst/>
          </a:prstGeom>
          <a:solidFill>
            <a:srgbClr val="FFFFFF"/>
          </a:solidFill>
          <a:ln w="6350">
            <a:solidFill>
              <a:srgbClr val="D3DCE5"/>
            </a:solidFill>
            <a:prstDash val="solid"/>
          </a:ln>
        </p:spPr>
      </p:sp>
      <p:sp>
        <p:nvSpPr>
          <p:cNvPr id="98" name="Text 96"/>
          <p:cNvSpPr txBox="1"/>
          <p:nvPr/>
        </p:nvSpPr>
        <p:spPr>
          <a:xfrm>
            <a:off x="475488" y="415137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Offsets regime repriced</a:t>
            </a:r>
            <a:endParaRPr lang="en-US" sz="790" dirty="0"/>
          </a:p>
        </p:txBody>
      </p:sp>
      <p:sp>
        <p:nvSpPr>
          <p:cNvPr id="99" name="Shape 97"/>
          <p:cNvSpPr/>
          <p:nvPr/>
        </p:nvSpPr>
        <p:spPr>
          <a:xfrm>
            <a:off x="2560320" y="4151376"/>
            <a:ext cx="658368" cy="320040"/>
          </a:xfrm>
          <a:prstGeom prst="rect">
            <a:avLst/>
          </a:prstGeom>
          <a:solidFill>
            <a:srgbClr val="FFFFFF"/>
          </a:solidFill>
          <a:ln w="6350">
            <a:solidFill>
              <a:srgbClr val="D3DCE5"/>
            </a:solidFill>
            <a:prstDash val="solid"/>
          </a:ln>
        </p:spPr>
      </p:sp>
      <p:sp>
        <p:nvSpPr>
          <p:cNvPr id="100" name="Text 98"/>
          <p:cNvSpPr txBox="1"/>
          <p:nvPr/>
        </p:nvSpPr>
        <p:spPr>
          <a:xfrm>
            <a:off x="2624328" y="415137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101" name="Shape 99"/>
          <p:cNvSpPr/>
          <p:nvPr/>
        </p:nvSpPr>
        <p:spPr>
          <a:xfrm>
            <a:off x="3218688" y="4151376"/>
            <a:ext cx="4160520" cy="320040"/>
          </a:xfrm>
          <a:prstGeom prst="rect">
            <a:avLst/>
          </a:prstGeom>
          <a:solidFill>
            <a:srgbClr val="FFFFFF"/>
          </a:solidFill>
          <a:ln w="6350">
            <a:solidFill>
              <a:srgbClr val="D3DCE5"/>
            </a:solidFill>
            <a:prstDash val="solid"/>
          </a:ln>
        </p:spPr>
      </p:sp>
      <p:sp>
        <p:nvSpPr>
          <p:cNvPr id="102" name="Text 100"/>
          <p:cNvSpPr txBox="1"/>
          <p:nvPr/>
        </p:nvSpPr>
        <p:spPr>
          <a:xfrm>
            <a:off x="3282696" y="415137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Sector-wide, not PLS-specific. An operator that gets ahead of it gains rather than loses.</a:t>
            </a:r>
            <a:endParaRPr lang="en-US" sz="790" dirty="0"/>
          </a:p>
        </p:txBody>
      </p:sp>
      <p:sp>
        <p:nvSpPr>
          <p:cNvPr id="103" name="Shape 101"/>
          <p:cNvSpPr/>
          <p:nvPr/>
        </p:nvSpPr>
        <p:spPr>
          <a:xfrm>
            <a:off x="7379208" y="4151376"/>
            <a:ext cx="658368" cy="320040"/>
          </a:xfrm>
          <a:prstGeom prst="rect">
            <a:avLst/>
          </a:prstGeom>
          <a:solidFill>
            <a:srgbClr val="FFFFFF"/>
          </a:solidFill>
          <a:ln w="6350">
            <a:solidFill>
              <a:srgbClr val="D3DCE5"/>
            </a:solidFill>
            <a:prstDash val="solid"/>
          </a:ln>
        </p:spPr>
      </p:sp>
      <p:sp>
        <p:nvSpPr>
          <p:cNvPr id="104" name="Text 102"/>
          <p:cNvSpPr txBox="1"/>
          <p:nvPr/>
        </p:nvSpPr>
        <p:spPr>
          <a:xfrm>
            <a:off x="7443216" y="415137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105" name="Shape 103"/>
          <p:cNvSpPr/>
          <p:nvPr/>
        </p:nvSpPr>
        <p:spPr>
          <a:xfrm>
            <a:off x="8037576" y="4151376"/>
            <a:ext cx="3749040" cy="320040"/>
          </a:xfrm>
          <a:prstGeom prst="rect">
            <a:avLst/>
          </a:prstGeom>
          <a:solidFill>
            <a:srgbClr val="FFFFFF"/>
          </a:solidFill>
          <a:ln w="6350">
            <a:solidFill>
              <a:srgbClr val="D3DCE5"/>
            </a:solidFill>
            <a:prstDash val="solid"/>
          </a:ln>
        </p:spPr>
      </p:sp>
      <p:sp>
        <p:nvSpPr>
          <p:cNvPr id="106" name="Text 104"/>
          <p:cNvSpPr txBox="1"/>
          <p:nvPr/>
        </p:nvSpPr>
        <p:spPr>
          <a:xfrm>
            <a:off x="8101584" y="415137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Western Australian offsets policy review outcomes</a:t>
            </a:r>
            <a:endParaRPr lang="en-US" sz="790" dirty="0"/>
          </a:p>
        </p:txBody>
      </p:sp>
      <p:sp>
        <p:nvSpPr>
          <p:cNvPr id="107" name="Shape 105"/>
          <p:cNvSpPr/>
          <p:nvPr/>
        </p:nvSpPr>
        <p:spPr>
          <a:xfrm>
            <a:off x="411480" y="4471416"/>
            <a:ext cx="2148840" cy="320040"/>
          </a:xfrm>
          <a:prstGeom prst="rect">
            <a:avLst/>
          </a:prstGeom>
          <a:solidFill>
            <a:srgbClr val="F7F9FB"/>
          </a:solidFill>
          <a:ln w="6350">
            <a:solidFill>
              <a:srgbClr val="D3DCE5"/>
            </a:solidFill>
            <a:prstDash val="solid"/>
          </a:ln>
        </p:spPr>
      </p:sp>
      <p:sp>
        <p:nvSpPr>
          <p:cNvPr id="108" name="Text 106"/>
          <p:cNvSpPr txBox="1"/>
          <p:nvPr/>
        </p:nvSpPr>
        <p:spPr>
          <a:xfrm>
            <a:off x="475488" y="447141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Sodium-ion substitution in storage</a:t>
            </a:r>
            <a:endParaRPr lang="en-US" sz="790" dirty="0"/>
          </a:p>
        </p:txBody>
      </p:sp>
      <p:sp>
        <p:nvSpPr>
          <p:cNvPr id="109" name="Shape 107"/>
          <p:cNvSpPr/>
          <p:nvPr/>
        </p:nvSpPr>
        <p:spPr>
          <a:xfrm>
            <a:off x="2560320" y="4471416"/>
            <a:ext cx="658368" cy="320040"/>
          </a:xfrm>
          <a:prstGeom prst="rect">
            <a:avLst/>
          </a:prstGeom>
          <a:solidFill>
            <a:srgbClr val="F7F9FB"/>
          </a:solidFill>
          <a:ln w="6350">
            <a:solidFill>
              <a:srgbClr val="D3DCE5"/>
            </a:solidFill>
            <a:prstDash val="solid"/>
          </a:ln>
        </p:spPr>
      </p:sp>
      <p:sp>
        <p:nvSpPr>
          <p:cNvPr id="110" name="Text 108"/>
          <p:cNvSpPr txBox="1"/>
          <p:nvPr/>
        </p:nvSpPr>
        <p:spPr>
          <a:xfrm>
            <a:off x="2624328" y="4471416"/>
            <a:ext cx="530352" cy="320040"/>
          </a:xfrm>
          <a:prstGeom prst="rect">
            <a:avLst/>
          </a:prstGeom>
          <a:noFill/>
          <a:ln/>
        </p:spPr>
        <p:txBody>
          <a:bodyPr wrap="square" lIns="0" tIns="0" rIns="0" bIns="0" rtlCol="0" anchor="ctr"/>
          <a:lstStyle/>
          <a:p>
            <a:pPr algn="ctr" indent="0" marL="0">
              <a:buNone/>
            </a:pPr>
            <a:r>
              <a:rPr lang="en-US" sz="790" b="1" dirty="0">
                <a:solidFill>
                  <a:srgbClr val="0E7C6B"/>
                </a:solidFill>
                <a:latin typeface="Calibri" pitchFamily="34" charset="0"/>
                <a:ea typeface="Calibri" pitchFamily="34" charset="-122"/>
                <a:cs typeface="Calibri" pitchFamily="34" charset="-120"/>
              </a:rPr>
              <a:t>Low</a:t>
            </a:r>
            <a:endParaRPr lang="en-US" sz="790" dirty="0"/>
          </a:p>
        </p:txBody>
      </p:sp>
      <p:sp>
        <p:nvSpPr>
          <p:cNvPr id="111" name="Shape 109"/>
          <p:cNvSpPr/>
          <p:nvPr/>
        </p:nvSpPr>
        <p:spPr>
          <a:xfrm>
            <a:off x="3218688" y="4471416"/>
            <a:ext cx="4160520" cy="320040"/>
          </a:xfrm>
          <a:prstGeom prst="rect">
            <a:avLst/>
          </a:prstGeom>
          <a:solidFill>
            <a:srgbClr val="F7F9FB"/>
          </a:solidFill>
          <a:ln w="6350">
            <a:solidFill>
              <a:srgbClr val="D3DCE5"/>
            </a:solidFill>
            <a:prstDash val="solid"/>
          </a:ln>
        </p:spPr>
      </p:sp>
      <p:sp>
        <p:nvSpPr>
          <p:cNvPr id="112" name="Text 110"/>
          <p:cNvSpPr txBox="1"/>
          <p:nvPr/>
        </p:nvSpPr>
        <p:spPr>
          <a:xfrm>
            <a:off x="3282696" y="447141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Late-decade at the earliest, and our terminal value is a finite annuity rather than a perpetuity.</a:t>
            </a:r>
            <a:endParaRPr lang="en-US" sz="790" dirty="0"/>
          </a:p>
        </p:txBody>
      </p:sp>
      <p:sp>
        <p:nvSpPr>
          <p:cNvPr id="113" name="Shape 111"/>
          <p:cNvSpPr/>
          <p:nvPr/>
        </p:nvSpPr>
        <p:spPr>
          <a:xfrm>
            <a:off x="7379208" y="4471416"/>
            <a:ext cx="658368" cy="320040"/>
          </a:xfrm>
          <a:prstGeom prst="rect">
            <a:avLst/>
          </a:prstGeom>
          <a:solidFill>
            <a:srgbClr val="F7F9FB"/>
          </a:solidFill>
          <a:ln w="6350">
            <a:solidFill>
              <a:srgbClr val="D3DCE5"/>
            </a:solidFill>
            <a:prstDash val="solid"/>
          </a:ln>
        </p:spPr>
      </p:sp>
      <p:sp>
        <p:nvSpPr>
          <p:cNvPr id="114" name="Text 112"/>
          <p:cNvSpPr txBox="1"/>
          <p:nvPr/>
        </p:nvSpPr>
        <p:spPr>
          <a:xfrm>
            <a:off x="7443216" y="4471416"/>
            <a:ext cx="530352" cy="320040"/>
          </a:xfrm>
          <a:prstGeom prst="rect">
            <a:avLst/>
          </a:prstGeom>
          <a:noFill/>
          <a:ln/>
        </p:spPr>
        <p:txBody>
          <a:bodyPr wrap="square" lIns="0" tIns="0" rIns="0" bIns="0" rtlCol="0" anchor="ctr"/>
          <a:lstStyle/>
          <a:p>
            <a:pPr algn="ctr" indent="0" marL="0">
              <a:buNone/>
            </a:pPr>
            <a:r>
              <a:rPr lang="en-US" sz="790" b="1" dirty="0">
                <a:solidFill>
                  <a:srgbClr val="C2610A"/>
                </a:solidFill>
                <a:latin typeface="Calibri" pitchFamily="34" charset="0"/>
                <a:ea typeface="Calibri" pitchFamily="34" charset="-122"/>
                <a:cs typeface="Calibri" pitchFamily="34" charset="-120"/>
              </a:rPr>
              <a:t>Med</a:t>
            </a:r>
            <a:endParaRPr lang="en-US" sz="790" dirty="0"/>
          </a:p>
        </p:txBody>
      </p:sp>
      <p:sp>
        <p:nvSpPr>
          <p:cNvPr id="115" name="Shape 113"/>
          <p:cNvSpPr/>
          <p:nvPr/>
        </p:nvSpPr>
        <p:spPr>
          <a:xfrm>
            <a:off x="8037576" y="4471416"/>
            <a:ext cx="3749040" cy="320040"/>
          </a:xfrm>
          <a:prstGeom prst="rect">
            <a:avLst/>
          </a:prstGeom>
          <a:solidFill>
            <a:srgbClr val="F7F9FB"/>
          </a:solidFill>
          <a:ln w="6350">
            <a:solidFill>
              <a:srgbClr val="D3DCE5"/>
            </a:solidFill>
            <a:prstDash val="solid"/>
          </a:ln>
        </p:spPr>
      </p:sp>
      <p:sp>
        <p:nvSpPr>
          <p:cNvPr id="116" name="Text 114"/>
          <p:cNvSpPr txBox="1"/>
          <p:nvPr/>
        </p:nvSpPr>
        <p:spPr>
          <a:xfrm>
            <a:off x="8101584" y="447141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Sodium-ion cell cost per kWh; announced storage orders</a:t>
            </a:r>
            <a:endParaRPr lang="en-US" sz="790" dirty="0"/>
          </a:p>
        </p:txBody>
      </p:sp>
      <p:sp>
        <p:nvSpPr>
          <p:cNvPr id="117" name="Shape 115"/>
          <p:cNvSpPr/>
          <p:nvPr/>
        </p:nvSpPr>
        <p:spPr>
          <a:xfrm>
            <a:off x="411480" y="4791456"/>
            <a:ext cx="2148840" cy="320040"/>
          </a:xfrm>
          <a:prstGeom prst="rect">
            <a:avLst/>
          </a:prstGeom>
          <a:solidFill>
            <a:srgbClr val="FFFFFF"/>
          </a:solidFill>
          <a:ln w="6350">
            <a:solidFill>
              <a:srgbClr val="D3DCE5"/>
            </a:solidFill>
            <a:prstDash val="solid"/>
          </a:ln>
        </p:spPr>
      </p:sp>
      <p:sp>
        <p:nvSpPr>
          <p:cNvPr id="118" name="Text 116"/>
          <p:cNvSpPr txBox="1"/>
          <p:nvPr/>
        </p:nvSpPr>
        <p:spPr>
          <a:xfrm>
            <a:off x="475488" y="479145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Key person and governance</a:t>
            </a:r>
            <a:endParaRPr lang="en-US" sz="790" dirty="0"/>
          </a:p>
        </p:txBody>
      </p:sp>
      <p:sp>
        <p:nvSpPr>
          <p:cNvPr id="119" name="Shape 117"/>
          <p:cNvSpPr/>
          <p:nvPr/>
        </p:nvSpPr>
        <p:spPr>
          <a:xfrm>
            <a:off x="2560320" y="4791456"/>
            <a:ext cx="658368" cy="320040"/>
          </a:xfrm>
          <a:prstGeom prst="rect">
            <a:avLst/>
          </a:prstGeom>
          <a:solidFill>
            <a:srgbClr val="FFFFFF"/>
          </a:solidFill>
          <a:ln w="6350">
            <a:solidFill>
              <a:srgbClr val="D3DCE5"/>
            </a:solidFill>
            <a:prstDash val="solid"/>
          </a:ln>
        </p:spPr>
      </p:sp>
      <p:sp>
        <p:nvSpPr>
          <p:cNvPr id="120" name="Text 118"/>
          <p:cNvSpPr txBox="1"/>
          <p:nvPr/>
        </p:nvSpPr>
        <p:spPr>
          <a:xfrm>
            <a:off x="2624328" y="4791456"/>
            <a:ext cx="530352" cy="320040"/>
          </a:xfrm>
          <a:prstGeom prst="rect">
            <a:avLst/>
          </a:prstGeom>
          <a:noFill/>
          <a:ln/>
        </p:spPr>
        <p:txBody>
          <a:bodyPr wrap="square" lIns="0" tIns="0" rIns="0" bIns="0" rtlCol="0" anchor="ctr"/>
          <a:lstStyle/>
          <a:p>
            <a:pPr algn="ctr" indent="0" marL="0">
              <a:buNone/>
            </a:pPr>
            <a:r>
              <a:rPr lang="en-US" sz="790" b="1" dirty="0">
                <a:solidFill>
                  <a:srgbClr val="0E7C6B"/>
                </a:solidFill>
                <a:latin typeface="Calibri" pitchFamily="34" charset="0"/>
                <a:ea typeface="Calibri" pitchFamily="34" charset="-122"/>
                <a:cs typeface="Calibri" pitchFamily="34" charset="-120"/>
              </a:rPr>
              <a:t>Low</a:t>
            </a:r>
            <a:endParaRPr lang="en-US" sz="790" dirty="0"/>
          </a:p>
        </p:txBody>
      </p:sp>
      <p:sp>
        <p:nvSpPr>
          <p:cNvPr id="121" name="Shape 119"/>
          <p:cNvSpPr/>
          <p:nvPr/>
        </p:nvSpPr>
        <p:spPr>
          <a:xfrm>
            <a:off x="3218688" y="4791456"/>
            <a:ext cx="4160520" cy="320040"/>
          </a:xfrm>
          <a:prstGeom prst="rect">
            <a:avLst/>
          </a:prstGeom>
          <a:solidFill>
            <a:srgbClr val="FFFFFF"/>
          </a:solidFill>
          <a:ln w="6350">
            <a:solidFill>
              <a:srgbClr val="D3DCE5"/>
            </a:solidFill>
            <a:prstDash val="solid"/>
          </a:ln>
        </p:spPr>
      </p:sp>
      <p:sp>
        <p:nvSpPr>
          <p:cNvPr id="122" name="Text 120"/>
          <p:cNvSpPr txBox="1"/>
          <p:nvPr/>
        </p:nvSpPr>
        <p:spPr>
          <a:xfrm>
            <a:off x="3282696" y="479145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Chief executive since 2022 with a full cycle behind him; standing board Sustainability Committee.</a:t>
            </a:r>
            <a:endParaRPr lang="en-US" sz="790" dirty="0"/>
          </a:p>
        </p:txBody>
      </p:sp>
      <p:sp>
        <p:nvSpPr>
          <p:cNvPr id="123" name="Shape 121"/>
          <p:cNvSpPr/>
          <p:nvPr/>
        </p:nvSpPr>
        <p:spPr>
          <a:xfrm>
            <a:off x="7379208" y="4791456"/>
            <a:ext cx="658368" cy="320040"/>
          </a:xfrm>
          <a:prstGeom prst="rect">
            <a:avLst/>
          </a:prstGeom>
          <a:solidFill>
            <a:srgbClr val="FFFFFF"/>
          </a:solidFill>
          <a:ln w="6350">
            <a:solidFill>
              <a:srgbClr val="D3DCE5"/>
            </a:solidFill>
            <a:prstDash val="solid"/>
          </a:ln>
        </p:spPr>
      </p:sp>
      <p:sp>
        <p:nvSpPr>
          <p:cNvPr id="124" name="Text 122"/>
          <p:cNvSpPr txBox="1"/>
          <p:nvPr/>
        </p:nvSpPr>
        <p:spPr>
          <a:xfrm>
            <a:off x="7443216" y="4791456"/>
            <a:ext cx="530352" cy="320040"/>
          </a:xfrm>
          <a:prstGeom prst="rect">
            <a:avLst/>
          </a:prstGeom>
          <a:noFill/>
          <a:ln/>
        </p:spPr>
        <p:txBody>
          <a:bodyPr wrap="square" lIns="0" tIns="0" rIns="0" bIns="0" rtlCol="0" anchor="ctr"/>
          <a:lstStyle/>
          <a:p>
            <a:pPr algn="ctr" indent="0" marL="0">
              <a:buNone/>
            </a:pPr>
            <a:r>
              <a:rPr lang="en-US" sz="790" b="1" dirty="0">
                <a:solidFill>
                  <a:srgbClr val="0E7C6B"/>
                </a:solidFill>
                <a:latin typeface="Calibri" pitchFamily="34" charset="0"/>
                <a:ea typeface="Calibri" pitchFamily="34" charset="-122"/>
                <a:cs typeface="Calibri" pitchFamily="34" charset="-120"/>
              </a:rPr>
              <a:t>Low</a:t>
            </a:r>
            <a:endParaRPr lang="en-US" sz="790" dirty="0"/>
          </a:p>
        </p:txBody>
      </p:sp>
      <p:sp>
        <p:nvSpPr>
          <p:cNvPr id="125" name="Shape 123"/>
          <p:cNvSpPr/>
          <p:nvPr/>
        </p:nvSpPr>
        <p:spPr>
          <a:xfrm>
            <a:off x="8037576" y="4791456"/>
            <a:ext cx="3749040" cy="320040"/>
          </a:xfrm>
          <a:prstGeom prst="rect">
            <a:avLst/>
          </a:prstGeom>
          <a:solidFill>
            <a:srgbClr val="FFFFFF"/>
          </a:solidFill>
          <a:ln w="6350">
            <a:solidFill>
              <a:srgbClr val="D3DCE5"/>
            </a:solidFill>
            <a:prstDash val="solid"/>
          </a:ln>
        </p:spPr>
      </p:sp>
      <p:sp>
        <p:nvSpPr>
          <p:cNvPr id="126" name="Text 124"/>
          <p:cNvSpPr txBox="1"/>
          <p:nvPr/>
        </p:nvSpPr>
        <p:spPr>
          <a:xfrm>
            <a:off x="8101584" y="479145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Executive departures; whether ESG enters incentive pay</a:t>
            </a:r>
            <a:endParaRPr lang="en-US" sz="790" dirty="0"/>
          </a:p>
        </p:txBody>
      </p:sp>
      <p:sp>
        <p:nvSpPr>
          <p:cNvPr id="127" name="Shape 125"/>
          <p:cNvSpPr/>
          <p:nvPr/>
        </p:nvSpPr>
        <p:spPr>
          <a:xfrm>
            <a:off x="411480" y="5111496"/>
            <a:ext cx="2148840" cy="320040"/>
          </a:xfrm>
          <a:prstGeom prst="rect">
            <a:avLst/>
          </a:prstGeom>
          <a:solidFill>
            <a:srgbClr val="F7F9FB"/>
          </a:solidFill>
          <a:ln w="6350">
            <a:solidFill>
              <a:srgbClr val="D3DCE5"/>
            </a:solidFill>
            <a:prstDash val="solid"/>
          </a:ln>
        </p:spPr>
      </p:sp>
      <p:sp>
        <p:nvSpPr>
          <p:cNvPr id="128" name="Text 126"/>
          <p:cNvSpPr txBox="1"/>
          <p:nvPr/>
        </p:nvSpPr>
        <p:spPr>
          <a:xfrm>
            <a:off x="475488" y="5111496"/>
            <a:ext cx="2020824" cy="320040"/>
          </a:xfrm>
          <a:prstGeom prst="rect">
            <a:avLst/>
          </a:prstGeom>
          <a:noFill/>
          <a:ln/>
        </p:spPr>
        <p:txBody>
          <a:bodyPr wrap="square" lIns="0" tIns="0" rIns="0" bIns="0" rtlCol="0" anchor="ctr"/>
          <a:lstStyle/>
          <a:p>
            <a:pPr algn="l" indent="0" marL="0">
              <a:buNone/>
            </a:pPr>
            <a:r>
              <a:rPr lang="en-US" sz="790" b="1" dirty="0">
                <a:solidFill>
                  <a:srgbClr val="1B2733"/>
                </a:solidFill>
                <a:latin typeface="Calibri" pitchFamily="34" charset="0"/>
                <a:ea typeface="Calibri" pitchFamily="34" charset="-122"/>
                <a:cs typeface="Calibri" pitchFamily="34" charset="-120"/>
              </a:rPr>
              <a:t>Currency</a:t>
            </a:r>
            <a:endParaRPr lang="en-US" sz="790" dirty="0"/>
          </a:p>
        </p:txBody>
      </p:sp>
      <p:sp>
        <p:nvSpPr>
          <p:cNvPr id="129" name="Shape 127"/>
          <p:cNvSpPr/>
          <p:nvPr/>
        </p:nvSpPr>
        <p:spPr>
          <a:xfrm>
            <a:off x="2560320" y="5111496"/>
            <a:ext cx="658368" cy="320040"/>
          </a:xfrm>
          <a:prstGeom prst="rect">
            <a:avLst/>
          </a:prstGeom>
          <a:solidFill>
            <a:srgbClr val="F7F9FB"/>
          </a:solidFill>
          <a:ln w="6350">
            <a:solidFill>
              <a:srgbClr val="D3DCE5"/>
            </a:solidFill>
            <a:prstDash val="solid"/>
          </a:ln>
        </p:spPr>
      </p:sp>
      <p:sp>
        <p:nvSpPr>
          <p:cNvPr id="130" name="Text 128"/>
          <p:cNvSpPr txBox="1"/>
          <p:nvPr/>
        </p:nvSpPr>
        <p:spPr>
          <a:xfrm>
            <a:off x="2624328" y="5111496"/>
            <a:ext cx="530352" cy="320040"/>
          </a:xfrm>
          <a:prstGeom prst="rect">
            <a:avLst/>
          </a:prstGeom>
          <a:noFill/>
          <a:ln/>
        </p:spPr>
        <p:txBody>
          <a:bodyPr wrap="square" lIns="0" tIns="0" rIns="0" bIns="0" rtlCol="0" anchor="ctr"/>
          <a:lstStyle/>
          <a:p>
            <a:pPr algn="ctr" indent="0" marL="0">
              <a:buNone/>
            </a:pPr>
            <a:r>
              <a:rPr lang="en-US" sz="790" b="1" dirty="0">
                <a:solidFill>
                  <a:srgbClr val="0E7C6B"/>
                </a:solidFill>
                <a:latin typeface="Calibri" pitchFamily="34" charset="0"/>
                <a:ea typeface="Calibri" pitchFamily="34" charset="-122"/>
                <a:cs typeface="Calibri" pitchFamily="34" charset="-120"/>
              </a:rPr>
              <a:t>Low</a:t>
            </a:r>
            <a:endParaRPr lang="en-US" sz="790" dirty="0"/>
          </a:p>
        </p:txBody>
      </p:sp>
      <p:sp>
        <p:nvSpPr>
          <p:cNvPr id="131" name="Shape 129"/>
          <p:cNvSpPr/>
          <p:nvPr/>
        </p:nvSpPr>
        <p:spPr>
          <a:xfrm>
            <a:off x="3218688" y="5111496"/>
            <a:ext cx="4160520" cy="320040"/>
          </a:xfrm>
          <a:prstGeom prst="rect">
            <a:avLst/>
          </a:prstGeom>
          <a:solidFill>
            <a:srgbClr val="F7F9FB"/>
          </a:solidFill>
          <a:ln w="6350">
            <a:solidFill>
              <a:srgbClr val="D3DCE5"/>
            </a:solidFill>
            <a:prstDash val="solid"/>
          </a:ln>
        </p:spPr>
      </p:sp>
      <p:sp>
        <p:nvSpPr>
          <p:cNvPr id="132" name="Text 130"/>
          <p:cNvSpPr txBox="1"/>
          <p:nvPr/>
        </p:nvSpPr>
        <p:spPr>
          <a:xfrm>
            <a:off x="3282696" y="5111496"/>
            <a:ext cx="403250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Revenue in US dollars, costs mostly in Australian dollars. A weaker AUD helps margins.</a:t>
            </a:r>
            <a:endParaRPr lang="en-US" sz="790" dirty="0"/>
          </a:p>
        </p:txBody>
      </p:sp>
      <p:sp>
        <p:nvSpPr>
          <p:cNvPr id="133" name="Shape 131"/>
          <p:cNvSpPr/>
          <p:nvPr/>
        </p:nvSpPr>
        <p:spPr>
          <a:xfrm>
            <a:off x="7379208" y="5111496"/>
            <a:ext cx="658368" cy="320040"/>
          </a:xfrm>
          <a:prstGeom prst="rect">
            <a:avLst/>
          </a:prstGeom>
          <a:solidFill>
            <a:srgbClr val="F7F9FB"/>
          </a:solidFill>
          <a:ln w="6350">
            <a:solidFill>
              <a:srgbClr val="D3DCE5"/>
            </a:solidFill>
            <a:prstDash val="solid"/>
          </a:ln>
        </p:spPr>
      </p:sp>
      <p:sp>
        <p:nvSpPr>
          <p:cNvPr id="134" name="Text 132"/>
          <p:cNvSpPr txBox="1"/>
          <p:nvPr/>
        </p:nvSpPr>
        <p:spPr>
          <a:xfrm>
            <a:off x="7443216" y="5111496"/>
            <a:ext cx="530352" cy="320040"/>
          </a:xfrm>
          <a:prstGeom prst="rect">
            <a:avLst/>
          </a:prstGeom>
          <a:noFill/>
          <a:ln/>
        </p:spPr>
        <p:txBody>
          <a:bodyPr wrap="square" lIns="0" tIns="0" rIns="0" bIns="0" rtlCol="0" anchor="ctr"/>
          <a:lstStyle/>
          <a:p>
            <a:pPr algn="ctr" indent="0" marL="0">
              <a:buNone/>
            </a:pPr>
            <a:r>
              <a:rPr lang="en-US" sz="790" b="1" dirty="0">
                <a:solidFill>
                  <a:srgbClr val="0E7C6B"/>
                </a:solidFill>
                <a:latin typeface="Calibri" pitchFamily="34" charset="0"/>
                <a:ea typeface="Calibri" pitchFamily="34" charset="-122"/>
                <a:cs typeface="Calibri" pitchFamily="34" charset="-120"/>
              </a:rPr>
              <a:t>Low</a:t>
            </a:r>
            <a:endParaRPr lang="en-US" sz="790" dirty="0"/>
          </a:p>
        </p:txBody>
      </p:sp>
      <p:sp>
        <p:nvSpPr>
          <p:cNvPr id="135" name="Shape 133"/>
          <p:cNvSpPr/>
          <p:nvPr/>
        </p:nvSpPr>
        <p:spPr>
          <a:xfrm>
            <a:off x="8037576" y="5111496"/>
            <a:ext cx="3749040" cy="320040"/>
          </a:xfrm>
          <a:prstGeom prst="rect">
            <a:avLst/>
          </a:prstGeom>
          <a:solidFill>
            <a:srgbClr val="F7F9FB"/>
          </a:solidFill>
          <a:ln w="6350">
            <a:solidFill>
              <a:srgbClr val="D3DCE5"/>
            </a:solidFill>
            <a:prstDash val="solid"/>
          </a:ln>
        </p:spPr>
      </p:sp>
      <p:sp>
        <p:nvSpPr>
          <p:cNvPr id="136" name="Text 134"/>
          <p:cNvSpPr txBox="1"/>
          <p:nvPr/>
        </p:nvSpPr>
        <p:spPr>
          <a:xfrm>
            <a:off x="8101584" y="5111496"/>
            <a:ext cx="3621024" cy="320040"/>
          </a:xfrm>
          <a:prstGeom prst="rect">
            <a:avLst/>
          </a:prstGeom>
          <a:noFill/>
          <a:ln/>
        </p:spPr>
        <p:txBody>
          <a:bodyPr wrap="square" lIns="0" tIns="0" rIns="0" bIns="0" rtlCol="0" anchor="ctr"/>
          <a:lstStyle/>
          <a:p>
            <a:pPr algn="l" indent="0" marL="0">
              <a:buNone/>
            </a:pPr>
            <a:r>
              <a:rPr lang="en-US" sz="790" dirty="0">
                <a:solidFill>
                  <a:srgbClr val="1B2733"/>
                </a:solidFill>
                <a:latin typeface="Calibri" pitchFamily="34" charset="0"/>
                <a:ea typeface="Calibri" pitchFamily="34" charset="-122"/>
                <a:cs typeface="Calibri" pitchFamily="34" charset="-120"/>
              </a:rPr>
              <a:t>AUD/USD against our 0.66-0.70 forecast path</a:t>
            </a:r>
            <a:endParaRPr lang="en-US" sz="790" dirty="0"/>
          </a:p>
        </p:txBody>
      </p:sp>
      <p:sp>
        <p:nvSpPr>
          <p:cNvPr id="137" name="Shape 135"/>
          <p:cNvSpPr/>
          <p:nvPr/>
        </p:nvSpPr>
        <p:spPr>
          <a:xfrm>
            <a:off x="411480" y="5541264"/>
            <a:ext cx="11375136" cy="493776"/>
          </a:xfrm>
          <a:prstGeom prst="rect">
            <a:avLst/>
          </a:prstGeom>
          <a:solidFill>
            <a:srgbClr val="FBEBD9"/>
          </a:solidFill>
          <a:ln w="9525">
            <a:solidFill>
              <a:srgbClr val="E8C9A3"/>
            </a:solidFill>
            <a:prstDash val="solid"/>
          </a:ln>
        </p:spPr>
      </p:sp>
      <p:sp>
        <p:nvSpPr>
          <p:cNvPr id="138" name="Text 136"/>
          <p:cNvSpPr txBox="1"/>
          <p:nvPr/>
        </p:nvSpPr>
        <p:spPr>
          <a:xfrm>
            <a:off x="576072" y="5669280"/>
            <a:ext cx="11045952" cy="274320"/>
          </a:xfrm>
          <a:prstGeom prst="rect">
            <a:avLst/>
          </a:prstGeom>
          <a:noFill/>
          <a:ln/>
        </p:spPr>
        <p:txBody>
          <a:bodyPr wrap="square" lIns="0" tIns="0" rIns="0" bIns="0" rtlCol="0" anchor="t"/>
          <a:lstStyle/>
          <a:p>
            <a:pPr indent="0" marL="0">
              <a:lnSpc>
                <a:spcPct val="105000"/>
              </a:lnSpc>
              <a:buNone/>
            </a:pPr>
            <a:r>
              <a:rPr lang="en-US" sz="790" dirty="0">
                <a:solidFill>
                  <a:srgbClr val="1B2733"/>
                </a:solidFill>
                <a:latin typeface="Calibri" pitchFamily="34" charset="0"/>
                <a:ea typeface="Calibri" pitchFamily="34" charset="-122"/>
                <a:cs typeface="Calibri" pitchFamily="34" charset="-120"/>
              </a:rPr>
              <a:t>The first four decide this position; the rest are manageable within a normal holding period. The one that would make us wrong is the first: a sustained price relapse of about a fifth from our base case takes the target to roughly A$3.80: the DCF leg falls to A$3.65 on the disclosed price coefficient, and FY27 EBITDA falls 30% on 1.5x operating leverage, taking the comparables leg to A$4.02.</a:t>
            </a:r>
            <a:endParaRPr lang="en-US" sz="790" dirty="0"/>
          </a:p>
        </p:txBody>
      </p:sp>
      <p:sp>
        <p:nvSpPr>
          <p:cNvPr id="139" name="Text 137"/>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assessment. Inherent and residual ratings are ours. Indicators are chosen because they are publicly observable at a known frequency, not because they are exhaustive.</a:t>
            </a:r>
            <a:endParaRPr lang="en-US" sz="720" dirty="0"/>
          </a:p>
        </p:txBody>
      </p:sp>
      <p:sp>
        <p:nvSpPr>
          <p:cNvPr id="140" name="Text 138"/>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F1</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PLS went from the most shorted stock on the ASX to roughly the fortieth in eighteen months. That buyer has now finished buying.</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F2  Risk and reference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graphicFrame>
        <p:nvGraphicFramePr>
          <p:cNvPr id="7" name="Chart 0" descr=""/>
          <p:cNvGraphicFramePr/>
          <p:nvPr/>
        </p:nvGraphicFramePr>
        <p:xfrm>
          <a:off x="411480" y="1298448"/>
          <a:ext cx="6035040" cy="26517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665976" y="1298448"/>
            <a:ext cx="5120640" cy="2651760"/>
          </a:xfrm>
          <a:prstGeom prst="rect">
            <a:avLst/>
          </a:prstGeom>
          <a:solidFill>
            <a:srgbClr val="FBEBD9"/>
          </a:solidFill>
          <a:ln w="9525">
            <a:solidFill>
              <a:srgbClr val="E8C9A3"/>
            </a:solidFill>
            <a:prstDash val="solid"/>
          </a:ln>
        </p:spPr>
      </p:sp>
      <p:sp>
        <p:nvSpPr>
          <p:cNvPr id="9" name="Text 6"/>
          <p:cNvSpPr txBox="1"/>
          <p:nvPr/>
        </p:nvSpPr>
        <p:spPr>
          <a:xfrm>
            <a:off x="6830568" y="1426464"/>
            <a:ext cx="4809744" cy="365760"/>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Our own warning indicator has triggered</a:t>
            </a:r>
            <a:endParaRPr lang="en-US" sz="1150" dirty="0"/>
          </a:p>
        </p:txBody>
      </p:sp>
      <p:sp>
        <p:nvSpPr>
          <p:cNvPr id="10" name="Text 7"/>
          <p:cNvSpPr txBox="1"/>
          <p:nvPr/>
        </p:nvSpPr>
        <p:spPr>
          <a:xfrm>
            <a:off x="6848856" y="1865376"/>
            <a:ext cx="4754880" cy="1975104"/>
          </a:xfrm>
          <a:prstGeom prst="rect">
            <a:avLst/>
          </a:prstGeom>
          <a:noFill/>
          <a:ln/>
        </p:spPr>
        <p:txBody>
          <a:bodyPr wrap="square" lIns="0" tIns="0" rIns="0" bIns="0" rtlCol="0" anchor="t"/>
          <a:lstStyle/>
          <a:p>
            <a:pPr marL="342900" indent="-342900">
              <a:lnSpc>
                <a:spcPct val="100000"/>
              </a:lnSpc>
              <a:spcAft>
                <a:spcPts val="500"/>
              </a:spcAft>
              <a:buSzPct val="100000"/>
              <a:buChar char="▪"/>
            </a:pPr>
            <a:r>
              <a:rPr lang="en-US" sz="840" dirty="0">
                <a:solidFill>
                  <a:srgbClr val="1B2733"/>
                </a:solidFill>
                <a:latin typeface="Calibri" pitchFamily="34" charset="0"/>
                <a:ea typeface="Calibri" pitchFamily="34" charset="-122"/>
                <a:cs typeface="Calibri" pitchFamily="34" charset="-120"/>
              </a:rPr>
              <a:t>PLS was the largest, most liquid way to be short falling lithium prices, and about one share in five was borrowed short in September 2024.</a:t>
            </a:r>
            <a:endParaRPr lang="en-US" sz="840" dirty="0"/>
          </a:p>
          <a:p>
            <a:pPr marL="342900" indent="-342900">
              <a:lnSpc>
                <a:spcPct val="100000"/>
              </a:lnSpc>
              <a:spcAft>
                <a:spcPts val="500"/>
              </a:spcAft>
              <a:buSzPct val="100000"/>
              <a:buChar char="▪"/>
            </a:pPr>
            <a:r>
              <a:rPr lang="en-US" sz="840" dirty="0">
                <a:solidFill>
                  <a:srgbClr val="1B2733"/>
                </a:solidFill>
                <a:latin typeface="Calibri" pitchFamily="34" charset="0"/>
                <a:ea typeface="Calibri" pitchFamily="34" charset="-122"/>
                <a:cs typeface="Calibri" pitchFamily="34" charset="-120"/>
              </a:rPr>
              <a:t>The price then went from A$1.91 to A$5.48, and short interest fell to 6.8% by May 2026. A material part of that move was covering, not new fundamental buyers.</a:t>
            </a:r>
            <a:endParaRPr lang="en-US" sz="840" dirty="0"/>
          </a:p>
          <a:p>
            <a:pPr marL="342900" indent="-342900">
              <a:lnSpc>
                <a:spcPct val="100000"/>
              </a:lnSpc>
              <a:spcAft>
                <a:spcPts val="500"/>
              </a:spcAft>
              <a:buSzPct val="100000"/>
              <a:buChar char="▪"/>
            </a:pPr>
            <a:r>
              <a:rPr lang="en-US" sz="840" dirty="0">
                <a:solidFill>
                  <a:srgbClr val="1B2733"/>
                </a:solidFill>
                <a:latin typeface="Calibri" pitchFamily="34" charset="0"/>
                <a:ea typeface="Calibri" pitchFamily="34" charset="-122"/>
                <a:cs typeface="Calibri" pitchFamily="34" charset="-120"/>
              </a:rPr>
              <a:t>Since then shorts have REBUILT to 10.09% as at 4 August 2026, up 0.75 percentage points in a single week.</a:t>
            </a:r>
            <a:endParaRPr lang="en-US" sz="840" dirty="0"/>
          </a:p>
          <a:p>
            <a:pPr marL="342900" indent="-342900">
              <a:lnSpc>
                <a:spcPct val="100000"/>
              </a:lnSpc>
              <a:spcAft>
                <a:spcPts val="500"/>
              </a:spcAft>
              <a:buSzPct val="100000"/>
              <a:buChar char="▪"/>
            </a:pPr>
            <a:r>
              <a:rPr lang="en-US" sz="840" dirty="0">
                <a:solidFill>
                  <a:srgbClr val="1B2733"/>
                </a:solidFill>
                <a:latin typeface="Calibri" pitchFamily="34" charset="0"/>
                <a:ea typeface="Calibri" pitchFamily="34" charset="-122"/>
                <a:cs typeface="Calibri" pitchFamily="34" charset="-120"/>
              </a:rPr>
              <a:t>Our risk register names a rebuild above 10% as a warning signal. It has happened, and we are reporting it rather than quietly dropping the indicator.</a:t>
            </a:r>
            <a:endParaRPr lang="en-US" sz="840" dirty="0"/>
          </a:p>
          <a:p>
            <a:pPr marL="342900" indent="-342900">
              <a:lnSpc>
                <a:spcPct val="100000"/>
              </a:lnSpc>
              <a:spcAft>
                <a:spcPts val="500"/>
              </a:spcAft>
              <a:buSzPct val="100000"/>
              <a:buChar char="▪"/>
            </a:pPr>
            <a:r>
              <a:rPr lang="en-US" sz="840" dirty="0">
                <a:solidFill>
                  <a:srgbClr val="1B2733"/>
                </a:solidFill>
                <a:latin typeface="Calibri" pitchFamily="34" charset="0"/>
                <a:ea typeface="Calibri" pitchFamily="34" charset="-122"/>
                <a:cs typeface="Calibri" pitchFamily="34" charset="-120"/>
              </a:rPr>
              <a:t>What it means: a well-resourced group is positioning against the stock at these levels. We disagree with them, and the position is on the record either way.</a:t>
            </a:r>
            <a:endParaRPr lang="en-US" sz="840" dirty="0"/>
          </a:p>
        </p:txBody>
      </p:sp>
      <p:sp>
        <p:nvSpPr>
          <p:cNvPr id="11" name="Shape 8"/>
          <p:cNvSpPr/>
          <p:nvPr/>
        </p:nvSpPr>
        <p:spPr>
          <a:xfrm>
            <a:off x="411480" y="4114800"/>
            <a:ext cx="11375136" cy="1207008"/>
          </a:xfrm>
          <a:prstGeom prst="rect">
            <a:avLst/>
          </a:prstGeom>
          <a:solidFill>
            <a:srgbClr val="EEF2F6"/>
          </a:solidFill>
          <a:ln w="9525">
            <a:solidFill>
              <a:srgbClr val="D3DCE5"/>
            </a:solidFill>
            <a:prstDash val="solid"/>
          </a:ln>
        </p:spPr>
      </p:sp>
      <p:sp>
        <p:nvSpPr>
          <p:cNvPr id="12" name="Text 9"/>
          <p:cNvSpPr txBox="1"/>
          <p:nvPr/>
        </p:nvSpPr>
        <p:spPr>
          <a:xfrm>
            <a:off x="576072" y="4242816"/>
            <a:ext cx="11045952"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How we read it, and what it does not change</a:t>
            </a:r>
            <a:endParaRPr lang="en-US" sz="1150" dirty="0"/>
          </a:p>
        </p:txBody>
      </p:sp>
      <p:sp>
        <p:nvSpPr>
          <p:cNvPr id="13" name="Text 10"/>
          <p:cNvSpPr txBox="1"/>
          <p:nvPr/>
        </p:nvSpPr>
        <p:spPr>
          <a:xfrm>
            <a:off x="576072" y="4572000"/>
            <a:ext cx="11045952" cy="658368"/>
          </a:xfrm>
          <a:prstGeom prst="rect">
            <a:avLst/>
          </a:prstGeom>
          <a:noFill/>
          <a:ln/>
        </p:spPr>
        <p:txBody>
          <a:bodyPr wrap="square" lIns="0" tIns="0" rIns="0" bIns="0" rtlCol="0" anchor="t"/>
          <a:lstStyle/>
          <a:p>
            <a:pPr indent="0" marL="0">
              <a:lnSpc>
                <a:spcPct val="105000"/>
              </a:lnSpc>
              <a:buNone/>
            </a:pPr>
            <a:r>
              <a:rPr lang="en-US" sz="790" dirty="0">
                <a:solidFill>
                  <a:srgbClr val="1B2733"/>
                </a:solidFill>
                <a:latin typeface="Calibri" pitchFamily="34" charset="0"/>
                <a:ea typeface="Calibri" pitchFamily="34" charset="-122"/>
                <a:cs typeface="Calibri" pitchFamily="34" charset="-120"/>
              </a:rPr>
              <a:t>Two things are true at once. The covering that drove much of the last twelve months is finished, so that flow cannot repeat. And shorts are rebuilding, which says some investors think the re-rating overshot.</a:t>
            </a:r>
            <a:endParaRPr lang="en-US" sz="790" dirty="0"/>
          </a:p>
          <a:p>
            <a:pPr indent="0" marL="0">
              <a:lnSpc>
                <a:spcPct val="105000"/>
              </a:lnSpc>
              <a:buNone/>
            </a:pPr>
            <a:endParaRPr lang="en-US" sz="790" dirty="0"/>
          </a:p>
          <a:p>
            <a:pPr indent="0" marL="0">
              <a:lnSpc>
                <a:spcPct val="105000"/>
              </a:lnSpc>
              <a:buNone/>
            </a:pPr>
            <a:r>
              <a:rPr lang="en-US" sz="790" dirty="0">
                <a:solidFill>
                  <a:srgbClr val="1B2733"/>
                </a:solidFill>
                <a:latin typeface="Calibri" pitchFamily="34" charset="0"/>
                <a:ea typeface="Calibri" pitchFamily="34" charset="-122"/>
                <a:cs typeface="Calibri" pitchFamily="34" charset="-120"/>
              </a:rPr>
              <a:t>It does not change the target, because our target never depended on a squeeze: it rests on FY27 earnings and the growth option. It does change how we would size the position. At 10% short interest and 1.09x reward to risk, this is an overweight to build into, not one to take in a single trade. The next ASIC print is the number to watch.</a:t>
            </a:r>
            <a:endParaRPr lang="en-US" sz="790" dirty="0"/>
          </a:p>
        </p:txBody>
      </p:sp>
      <p:sp>
        <p:nvSpPr>
          <p:cNvPr id="14" name="Text 11"/>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ASIC short position reports via shortman.com.au, shorted.com.au and stocktrack.com.au. Latest retrievable data point 4 August 2026 at 10.09%, up 0.75 percentage points week on week. ASIC data is published on a T+4 basis.</a:t>
            </a:r>
            <a:endParaRPr lang="en-US" sz="720" dirty="0"/>
          </a:p>
        </p:txBody>
      </p:sp>
      <p:sp>
        <p:nvSpPr>
          <p:cNvPr id="15" name="Text 12"/>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F2</a:t>
            </a:r>
            <a:endParaRPr lang="en-US" sz="8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450" b="1" dirty="0">
                <a:solidFill>
                  <a:srgbClr val="FFFFFF"/>
                </a:solidFill>
                <a:latin typeface="Cambria" pitchFamily="34" charset="0"/>
                <a:ea typeface="Cambria" pitchFamily="34" charset="-122"/>
                <a:cs typeface="Cambria" pitchFamily="34" charset="-120"/>
              </a:rPr>
              <a:t>A near-tripling in twelve months, and a consensus that lands almost exactly on the current price. Our disagreement with the street is narrow and specific.</a:t>
            </a:r>
            <a:endParaRPr lang="en-US" sz="14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F3  Risk and reference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874520" cy="292608"/>
          </a:xfrm>
          <a:prstGeom prst="rect">
            <a:avLst/>
          </a:prstGeom>
          <a:solidFill>
            <a:srgbClr val="10233A"/>
          </a:solidFill>
          <a:ln/>
        </p:spPr>
      </p:sp>
      <p:sp>
        <p:nvSpPr>
          <p:cNvPr id="8" name="Text 6"/>
          <p:cNvSpPr txBox="1"/>
          <p:nvPr/>
        </p:nvSpPr>
        <p:spPr>
          <a:xfrm>
            <a:off x="475488" y="1298448"/>
            <a:ext cx="1746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Period</a:t>
            </a:r>
            <a:endParaRPr lang="en-US" sz="900" dirty="0"/>
          </a:p>
        </p:txBody>
      </p:sp>
      <p:sp>
        <p:nvSpPr>
          <p:cNvPr id="9" name="Shape 7"/>
          <p:cNvSpPr/>
          <p:nvPr/>
        </p:nvSpPr>
        <p:spPr>
          <a:xfrm>
            <a:off x="2286000" y="1298448"/>
            <a:ext cx="4160520" cy="292608"/>
          </a:xfrm>
          <a:prstGeom prst="rect">
            <a:avLst/>
          </a:prstGeom>
          <a:solidFill>
            <a:srgbClr val="10233A"/>
          </a:solidFill>
          <a:ln/>
        </p:spPr>
      </p:sp>
      <p:sp>
        <p:nvSpPr>
          <p:cNvPr id="10" name="Text 8"/>
          <p:cNvSpPr txBox="1"/>
          <p:nvPr/>
        </p:nvSpPr>
        <p:spPr>
          <a:xfrm>
            <a:off x="2350008" y="1298448"/>
            <a:ext cx="403250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What happened</a:t>
            </a:r>
            <a:endParaRPr lang="en-US" sz="900" dirty="0"/>
          </a:p>
        </p:txBody>
      </p:sp>
      <p:sp>
        <p:nvSpPr>
          <p:cNvPr id="11" name="Shape 9"/>
          <p:cNvSpPr/>
          <p:nvPr/>
        </p:nvSpPr>
        <p:spPr>
          <a:xfrm>
            <a:off x="6446520" y="1298448"/>
            <a:ext cx="5340096" cy="292608"/>
          </a:xfrm>
          <a:prstGeom prst="rect">
            <a:avLst/>
          </a:prstGeom>
          <a:solidFill>
            <a:srgbClr val="10233A"/>
          </a:solidFill>
          <a:ln/>
        </p:spPr>
      </p:sp>
      <p:sp>
        <p:nvSpPr>
          <p:cNvPr id="12" name="Text 10"/>
          <p:cNvSpPr txBox="1"/>
          <p:nvPr/>
        </p:nvSpPr>
        <p:spPr>
          <a:xfrm>
            <a:off x="6510528" y="1298448"/>
            <a:ext cx="521208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Effect</a:t>
            </a:r>
            <a:endParaRPr lang="en-US" sz="900" dirty="0"/>
          </a:p>
        </p:txBody>
      </p:sp>
      <p:sp>
        <p:nvSpPr>
          <p:cNvPr id="13" name="Shape 11"/>
          <p:cNvSpPr/>
          <p:nvPr/>
        </p:nvSpPr>
        <p:spPr>
          <a:xfrm>
            <a:off x="411480" y="1591056"/>
            <a:ext cx="1874520" cy="306324"/>
          </a:xfrm>
          <a:prstGeom prst="rect">
            <a:avLst/>
          </a:prstGeom>
          <a:solidFill>
            <a:srgbClr val="FFFFFF"/>
          </a:solidFill>
          <a:ln w="6350">
            <a:solidFill>
              <a:srgbClr val="D3DCE5"/>
            </a:solidFill>
            <a:prstDash val="solid"/>
          </a:ln>
        </p:spPr>
      </p:sp>
      <p:sp>
        <p:nvSpPr>
          <p:cNvPr id="14" name="Text 12"/>
          <p:cNvSpPr txBox="1"/>
          <p:nvPr/>
        </p:nvSpPr>
        <p:spPr>
          <a:xfrm>
            <a:off x="475488" y="1591056"/>
            <a:ext cx="1746504" cy="306324"/>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Sep 2024</a:t>
            </a:r>
            <a:endParaRPr lang="en-US" sz="850" dirty="0"/>
          </a:p>
        </p:txBody>
      </p:sp>
      <p:sp>
        <p:nvSpPr>
          <p:cNvPr id="15" name="Shape 13"/>
          <p:cNvSpPr/>
          <p:nvPr/>
        </p:nvSpPr>
        <p:spPr>
          <a:xfrm>
            <a:off x="2286000" y="1591056"/>
            <a:ext cx="4160520" cy="306324"/>
          </a:xfrm>
          <a:prstGeom prst="rect">
            <a:avLst/>
          </a:prstGeom>
          <a:solidFill>
            <a:srgbClr val="FFFFFF"/>
          </a:solidFill>
          <a:ln w="6350">
            <a:solidFill>
              <a:srgbClr val="D3DCE5"/>
            </a:solidFill>
            <a:prstDash val="solid"/>
          </a:ln>
        </p:spPr>
      </p:sp>
      <p:sp>
        <p:nvSpPr>
          <p:cNvPr id="16" name="Text 14"/>
          <p:cNvSpPr txBox="1"/>
          <p:nvPr/>
        </p:nvSpPr>
        <p:spPr>
          <a:xfrm>
            <a:off x="2350008" y="1591056"/>
            <a:ext cx="4032504"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Lithium prices near the trough; PLS the most shorted stock on the ASX at about 20% of shares</a:t>
            </a:r>
            <a:endParaRPr lang="en-US" sz="850" dirty="0"/>
          </a:p>
        </p:txBody>
      </p:sp>
      <p:sp>
        <p:nvSpPr>
          <p:cNvPr id="17" name="Shape 15"/>
          <p:cNvSpPr/>
          <p:nvPr/>
        </p:nvSpPr>
        <p:spPr>
          <a:xfrm>
            <a:off x="6446520" y="1591056"/>
            <a:ext cx="5340096" cy="306324"/>
          </a:xfrm>
          <a:prstGeom prst="rect">
            <a:avLst/>
          </a:prstGeom>
          <a:solidFill>
            <a:srgbClr val="FFFFFF"/>
          </a:solidFill>
          <a:ln w="6350">
            <a:solidFill>
              <a:srgbClr val="D3DCE5"/>
            </a:solidFill>
            <a:prstDash val="solid"/>
          </a:ln>
        </p:spPr>
      </p:sp>
      <p:sp>
        <p:nvSpPr>
          <p:cNvPr id="18" name="Text 16"/>
          <p:cNvSpPr txBox="1"/>
          <p:nvPr/>
        </p:nvSpPr>
        <p:spPr>
          <a:xfrm>
            <a:off x="6510528" y="1591056"/>
            <a:ext cx="5212080"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Share price reaches A$1.91, the 52-week low</a:t>
            </a:r>
            <a:endParaRPr lang="en-US" sz="850" dirty="0"/>
          </a:p>
        </p:txBody>
      </p:sp>
      <p:sp>
        <p:nvSpPr>
          <p:cNvPr id="19" name="Shape 17"/>
          <p:cNvSpPr/>
          <p:nvPr/>
        </p:nvSpPr>
        <p:spPr>
          <a:xfrm>
            <a:off x="411480" y="1897380"/>
            <a:ext cx="1874520" cy="306324"/>
          </a:xfrm>
          <a:prstGeom prst="rect">
            <a:avLst/>
          </a:prstGeom>
          <a:solidFill>
            <a:srgbClr val="F7F9FB"/>
          </a:solidFill>
          <a:ln w="6350">
            <a:solidFill>
              <a:srgbClr val="D3DCE5"/>
            </a:solidFill>
            <a:prstDash val="solid"/>
          </a:ln>
        </p:spPr>
      </p:sp>
      <p:sp>
        <p:nvSpPr>
          <p:cNvPr id="20" name="Text 18"/>
          <p:cNvSpPr txBox="1"/>
          <p:nvPr/>
        </p:nvSpPr>
        <p:spPr>
          <a:xfrm>
            <a:off x="475488" y="1897380"/>
            <a:ext cx="1746504" cy="306324"/>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Dec 2024</a:t>
            </a:r>
            <a:endParaRPr lang="en-US" sz="850" dirty="0"/>
          </a:p>
        </p:txBody>
      </p:sp>
      <p:sp>
        <p:nvSpPr>
          <p:cNvPr id="21" name="Shape 19"/>
          <p:cNvSpPr/>
          <p:nvPr/>
        </p:nvSpPr>
        <p:spPr>
          <a:xfrm>
            <a:off x="2286000" y="1897380"/>
            <a:ext cx="4160520" cy="306324"/>
          </a:xfrm>
          <a:prstGeom prst="rect">
            <a:avLst/>
          </a:prstGeom>
          <a:solidFill>
            <a:srgbClr val="F7F9FB"/>
          </a:solidFill>
          <a:ln w="6350">
            <a:solidFill>
              <a:srgbClr val="D3DCE5"/>
            </a:solidFill>
            <a:prstDash val="solid"/>
          </a:ln>
        </p:spPr>
      </p:sp>
      <p:sp>
        <p:nvSpPr>
          <p:cNvPr id="22" name="Text 20"/>
          <p:cNvSpPr txBox="1"/>
          <p:nvPr/>
        </p:nvSpPr>
        <p:spPr>
          <a:xfrm>
            <a:off x="2350008" y="1897380"/>
            <a:ext cx="4032504"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Ngungaju placed into care and maintenance; FY25 guidance cut</a:t>
            </a:r>
            <a:endParaRPr lang="en-US" sz="850" dirty="0"/>
          </a:p>
        </p:txBody>
      </p:sp>
      <p:sp>
        <p:nvSpPr>
          <p:cNvPr id="23" name="Shape 21"/>
          <p:cNvSpPr/>
          <p:nvPr/>
        </p:nvSpPr>
        <p:spPr>
          <a:xfrm>
            <a:off x="6446520" y="1897380"/>
            <a:ext cx="5340096" cy="306324"/>
          </a:xfrm>
          <a:prstGeom prst="rect">
            <a:avLst/>
          </a:prstGeom>
          <a:solidFill>
            <a:srgbClr val="F7F9FB"/>
          </a:solidFill>
          <a:ln w="6350">
            <a:solidFill>
              <a:srgbClr val="D3DCE5"/>
            </a:solidFill>
            <a:prstDash val="solid"/>
          </a:ln>
        </p:spPr>
      </p:sp>
      <p:sp>
        <p:nvSpPr>
          <p:cNvPr id="24" name="Text 22"/>
          <p:cNvSpPr txBox="1"/>
          <p:nvPr/>
        </p:nvSpPr>
        <p:spPr>
          <a:xfrm>
            <a:off x="6510528" y="1897380"/>
            <a:ext cx="5212080"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Capacity withdrawn rather than tonnes sold below cost</a:t>
            </a:r>
            <a:endParaRPr lang="en-US" sz="850" dirty="0"/>
          </a:p>
        </p:txBody>
      </p:sp>
      <p:sp>
        <p:nvSpPr>
          <p:cNvPr id="25" name="Shape 23"/>
          <p:cNvSpPr/>
          <p:nvPr/>
        </p:nvSpPr>
        <p:spPr>
          <a:xfrm>
            <a:off x="411480" y="2203704"/>
            <a:ext cx="1874520" cy="306324"/>
          </a:xfrm>
          <a:prstGeom prst="rect">
            <a:avLst/>
          </a:prstGeom>
          <a:solidFill>
            <a:srgbClr val="FFFFFF"/>
          </a:solidFill>
          <a:ln w="6350">
            <a:solidFill>
              <a:srgbClr val="D3DCE5"/>
            </a:solidFill>
            <a:prstDash val="solid"/>
          </a:ln>
        </p:spPr>
      </p:sp>
      <p:sp>
        <p:nvSpPr>
          <p:cNvPr id="26" name="Text 24"/>
          <p:cNvSpPr txBox="1"/>
          <p:nvPr/>
        </p:nvSpPr>
        <p:spPr>
          <a:xfrm>
            <a:off x="475488" y="2203704"/>
            <a:ext cx="1746504" cy="306324"/>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Jan 2025</a:t>
            </a:r>
            <a:endParaRPr lang="en-US" sz="850" dirty="0"/>
          </a:p>
        </p:txBody>
      </p:sp>
      <p:sp>
        <p:nvSpPr>
          <p:cNvPr id="27" name="Shape 25"/>
          <p:cNvSpPr/>
          <p:nvPr/>
        </p:nvSpPr>
        <p:spPr>
          <a:xfrm>
            <a:off x="2286000" y="2203704"/>
            <a:ext cx="4160520" cy="306324"/>
          </a:xfrm>
          <a:prstGeom prst="rect">
            <a:avLst/>
          </a:prstGeom>
          <a:solidFill>
            <a:srgbClr val="FFFFFF"/>
          </a:solidFill>
          <a:ln w="6350">
            <a:solidFill>
              <a:srgbClr val="D3DCE5"/>
            </a:solidFill>
            <a:prstDash val="solid"/>
          </a:ln>
        </p:spPr>
      </p:sp>
      <p:sp>
        <p:nvSpPr>
          <p:cNvPr id="28" name="Text 26"/>
          <p:cNvSpPr txBox="1"/>
          <p:nvPr/>
        </p:nvSpPr>
        <p:spPr>
          <a:xfrm>
            <a:off x="2350008" y="2203704"/>
            <a:ext cx="4032504"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Latin Resources acquisition completes in all scrip</a:t>
            </a:r>
            <a:endParaRPr lang="en-US" sz="850" dirty="0"/>
          </a:p>
        </p:txBody>
      </p:sp>
      <p:sp>
        <p:nvSpPr>
          <p:cNvPr id="29" name="Shape 27"/>
          <p:cNvSpPr/>
          <p:nvPr/>
        </p:nvSpPr>
        <p:spPr>
          <a:xfrm>
            <a:off x="6446520" y="2203704"/>
            <a:ext cx="5340096" cy="306324"/>
          </a:xfrm>
          <a:prstGeom prst="rect">
            <a:avLst/>
          </a:prstGeom>
          <a:solidFill>
            <a:srgbClr val="FFFFFF"/>
          </a:solidFill>
          <a:ln w="6350">
            <a:solidFill>
              <a:srgbClr val="D3DCE5"/>
            </a:solidFill>
            <a:prstDash val="solid"/>
          </a:ln>
        </p:spPr>
      </p:sp>
      <p:sp>
        <p:nvSpPr>
          <p:cNvPr id="30" name="Text 28"/>
          <p:cNvSpPr txBox="1"/>
          <p:nvPr/>
        </p:nvSpPr>
        <p:spPr>
          <a:xfrm>
            <a:off x="6510528" y="2203704"/>
            <a:ext cx="5212080"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 second orebody added without spending cash at the bottom of the cycle</a:t>
            </a:r>
            <a:endParaRPr lang="en-US" sz="850" dirty="0"/>
          </a:p>
        </p:txBody>
      </p:sp>
      <p:sp>
        <p:nvSpPr>
          <p:cNvPr id="31" name="Shape 29"/>
          <p:cNvSpPr/>
          <p:nvPr/>
        </p:nvSpPr>
        <p:spPr>
          <a:xfrm>
            <a:off x="411480" y="2510028"/>
            <a:ext cx="1874520" cy="306324"/>
          </a:xfrm>
          <a:prstGeom prst="rect">
            <a:avLst/>
          </a:prstGeom>
          <a:solidFill>
            <a:srgbClr val="F7F9FB"/>
          </a:solidFill>
          <a:ln w="6350">
            <a:solidFill>
              <a:srgbClr val="D3DCE5"/>
            </a:solidFill>
            <a:prstDash val="solid"/>
          </a:ln>
        </p:spPr>
      </p:sp>
      <p:sp>
        <p:nvSpPr>
          <p:cNvPr id="32" name="Text 30"/>
          <p:cNvSpPr txBox="1"/>
          <p:nvPr/>
        </p:nvSpPr>
        <p:spPr>
          <a:xfrm>
            <a:off x="475488" y="2510028"/>
            <a:ext cx="1746504" cy="306324"/>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Through 2025</a:t>
            </a:r>
            <a:endParaRPr lang="en-US" sz="850" dirty="0"/>
          </a:p>
        </p:txBody>
      </p:sp>
      <p:sp>
        <p:nvSpPr>
          <p:cNvPr id="33" name="Shape 31"/>
          <p:cNvSpPr/>
          <p:nvPr/>
        </p:nvSpPr>
        <p:spPr>
          <a:xfrm>
            <a:off x="2286000" y="2510028"/>
            <a:ext cx="4160520" cy="306324"/>
          </a:xfrm>
          <a:prstGeom prst="rect">
            <a:avLst/>
          </a:prstGeom>
          <a:solidFill>
            <a:srgbClr val="F7F9FB"/>
          </a:solidFill>
          <a:ln w="6350">
            <a:solidFill>
              <a:srgbClr val="D3DCE5"/>
            </a:solidFill>
            <a:prstDash val="solid"/>
          </a:ln>
        </p:spPr>
      </p:sp>
      <p:sp>
        <p:nvSpPr>
          <p:cNvPr id="34" name="Text 32"/>
          <p:cNvSpPr txBox="1"/>
          <p:nvPr/>
        </p:nvSpPr>
        <p:spPr>
          <a:xfrm>
            <a:off x="2350008" y="2510028"/>
            <a:ext cx="4032504"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Spodumene begins recovering; CATL's Jianxiawo suspended</a:t>
            </a:r>
            <a:endParaRPr lang="en-US" sz="850" dirty="0"/>
          </a:p>
        </p:txBody>
      </p:sp>
      <p:sp>
        <p:nvSpPr>
          <p:cNvPr id="35" name="Shape 33"/>
          <p:cNvSpPr/>
          <p:nvPr/>
        </p:nvSpPr>
        <p:spPr>
          <a:xfrm>
            <a:off x="6446520" y="2510028"/>
            <a:ext cx="5340096" cy="306324"/>
          </a:xfrm>
          <a:prstGeom prst="rect">
            <a:avLst/>
          </a:prstGeom>
          <a:solidFill>
            <a:srgbClr val="F7F9FB"/>
          </a:solidFill>
          <a:ln w="6350">
            <a:solidFill>
              <a:srgbClr val="D3DCE5"/>
            </a:solidFill>
            <a:prstDash val="solid"/>
          </a:ln>
        </p:spPr>
      </p:sp>
      <p:sp>
        <p:nvSpPr>
          <p:cNvPr id="36" name="Text 34"/>
          <p:cNvSpPr txBox="1"/>
          <p:nvPr/>
        </p:nvSpPr>
        <p:spPr>
          <a:xfrm>
            <a:off x="6510528" y="2510028"/>
            <a:ext cx="5212080"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Short covering begins; short interest falls from 20% to about 17%</a:t>
            </a:r>
            <a:endParaRPr lang="en-US" sz="850" dirty="0"/>
          </a:p>
        </p:txBody>
      </p:sp>
      <p:sp>
        <p:nvSpPr>
          <p:cNvPr id="37" name="Shape 35"/>
          <p:cNvSpPr/>
          <p:nvPr/>
        </p:nvSpPr>
        <p:spPr>
          <a:xfrm>
            <a:off x="411480" y="2816352"/>
            <a:ext cx="1874520" cy="306324"/>
          </a:xfrm>
          <a:prstGeom prst="rect">
            <a:avLst/>
          </a:prstGeom>
          <a:solidFill>
            <a:srgbClr val="FFFFFF"/>
          </a:solidFill>
          <a:ln w="6350">
            <a:solidFill>
              <a:srgbClr val="D3DCE5"/>
            </a:solidFill>
            <a:prstDash val="solid"/>
          </a:ln>
        </p:spPr>
      </p:sp>
      <p:sp>
        <p:nvSpPr>
          <p:cNvPr id="38" name="Text 36"/>
          <p:cNvSpPr txBox="1"/>
          <p:nvPr/>
        </p:nvSpPr>
        <p:spPr>
          <a:xfrm>
            <a:off x="475488" y="2816352"/>
            <a:ext cx="1746504" cy="306324"/>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Dec 2025</a:t>
            </a:r>
            <a:endParaRPr lang="en-US" sz="850" dirty="0"/>
          </a:p>
        </p:txBody>
      </p:sp>
      <p:sp>
        <p:nvSpPr>
          <p:cNvPr id="39" name="Shape 37"/>
          <p:cNvSpPr/>
          <p:nvPr/>
        </p:nvSpPr>
        <p:spPr>
          <a:xfrm>
            <a:off x="2286000" y="2816352"/>
            <a:ext cx="4160520" cy="306324"/>
          </a:xfrm>
          <a:prstGeom prst="rect">
            <a:avLst/>
          </a:prstGeom>
          <a:solidFill>
            <a:srgbClr val="FFFFFF"/>
          </a:solidFill>
          <a:ln w="6350">
            <a:solidFill>
              <a:srgbClr val="D3DCE5"/>
            </a:solidFill>
            <a:prstDash val="solid"/>
          </a:ln>
        </p:spPr>
      </p:sp>
      <p:sp>
        <p:nvSpPr>
          <p:cNvPr id="40" name="Text 38"/>
          <p:cNvSpPr txBox="1"/>
          <p:nvPr/>
        </p:nvSpPr>
        <p:spPr>
          <a:xfrm>
            <a:off x="2350008" y="2816352"/>
            <a:ext cx="4032504"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Pilbara Minerals renamed PLS Group</a:t>
            </a:r>
            <a:endParaRPr lang="en-US" sz="850" dirty="0"/>
          </a:p>
        </p:txBody>
      </p:sp>
      <p:sp>
        <p:nvSpPr>
          <p:cNvPr id="41" name="Shape 39"/>
          <p:cNvSpPr/>
          <p:nvPr/>
        </p:nvSpPr>
        <p:spPr>
          <a:xfrm>
            <a:off x="6446520" y="2816352"/>
            <a:ext cx="5340096" cy="306324"/>
          </a:xfrm>
          <a:prstGeom prst="rect">
            <a:avLst/>
          </a:prstGeom>
          <a:solidFill>
            <a:srgbClr val="FFFFFF"/>
          </a:solidFill>
          <a:ln w="6350">
            <a:solidFill>
              <a:srgbClr val="D3DCE5"/>
            </a:solidFill>
            <a:prstDash val="solid"/>
          </a:ln>
        </p:spPr>
      </p:sp>
      <p:sp>
        <p:nvSpPr>
          <p:cNvPr id="42" name="Text 40"/>
          <p:cNvSpPr txBox="1"/>
          <p:nvPr/>
        </p:nvSpPr>
        <p:spPr>
          <a:xfrm>
            <a:off x="6510528" y="2816352"/>
            <a:ext cx="5212080"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Signals the shift from single-asset miner to multi-asset group</a:t>
            </a:r>
            <a:endParaRPr lang="en-US" sz="850" dirty="0"/>
          </a:p>
        </p:txBody>
      </p:sp>
      <p:sp>
        <p:nvSpPr>
          <p:cNvPr id="43" name="Shape 41"/>
          <p:cNvSpPr/>
          <p:nvPr/>
        </p:nvSpPr>
        <p:spPr>
          <a:xfrm>
            <a:off x="411480" y="3122676"/>
            <a:ext cx="1874520" cy="306324"/>
          </a:xfrm>
          <a:prstGeom prst="rect">
            <a:avLst/>
          </a:prstGeom>
          <a:solidFill>
            <a:srgbClr val="F7F9FB"/>
          </a:solidFill>
          <a:ln w="6350">
            <a:solidFill>
              <a:srgbClr val="D3DCE5"/>
            </a:solidFill>
            <a:prstDash val="solid"/>
          </a:ln>
        </p:spPr>
      </p:sp>
      <p:sp>
        <p:nvSpPr>
          <p:cNvPr id="44" name="Text 42"/>
          <p:cNvSpPr txBox="1"/>
          <p:nvPr/>
        </p:nvSpPr>
        <p:spPr>
          <a:xfrm>
            <a:off x="475488" y="3122676"/>
            <a:ext cx="1746504" cy="306324"/>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Jun 2026</a:t>
            </a:r>
            <a:endParaRPr lang="en-US" sz="850" dirty="0"/>
          </a:p>
        </p:txBody>
      </p:sp>
      <p:sp>
        <p:nvSpPr>
          <p:cNvPr id="45" name="Shape 43"/>
          <p:cNvSpPr/>
          <p:nvPr/>
        </p:nvSpPr>
        <p:spPr>
          <a:xfrm>
            <a:off x="2286000" y="3122676"/>
            <a:ext cx="4160520" cy="306324"/>
          </a:xfrm>
          <a:prstGeom prst="rect">
            <a:avLst/>
          </a:prstGeom>
          <a:solidFill>
            <a:srgbClr val="F7F9FB"/>
          </a:solidFill>
          <a:ln w="6350">
            <a:solidFill>
              <a:srgbClr val="D3DCE5"/>
            </a:solidFill>
            <a:prstDash val="solid"/>
          </a:ln>
        </p:spPr>
      </p:sp>
      <p:sp>
        <p:nvSpPr>
          <p:cNvPr id="46" name="Text 44"/>
          <p:cNvSpPr txBox="1"/>
          <p:nvPr/>
        </p:nvSpPr>
        <p:spPr>
          <a:xfrm>
            <a:off x="2350008" y="3122676"/>
            <a:ext cx="4032504"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Mid-stream plant opened; June-quarter realised price reaches US$2,107/t</a:t>
            </a:r>
            <a:endParaRPr lang="en-US" sz="850" dirty="0"/>
          </a:p>
        </p:txBody>
      </p:sp>
      <p:sp>
        <p:nvSpPr>
          <p:cNvPr id="47" name="Shape 45"/>
          <p:cNvSpPr/>
          <p:nvPr/>
        </p:nvSpPr>
        <p:spPr>
          <a:xfrm>
            <a:off x="6446520" y="3122676"/>
            <a:ext cx="5340096" cy="306324"/>
          </a:xfrm>
          <a:prstGeom prst="rect">
            <a:avLst/>
          </a:prstGeom>
          <a:solidFill>
            <a:srgbClr val="F7F9FB"/>
          </a:solidFill>
          <a:ln w="6350">
            <a:solidFill>
              <a:srgbClr val="D3DCE5"/>
            </a:solidFill>
            <a:prstDash val="solid"/>
          </a:ln>
        </p:spPr>
      </p:sp>
      <p:sp>
        <p:nvSpPr>
          <p:cNvPr id="48" name="Text 46"/>
          <p:cNvSpPr txBox="1"/>
          <p:nvPr/>
        </p:nvSpPr>
        <p:spPr>
          <a:xfrm>
            <a:off x="6510528" y="3122676"/>
            <a:ext cx="5212080"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The exit rate runs 40% above the full-year average</a:t>
            </a:r>
            <a:endParaRPr lang="en-US" sz="850" dirty="0"/>
          </a:p>
        </p:txBody>
      </p:sp>
      <p:sp>
        <p:nvSpPr>
          <p:cNvPr id="49" name="Shape 47"/>
          <p:cNvSpPr/>
          <p:nvPr/>
        </p:nvSpPr>
        <p:spPr>
          <a:xfrm>
            <a:off x="411480" y="3429000"/>
            <a:ext cx="1874520" cy="306324"/>
          </a:xfrm>
          <a:prstGeom prst="rect">
            <a:avLst/>
          </a:prstGeom>
          <a:solidFill>
            <a:srgbClr val="FFFFFF"/>
          </a:solidFill>
          <a:ln w="6350">
            <a:solidFill>
              <a:srgbClr val="D3DCE5"/>
            </a:solidFill>
            <a:prstDash val="solid"/>
          </a:ln>
        </p:spPr>
      </p:sp>
      <p:sp>
        <p:nvSpPr>
          <p:cNvPr id="50" name="Text 48"/>
          <p:cNvSpPr txBox="1"/>
          <p:nvPr/>
        </p:nvSpPr>
        <p:spPr>
          <a:xfrm>
            <a:off x="475488" y="3429000"/>
            <a:ext cx="1746504" cy="306324"/>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Jul 2026</a:t>
            </a:r>
            <a:endParaRPr lang="en-US" sz="850" dirty="0"/>
          </a:p>
        </p:txBody>
      </p:sp>
      <p:sp>
        <p:nvSpPr>
          <p:cNvPr id="51" name="Shape 49"/>
          <p:cNvSpPr/>
          <p:nvPr/>
        </p:nvSpPr>
        <p:spPr>
          <a:xfrm>
            <a:off x="2286000" y="3429000"/>
            <a:ext cx="4160520" cy="306324"/>
          </a:xfrm>
          <a:prstGeom prst="rect">
            <a:avLst/>
          </a:prstGeom>
          <a:solidFill>
            <a:srgbClr val="FFFFFF"/>
          </a:solidFill>
          <a:ln w="6350">
            <a:solidFill>
              <a:srgbClr val="D3DCE5"/>
            </a:solidFill>
            <a:prstDash val="solid"/>
          </a:ln>
        </p:spPr>
      </p:sp>
      <p:sp>
        <p:nvSpPr>
          <p:cNvPr id="52" name="Text 50"/>
          <p:cNvSpPr txBox="1"/>
          <p:nvPr/>
        </p:nvSpPr>
        <p:spPr>
          <a:xfrm>
            <a:off x="2350008" y="3429000"/>
            <a:ext cx="4032504"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Ngungaju restarted; FY27 guidance of 1,030-1,100kt issued</a:t>
            </a:r>
            <a:endParaRPr lang="en-US" sz="850" dirty="0"/>
          </a:p>
        </p:txBody>
      </p:sp>
      <p:sp>
        <p:nvSpPr>
          <p:cNvPr id="53" name="Shape 51"/>
          <p:cNvSpPr/>
          <p:nvPr/>
        </p:nvSpPr>
        <p:spPr>
          <a:xfrm>
            <a:off x="6446520" y="3429000"/>
            <a:ext cx="5340096" cy="306324"/>
          </a:xfrm>
          <a:prstGeom prst="rect">
            <a:avLst/>
          </a:prstGeom>
          <a:solidFill>
            <a:srgbClr val="FFFFFF"/>
          </a:solidFill>
          <a:ln w="6350">
            <a:solidFill>
              <a:srgbClr val="D3DCE5"/>
            </a:solidFill>
            <a:prstDash val="solid"/>
          </a:ln>
        </p:spPr>
      </p:sp>
      <p:sp>
        <p:nvSpPr>
          <p:cNvPr id="54" name="Text 52"/>
          <p:cNvSpPr txBox="1"/>
          <p:nvPr/>
        </p:nvSpPr>
        <p:spPr>
          <a:xfrm>
            <a:off x="6510528" y="3429000"/>
            <a:ext cx="5212080"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A 17-25% volume step-up flagged</a:t>
            </a:r>
            <a:endParaRPr lang="en-US" sz="850" dirty="0"/>
          </a:p>
        </p:txBody>
      </p:sp>
      <p:sp>
        <p:nvSpPr>
          <p:cNvPr id="55" name="Shape 53"/>
          <p:cNvSpPr/>
          <p:nvPr/>
        </p:nvSpPr>
        <p:spPr>
          <a:xfrm>
            <a:off x="411480" y="3735324"/>
            <a:ext cx="1874520" cy="306324"/>
          </a:xfrm>
          <a:prstGeom prst="rect">
            <a:avLst/>
          </a:prstGeom>
          <a:solidFill>
            <a:srgbClr val="F7F9FB"/>
          </a:solidFill>
          <a:ln w="6350">
            <a:solidFill>
              <a:srgbClr val="D3DCE5"/>
            </a:solidFill>
            <a:prstDash val="solid"/>
          </a:ln>
        </p:spPr>
      </p:sp>
      <p:sp>
        <p:nvSpPr>
          <p:cNvPr id="56" name="Text 54"/>
          <p:cNvSpPr txBox="1"/>
          <p:nvPr/>
        </p:nvSpPr>
        <p:spPr>
          <a:xfrm>
            <a:off x="475488" y="3735324"/>
            <a:ext cx="1746504" cy="306324"/>
          </a:xfrm>
          <a:prstGeom prst="rect">
            <a:avLst/>
          </a:prstGeom>
          <a:noFill/>
          <a:ln/>
        </p:spPr>
        <p:txBody>
          <a:bodyPr wrap="square" lIns="0" tIns="0" rIns="0" bIns="0" rtlCol="0" anchor="ctr"/>
          <a:lstStyle/>
          <a:p>
            <a:pPr algn="l" indent="0" marL="0">
              <a:buNone/>
            </a:pPr>
            <a:r>
              <a:rPr lang="en-US" sz="850" b="1" dirty="0">
                <a:solidFill>
                  <a:srgbClr val="1B2733"/>
                </a:solidFill>
                <a:latin typeface="Calibri" pitchFamily="34" charset="0"/>
                <a:ea typeface="Calibri" pitchFamily="34" charset="-122"/>
                <a:cs typeface="Calibri" pitchFamily="34" charset="-120"/>
              </a:rPr>
              <a:t>24 Aug 2026</a:t>
            </a:r>
            <a:endParaRPr lang="en-US" sz="850" dirty="0"/>
          </a:p>
        </p:txBody>
      </p:sp>
      <p:sp>
        <p:nvSpPr>
          <p:cNvPr id="57" name="Shape 55"/>
          <p:cNvSpPr/>
          <p:nvPr/>
        </p:nvSpPr>
        <p:spPr>
          <a:xfrm>
            <a:off x="2286000" y="3735324"/>
            <a:ext cx="4160520" cy="306324"/>
          </a:xfrm>
          <a:prstGeom prst="rect">
            <a:avLst/>
          </a:prstGeom>
          <a:solidFill>
            <a:srgbClr val="F7F9FB"/>
          </a:solidFill>
          <a:ln w="6350">
            <a:solidFill>
              <a:srgbClr val="D3DCE5"/>
            </a:solidFill>
            <a:prstDash val="solid"/>
          </a:ln>
        </p:spPr>
      </p:sp>
      <p:sp>
        <p:nvSpPr>
          <p:cNvPr id="58" name="Text 56"/>
          <p:cNvSpPr txBox="1"/>
          <p:nvPr/>
        </p:nvSpPr>
        <p:spPr>
          <a:xfrm>
            <a:off x="2350008" y="3735324"/>
            <a:ext cx="4032504"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FY26 results: revenue up 152%, EBITDA up roughly ninefold, dividend reinstated</a:t>
            </a:r>
            <a:endParaRPr lang="en-US" sz="850" dirty="0"/>
          </a:p>
        </p:txBody>
      </p:sp>
      <p:sp>
        <p:nvSpPr>
          <p:cNvPr id="59" name="Shape 57"/>
          <p:cNvSpPr/>
          <p:nvPr/>
        </p:nvSpPr>
        <p:spPr>
          <a:xfrm>
            <a:off x="6446520" y="3735324"/>
            <a:ext cx="5340096" cy="306324"/>
          </a:xfrm>
          <a:prstGeom prst="rect">
            <a:avLst/>
          </a:prstGeom>
          <a:solidFill>
            <a:srgbClr val="F7F9FB"/>
          </a:solidFill>
          <a:ln w="6350">
            <a:solidFill>
              <a:srgbClr val="D3DCE5"/>
            </a:solidFill>
            <a:prstDash val="solid"/>
          </a:ln>
        </p:spPr>
      </p:sp>
      <p:sp>
        <p:nvSpPr>
          <p:cNvPr id="60" name="Text 58"/>
          <p:cNvSpPr txBox="1"/>
          <p:nvPr/>
        </p:nvSpPr>
        <p:spPr>
          <a:xfrm>
            <a:off x="6510528" y="3735324"/>
            <a:ext cx="5212080" cy="306324"/>
          </a:xfrm>
          <a:prstGeom prst="rect">
            <a:avLst/>
          </a:prstGeom>
          <a:noFill/>
          <a:ln/>
        </p:spPr>
        <p:txBody>
          <a:bodyPr wrap="square" lIns="0" tIns="0" rIns="0" bIns="0" rtlCol="0" anchor="ctr"/>
          <a:lstStyle/>
          <a:p>
            <a:pPr algn="l" indent="0" marL="0">
              <a:buNone/>
            </a:pPr>
            <a:r>
              <a:rPr lang="en-US" sz="850" dirty="0">
                <a:solidFill>
                  <a:srgbClr val="1B2733"/>
                </a:solidFill>
                <a:latin typeface="Calibri" pitchFamily="34" charset="0"/>
                <a:ea typeface="Calibri" pitchFamily="34" charset="-122"/>
                <a:cs typeface="Calibri" pitchFamily="34" charset="-120"/>
              </a:rPr>
              <a:t>Shares rise on the day; the stock reaches A$5.48</a:t>
            </a:r>
            <a:endParaRPr lang="en-US" sz="850" dirty="0"/>
          </a:p>
        </p:txBody>
      </p:sp>
      <p:sp>
        <p:nvSpPr>
          <p:cNvPr id="61" name="Shape 59"/>
          <p:cNvSpPr/>
          <p:nvPr/>
        </p:nvSpPr>
        <p:spPr>
          <a:xfrm>
            <a:off x="411480" y="4087368"/>
            <a:ext cx="5577840" cy="1956816"/>
          </a:xfrm>
          <a:prstGeom prst="rect">
            <a:avLst/>
          </a:prstGeom>
          <a:solidFill>
            <a:srgbClr val="EEF2F6"/>
          </a:solidFill>
          <a:ln w="9525">
            <a:solidFill>
              <a:srgbClr val="D3DCE5"/>
            </a:solidFill>
            <a:prstDash val="solid"/>
          </a:ln>
        </p:spPr>
      </p:sp>
      <p:sp>
        <p:nvSpPr>
          <p:cNvPr id="62" name="Text 60"/>
          <p:cNvSpPr txBox="1"/>
          <p:nvPr/>
        </p:nvSpPr>
        <p:spPr>
          <a:xfrm>
            <a:off x="576072" y="4215384"/>
            <a:ext cx="524865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Where consensus sits</a:t>
            </a:r>
            <a:endParaRPr lang="en-US" sz="1150" dirty="0"/>
          </a:p>
        </p:txBody>
      </p:sp>
      <p:sp>
        <p:nvSpPr>
          <p:cNvPr id="63" name="Text 61"/>
          <p:cNvSpPr txBox="1"/>
          <p:nvPr/>
        </p:nvSpPr>
        <p:spPr>
          <a:xfrm>
            <a:off x="576072" y="4544568"/>
            <a:ext cx="5248656" cy="1408176"/>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Vendor averages cluster between about A$4.50 and A$5.70 against a A$5.48 last close, with the full individual spread running from A$2.50 to A$6.83 across seventeen to twenty analysts. The consensus rating is Buy.</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In plain terms the street thinks PLS is roughly fairly valued and that the range of reasonable answers is enormous - a factor of 2.7 between the most bearish and most bullish analyst. That dispersion is itself the opportunity: it means the disagreement is about lithium price assumptions, not about the company.</a:t>
            </a:r>
            <a:endParaRPr lang="en-US" sz="900" dirty="0"/>
          </a:p>
        </p:txBody>
      </p:sp>
      <p:sp>
        <p:nvSpPr>
          <p:cNvPr id="64" name="Shape 62"/>
          <p:cNvSpPr/>
          <p:nvPr/>
        </p:nvSpPr>
        <p:spPr>
          <a:xfrm>
            <a:off x="6208776" y="4087368"/>
            <a:ext cx="5577840" cy="1956816"/>
          </a:xfrm>
          <a:prstGeom prst="rect">
            <a:avLst/>
          </a:prstGeom>
          <a:solidFill>
            <a:srgbClr val="D6EBE7"/>
          </a:solidFill>
          <a:ln w="9525">
            <a:solidFill>
              <a:srgbClr val="AFD3CC"/>
            </a:solidFill>
            <a:prstDash val="solid"/>
          </a:ln>
        </p:spPr>
      </p:sp>
      <p:sp>
        <p:nvSpPr>
          <p:cNvPr id="65" name="Text 63"/>
          <p:cNvSpPr txBox="1"/>
          <p:nvPr/>
        </p:nvSpPr>
        <p:spPr>
          <a:xfrm>
            <a:off x="6373368" y="4215384"/>
            <a:ext cx="5248656"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What we think the street is missing</a:t>
            </a:r>
            <a:endParaRPr lang="en-US" sz="1150" dirty="0"/>
          </a:p>
        </p:txBody>
      </p:sp>
      <p:sp>
        <p:nvSpPr>
          <p:cNvPr id="66" name="Text 64"/>
          <p:cNvSpPr txBox="1"/>
          <p:nvPr/>
        </p:nvSpPr>
        <p:spPr>
          <a:xfrm>
            <a:off x="6373368" y="4544568"/>
            <a:ext cx="5248656" cy="1408176"/>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Not the lithium price. Our FY27 assumption of US$1,700/t is deliberately below spot and below the Australian Government's own forecast, so we are not out-forecasting anyone on the commodity.</a:t>
            </a:r>
            <a:endParaRPr lang="en-US" sz="900" dirty="0"/>
          </a:p>
          <a:p>
            <a:pPr indent="0" marL="0">
              <a:lnSpc>
                <a:spcPct val="105000"/>
              </a:lnSpc>
              <a:buNone/>
            </a:pPr>
            <a:endParaRPr lang="en-US" sz="900" dirty="0"/>
          </a:p>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What we think is underpriced is the operating position: a cost base that is falling for structural reasons, a growth option with committed pre-FID capital, and a downstream route that becomes commercially relevant exactly as carbon accounting reaches raw materials. That is A$0.43 of the A$0.66 of upside we see, and it is why our A$6.14 sits above the vendor average without sitting outside the analyst range.</a:t>
            </a:r>
            <a:endParaRPr lang="en-US" sz="900" dirty="0"/>
          </a:p>
        </p:txBody>
      </p:sp>
      <p:sp>
        <p:nvSpPr>
          <p:cNvPr id="67" name="Text 65"/>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Sources: PLS announcements; data-vendor consensus reads, August-September 2026; market commentary. Consensus figures differ by provider and snapshot date and are shown as a range rather than a point.</a:t>
            </a:r>
            <a:endParaRPr lang="en-US" sz="720" dirty="0"/>
          </a:p>
        </p:txBody>
      </p:sp>
      <p:sp>
        <p:nvSpPr>
          <p:cNvPr id="68" name="Text 66"/>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F3</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mbria" pitchFamily="34" charset="0"/>
                <a:ea typeface="Cambria" pitchFamily="34" charset="-122"/>
                <a:cs typeface="Cambria" pitchFamily="34" charset="-120"/>
              </a:rPr>
              <a:t>The register of every material gap in our own work, what caused each one, and what we did about it.</a:t>
            </a:r>
            <a:endParaRPr lang="en-US" sz="170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F4  Risk and reference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3063240" cy="292608"/>
          </a:xfrm>
          <a:prstGeom prst="rect">
            <a:avLst/>
          </a:prstGeom>
          <a:solidFill>
            <a:srgbClr val="10233A"/>
          </a:solidFill>
          <a:ln/>
        </p:spPr>
      </p:sp>
      <p:sp>
        <p:nvSpPr>
          <p:cNvPr id="8" name="Text 6"/>
          <p:cNvSpPr txBox="1"/>
          <p:nvPr/>
        </p:nvSpPr>
        <p:spPr>
          <a:xfrm>
            <a:off x="475488" y="1298448"/>
            <a:ext cx="29352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Item</a:t>
            </a:r>
            <a:endParaRPr lang="en-US" sz="900" dirty="0"/>
          </a:p>
        </p:txBody>
      </p:sp>
      <p:sp>
        <p:nvSpPr>
          <p:cNvPr id="9" name="Shape 7"/>
          <p:cNvSpPr/>
          <p:nvPr/>
        </p:nvSpPr>
        <p:spPr>
          <a:xfrm>
            <a:off x="3474720" y="1298448"/>
            <a:ext cx="3977640" cy="292608"/>
          </a:xfrm>
          <a:prstGeom prst="rect">
            <a:avLst/>
          </a:prstGeom>
          <a:solidFill>
            <a:srgbClr val="10233A"/>
          </a:solidFill>
          <a:ln/>
        </p:spPr>
      </p:sp>
      <p:sp>
        <p:nvSpPr>
          <p:cNvPr id="10" name="Text 8"/>
          <p:cNvSpPr txBox="1"/>
          <p:nvPr/>
        </p:nvSpPr>
        <p:spPr>
          <a:xfrm>
            <a:off x="3538728" y="1298448"/>
            <a:ext cx="3849624"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Why it is missing</a:t>
            </a:r>
            <a:endParaRPr lang="en-US" sz="900" dirty="0"/>
          </a:p>
        </p:txBody>
      </p:sp>
      <p:sp>
        <p:nvSpPr>
          <p:cNvPr id="11" name="Shape 9"/>
          <p:cNvSpPr/>
          <p:nvPr/>
        </p:nvSpPr>
        <p:spPr>
          <a:xfrm>
            <a:off x="7452360" y="1298448"/>
            <a:ext cx="4334256" cy="292608"/>
          </a:xfrm>
          <a:prstGeom prst="rect">
            <a:avLst/>
          </a:prstGeom>
          <a:solidFill>
            <a:srgbClr val="10233A"/>
          </a:solidFill>
          <a:ln/>
        </p:spPr>
      </p:sp>
      <p:sp>
        <p:nvSpPr>
          <p:cNvPr id="12" name="Text 10"/>
          <p:cNvSpPr txBox="1"/>
          <p:nvPr/>
        </p:nvSpPr>
        <p:spPr>
          <a:xfrm>
            <a:off x="7516368" y="1298448"/>
            <a:ext cx="420624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How we handled it</a:t>
            </a:r>
            <a:endParaRPr lang="en-US" sz="900" dirty="0"/>
          </a:p>
        </p:txBody>
      </p:sp>
      <p:sp>
        <p:nvSpPr>
          <p:cNvPr id="13" name="Shape 11"/>
          <p:cNvSpPr/>
          <p:nvPr/>
        </p:nvSpPr>
        <p:spPr>
          <a:xfrm>
            <a:off x="411480" y="1591056"/>
            <a:ext cx="3063240" cy="269748"/>
          </a:xfrm>
          <a:prstGeom prst="rect">
            <a:avLst/>
          </a:prstGeom>
          <a:solidFill>
            <a:srgbClr val="FFFFFF"/>
          </a:solidFill>
          <a:ln w="6350">
            <a:solidFill>
              <a:srgbClr val="D3DCE5"/>
            </a:solidFill>
            <a:prstDash val="solid"/>
          </a:ln>
        </p:spPr>
      </p:sp>
      <p:sp>
        <p:nvSpPr>
          <p:cNvPr id="14" name="Text 12"/>
          <p:cNvSpPr txBox="1"/>
          <p:nvPr/>
        </p:nvSpPr>
        <p:spPr>
          <a:xfrm>
            <a:off x="475488" y="1591056"/>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Total borrowings at 30 June 2026</a:t>
            </a:r>
            <a:endParaRPr lang="en-US" sz="810" dirty="0"/>
          </a:p>
        </p:txBody>
      </p:sp>
      <p:sp>
        <p:nvSpPr>
          <p:cNvPr id="15" name="Shape 13"/>
          <p:cNvSpPr/>
          <p:nvPr/>
        </p:nvSpPr>
        <p:spPr>
          <a:xfrm>
            <a:off x="3474720" y="1591056"/>
            <a:ext cx="3977640" cy="269748"/>
          </a:xfrm>
          <a:prstGeom prst="rect">
            <a:avLst/>
          </a:prstGeom>
          <a:solidFill>
            <a:srgbClr val="FFFFFF"/>
          </a:solidFill>
          <a:ln w="6350">
            <a:solidFill>
              <a:srgbClr val="D3DCE5"/>
            </a:solidFill>
            <a:prstDash val="solid"/>
          </a:ln>
        </p:spPr>
      </p:sp>
      <p:sp>
        <p:nvSpPr>
          <p:cNvPr id="16" name="Text 14"/>
          <p:cNvSpPr txBox="1"/>
          <p:nvPr/>
        </p:nvSpPr>
        <p:spPr>
          <a:xfrm>
            <a:off x="3538728" y="1591056"/>
            <a:ext cx="3849624" cy="269748"/>
          </a:xfrm>
          <a:prstGeom prst="rect">
            <a:avLst/>
          </a:prstGeom>
          <a:noFill/>
          <a:ln/>
        </p:spPr>
        <p:txBody>
          <a:bodyPr wrap="square" lIns="0" tIns="0" rIns="0" bIns="0" rtlCol="0" anchor="ctr"/>
          <a:lstStyle/>
          <a:p>
            <a:pPr algn="l" indent="0" marL="0">
              <a:buNone/>
            </a:pPr>
            <a:r>
              <a:rPr lang="en-US" sz="810" b="1" dirty="0">
                <a:solidFill>
                  <a:srgbClr val="0E7C6B"/>
                </a:solidFill>
                <a:latin typeface="Calibri" pitchFamily="34" charset="0"/>
                <a:ea typeface="Calibri" pitchFamily="34" charset="-122"/>
                <a:cs typeface="Calibri" pitchFamily="34" charset="-120"/>
              </a:rPr>
              <a:t>CLOSED</a:t>
            </a:r>
            <a:endParaRPr lang="en-US" sz="810" dirty="0"/>
          </a:p>
        </p:txBody>
      </p:sp>
      <p:sp>
        <p:nvSpPr>
          <p:cNvPr id="17" name="Shape 15"/>
          <p:cNvSpPr/>
          <p:nvPr/>
        </p:nvSpPr>
        <p:spPr>
          <a:xfrm>
            <a:off x="7452360" y="1591056"/>
            <a:ext cx="4334256" cy="269748"/>
          </a:xfrm>
          <a:prstGeom prst="rect">
            <a:avLst/>
          </a:prstGeom>
          <a:solidFill>
            <a:srgbClr val="FFFFFF"/>
          </a:solidFill>
          <a:ln w="6350">
            <a:solidFill>
              <a:srgbClr val="D3DCE5"/>
            </a:solidFill>
            <a:prstDash val="solid"/>
          </a:ln>
        </p:spPr>
      </p:sp>
      <p:sp>
        <p:nvSpPr>
          <p:cNvPr id="18" name="Text 16"/>
          <p:cNvSpPr txBox="1"/>
          <p:nvPr/>
        </p:nvSpPr>
        <p:spPr>
          <a:xfrm>
            <a:off x="7516368" y="1591056"/>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Reported borrowings of A$853m now used, against FY26 cash of A$2,290m for net cash of A$1,437m. An earlier A$1.2bn source including leases was not adopted</a:t>
            </a:r>
            <a:endParaRPr lang="en-US" sz="810" dirty="0"/>
          </a:p>
        </p:txBody>
      </p:sp>
      <p:sp>
        <p:nvSpPr>
          <p:cNvPr id="19" name="Shape 17"/>
          <p:cNvSpPr/>
          <p:nvPr/>
        </p:nvSpPr>
        <p:spPr>
          <a:xfrm>
            <a:off x="411480" y="1860804"/>
            <a:ext cx="3063240" cy="269748"/>
          </a:xfrm>
          <a:prstGeom prst="rect">
            <a:avLst/>
          </a:prstGeom>
          <a:solidFill>
            <a:srgbClr val="F7F9FB"/>
          </a:solidFill>
          <a:ln w="6350">
            <a:solidFill>
              <a:srgbClr val="D3DCE5"/>
            </a:solidFill>
            <a:prstDash val="solid"/>
          </a:ln>
        </p:spPr>
      </p:sp>
      <p:sp>
        <p:nvSpPr>
          <p:cNvPr id="20" name="Text 18"/>
          <p:cNvSpPr txBox="1"/>
          <p:nvPr/>
        </p:nvSpPr>
        <p:spPr>
          <a:xfrm>
            <a:off x="475488" y="1860804"/>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Ore Reserve since August 2023</a:t>
            </a:r>
            <a:endParaRPr lang="en-US" sz="810" dirty="0"/>
          </a:p>
        </p:txBody>
      </p:sp>
      <p:sp>
        <p:nvSpPr>
          <p:cNvPr id="21" name="Shape 19"/>
          <p:cNvSpPr/>
          <p:nvPr/>
        </p:nvSpPr>
        <p:spPr>
          <a:xfrm>
            <a:off x="3474720" y="1860804"/>
            <a:ext cx="3977640" cy="269748"/>
          </a:xfrm>
          <a:prstGeom prst="rect">
            <a:avLst/>
          </a:prstGeom>
          <a:solidFill>
            <a:srgbClr val="F7F9FB"/>
          </a:solidFill>
          <a:ln w="6350">
            <a:solidFill>
              <a:srgbClr val="D3DCE5"/>
            </a:solidFill>
            <a:prstDash val="solid"/>
          </a:ln>
        </p:spPr>
      </p:sp>
      <p:sp>
        <p:nvSpPr>
          <p:cNvPr id="22" name="Text 20"/>
          <p:cNvSpPr txBox="1"/>
          <p:nvPr/>
        </p:nvSpPr>
        <p:spPr>
          <a:xfrm>
            <a:off x="3538728" y="1860804"/>
            <a:ext cx="3849624"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Not restated after the June 2025 resource upgrade</a:t>
            </a:r>
            <a:endParaRPr lang="en-US" sz="810" dirty="0"/>
          </a:p>
        </p:txBody>
      </p:sp>
      <p:sp>
        <p:nvSpPr>
          <p:cNvPr id="23" name="Shape 21"/>
          <p:cNvSpPr/>
          <p:nvPr/>
        </p:nvSpPr>
        <p:spPr>
          <a:xfrm>
            <a:off x="7452360" y="1860804"/>
            <a:ext cx="4334256" cy="269748"/>
          </a:xfrm>
          <a:prstGeom prst="rect">
            <a:avLst/>
          </a:prstGeom>
          <a:solidFill>
            <a:srgbClr val="F7F9FB"/>
          </a:solidFill>
          <a:ln w="6350">
            <a:solidFill>
              <a:srgbClr val="D3DCE5"/>
            </a:solidFill>
            <a:prstDash val="solid"/>
          </a:ln>
        </p:spPr>
      </p:sp>
      <p:sp>
        <p:nvSpPr>
          <p:cNvPr id="24" name="Text 22"/>
          <p:cNvSpPr txBox="1"/>
          <p:nvPr/>
        </p:nvSpPr>
        <p:spPr>
          <a:xfrm>
            <a:off x="7516368" y="1860804"/>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Applied a 75% resource-to-reserve conversion and sensitised it. Flagged as a catalyst in both directions</a:t>
            </a:r>
            <a:endParaRPr lang="en-US" sz="810" dirty="0"/>
          </a:p>
        </p:txBody>
      </p:sp>
      <p:sp>
        <p:nvSpPr>
          <p:cNvPr id="25" name="Shape 23"/>
          <p:cNvSpPr/>
          <p:nvPr/>
        </p:nvSpPr>
        <p:spPr>
          <a:xfrm>
            <a:off x="411480" y="2130552"/>
            <a:ext cx="3063240" cy="269748"/>
          </a:xfrm>
          <a:prstGeom prst="rect">
            <a:avLst/>
          </a:prstGeom>
          <a:solidFill>
            <a:srgbClr val="FFFFFF"/>
          </a:solidFill>
          <a:ln w="6350">
            <a:solidFill>
              <a:srgbClr val="D3DCE5"/>
            </a:solidFill>
            <a:prstDash val="solid"/>
          </a:ln>
        </p:spPr>
      </p:sp>
      <p:sp>
        <p:nvSpPr>
          <p:cNvPr id="26" name="Text 24"/>
          <p:cNvSpPr txBox="1"/>
          <p:nvPr/>
        </p:nvSpPr>
        <p:spPr>
          <a:xfrm>
            <a:off x="475488" y="2130552"/>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FY26 property, plant and equipment</a:t>
            </a:r>
            <a:endParaRPr lang="en-US" sz="810" dirty="0"/>
          </a:p>
        </p:txBody>
      </p:sp>
      <p:sp>
        <p:nvSpPr>
          <p:cNvPr id="27" name="Shape 25"/>
          <p:cNvSpPr/>
          <p:nvPr/>
        </p:nvSpPr>
        <p:spPr>
          <a:xfrm>
            <a:off x="3474720" y="2130552"/>
            <a:ext cx="3977640" cy="269748"/>
          </a:xfrm>
          <a:prstGeom prst="rect">
            <a:avLst/>
          </a:prstGeom>
          <a:solidFill>
            <a:srgbClr val="FFFFFF"/>
          </a:solidFill>
          <a:ln w="6350">
            <a:solidFill>
              <a:srgbClr val="D3DCE5"/>
            </a:solidFill>
            <a:prstDash val="solid"/>
          </a:ln>
        </p:spPr>
      </p:sp>
      <p:sp>
        <p:nvSpPr>
          <p:cNvPr id="28" name="Text 26"/>
          <p:cNvSpPr txBox="1"/>
          <p:nvPr/>
        </p:nvSpPr>
        <p:spPr>
          <a:xfrm>
            <a:off x="3538728" y="2130552"/>
            <a:ext cx="3849624" cy="269748"/>
          </a:xfrm>
          <a:prstGeom prst="rect">
            <a:avLst/>
          </a:prstGeom>
          <a:noFill/>
          <a:ln/>
        </p:spPr>
        <p:txBody>
          <a:bodyPr wrap="square" lIns="0" tIns="0" rIns="0" bIns="0" rtlCol="0" anchor="ctr"/>
          <a:lstStyle/>
          <a:p>
            <a:pPr algn="l" indent="0" marL="0">
              <a:buNone/>
            </a:pPr>
            <a:r>
              <a:rPr lang="en-US" sz="810" b="1" dirty="0">
                <a:solidFill>
                  <a:srgbClr val="0E7C6B"/>
                </a:solidFill>
                <a:latin typeface="Calibri" pitchFamily="34" charset="0"/>
                <a:ea typeface="Calibri" pitchFamily="34" charset="-122"/>
                <a:cs typeface="Calibri" pitchFamily="34" charset="-120"/>
              </a:rPr>
              <a:t>CLOSED</a:t>
            </a:r>
            <a:endParaRPr lang="en-US" sz="810" dirty="0"/>
          </a:p>
        </p:txBody>
      </p:sp>
      <p:sp>
        <p:nvSpPr>
          <p:cNvPr id="29" name="Shape 27"/>
          <p:cNvSpPr/>
          <p:nvPr/>
        </p:nvSpPr>
        <p:spPr>
          <a:xfrm>
            <a:off x="7452360" y="2130552"/>
            <a:ext cx="4334256" cy="269748"/>
          </a:xfrm>
          <a:prstGeom prst="rect">
            <a:avLst/>
          </a:prstGeom>
          <a:solidFill>
            <a:srgbClr val="FFFFFF"/>
          </a:solidFill>
          <a:ln w="6350">
            <a:solidFill>
              <a:srgbClr val="D3DCE5"/>
            </a:solidFill>
            <a:prstDash val="solid"/>
          </a:ln>
        </p:spPr>
      </p:sp>
      <p:sp>
        <p:nvSpPr>
          <p:cNvPr id="30" name="Text 28"/>
          <p:cNvSpPr txBox="1"/>
          <p:nvPr/>
        </p:nvSpPr>
        <p:spPr>
          <a:xfrm>
            <a:off x="7516368" y="2130552"/>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Derived as A$3,813m from reported total assets of A$6,258m less cash and working capital. The balance sheet now ties to the reported total</a:t>
            </a:r>
            <a:endParaRPr lang="en-US" sz="810" dirty="0"/>
          </a:p>
        </p:txBody>
      </p:sp>
      <p:sp>
        <p:nvSpPr>
          <p:cNvPr id="31" name="Shape 29"/>
          <p:cNvSpPr/>
          <p:nvPr/>
        </p:nvSpPr>
        <p:spPr>
          <a:xfrm>
            <a:off x="411480" y="2400300"/>
            <a:ext cx="3063240" cy="269748"/>
          </a:xfrm>
          <a:prstGeom prst="rect">
            <a:avLst/>
          </a:prstGeom>
          <a:solidFill>
            <a:srgbClr val="F7F9FB"/>
          </a:solidFill>
          <a:ln w="6350">
            <a:solidFill>
              <a:srgbClr val="D3DCE5"/>
            </a:solidFill>
            <a:prstDash val="solid"/>
          </a:ln>
        </p:spPr>
      </p:sp>
      <p:sp>
        <p:nvSpPr>
          <p:cNvPr id="32" name="Text 30"/>
          <p:cNvSpPr txBox="1"/>
          <p:nvPr/>
        </p:nvSpPr>
        <p:spPr>
          <a:xfrm>
            <a:off x="475488" y="2400300"/>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Scope 3 emissions and intensity per tonne</a:t>
            </a:r>
            <a:endParaRPr lang="en-US" sz="810" dirty="0"/>
          </a:p>
        </p:txBody>
      </p:sp>
      <p:sp>
        <p:nvSpPr>
          <p:cNvPr id="33" name="Shape 31"/>
          <p:cNvSpPr/>
          <p:nvPr/>
        </p:nvSpPr>
        <p:spPr>
          <a:xfrm>
            <a:off x="3474720" y="2400300"/>
            <a:ext cx="3977640" cy="269748"/>
          </a:xfrm>
          <a:prstGeom prst="rect">
            <a:avLst/>
          </a:prstGeom>
          <a:solidFill>
            <a:srgbClr val="F7F9FB"/>
          </a:solidFill>
          <a:ln w="6350">
            <a:solidFill>
              <a:srgbClr val="D3DCE5"/>
            </a:solidFill>
            <a:prstDash val="solid"/>
          </a:ln>
        </p:spPr>
      </p:sp>
      <p:sp>
        <p:nvSpPr>
          <p:cNvPr id="34" name="Text 32"/>
          <p:cNvSpPr txBox="1"/>
          <p:nvPr/>
        </p:nvSpPr>
        <p:spPr>
          <a:xfrm>
            <a:off x="3538728" y="2400300"/>
            <a:ext cx="3849624"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Not disclosed by PLS</a:t>
            </a:r>
            <a:endParaRPr lang="en-US" sz="810" dirty="0"/>
          </a:p>
        </p:txBody>
      </p:sp>
      <p:sp>
        <p:nvSpPr>
          <p:cNvPr id="35" name="Shape 33"/>
          <p:cNvSpPr/>
          <p:nvPr/>
        </p:nvSpPr>
        <p:spPr>
          <a:xfrm>
            <a:off x="7452360" y="2400300"/>
            <a:ext cx="4334256" cy="269748"/>
          </a:xfrm>
          <a:prstGeom prst="rect">
            <a:avLst/>
          </a:prstGeom>
          <a:solidFill>
            <a:srgbClr val="F7F9FB"/>
          </a:solidFill>
          <a:ln w="6350">
            <a:solidFill>
              <a:srgbClr val="D3DCE5"/>
            </a:solidFill>
            <a:prstDash val="solid"/>
          </a:ln>
        </p:spPr>
      </p:sp>
      <p:sp>
        <p:nvSpPr>
          <p:cNvPr id="36" name="Text 34"/>
          <p:cNvSpPr txBox="1"/>
          <p:nvPr/>
        </p:nvSpPr>
        <p:spPr>
          <a:xfrm>
            <a:off x="7516368" y="2400300"/>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Named as a material gap and made an engagement ask. The low-carbon claim cannot presently be declared</a:t>
            </a:r>
            <a:endParaRPr lang="en-US" sz="810" dirty="0"/>
          </a:p>
        </p:txBody>
      </p:sp>
      <p:sp>
        <p:nvSpPr>
          <p:cNvPr id="37" name="Shape 35"/>
          <p:cNvSpPr/>
          <p:nvPr/>
        </p:nvSpPr>
        <p:spPr>
          <a:xfrm>
            <a:off x="411480" y="2670048"/>
            <a:ext cx="3063240" cy="269748"/>
          </a:xfrm>
          <a:prstGeom prst="rect">
            <a:avLst/>
          </a:prstGeom>
          <a:solidFill>
            <a:srgbClr val="FFFFFF"/>
          </a:solidFill>
          <a:ln w="6350">
            <a:solidFill>
              <a:srgbClr val="D3DCE5"/>
            </a:solidFill>
            <a:prstDash val="solid"/>
          </a:ln>
        </p:spPr>
      </p:sp>
      <p:sp>
        <p:nvSpPr>
          <p:cNvPr id="38" name="Text 36"/>
          <p:cNvSpPr txBox="1"/>
          <p:nvPr/>
        </p:nvSpPr>
        <p:spPr>
          <a:xfrm>
            <a:off x="475488" y="2670048"/>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Tailings method and GISTM status</a:t>
            </a:r>
            <a:endParaRPr lang="en-US" sz="810" dirty="0"/>
          </a:p>
        </p:txBody>
      </p:sp>
      <p:sp>
        <p:nvSpPr>
          <p:cNvPr id="39" name="Shape 37"/>
          <p:cNvSpPr/>
          <p:nvPr/>
        </p:nvSpPr>
        <p:spPr>
          <a:xfrm>
            <a:off x="3474720" y="2670048"/>
            <a:ext cx="3977640" cy="269748"/>
          </a:xfrm>
          <a:prstGeom prst="rect">
            <a:avLst/>
          </a:prstGeom>
          <a:solidFill>
            <a:srgbClr val="FFFFFF"/>
          </a:solidFill>
          <a:ln w="6350">
            <a:solidFill>
              <a:srgbClr val="D3DCE5"/>
            </a:solidFill>
            <a:prstDash val="solid"/>
          </a:ln>
        </p:spPr>
      </p:sp>
      <p:sp>
        <p:nvSpPr>
          <p:cNvPr id="40" name="Text 38"/>
          <p:cNvSpPr txBox="1"/>
          <p:nvPr/>
        </p:nvSpPr>
        <p:spPr>
          <a:xfrm>
            <a:off x="3538728" y="2670048"/>
            <a:ext cx="3849624"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Not disclosed</a:t>
            </a:r>
            <a:endParaRPr lang="en-US" sz="810" dirty="0"/>
          </a:p>
        </p:txBody>
      </p:sp>
      <p:sp>
        <p:nvSpPr>
          <p:cNvPr id="41" name="Shape 39"/>
          <p:cNvSpPr/>
          <p:nvPr/>
        </p:nvSpPr>
        <p:spPr>
          <a:xfrm>
            <a:off x="7452360" y="2670048"/>
            <a:ext cx="4334256" cy="269748"/>
          </a:xfrm>
          <a:prstGeom prst="rect">
            <a:avLst/>
          </a:prstGeom>
          <a:solidFill>
            <a:srgbClr val="FFFFFF"/>
          </a:solidFill>
          <a:ln w="6350">
            <a:solidFill>
              <a:srgbClr val="D3DCE5"/>
            </a:solidFill>
            <a:prstDash val="solid"/>
          </a:ln>
        </p:spPr>
      </p:sp>
      <p:sp>
        <p:nvSpPr>
          <p:cNvPr id="42" name="Text 40"/>
          <p:cNvSpPr txBox="1"/>
          <p:nvPr/>
        </p:nvSpPr>
        <p:spPr>
          <a:xfrm>
            <a:off x="7516368" y="2670048"/>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Refused to assert either way. Carried as an unpriced risk</a:t>
            </a:r>
            <a:endParaRPr lang="en-US" sz="810" dirty="0"/>
          </a:p>
        </p:txBody>
      </p:sp>
      <p:sp>
        <p:nvSpPr>
          <p:cNvPr id="43" name="Shape 41"/>
          <p:cNvSpPr/>
          <p:nvPr/>
        </p:nvSpPr>
        <p:spPr>
          <a:xfrm>
            <a:off x="411480" y="2939796"/>
            <a:ext cx="3063240" cy="269748"/>
          </a:xfrm>
          <a:prstGeom prst="rect">
            <a:avLst/>
          </a:prstGeom>
          <a:solidFill>
            <a:srgbClr val="F7F9FB"/>
          </a:solidFill>
          <a:ln w="6350">
            <a:solidFill>
              <a:srgbClr val="D3DCE5"/>
            </a:solidFill>
            <a:prstDash val="solid"/>
          </a:ln>
        </p:spPr>
      </p:sp>
      <p:sp>
        <p:nvSpPr>
          <p:cNvPr id="44" name="Text 42"/>
          <p:cNvSpPr txBox="1"/>
          <p:nvPr/>
        </p:nvSpPr>
        <p:spPr>
          <a:xfrm>
            <a:off x="475488" y="2939796"/>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Safety, workforce and diversity metrics</a:t>
            </a:r>
            <a:endParaRPr lang="en-US" sz="810" dirty="0"/>
          </a:p>
        </p:txBody>
      </p:sp>
      <p:sp>
        <p:nvSpPr>
          <p:cNvPr id="45" name="Shape 43"/>
          <p:cNvSpPr/>
          <p:nvPr/>
        </p:nvSpPr>
        <p:spPr>
          <a:xfrm>
            <a:off x="3474720" y="2939796"/>
            <a:ext cx="3977640" cy="269748"/>
          </a:xfrm>
          <a:prstGeom prst="rect">
            <a:avLst/>
          </a:prstGeom>
          <a:solidFill>
            <a:srgbClr val="F7F9FB"/>
          </a:solidFill>
          <a:ln w="6350">
            <a:solidFill>
              <a:srgbClr val="D3DCE5"/>
            </a:solidFill>
            <a:prstDash val="solid"/>
          </a:ln>
        </p:spPr>
      </p:sp>
      <p:sp>
        <p:nvSpPr>
          <p:cNvPr id="46" name="Text 44"/>
          <p:cNvSpPr txBox="1"/>
          <p:nvPr/>
        </p:nvSpPr>
        <p:spPr>
          <a:xfrm>
            <a:off x="3538728" y="2939796"/>
            <a:ext cx="3849624"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Partly closed from FY26 results</a:t>
            </a:r>
            <a:endParaRPr lang="en-US" sz="810" dirty="0"/>
          </a:p>
        </p:txBody>
      </p:sp>
      <p:sp>
        <p:nvSpPr>
          <p:cNvPr id="47" name="Shape 45"/>
          <p:cNvSpPr/>
          <p:nvPr/>
        </p:nvSpPr>
        <p:spPr>
          <a:xfrm>
            <a:off x="7452360" y="2939796"/>
            <a:ext cx="4334256" cy="269748"/>
          </a:xfrm>
          <a:prstGeom prst="rect">
            <a:avLst/>
          </a:prstGeom>
          <a:solidFill>
            <a:srgbClr val="F7F9FB"/>
          </a:solidFill>
          <a:ln w="6350">
            <a:solidFill>
              <a:srgbClr val="D3DCE5"/>
            </a:solidFill>
            <a:prstDash val="solid"/>
          </a:ln>
        </p:spPr>
      </p:sp>
      <p:sp>
        <p:nvSpPr>
          <p:cNvPr id="48" name="Text 46"/>
          <p:cNvSpPr txBox="1"/>
          <p:nvPr/>
        </p:nvSpPr>
        <p:spPr>
          <a:xfrm>
            <a:off x="7516368" y="2939796"/>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TRIFR 2.77 and female participation 21.9% retrieved; Indigenous employment and procurement still not found</a:t>
            </a:r>
            <a:endParaRPr lang="en-US" sz="810" dirty="0"/>
          </a:p>
        </p:txBody>
      </p:sp>
      <p:sp>
        <p:nvSpPr>
          <p:cNvPr id="49" name="Shape 47"/>
          <p:cNvSpPr/>
          <p:nvPr/>
        </p:nvSpPr>
        <p:spPr>
          <a:xfrm>
            <a:off x="411480" y="3209544"/>
            <a:ext cx="3063240" cy="269748"/>
          </a:xfrm>
          <a:prstGeom prst="rect">
            <a:avLst/>
          </a:prstGeom>
          <a:solidFill>
            <a:srgbClr val="FFFFFF"/>
          </a:solidFill>
          <a:ln w="6350">
            <a:solidFill>
              <a:srgbClr val="D3DCE5"/>
            </a:solidFill>
            <a:prstDash val="solid"/>
          </a:ln>
        </p:spPr>
      </p:sp>
      <p:sp>
        <p:nvSpPr>
          <p:cNvPr id="50" name="Text 48"/>
          <p:cNvSpPr txBox="1"/>
          <p:nvPr/>
        </p:nvSpPr>
        <p:spPr>
          <a:xfrm>
            <a:off x="475488" y="3209544"/>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Native title agreement detail</a:t>
            </a:r>
            <a:endParaRPr lang="en-US" sz="810" dirty="0"/>
          </a:p>
        </p:txBody>
      </p:sp>
      <p:sp>
        <p:nvSpPr>
          <p:cNvPr id="51" name="Shape 49"/>
          <p:cNvSpPr/>
          <p:nvPr/>
        </p:nvSpPr>
        <p:spPr>
          <a:xfrm>
            <a:off x="3474720" y="3209544"/>
            <a:ext cx="3977640" cy="269748"/>
          </a:xfrm>
          <a:prstGeom prst="rect">
            <a:avLst/>
          </a:prstGeom>
          <a:solidFill>
            <a:srgbClr val="FFFFFF"/>
          </a:solidFill>
          <a:ln w="6350">
            <a:solidFill>
              <a:srgbClr val="D3DCE5"/>
            </a:solidFill>
            <a:prstDash val="solid"/>
          </a:ln>
        </p:spPr>
      </p:sp>
      <p:sp>
        <p:nvSpPr>
          <p:cNvPr id="52" name="Text 50"/>
          <p:cNvSpPr txBox="1"/>
          <p:nvPr/>
        </p:nvSpPr>
        <p:spPr>
          <a:xfrm>
            <a:off x="3538728" y="3209544"/>
            <a:ext cx="3849624"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Not retrievable</a:t>
            </a:r>
            <a:endParaRPr lang="en-US" sz="810" dirty="0"/>
          </a:p>
        </p:txBody>
      </p:sp>
      <p:sp>
        <p:nvSpPr>
          <p:cNvPr id="53" name="Shape 51"/>
          <p:cNvSpPr/>
          <p:nvPr/>
        </p:nvSpPr>
        <p:spPr>
          <a:xfrm>
            <a:off x="7452360" y="3209544"/>
            <a:ext cx="4334256" cy="269748"/>
          </a:xfrm>
          <a:prstGeom prst="rect">
            <a:avLst/>
          </a:prstGeom>
          <a:solidFill>
            <a:srgbClr val="FFFFFF"/>
          </a:solidFill>
          <a:ln w="6350">
            <a:solidFill>
              <a:srgbClr val="D3DCE5"/>
            </a:solidFill>
            <a:prstDash val="solid"/>
          </a:ln>
        </p:spPr>
      </p:sp>
      <p:sp>
        <p:nvSpPr>
          <p:cNvPr id="54" name="Text 52"/>
          <p:cNvSpPr txBox="1"/>
          <p:nvPr/>
        </p:nvSpPr>
        <p:spPr>
          <a:xfrm>
            <a:off x="7516368" y="3209544"/>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Valued schedule protection as an avoided delay, not as a claim about relationship quality</a:t>
            </a:r>
            <a:endParaRPr lang="en-US" sz="810" dirty="0"/>
          </a:p>
        </p:txBody>
      </p:sp>
      <p:sp>
        <p:nvSpPr>
          <p:cNvPr id="55" name="Shape 53"/>
          <p:cNvSpPr/>
          <p:nvPr/>
        </p:nvSpPr>
        <p:spPr>
          <a:xfrm>
            <a:off x="411480" y="3479292"/>
            <a:ext cx="3063240" cy="269748"/>
          </a:xfrm>
          <a:prstGeom prst="rect">
            <a:avLst/>
          </a:prstGeom>
          <a:solidFill>
            <a:srgbClr val="F7F9FB"/>
          </a:solidFill>
          <a:ln w="6350">
            <a:solidFill>
              <a:srgbClr val="D3DCE5"/>
            </a:solidFill>
            <a:prstDash val="solid"/>
          </a:ln>
        </p:spPr>
      </p:sp>
      <p:sp>
        <p:nvSpPr>
          <p:cNvPr id="56" name="Text 54"/>
          <p:cNvSpPr txBox="1"/>
          <p:nvPr/>
        </p:nvSpPr>
        <p:spPr>
          <a:xfrm>
            <a:off x="475488" y="3479292"/>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ESG metrics in incentive pay</a:t>
            </a:r>
            <a:endParaRPr lang="en-US" sz="810" dirty="0"/>
          </a:p>
        </p:txBody>
      </p:sp>
      <p:sp>
        <p:nvSpPr>
          <p:cNvPr id="57" name="Shape 55"/>
          <p:cNvSpPr/>
          <p:nvPr/>
        </p:nvSpPr>
        <p:spPr>
          <a:xfrm>
            <a:off x="3474720" y="3479292"/>
            <a:ext cx="3977640" cy="269748"/>
          </a:xfrm>
          <a:prstGeom prst="rect">
            <a:avLst/>
          </a:prstGeom>
          <a:solidFill>
            <a:srgbClr val="F7F9FB"/>
          </a:solidFill>
          <a:ln w="6350">
            <a:solidFill>
              <a:srgbClr val="D3DCE5"/>
            </a:solidFill>
            <a:prstDash val="solid"/>
          </a:ln>
        </p:spPr>
      </p:sp>
      <p:sp>
        <p:nvSpPr>
          <p:cNvPr id="58" name="Text 56"/>
          <p:cNvSpPr txBox="1"/>
          <p:nvPr/>
        </p:nvSpPr>
        <p:spPr>
          <a:xfrm>
            <a:off x="3538728" y="3479292"/>
            <a:ext cx="3849624"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Not retrievable</a:t>
            </a:r>
            <a:endParaRPr lang="en-US" sz="810" dirty="0"/>
          </a:p>
        </p:txBody>
      </p:sp>
      <p:sp>
        <p:nvSpPr>
          <p:cNvPr id="59" name="Shape 57"/>
          <p:cNvSpPr/>
          <p:nvPr/>
        </p:nvSpPr>
        <p:spPr>
          <a:xfrm>
            <a:off x="7452360" y="3479292"/>
            <a:ext cx="4334256" cy="269748"/>
          </a:xfrm>
          <a:prstGeom prst="rect">
            <a:avLst/>
          </a:prstGeom>
          <a:solidFill>
            <a:srgbClr val="F7F9FB"/>
          </a:solidFill>
          <a:ln w="6350">
            <a:solidFill>
              <a:srgbClr val="D3DCE5"/>
            </a:solidFill>
            <a:prstDash val="solid"/>
          </a:ln>
        </p:spPr>
      </p:sp>
      <p:sp>
        <p:nvSpPr>
          <p:cNvPr id="60" name="Text 58"/>
          <p:cNvSpPr txBox="1"/>
          <p:nvPr/>
        </p:nvSpPr>
        <p:spPr>
          <a:xfrm>
            <a:off x="7516368" y="3479292"/>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Named as our second engagement ask</a:t>
            </a:r>
            <a:endParaRPr lang="en-US" sz="810" dirty="0"/>
          </a:p>
        </p:txBody>
      </p:sp>
      <p:sp>
        <p:nvSpPr>
          <p:cNvPr id="61" name="Shape 59"/>
          <p:cNvSpPr/>
          <p:nvPr/>
        </p:nvSpPr>
        <p:spPr>
          <a:xfrm>
            <a:off x="411480" y="3749040"/>
            <a:ext cx="3063240" cy="269748"/>
          </a:xfrm>
          <a:prstGeom prst="rect">
            <a:avLst/>
          </a:prstGeom>
          <a:solidFill>
            <a:srgbClr val="FFFFFF"/>
          </a:solidFill>
          <a:ln w="6350">
            <a:solidFill>
              <a:srgbClr val="D3DCE5"/>
            </a:solidFill>
            <a:prstDash val="solid"/>
          </a:ln>
        </p:spPr>
      </p:sp>
      <p:sp>
        <p:nvSpPr>
          <p:cNvPr id="62" name="Text 60"/>
          <p:cNvSpPr txBox="1"/>
          <p:nvPr/>
        </p:nvSpPr>
        <p:spPr>
          <a:xfrm>
            <a:off x="475488" y="3749040"/>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Named broker price targets</a:t>
            </a:r>
            <a:endParaRPr lang="en-US" sz="810" dirty="0"/>
          </a:p>
        </p:txBody>
      </p:sp>
      <p:sp>
        <p:nvSpPr>
          <p:cNvPr id="63" name="Shape 61"/>
          <p:cNvSpPr/>
          <p:nvPr/>
        </p:nvSpPr>
        <p:spPr>
          <a:xfrm>
            <a:off x="3474720" y="3749040"/>
            <a:ext cx="3977640" cy="269748"/>
          </a:xfrm>
          <a:prstGeom prst="rect">
            <a:avLst/>
          </a:prstGeom>
          <a:solidFill>
            <a:srgbClr val="FFFFFF"/>
          </a:solidFill>
          <a:ln w="6350">
            <a:solidFill>
              <a:srgbClr val="D3DCE5"/>
            </a:solidFill>
            <a:prstDash val="solid"/>
          </a:ln>
        </p:spPr>
      </p:sp>
      <p:sp>
        <p:nvSpPr>
          <p:cNvPr id="64" name="Text 62"/>
          <p:cNvSpPr txBox="1"/>
          <p:nvPr/>
        </p:nvSpPr>
        <p:spPr>
          <a:xfrm>
            <a:off x="3538728" y="3749040"/>
            <a:ext cx="3849624"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Not retrievable individually</a:t>
            </a:r>
            <a:endParaRPr lang="en-US" sz="810" dirty="0"/>
          </a:p>
        </p:txBody>
      </p:sp>
      <p:sp>
        <p:nvSpPr>
          <p:cNvPr id="65" name="Shape 63"/>
          <p:cNvSpPr/>
          <p:nvPr/>
        </p:nvSpPr>
        <p:spPr>
          <a:xfrm>
            <a:off x="7452360" y="3749040"/>
            <a:ext cx="4334256" cy="269748"/>
          </a:xfrm>
          <a:prstGeom prst="rect">
            <a:avLst/>
          </a:prstGeom>
          <a:solidFill>
            <a:srgbClr val="FFFFFF"/>
          </a:solidFill>
          <a:ln w="6350">
            <a:solidFill>
              <a:srgbClr val="D3DCE5"/>
            </a:solidFill>
            <a:prstDash val="solid"/>
          </a:ln>
        </p:spPr>
      </p:sp>
      <p:sp>
        <p:nvSpPr>
          <p:cNvPr id="66" name="Text 64"/>
          <p:cNvSpPr txBox="1"/>
          <p:nvPr/>
        </p:nvSpPr>
        <p:spPr>
          <a:xfrm>
            <a:off x="7516368" y="3749040"/>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Used vendor consensus ranges and showed the full spread</a:t>
            </a:r>
            <a:endParaRPr lang="en-US" sz="810" dirty="0"/>
          </a:p>
        </p:txBody>
      </p:sp>
      <p:sp>
        <p:nvSpPr>
          <p:cNvPr id="67" name="Shape 65"/>
          <p:cNvSpPr/>
          <p:nvPr/>
        </p:nvSpPr>
        <p:spPr>
          <a:xfrm>
            <a:off x="411480" y="4018788"/>
            <a:ext cx="3063240" cy="269748"/>
          </a:xfrm>
          <a:prstGeom prst="rect">
            <a:avLst/>
          </a:prstGeom>
          <a:solidFill>
            <a:srgbClr val="F7F9FB"/>
          </a:solidFill>
          <a:ln w="6350">
            <a:solidFill>
              <a:srgbClr val="D3DCE5"/>
            </a:solidFill>
            <a:prstDash val="solid"/>
          </a:ln>
        </p:spPr>
      </p:sp>
      <p:sp>
        <p:nvSpPr>
          <p:cNvPr id="68" name="Text 66"/>
          <p:cNvSpPr txBox="1"/>
          <p:nvPr/>
        </p:nvSpPr>
        <p:spPr>
          <a:xfrm>
            <a:off x="475488" y="4018788"/>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Current short interest</a:t>
            </a:r>
            <a:endParaRPr lang="en-US" sz="810" dirty="0"/>
          </a:p>
        </p:txBody>
      </p:sp>
      <p:sp>
        <p:nvSpPr>
          <p:cNvPr id="69" name="Shape 67"/>
          <p:cNvSpPr/>
          <p:nvPr/>
        </p:nvSpPr>
        <p:spPr>
          <a:xfrm>
            <a:off x="3474720" y="4018788"/>
            <a:ext cx="3977640" cy="269748"/>
          </a:xfrm>
          <a:prstGeom prst="rect">
            <a:avLst/>
          </a:prstGeom>
          <a:solidFill>
            <a:srgbClr val="F7F9FB"/>
          </a:solidFill>
          <a:ln w="6350">
            <a:solidFill>
              <a:srgbClr val="D3DCE5"/>
            </a:solidFill>
            <a:prstDash val="solid"/>
          </a:ln>
        </p:spPr>
      </p:sp>
      <p:sp>
        <p:nvSpPr>
          <p:cNvPr id="70" name="Text 68"/>
          <p:cNvSpPr txBox="1"/>
          <p:nvPr/>
        </p:nvSpPr>
        <p:spPr>
          <a:xfrm>
            <a:off x="3538728" y="4018788"/>
            <a:ext cx="3849624"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Refreshed to 4 August 2026</a:t>
            </a:r>
            <a:endParaRPr lang="en-US" sz="810" dirty="0"/>
          </a:p>
        </p:txBody>
      </p:sp>
      <p:sp>
        <p:nvSpPr>
          <p:cNvPr id="71" name="Shape 69"/>
          <p:cNvSpPr/>
          <p:nvPr/>
        </p:nvSpPr>
        <p:spPr>
          <a:xfrm>
            <a:off x="7452360" y="4018788"/>
            <a:ext cx="4334256" cy="269748"/>
          </a:xfrm>
          <a:prstGeom prst="rect">
            <a:avLst/>
          </a:prstGeom>
          <a:solidFill>
            <a:srgbClr val="F7F9FB"/>
          </a:solidFill>
          <a:ln w="6350">
            <a:solidFill>
              <a:srgbClr val="D3DCE5"/>
            </a:solidFill>
            <a:prstDash val="solid"/>
          </a:ln>
        </p:spPr>
      </p:sp>
      <p:sp>
        <p:nvSpPr>
          <p:cNvPr id="72" name="Text 70"/>
          <p:cNvSpPr txBox="1"/>
          <p:nvPr/>
        </p:nvSpPr>
        <p:spPr>
          <a:xfrm>
            <a:off x="7516368" y="4018788"/>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10.09%, above the 10% warning level we set. Reported on F2 rather than dropped</a:t>
            </a:r>
            <a:endParaRPr lang="en-US" sz="810" dirty="0"/>
          </a:p>
        </p:txBody>
      </p:sp>
      <p:sp>
        <p:nvSpPr>
          <p:cNvPr id="73" name="Shape 71"/>
          <p:cNvSpPr/>
          <p:nvPr/>
        </p:nvSpPr>
        <p:spPr>
          <a:xfrm>
            <a:off x="411480" y="4288536"/>
            <a:ext cx="3063240" cy="269748"/>
          </a:xfrm>
          <a:prstGeom prst="rect">
            <a:avLst/>
          </a:prstGeom>
          <a:solidFill>
            <a:srgbClr val="FFFFFF"/>
          </a:solidFill>
          <a:ln w="6350">
            <a:solidFill>
              <a:srgbClr val="D3DCE5"/>
            </a:solidFill>
            <a:prstDash val="solid"/>
          </a:ln>
        </p:spPr>
      </p:sp>
      <p:sp>
        <p:nvSpPr>
          <p:cNvPr id="74" name="Text 72"/>
          <p:cNvSpPr txBox="1"/>
          <p:nvPr/>
        </p:nvSpPr>
        <p:spPr>
          <a:xfrm>
            <a:off x="475488" y="4288536"/>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FY24 comparatives</a:t>
            </a:r>
            <a:endParaRPr lang="en-US" sz="810" dirty="0"/>
          </a:p>
        </p:txBody>
      </p:sp>
      <p:sp>
        <p:nvSpPr>
          <p:cNvPr id="75" name="Shape 73"/>
          <p:cNvSpPr/>
          <p:nvPr/>
        </p:nvSpPr>
        <p:spPr>
          <a:xfrm>
            <a:off x="3474720" y="4288536"/>
            <a:ext cx="3977640" cy="269748"/>
          </a:xfrm>
          <a:prstGeom prst="rect">
            <a:avLst/>
          </a:prstGeom>
          <a:solidFill>
            <a:srgbClr val="FFFFFF"/>
          </a:solidFill>
          <a:ln w="6350">
            <a:solidFill>
              <a:srgbClr val="D3DCE5"/>
            </a:solidFill>
            <a:prstDash val="solid"/>
          </a:ln>
        </p:spPr>
      </p:sp>
      <p:sp>
        <p:nvSpPr>
          <p:cNvPr id="76" name="Text 74"/>
          <p:cNvSpPr txBox="1"/>
          <p:nvPr/>
        </p:nvSpPr>
        <p:spPr>
          <a:xfrm>
            <a:off x="3538728" y="4288536"/>
            <a:ext cx="3849624"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Outside the scope of our sourcing</a:t>
            </a:r>
            <a:endParaRPr lang="en-US" sz="810" dirty="0"/>
          </a:p>
        </p:txBody>
      </p:sp>
      <p:sp>
        <p:nvSpPr>
          <p:cNvPr id="77" name="Shape 75"/>
          <p:cNvSpPr/>
          <p:nvPr/>
        </p:nvSpPr>
        <p:spPr>
          <a:xfrm>
            <a:off x="7452360" y="4288536"/>
            <a:ext cx="4334256" cy="269748"/>
          </a:xfrm>
          <a:prstGeom prst="rect">
            <a:avLst/>
          </a:prstGeom>
          <a:solidFill>
            <a:srgbClr val="FFFFFF"/>
          </a:solidFill>
          <a:ln w="6350">
            <a:solidFill>
              <a:srgbClr val="D3DCE5"/>
            </a:solidFill>
            <a:prstDash val="solid"/>
          </a:ln>
        </p:spPr>
      </p:sp>
      <p:sp>
        <p:nvSpPr>
          <p:cNvPr id="78" name="Text 76"/>
          <p:cNvSpPr txBox="1"/>
          <p:nvPr/>
        </p:nvSpPr>
        <p:spPr>
          <a:xfrm>
            <a:off x="7516368" y="4288536"/>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Marked as estimates in the workbook and in the income statement footnote</a:t>
            </a:r>
            <a:endParaRPr lang="en-US" sz="810" dirty="0"/>
          </a:p>
        </p:txBody>
      </p:sp>
      <p:sp>
        <p:nvSpPr>
          <p:cNvPr id="79" name="Shape 77"/>
          <p:cNvSpPr/>
          <p:nvPr/>
        </p:nvSpPr>
        <p:spPr>
          <a:xfrm>
            <a:off x="411480" y="4558284"/>
            <a:ext cx="3063240" cy="269748"/>
          </a:xfrm>
          <a:prstGeom prst="rect">
            <a:avLst/>
          </a:prstGeom>
          <a:solidFill>
            <a:srgbClr val="F7F9FB"/>
          </a:solidFill>
          <a:ln w="6350">
            <a:solidFill>
              <a:srgbClr val="D3DCE5"/>
            </a:solidFill>
            <a:prstDash val="solid"/>
          </a:ln>
        </p:spPr>
      </p:sp>
      <p:sp>
        <p:nvSpPr>
          <p:cNvPr id="80" name="Text 78"/>
          <p:cNvSpPr txBox="1"/>
          <p:nvPr/>
        </p:nvSpPr>
        <p:spPr>
          <a:xfrm>
            <a:off x="475488" y="4558284"/>
            <a:ext cx="2935224" cy="269748"/>
          </a:xfrm>
          <a:prstGeom prst="rect">
            <a:avLst/>
          </a:prstGeom>
          <a:noFill/>
          <a:ln/>
        </p:spPr>
        <p:txBody>
          <a:bodyPr wrap="square" lIns="0" tIns="0" rIns="0" bIns="0" rtlCol="0" anchor="ctr"/>
          <a:lstStyle/>
          <a:p>
            <a:pPr algn="l" indent="0" marL="0">
              <a:buNone/>
            </a:pPr>
            <a:r>
              <a:rPr lang="en-US" sz="810" b="1" dirty="0">
                <a:solidFill>
                  <a:srgbClr val="1B2733"/>
                </a:solidFill>
                <a:latin typeface="Calibri" pitchFamily="34" charset="0"/>
                <a:ea typeface="Calibri" pitchFamily="34" charset="-122"/>
                <a:cs typeface="Calibri" pitchFamily="34" charset="-120"/>
              </a:rPr>
              <a:t>External ESG ratings</a:t>
            </a:r>
            <a:endParaRPr lang="en-US" sz="810" dirty="0"/>
          </a:p>
        </p:txBody>
      </p:sp>
      <p:sp>
        <p:nvSpPr>
          <p:cNvPr id="81" name="Shape 79"/>
          <p:cNvSpPr/>
          <p:nvPr/>
        </p:nvSpPr>
        <p:spPr>
          <a:xfrm>
            <a:off x="3474720" y="4558284"/>
            <a:ext cx="3977640" cy="269748"/>
          </a:xfrm>
          <a:prstGeom prst="rect">
            <a:avLst/>
          </a:prstGeom>
          <a:solidFill>
            <a:srgbClr val="F7F9FB"/>
          </a:solidFill>
          <a:ln w="6350">
            <a:solidFill>
              <a:srgbClr val="D3DCE5"/>
            </a:solidFill>
            <a:prstDash val="solid"/>
          </a:ln>
        </p:spPr>
      </p:sp>
      <p:sp>
        <p:nvSpPr>
          <p:cNvPr id="82" name="Text 80"/>
          <p:cNvSpPr txBox="1"/>
          <p:nvPr/>
        </p:nvSpPr>
        <p:spPr>
          <a:xfrm>
            <a:off x="3538728" y="4558284"/>
            <a:ext cx="3849624"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Providers not reachable</a:t>
            </a:r>
            <a:endParaRPr lang="en-US" sz="810" dirty="0"/>
          </a:p>
        </p:txBody>
      </p:sp>
      <p:sp>
        <p:nvSpPr>
          <p:cNvPr id="83" name="Shape 81"/>
          <p:cNvSpPr/>
          <p:nvPr/>
        </p:nvSpPr>
        <p:spPr>
          <a:xfrm>
            <a:off x="7452360" y="4558284"/>
            <a:ext cx="4334256" cy="269748"/>
          </a:xfrm>
          <a:prstGeom prst="rect">
            <a:avLst/>
          </a:prstGeom>
          <a:solidFill>
            <a:srgbClr val="F7F9FB"/>
          </a:solidFill>
          <a:ln w="6350">
            <a:solidFill>
              <a:srgbClr val="D3DCE5"/>
            </a:solidFill>
            <a:prstDash val="solid"/>
          </a:ln>
        </p:spPr>
      </p:sp>
      <p:sp>
        <p:nvSpPr>
          <p:cNvPr id="84" name="Text 82"/>
          <p:cNvSpPr txBox="1"/>
          <p:nvPr/>
        </p:nvSpPr>
        <p:spPr>
          <a:xfrm>
            <a:off x="7516368" y="4558284"/>
            <a:ext cx="4206240" cy="269748"/>
          </a:xfrm>
          <a:prstGeom prst="rect">
            <a:avLst/>
          </a:prstGeom>
          <a:noFill/>
          <a:ln/>
        </p:spPr>
        <p:txBody>
          <a:bodyPr wrap="square" lIns="0" tIns="0" rIns="0" bIns="0" rtlCol="0" anchor="ctr"/>
          <a:lstStyle/>
          <a:p>
            <a:pPr algn="l" indent="0" marL="0">
              <a:buNone/>
            </a:pPr>
            <a:r>
              <a:rPr lang="en-US" sz="810" dirty="0">
                <a:solidFill>
                  <a:srgbClr val="1B2733"/>
                </a:solidFill>
                <a:latin typeface="Calibri" pitchFamily="34" charset="0"/>
                <a:ea typeface="Calibri" pitchFamily="34" charset="-122"/>
                <a:cs typeface="Calibri" pitchFamily="34" charset="-120"/>
              </a:rPr>
              <a:t>Explained why operating evidence mattered more, and acknowledged the loss of a common benchmark</a:t>
            </a:r>
            <a:endParaRPr lang="en-US" sz="810" dirty="0"/>
          </a:p>
        </p:txBody>
      </p:sp>
      <p:sp>
        <p:nvSpPr>
          <p:cNvPr id="85" name="Shape 83"/>
          <p:cNvSpPr/>
          <p:nvPr/>
        </p:nvSpPr>
        <p:spPr>
          <a:xfrm>
            <a:off x="411480" y="4937760"/>
            <a:ext cx="11375136" cy="1115568"/>
          </a:xfrm>
          <a:prstGeom prst="rect">
            <a:avLst/>
          </a:prstGeom>
          <a:solidFill>
            <a:srgbClr val="FBEBD9"/>
          </a:solidFill>
          <a:ln w="9525">
            <a:solidFill>
              <a:srgbClr val="E8C9A3"/>
            </a:solidFill>
            <a:prstDash val="solid"/>
          </a:ln>
        </p:spPr>
      </p:sp>
      <p:sp>
        <p:nvSpPr>
          <p:cNvPr id="86" name="Text 84"/>
          <p:cNvSpPr txBox="1"/>
          <p:nvPr/>
        </p:nvSpPr>
        <p:spPr>
          <a:xfrm>
            <a:off x="576072" y="5065776"/>
            <a:ext cx="11045952"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What the research constraint cost us</a:t>
            </a:r>
            <a:endParaRPr lang="en-US" sz="1150" dirty="0"/>
          </a:p>
        </p:txBody>
      </p:sp>
      <p:sp>
        <p:nvSpPr>
          <p:cNvPr id="87" name="Text 85"/>
          <p:cNvSpPr txBox="1"/>
          <p:nvPr/>
        </p:nvSpPr>
        <p:spPr>
          <a:xfrm>
            <a:off x="576072" y="5394960"/>
            <a:ext cx="11045952" cy="566928"/>
          </a:xfrm>
          <a:prstGeom prst="rect">
            <a:avLst/>
          </a:prstGeom>
          <a:noFill/>
          <a:ln/>
        </p:spPr>
        <p:txBody>
          <a:bodyPr wrap="square" lIns="0" tIns="0" rIns="0" bIns="0" rtlCol="0" anchor="t"/>
          <a:lstStyle/>
          <a:p>
            <a:pPr indent="0" marL="0">
              <a:lnSpc>
                <a:spcPct val="105000"/>
              </a:lnSpc>
              <a:buNone/>
            </a:pPr>
            <a:r>
              <a:rPr lang="en-US" sz="900" dirty="0">
                <a:solidFill>
                  <a:srgbClr val="1B2733"/>
                </a:solidFill>
                <a:latin typeface="Calibri" pitchFamily="34" charset="0"/>
                <a:ea typeface="Calibri" pitchFamily="34" charset="-122"/>
                <a:cs typeface="Calibri" pitchFamily="34" charset="-120"/>
              </a:rPr>
              <a:t>Our research environment could not open company websites or the ASX announcements platform, so every reported figure was corroborated across two or more independent secondary reports of the same announcement rather than read from the primary document. Headline FY26 figures are consistent across sources. Everything above is what that constraint cost us.</a:t>
            </a:r>
            <a:endParaRPr lang="en-US" sz="900" dirty="0"/>
          </a:p>
        </p:txBody>
      </p:sp>
      <p:sp>
        <p:nvSpPr>
          <p:cNvPr id="88" name="Text 86"/>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Source: team research log. This register is reproduced from the Sources sheet of the submitted workbook.</a:t>
            </a:r>
            <a:endParaRPr lang="en-US" sz="720" dirty="0"/>
          </a:p>
        </p:txBody>
      </p:sp>
      <p:sp>
        <p:nvSpPr>
          <p:cNvPr id="89" name="Text 87"/>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F4</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Written for a reader who does not work in mining, because a term nobody understands is a claim nobody can check.</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F5  Risk and reference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5577840" cy="333756"/>
          </a:xfrm>
          <a:prstGeom prst="rect">
            <a:avLst/>
          </a:prstGeom>
          <a:solidFill>
            <a:srgbClr val="FFFFFF"/>
          </a:solidFill>
          <a:ln w="5080">
            <a:solidFill>
              <a:srgbClr val="D3DCE5"/>
            </a:solidFill>
            <a:prstDash val="solid"/>
          </a:ln>
        </p:spPr>
      </p:sp>
      <p:sp>
        <p:nvSpPr>
          <p:cNvPr id="8" name="Text 6"/>
          <p:cNvSpPr txBox="1"/>
          <p:nvPr/>
        </p:nvSpPr>
        <p:spPr>
          <a:xfrm>
            <a:off x="502920" y="1298448"/>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Spodumene</a:t>
            </a:r>
            <a:endParaRPr lang="en-US" sz="840" dirty="0"/>
          </a:p>
        </p:txBody>
      </p:sp>
      <p:sp>
        <p:nvSpPr>
          <p:cNvPr id="9" name="Text 7"/>
          <p:cNvSpPr txBox="1"/>
          <p:nvPr/>
        </p:nvSpPr>
        <p:spPr>
          <a:xfrm>
            <a:off x="2148840" y="1298448"/>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The lithium-bearing mineral in hard rock. Mined, crushed and floated into a concentrate.</a:t>
            </a:r>
            <a:endParaRPr lang="en-US" sz="780" dirty="0"/>
          </a:p>
        </p:txBody>
      </p:sp>
      <p:sp>
        <p:nvSpPr>
          <p:cNvPr id="10" name="Shape 8"/>
          <p:cNvSpPr/>
          <p:nvPr/>
        </p:nvSpPr>
        <p:spPr>
          <a:xfrm>
            <a:off x="6153912" y="1298448"/>
            <a:ext cx="5577840" cy="333756"/>
          </a:xfrm>
          <a:prstGeom prst="rect">
            <a:avLst/>
          </a:prstGeom>
          <a:solidFill>
            <a:srgbClr val="FFFFFF"/>
          </a:solidFill>
          <a:ln w="5080">
            <a:solidFill>
              <a:srgbClr val="D3DCE5"/>
            </a:solidFill>
            <a:prstDash val="solid"/>
          </a:ln>
        </p:spPr>
      </p:sp>
      <p:sp>
        <p:nvSpPr>
          <p:cNvPr id="11" name="Text 9"/>
          <p:cNvSpPr txBox="1"/>
          <p:nvPr/>
        </p:nvSpPr>
        <p:spPr>
          <a:xfrm>
            <a:off x="6245352" y="1298448"/>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Spodumene concentrate</a:t>
            </a:r>
            <a:endParaRPr lang="en-US" sz="840" dirty="0"/>
          </a:p>
        </p:txBody>
      </p:sp>
      <p:sp>
        <p:nvSpPr>
          <p:cNvPr id="12" name="Text 10"/>
          <p:cNvSpPr txBox="1"/>
          <p:nvPr/>
        </p:nvSpPr>
        <p:spPr>
          <a:xfrm>
            <a:off x="7891272" y="1298448"/>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The product PLS sells: rock upgraded to roughly 5.2% lithium oxide.</a:t>
            </a:r>
            <a:endParaRPr lang="en-US" sz="780" dirty="0"/>
          </a:p>
        </p:txBody>
      </p:sp>
      <p:sp>
        <p:nvSpPr>
          <p:cNvPr id="13" name="Shape 11"/>
          <p:cNvSpPr/>
          <p:nvPr/>
        </p:nvSpPr>
        <p:spPr>
          <a:xfrm>
            <a:off x="411480" y="1659636"/>
            <a:ext cx="5577840" cy="333756"/>
          </a:xfrm>
          <a:prstGeom prst="rect">
            <a:avLst/>
          </a:prstGeom>
          <a:solidFill>
            <a:srgbClr val="F7F9FB"/>
          </a:solidFill>
          <a:ln w="5080">
            <a:solidFill>
              <a:srgbClr val="D3DCE5"/>
            </a:solidFill>
            <a:prstDash val="solid"/>
          </a:ln>
        </p:spPr>
      </p:sp>
      <p:sp>
        <p:nvSpPr>
          <p:cNvPr id="14" name="Text 12"/>
          <p:cNvSpPr txBox="1"/>
          <p:nvPr/>
        </p:nvSpPr>
        <p:spPr>
          <a:xfrm>
            <a:off x="502920" y="1659636"/>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SC6</a:t>
            </a:r>
            <a:endParaRPr lang="en-US" sz="840" dirty="0"/>
          </a:p>
        </p:txBody>
      </p:sp>
      <p:sp>
        <p:nvSpPr>
          <p:cNvPr id="15" name="Text 13"/>
          <p:cNvSpPr txBox="1"/>
          <p:nvPr/>
        </p:nvSpPr>
        <p:spPr>
          <a:xfrm>
            <a:off x="2148840" y="1659636"/>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Industry benchmark grade of 6.0% lithium oxide. PLS ships below it, so it realises less per tonne.</a:t>
            </a:r>
            <a:endParaRPr lang="en-US" sz="780" dirty="0"/>
          </a:p>
        </p:txBody>
      </p:sp>
      <p:sp>
        <p:nvSpPr>
          <p:cNvPr id="16" name="Shape 14"/>
          <p:cNvSpPr/>
          <p:nvPr/>
        </p:nvSpPr>
        <p:spPr>
          <a:xfrm>
            <a:off x="6153912" y="1659636"/>
            <a:ext cx="5577840" cy="333756"/>
          </a:xfrm>
          <a:prstGeom prst="rect">
            <a:avLst/>
          </a:prstGeom>
          <a:solidFill>
            <a:srgbClr val="F7F9FB"/>
          </a:solidFill>
          <a:ln w="5080">
            <a:solidFill>
              <a:srgbClr val="D3DCE5"/>
            </a:solidFill>
            <a:prstDash val="solid"/>
          </a:ln>
        </p:spPr>
      </p:sp>
      <p:sp>
        <p:nvSpPr>
          <p:cNvPr id="17" name="Text 15"/>
          <p:cNvSpPr txBox="1"/>
          <p:nvPr/>
        </p:nvSpPr>
        <p:spPr>
          <a:xfrm>
            <a:off x="6245352" y="1659636"/>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Li2O</a:t>
            </a:r>
            <a:endParaRPr lang="en-US" sz="840" dirty="0"/>
          </a:p>
        </p:txBody>
      </p:sp>
      <p:sp>
        <p:nvSpPr>
          <p:cNvPr id="18" name="Text 16"/>
          <p:cNvSpPr txBox="1"/>
          <p:nvPr/>
        </p:nvSpPr>
        <p:spPr>
          <a:xfrm>
            <a:off x="7891272" y="1659636"/>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Lithium oxide. How lithium content in rock is measured.</a:t>
            </a:r>
            <a:endParaRPr lang="en-US" sz="780" dirty="0"/>
          </a:p>
        </p:txBody>
      </p:sp>
      <p:sp>
        <p:nvSpPr>
          <p:cNvPr id="19" name="Shape 17"/>
          <p:cNvSpPr/>
          <p:nvPr/>
        </p:nvSpPr>
        <p:spPr>
          <a:xfrm>
            <a:off x="411480" y="2020824"/>
            <a:ext cx="5577840" cy="333756"/>
          </a:xfrm>
          <a:prstGeom prst="rect">
            <a:avLst/>
          </a:prstGeom>
          <a:solidFill>
            <a:srgbClr val="FFFFFF"/>
          </a:solidFill>
          <a:ln w="5080">
            <a:solidFill>
              <a:srgbClr val="D3DCE5"/>
            </a:solidFill>
            <a:prstDash val="solid"/>
          </a:ln>
        </p:spPr>
      </p:sp>
      <p:sp>
        <p:nvSpPr>
          <p:cNvPr id="20" name="Text 18"/>
          <p:cNvSpPr txBox="1"/>
          <p:nvPr/>
        </p:nvSpPr>
        <p:spPr>
          <a:xfrm>
            <a:off x="502920" y="2020824"/>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LCE</a:t>
            </a:r>
            <a:endParaRPr lang="en-US" sz="840" dirty="0"/>
          </a:p>
        </p:txBody>
      </p:sp>
      <p:sp>
        <p:nvSpPr>
          <p:cNvPr id="21" name="Text 19"/>
          <p:cNvSpPr txBox="1"/>
          <p:nvPr/>
        </p:nvSpPr>
        <p:spPr>
          <a:xfrm>
            <a:off x="2148840" y="2020824"/>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Lithium carbonate equivalent. The common unit for comparing lithium across chemical forms.</a:t>
            </a:r>
            <a:endParaRPr lang="en-US" sz="780" dirty="0"/>
          </a:p>
        </p:txBody>
      </p:sp>
      <p:sp>
        <p:nvSpPr>
          <p:cNvPr id="22" name="Shape 20"/>
          <p:cNvSpPr/>
          <p:nvPr/>
        </p:nvSpPr>
        <p:spPr>
          <a:xfrm>
            <a:off x="6153912" y="2020824"/>
            <a:ext cx="5577840" cy="333756"/>
          </a:xfrm>
          <a:prstGeom prst="rect">
            <a:avLst/>
          </a:prstGeom>
          <a:solidFill>
            <a:srgbClr val="FFFFFF"/>
          </a:solidFill>
          <a:ln w="5080">
            <a:solidFill>
              <a:srgbClr val="D3DCE5"/>
            </a:solidFill>
            <a:prstDash val="solid"/>
          </a:ln>
        </p:spPr>
      </p:sp>
      <p:sp>
        <p:nvSpPr>
          <p:cNvPr id="23" name="Text 21"/>
          <p:cNvSpPr txBox="1"/>
          <p:nvPr/>
        </p:nvSpPr>
        <p:spPr>
          <a:xfrm>
            <a:off x="6245352" y="2020824"/>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FOB</a:t>
            </a:r>
            <a:endParaRPr lang="en-US" sz="840" dirty="0"/>
          </a:p>
        </p:txBody>
      </p:sp>
      <p:sp>
        <p:nvSpPr>
          <p:cNvPr id="24" name="Text 22"/>
          <p:cNvSpPr txBox="1"/>
          <p:nvPr/>
        </p:nvSpPr>
        <p:spPr>
          <a:xfrm>
            <a:off x="7891272" y="2020824"/>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Free on board. The cost to get product onto the ship, excluding freight to the customer.</a:t>
            </a:r>
            <a:endParaRPr lang="en-US" sz="780" dirty="0"/>
          </a:p>
        </p:txBody>
      </p:sp>
      <p:sp>
        <p:nvSpPr>
          <p:cNvPr id="25" name="Shape 23"/>
          <p:cNvSpPr/>
          <p:nvPr/>
        </p:nvSpPr>
        <p:spPr>
          <a:xfrm>
            <a:off x="411480" y="2382012"/>
            <a:ext cx="5577840" cy="333756"/>
          </a:xfrm>
          <a:prstGeom prst="rect">
            <a:avLst/>
          </a:prstGeom>
          <a:solidFill>
            <a:srgbClr val="F7F9FB"/>
          </a:solidFill>
          <a:ln w="5080">
            <a:solidFill>
              <a:srgbClr val="D3DCE5"/>
            </a:solidFill>
            <a:prstDash val="solid"/>
          </a:ln>
        </p:spPr>
      </p:sp>
      <p:sp>
        <p:nvSpPr>
          <p:cNvPr id="26" name="Text 24"/>
          <p:cNvSpPr txBox="1"/>
          <p:nvPr/>
        </p:nvSpPr>
        <p:spPr>
          <a:xfrm>
            <a:off x="502920" y="2382012"/>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CIF</a:t>
            </a:r>
            <a:endParaRPr lang="en-US" sz="840" dirty="0"/>
          </a:p>
        </p:txBody>
      </p:sp>
      <p:sp>
        <p:nvSpPr>
          <p:cNvPr id="27" name="Text 25"/>
          <p:cNvSpPr txBox="1"/>
          <p:nvPr/>
        </p:nvSpPr>
        <p:spPr>
          <a:xfrm>
            <a:off x="2148840" y="2382012"/>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Cost, insurance and freight. A delivered price including shipping.</a:t>
            </a:r>
            <a:endParaRPr lang="en-US" sz="780" dirty="0"/>
          </a:p>
        </p:txBody>
      </p:sp>
      <p:sp>
        <p:nvSpPr>
          <p:cNvPr id="28" name="Shape 26"/>
          <p:cNvSpPr/>
          <p:nvPr/>
        </p:nvSpPr>
        <p:spPr>
          <a:xfrm>
            <a:off x="6153912" y="2382012"/>
            <a:ext cx="5577840" cy="333756"/>
          </a:xfrm>
          <a:prstGeom prst="rect">
            <a:avLst/>
          </a:prstGeom>
          <a:solidFill>
            <a:srgbClr val="F7F9FB"/>
          </a:solidFill>
          <a:ln w="5080">
            <a:solidFill>
              <a:srgbClr val="D3DCE5"/>
            </a:solidFill>
            <a:prstDash val="solid"/>
          </a:ln>
        </p:spPr>
      </p:sp>
      <p:sp>
        <p:nvSpPr>
          <p:cNvPr id="29" name="Text 27"/>
          <p:cNvSpPr txBox="1"/>
          <p:nvPr/>
        </p:nvSpPr>
        <p:spPr>
          <a:xfrm>
            <a:off x="6245352" y="2382012"/>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Mass pull</a:t>
            </a:r>
            <a:endParaRPr lang="en-US" sz="840" dirty="0"/>
          </a:p>
        </p:txBody>
      </p:sp>
      <p:sp>
        <p:nvSpPr>
          <p:cNvPr id="30" name="Text 28"/>
          <p:cNvSpPr txBox="1"/>
          <p:nvPr/>
        </p:nvSpPr>
        <p:spPr>
          <a:xfrm>
            <a:off x="7891272" y="2382012"/>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Tonnes of concentrate produced per tonne of ore processed. PLS is about 17.5%.</a:t>
            </a:r>
            <a:endParaRPr lang="en-US" sz="780" dirty="0"/>
          </a:p>
        </p:txBody>
      </p:sp>
      <p:sp>
        <p:nvSpPr>
          <p:cNvPr id="31" name="Shape 29"/>
          <p:cNvSpPr/>
          <p:nvPr/>
        </p:nvSpPr>
        <p:spPr>
          <a:xfrm>
            <a:off x="411480" y="2743200"/>
            <a:ext cx="5577840" cy="333756"/>
          </a:xfrm>
          <a:prstGeom prst="rect">
            <a:avLst/>
          </a:prstGeom>
          <a:solidFill>
            <a:srgbClr val="FFFFFF"/>
          </a:solidFill>
          <a:ln w="5080">
            <a:solidFill>
              <a:srgbClr val="D3DCE5"/>
            </a:solidFill>
            <a:prstDash val="solid"/>
          </a:ln>
        </p:spPr>
      </p:sp>
      <p:sp>
        <p:nvSpPr>
          <p:cNvPr id="32" name="Text 30"/>
          <p:cNvSpPr txBox="1"/>
          <p:nvPr/>
        </p:nvSpPr>
        <p:spPr>
          <a:xfrm>
            <a:off x="502920" y="2743200"/>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Calcination</a:t>
            </a:r>
            <a:endParaRPr lang="en-US" sz="840" dirty="0"/>
          </a:p>
        </p:txBody>
      </p:sp>
      <p:sp>
        <p:nvSpPr>
          <p:cNvPr id="33" name="Text 31"/>
          <p:cNvSpPr txBox="1"/>
          <p:nvPr/>
        </p:nvSpPr>
        <p:spPr>
          <a:xfrm>
            <a:off x="2148840" y="2743200"/>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Heating concentrate to convert the mineral structure. The most energy-intensive step in the chain.</a:t>
            </a:r>
            <a:endParaRPr lang="en-US" sz="780" dirty="0"/>
          </a:p>
        </p:txBody>
      </p:sp>
      <p:sp>
        <p:nvSpPr>
          <p:cNvPr id="34" name="Shape 32"/>
          <p:cNvSpPr/>
          <p:nvPr/>
        </p:nvSpPr>
        <p:spPr>
          <a:xfrm>
            <a:off x="6153912" y="2743200"/>
            <a:ext cx="5577840" cy="333756"/>
          </a:xfrm>
          <a:prstGeom prst="rect">
            <a:avLst/>
          </a:prstGeom>
          <a:solidFill>
            <a:srgbClr val="FFFFFF"/>
          </a:solidFill>
          <a:ln w="5080">
            <a:solidFill>
              <a:srgbClr val="D3DCE5"/>
            </a:solidFill>
            <a:prstDash val="solid"/>
          </a:ln>
        </p:spPr>
      </p:sp>
      <p:sp>
        <p:nvSpPr>
          <p:cNvPr id="35" name="Text 33"/>
          <p:cNvSpPr txBox="1"/>
          <p:nvPr/>
        </p:nvSpPr>
        <p:spPr>
          <a:xfrm>
            <a:off x="6245352" y="2743200"/>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Lithium phosphate</a:t>
            </a:r>
            <a:endParaRPr lang="en-US" sz="840" dirty="0"/>
          </a:p>
        </p:txBody>
      </p:sp>
      <p:sp>
        <p:nvSpPr>
          <p:cNvPr id="36" name="Text 34"/>
          <p:cNvSpPr txBox="1"/>
          <p:nvPr/>
        </p:nvSpPr>
        <p:spPr>
          <a:xfrm>
            <a:off x="7891272" y="2743200"/>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The mid-stream product PLS's Calix plant will produce, between concentrate and battery chemicals.</a:t>
            </a:r>
            <a:endParaRPr lang="en-US" sz="780" dirty="0"/>
          </a:p>
        </p:txBody>
      </p:sp>
      <p:sp>
        <p:nvSpPr>
          <p:cNvPr id="37" name="Shape 35"/>
          <p:cNvSpPr/>
          <p:nvPr/>
        </p:nvSpPr>
        <p:spPr>
          <a:xfrm>
            <a:off x="411480" y="3104388"/>
            <a:ext cx="5577840" cy="333756"/>
          </a:xfrm>
          <a:prstGeom prst="rect">
            <a:avLst/>
          </a:prstGeom>
          <a:solidFill>
            <a:srgbClr val="F7F9FB"/>
          </a:solidFill>
          <a:ln w="5080">
            <a:solidFill>
              <a:srgbClr val="D3DCE5"/>
            </a:solidFill>
            <a:prstDash val="solid"/>
          </a:ln>
        </p:spPr>
      </p:sp>
      <p:sp>
        <p:nvSpPr>
          <p:cNvPr id="38" name="Text 36"/>
          <p:cNvSpPr txBox="1"/>
          <p:nvPr/>
        </p:nvSpPr>
        <p:spPr>
          <a:xfrm>
            <a:off x="502920" y="3104388"/>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Hydroxide and carbonate</a:t>
            </a:r>
            <a:endParaRPr lang="en-US" sz="840" dirty="0"/>
          </a:p>
        </p:txBody>
      </p:sp>
      <p:sp>
        <p:nvSpPr>
          <p:cNvPr id="39" name="Text 37"/>
          <p:cNvSpPr txBox="1"/>
          <p:nvPr/>
        </p:nvSpPr>
        <p:spPr>
          <a:xfrm>
            <a:off x="2148840" y="3104388"/>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The two battery-grade lithium chemicals. Hydroxide suits nickel-rich cathodes, carbonate suits iron phosphate.</a:t>
            </a:r>
            <a:endParaRPr lang="en-US" sz="780" dirty="0"/>
          </a:p>
        </p:txBody>
      </p:sp>
      <p:sp>
        <p:nvSpPr>
          <p:cNvPr id="40" name="Shape 38"/>
          <p:cNvSpPr/>
          <p:nvPr/>
        </p:nvSpPr>
        <p:spPr>
          <a:xfrm>
            <a:off x="6153912" y="3104388"/>
            <a:ext cx="5577840" cy="333756"/>
          </a:xfrm>
          <a:prstGeom prst="rect">
            <a:avLst/>
          </a:prstGeom>
          <a:solidFill>
            <a:srgbClr val="F7F9FB"/>
          </a:solidFill>
          <a:ln w="5080">
            <a:solidFill>
              <a:srgbClr val="D3DCE5"/>
            </a:solidFill>
            <a:prstDash val="solid"/>
          </a:ln>
        </p:spPr>
      </p:sp>
      <p:sp>
        <p:nvSpPr>
          <p:cNvPr id="41" name="Text 39"/>
          <p:cNvSpPr txBox="1"/>
          <p:nvPr/>
        </p:nvSpPr>
        <p:spPr>
          <a:xfrm>
            <a:off x="6245352" y="3104388"/>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LFP and NMC</a:t>
            </a:r>
            <a:endParaRPr lang="en-US" sz="840" dirty="0"/>
          </a:p>
        </p:txBody>
      </p:sp>
      <p:sp>
        <p:nvSpPr>
          <p:cNvPr id="42" name="Text 40"/>
          <p:cNvSpPr txBox="1"/>
          <p:nvPr/>
        </p:nvSpPr>
        <p:spPr>
          <a:xfrm>
            <a:off x="7891272" y="3104388"/>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Lithium iron phosphate and nickel manganese cobalt: the two dominant cathode chemistries.</a:t>
            </a:r>
            <a:endParaRPr lang="en-US" sz="780" dirty="0"/>
          </a:p>
        </p:txBody>
      </p:sp>
      <p:sp>
        <p:nvSpPr>
          <p:cNvPr id="43" name="Shape 41"/>
          <p:cNvSpPr/>
          <p:nvPr/>
        </p:nvSpPr>
        <p:spPr>
          <a:xfrm>
            <a:off x="411480" y="3465576"/>
            <a:ext cx="5577840" cy="333756"/>
          </a:xfrm>
          <a:prstGeom prst="rect">
            <a:avLst/>
          </a:prstGeom>
          <a:solidFill>
            <a:srgbClr val="FFFFFF"/>
          </a:solidFill>
          <a:ln w="5080">
            <a:solidFill>
              <a:srgbClr val="D3DCE5"/>
            </a:solidFill>
            <a:prstDash val="solid"/>
          </a:ln>
        </p:spPr>
      </p:sp>
      <p:sp>
        <p:nvSpPr>
          <p:cNvPr id="44" name="Text 42"/>
          <p:cNvSpPr txBox="1"/>
          <p:nvPr/>
        </p:nvSpPr>
        <p:spPr>
          <a:xfrm>
            <a:off x="502920" y="3465576"/>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BESS</a:t>
            </a:r>
            <a:endParaRPr lang="en-US" sz="840" dirty="0"/>
          </a:p>
        </p:txBody>
      </p:sp>
      <p:sp>
        <p:nvSpPr>
          <p:cNvPr id="45" name="Text 43"/>
          <p:cNvSpPr txBox="1"/>
          <p:nvPr/>
        </p:nvSpPr>
        <p:spPr>
          <a:xfrm>
            <a:off x="2148840" y="3465576"/>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Battery energy storage system. Grid-scale storage, now roughly a third of lithium demand.</a:t>
            </a:r>
            <a:endParaRPr lang="en-US" sz="780" dirty="0"/>
          </a:p>
        </p:txBody>
      </p:sp>
      <p:sp>
        <p:nvSpPr>
          <p:cNvPr id="46" name="Shape 44"/>
          <p:cNvSpPr/>
          <p:nvPr/>
        </p:nvSpPr>
        <p:spPr>
          <a:xfrm>
            <a:off x="6153912" y="3465576"/>
            <a:ext cx="5577840" cy="333756"/>
          </a:xfrm>
          <a:prstGeom prst="rect">
            <a:avLst/>
          </a:prstGeom>
          <a:solidFill>
            <a:srgbClr val="FFFFFF"/>
          </a:solidFill>
          <a:ln w="5080">
            <a:solidFill>
              <a:srgbClr val="D3DCE5"/>
            </a:solidFill>
            <a:prstDash val="solid"/>
          </a:ln>
        </p:spPr>
      </p:sp>
      <p:sp>
        <p:nvSpPr>
          <p:cNvPr id="47" name="Text 45"/>
          <p:cNvSpPr txBox="1"/>
          <p:nvPr/>
        </p:nvSpPr>
        <p:spPr>
          <a:xfrm>
            <a:off x="6245352" y="3465576"/>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P680, P1000, P2000</a:t>
            </a:r>
            <a:endParaRPr lang="en-US" sz="840" dirty="0"/>
          </a:p>
        </p:txBody>
      </p:sp>
      <p:sp>
        <p:nvSpPr>
          <p:cNvPr id="48" name="Text 46"/>
          <p:cNvSpPr txBox="1"/>
          <p:nvPr/>
        </p:nvSpPr>
        <p:spPr>
          <a:xfrm>
            <a:off x="7891272" y="3465576"/>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PLS's sequential expansion projects, named for target annual concentrate capacity in thousands of tonnes.</a:t>
            </a:r>
            <a:endParaRPr lang="en-US" sz="780" dirty="0"/>
          </a:p>
        </p:txBody>
      </p:sp>
      <p:sp>
        <p:nvSpPr>
          <p:cNvPr id="49" name="Shape 47"/>
          <p:cNvSpPr/>
          <p:nvPr/>
        </p:nvSpPr>
        <p:spPr>
          <a:xfrm>
            <a:off x="411480" y="3826764"/>
            <a:ext cx="5577840" cy="333756"/>
          </a:xfrm>
          <a:prstGeom prst="rect">
            <a:avLst/>
          </a:prstGeom>
          <a:solidFill>
            <a:srgbClr val="F7F9FB"/>
          </a:solidFill>
          <a:ln w="5080">
            <a:solidFill>
              <a:srgbClr val="D3DCE5"/>
            </a:solidFill>
            <a:prstDash val="solid"/>
          </a:ln>
        </p:spPr>
      </p:sp>
      <p:sp>
        <p:nvSpPr>
          <p:cNvPr id="50" name="Text 48"/>
          <p:cNvSpPr txBox="1"/>
          <p:nvPr/>
        </p:nvSpPr>
        <p:spPr>
          <a:xfrm>
            <a:off x="502920" y="3826764"/>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FID</a:t>
            </a:r>
            <a:endParaRPr lang="en-US" sz="840" dirty="0"/>
          </a:p>
        </p:txBody>
      </p:sp>
      <p:sp>
        <p:nvSpPr>
          <p:cNvPr id="51" name="Text 49"/>
          <p:cNvSpPr txBox="1"/>
          <p:nvPr/>
        </p:nvSpPr>
        <p:spPr>
          <a:xfrm>
            <a:off x="2148840" y="3826764"/>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Final investment decision. The board commitment to build. P2000 has not reached one.</a:t>
            </a:r>
            <a:endParaRPr lang="en-US" sz="780" dirty="0"/>
          </a:p>
        </p:txBody>
      </p:sp>
      <p:sp>
        <p:nvSpPr>
          <p:cNvPr id="52" name="Shape 50"/>
          <p:cNvSpPr/>
          <p:nvPr/>
        </p:nvSpPr>
        <p:spPr>
          <a:xfrm>
            <a:off x="6153912" y="3826764"/>
            <a:ext cx="5577840" cy="333756"/>
          </a:xfrm>
          <a:prstGeom prst="rect">
            <a:avLst/>
          </a:prstGeom>
          <a:solidFill>
            <a:srgbClr val="F7F9FB"/>
          </a:solidFill>
          <a:ln w="5080">
            <a:solidFill>
              <a:srgbClr val="D3DCE5"/>
            </a:solidFill>
            <a:prstDash val="solid"/>
          </a:ln>
        </p:spPr>
      </p:sp>
      <p:sp>
        <p:nvSpPr>
          <p:cNvPr id="53" name="Text 51"/>
          <p:cNvSpPr txBox="1"/>
          <p:nvPr/>
        </p:nvSpPr>
        <p:spPr>
          <a:xfrm>
            <a:off x="6245352" y="3826764"/>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PFS and DFS</a:t>
            </a:r>
            <a:endParaRPr lang="en-US" sz="840" dirty="0"/>
          </a:p>
        </p:txBody>
      </p:sp>
      <p:sp>
        <p:nvSpPr>
          <p:cNvPr id="54" name="Text 52"/>
          <p:cNvSpPr txBox="1"/>
          <p:nvPr/>
        </p:nvSpPr>
        <p:spPr>
          <a:xfrm>
            <a:off x="7891272" y="3826764"/>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Pre-feasibility and definitive feasibility studies. A DFS carries a tighter accuracy range.</a:t>
            </a:r>
            <a:endParaRPr lang="en-US" sz="780" dirty="0"/>
          </a:p>
        </p:txBody>
      </p:sp>
      <p:sp>
        <p:nvSpPr>
          <p:cNvPr id="55" name="Shape 53"/>
          <p:cNvSpPr/>
          <p:nvPr/>
        </p:nvSpPr>
        <p:spPr>
          <a:xfrm>
            <a:off x="411480" y="4187952"/>
            <a:ext cx="5577840" cy="333756"/>
          </a:xfrm>
          <a:prstGeom prst="rect">
            <a:avLst/>
          </a:prstGeom>
          <a:solidFill>
            <a:srgbClr val="FFFFFF"/>
          </a:solidFill>
          <a:ln w="5080">
            <a:solidFill>
              <a:srgbClr val="D3DCE5"/>
            </a:solidFill>
            <a:prstDash val="solid"/>
          </a:ln>
        </p:spPr>
      </p:sp>
      <p:sp>
        <p:nvSpPr>
          <p:cNvPr id="56" name="Text 54"/>
          <p:cNvSpPr txBox="1"/>
          <p:nvPr/>
        </p:nvSpPr>
        <p:spPr>
          <a:xfrm>
            <a:off x="502920" y="4187952"/>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Ore Reserve vs Mineral Resource</a:t>
            </a:r>
            <a:endParaRPr lang="en-US" sz="840" dirty="0"/>
          </a:p>
        </p:txBody>
      </p:sp>
      <p:sp>
        <p:nvSpPr>
          <p:cNvPr id="57" name="Text 55"/>
          <p:cNvSpPr txBox="1"/>
          <p:nvPr/>
        </p:nvSpPr>
        <p:spPr>
          <a:xfrm>
            <a:off x="2148840" y="4187952"/>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A reserve is the economically mineable part of a resource. PLS's reserve statement predates its latest resource.</a:t>
            </a:r>
            <a:endParaRPr lang="en-US" sz="780" dirty="0"/>
          </a:p>
        </p:txBody>
      </p:sp>
      <p:sp>
        <p:nvSpPr>
          <p:cNvPr id="58" name="Shape 56"/>
          <p:cNvSpPr/>
          <p:nvPr/>
        </p:nvSpPr>
        <p:spPr>
          <a:xfrm>
            <a:off x="6153912" y="4187952"/>
            <a:ext cx="5577840" cy="333756"/>
          </a:xfrm>
          <a:prstGeom prst="rect">
            <a:avLst/>
          </a:prstGeom>
          <a:solidFill>
            <a:srgbClr val="FFFFFF"/>
          </a:solidFill>
          <a:ln w="5080">
            <a:solidFill>
              <a:srgbClr val="D3DCE5"/>
            </a:solidFill>
            <a:prstDash val="solid"/>
          </a:ln>
        </p:spPr>
      </p:sp>
      <p:sp>
        <p:nvSpPr>
          <p:cNvPr id="59" name="Text 57"/>
          <p:cNvSpPr txBox="1"/>
          <p:nvPr/>
        </p:nvSpPr>
        <p:spPr>
          <a:xfrm>
            <a:off x="6245352" y="4187952"/>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Scope 1, 2 and 3</a:t>
            </a:r>
            <a:endParaRPr lang="en-US" sz="840" dirty="0"/>
          </a:p>
        </p:txBody>
      </p:sp>
      <p:sp>
        <p:nvSpPr>
          <p:cNvPr id="60" name="Text 58"/>
          <p:cNvSpPr txBox="1"/>
          <p:nvPr/>
        </p:nvSpPr>
        <p:spPr>
          <a:xfrm>
            <a:off x="7891272" y="4187952"/>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Direct emissions, purchased-energy emissions, and everything else in the value chain.</a:t>
            </a:r>
            <a:endParaRPr lang="en-US" sz="780" dirty="0"/>
          </a:p>
        </p:txBody>
      </p:sp>
      <p:sp>
        <p:nvSpPr>
          <p:cNvPr id="61" name="Shape 59"/>
          <p:cNvSpPr/>
          <p:nvPr/>
        </p:nvSpPr>
        <p:spPr>
          <a:xfrm>
            <a:off x="411480" y="4549140"/>
            <a:ext cx="5577840" cy="333756"/>
          </a:xfrm>
          <a:prstGeom prst="rect">
            <a:avLst/>
          </a:prstGeom>
          <a:solidFill>
            <a:srgbClr val="F7F9FB"/>
          </a:solidFill>
          <a:ln w="5080">
            <a:solidFill>
              <a:srgbClr val="D3DCE5"/>
            </a:solidFill>
            <a:prstDash val="solid"/>
          </a:ln>
        </p:spPr>
      </p:sp>
      <p:sp>
        <p:nvSpPr>
          <p:cNvPr id="62" name="Text 60"/>
          <p:cNvSpPr txBox="1"/>
          <p:nvPr/>
        </p:nvSpPr>
        <p:spPr>
          <a:xfrm>
            <a:off x="502920" y="4549140"/>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GISTM</a:t>
            </a:r>
            <a:endParaRPr lang="en-US" sz="840" dirty="0"/>
          </a:p>
        </p:txBody>
      </p:sp>
      <p:sp>
        <p:nvSpPr>
          <p:cNvPr id="63" name="Text 61"/>
          <p:cNvSpPr txBox="1"/>
          <p:nvPr/>
        </p:nvSpPr>
        <p:spPr>
          <a:xfrm>
            <a:off x="2148840" y="4549140"/>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Global Industry Standard on Tailings Management, the post-Brumadinho benchmark for tailings safety.</a:t>
            </a:r>
            <a:endParaRPr lang="en-US" sz="780" dirty="0"/>
          </a:p>
        </p:txBody>
      </p:sp>
      <p:sp>
        <p:nvSpPr>
          <p:cNvPr id="64" name="Shape 62"/>
          <p:cNvSpPr/>
          <p:nvPr/>
        </p:nvSpPr>
        <p:spPr>
          <a:xfrm>
            <a:off x="6153912" y="4549140"/>
            <a:ext cx="5577840" cy="333756"/>
          </a:xfrm>
          <a:prstGeom prst="rect">
            <a:avLst/>
          </a:prstGeom>
          <a:solidFill>
            <a:srgbClr val="F7F9FB"/>
          </a:solidFill>
          <a:ln w="5080">
            <a:solidFill>
              <a:srgbClr val="D3DCE5"/>
            </a:solidFill>
            <a:prstDash val="solid"/>
          </a:ln>
        </p:spPr>
      </p:sp>
      <p:sp>
        <p:nvSpPr>
          <p:cNvPr id="65" name="Text 63"/>
          <p:cNvSpPr txBox="1"/>
          <p:nvPr/>
        </p:nvSpPr>
        <p:spPr>
          <a:xfrm>
            <a:off x="6245352" y="4549140"/>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FEOC</a:t>
            </a:r>
            <a:endParaRPr lang="en-US" sz="840" dirty="0"/>
          </a:p>
        </p:txBody>
      </p:sp>
      <p:sp>
        <p:nvSpPr>
          <p:cNvPr id="66" name="Text 64"/>
          <p:cNvSpPr txBox="1"/>
          <p:nvPr/>
        </p:nvSpPr>
        <p:spPr>
          <a:xfrm>
            <a:off x="7891272" y="4549140"/>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Foreign entity of concern. US rules restricting China-linked supply chains from subsidy eligibility.</a:t>
            </a:r>
            <a:endParaRPr lang="en-US" sz="780" dirty="0"/>
          </a:p>
        </p:txBody>
      </p:sp>
      <p:sp>
        <p:nvSpPr>
          <p:cNvPr id="67" name="Shape 65"/>
          <p:cNvSpPr/>
          <p:nvPr/>
        </p:nvSpPr>
        <p:spPr>
          <a:xfrm>
            <a:off x="411480" y="4910328"/>
            <a:ext cx="5577840" cy="333756"/>
          </a:xfrm>
          <a:prstGeom prst="rect">
            <a:avLst/>
          </a:prstGeom>
          <a:solidFill>
            <a:srgbClr val="FFFFFF"/>
          </a:solidFill>
          <a:ln w="5080">
            <a:solidFill>
              <a:srgbClr val="D3DCE5"/>
            </a:solidFill>
            <a:prstDash val="solid"/>
          </a:ln>
        </p:spPr>
      </p:sp>
      <p:sp>
        <p:nvSpPr>
          <p:cNvPr id="68" name="Text 66"/>
          <p:cNvSpPr txBox="1"/>
          <p:nvPr/>
        </p:nvSpPr>
        <p:spPr>
          <a:xfrm>
            <a:off x="502920" y="4910328"/>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WACC</a:t>
            </a:r>
            <a:endParaRPr lang="en-US" sz="840" dirty="0"/>
          </a:p>
        </p:txBody>
      </p:sp>
      <p:sp>
        <p:nvSpPr>
          <p:cNvPr id="69" name="Text 67"/>
          <p:cNvSpPr txBox="1"/>
          <p:nvPr/>
        </p:nvSpPr>
        <p:spPr>
          <a:xfrm>
            <a:off x="2148840" y="4910328"/>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Weighted average cost of capital. The rate at which we discount future cash flows.</a:t>
            </a:r>
            <a:endParaRPr lang="en-US" sz="780" dirty="0"/>
          </a:p>
        </p:txBody>
      </p:sp>
      <p:sp>
        <p:nvSpPr>
          <p:cNvPr id="70" name="Shape 68"/>
          <p:cNvSpPr/>
          <p:nvPr/>
        </p:nvSpPr>
        <p:spPr>
          <a:xfrm>
            <a:off x="6153912" y="4910328"/>
            <a:ext cx="5577840" cy="333756"/>
          </a:xfrm>
          <a:prstGeom prst="rect">
            <a:avLst/>
          </a:prstGeom>
          <a:solidFill>
            <a:srgbClr val="FFFFFF"/>
          </a:solidFill>
          <a:ln w="5080">
            <a:solidFill>
              <a:srgbClr val="D3DCE5"/>
            </a:solidFill>
            <a:prstDash val="solid"/>
          </a:ln>
        </p:spPr>
      </p:sp>
      <p:sp>
        <p:nvSpPr>
          <p:cNvPr id="71" name="Text 69"/>
          <p:cNvSpPr txBox="1"/>
          <p:nvPr/>
        </p:nvSpPr>
        <p:spPr>
          <a:xfrm>
            <a:off x="6245352" y="4910328"/>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FCFF</a:t>
            </a:r>
            <a:endParaRPr lang="en-US" sz="840" dirty="0"/>
          </a:p>
        </p:txBody>
      </p:sp>
      <p:sp>
        <p:nvSpPr>
          <p:cNvPr id="72" name="Text 70"/>
          <p:cNvSpPr txBox="1"/>
          <p:nvPr/>
        </p:nvSpPr>
        <p:spPr>
          <a:xfrm>
            <a:off x="7891272" y="4910328"/>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Free cash flow to the firm. Cash generated before financing decisions - what the DCF values.</a:t>
            </a:r>
            <a:endParaRPr lang="en-US" sz="780" dirty="0"/>
          </a:p>
        </p:txBody>
      </p:sp>
      <p:sp>
        <p:nvSpPr>
          <p:cNvPr id="73" name="Shape 71"/>
          <p:cNvSpPr/>
          <p:nvPr/>
        </p:nvSpPr>
        <p:spPr>
          <a:xfrm>
            <a:off x="411480" y="5271516"/>
            <a:ext cx="5577840" cy="333756"/>
          </a:xfrm>
          <a:prstGeom prst="rect">
            <a:avLst/>
          </a:prstGeom>
          <a:solidFill>
            <a:srgbClr val="F7F9FB"/>
          </a:solidFill>
          <a:ln w="5080">
            <a:solidFill>
              <a:srgbClr val="D3DCE5"/>
            </a:solidFill>
            <a:prstDash val="solid"/>
          </a:ln>
        </p:spPr>
      </p:sp>
      <p:sp>
        <p:nvSpPr>
          <p:cNvPr id="74" name="Text 72"/>
          <p:cNvSpPr txBox="1"/>
          <p:nvPr/>
        </p:nvSpPr>
        <p:spPr>
          <a:xfrm>
            <a:off x="502920" y="5271516"/>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Terminal value</a:t>
            </a:r>
            <a:endParaRPr lang="en-US" sz="840" dirty="0"/>
          </a:p>
        </p:txBody>
      </p:sp>
      <p:sp>
        <p:nvSpPr>
          <p:cNvPr id="75" name="Text 73"/>
          <p:cNvSpPr txBox="1"/>
          <p:nvPr/>
        </p:nvSpPr>
        <p:spPr>
          <a:xfrm>
            <a:off x="2148840" y="5271516"/>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The value of cash flows beyond the explicit forecast. Ours is an annuity, not a perpetuity.</a:t>
            </a:r>
            <a:endParaRPr lang="en-US" sz="780" dirty="0"/>
          </a:p>
        </p:txBody>
      </p:sp>
      <p:sp>
        <p:nvSpPr>
          <p:cNvPr id="76" name="Shape 74"/>
          <p:cNvSpPr/>
          <p:nvPr/>
        </p:nvSpPr>
        <p:spPr>
          <a:xfrm>
            <a:off x="6153912" y="5271516"/>
            <a:ext cx="5577840" cy="333756"/>
          </a:xfrm>
          <a:prstGeom prst="rect">
            <a:avLst/>
          </a:prstGeom>
          <a:solidFill>
            <a:srgbClr val="F7F9FB"/>
          </a:solidFill>
          <a:ln w="5080">
            <a:solidFill>
              <a:srgbClr val="D3DCE5"/>
            </a:solidFill>
            <a:prstDash val="solid"/>
          </a:ln>
        </p:spPr>
      </p:sp>
      <p:sp>
        <p:nvSpPr>
          <p:cNvPr id="77" name="Text 75"/>
          <p:cNvSpPr txBox="1"/>
          <p:nvPr/>
        </p:nvSpPr>
        <p:spPr>
          <a:xfrm>
            <a:off x="6245352" y="5271516"/>
            <a:ext cx="1600200" cy="333756"/>
          </a:xfrm>
          <a:prstGeom prst="rect">
            <a:avLst/>
          </a:prstGeom>
          <a:noFill/>
          <a:ln/>
        </p:spPr>
        <p:txBody>
          <a:bodyPr wrap="square" lIns="0" tIns="0" rIns="0" bIns="0" rtlCol="0" anchor="ctr"/>
          <a:lstStyle/>
          <a:p>
            <a:pPr indent="0" marL="0">
              <a:buNone/>
            </a:pPr>
            <a:r>
              <a:rPr lang="en-US" sz="840" b="1" dirty="0">
                <a:solidFill>
                  <a:srgbClr val="10233A"/>
                </a:solidFill>
                <a:latin typeface="Calibri" pitchFamily="34" charset="0"/>
                <a:ea typeface="Calibri" pitchFamily="34" charset="-122"/>
                <a:cs typeface="Calibri" pitchFamily="34" charset="-120"/>
              </a:rPr>
              <a:t>Fly-in fly-out</a:t>
            </a:r>
            <a:endParaRPr lang="en-US" sz="840" dirty="0"/>
          </a:p>
        </p:txBody>
      </p:sp>
      <p:sp>
        <p:nvSpPr>
          <p:cNvPr id="78" name="Text 76"/>
          <p:cNvSpPr txBox="1"/>
          <p:nvPr/>
        </p:nvSpPr>
        <p:spPr>
          <a:xfrm>
            <a:off x="7891272" y="5271516"/>
            <a:ext cx="3767328" cy="333756"/>
          </a:xfrm>
          <a:prstGeom prst="rect">
            <a:avLst/>
          </a:prstGeom>
          <a:noFill/>
          <a:ln/>
        </p:spPr>
        <p:txBody>
          <a:bodyPr wrap="square" lIns="0" tIns="0" rIns="0" bIns="0" rtlCol="0" anchor="ctr"/>
          <a:lstStyle/>
          <a:p>
            <a:pPr indent="0" marL="0">
              <a:lnSpc>
                <a:spcPct val="100000"/>
              </a:lnSpc>
              <a:buNone/>
            </a:pPr>
            <a:r>
              <a:rPr lang="en-US" sz="780" dirty="0">
                <a:solidFill>
                  <a:srgbClr val="1B2733"/>
                </a:solidFill>
                <a:latin typeface="Calibri" pitchFamily="34" charset="0"/>
                <a:ea typeface="Calibri" pitchFamily="34" charset="-122"/>
                <a:cs typeface="Calibri" pitchFamily="34" charset="-120"/>
              </a:rPr>
              <a:t>The Pilbara workforce model, and the context for psychosocial safety scrutiny.</a:t>
            </a:r>
            <a:endParaRPr lang="en-US" sz="780" dirty="0"/>
          </a:p>
        </p:txBody>
      </p:sp>
      <p:sp>
        <p:nvSpPr>
          <p:cNvPr id="79" name="Text 77"/>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Definitions are the team's, written for a general reader. Where a term has a formal technical definition, that definition governs.</a:t>
            </a:r>
            <a:endParaRPr lang="en-US" sz="720" dirty="0"/>
          </a:p>
        </p:txBody>
      </p:sp>
      <p:sp>
        <p:nvSpPr>
          <p:cNvPr id="80" name="Text 78"/>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F5</a:t>
            </a:r>
            <a:endParaRPr lang="en-US" sz="8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550" b="1" dirty="0">
                <a:solidFill>
                  <a:srgbClr val="FFFFFF"/>
                </a:solidFill>
                <a:latin typeface="Cambria" pitchFamily="34" charset="0"/>
                <a:ea typeface="Cambria" pitchFamily="34" charset="-122"/>
                <a:cs typeface="Cambria" pitchFamily="34" charset="-120"/>
              </a:rPr>
              <a:t>Grouped by what each source supports. Every figure in this submission traces to one of these or to the workbook's source register.</a:t>
            </a:r>
            <a:endParaRPr lang="en-US" sz="155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F6  Risk and reference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1375136" cy="1689811"/>
          </a:xfrm>
          <a:prstGeom prst="rect">
            <a:avLst/>
          </a:prstGeom>
          <a:solidFill>
            <a:srgbClr val="F7F9FB"/>
          </a:solidFill>
          <a:ln w="9525">
            <a:solidFill>
              <a:srgbClr val="D3DCE5"/>
            </a:solidFill>
            <a:prstDash val="solid"/>
          </a:ln>
        </p:spPr>
      </p:sp>
      <p:sp>
        <p:nvSpPr>
          <p:cNvPr id="8" name="Text 6"/>
          <p:cNvSpPr txBox="1"/>
          <p:nvPr/>
        </p:nvSpPr>
        <p:spPr>
          <a:xfrm>
            <a:off x="576072" y="1426464"/>
            <a:ext cx="11064240" cy="274320"/>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Company disclosure</a:t>
            </a:r>
            <a:endParaRPr lang="en-US" sz="1150" dirty="0"/>
          </a:p>
        </p:txBody>
      </p:sp>
      <p:sp>
        <p:nvSpPr>
          <p:cNvPr id="9" name="Text 7"/>
          <p:cNvSpPr txBox="1"/>
          <p:nvPr/>
        </p:nvSpPr>
        <p:spPr>
          <a:xfrm>
            <a:off x="594360" y="1773936"/>
            <a:ext cx="5394960" cy="1104595"/>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PLS Group FY26 results and investor presentation, 24 August 2026</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PLS Group June-2026 quarterly activities report, 30 July 2026</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PLS Group Mineral Resource update, June 2025; Ore Reserve statement, August 2023</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P2000 Pre-Feasibility Study announcement, 21 June 2024; pre-FID capital approval, June 2026</a:t>
            </a:r>
            <a:endParaRPr lang="en-US" sz="860" dirty="0"/>
          </a:p>
        </p:txBody>
      </p:sp>
      <p:sp>
        <p:nvSpPr>
          <p:cNvPr id="10" name="Text 8"/>
          <p:cNvSpPr txBox="1"/>
          <p:nvPr/>
        </p:nvSpPr>
        <p:spPr>
          <a:xfrm>
            <a:off x="6208776" y="1773936"/>
            <a:ext cx="5394960" cy="1104595"/>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Ngungaju care and maintenance (Dec 2024) and restart announcements</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Latin Resources scheme documents and completion announcements</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Calix Limited announcements on the mid-stream demonstration plant</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POSCO Holdings and POSCO Pilbara Lithium Solution disclosures</a:t>
            </a:r>
            <a:endParaRPr lang="en-US" sz="860" dirty="0"/>
          </a:p>
        </p:txBody>
      </p:sp>
      <p:sp>
        <p:nvSpPr>
          <p:cNvPr id="11" name="Shape 9"/>
          <p:cNvSpPr/>
          <p:nvPr/>
        </p:nvSpPr>
        <p:spPr>
          <a:xfrm>
            <a:off x="411480" y="3097987"/>
            <a:ext cx="11375136" cy="1689811"/>
          </a:xfrm>
          <a:prstGeom prst="rect">
            <a:avLst/>
          </a:prstGeom>
          <a:solidFill>
            <a:srgbClr val="F7F9FB"/>
          </a:solidFill>
          <a:ln w="9525">
            <a:solidFill>
              <a:srgbClr val="D3DCE5"/>
            </a:solidFill>
            <a:prstDash val="solid"/>
          </a:ln>
        </p:spPr>
      </p:sp>
      <p:sp>
        <p:nvSpPr>
          <p:cNvPr id="12" name="Text 10"/>
          <p:cNvSpPr txBox="1"/>
          <p:nvPr/>
        </p:nvSpPr>
        <p:spPr>
          <a:xfrm>
            <a:off x="576072" y="3226003"/>
            <a:ext cx="11064240" cy="274320"/>
          </a:xfrm>
          <a:prstGeom prst="rect">
            <a:avLst/>
          </a:prstGeom>
          <a:noFill/>
          <a:ln/>
        </p:spPr>
        <p:txBody>
          <a:bodyPr wrap="square" lIns="0" tIns="0" rIns="0" bIns="0" rtlCol="0" anchor="ctr"/>
          <a:lstStyle/>
          <a:p>
            <a:pPr indent="0" marL="0">
              <a:buNone/>
            </a:pPr>
            <a:r>
              <a:rPr lang="en-US" sz="1150" b="1" dirty="0">
                <a:solidFill>
                  <a:srgbClr val="1C3A5E"/>
                </a:solidFill>
                <a:latin typeface="Calibri" pitchFamily="34" charset="0"/>
                <a:ea typeface="Calibri" pitchFamily="34" charset="-122"/>
                <a:cs typeface="Calibri" pitchFamily="34" charset="-120"/>
              </a:rPr>
              <a:t>Market and commodity</a:t>
            </a:r>
            <a:endParaRPr lang="en-US" sz="1150" dirty="0"/>
          </a:p>
        </p:txBody>
      </p:sp>
      <p:sp>
        <p:nvSpPr>
          <p:cNvPr id="13" name="Text 11"/>
          <p:cNvSpPr txBox="1"/>
          <p:nvPr/>
        </p:nvSpPr>
        <p:spPr>
          <a:xfrm>
            <a:off x="594360" y="3573475"/>
            <a:ext cx="5394960" cy="1104595"/>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Benchmark Mineral Intelligence price assessments and incentive-price analysis</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S&amp;P Global Platts SpodIX assessments; S&amp;P Global Market Intelligence Mine Cost Outlook, January 2026</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CRU Group cost-curve analysis</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Australian Government Resources and Energy Quarterly, June 2026</a:t>
            </a:r>
            <a:endParaRPr lang="en-US" sz="860" dirty="0"/>
          </a:p>
        </p:txBody>
      </p:sp>
      <p:sp>
        <p:nvSpPr>
          <p:cNvPr id="14" name="Text 12"/>
          <p:cNvSpPr txBox="1"/>
          <p:nvPr/>
        </p:nvSpPr>
        <p:spPr>
          <a:xfrm>
            <a:off x="6208776" y="3573475"/>
            <a:ext cx="5394960" cy="1104595"/>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Wood Mackenzie Lithium Energy Transition Outlook, 3 March 2026</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Fastmarkets, Morgan Stanley, UBS and Macquarie market-balance commentary</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IEA Global Critical Minerals Outlook 2026 and Global EV Outlook</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Trading Economics and SMM lithium price series</a:t>
            </a:r>
            <a:endParaRPr lang="en-US" sz="860" dirty="0"/>
          </a:p>
        </p:txBody>
      </p:sp>
      <p:sp>
        <p:nvSpPr>
          <p:cNvPr id="15" name="Shape 13"/>
          <p:cNvSpPr/>
          <p:nvPr/>
        </p:nvSpPr>
        <p:spPr>
          <a:xfrm>
            <a:off x="411480" y="4897526"/>
            <a:ext cx="11375136" cy="1137514"/>
          </a:xfrm>
          <a:prstGeom prst="rect">
            <a:avLst/>
          </a:prstGeom>
          <a:solidFill>
            <a:srgbClr val="F7F9FB"/>
          </a:solidFill>
          <a:ln w="9525">
            <a:solidFill>
              <a:srgbClr val="D3DCE5"/>
            </a:solidFill>
            <a:prstDash val="solid"/>
          </a:ln>
        </p:spPr>
      </p:sp>
      <p:sp>
        <p:nvSpPr>
          <p:cNvPr id="16" name="Text 14"/>
          <p:cNvSpPr txBox="1"/>
          <p:nvPr/>
        </p:nvSpPr>
        <p:spPr>
          <a:xfrm>
            <a:off x="576072" y="5025542"/>
            <a:ext cx="11064240" cy="274320"/>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Policy and regulation</a:t>
            </a:r>
            <a:endParaRPr lang="en-US" sz="1150" dirty="0"/>
          </a:p>
        </p:txBody>
      </p:sp>
      <p:sp>
        <p:nvSpPr>
          <p:cNvPr id="17" name="Text 15"/>
          <p:cNvSpPr txBox="1"/>
          <p:nvPr/>
        </p:nvSpPr>
        <p:spPr>
          <a:xfrm>
            <a:off x="594360" y="5373014"/>
            <a:ext cx="5394960" cy="552298"/>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EU Regulation 2023/1542 on batteries and waste batteries (carbon footprint declaration, battery passport)</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US Inflation Reduction Act foreign-entity-of-concern provisions</a:t>
            </a:r>
            <a:endParaRPr lang="en-US" sz="860" dirty="0"/>
          </a:p>
        </p:txBody>
      </p:sp>
      <p:sp>
        <p:nvSpPr>
          <p:cNvPr id="18" name="Text 16"/>
          <p:cNvSpPr txBox="1"/>
          <p:nvPr/>
        </p:nvSpPr>
        <p:spPr>
          <a:xfrm>
            <a:off x="6208776" y="5373014"/>
            <a:ext cx="5394960" cy="552298"/>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Australian Critical Minerals Production Tax Incentive</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Government of Zimbabwe raw mineral export ban, 25 February 2026</a:t>
            </a:r>
            <a:endParaRPr lang="en-US" sz="860" dirty="0"/>
          </a:p>
        </p:txBody>
      </p:sp>
      <p:sp>
        <p:nvSpPr>
          <p:cNvPr id="19" name="Text 17"/>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Research constraint: company websites and the ASX announcements platform were not reachable from our environment, so company disclosures were accessed through secondary reporting and corroborated across independent sources. See F4 for the full gaps register.</a:t>
            </a:r>
            <a:endParaRPr lang="en-US" sz="720" dirty="0"/>
          </a:p>
        </p:txBody>
      </p:sp>
      <p:sp>
        <p:nvSpPr>
          <p:cNvPr id="20" name="Text 18"/>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F6</a:t>
            </a:r>
            <a:endParaRPr lang="en-US" sz="8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mbria" pitchFamily="34" charset="0"/>
                <a:ea typeface="Cambria" pitchFamily="34" charset="-122"/>
                <a:cs typeface="Cambria" pitchFamily="34" charset="-120"/>
              </a:rPr>
              <a:t>The ESG evidence, the strategy frameworks, and the peer data behind the comparables.</a:t>
            </a:r>
            <a:endParaRPr lang="en-US" sz="170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F6 cont.  Risk and reference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11375136" cy="1620774"/>
          </a:xfrm>
          <a:prstGeom prst="rect">
            <a:avLst/>
          </a:prstGeom>
          <a:solidFill>
            <a:srgbClr val="F7F9FB"/>
          </a:solidFill>
          <a:ln w="9525">
            <a:solidFill>
              <a:srgbClr val="D3DCE5"/>
            </a:solidFill>
            <a:prstDash val="solid"/>
          </a:ln>
        </p:spPr>
      </p:sp>
      <p:sp>
        <p:nvSpPr>
          <p:cNvPr id="8" name="Text 6"/>
          <p:cNvSpPr txBox="1"/>
          <p:nvPr/>
        </p:nvSpPr>
        <p:spPr>
          <a:xfrm>
            <a:off x="576072" y="1426464"/>
            <a:ext cx="11064240" cy="274320"/>
          </a:xfrm>
          <a:prstGeom prst="rect">
            <a:avLst/>
          </a:prstGeom>
          <a:noFill/>
          <a:ln/>
        </p:spPr>
        <p:txBody>
          <a:bodyPr wrap="square" lIns="0" tIns="0" rIns="0" bIns="0" rtlCol="0" anchor="ctr"/>
          <a:lstStyle/>
          <a:p>
            <a:pPr indent="0" marL="0">
              <a:buNone/>
            </a:pPr>
            <a:r>
              <a:rPr lang="en-US" sz="1150" b="1" dirty="0">
                <a:solidFill>
                  <a:srgbClr val="A3282C"/>
                </a:solidFill>
                <a:latin typeface="Calibri" pitchFamily="34" charset="0"/>
                <a:ea typeface="Calibri" pitchFamily="34" charset="-122"/>
                <a:cs typeface="Calibri" pitchFamily="34" charset="-120"/>
              </a:rPr>
              <a:t>ESG and social</a:t>
            </a:r>
            <a:endParaRPr lang="en-US" sz="1150" dirty="0"/>
          </a:p>
        </p:txBody>
      </p:sp>
      <p:sp>
        <p:nvSpPr>
          <p:cNvPr id="9" name="Text 7"/>
          <p:cNvSpPr txBox="1"/>
          <p:nvPr/>
        </p:nvSpPr>
        <p:spPr>
          <a:xfrm>
            <a:off x="594360" y="1773936"/>
            <a:ext cx="5394960" cy="1035558"/>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ABC News, 'Pilbara mining offset scheme leaves threatened species short-changed, review finds', 21 October 2024</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Western Australian Department of Biodiversity, Conservation and Attractions - Pilbara Environmental Offsets Fund</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Australian Parliament Joint Standing Committee on Northern Australia - Juukan Gorge inquiry</a:t>
            </a:r>
            <a:endParaRPr lang="en-US" sz="860" dirty="0"/>
          </a:p>
        </p:txBody>
      </p:sp>
      <p:sp>
        <p:nvSpPr>
          <p:cNvPr id="10" name="Text 8"/>
          <p:cNvSpPr txBox="1"/>
          <p:nvPr/>
        </p:nvSpPr>
        <p:spPr>
          <a:xfrm>
            <a:off x="6208776" y="1773936"/>
            <a:ext cx="5394960" cy="1035558"/>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TOMRA Mining and Global Mining Review on the Pilgangoora ore sorter</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ARENA, 'ARENA backs low emissions lithium refining in WA'</a:t>
            </a:r>
            <a:endParaRPr lang="en-US" sz="860" dirty="0"/>
          </a:p>
        </p:txBody>
      </p:sp>
      <p:sp>
        <p:nvSpPr>
          <p:cNvPr id="11" name="Shape 9"/>
          <p:cNvSpPr/>
          <p:nvPr/>
        </p:nvSpPr>
        <p:spPr>
          <a:xfrm>
            <a:off x="411480" y="3028950"/>
            <a:ext cx="11375136" cy="1620774"/>
          </a:xfrm>
          <a:prstGeom prst="rect">
            <a:avLst/>
          </a:prstGeom>
          <a:solidFill>
            <a:srgbClr val="F7F9FB"/>
          </a:solidFill>
          <a:ln w="9525">
            <a:solidFill>
              <a:srgbClr val="D3DCE5"/>
            </a:solidFill>
            <a:prstDash val="solid"/>
          </a:ln>
        </p:spPr>
      </p:sp>
      <p:sp>
        <p:nvSpPr>
          <p:cNvPr id="12" name="Text 10"/>
          <p:cNvSpPr txBox="1"/>
          <p:nvPr/>
        </p:nvSpPr>
        <p:spPr>
          <a:xfrm>
            <a:off x="576072" y="3156966"/>
            <a:ext cx="11064240" cy="274320"/>
          </a:xfrm>
          <a:prstGeom prst="rect">
            <a:avLst/>
          </a:prstGeom>
          <a:noFill/>
          <a:ln/>
        </p:spPr>
        <p:txBody>
          <a:bodyPr wrap="square" lIns="0" tIns="0" rIns="0" bIns="0" rtlCol="0" anchor="ctr"/>
          <a:lstStyle/>
          <a:p>
            <a:pPr indent="0" marL="0">
              <a:buNone/>
            </a:pPr>
            <a:r>
              <a:rPr lang="en-US" sz="1150" b="1" dirty="0">
                <a:solidFill>
                  <a:srgbClr val="5F7183"/>
                </a:solidFill>
                <a:latin typeface="Calibri" pitchFamily="34" charset="0"/>
                <a:ea typeface="Calibri" pitchFamily="34" charset="-122"/>
                <a:cs typeface="Calibri" pitchFamily="34" charset="-120"/>
              </a:rPr>
              <a:t>Frameworks</a:t>
            </a:r>
            <a:endParaRPr lang="en-US" sz="1150" dirty="0"/>
          </a:p>
        </p:txBody>
      </p:sp>
      <p:sp>
        <p:nvSpPr>
          <p:cNvPr id="13" name="Text 11"/>
          <p:cNvSpPr txBox="1"/>
          <p:nvPr/>
        </p:nvSpPr>
        <p:spPr>
          <a:xfrm>
            <a:off x="594360" y="3504438"/>
            <a:ext cx="5394960" cy="1035558"/>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Porter, M. and Kramer, M., 'Creating Shared Value', Harvard Business Review, 2011</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Porter, M., 'How Competitive Forces Shape Strategy', Harvard Business Review, 1979</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Helmer, H., '7 Powers: The Foundations of Business Strategy', 2016</a:t>
            </a:r>
            <a:endParaRPr lang="en-US" sz="860" dirty="0"/>
          </a:p>
        </p:txBody>
      </p:sp>
      <p:sp>
        <p:nvSpPr>
          <p:cNvPr id="14" name="Text 12"/>
          <p:cNvSpPr txBox="1"/>
          <p:nvPr/>
        </p:nvSpPr>
        <p:spPr>
          <a:xfrm>
            <a:off x="6208776" y="3504438"/>
            <a:ext cx="5394960" cy="1035558"/>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Yip, G., 'Barriers to Entry', 1982</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SASB Metals and Mining sustainability accounting standard</a:t>
            </a:r>
            <a:endParaRPr lang="en-US" sz="860" dirty="0"/>
          </a:p>
        </p:txBody>
      </p:sp>
      <p:sp>
        <p:nvSpPr>
          <p:cNvPr id="15" name="Shape 13"/>
          <p:cNvSpPr/>
          <p:nvPr/>
        </p:nvSpPr>
        <p:spPr>
          <a:xfrm>
            <a:off x="411480" y="4759452"/>
            <a:ext cx="11375136" cy="1275588"/>
          </a:xfrm>
          <a:prstGeom prst="rect">
            <a:avLst/>
          </a:prstGeom>
          <a:solidFill>
            <a:srgbClr val="F7F9FB"/>
          </a:solidFill>
          <a:ln w="9525">
            <a:solidFill>
              <a:srgbClr val="D3DCE5"/>
            </a:solidFill>
            <a:prstDash val="solid"/>
          </a:ln>
        </p:spPr>
      </p:sp>
      <p:sp>
        <p:nvSpPr>
          <p:cNvPr id="16" name="Text 14"/>
          <p:cNvSpPr txBox="1"/>
          <p:nvPr/>
        </p:nvSpPr>
        <p:spPr>
          <a:xfrm>
            <a:off x="576072" y="4887468"/>
            <a:ext cx="11064240" cy="274320"/>
          </a:xfrm>
          <a:prstGeom prst="rect">
            <a:avLst/>
          </a:prstGeom>
          <a:noFill/>
          <a:ln/>
        </p:spPr>
        <p:txBody>
          <a:bodyPr wrap="square" lIns="0" tIns="0" rIns="0" bIns="0" rtlCol="0" anchor="ctr"/>
          <a:lstStyle/>
          <a:p>
            <a:pPr indent="0" marL="0">
              <a:buNone/>
            </a:pPr>
            <a:r>
              <a:rPr lang="en-US" sz="1150" b="1" dirty="0">
                <a:solidFill>
                  <a:srgbClr val="8C9BA9"/>
                </a:solidFill>
                <a:latin typeface="Calibri" pitchFamily="34" charset="0"/>
                <a:ea typeface="Calibri" pitchFamily="34" charset="-122"/>
                <a:cs typeface="Calibri" pitchFamily="34" charset="-120"/>
              </a:rPr>
              <a:t>Market data and comparables</a:t>
            </a:r>
            <a:endParaRPr lang="en-US" sz="1150" dirty="0"/>
          </a:p>
        </p:txBody>
      </p:sp>
      <p:sp>
        <p:nvSpPr>
          <p:cNvPr id="17" name="Text 15"/>
          <p:cNvSpPr txBox="1"/>
          <p:nvPr/>
        </p:nvSpPr>
        <p:spPr>
          <a:xfrm>
            <a:off x="594360" y="5234940"/>
            <a:ext cx="5394960" cy="690372"/>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Company FY26 results for BHP, Rio Tinto, Fortescue, South32 and Mineral Resources</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Market Index, stockanalysis.com and Google Finance quote data, August-September 2026</a:t>
            </a:r>
            <a:endParaRPr lang="en-US" sz="860" dirty="0"/>
          </a:p>
        </p:txBody>
      </p:sp>
      <p:sp>
        <p:nvSpPr>
          <p:cNvPr id="18" name="Text 16"/>
          <p:cNvSpPr txBox="1"/>
          <p:nvPr/>
        </p:nvSpPr>
        <p:spPr>
          <a:xfrm>
            <a:off x="6208776" y="5234940"/>
            <a:ext cx="5394960" cy="690372"/>
          </a:xfrm>
          <a:prstGeom prst="rect">
            <a:avLst/>
          </a:prstGeom>
          <a:noFill/>
          <a:ln/>
        </p:spPr>
        <p:txBody>
          <a:bodyPr wrap="square" lIns="0" tIns="0" rIns="0" bIns="0" rtlCol="0" anchor="t"/>
          <a:lstStyle/>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ASIC short position reports via shortman.com.au</a:t>
            </a:r>
            <a:endParaRPr lang="en-US" sz="860" dirty="0"/>
          </a:p>
          <a:p>
            <a:pPr marL="342900" indent="-342900">
              <a:lnSpc>
                <a:spcPct val="100000"/>
              </a:lnSpc>
              <a:spcAft>
                <a:spcPts val="200"/>
              </a:spcAft>
              <a:buSzPct val="100000"/>
              <a:buChar char="▪"/>
            </a:pPr>
            <a:r>
              <a:rPr lang="en-US" sz="860" dirty="0">
                <a:solidFill>
                  <a:srgbClr val="1B2733"/>
                </a:solidFill>
                <a:latin typeface="Calibri" pitchFamily="34" charset="0"/>
                <a:ea typeface="Calibri" pitchFamily="34" charset="-122"/>
                <a:cs typeface="Calibri" pitchFamily="34" charset="-120"/>
              </a:rPr>
              <a:t>Announcements for the lithium transactions listed at E13</a:t>
            </a:r>
            <a:endParaRPr lang="en-US" sz="860" dirty="0"/>
          </a:p>
        </p:txBody>
      </p:sp>
      <p:sp>
        <p:nvSpPr>
          <p:cNvPr id="19" name="Text 17"/>
          <p:cNvSpPr txBox="1"/>
          <p:nvPr/>
        </p:nvSpPr>
        <p:spPr>
          <a:xfrm>
            <a:off x="411480" y="6108192"/>
            <a:ext cx="10332720" cy="237744"/>
          </a:xfrm>
          <a:prstGeom prst="rect">
            <a:avLst/>
          </a:prstGeom>
          <a:noFill/>
          <a:ln/>
        </p:spPr>
        <p:txBody>
          <a:bodyPr wrap="square" lIns="0" tIns="0" rIns="0" bIns="0" rtlCol="0" anchor="ctr"/>
          <a:lstStyle/>
          <a:p>
            <a:pPr indent="0" marL="0">
              <a:buNone/>
            </a:pPr>
            <a:r>
              <a:rPr lang="en-US" sz="720" i="1" dirty="0">
                <a:solidFill>
                  <a:srgbClr val="8C9BA9"/>
                </a:solidFill>
                <a:latin typeface="Calibri" pitchFamily="34" charset="0"/>
                <a:ea typeface="Calibri" pitchFamily="34" charset="-122"/>
                <a:cs typeface="Calibri" pitchFamily="34" charset="-120"/>
              </a:rPr>
              <a:t>Every figure in this submission traces to a source on this page or the previous one, or to the source register in the submitted workbook.</a:t>
            </a:r>
            <a:endParaRPr lang="en-US" sz="720" dirty="0"/>
          </a:p>
        </p:txBody>
      </p:sp>
      <p:sp>
        <p:nvSpPr>
          <p:cNvPr id="20" name="Text 18"/>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F6 cont.</a:t>
            </a:r>
            <a:endParaRPr lang="en-US" sz="8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9264"/>
          </a:xfrm>
          <a:prstGeom prst="rect">
            <a:avLst/>
          </a:prstGeom>
          <a:solidFill>
            <a:srgbClr val="10233A"/>
          </a:solidFill>
          <a:ln/>
        </p:spPr>
      </p:sp>
      <p:sp>
        <p:nvSpPr>
          <p:cNvPr id="3" name="Text 1"/>
          <p:cNvSpPr txBox="1"/>
          <p:nvPr/>
        </p:nvSpPr>
        <p:spPr>
          <a:xfrm>
            <a:off x="411480" y="82296"/>
            <a:ext cx="10195560" cy="566928"/>
          </a:xfrm>
          <a:prstGeom prst="rect">
            <a:avLst/>
          </a:prstGeom>
          <a:noFill/>
          <a:ln/>
        </p:spPr>
        <p:txBody>
          <a:bodyPr wrap="square" lIns="0" tIns="0" rIns="0" bIns="0" rtlCol="0" anchor="ctr"/>
          <a:lstStyle/>
          <a:p>
            <a:pPr indent="0" marL="0">
              <a:lnSpc>
                <a:spcPct val="102000"/>
              </a:lnSpc>
              <a:buNone/>
            </a:pPr>
            <a:r>
              <a:rPr lang="en-US" sz="1700" b="1" dirty="0">
                <a:solidFill>
                  <a:srgbClr val="FFFFFF"/>
                </a:solidFill>
                <a:latin typeface="Cambria" pitchFamily="34" charset="0"/>
                <a:ea typeface="Cambria" pitchFamily="34" charset="-122"/>
                <a:cs typeface="Cambria" pitchFamily="34" charset="-120"/>
              </a:rPr>
              <a:t>Prepared as a university case-competition submission using publicly available information.</a:t>
            </a:r>
            <a:endParaRPr lang="en-US" sz="1700" dirty="0"/>
          </a:p>
        </p:txBody>
      </p:sp>
      <p:sp>
        <p:nvSpPr>
          <p:cNvPr id="4" name="Text 2"/>
          <p:cNvSpPr txBox="1"/>
          <p:nvPr/>
        </p:nvSpPr>
        <p:spPr>
          <a:xfrm>
            <a:off x="411480" y="658368"/>
            <a:ext cx="8778240" cy="237744"/>
          </a:xfrm>
          <a:prstGeom prst="rect">
            <a:avLst/>
          </a:prstGeom>
          <a:noFill/>
          <a:ln/>
        </p:spPr>
        <p:txBody>
          <a:bodyPr wrap="square" lIns="0" tIns="0" rIns="0" bIns="0" rtlCol="0" anchor="ctr"/>
          <a:lstStyle/>
          <a:p>
            <a:pPr indent="0" marL="0">
              <a:buNone/>
            </a:pPr>
            <a:r>
              <a:rPr lang="en-US" sz="1000" dirty="0">
                <a:solidFill>
                  <a:srgbClr val="9FB4C7"/>
                </a:solidFill>
                <a:latin typeface="Calibri" pitchFamily="34" charset="0"/>
                <a:ea typeface="Calibri" pitchFamily="34" charset="-122"/>
                <a:cs typeface="Calibri" pitchFamily="34" charset="-120"/>
              </a:rPr>
              <a:t>APPENDIX  |  F7  Risk and reference</a:t>
            </a:r>
            <a:endParaRPr lang="en-US" sz="1000" dirty="0"/>
          </a:p>
        </p:txBody>
      </p:sp>
      <p:sp>
        <p:nvSpPr>
          <p:cNvPr id="5" name="Shape 3"/>
          <p:cNvSpPr/>
          <p:nvPr/>
        </p:nvSpPr>
        <p:spPr>
          <a:xfrm>
            <a:off x="10716768" y="274320"/>
            <a:ext cx="1060704" cy="384048"/>
          </a:xfrm>
          <a:prstGeom prst="roundRect">
            <a:avLst>
              <a:gd name="adj" fmla="val 19048"/>
            </a:avLst>
          </a:prstGeom>
          <a:solidFill>
            <a:srgbClr val="0E7C6B"/>
          </a:solidFill>
          <a:ln/>
        </p:spPr>
      </p:sp>
      <p:sp>
        <p:nvSpPr>
          <p:cNvPr id="6" name="Text 4"/>
          <p:cNvSpPr txBox="1"/>
          <p:nvPr/>
        </p:nvSpPr>
        <p:spPr>
          <a:xfrm>
            <a:off x="10716768" y="274320"/>
            <a:ext cx="1060704"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ASX: PLS</a:t>
            </a:r>
            <a:endParaRPr lang="en-US" sz="950" dirty="0"/>
          </a:p>
        </p:txBody>
      </p:sp>
      <p:sp>
        <p:nvSpPr>
          <p:cNvPr id="7" name="Shape 5"/>
          <p:cNvSpPr/>
          <p:nvPr/>
        </p:nvSpPr>
        <p:spPr>
          <a:xfrm>
            <a:off x="411480" y="1298448"/>
            <a:ext cx="5577840" cy="2377440"/>
          </a:xfrm>
          <a:prstGeom prst="rect">
            <a:avLst/>
          </a:prstGeom>
          <a:solidFill>
            <a:srgbClr val="F7F9FB"/>
          </a:solidFill>
          <a:ln w="9525">
            <a:solidFill>
              <a:srgbClr val="D3DCE5"/>
            </a:solidFill>
            <a:prstDash val="solid"/>
          </a:ln>
        </p:spPr>
      </p:sp>
      <p:sp>
        <p:nvSpPr>
          <p:cNvPr id="8" name="Text 6"/>
          <p:cNvSpPr txBox="1"/>
          <p:nvPr/>
        </p:nvSpPr>
        <p:spPr>
          <a:xfrm>
            <a:off x="576072" y="1426464"/>
            <a:ext cx="5248656" cy="292608"/>
          </a:xfrm>
          <a:prstGeom prst="rect">
            <a:avLst/>
          </a:prstGeom>
          <a:noFill/>
          <a:ln/>
        </p:spPr>
        <p:txBody>
          <a:bodyPr wrap="square" lIns="0" tIns="0" rIns="0" bIns="0" rtlCol="0" anchor="ctr"/>
          <a:lstStyle/>
          <a:p>
            <a:pPr indent="0" marL="0">
              <a:buNone/>
            </a:pPr>
            <a:r>
              <a:rPr lang="en-US" sz="1150" b="1" dirty="0">
                <a:solidFill>
                  <a:srgbClr val="10233A"/>
                </a:solidFill>
                <a:latin typeface="Calibri" pitchFamily="34" charset="0"/>
                <a:ea typeface="Calibri" pitchFamily="34" charset="-122"/>
                <a:cs typeface="Calibri" pitchFamily="34" charset="-120"/>
              </a:rPr>
              <a:t>Basis of preparation</a:t>
            </a:r>
            <a:endParaRPr lang="en-US" sz="1150" dirty="0"/>
          </a:p>
        </p:txBody>
      </p:sp>
      <p:sp>
        <p:nvSpPr>
          <p:cNvPr id="9" name="Text 7"/>
          <p:cNvSpPr txBox="1"/>
          <p:nvPr/>
        </p:nvSpPr>
        <p:spPr>
          <a:xfrm>
            <a:off x="576072" y="1755648"/>
            <a:ext cx="5248656" cy="1828800"/>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This submission was prepared for the Shared Value Project and FMAA 'Investing for the Future' Case Competition 2026, in the role of analysts in the shared value coverage team at FMAA Asset Management, addressing the portfolio manager of an ASX 200 long-only fund.</a:t>
            </a:r>
            <a:endParaRPr lang="en-US" sz="940" dirty="0"/>
          </a:p>
          <a:p>
            <a:pPr indent="0" marL="0">
              <a:lnSpc>
                <a:spcPct val="105000"/>
              </a:lnSpc>
              <a:buNone/>
            </a:pPr>
            <a:endParaRPr lang="en-US" sz="940" dirty="0"/>
          </a:p>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All information is drawn from publicly available sources. Valuation inputs prescribed by the case document - a 5.00% risk-free rate, a 6.00% market risk premium and an equity beta of 0.73 - have been used as directed.</a:t>
            </a:r>
            <a:endParaRPr lang="en-US" sz="940" dirty="0"/>
          </a:p>
          <a:p>
            <a:pPr indent="0" marL="0">
              <a:lnSpc>
                <a:spcPct val="105000"/>
              </a:lnSpc>
              <a:buNone/>
            </a:pPr>
            <a:endParaRPr lang="en-US" sz="940" dirty="0"/>
          </a:p>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Forecasts are the authors' estimates. They will differ from outcomes.</a:t>
            </a:r>
            <a:endParaRPr lang="en-US" sz="940" dirty="0"/>
          </a:p>
        </p:txBody>
      </p:sp>
      <p:sp>
        <p:nvSpPr>
          <p:cNvPr id="10" name="Shape 8"/>
          <p:cNvSpPr/>
          <p:nvPr/>
        </p:nvSpPr>
        <p:spPr>
          <a:xfrm>
            <a:off x="6208776" y="1298448"/>
            <a:ext cx="5577840" cy="2377440"/>
          </a:xfrm>
          <a:prstGeom prst="rect">
            <a:avLst/>
          </a:prstGeom>
          <a:solidFill>
            <a:srgbClr val="FBEBD9"/>
          </a:solidFill>
          <a:ln w="9525">
            <a:solidFill>
              <a:srgbClr val="E8C9A3"/>
            </a:solidFill>
            <a:prstDash val="solid"/>
          </a:ln>
        </p:spPr>
      </p:sp>
      <p:sp>
        <p:nvSpPr>
          <p:cNvPr id="11" name="Text 9"/>
          <p:cNvSpPr txBox="1"/>
          <p:nvPr/>
        </p:nvSpPr>
        <p:spPr>
          <a:xfrm>
            <a:off x="6373368" y="1426464"/>
            <a:ext cx="5248656" cy="292608"/>
          </a:xfrm>
          <a:prstGeom prst="rect">
            <a:avLst/>
          </a:prstGeom>
          <a:noFill/>
          <a:ln/>
        </p:spPr>
        <p:txBody>
          <a:bodyPr wrap="square" lIns="0" tIns="0" rIns="0" bIns="0" rtlCol="0" anchor="ctr"/>
          <a:lstStyle/>
          <a:p>
            <a:pPr indent="0" marL="0">
              <a:buNone/>
            </a:pPr>
            <a:r>
              <a:rPr lang="en-US" sz="1150" b="1" dirty="0">
                <a:solidFill>
                  <a:srgbClr val="C2610A"/>
                </a:solidFill>
                <a:latin typeface="Calibri" pitchFamily="34" charset="0"/>
                <a:ea typeface="Calibri" pitchFamily="34" charset="-122"/>
                <a:cs typeface="Calibri" pitchFamily="34" charset="-120"/>
              </a:rPr>
              <a:t>Not investment advice</a:t>
            </a:r>
            <a:endParaRPr lang="en-US" sz="1150" dirty="0"/>
          </a:p>
        </p:txBody>
      </p:sp>
      <p:sp>
        <p:nvSpPr>
          <p:cNvPr id="12" name="Text 10"/>
          <p:cNvSpPr txBox="1"/>
          <p:nvPr/>
        </p:nvSpPr>
        <p:spPr>
          <a:xfrm>
            <a:off x="6373368" y="1755648"/>
            <a:ext cx="5248656" cy="1828800"/>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This document is a student case-competition submission. It is not investment advice, not a recommendation to buy or sell any security, and not a substitute for independent professional research.</a:t>
            </a:r>
            <a:endParaRPr lang="en-US" sz="940" dirty="0"/>
          </a:p>
          <a:p>
            <a:pPr indent="0" marL="0">
              <a:lnSpc>
                <a:spcPct val="105000"/>
              </a:lnSpc>
              <a:buNone/>
            </a:pPr>
            <a:endParaRPr lang="en-US" sz="940" dirty="0"/>
          </a:p>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Neither the authors nor FMAA Asset Management - a fictional entity created for the purposes of this competition - accepts liability for any use of this material.</a:t>
            </a:r>
            <a:endParaRPr lang="en-US" sz="940" dirty="0"/>
          </a:p>
          <a:p>
            <a:pPr indent="0" marL="0">
              <a:lnSpc>
                <a:spcPct val="105000"/>
              </a:lnSpc>
              <a:buNone/>
            </a:pPr>
            <a:endParaRPr lang="en-US" sz="940" dirty="0"/>
          </a:p>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Figures are current to 5 September 2026 and have not been updated for subsequent events.</a:t>
            </a:r>
            <a:endParaRPr lang="en-US" sz="940" dirty="0"/>
          </a:p>
        </p:txBody>
      </p:sp>
      <p:sp>
        <p:nvSpPr>
          <p:cNvPr id="13" name="Shape 11"/>
          <p:cNvSpPr/>
          <p:nvPr/>
        </p:nvSpPr>
        <p:spPr>
          <a:xfrm>
            <a:off x="411480" y="3840480"/>
            <a:ext cx="11375136" cy="1700784"/>
          </a:xfrm>
          <a:prstGeom prst="rect">
            <a:avLst/>
          </a:prstGeom>
          <a:solidFill>
            <a:srgbClr val="D6EBE7"/>
          </a:solidFill>
          <a:ln w="9525">
            <a:solidFill>
              <a:srgbClr val="AFD3CC"/>
            </a:solidFill>
            <a:prstDash val="solid"/>
          </a:ln>
        </p:spPr>
      </p:sp>
      <p:sp>
        <p:nvSpPr>
          <p:cNvPr id="14" name="Text 12"/>
          <p:cNvSpPr txBox="1"/>
          <p:nvPr/>
        </p:nvSpPr>
        <p:spPr>
          <a:xfrm>
            <a:off x="576072" y="3968496"/>
            <a:ext cx="11045952" cy="292608"/>
          </a:xfrm>
          <a:prstGeom prst="rect">
            <a:avLst/>
          </a:prstGeom>
          <a:noFill/>
          <a:ln/>
        </p:spPr>
        <p:txBody>
          <a:bodyPr wrap="square" lIns="0" tIns="0" rIns="0" bIns="0" rtlCol="0" anchor="ctr"/>
          <a:lstStyle/>
          <a:p>
            <a:pPr indent="0" marL="0">
              <a:buNone/>
            </a:pPr>
            <a:r>
              <a:rPr lang="en-US" sz="1150" b="1" dirty="0">
                <a:solidFill>
                  <a:srgbClr val="0E7C6B"/>
                </a:solidFill>
                <a:latin typeface="Calibri" pitchFamily="34" charset="0"/>
                <a:ea typeface="Calibri" pitchFamily="34" charset="-122"/>
                <a:cs typeface="Calibri" pitchFamily="34" charset="-120"/>
              </a:rPr>
              <a:t>Reproducibility</a:t>
            </a:r>
            <a:endParaRPr lang="en-US" sz="1150" dirty="0"/>
          </a:p>
        </p:txBody>
      </p:sp>
      <p:sp>
        <p:nvSpPr>
          <p:cNvPr id="15" name="Text 13"/>
          <p:cNvSpPr txBox="1"/>
          <p:nvPr/>
        </p:nvSpPr>
        <p:spPr>
          <a:xfrm>
            <a:off x="576072" y="4297680"/>
            <a:ext cx="11045952" cy="1152144"/>
          </a:xfrm>
          <a:prstGeom prst="rect">
            <a:avLst/>
          </a:prstGeom>
          <a:noFill/>
          <a:ln/>
        </p:spPr>
        <p:txBody>
          <a:bodyPr wrap="square" lIns="0" tIns="0" rIns="0" bIns="0" rtlCol="0" anchor="t"/>
          <a:lstStyle/>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Every figure in this deck can be traced to the accompanying workbook, PLS_Valuation_Model_FMAA_2026.xlsx. The workbook contains nineteen sheets and 1,728 live formulas with no evaluation errors. Its Sources sheet tags every input by provenance: A for a reported actual, G for company guidance, M for market data, D for a derived figure, E for our own estimate and C for an input prescribed by the case.</a:t>
            </a:r>
            <a:endParaRPr lang="en-US" sz="940" dirty="0"/>
          </a:p>
          <a:p>
            <a:pPr indent="0" marL="0">
              <a:lnSpc>
                <a:spcPct val="105000"/>
              </a:lnSpc>
              <a:buNone/>
            </a:pPr>
            <a:endParaRPr lang="en-US" sz="940" dirty="0"/>
          </a:p>
          <a:p>
            <a:pPr indent="0" marL="0">
              <a:lnSpc>
                <a:spcPct val="105000"/>
              </a:lnSpc>
              <a:buNone/>
            </a:pPr>
            <a:r>
              <a:rPr lang="en-US" sz="940" dirty="0">
                <a:solidFill>
                  <a:srgbClr val="1B2733"/>
                </a:solidFill>
                <a:latin typeface="Calibri" pitchFamily="34" charset="0"/>
                <a:ea typeface="Calibri" pitchFamily="34" charset="-122"/>
                <a:cs typeface="Calibri" pitchFamily="34" charset="-120"/>
              </a:rPr>
              <a:t>To reproduce any scenario in this appendix, set Assumptions!C7 to Bear, Base or Bull. The production profile, price deck, cost deck, capital expenditure, all three financial statements, the discounted cash flow and the target price repoint from that single cell.</a:t>
            </a:r>
            <a:endParaRPr lang="en-US" sz="940" dirty="0"/>
          </a:p>
        </p:txBody>
      </p:sp>
      <p:sp>
        <p:nvSpPr>
          <p:cNvPr id="16" name="Text 14"/>
          <p:cNvSpPr txBox="1"/>
          <p:nvPr/>
        </p:nvSpPr>
        <p:spPr>
          <a:xfrm>
            <a:off x="11155680" y="6108192"/>
            <a:ext cx="621792" cy="237744"/>
          </a:xfrm>
          <a:prstGeom prst="rect">
            <a:avLst/>
          </a:prstGeom>
          <a:noFill/>
          <a:ln/>
        </p:spPr>
        <p:txBody>
          <a:bodyPr wrap="square" lIns="0" tIns="0" rIns="0" bIns="0" rtlCol="0" anchor="ctr"/>
          <a:lstStyle/>
          <a:p>
            <a:pPr algn="r" indent="0" marL="0">
              <a:buNone/>
            </a:pPr>
            <a:r>
              <a:rPr lang="en-US" sz="850" b="1" dirty="0">
                <a:solidFill>
                  <a:srgbClr val="5F7183"/>
                </a:solidFill>
                <a:latin typeface="Calibri" pitchFamily="34" charset="0"/>
                <a:ea typeface="Calibri" pitchFamily="34" charset="-122"/>
                <a:cs typeface="Calibri" pitchFamily="34" charset="-120"/>
              </a:rPr>
              <a:t>F7</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FMAA x Shared Value Project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PLS Group Limited (ASX:PLS) - Investing for the Future 2026</dc:title>
  <dc:subject>PptxGenJS Presentation</dc:subject>
  <dc:creator>FMAA Asset Management - Shared Value Coverage Team</dc:creator>
  <cp:lastModifiedBy>FMAA Asset Management - Shared Value Coverage Team</cp:lastModifiedBy>
  <cp:revision>1</cp:revision>
  <dcterms:created xsi:type="dcterms:W3CDTF">2026-09-14T08:42:05Z</dcterms:created>
  <dcterms:modified xsi:type="dcterms:W3CDTF">2026-09-14T08:42:05Z</dcterms:modified>
</cp:coreProperties>
</file>